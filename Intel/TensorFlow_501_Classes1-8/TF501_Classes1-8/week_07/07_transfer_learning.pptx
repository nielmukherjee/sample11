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6"/>
  </p:notesMasterIdLst>
  <p:handoutMasterIdLst>
    <p:handoutMasterId r:id="rId47"/>
  </p:handoutMasterIdLst>
  <p:sldIdLst>
    <p:sldId id="256" r:id="rId3"/>
    <p:sldId id="350" r:id="rId4"/>
    <p:sldId id="317"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273" r:id="rId19"/>
    <p:sldId id="274" r:id="rId20"/>
    <p:sldId id="275" r:id="rId21"/>
    <p:sldId id="290" r:id="rId22"/>
    <p:sldId id="292" r:id="rId23"/>
    <p:sldId id="293" r:id="rId24"/>
    <p:sldId id="294" r:id="rId25"/>
    <p:sldId id="291"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FF1686-EBA3-C947-8046-4F9E85FDB396}">
          <p14:sldIdLst>
            <p14:sldId id="256"/>
            <p14:sldId id="350"/>
          </p14:sldIdLst>
        </p14:section>
        <p14:section name="Transfer Learning" id="{668E6EB0-BA6B-EA42-9E89-4D2E80913174}">
          <p14:sldIdLst>
            <p14:sldId id="317"/>
            <p14:sldId id="318"/>
            <p14:sldId id="319"/>
            <p14:sldId id="320"/>
            <p14:sldId id="321"/>
            <p14:sldId id="322"/>
            <p14:sldId id="323"/>
            <p14:sldId id="324"/>
            <p14:sldId id="325"/>
          </p14:sldIdLst>
        </p14:section>
        <p14:section name="Accessing Named Element" id="{372E3C49-02D4-3F46-AA84-1644BFCE168A}">
          <p14:sldIdLst>
            <p14:sldId id="326"/>
            <p14:sldId id="327"/>
            <p14:sldId id="328"/>
            <p14:sldId id="329"/>
            <p14:sldId id="330"/>
          </p14:sldIdLst>
        </p14:section>
        <p14:section name="Batch Normalization" id="{BBB1304E-05B3-A144-A125-B2F9E6552302}">
          <p14:sldIdLst>
            <p14:sldId id="273"/>
            <p14:sldId id="274"/>
            <p14:sldId id="275"/>
            <p14:sldId id="290"/>
            <p14:sldId id="292"/>
            <p14:sldId id="293"/>
            <p14:sldId id="294"/>
            <p14:sldId id="291"/>
          </p14:sldIdLst>
        </p14:section>
        <p14:section name="VGG" id="{5B0FE4D5-B6FB-664F-9106-2E0BC8133B8C}">
          <p14:sldIdLst>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88" autoAdjust="0"/>
    <p:restoredTop sz="82655"/>
  </p:normalViewPr>
  <p:slideViewPr>
    <p:cSldViewPr showGuides="1">
      <p:cViewPr varScale="1">
        <p:scale>
          <a:sx n="106" d="100"/>
          <a:sy n="106" d="100"/>
        </p:scale>
        <p:origin x="306" y="96"/>
      </p:cViewPr>
      <p:guideLst>
        <p:guide orient="horz" pos="2160"/>
        <p:guide pos="3839"/>
        <p:guide pos="1007"/>
      </p:guideLst>
    </p:cSldViewPr>
  </p:slideViewPr>
  <p:notesTextViewPr>
    <p:cViewPr>
      <p:scale>
        <a:sx n="1" d="1"/>
        <a:sy n="1" d="1"/>
      </p:scale>
      <p:origin x="0" y="0"/>
    </p:cViewPr>
  </p:notesTextViewPr>
  <p:notesViewPr>
    <p:cSldViewPr showGuides="1">
      <p:cViewPr varScale="1">
        <p:scale>
          <a:sx n="95" d="100"/>
          <a:sy n="95" d="100"/>
        </p:scale>
        <p:origin x="3720"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9949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new layer is also</a:t>
            </a:r>
            <a:r>
              <a:rPr lang="en-US" baseline="0" dirty="0" smtClean="0"/>
              <a:t> a </a:t>
            </a:r>
            <a:r>
              <a:rPr lang="en-US" baseline="0" dirty="0" err="1" smtClean="0"/>
              <a:t>softmax</a:t>
            </a:r>
            <a:r>
              <a:rPr lang="en-US" baseline="0" dirty="0" smtClean="0"/>
              <a:t>.  We could also insert other layers if we choose.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605496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we have (very) limited data, we really don’t want to be training too many parameters.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1280575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047622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will be important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328124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733515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we normally don’t do this because we forgot to make an assignment.  When we load new models, we won’t have a reference to the internal ops/tensors.</a:t>
            </a:r>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867579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currently don’t apply this in the notebooks.</a:t>
            </a:r>
            <a:r>
              <a:rPr lang="en-US" baseline="0" dirty="0" smtClean="0"/>
              <a:t> [but we should]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Good discussion here: http://</a:t>
            </a:r>
            <a:r>
              <a:rPr lang="en-US" baseline="0" dirty="0" err="1" smtClean="0"/>
              <a:t>ruishu.io</a:t>
            </a:r>
            <a:r>
              <a:rPr lang="en-US" baseline="0" dirty="0" smtClean="0"/>
              <a:t>/2016/12/27/</a:t>
            </a:r>
            <a:r>
              <a:rPr lang="en-US" baseline="0" dirty="0" err="1" smtClean="0"/>
              <a:t>batchnorm</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17</a:t>
            </a:fld>
            <a:endParaRPr lang="en-US"/>
          </a:p>
        </p:txBody>
      </p:sp>
    </p:spTree>
    <p:extLst>
      <p:ext uri="{BB962C8B-B14F-4D97-AF65-F5344CB8AC3E}">
        <p14:creationId xmlns:p14="http://schemas.microsoft.com/office/powerpoint/2010/main" val="1901279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434550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Top equation is just z-score of activations (with epsilon to prevent divide by zero).  Pass on a </a:t>
            </a:r>
            <a:r>
              <a:rPr lang="en-US" dirty="0" err="1" smtClean="0"/>
              <a:t>wgt</a:t>
            </a:r>
            <a:r>
              <a:rPr lang="en-US" dirty="0" smtClean="0"/>
              <a:t> * </a:t>
            </a:r>
            <a:r>
              <a:rPr lang="en-US" dirty="0" err="1" smtClean="0"/>
              <a:t>z_score</a:t>
            </a:r>
            <a:r>
              <a:rPr lang="en-US" dirty="0" smtClean="0"/>
              <a:t> + bias</a:t>
            </a:r>
          </a:p>
          <a:p>
            <a:r>
              <a:rPr lang="en-US" dirty="0" smtClean="0"/>
              <a:t>Note:  if variance is zero, we have a constant value for a.  So, a – mean(a) will be all zeros.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905793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a:t>
            </a:r>
            <a:r>
              <a:rPr lang="en-US" dirty="0" err="1" smtClean="0"/>
              <a:t>belive</a:t>
            </a:r>
            <a:r>
              <a:rPr lang="en-US" dirty="0" smtClean="0"/>
              <a:t> the point is we have a bias in our batch-normalization</a:t>
            </a:r>
            <a:r>
              <a:rPr lang="en-US" baseline="0" dirty="0" smtClean="0"/>
              <a:t> formulation </a:t>
            </a:r>
            <a:r>
              <a:rPr lang="is-IS" baseline="0" dirty="0" smtClean="0"/>
              <a:t>… so if we subtract the mean, and then add backa in a bias and then add another bias, we’re doing repeated work that mathematically cancels out.  </a:t>
            </a:r>
            <a:r>
              <a:rPr lang="en-US" baseline="0" dirty="0" smtClean="0"/>
              <a:t>S</a:t>
            </a:r>
            <a:r>
              <a:rPr lang="is-IS" baseline="0" dirty="0" smtClean="0"/>
              <a:t>o, just do the batch-normalization bias at the end.</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21</a:t>
            </a:fld>
            <a:endParaRPr lang="en-US"/>
          </a:p>
        </p:txBody>
      </p:sp>
    </p:spTree>
    <p:extLst>
      <p:ext uri="{BB962C8B-B14F-4D97-AF65-F5344CB8AC3E}">
        <p14:creationId xmlns:p14="http://schemas.microsoft.com/office/powerpoint/2010/main" val="167258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Aka, replace values to use during testing</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1053358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300868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won’t use VGG until next week, but due to time/space constraints, we need</a:t>
            </a:r>
            <a:r>
              <a:rPr lang="en-US" baseline="0" dirty="0" smtClean="0"/>
              <a:t> to discuss it now.</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1230239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055137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9089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90.png"/><Relationship Id="rId4" Type="http://schemas.openxmlformats.org/officeDocument/2006/relationships/image" Target="../media/image8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669" y="1600200"/>
            <a:ext cx="9152143" cy="2680127"/>
          </a:xfrm>
        </p:spPr>
        <p:txBody>
          <a:bodyPr/>
          <a:lstStyle/>
          <a:p>
            <a:r>
              <a:rPr lang="en-US" dirty="0" smtClean="0"/>
              <a:t>Transfer Learning</a:t>
            </a:r>
            <a:endParaRPr lang="en-US" dirty="0"/>
          </a:p>
        </p:txBody>
      </p:sp>
      <p:sp>
        <p:nvSpPr>
          <p:cNvPr id="3" name="Subtitle 2"/>
          <p:cNvSpPr>
            <a:spLocks noGrp="1"/>
          </p:cNvSpPr>
          <p:nvPr>
            <p:ph type="subTitle" idx="1"/>
          </p:nvPr>
        </p:nvSpPr>
        <p:spPr>
          <a:xfrm>
            <a:off x="2428668" y="4344915"/>
            <a:ext cx="8237743" cy="1116085"/>
          </a:xfrm>
        </p:spPr>
        <p:txBody>
          <a:bodyPr/>
          <a:lstStyle/>
          <a:p>
            <a:r>
              <a:rPr lang="en-US" dirty="0" smtClean="0"/>
              <a:t>Deep Learning with </a:t>
            </a:r>
            <a:r>
              <a:rPr lang="en-US" dirty="0" err="1" smtClean="0"/>
              <a:t>TensorFlow</a:t>
            </a:r>
            <a:r>
              <a:rPr lang="en-US" dirty="0" smtClean="0"/>
              <a:t> 7</a:t>
            </a:r>
            <a:endParaRPr lang="en-US"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155036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Transfer Learning</a:t>
            </a:r>
            <a:endParaRPr lang="en-US" dirty="0"/>
          </a:p>
        </p:txBody>
      </p:sp>
    </p:spTree>
    <p:extLst>
      <p:ext uri="{BB962C8B-B14F-4D97-AF65-F5344CB8AC3E}">
        <p14:creationId xmlns:p14="http://schemas.microsoft.com/office/powerpoint/2010/main" val="10412253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a:t>
            </a:r>
            <a:r>
              <a:rPr lang="en-US" dirty="0"/>
              <a:t>h</a:t>
            </a:r>
            <a:r>
              <a:rPr lang="en-US" dirty="0" smtClean="0"/>
              <a:t>uge models is a bottleneck</a:t>
            </a:r>
            <a:endParaRPr lang="en-US" dirty="0"/>
          </a:p>
        </p:txBody>
      </p:sp>
      <p:sp>
        <p:nvSpPr>
          <p:cNvPr id="3" name="Content Placeholder 2"/>
          <p:cNvSpPr>
            <a:spLocks noGrp="1"/>
          </p:cNvSpPr>
          <p:nvPr>
            <p:ph idx="1"/>
          </p:nvPr>
        </p:nvSpPr>
        <p:spPr/>
        <p:txBody>
          <a:bodyPr>
            <a:normAutofit/>
          </a:bodyPr>
          <a:lstStyle/>
          <a:p>
            <a:pPr>
              <a:lnSpc>
                <a:spcPct val="150000"/>
              </a:lnSpc>
            </a:pPr>
            <a:r>
              <a:rPr lang="en-US" sz="2600" dirty="0" smtClean="0"/>
              <a:t>Requires managing huge dataset</a:t>
            </a:r>
          </a:p>
          <a:p>
            <a:pPr>
              <a:lnSpc>
                <a:spcPct val="150000"/>
              </a:lnSpc>
            </a:pPr>
            <a:r>
              <a:rPr lang="en-US" sz="2600" dirty="0" smtClean="0"/>
              <a:t>Takes a long time </a:t>
            </a:r>
            <a:r>
              <a:rPr lang="en-US" sz="2600" dirty="0" smtClean="0">
                <a:sym typeface="Wingdings"/>
              </a:rPr>
              <a:t> more difficult to tune </a:t>
            </a:r>
            <a:r>
              <a:rPr lang="en-US" sz="2600" dirty="0" err="1" smtClean="0">
                <a:sym typeface="Wingdings"/>
              </a:rPr>
              <a:t>hyperparameters</a:t>
            </a:r>
            <a:endParaRPr lang="en-US" sz="2600" dirty="0" smtClean="0">
              <a:sym typeface="Wingdings"/>
            </a:endParaRPr>
          </a:p>
          <a:p>
            <a:pPr>
              <a:lnSpc>
                <a:spcPct val="150000"/>
              </a:lnSpc>
            </a:pPr>
            <a:r>
              <a:rPr lang="en-US" sz="2600" dirty="0" smtClean="0">
                <a:sym typeface="Wingdings"/>
              </a:rPr>
              <a:t>Expensive</a:t>
            </a:r>
          </a:p>
          <a:p>
            <a:pPr lvl="1">
              <a:lnSpc>
                <a:spcPct val="150000"/>
              </a:lnSpc>
            </a:pPr>
            <a:r>
              <a:rPr lang="en-US" sz="2200" dirty="0" smtClean="0">
                <a:sym typeface="Wingdings"/>
              </a:rPr>
              <a:t>Many hours on rented GPU instance(s)</a:t>
            </a:r>
          </a:p>
          <a:p>
            <a:pPr lvl="1">
              <a:lnSpc>
                <a:spcPct val="150000"/>
              </a:lnSpc>
            </a:pPr>
            <a:r>
              <a:rPr lang="en-US" sz="2200" dirty="0" smtClean="0">
                <a:sym typeface="Wingdings"/>
              </a:rPr>
              <a:t>Electricity cost on owned hardware</a:t>
            </a:r>
          </a:p>
          <a:p>
            <a:pPr>
              <a:lnSpc>
                <a:spcPct val="150000"/>
              </a:lnSpc>
            </a:pPr>
            <a:r>
              <a:rPr lang="en-US" sz="2600" dirty="0" smtClean="0">
                <a:sym typeface="Wingdings"/>
              </a:rPr>
              <a:t>But we want to use powerful models for our own problems</a:t>
            </a:r>
            <a:endParaRPr lang="en-US" sz="2600" dirty="0"/>
          </a:p>
        </p:txBody>
      </p:sp>
    </p:spTree>
    <p:extLst>
      <p:ext uri="{BB962C8B-B14F-4D97-AF65-F5344CB8AC3E}">
        <p14:creationId xmlns:p14="http://schemas.microsoft.com/office/powerpoint/2010/main" val="843938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Transfer Learning</a:t>
            </a:r>
            <a:endParaRPr lang="en-US" dirty="0"/>
          </a:p>
        </p:txBody>
      </p:sp>
      <p:sp>
        <p:nvSpPr>
          <p:cNvPr id="3" name="Content Placeholder 2"/>
          <p:cNvSpPr>
            <a:spLocks noGrp="1"/>
          </p:cNvSpPr>
          <p:nvPr>
            <p:ph idx="1"/>
          </p:nvPr>
        </p:nvSpPr>
        <p:spPr/>
        <p:txBody>
          <a:bodyPr/>
          <a:lstStyle/>
          <a:p>
            <a:pPr>
              <a:lnSpc>
                <a:spcPct val="150000"/>
              </a:lnSpc>
            </a:pPr>
            <a:r>
              <a:rPr lang="en-US" dirty="0" smtClean="0"/>
              <a:t>Idea: layers in trained model might generalize</a:t>
            </a:r>
          </a:p>
          <a:p>
            <a:pPr>
              <a:lnSpc>
                <a:spcPct val="150000"/>
              </a:lnSpc>
            </a:pPr>
            <a:r>
              <a:rPr lang="en-US" dirty="0" smtClean="0"/>
              <a:t>If we just change the later layers, can use previously trained model to solve new problem!</a:t>
            </a:r>
          </a:p>
          <a:p>
            <a:pPr>
              <a:lnSpc>
                <a:spcPct val="150000"/>
              </a:lnSpc>
            </a:pPr>
            <a:r>
              <a:rPr lang="en-US" dirty="0" smtClean="0"/>
              <a:t>Nice thing: many pre-trained models available</a:t>
            </a:r>
            <a:endParaRPr lang="en-US" dirty="0"/>
          </a:p>
        </p:txBody>
      </p:sp>
    </p:spTree>
    <p:extLst>
      <p:ext uri="{BB962C8B-B14F-4D97-AF65-F5344CB8AC3E}">
        <p14:creationId xmlns:p14="http://schemas.microsoft.com/office/powerpoint/2010/main" val="2093154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Our general CNN template</a:t>
            </a:r>
            <a:endParaRPr lang="en-US" dirty="0"/>
          </a:p>
        </p:txBody>
      </p:sp>
      <p:sp>
        <p:nvSpPr>
          <p:cNvPr id="4" name="Cube 3"/>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54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35155" y="4888468"/>
            <a:ext cx="1531188" cy="369332"/>
          </a:xfrm>
          <a:prstGeom prst="rect">
            <a:avLst/>
          </a:prstGeom>
          <a:noFill/>
        </p:spPr>
        <p:txBody>
          <a:bodyPr wrap="none" rtlCol="0">
            <a:spAutoFit/>
          </a:bodyPr>
          <a:lstStyle/>
          <a:p>
            <a:r>
              <a:rPr lang="en-US" smtClean="0"/>
              <a:t>convolutions</a:t>
            </a:r>
            <a:endParaRPr lang="en-US"/>
          </a:p>
        </p:txBody>
      </p:sp>
      <p:sp>
        <p:nvSpPr>
          <p:cNvPr id="12" name="TextBox 11"/>
          <p:cNvSpPr txBox="1"/>
          <p:nvPr/>
        </p:nvSpPr>
        <p:spPr>
          <a:xfrm>
            <a:off x="7999412" y="5428260"/>
            <a:ext cx="1807418" cy="369332"/>
          </a:xfrm>
          <a:prstGeom prst="rect">
            <a:avLst/>
          </a:prstGeom>
          <a:noFill/>
        </p:spPr>
        <p:txBody>
          <a:bodyPr wrap="none" rtlCol="0">
            <a:spAutoFit/>
          </a:bodyPr>
          <a:lstStyle/>
          <a:p>
            <a:r>
              <a:rPr lang="en-US" smtClean="0"/>
              <a:t>fully connected</a:t>
            </a:r>
            <a:endParaRPr lang="en-US"/>
          </a:p>
        </p:txBody>
      </p:sp>
      <p:sp>
        <p:nvSpPr>
          <p:cNvPr id="13" name="TextBox 12"/>
          <p:cNvSpPr txBox="1"/>
          <p:nvPr/>
        </p:nvSpPr>
        <p:spPr>
          <a:xfrm>
            <a:off x="9580705" y="6044252"/>
            <a:ext cx="2019014" cy="369332"/>
          </a:xfrm>
          <a:prstGeom prst="rect">
            <a:avLst/>
          </a:prstGeom>
          <a:noFill/>
        </p:spPr>
        <p:txBody>
          <a:bodyPr wrap="none" rtlCol="0">
            <a:spAutoFit/>
          </a:bodyPr>
          <a:lstStyle/>
          <a:p>
            <a:r>
              <a:rPr lang="en-US" err="1" smtClean="0"/>
              <a:t>softmax</a:t>
            </a:r>
            <a:r>
              <a:rPr lang="en-US" dirty="0" smtClean="0"/>
              <a:t> classifier</a:t>
            </a:r>
            <a:endParaRPr lang="en-US" dirty="0"/>
          </a:p>
        </p:txBody>
      </p:sp>
      <p:sp>
        <p:nvSpPr>
          <p:cNvPr id="14" name="Right Brace 13"/>
          <p:cNvSpPr/>
          <p:nvPr/>
        </p:nvSpPr>
        <p:spPr>
          <a:xfrm rot="5400000">
            <a:off x="4216030" y="1778110"/>
            <a:ext cx="551459" cy="5818410"/>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rot="5400000">
            <a:off x="8796882" y="4688929"/>
            <a:ext cx="367352" cy="1200294"/>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9675812"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4297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2554" y="542805"/>
            <a:ext cx="9782801" cy="1239837"/>
          </a:xfrm>
        </p:spPr>
        <p:txBody>
          <a:bodyPr>
            <a:normAutofit/>
          </a:bodyPr>
          <a:lstStyle/>
          <a:p>
            <a:r>
              <a:rPr lang="en-US" sz="3200" dirty="0" smtClean="0"/>
              <a:t>What if the most decision-making for classification comes at final layer?</a:t>
            </a:r>
            <a:endParaRPr lang="en-US" sz="3200" dirty="0"/>
          </a:p>
        </p:txBody>
      </p:sp>
      <p:sp>
        <p:nvSpPr>
          <p:cNvPr id="4" name="Cube 3"/>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54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35155" y="4888468"/>
            <a:ext cx="1531188" cy="369332"/>
          </a:xfrm>
          <a:prstGeom prst="rect">
            <a:avLst/>
          </a:prstGeom>
          <a:noFill/>
        </p:spPr>
        <p:txBody>
          <a:bodyPr wrap="none" rtlCol="0">
            <a:spAutoFit/>
          </a:bodyPr>
          <a:lstStyle/>
          <a:p>
            <a:r>
              <a:rPr lang="en-US" smtClean="0"/>
              <a:t>convolutions</a:t>
            </a:r>
            <a:endParaRPr lang="en-US"/>
          </a:p>
        </p:txBody>
      </p:sp>
      <p:sp>
        <p:nvSpPr>
          <p:cNvPr id="12" name="TextBox 11"/>
          <p:cNvSpPr txBox="1"/>
          <p:nvPr/>
        </p:nvSpPr>
        <p:spPr>
          <a:xfrm>
            <a:off x="7999412" y="5428260"/>
            <a:ext cx="1807418" cy="369332"/>
          </a:xfrm>
          <a:prstGeom prst="rect">
            <a:avLst/>
          </a:prstGeom>
          <a:noFill/>
        </p:spPr>
        <p:txBody>
          <a:bodyPr wrap="none" rtlCol="0">
            <a:spAutoFit/>
          </a:bodyPr>
          <a:lstStyle/>
          <a:p>
            <a:r>
              <a:rPr lang="en-US" smtClean="0"/>
              <a:t>fully connected</a:t>
            </a:r>
            <a:endParaRPr lang="en-US"/>
          </a:p>
        </p:txBody>
      </p:sp>
      <p:sp>
        <p:nvSpPr>
          <p:cNvPr id="13" name="TextBox 12"/>
          <p:cNvSpPr txBox="1"/>
          <p:nvPr/>
        </p:nvSpPr>
        <p:spPr>
          <a:xfrm>
            <a:off x="9580705" y="6044252"/>
            <a:ext cx="2019014" cy="369332"/>
          </a:xfrm>
          <a:prstGeom prst="rect">
            <a:avLst/>
          </a:prstGeom>
          <a:noFill/>
        </p:spPr>
        <p:txBody>
          <a:bodyPr wrap="none" rtlCol="0">
            <a:spAutoFit/>
          </a:bodyPr>
          <a:lstStyle/>
          <a:p>
            <a:r>
              <a:rPr lang="en-US" err="1" smtClean="0"/>
              <a:t>softmax</a:t>
            </a:r>
            <a:r>
              <a:rPr lang="en-US" dirty="0" smtClean="0"/>
              <a:t> classifier</a:t>
            </a:r>
            <a:endParaRPr lang="en-US" dirty="0"/>
          </a:p>
        </p:txBody>
      </p:sp>
      <p:sp>
        <p:nvSpPr>
          <p:cNvPr id="14" name="Right Brace 13"/>
          <p:cNvSpPr/>
          <p:nvPr/>
        </p:nvSpPr>
        <p:spPr>
          <a:xfrm rot="5400000">
            <a:off x="4216030" y="1778110"/>
            <a:ext cx="551459" cy="5818410"/>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rot="5400000">
            <a:off x="8796882" y="4688929"/>
            <a:ext cx="367352" cy="1200294"/>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9675812"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580705" y="2450617"/>
            <a:ext cx="704707" cy="521183"/>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489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026" y="542805"/>
            <a:ext cx="7712258" cy="1239837"/>
          </a:xfrm>
        </p:spPr>
        <p:txBody>
          <a:bodyPr>
            <a:normAutofit fontScale="90000"/>
          </a:bodyPr>
          <a:lstStyle/>
          <a:p>
            <a:r>
              <a:rPr lang="en-US" sz="3200" dirty="0" smtClean="0"/>
              <a:t>We could simply use the rest of the network </a:t>
            </a:r>
            <a:r>
              <a:rPr lang="en-US" sz="3200" smtClean="0"/>
              <a:t>as is and </a:t>
            </a:r>
            <a:r>
              <a:rPr lang="en-US" sz="3200" dirty="0" smtClean="0"/>
              <a:t>learn weights for a new final layer</a:t>
            </a:r>
            <a:endParaRPr lang="en-US" sz="3200" dirty="0"/>
          </a:p>
        </p:txBody>
      </p:sp>
      <p:sp>
        <p:nvSpPr>
          <p:cNvPr id="4" name="Cube 3"/>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5412" y="4367852"/>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35155" y="4888468"/>
            <a:ext cx="1531188" cy="369332"/>
          </a:xfrm>
          <a:prstGeom prst="rect">
            <a:avLst/>
          </a:prstGeom>
          <a:noFill/>
        </p:spPr>
        <p:txBody>
          <a:bodyPr wrap="none" rtlCol="0">
            <a:spAutoFit/>
          </a:bodyPr>
          <a:lstStyle/>
          <a:p>
            <a:r>
              <a:rPr lang="en-US" smtClean="0"/>
              <a:t>convolutions</a:t>
            </a:r>
            <a:endParaRPr lang="en-US"/>
          </a:p>
        </p:txBody>
      </p:sp>
      <p:sp>
        <p:nvSpPr>
          <p:cNvPr id="12" name="TextBox 11"/>
          <p:cNvSpPr txBox="1"/>
          <p:nvPr/>
        </p:nvSpPr>
        <p:spPr>
          <a:xfrm>
            <a:off x="7999412" y="5428260"/>
            <a:ext cx="1807418" cy="369332"/>
          </a:xfrm>
          <a:prstGeom prst="rect">
            <a:avLst/>
          </a:prstGeom>
          <a:noFill/>
        </p:spPr>
        <p:txBody>
          <a:bodyPr wrap="none" rtlCol="0">
            <a:spAutoFit/>
          </a:bodyPr>
          <a:lstStyle/>
          <a:p>
            <a:r>
              <a:rPr lang="en-US" smtClean="0"/>
              <a:t>fully connected</a:t>
            </a:r>
            <a:endParaRPr lang="en-US"/>
          </a:p>
        </p:txBody>
      </p:sp>
      <p:sp>
        <p:nvSpPr>
          <p:cNvPr id="13" name="TextBox 12"/>
          <p:cNvSpPr txBox="1"/>
          <p:nvPr/>
        </p:nvSpPr>
        <p:spPr>
          <a:xfrm>
            <a:off x="9580705" y="6479451"/>
            <a:ext cx="2019014" cy="369332"/>
          </a:xfrm>
          <a:prstGeom prst="rect">
            <a:avLst/>
          </a:prstGeom>
          <a:noFill/>
        </p:spPr>
        <p:txBody>
          <a:bodyPr wrap="none" rtlCol="0">
            <a:spAutoFit/>
          </a:bodyPr>
          <a:lstStyle/>
          <a:p>
            <a:r>
              <a:rPr lang="en-US" err="1" smtClean="0"/>
              <a:t>softmax</a:t>
            </a:r>
            <a:r>
              <a:rPr lang="en-US" dirty="0" smtClean="0"/>
              <a:t> classifier</a:t>
            </a:r>
            <a:endParaRPr lang="en-US" dirty="0"/>
          </a:p>
        </p:txBody>
      </p:sp>
      <p:sp>
        <p:nvSpPr>
          <p:cNvPr id="14" name="Right Brace 13"/>
          <p:cNvSpPr/>
          <p:nvPr/>
        </p:nvSpPr>
        <p:spPr>
          <a:xfrm rot="5400000">
            <a:off x="4216030" y="1778110"/>
            <a:ext cx="551459" cy="5818410"/>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rot="5400000">
            <a:off x="8796882" y="4688929"/>
            <a:ext cx="367352" cy="1200294"/>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0" idx="1"/>
          </p:cNvCxnSpPr>
          <p:nvPr/>
        </p:nvCxnSpPr>
        <p:spPr>
          <a:xfrm>
            <a:off x="9675812" y="4098700"/>
            <a:ext cx="609600" cy="13740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0285412" y="1664241"/>
            <a:ext cx="304800" cy="2209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23" name="Straight Arrow Connector 22"/>
          <p:cNvCxnSpPr>
            <a:endCxn id="22" idx="1"/>
          </p:cNvCxnSpPr>
          <p:nvPr/>
        </p:nvCxnSpPr>
        <p:spPr>
          <a:xfrm flipV="1">
            <a:off x="9675812" y="2769141"/>
            <a:ext cx="609600" cy="13075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9611513" y="1171579"/>
            <a:ext cx="1600631" cy="369332"/>
          </a:xfrm>
          <a:prstGeom prst="rect">
            <a:avLst/>
          </a:prstGeom>
          <a:noFill/>
        </p:spPr>
        <p:txBody>
          <a:bodyPr wrap="none" rtlCol="0">
            <a:spAutoFit/>
          </a:bodyPr>
          <a:lstStyle/>
          <a:p>
            <a:r>
              <a:rPr lang="en-US" smtClean="0">
                <a:solidFill>
                  <a:srgbClr val="FF0000"/>
                </a:solidFill>
              </a:rPr>
              <a:t>new classifier</a:t>
            </a:r>
            <a:endParaRPr lang="en-US" dirty="0">
              <a:solidFill>
                <a:srgbClr val="FF0000"/>
              </a:solidFill>
            </a:endParaRPr>
          </a:p>
        </p:txBody>
      </p:sp>
    </p:spTree>
    <p:extLst>
      <p:ext uri="{BB962C8B-B14F-4D97-AF65-F5344CB8AC3E}">
        <p14:creationId xmlns:p14="http://schemas.microsoft.com/office/powerpoint/2010/main" val="1968886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026" y="542805"/>
            <a:ext cx="7712258" cy="1239837"/>
          </a:xfrm>
        </p:spPr>
        <p:txBody>
          <a:bodyPr>
            <a:normAutofit/>
          </a:bodyPr>
          <a:lstStyle/>
          <a:p>
            <a:r>
              <a:rPr lang="en-US" sz="3200" dirty="0" smtClean="0"/>
              <a:t>We only train weights for the last layer</a:t>
            </a:r>
            <a:endParaRPr lang="en-US" sz="3200" dirty="0"/>
          </a:p>
        </p:txBody>
      </p:sp>
      <p:sp>
        <p:nvSpPr>
          <p:cNvPr id="4" name="Cube 3"/>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5412" y="4367852"/>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473498" y="6109958"/>
            <a:ext cx="6276847" cy="369332"/>
          </a:xfrm>
          <a:prstGeom prst="rect">
            <a:avLst/>
          </a:prstGeom>
          <a:noFill/>
        </p:spPr>
        <p:txBody>
          <a:bodyPr wrap="none" rtlCol="0">
            <a:spAutoFit/>
          </a:bodyPr>
          <a:lstStyle/>
          <a:p>
            <a:r>
              <a:rPr lang="en-US" dirty="0" smtClean="0"/>
              <a:t>The rest stay constant (can also train a bit </a:t>
            </a:r>
            <a:r>
              <a:rPr lang="en-US" smtClean="0"/>
              <a:t>for fine-tuning)</a:t>
            </a:r>
            <a:endParaRPr lang="en-US" dirty="0"/>
          </a:p>
        </p:txBody>
      </p:sp>
      <p:sp>
        <p:nvSpPr>
          <p:cNvPr id="14" name="Right Brace 13"/>
          <p:cNvSpPr/>
          <p:nvPr/>
        </p:nvSpPr>
        <p:spPr>
          <a:xfrm rot="5400000">
            <a:off x="5221363" y="2155264"/>
            <a:ext cx="551459" cy="6914676"/>
          </a:xfrm>
          <a:prstGeom prst="rightBrace">
            <a:avLst>
              <a:gd name="adj1" fmla="val 118039"/>
              <a:gd name="adj2" fmla="val 5639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0" idx="1"/>
          </p:cNvCxnSpPr>
          <p:nvPr/>
        </p:nvCxnSpPr>
        <p:spPr>
          <a:xfrm>
            <a:off x="9675812" y="4098700"/>
            <a:ext cx="609600" cy="13740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0285412" y="1664241"/>
            <a:ext cx="304800" cy="2209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23" name="Straight Arrow Connector 22"/>
          <p:cNvCxnSpPr>
            <a:endCxn id="22" idx="1"/>
          </p:cNvCxnSpPr>
          <p:nvPr/>
        </p:nvCxnSpPr>
        <p:spPr>
          <a:xfrm flipV="1">
            <a:off x="9675812" y="2769141"/>
            <a:ext cx="609600" cy="13075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180797" y="1923639"/>
            <a:ext cx="2104615" cy="369332"/>
          </a:xfrm>
          <a:prstGeom prst="rect">
            <a:avLst/>
          </a:prstGeom>
          <a:noFill/>
        </p:spPr>
        <p:txBody>
          <a:bodyPr wrap="none" rtlCol="0">
            <a:spAutoFit/>
          </a:bodyPr>
          <a:lstStyle/>
          <a:p>
            <a:r>
              <a:rPr lang="en-US" smtClean="0">
                <a:solidFill>
                  <a:srgbClr val="FF0000"/>
                </a:solidFill>
              </a:rPr>
              <a:t>learn weights here</a:t>
            </a:r>
            <a:endParaRPr lang="en-US" dirty="0">
              <a:solidFill>
                <a:srgbClr val="FF0000"/>
              </a:solidFill>
            </a:endParaRPr>
          </a:p>
        </p:txBody>
      </p:sp>
      <p:cxnSp>
        <p:nvCxnSpPr>
          <p:cNvPr id="25" name="Straight Arrow Connector 24"/>
          <p:cNvCxnSpPr/>
          <p:nvPr/>
        </p:nvCxnSpPr>
        <p:spPr>
          <a:xfrm>
            <a:off x="9599612" y="2522481"/>
            <a:ext cx="381000" cy="76101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703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026" y="76200"/>
            <a:ext cx="8291786" cy="1239837"/>
          </a:xfrm>
        </p:spPr>
        <p:txBody>
          <a:bodyPr>
            <a:normAutofit/>
          </a:bodyPr>
          <a:lstStyle/>
          <a:p>
            <a:r>
              <a:rPr lang="en-US" sz="3200" dirty="0" smtClean="0"/>
              <a:t>This technique is called </a:t>
            </a:r>
            <a:r>
              <a:rPr lang="en-US" sz="3200" i="1" dirty="0" smtClean="0"/>
              <a:t>transfer learning</a:t>
            </a:r>
            <a:endParaRPr lang="en-US" sz="3200" i="1" dirty="0"/>
          </a:p>
        </p:txBody>
      </p:sp>
      <p:sp>
        <p:nvSpPr>
          <p:cNvPr id="4" name="Cube 3"/>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0285412" y="4367852"/>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0" idx="1"/>
          </p:cNvCxnSpPr>
          <p:nvPr/>
        </p:nvCxnSpPr>
        <p:spPr>
          <a:xfrm>
            <a:off x="9675812" y="4098700"/>
            <a:ext cx="609600" cy="13740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0285412" y="1664241"/>
            <a:ext cx="304800" cy="22098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23" name="Straight Arrow Connector 22"/>
          <p:cNvCxnSpPr>
            <a:endCxn id="22" idx="1"/>
          </p:cNvCxnSpPr>
          <p:nvPr/>
        </p:nvCxnSpPr>
        <p:spPr>
          <a:xfrm flipV="1">
            <a:off x="9675812" y="2769141"/>
            <a:ext cx="609600" cy="13075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516198" y="5722203"/>
            <a:ext cx="6559414" cy="830997"/>
          </a:xfrm>
          <a:prstGeom prst="rect">
            <a:avLst/>
          </a:prstGeom>
        </p:spPr>
        <p:txBody>
          <a:bodyPr wrap="square">
            <a:spAutoFit/>
          </a:bodyPr>
          <a:lstStyle/>
          <a:p>
            <a:r>
              <a:rPr lang="en-US" sz="2400" dirty="0" smtClean="0"/>
              <a:t>Bootstrap your custom model from similar</a:t>
            </a:r>
          </a:p>
          <a:p>
            <a:r>
              <a:rPr lang="en-US" sz="2400" dirty="0" smtClean="0"/>
              <a:t>Saves days or weeks of training time</a:t>
            </a:r>
            <a:endParaRPr lang="en-US" sz="2400" dirty="0"/>
          </a:p>
        </p:txBody>
      </p:sp>
    </p:spTree>
    <p:extLst>
      <p:ext uri="{BB962C8B-B14F-4D97-AF65-F5344CB8AC3E}">
        <p14:creationId xmlns:p14="http://schemas.microsoft.com/office/powerpoint/2010/main" val="1206952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Transfer Learning in </a:t>
            </a:r>
            <a:r>
              <a:rPr lang="en-US" sz="3200" dirty="0" err="1" smtClean="0"/>
              <a:t>TensorFlow</a:t>
            </a:r>
            <a:r>
              <a:rPr lang="en-US" sz="3200" dirty="0" smtClean="0"/>
              <a:t> (classification)</a:t>
            </a:r>
            <a:endParaRPr lang="en-US" sz="3200"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Get handle to output from second-to-last layer</a:t>
            </a:r>
          </a:p>
          <a:p>
            <a:pPr marL="514350" indent="-514350">
              <a:buFont typeface="+mj-lt"/>
              <a:buAutoNum type="arabicPeriod"/>
            </a:pPr>
            <a:r>
              <a:rPr lang="en-US" dirty="0" smtClean="0"/>
              <a:t>Create a new fully connected layer</a:t>
            </a:r>
          </a:p>
          <a:p>
            <a:pPr marL="1223010" lvl="1" indent="-514350"/>
            <a:r>
              <a:rPr lang="en-US" dirty="0" smtClean="0"/>
              <a:t>number of neurons equal to the number of output classes)</a:t>
            </a:r>
          </a:p>
          <a:p>
            <a:pPr marL="514350" indent="-514350">
              <a:buFont typeface="+mj-lt"/>
              <a:buAutoNum type="arabicPeriod"/>
            </a:pPr>
            <a:r>
              <a:rPr lang="en-US" dirty="0" smtClean="0"/>
              <a:t>Create new </a:t>
            </a:r>
            <a:r>
              <a:rPr lang="en-US" dirty="0" err="1" smtClean="0"/>
              <a:t>softmax</a:t>
            </a:r>
            <a:r>
              <a:rPr lang="en-US" dirty="0"/>
              <a:t> </a:t>
            </a:r>
            <a:r>
              <a:rPr lang="en-US" dirty="0" smtClean="0"/>
              <a:t>cross-entropy loss</a:t>
            </a:r>
          </a:p>
          <a:p>
            <a:pPr marL="514350" indent="-514350">
              <a:buFont typeface="+mj-lt"/>
              <a:buAutoNum type="arabicPeriod"/>
            </a:pPr>
            <a:r>
              <a:rPr lang="en-US" dirty="0" smtClean="0"/>
              <a:t>Create a training op to minimize the new loss</a:t>
            </a:r>
          </a:p>
          <a:p>
            <a:pPr lvl="1"/>
            <a:r>
              <a:rPr lang="en-US" dirty="0" smtClean="0"/>
              <a:t>Set </a:t>
            </a:r>
            <a:r>
              <a:rPr lang="en-US" dirty="0" err="1" smtClean="0"/>
              <a:t>var_list</a:t>
            </a:r>
            <a:r>
              <a:rPr lang="en-US" dirty="0" smtClean="0"/>
              <a:t> parameter to be just the new layer variables</a:t>
            </a:r>
          </a:p>
          <a:p>
            <a:pPr marL="514350" indent="-514350">
              <a:buFont typeface="+mj-lt"/>
              <a:buAutoNum type="arabicPeriod"/>
            </a:pPr>
            <a:r>
              <a:rPr lang="en-US" dirty="0" smtClean="0"/>
              <a:t>Train with new data!</a:t>
            </a:r>
            <a:endParaRPr lang="en-US" dirty="0"/>
          </a:p>
        </p:txBody>
      </p:sp>
    </p:spTree>
    <p:extLst>
      <p:ext uri="{BB962C8B-B14F-4D97-AF65-F5344CB8AC3E}">
        <p14:creationId xmlns:p14="http://schemas.microsoft.com/office/powerpoint/2010/main" val="112154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8991599" cy="2654064"/>
          </a:xfrm>
        </p:spPr>
        <p:txBody>
          <a:bodyPr/>
          <a:lstStyle/>
          <a:p>
            <a:r>
              <a:rPr lang="en-US" dirty="0" smtClean="0"/>
              <a:t>Accessing Ops </a:t>
            </a:r>
            <a:r>
              <a:rPr lang="en-US" smtClean="0"/>
              <a:t>and Tensors</a:t>
            </a:r>
            <a:endParaRPr lang="en-US"/>
          </a:p>
        </p:txBody>
      </p:sp>
    </p:spTree>
    <p:extLst>
      <p:ext uri="{BB962C8B-B14F-4D97-AF65-F5344CB8AC3E}">
        <p14:creationId xmlns:p14="http://schemas.microsoft.com/office/powerpoint/2010/main" val="16394222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arbitrary Operations/Tensors</a:t>
            </a:r>
            <a:endParaRPr lang="en-US" dirty="0"/>
          </a:p>
        </p:txBody>
      </p:sp>
      <p:sp>
        <p:nvSpPr>
          <p:cNvPr id="3" name="Content Placeholder 2"/>
          <p:cNvSpPr>
            <a:spLocks noGrp="1"/>
          </p:cNvSpPr>
          <p:nvPr>
            <p:ph idx="1"/>
          </p:nvPr>
        </p:nvSpPr>
        <p:spPr>
          <a:xfrm>
            <a:off x="1593436" y="1600200"/>
            <a:ext cx="9782801" cy="914400"/>
          </a:xfrm>
        </p:spPr>
        <p:txBody>
          <a:bodyPr/>
          <a:lstStyle/>
          <a:p>
            <a:r>
              <a:rPr lang="en-US" dirty="0" smtClean="0"/>
              <a:t>In general, we have been simply holding onto pointers for our Tensor objects in </a:t>
            </a:r>
            <a:r>
              <a:rPr lang="en-US" dirty="0" err="1" smtClean="0"/>
              <a:t>TensorFlow</a:t>
            </a:r>
            <a:r>
              <a:rPr lang="en-US" dirty="0" smtClean="0"/>
              <a:t>:</a:t>
            </a:r>
          </a:p>
          <a:p>
            <a:endParaRPr lang="en-US" dirty="0"/>
          </a:p>
        </p:txBody>
      </p:sp>
      <p:sp>
        <p:nvSpPr>
          <p:cNvPr id="4" name="Content Placeholder 2"/>
          <p:cNvSpPr txBox="1">
            <a:spLocks/>
          </p:cNvSpPr>
          <p:nvPr/>
        </p:nvSpPr>
        <p:spPr>
          <a:xfrm>
            <a:off x="1751012" y="3124200"/>
            <a:ext cx="9782801" cy="9144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a:latin typeface="Consolas" charset="0"/>
                <a:ea typeface="Consolas" charset="0"/>
                <a:cs typeface="Consolas" charset="0"/>
              </a:rPr>
              <a:t>c</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tf.multiply</a:t>
            </a:r>
            <a:r>
              <a:rPr lang="en-US" dirty="0" smtClean="0">
                <a:latin typeface="Consolas" charset="0"/>
                <a:ea typeface="Consolas" charset="0"/>
                <a:cs typeface="Consolas" charset="0"/>
              </a:rPr>
              <a:t>(a, b)  # c is a Tensor object</a:t>
            </a:r>
            <a:endParaRPr lang="en-US" dirty="0">
              <a:latin typeface="Consolas" charset="0"/>
              <a:ea typeface="Consolas" charset="0"/>
              <a:cs typeface="Consolas" charset="0"/>
            </a:endParaRPr>
          </a:p>
        </p:txBody>
      </p:sp>
      <p:sp>
        <p:nvSpPr>
          <p:cNvPr id="5" name="Content Placeholder 2"/>
          <p:cNvSpPr txBox="1">
            <a:spLocks/>
          </p:cNvSpPr>
          <p:nvPr/>
        </p:nvSpPr>
        <p:spPr>
          <a:xfrm>
            <a:off x="1593436" y="4221163"/>
            <a:ext cx="9782801" cy="9144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smtClean="0"/>
              <a:t>But what if we don’t have pointer due to using pre-built models or layer functions which don’t return handles?</a:t>
            </a:r>
            <a:endParaRPr lang="en-US" dirty="0"/>
          </a:p>
        </p:txBody>
      </p:sp>
    </p:spTree>
    <p:extLst>
      <p:ext uri="{BB962C8B-B14F-4D97-AF65-F5344CB8AC3E}">
        <p14:creationId xmlns:p14="http://schemas.microsoft.com/office/powerpoint/2010/main" val="15549344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arbitrary Operations/Tensors</a:t>
            </a:r>
            <a:endParaRPr lang="en-US" dirty="0"/>
          </a:p>
        </p:txBody>
      </p:sp>
      <p:sp>
        <p:nvSpPr>
          <p:cNvPr id="3" name="Content Placeholder 2"/>
          <p:cNvSpPr>
            <a:spLocks noGrp="1"/>
          </p:cNvSpPr>
          <p:nvPr>
            <p:ph idx="1"/>
          </p:nvPr>
        </p:nvSpPr>
        <p:spPr>
          <a:xfrm>
            <a:off x="1593436" y="1600200"/>
            <a:ext cx="9782801" cy="2438400"/>
          </a:xfrm>
        </p:spPr>
        <p:txBody>
          <a:bodyPr>
            <a:normAutofit/>
          </a:bodyPr>
          <a:lstStyle/>
          <a:p>
            <a:r>
              <a:rPr lang="en-US" dirty="0" err="1" smtClean="0">
                <a:latin typeface="Consolas" charset="0"/>
                <a:ea typeface="Consolas" charset="0"/>
                <a:cs typeface="Consolas" charset="0"/>
              </a:rPr>
              <a:t>graph.get_operation_by_name</a:t>
            </a:r>
            <a:r>
              <a:rPr lang="en-US" dirty="0" smtClean="0">
                <a:latin typeface="Consolas" charset="0"/>
                <a:ea typeface="Consolas" charset="0"/>
                <a:cs typeface="Consolas" charset="0"/>
              </a:rPr>
              <a:t>()</a:t>
            </a:r>
          </a:p>
          <a:p>
            <a:r>
              <a:rPr lang="en-US" dirty="0" err="1">
                <a:latin typeface="Consolas" charset="0"/>
                <a:ea typeface="Consolas" charset="0"/>
                <a:cs typeface="Consolas" charset="0"/>
              </a:rPr>
              <a:t>g</a:t>
            </a:r>
            <a:r>
              <a:rPr lang="en-US" dirty="0" err="1" smtClean="0">
                <a:latin typeface="Consolas" charset="0"/>
                <a:ea typeface="Consolas" charset="0"/>
                <a:cs typeface="Consolas" charset="0"/>
              </a:rPr>
              <a:t>raph.get_tensor_by_name</a:t>
            </a:r>
            <a:r>
              <a:rPr lang="en-US" dirty="0" smtClean="0">
                <a:latin typeface="Consolas" charset="0"/>
                <a:ea typeface="Consolas" charset="0"/>
                <a:cs typeface="Consolas" charset="0"/>
              </a:rPr>
              <a:t>()</a:t>
            </a:r>
          </a:p>
          <a:p>
            <a:r>
              <a:rPr lang="en-US" dirty="0" smtClean="0"/>
              <a:t>functions allow us to get handles to Operations/Tensors by passing in a string name:</a:t>
            </a:r>
          </a:p>
          <a:p>
            <a:endParaRPr lang="en-US" dirty="0"/>
          </a:p>
        </p:txBody>
      </p:sp>
      <p:sp>
        <p:nvSpPr>
          <p:cNvPr id="4" name="Content Placeholder 2"/>
          <p:cNvSpPr txBox="1">
            <a:spLocks/>
          </p:cNvSpPr>
          <p:nvPr/>
        </p:nvSpPr>
        <p:spPr>
          <a:xfrm>
            <a:off x="1227036" y="4222455"/>
            <a:ext cx="10515600" cy="1359976"/>
          </a:xfrm>
          <a:prstGeom prst="rect">
            <a:avLst/>
          </a:prstGeom>
        </p:spPr>
        <p:txBody>
          <a:bodyPr vert="horz" lIns="91440" tIns="45720" rIns="91440" bIns="45720" rtlCol="0">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sz="2400" dirty="0" smtClean="0">
                <a:latin typeface="Consolas" charset="0"/>
                <a:ea typeface="Consolas" charset="0"/>
                <a:cs typeface="Consolas" charset="0"/>
              </a:rPr>
              <a:t>with </a:t>
            </a:r>
            <a:r>
              <a:rPr lang="en-US" sz="2400" dirty="0" err="1" smtClean="0">
                <a:latin typeface="Consolas" charset="0"/>
                <a:ea typeface="Consolas" charset="0"/>
                <a:cs typeface="Consolas" charset="0"/>
              </a:rPr>
              <a:t>graph.as_default</a:t>
            </a:r>
            <a:r>
              <a:rPr lang="en-US" sz="2400" dirty="0" smtClean="0">
                <a:latin typeface="Consolas" charset="0"/>
                <a:ea typeface="Consolas" charset="0"/>
                <a:cs typeface="Consolas" charset="0"/>
              </a:rPr>
              <a:t>():</a:t>
            </a:r>
          </a:p>
          <a:p>
            <a:pPr marL="0" indent="0">
              <a:buNone/>
            </a:pPr>
            <a:r>
              <a:rPr lang="en-US" sz="2400" dirty="0" smtClean="0">
                <a:latin typeface="Consolas" charset="0"/>
                <a:ea typeface="Consolas" charset="0"/>
                <a:cs typeface="Consolas" charset="0"/>
              </a:rPr>
              <a:t>  </a:t>
            </a:r>
            <a:r>
              <a:rPr lang="en-US" sz="2400" dirty="0" err="1" smtClean="0">
                <a:latin typeface="Consolas" charset="0"/>
                <a:ea typeface="Consolas" charset="0"/>
                <a:cs typeface="Consolas" charset="0"/>
              </a:rPr>
              <a:t>tf.multiply</a:t>
            </a:r>
            <a:r>
              <a:rPr lang="en-US" sz="2400" dirty="0" smtClean="0">
                <a:latin typeface="Consolas" charset="0"/>
                <a:ea typeface="Consolas" charset="0"/>
                <a:cs typeface="Consolas" charset="0"/>
              </a:rPr>
              <a:t>(a, b, name=‘</a:t>
            </a:r>
            <a:r>
              <a:rPr lang="en-US" sz="2400" dirty="0" err="1" smtClean="0">
                <a:latin typeface="Consolas" charset="0"/>
                <a:ea typeface="Consolas" charset="0"/>
                <a:cs typeface="Consolas" charset="0"/>
              </a:rPr>
              <a:t>mul</a:t>
            </a:r>
            <a:r>
              <a:rPr lang="en-US" sz="2400" dirty="0" smtClean="0">
                <a:latin typeface="Consolas" charset="0"/>
                <a:ea typeface="Consolas" charset="0"/>
                <a:cs typeface="Consolas" charset="0"/>
              </a:rPr>
              <a:t>’)  # forgot to assign handle!</a:t>
            </a:r>
          </a:p>
          <a:p>
            <a:pPr marL="0" indent="0">
              <a:buNone/>
            </a:pPr>
            <a:r>
              <a:rPr lang="en-US" sz="2400" dirty="0" smtClean="0">
                <a:latin typeface="Consolas" charset="0"/>
                <a:ea typeface="Consolas" charset="0"/>
                <a:cs typeface="Consolas" charset="0"/>
              </a:rPr>
              <a:t>  c = </a:t>
            </a:r>
            <a:r>
              <a:rPr lang="en-US" sz="2400" dirty="0" err="1" smtClean="0">
                <a:latin typeface="Consolas" charset="0"/>
                <a:ea typeface="Consolas" charset="0"/>
                <a:cs typeface="Consolas" charset="0"/>
              </a:rPr>
              <a:t>graph.get_tensor_by_name</a:t>
            </a:r>
            <a:r>
              <a:rPr lang="en-US" sz="2400" dirty="0" smtClean="0">
                <a:latin typeface="Consolas" charset="0"/>
                <a:ea typeface="Consolas" charset="0"/>
                <a:cs typeface="Consolas" charset="0"/>
              </a:rPr>
              <a:t>(‘mul:0’)  # got Tensor handle!</a:t>
            </a:r>
            <a:endParaRPr lang="en-US" sz="2400" dirty="0">
              <a:latin typeface="Consolas" charset="0"/>
              <a:ea typeface="Consolas" charset="0"/>
              <a:cs typeface="Consolas" charset="0"/>
            </a:endParaRPr>
          </a:p>
        </p:txBody>
      </p:sp>
    </p:spTree>
    <p:extLst>
      <p:ext uri="{BB962C8B-B14F-4D97-AF65-F5344CB8AC3E}">
        <p14:creationId xmlns:p14="http://schemas.microsoft.com/office/powerpoint/2010/main" val="1055540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 names</a:t>
            </a:r>
            <a:endParaRPr lang="en-US" dirty="0"/>
          </a:p>
        </p:txBody>
      </p:sp>
      <p:sp>
        <p:nvSpPr>
          <p:cNvPr id="3" name="Content Placeholder 2"/>
          <p:cNvSpPr>
            <a:spLocks noGrp="1"/>
          </p:cNvSpPr>
          <p:nvPr>
            <p:ph idx="1"/>
          </p:nvPr>
        </p:nvSpPr>
        <p:spPr>
          <a:xfrm>
            <a:off x="1593436" y="1600200"/>
            <a:ext cx="9782801" cy="4953000"/>
          </a:xfrm>
        </p:spPr>
        <p:txBody>
          <a:bodyPr/>
          <a:lstStyle/>
          <a:p>
            <a:r>
              <a:rPr lang="en-US" dirty="0" smtClean="0"/>
              <a:t>Be careful when getting handles to Operations vs Tensors</a:t>
            </a:r>
          </a:p>
          <a:p>
            <a:r>
              <a:rPr lang="en-US" dirty="0" smtClean="0"/>
              <a:t>Operation names are the names you pass in as name argument (they don’t have number at end)</a:t>
            </a:r>
          </a:p>
          <a:p>
            <a:endParaRPr lang="en-US" dirty="0"/>
          </a:p>
        </p:txBody>
      </p:sp>
      <p:sp>
        <p:nvSpPr>
          <p:cNvPr id="5" name="Rectangle 4"/>
          <p:cNvSpPr/>
          <p:nvPr/>
        </p:nvSpPr>
        <p:spPr>
          <a:xfrm>
            <a:off x="1712498" y="3784312"/>
            <a:ext cx="9677649" cy="584775"/>
          </a:xfrm>
          <a:prstGeom prst="rect">
            <a:avLst/>
          </a:prstGeom>
        </p:spPr>
        <p:txBody>
          <a:bodyPr wrap="none">
            <a:spAutoFit/>
          </a:bodyPr>
          <a:lstStyle/>
          <a:p>
            <a:r>
              <a:rPr lang="en-US" sz="3200" smtClean="0">
                <a:latin typeface="Consolas" charset="0"/>
                <a:ea typeface="Consolas" charset="0"/>
                <a:cs typeface="Consolas" charset="0"/>
              </a:rPr>
              <a:t>c_op</a:t>
            </a:r>
            <a:r>
              <a:rPr lang="en-US" sz="3200" dirty="0" smtClean="0">
                <a:latin typeface="Consolas" charset="0"/>
                <a:ea typeface="Consolas" charset="0"/>
                <a:cs typeface="Consolas" charset="0"/>
              </a:rPr>
              <a:t> </a:t>
            </a:r>
            <a:r>
              <a:rPr lang="en-US" sz="3200" dirty="0">
                <a:latin typeface="Consolas" charset="0"/>
                <a:ea typeface="Consolas" charset="0"/>
                <a:cs typeface="Consolas" charset="0"/>
              </a:rPr>
              <a:t>= </a:t>
            </a:r>
            <a:r>
              <a:rPr lang="en-US" sz="3200" dirty="0" err="1" smtClean="0">
                <a:latin typeface="Consolas" charset="0"/>
                <a:ea typeface="Consolas" charset="0"/>
                <a:cs typeface="Consolas" charset="0"/>
              </a:rPr>
              <a:t>graph.get_operation_by_name</a:t>
            </a:r>
            <a:r>
              <a:rPr lang="en-US" sz="3200" dirty="0">
                <a:latin typeface="Consolas" charset="0"/>
                <a:ea typeface="Consolas" charset="0"/>
                <a:cs typeface="Consolas" charset="0"/>
              </a:rPr>
              <a:t>(‘</a:t>
            </a:r>
            <a:r>
              <a:rPr lang="en-US" sz="3200" dirty="0" err="1" smtClean="0">
                <a:latin typeface="Consolas" charset="0"/>
                <a:ea typeface="Consolas" charset="0"/>
                <a:cs typeface="Consolas" charset="0"/>
              </a:rPr>
              <a:t>mul</a:t>
            </a:r>
            <a:r>
              <a:rPr lang="en-US" sz="3200" dirty="0" smtClean="0">
                <a:latin typeface="Consolas" charset="0"/>
                <a:ea typeface="Consolas" charset="0"/>
                <a:cs typeface="Consolas" charset="0"/>
              </a:rPr>
              <a:t>’) </a:t>
            </a:r>
            <a:endParaRPr lang="en-US" sz="3200" dirty="0"/>
          </a:p>
        </p:txBody>
      </p:sp>
    </p:spTree>
    <p:extLst>
      <p:ext uri="{BB962C8B-B14F-4D97-AF65-F5344CB8AC3E}">
        <p14:creationId xmlns:p14="http://schemas.microsoft.com/office/powerpoint/2010/main" val="1036663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Tensor names</a:t>
            </a:r>
            <a:endParaRPr lang="en-US" dirty="0"/>
          </a:p>
        </p:txBody>
      </p:sp>
      <p:sp>
        <p:nvSpPr>
          <p:cNvPr id="3" name="Content Placeholder 2"/>
          <p:cNvSpPr>
            <a:spLocks noGrp="1"/>
          </p:cNvSpPr>
          <p:nvPr>
            <p:ph idx="1"/>
          </p:nvPr>
        </p:nvSpPr>
        <p:spPr/>
        <p:txBody>
          <a:bodyPr/>
          <a:lstStyle/>
          <a:p>
            <a:r>
              <a:rPr lang="en-US" dirty="0"/>
              <a:t>Tensors have numeric suffix along with parent Op’s name</a:t>
            </a:r>
          </a:p>
          <a:p>
            <a:r>
              <a:rPr lang="en-US" dirty="0"/>
              <a:t>Number corresponds to the output index from </a:t>
            </a:r>
            <a:r>
              <a:rPr lang="en-US" dirty="0" smtClean="0"/>
              <a:t>Op</a:t>
            </a:r>
          </a:p>
          <a:p>
            <a:endParaRPr lang="en-US" dirty="0"/>
          </a:p>
          <a:p>
            <a:endParaRPr lang="en-US" dirty="0" smtClean="0"/>
          </a:p>
          <a:p>
            <a:r>
              <a:rPr lang="en-US" dirty="0" smtClean="0"/>
              <a:t>Some </a:t>
            </a:r>
            <a:r>
              <a:rPr lang="en-US" dirty="0"/>
              <a:t>Ops have multiple output Tensors</a:t>
            </a:r>
          </a:p>
          <a:p>
            <a:pPr lvl="1"/>
            <a:r>
              <a:rPr lang="en-US" dirty="0"/>
              <a:t>example: </a:t>
            </a:r>
            <a:r>
              <a:rPr lang="en-US" dirty="0" err="1"/>
              <a:t>tf.nn.moments</a:t>
            </a:r>
            <a:r>
              <a:rPr lang="en-US" dirty="0"/>
              <a:t>()</a:t>
            </a:r>
          </a:p>
          <a:p>
            <a:endParaRPr lang="en-US" dirty="0"/>
          </a:p>
        </p:txBody>
      </p:sp>
      <p:sp>
        <p:nvSpPr>
          <p:cNvPr id="4" name="Rectangle 3"/>
          <p:cNvSpPr/>
          <p:nvPr/>
        </p:nvSpPr>
        <p:spPr>
          <a:xfrm>
            <a:off x="2098058" y="2920425"/>
            <a:ext cx="8773556" cy="584775"/>
          </a:xfrm>
          <a:prstGeom prst="rect">
            <a:avLst/>
          </a:prstGeom>
        </p:spPr>
        <p:txBody>
          <a:bodyPr wrap="none">
            <a:spAutoFit/>
          </a:bodyPr>
          <a:lstStyle/>
          <a:p>
            <a:r>
              <a:rPr lang="en-US" sz="3200" dirty="0">
                <a:latin typeface="Consolas" charset="0"/>
                <a:ea typeface="Consolas" charset="0"/>
                <a:cs typeface="Consolas" charset="0"/>
              </a:rPr>
              <a:t>c = </a:t>
            </a:r>
            <a:r>
              <a:rPr lang="en-US" sz="3200" dirty="0" err="1">
                <a:latin typeface="Consolas" charset="0"/>
                <a:ea typeface="Consolas" charset="0"/>
                <a:cs typeface="Consolas" charset="0"/>
              </a:rPr>
              <a:t>graph.get_tensor_by_name</a:t>
            </a:r>
            <a:r>
              <a:rPr lang="en-US" sz="3200" dirty="0">
                <a:latin typeface="Consolas" charset="0"/>
                <a:ea typeface="Consolas" charset="0"/>
                <a:cs typeface="Consolas" charset="0"/>
              </a:rPr>
              <a:t>(‘mul:0’) </a:t>
            </a:r>
            <a:endParaRPr lang="en-US" sz="3200" dirty="0"/>
          </a:p>
        </p:txBody>
      </p:sp>
      <p:sp>
        <p:nvSpPr>
          <p:cNvPr id="5" name="Rectangle 4"/>
          <p:cNvSpPr/>
          <p:nvPr/>
        </p:nvSpPr>
        <p:spPr>
          <a:xfrm>
            <a:off x="1593436" y="5071735"/>
            <a:ext cx="10355720" cy="1077218"/>
          </a:xfrm>
          <a:prstGeom prst="rect">
            <a:avLst/>
          </a:prstGeom>
        </p:spPr>
        <p:txBody>
          <a:bodyPr wrap="none">
            <a:spAutoFit/>
          </a:bodyPr>
          <a:lstStyle/>
          <a:p>
            <a:r>
              <a:rPr lang="en-US" sz="3200" dirty="0" smtClean="0">
                <a:latin typeface="Consolas" charset="0"/>
                <a:ea typeface="Consolas" charset="0"/>
                <a:cs typeface="Consolas" charset="0"/>
              </a:rPr>
              <a:t>mean </a:t>
            </a:r>
            <a:r>
              <a:rPr lang="en-US" sz="3200" dirty="0">
                <a:latin typeface="Consolas" charset="0"/>
                <a:ea typeface="Consolas" charset="0"/>
                <a:cs typeface="Consolas" charset="0"/>
              </a:rPr>
              <a:t>= </a:t>
            </a:r>
            <a:r>
              <a:rPr lang="en-US" sz="3200" dirty="0" err="1">
                <a:latin typeface="Consolas" charset="0"/>
                <a:ea typeface="Consolas" charset="0"/>
                <a:cs typeface="Consolas" charset="0"/>
              </a:rPr>
              <a:t>graph.get_tensor_by_name</a:t>
            </a:r>
            <a:r>
              <a:rPr lang="en-US" sz="3200" dirty="0" smtClean="0">
                <a:latin typeface="Consolas" charset="0"/>
                <a:ea typeface="Consolas" charset="0"/>
                <a:cs typeface="Consolas" charset="0"/>
              </a:rPr>
              <a:t>(‘moments:0</a:t>
            </a:r>
            <a:r>
              <a:rPr lang="en-US" sz="3200" dirty="0">
                <a:latin typeface="Consolas" charset="0"/>
                <a:ea typeface="Consolas" charset="0"/>
                <a:cs typeface="Consolas" charset="0"/>
              </a:rPr>
              <a:t>’) </a:t>
            </a:r>
            <a:endParaRPr lang="en-US" sz="3200" dirty="0" smtClean="0">
              <a:latin typeface="Consolas" charset="0"/>
              <a:ea typeface="Consolas" charset="0"/>
              <a:cs typeface="Consolas" charset="0"/>
            </a:endParaRPr>
          </a:p>
          <a:p>
            <a:r>
              <a:rPr lang="en-US" sz="3200" dirty="0" err="1" smtClean="0">
                <a:latin typeface="Consolas" charset="0"/>
                <a:ea typeface="Consolas" charset="0"/>
                <a:cs typeface="Consolas" charset="0"/>
              </a:rPr>
              <a:t>var</a:t>
            </a:r>
            <a:r>
              <a:rPr lang="en-US" sz="3200" dirty="0" smtClean="0">
                <a:latin typeface="Consolas" charset="0"/>
                <a:ea typeface="Consolas" charset="0"/>
                <a:cs typeface="Consolas" charset="0"/>
              </a:rPr>
              <a:t>  = </a:t>
            </a:r>
            <a:r>
              <a:rPr lang="en-US" sz="3200" dirty="0" err="1">
                <a:latin typeface="Consolas" charset="0"/>
                <a:ea typeface="Consolas" charset="0"/>
                <a:cs typeface="Consolas" charset="0"/>
              </a:rPr>
              <a:t>graph.get_tensor_by_name</a:t>
            </a:r>
            <a:r>
              <a:rPr lang="en-US" sz="3200" dirty="0">
                <a:latin typeface="Consolas" charset="0"/>
                <a:ea typeface="Consolas" charset="0"/>
                <a:cs typeface="Consolas" charset="0"/>
              </a:rPr>
              <a:t>(‘</a:t>
            </a:r>
            <a:r>
              <a:rPr lang="en-US" sz="3200" dirty="0" smtClean="0">
                <a:latin typeface="Consolas" charset="0"/>
                <a:ea typeface="Consolas" charset="0"/>
                <a:cs typeface="Consolas" charset="0"/>
              </a:rPr>
              <a:t>moments:1’) </a:t>
            </a:r>
            <a:endParaRPr lang="en-US" sz="3200" dirty="0"/>
          </a:p>
        </p:txBody>
      </p:sp>
    </p:spTree>
    <p:extLst>
      <p:ext uri="{BB962C8B-B14F-4D97-AF65-F5344CB8AC3E}">
        <p14:creationId xmlns:p14="http://schemas.microsoft.com/office/powerpoint/2010/main" val="710905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Normalization</a:t>
            </a:r>
            <a:endParaRPr lang="en-US" dirty="0"/>
          </a:p>
        </p:txBody>
      </p:sp>
      <p:sp>
        <p:nvSpPr>
          <p:cNvPr id="3" name="Text Placeholder 2"/>
          <p:cNvSpPr>
            <a:spLocks noGrp="1"/>
          </p:cNvSpPr>
          <p:nvPr>
            <p:ph type="body" idx="1"/>
          </p:nvPr>
        </p:nvSpPr>
        <p:spPr/>
        <p:txBody>
          <a:bodyPr/>
          <a:lstStyle/>
          <a:p>
            <a:r>
              <a:rPr lang="en-US" dirty="0" err="1" smtClean="0"/>
              <a:t>Ioffe</a:t>
            </a:r>
            <a:r>
              <a:rPr lang="en-US" dirty="0" smtClean="0"/>
              <a:t> and </a:t>
            </a:r>
            <a:r>
              <a:rPr lang="en-US" dirty="0" err="1" smtClean="0"/>
              <a:t>Szegedy</a:t>
            </a:r>
            <a:r>
              <a:rPr lang="en-US" dirty="0" smtClean="0"/>
              <a:t> </a:t>
            </a:r>
            <a:endParaRPr lang="en-US" dirty="0"/>
          </a:p>
        </p:txBody>
      </p:sp>
    </p:spTree>
    <p:extLst>
      <p:ext uri="{BB962C8B-B14F-4D97-AF65-F5344CB8AC3E}">
        <p14:creationId xmlns:p14="http://schemas.microsoft.com/office/powerpoint/2010/main" val="2380294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Internal Covariate Shift</a:t>
            </a:r>
            <a:endParaRPr lang="en-US" dirty="0"/>
          </a:p>
        </p:txBody>
      </p:sp>
      <p:sp>
        <p:nvSpPr>
          <p:cNvPr id="3" name="Content Placeholder 2"/>
          <p:cNvSpPr>
            <a:spLocks noGrp="1"/>
          </p:cNvSpPr>
          <p:nvPr>
            <p:ph idx="1"/>
          </p:nvPr>
        </p:nvSpPr>
        <p:spPr/>
        <p:txBody>
          <a:bodyPr/>
          <a:lstStyle/>
          <a:p>
            <a:r>
              <a:rPr lang="en-US" dirty="0" smtClean="0"/>
              <a:t>Change in distributions of activations during training due to weights changing</a:t>
            </a:r>
          </a:p>
          <a:p>
            <a:endParaRPr lang="en-US" dirty="0" smtClean="0"/>
          </a:p>
          <a:p>
            <a:r>
              <a:rPr lang="en-US" dirty="0" smtClean="0"/>
              <a:t>Slows down training</a:t>
            </a:r>
          </a:p>
          <a:p>
            <a:pPr lvl="1"/>
            <a:r>
              <a:rPr lang="en-US" dirty="0"/>
              <a:t>W</a:t>
            </a:r>
            <a:r>
              <a:rPr lang="en-US" dirty="0" smtClean="0"/>
              <a:t>eights have to keep figuring out how to respond to different activations</a:t>
            </a:r>
          </a:p>
          <a:p>
            <a:endParaRPr lang="en-US" dirty="0" smtClean="0"/>
          </a:p>
          <a:p>
            <a:r>
              <a:rPr lang="en-US" dirty="0" smtClean="0"/>
              <a:t>If we can keep neuron activations (more) normally distributed, weights can settle down more quickly</a:t>
            </a:r>
            <a:endParaRPr lang="en-US" dirty="0"/>
          </a:p>
        </p:txBody>
      </p:sp>
    </p:spTree>
    <p:extLst>
      <p:ext uri="{BB962C8B-B14F-4D97-AF65-F5344CB8AC3E}">
        <p14:creationId xmlns:p14="http://schemas.microsoft.com/office/powerpoint/2010/main" val="1946499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Normalization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46212" y="1600200"/>
                <a:ext cx="10439400" cy="4511602"/>
              </a:xfrm>
            </p:spPr>
            <p:txBody>
              <a:bodyPr>
                <a:normAutofit/>
              </a:bodyPr>
              <a:lstStyle/>
              <a:p>
                <a:r>
                  <a:rPr lang="en-US" dirty="0" smtClean="0"/>
                  <a:t>Idea: normalize (“whiten”) the activations of each layer</a:t>
                </a:r>
              </a:p>
              <a:p>
                <a:endParaRPr lang="en-US" dirty="0" smtClean="0"/>
              </a:p>
              <a:p>
                <a:endParaRPr lang="en-US" dirty="0"/>
              </a:p>
              <a:p>
                <a:endParaRPr lang="en-US" dirty="0" smtClean="0"/>
              </a:p>
              <a:p>
                <a:r>
                  <a:rPr lang="en-US" dirty="0" smtClean="0"/>
                  <a:t>Then add learnable “weight” and “bias” terms for final output</a:t>
                </a:r>
              </a:p>
              <a:p>
                <a:endParaRPr lang="en-US" dirty="0"/>
              </a:p>
              <a:p>
                <a:endParaRPr lang="en-US" dirty="0" smtClean="0"/>
              </a:p>
              <a:p>
                <a14:m>
                  <m:oMath xmlns:m="http://schemas.openxmlformats.org/officeDocument/2006/math">
                    <m:r>
                      <a:rPr lang="en-US" i="1">
                        <a:latin typeface="Cambria Math" charset="0"/>
                      </a:rPr>
                      <m:t>𝐵𝑁</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charset="0"/>
                              </a:rPr>
                              <m:t>𝑎</m:t>
                            </m:r>
                          </m:e>
                          <m:sup>
                            <m:d>
                              <m:dPr>
                                <m:ctrlPr>
                                  <a:rPr lang="en-US" i="1">
                                    <a:latin typeface="Cambria Math" panose="02040503050406030204" pitchFamily="18" charset="0"/>
                                  </a:rPr>
                                </m:ctrlPr>
                              </m:dPr>
                              <m:e>
                                <m:r>
                                  <a:rPr lang="en-US" i="1">
                                    <a:latin typeface="Cambria Math" charset="0"/>
                                  </a:rPr>
                                  <m:t>𝑙</m:t>
                                </m:r>
                              </m:e>
                            </m:d>
                          </m:sup>
                        </m:sSup>
                      </m:e>
                    </m:d>
                  </m:oMath>
                </a14:m>
                <a:r>
                  <a:rPr lang="en-US" dirty="0" smtClean="0"/>
                  <a:t> is what gets passed to next layer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46212" y="1600200"/>
                <a:ext cx="10439400" cy="4511602"/>
              </a:xfrm>
              <a:blipFill rotWithShape="0">
                <a:blip r:embed="rId3"/>
                <a:stretch>
                  <a:fillRect l="-1751" t="-2162" b="-10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4646612" y="2438400"/>
                <a:ext cx="3510127" cy="1064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latin typeface="Cambria Math" panose="02040503050406030204" pitchFamily="18" charset="0"/>
                            </a:rPr>
                          </m:ctrlPr>
                        </m:sSupPr>
                        <m:e>
                          <m:acc>
                            <m:accPr>
                              <m:chr m:val="̂"/>
                              <m:ctrlPr>
                                <a:rPr lang="en-US" sz="2800" i="1" smtClean="0">
                                  <a:latin typeface="Cambria Math" panose="02040503050406030204" pitchFamily="18" charset="0"/>
                                </a:rPr>
                              </m:ctrlPr>
                            </m:accPr>
                            <m:e>
                              <m:r>
                                <a:rPr lang="en-US" sz="2800" b="0" i="1" smtClean="0">
                                  <a:latin typeface="Cambria Math" charset="0"/>
                                </a:rPr>
                                <m:t>𝑎</m:t>
                              </m:r>
                            </m:e>
                          </m:acc>
                        </m:e>
                        <m:sup>
                          <m:r>
                            <a:rPr lang="en-US" sz="2800" b="0" i="1" smtClean="0">
                              <a:latin typeface="Cambria Math" charset="0"/>
                            </a:rPr>
                            <m:t>(</m:t>
                          </m:r>
                          <m:r>
                            <a:rPr lang="en-US" sz="2800" b="0" i="1" smtClean="0">
                              <a:latin typeface="Cambria Math" charset="0"/>
                            </a:rPr>
                            <m:t>𝑙</m:t>
                          </m:r>
                          <m:r>
                            <a:rPr lang="en-US" sz="2800" b="0" i="1" smtClean="0">
                              <a:latin typeface="Cambria Math" charset="0"/>
                            </a:rPr>
                            <m:t>)</m:t>
                          </m:r>
                        </m:sup>
                      </m:sSup>
                      <m:r>
                        <a:rPr lang="en-US" sz="2800" b="0" i="1" smtClean="0">
                          <a:latin typeface="Cambria Math" charset="0"/>
                        </a:rPr>
                        <m:t>=</m:t>
                      </m:r>
                      <m:f>
                        <m:fPr>
                          <m:ctrlPr>
                            <a:rPr lang="mr-IN"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charset="0"/>
                                </a:rPr>
                                <m:t>𝑎</m:t>
                              </m:r>
                            </m:e>
                            <m:sup>
                              <m:r>
                                <a:rPr lang="en-US" sz="2800" b="0" i="1" smtClean="0">
                                  <a:latin typeface="Cambria Math" charset="0"/>
                                </a:rPr>
                                <m:t>(</m:t>
                              </m:r>
                              <m:r>
                                <a:rPr lang="en-US" sz="2800" b="0" i="1" smtClean="0">
                                  <a:latin typeface="Cambria Math" charset="0"/>
                                </a:rPr>
                                <m:t>𝑙</m:t>
                              </m:r>
                              <m:r>
                                <a:rPr lang="en-US" sz="2800" b="0" i="1" smtClean="0">
                                  <a:latin typeface="Cambria Math" charset="0"/>
                                </a:rPr>
                                <m:t>)</m:t>
                              </m:r>
                            </m:sup>
                          </m:sSup>
                          <m:r>
                            <a:rPr lang="en-US" sz="2800" b="0" i="1" smtClean="0">
                              <a:latin typeface="Cambria Math" charset="0"/>
                            </a:rPr>
                            <m:t>−</m:t>
                          </m:r>
                          <m:sSup>
                            <m:sSupPr>
                              <m:ctrlPr>
                                <a:rPr lang="en-US" sz="2800" b="0" i="1" smtClean="0">
                                  <a:latin typeface="Cambria Math" panose="02040503050406030204" pitchFamily="18" charset="0"/>
                                </a:rPr>
                              </m:ctrlPr>
                            </m:sSupPr>
                            <m:e>
                              <m:acc>
                                <m:accPr>
                                  <m:chr m:val="̅"/>
                                  <m:ctrlPr>
                                    <a:rPr lang="en-US" sz="2800" b="0" i="1" smtClean="0">
                                      <a:latin typeface="Cambria Math" panose="02040503050406030204" pitchFamily="18" charset="0"/>
                                    </a:rPr>
                                  </m:ctrlPr>
                                </m:accPr>
                                <m:e>
                                  <m:r>
                                    <a:rPr lang="en-US" sz="2800" b="0" i="1" smtClean="0">
                                      <a:latin typeface="Cambria Math" charset="0"/>
                                    </a:rPr>
                                    <m:t>𝑎</m:t>
                                  </m:r>
                                </m:e>
                              </m:acc>
                            </m:e>
                            <m:sup>
                              <m:r>
                                <a:rPr lang="en-US" sz="2800" b="0" i="1" smtClean="0">
                                  <a:latin typeface="Cambria Math" charset="0"/>
                                </a:rPr>
                                <m:t>(</m:t>
                              </m:r>
                              <m:r>
                                <a:rPr lang="en-US" sz="2800" b="0" i="1" smtClean="0">
                                  <a:latin typeface="Cambria Math" charset="0"/>
                                </a:rPr>
                                <m:t>𝑙</m:t>
                              </m:r>
                              <m:r>
                                <a:rPr lang="en-US" sz="2800" b="0" i="1" smtClean="0">
                                  <a:latin typeface="Cambria Math" charset="0"/>
                                </a:rPr>
                                <m:t>)</m:t>
                              </m:r>
                            </m:sup>
                          </m:sSup>
                        </m:num>
                        <m:den>
                          <m:rad>
                            <m:radPr>
                              <m:degHide m:val="on"/>
                              <m:ctrlPr>
                                <a:rPr lang="mr-IN" sz="2800" b="0" i="1" smtClean="0">
                                  <a:latin typeface="Cambria Math" panose="02040503050406030204" pitchFamily="18" charset="0"/>
                                </a:rPr>
                              </m:ctrlPr>
                            </m:radPr>
                            <m:deg/>
                            <m:e>
                              <m:r>
                                <a:rPr lang="en-US" sz="2800" b="0" i="1" smtClean="0">
                                  <a:latin typeface="Cambria Math" charset="0"/>
                                </a:rPr>
                                <m:t>𝑉𝑎𝑟</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charset="0"/>
                                        </a:rPr>
                                        <m:t>𝑎</m:t>
                                      </m:r>
                                    </m:e>
                                    <m:sup>
                                      <m:d>
                                        <m:dPr>
                                          <m:ctrlPr>
                                            <a:rPr lang="en-US" sz="2800" b="0" i="1" smtClean="0">
                                              <a:latin typeface="Cambria Math" panose="02040503050406030204" pitchFamily="18" charset="0"/>
                                            </a:rPr>
                                          </m:ctrlPr>
                                        </m:dPr>
                                        <m:e>
                                          <m:r>
                                            <a:rPr lang="en-US" sz="2800" b="0" i="1" smtClean="0">
                                              <a:latin typeface="Cambria Math" charset="0"/>
                                            </a:rPr>
                                            <m:t>𝑙</m:t>
                                          </m:r>
                                        </m:e>
                                      </m:d>
                                    </m:sup>
                                  </m:sSup>
                                </m:e>
                              </m:d>
                              <m:r>
                                <a:rPr lang="en-US" sz="2800" b="0" i="1" smtClean="0">
                                  <a:latin typeface="Cambria Math" charset="0"/>
                                </a:rPr>
                                <m:t>+</m:t>
                              </m:r>
                              <m:r>
                                <a:rPr lang="en-US" sz="2800" b="0" i="1" smtClean="0">
                                  <a:latin typeface="Cambria Math" charset="0"/>
                                </a:rPr>
                                <m:t>𝜖</m:t>
                              </m:r>
                            </m:e>
                          </m:rad>
                        </m:den>
                      </m:f>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4646612" y="2438400"/>
                <a:ext cx="3510127" cy="106465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2812" y="2801448"/>
                <a:ext cx="3273910" cy="338554"/>
              </a:xfrm>
              <a:prstGeom prst="rect">
                <a:avLst/>
              </a:prstGeom>
              <a:noFill/>
            </p:spPr>
            <p:txBody>
              <a:bodyPr wrap="none" rtlCol="0">
                <a:spAutoFit/>
              </a:bodyPr>
              <a:lstStyle/>
              <a:p>
                <a:r>
                  <a:rPr lang="en-US" sz="1600" dirty="0" smtClean="0"/>
                  <a:t>Epsilon </a:t>
                </a:r>
                <a14:m>
                  <m:oMath xmlns:m="http://schemas.openxmlformats.org/officeDocument/2006/math">
                    <m:r>
                      <a:rPr lang="en-US" sz="1600" b="0" i="1" smtClean="0">
                        <a:latin typeface="Cambria Math" charset="0"/>
                      </a:rPr>
                      <m:t>𝜖</m:t>
                    </m:r>
                  </m:oMath>
                </a14:m>
                <a:r>
                  <a:rPr lang="en-US" sz="1600" dirty="0" smtClean="0"/>
                  <a:t> prevents divide by zero</a:t>
                </a:r>
                <a:endParaRPr lang="en-US" sz="16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2812" y="2801448"/>
                <a:ext cx="3273910" cy="338554"/>
              </a:xfrm>
              <a:prstGeom prst="rect">
                <a:avLst/>
              </a:prstGeom>
              <a:blipFill rotWithShape="0">
                <a:blip r:embed="rId5"/>
                <a:stretch>
                  <a:fillRect l="-1117" t="-5455" b="-23636"/>
                </a:stretch>
              </a:blipFill>
            </p:spPr>
            <p:txBody>
              <a:bodyPr/>
              <a:lstStyle/>
              <a:p>
                <a:r>
                  <a:rPr lang="en-US">
                    <a:noFill/>
                  </a:rPr>
                  <a:t> </a:t>
                </a:r>
              </a:p>
            </p:txBody>
          </p:sp>
        </mc:Fallback>
      </mc:AlternateContent>
      <p:cxnSp>
        <p:nvCxnSpPr>
          <p:cNvPr id="8" name="Straight Arrow Connector 7"/>
          <p:cNvCxnSpPr/>
          <p:nvPr/>
        </p:nvCxnSpPr>
        <p:spPr>
          <a:xfrm flipH="1">
            <a:off x="8183945" y="3140002"/>
            <a:ext cx="348868" cy="182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4763585" y="4702223"/>
                <a:ext cx="3420360" cy="4944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charset="0"/>
                        </a:rPr>
                        <m:t>𝐵𝑁</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charset="0"/>
                                </a:rPr>
                                <m:t>𝑎</m:t>
                              </m:r>
                            </m:e>
                            <m:sup>
                              <m:d>
                                <m:dPr>
                                  <m:ctrlPr>
                                    <a:rPr lang="en-US" sz="2800" b="0" i="1" smtClean="0">
                                      <a:latin typeface="Cambria Math" panose="02040503050406030204" pitchFamily="18" charset="0"/>
                                    </a:rPr>
                                  </m:ctrlPr>
                                </m:dPr>
                                <m:e>
                                  <m:r>
                                    <a:rPr lang="en-US" sz="2800" b="0" i="1" smtClean="0">
                                      <a:latin typeface="Cambria Math" charset="0"/>
                                    </a:rPr>
                                    <m:t>𝑙</m:t>
                                  </m:r>
                                </m:e>
                              </m:d>
                            </m:sup>
                          </m:sSup>
                        </m:e>
                      </m:d>
                      <m:r>
                        <a:rPr lang="en-US" sz="2800" b="0" i="1" smtClean="0">
                          <a:latin typeface="Cambria Math" charset="0"/>
                        </a:rPr>
                        <m:t>=</m:t>
                      </m:r>
                      <m:r>
                        <a:rPr lang="en-US" sz="2800" b="0" i="1" smtClean="0">
                          <a:latin typeface="Cambria Math" charset="0"/>
                        </a:rPr>
                        <m:t>𝛾</m:t>
                      </m:r>
                      <m:sSup>
                        <m:sSupPr>
                          <m:ctrlPr>
                            <a:rPr lang="en-US" sz="2800" b="0" i="1" smtClean="0">
                              <a:latin typeface="Cambria Math" panose="02040503050406030204" pitchFamily="18" charset="0"/>
                            </a:rPr>
                          </m:ctrlPr>
                        </m:sSupPr>
                        <m:e>
                          <m:acc>
                            <m:accPr>
                              <m:chr m:val="̂"/>
                              <m:ctrlPr>
                                <a:rPr lang="en-US" sz="2800" b="0" i="1" smtClean="0">
                                  <a:latin typeface="Cambria Math" panose="02040503050406030204" pitchFamily="18" charset="0"/>
                                </a:rPr>
                              </m:ctrlPr>
                            </m:accPr>
                            <m:e>
                              <m:r>
                                <a:rPr lang="en-US" sz="2800" b="0" i="1" smtClean="0">
                                  <a:latin typeface="Cambria Math" charset="0"/>
                                </a:rPr>
                                <m:t>𝑎</m:t>
                              </m:r>
                            </m:e>
                          </m:acc>
                        </m:e>
                        <m:sup>
                          <m:d>
                            <m:dPr>
                              <m:ctrlPr>
                                <a:rPr lang="en-US" sz="2800" b="0" i="1" smtClean="0">
                                  <a:latin typeface="Cambria Math" panose="02040503050406030204" pitchFamily="18" charset="0"/>
                                </a:rPr>
                              </m:ctrlPr>
                            </m:dPr>
                            <m:e>
                              <m:r>
                                <a:rPr lang="en-US" sz="2800" b="0" i="1" smtClean="0">
                                  <a:latin typeface="Cambria Math" charset="0"/>
                                </a:rPr>
                                <m:t>𝑙</m:t>
                              </m:r>
                            </m:e>
                          </m:d>
                        </m:sup>
                      </m:sSup>
                      <m:r>
                        <a:rPr lang="en-US" sz="2800" b="0" i="1" smtClean="0">
                          <a:latin typeface="Cambria Math" charset="0"/>
                        </a:rPr>
                        <m:t>+</m:t>
                      </m:r>
                      <m:r>
                        <a:rPr lang="en-US" sz="2800" b="0" i="1" smtClean="0">
                          <a:latin typeface="Cambria Math" charset="0"/>
                        </a:rPr>
                        <m:t>𝛽</m:t>
                      </m:r>
                    </m:oMath>
                  </m:oMathPara>
                </a14:m>
                <a:endParaRPr 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4763585" y="4702223"/>
                <a:ext cx="3420360" cy="494494"/>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909510" y="6219858"/>
                <a:ext cx="7260257" cy="584775"/>
              </a:xfrm>
              <a:prstGeom prst="rect">
                <a:avLst/>
              </a:prstGeom>
              <a:noFill/>
            </p:spPr>
            <p:txBody>
              <a:bodyPr wrap="none" rtlCol="0">
                <a:spAutoFit/>
              </a:bodyPr>
              <a:lstStyle/>
              <a:p>
                <a:pPr algn="ctr"/>
                <a:r>
                  <a:rPr lang="en-US" sz="1600" dirty="0" smtClean="0"/>
                  <a:t>Note: paper uses </a:t>
                </a:r>
                <a14:m>
                  <m:oMath xmlns:m="http://schemas.openxmlformats.org/officeDocument/2006/math">
                    <m:r>
                      <a:rPr lang="en-US" sz="1600" b="0" i="1" smtClean="0">
                        <a:latin typeface="Cambria Math" charset="0"/>
                      </a:rPr>
                      <m:t>𝑥</m:t>
                    </m:r>
                  </m:oMath>
                </a14:m>
                <a:r>
                  <a:rPr lang="en-US" sz="1600" dirty="0" smtClean="0"/>
                  <a:t> and </a:t>
                </a:r>
                <a14:m>
                  <m:oMath xmlns:m="http://schemas.openxmlformats.org/officeDocument/2006/math">
                    <m:r>
                      <a:rPr lang="en-US" sz="1600" b="0" i="1" smtClean="0">
                        <a:latin typeface="Cambria Math" charset="0"/>
                      </a:rPr>
                      <m:t>𝑦</m:t>
                    </m:r>
                  </m:oMath>
                </a14:m>
                <a:r>
                  <a:rPr lang="en-US" sz="1600" dirty="0" smtClean="0"/>
                  <a:t> to refer to initial activations and final activations.</a:t>
                </a:r>
              </a:p>
              <a:p>
                <a:pPr algn="ctr"/>
                <a:r>
                  <a:rPr lang="en-US" sz="1600" dirty="0" smtClean="0"/>
                  <a:t>Changed here for consistency with class</a:t>
                </a:r>
                <a:endParaRPr lang="en-US"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909510" y="6219858"/>
                <a:ext cx="7260257" cy="584775"/>
              </a:xfrm>
              <a:prstGeom prst="rect">
                <a:avLst/>
              </a:prstGeom>
              <a:blipFill rotWithShape="0">
                <a:blip r:embed="rId7"/>
                <a:stretch>
                  <a:fillRect t="-3125" b="-12500"/>
                </a:stretch>
              </a:blipFill>
            </p:spPr>
            <p:txBody>
              <a:bodyPr/>
              <a:lstStyle/>
              <a:p>
                <a:r>
                  <a:rPr lang="en-US">
                    <a:noFill/>
                  </a:rPr>
                  <a:t> </a:t>
                </a:r>
              </a:p>
            </p:txBody>
          </p:sp>
        </mc:Fallback>
      </mc:AlternateContent>
    </p:spTree>
    <p:extLst>
      <p:ext uri="{BB962C8B-B14F-4D97-AF65-F5344CB8AC3E}">
        <p14:creationId xmlns:p14="http://schemas.microsoft.com/office/powerpoint/2010/main" val="5073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norm: training vs final</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During training, get mean (</a:t>
                </a:r>
                <a14:m>
                  <m:oMath xmlns:m="http://schemas.openxmlformats.org/officeDocument/2006/math">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charset="0"/>
                              </a:rPr>
                              <m:t>𝑎</m:t>
                            </m:r>
                          </m:e>
                        </m:acc>
                      </m:e>
                      <m:sup>
                        <m:r>
                          <a:rPr lang="en-US" i="1">
                            <a:latin typeface="Cambria Math" charset="0"/>
                          </a:rPr>
                          <m:t>(</m:t>
                        </m:r>
                        <m:r>
                          <a:rPr lang="en-US" i="1">
                            <a:latin typeface="Cambria Math" charset="0"/>
                          </a:rPr>
                          <m:t>𝑙</m:t>
                        </m:r>
                        <m:r>
                          <a:rPr lang="en-US" i="1">
                            <a:latin typeface="Cambria Math" charset="0"/>
                          </a:rPr>
                          <m:t>)</m:t>
                        </m:r>
                      </m:sup>
                    </m:sSup>
                  </m:oMath>
                </a14:m>
                <a:r>
                  <a:rPr lang="en-US" dirty="0"/>
                  <a:t>) and variance (</a:t>
                </a:r>
                <a14:m>
                  <m:oMath xmlns:m="http://schemas.openxmlformats.org/officeDocument/2006/math">
                    <m:r>
                      <a:rPr lang="en-US" i="1">
                        <a:latin typeface="Cambria Math" charset="0"/>
                      </a:rPr>
                      <m:t>𝑉𝑎𝑟</m:t>
                    </m:r>
                    <m:r>
                      <a:rPr lang="en-US" i="1">
                        <a:latin typeface="Cambria Math" charset="0"/>
                      </a:rPr>
                      <m:t>(</m:t>
                    </m:r>
                    <m:sSup>
                      <m:sSupPr>
                        <m:ctrlPr>
                          <a:rPr lang="en-US" i="1">
                            <a:latin typeface="Cambria Math" panose="02040503050406030204" pitchFamily="18" charset="0"/>
                          </a:rPr>
                        </m:ctrlPr>
                      </m:sSupPr>
                      <m:e>
                        <m:r>
                          <a:rPr lang="en-US" i="1">
                            <a:latin typeface="Cambria Math" charset="0"/>
                          </a:rPr>
                          <m:t>𝑎</m:t>
                        </m:r>
                      </m:e>
                      <m:sup>
                        <m:d>
                          <m:dPr>
                            <m:ctrlPr>
                              <a:rPr lang="en-US" i="1">
                                <a:latin typeface="Cambria Math" panose="02040503050406030204" pitchFamily="18" charset="0"/>
                              </a:rPr>
                            </m:ctrlPr>
                          </m:dPr>
                          <m:e>
                            <m:r>
                              <a:rPr lang="en-US" i="1">
                                <a:latin typeface="Cambria Math" charset="0"/>
                              </a:rPr>
                              <m:t>𝑙</m:t>
                            </m:r>
                          </m:e>
                        </m:d>
                      </m:sup>
                    </m:sSup>
                    <m:r>
                      <a:rPr lang="en-US" i="1">
                        <a:latin typeface="Cambria Math" charset="0"/>
                      </a:rPr>
                      <m:t>)</m:t>
                    </m:r>
                  </m:oMath>
                </a14:m>
                <a:r>
                  <a:rPr lang="en-US" dirty="0"/>
                  <a:t>) of activations </a:t>
                </a:r>
                <a:r>
                  <a:rPr lang="en-US" dirty="0" err="1"/>
                  <a:t>w.r.t</a:t>
                </a:r>
                <a:r>
                  <a:rPr lang="en-US" dirty="0"/>
                  <a:t>. </a:t>
                </a:r>
                <a:r>
                  <a:rPr lang="en-US" i="1" dirty="0" smtClean="0"/>
                  <a:t>training batch </a:t>
                </a:r>
                <a:r>
                  <a:rPr lang="en-US" dirty="0" smtClean="0"/>
                  <a:t>(not single example)</a:t>
                </a:r>
              </a:p>
              <a:p>
                <a:endParaRPr lang="en-US" i="1" dirty="0" smtClean="0"/>
              </a:p>
              <a:p>
                <a:r>
                  <a:rPr lang="en-US" dirty="0" smtClean="0"/>
                  <a:t>After training, get mean and variance of activations over the </a:t>
                </a:r>
                <a:r>
                  <a:rPr lang="en-US" i="1" dirty="0" smtClean="0"/>
                  <a:t>entire training set</a:t>
                </a:r>
                <a:r>
                  <a:rPr lang="en-US" dirty="0" smtClean="0"/>
                  <a:t>. </a:t>
                </a:r>
              </a:p>
              <a:p>
                <a:endParaRPr lang="en-US" dirty="0"/>
              </a:p>
              <a:p>
                <a:r>
                  <a:rPr lang="en-US" dirty="0" smtClean="0"/>
                  <a:t>Alternative: keep moving average of mean/variance during training.</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433" t="-2800" r="-2430"/>
                </a:stretch>
              </a:blipFill>
            </p:spPr>
            <p:txBody>
              <a:bodyPr/>
              <a:lstStyle/>
              <a:p>
                <a:r>
                  <a:rPr lang="en-US">
                    <a:noFill/>
                  </a:rPr>
                  <a:t> </a:t>
                </a:r>
              </a:p>
            </p:txBody>
          </p:sp>
        </mc:Fallback>
      </mc:AlternateContent>
    </p:spTree>
    <p:extLst>
      <p:ext uri="{BB962C8B-B14F-4D97-AF65-F5344CB8AC3E}">
        <p14:creationId xmlns:p14="http://schemas.microsoft.com/office/powerpoint/2010/main" val="382599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Note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3657600"/>
              </a:xfrm>
            </p:spPr>
            <p:txBody>
              <a:bodyPr/>
              <a:lstStyle/>
              <a:p>
                <a:r>
                  <a:rPr lang="en-US" dirty="0" smtClean="0"/>
                  <a:t>With batch normalization, we no longer need our standard bias term, </a:t>
                </a:r>
                <a14:m>
                  <m:oMath xmlns:m="http://schemas.openxmlformats.org/officeDocument/2006/math">
                    <m:r>
                      <a:rPr lang="en-US" b="0" i="1" smtClean="0">
                        <a:latin typeface="Cambria Math" charset="0"/>
                      </a:rPr>
                      <m:t>𝑏</m:t>
                    </m:r>
                  </m:oMath>
                </a14:m>
                <a:endParaRPr lang="en-US" dirty="0" smtClean="0"/>
              </a:p>
              <a:p>
                <a:endParaRPr lang="en-US" dirty="0"/>
              </a:p>
              <a:p>
                <a:endParaRPr lang="en-US" dirty="0" smtClean="0"/>
              </a:p>
              <a:p>
                <a:r>
                  <a:rPr lang="en-US" dirty="0" smtClean="0"/>
                  <a:t>Due to the normalization subtracting the mean, the bias term gets cancelled out</a:t>
                </a:r>
              </a:p>
              <a:p>
                <a:r>
                  <a:rPr lang="en-US" dirty="0" smtClean="0"/>
                  <a:t>Simply need weights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charset="0"/>
                          </a:rPr>
                          <m:t>𝑊</m:t>
                        </m:r>
                      </m:e>
                      <m:sup>
                        <m:r>
                          <a:rPr lang="en-US" b="0" i="1" smtClean="0">
                            <a:latin typeface="Cambria Math" charset="0"/>
                          </a:rPr>
                          <m:t>(</m:t>
                        </m:r>
                        <m:r>
                          <a:rPr lang="en-US" b="0" i="1" smtClean="0">
                            <a:latin typeface="Cambria Math" charset="0"/>
                          </a:rPr>
                          <m:t>𝑙</m:t>
                        </m:r>
                        <m:r>
                          <a:rPr lang="en-US" b="0" i="1" smtClean="0">
                            <a:latin typeface="Cambria Math" charset="0"/>
                          </a:rPr>
                          <m:t>−1)</m:t>
                        </m:r>
                      </m:sup>
                    </m:sSup>
                  </m:oMath>
                </a14:m>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3657600"/>
              </a:xfrm>
              <a:blipFill rotWithShape="0">
                <a:blip r:embed="rId3"/>
                <a:stretch>
                  <a:fillRect l="-1433" t="-4000" b="-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593436" y="2787870"/>
                <a:ext cx="10039928" cy="459934"/>
              </a:xfrm>
              <a:prstGeom prst="rect">
                <a:avLst/>
              </a:prstGeom>
              <a:noFill/>
            </p:spPr>
            <p:txBody>
              <a:bodyPr wrap="none" lIns="0" tIns="0" rIns="0" bIns="0" rtlCol="0">
                <a:spAutoFit/>
              </a:bodyPr>
              <a:lstStyle/>
              <a:p>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charset="0"/>
                          </a:rPr>
                          <m:t>𝑧</m:t>
                        </m:r>
                      </m:e>
                      <m:sup>
                        <m:r>
                          <a:rPr lang="en-US" sz="2800" b="0" i="1" smtClean="0">
                            <a:latin typeface="Cambria Math" charset="0"/>
                          </a:rPr>
                          <m:t>(</m:t>
                        </m:r>
                        <m:r>
                          <a:rPr lang="en-US" sz="2800" b="0" i="1" smtClean="0">
                            <a:latin typeface="Cambria Math" charset="0"/>
                          </a:rPr>
                          <m:t>𝑙</m:t>
                        </m:r>
                        <m:r>
                          <a:rPr lang="en-US" sz="2800" b="0" i="1" smtClean="0">
                            <a:latin typeface="Cambria Math" charset="0"/>
                          </a:rPr>
                          <m:t>)</m:t>
                        </m:r>
                      </m:sup>
                    </m:sSup>
                    <m:r>
                      <a:rPr lang="en-US" sz="2800" b="0" i="1" smtClean="0">
                        <a:latin typeface="Cambria Math" charset="0"/>
                      </a:rPr>
                      <m:t>=</m:t>
                    </m:r>
                    <m:sSup>
                      <m:sSupPr>
                        <m:ctrlPr>
                          <a:rPr lang="en-US" sz="2800" b="0" i="1" smtClean="0">
                            <a:latin typeface="Cambria Math" panose="02040503050406030204" pitchFamily="18" charset="0"/>
                          </a:rPr>
                        </m:ctrlPr>
                      </m:sSupPr>
                      <m:e>
                        <m:r>
                          <a:rPr lang="en-US" sz="2800" b="0" i="1" smtClean="0">
                            <a:latin typeface="Cambria Math" charset="0"/>
                          </a:rPr>
                          <m:t>𝑎</m:t>
                        </m:r>
                      </m:e>
                      <m:sup>
                        <m:d>
                          <m:dPr>
                            <m:ctrlPr>
                              <a:rPr lang="en-US" sz="2800" b="0" i="1" smtClean="0">
                                <a:latin typeface="Cambria Math" panose="02040503050406030204" pitchFamily="18" charset="0"/>
                              </a:rPr>
                            </m:ctrlPr>
                          </m:dPr>
                          <m:e>
                            <m:r>
                              <a:rPr lang="en-US" sz="2800" b="0" i="1" smtClean="0">
                                <a:latin typeface="Cambria Math" charset="0"/>
                              </a:rPr>
                              <m:t>𝑙</m:t>
                            </m:r>
                            <m:r>
                              <a:rPr lang="en-US" sz="2800" b="0" i="1" smtClean="0">
                                <a:latin typeface="Cambria Math" charset="0"/>
                              </a:rPr>
                              <m:t>−1</m:t>
                            </m:r>
                          </m:e>
                        </m:d>
                      </m:sup>
                    </m:sSup>
                    <m:sSup>
                      <m:sSupPr>
                        <m:ctrlPr>
                          <a:rPr lang="en-US" sz="2800" b="0" i="1" smtClean="0">
                            <a:latin typeface="Cambria Math" panose="02040503050406030204" pitchFamily="18" charset="0"/>
                          </a:rPr>
                        </m:ctrlPr>
                      </m:sSupPr>
                      <m:e>
                        <m:r>
                          <a:rPr lang="en-US" sz="2800" b="0" i="1" smtClean="0">
                            <a:latin typeface="Cambria Math" charset="0"/>
                          </a:rPr>
                          <m:t>𝑊</m:t>
                        </m:r>
                      </m:e>
                      <m:sup>
                        <m:d>
                          <m:dPr>
                            <m:ctrlPr>
                              <a:rPr lang="en-US" sz="2800" b="0" i="1" smtClean="0">
                                <a:latin typeface="Cambria Math" panose="02040503050406030204" pitchFamily="18" charset="0"/>
                              </a:rPr>
                            </m:ctrlPr>
                          </m:dPr>
                          <m:e>
                            <m:r>
                              <a:rPr lang="en-US" sz="2800" b="0" i="1" smtClean="0">
                                <a:latin typeface="Cambria Math" charset="0"/>
                              </a:rPr>
                              <m:t>𝑙</m:t>
                            </m:r>
                            <m:r>
                              <a:rPr lang="en-US" sz="2800" b="0" i="1" smtClean="0">
                                <a:latin typeface="Cambria Math" charset="0"/>
                              </a:rPr>
                              <m:t>−1</m:t>
                            </m:r>
                          </m:e>
                        </m:d>
                      </m:sup>
                    </m:sSup>
                    <m:r>
                      <a:rPr lang="en-US" sz="2800" b="0" i="1" smtClean="0">
                        <a:latin typeface="Cambria Math" charset="0"/>
                      </a:rPr>
                      <m:t>+</m:t>
                    </m:r>
                    <m:r>
                      <a:rPr lang="en-US" sz="2800" b="0" i="1" smtClean="0">
                        <a:latin typeface="Cambria Math" charset="0"/>
                      </a:rPr>
                      <m:t>𝑏</m:t>
                    </m:r>
                  </m:oMath>
                </a14:m>
                <a:r>
                  <a:rPr lang="en-US" sz="2800" dirty="0" smtClean="0"/>
                  <a:t>    or    </a:t>
                </a:r>
                <a14:m>
                  <m:oMath xmlns:m="http://schemas.openxmlformats.org/officeDocument/2006/math">
                    <m:sSup>
                      <m:sSupPr>
                        <m:ctrlPr>
                          <a:rPr lang="en-US" sz="2800" i="1">
                            <a:latin typeface="Cambria Math" panose="02040503050406030204" pitchFamily="18" charset="0"/>
                          </a:rPr>
                        </m:ctrlPr>
                      </m:sSupPr>
                      <m:e>
                        <m:r>
                          <a:rPr lang="en-US" sz="2800" i="1">
                            <a:latin typeface="Cambria Math" charset="0"/>
                          </a:rPr>
                          <m:t>𝑧</m:t>
                        </m:r>
                      </m:e>
                      <m:sup>
                        <m:r>
                          <a:rPr lang="en-US" sz="2800" i="1">
                            <a:latin typeface="Cambria Math" charset="0"/>
                          </a:rPr>
                          <m:t>(</m:t>
                        </m:r>
                        <m:r>
                          <a:rPr lang="en-US" sz="2800" i="1">
                            <a:latin typeface="Cambria Math" charset="0"/>
                          </a:rPr>
                          <m:t>𝑙</m:t>
                        </m:r>
                        <m:r>
                          <a:rPr lang="en-US" sz="2800" i="1">
                            <a:latin typeface="Cambria Math" charset="0"/>
                          </a:rPr>
                          <m:t>)</m:t>
                        </m:r>
                      </m:sup>
                    </m:sSup>
                    <m:r>
                      <a:rPr lang="en-US" sz="2800" i="1">
                        <a:latin typeface="Cambria Math" charset="0"/>
                      </a:rPr>
                      <m:t>=</m:t>
                    </m:r>
                    <m:r>
                      <a:rPr lang="en-US" sz="2800" i="1">
                        <a:latin typeface="Cambria Math" charset="0"/>
                      </a:rPr>
                      <m:t>𝑐𝑜𝑛𝑣</m:t>
                    </m:r>
                    <m:r>
                      <a:rPr lang="en-US" sz="2800" i="1">
                        <a:latin typeface="Cambria Math" charset="0"/>
                      </a:rPr>
                      <m:t>(</m:t>
                    </m:r>
                    <m:sSup>
                      <m:sSupPr>
                        <m:ctrlPr>
                          <a:rPr lang="en-US" sz="2800" i="1">
                            <a:latin typeface="Cambria Math" panose="02040503050406030204" pitchFamily="18" charset="0"/>
                          </a:rPr>
                        </m:ctrlPr>
                      </m:sSupPr>
                      <m:e>
                        <m:r>
                          <a:rPr lang="en-US" sz="2800" i="1">
                            <a:latin typeface="Cambria Math" charset="0"/>
                          </a:rPr>
                          <m:t>𝑎</m:t>
                        </m:r>
                      </m:e>
                      <m:sup>
                        <m:d>
                          <m:dPr>
                            <m:ctrlPr>
                              <a:rPr lang="en-US" sz="2800" i="1">
                                <a:latin typeface="Cambria Math" panose="02040503050406030204" pitchFamily="18" charset="0"/>
                              </a:rPr>
                            </m:ctrlPr>
                          </m:dPr>
                          <m:e>
                            <m:r>
                              <a:rPr lang="en-US" sz="2800" i="1">
                                <a:latin typeface="Cambria Math" charset="0"/>
                              </a:rPr>
                              <m:t>𝑙</m:t>
                            </m:r>
                            <m:r>
                              <a:rPr lang="en-US" sz="2800" i="1">
                                <a:latin typeface="Cambria Math" charset="0"/>
                              </a:rPr>
                              <m:t>−1</m:t>
                            </m:r>
                          </m:e>
                        </m:d>
                      </m:sup>
                    </m:sSup>
                    <m:sSup>
                      <m:sSupPr>
                        <m:ctrlPr>
                          <a:rPr lang="en-US" sz="2800" i="1">
                            <a:latin typeface="Cambria Math" panose="02040503050406030204" pitchFamily="18" charset="0"/>
                          </a:rPr>
                        </m:ctrlPr>
                      </m:sSupPr>
                      <m:e>
                        <m:r>
                          <a:rPr lang="en-US" sz="2800" i="1">
                            <a:latin typeface="Cambria Math" charset="0"/>
                          </a:rPr>
                          <m:t>𝑊</m:t>
                        </m:r>
                      </m:e>
                      <m:sup>
                        <m:d>
                          <m:dPr>
                            <m:ctrlPr>
                              <a:rPr lang="en-US" sz="2800" i="1">
                                <a:latin typeface="Cambria Math" panose="02040503050406030204" pitchFamily="18" charset="0"/>
                              </a:rPr>
                            </m:ctrlPr>
                          </m:dPr>
                          <m:e>
                            <m:r>
                              <a:rPr lang="en-US" sz="2800" i="1">
                                <a:latin typeface="Cambria Math" charset="0"/>
                              </a:rPr>
                              <m:t>𝑙</m:t>
                            </m:r>
                            <m:r>
                              <a:rPr lang="en-US" sz="2800" i="1">
                                <a:latin typeface="Cambria Math" charset="0"/>
                              </a:rPr>
                              <m:t>−1</m:t>
                            </m:r>
                          </m:e>
                        </m:d>
                      </m:sup>
                    </m:sSup>
                    <m:r>
                      <a:rPr lang="en-US" sz="2800" i="1">
                        <a:latin typeface="Cambria Math" charset="0"/>
                      </a:rPr>
                      <m:t>+</m:t>
                    </m:r>
                    <m:r>
                      <a:rPr lang="en-US" sz="2800" i="1">
                        <a:latin typeface="Cambria Math" charset="0"/>
                      </a:rPr>
                      <m:t>𝑏</m:t>
                    </m:r>
                    <m:r>
                      <a:rPr lang="en-US" sz="2800" i="1">
                        <a:latin typeface="Cambria Math" charset="0"/>
                      </a:rPr>
                      <m:t>)</m:t>
                    </m:r>
                  </m:oMath>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1593436" y="2787870"/>
                <a:ext cx="10039928" cy="459934"/>
              </a:xfrm>
              <a:prstGeom prst="rect">
                <a:avLst/>
              </a:prstGeom>
              <a:blipFill rotWithShape="0">
                <a:blip r:embed="rId4"/>
                <a:stretch>
                  <a:fillRect t="-18421" b="-44737"/>
                </a:stretch>
              </a:blipFill>
            </p:spPr>
            <p:txBody>
              <a:bodyPr/>
              <a:lstStyle/>
              <a:p>
                <a:r>
                  <a:rPr lang="en-US">
                    <a:noFill/>
                  </a:rPr>
                  <a:t> </a:t>
                </a:r>
              </a:p>
            </p:txBody>
          </p:sp>
        </mc:Fallback>
      </mc:AlternateContent>
      <p:cxnSp>
        <p:nvCxnSpPr>
          <p:cNvPr id="7" name="Straight Arrow Connector 6"/>
          <p:cNvCxnSpPr/>
          <p:nvPr/>
        </p:nvCxnSpPr>
        <p:spPr>
          <a:xfrm flipH="1">
            <a:off x="5103812" y="2707794"/>
            <a:ext cx="152400" cy="1713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11223837" y="2707794"/>
            <a:ext cx="152400" cy="1713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295844" y="5572897"/>
                <a:ext cx="8900385" cy="459934"/>
              </a:xfrm>
              <a:prstGeom prst="rect">
                <a:avLst/>
              </a:prstGeom>
              <a:noFill/>
            </p:spPr>
            <p:txBody>
              <a:bodyPr wrap="none" lIns="0" tIns="0" rIns="0" bIns="0" rtlCol="0">
                <a:spAutoFit/>
              </a:bodyPr>
              <a:lstStyle/>
              <a:p>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charset="0"/>
                          </a:rPr>
                          <m:t>𝑧</m:t>
                        </m:r>
                      </m:e>
                      <m:sup>
                        <m:r>
                          <a:rPr lang="en-US" sz="2800" b="0" i="1" smtClean="0">
                            <a:latin typeface="Cambria Math" charset="0"/>
                          </a:rPr>
                          <m:t>(</m:t>
                        </m:r>
                        <m:r>
                          <a:rPr lang="en-US" sz="2800" b="0" i="1" smtClean="0">
                            <a:latin typeface="Cambria Math" charset="0"/>
                          </a:rPr>
                          <m:t>𝑙</m:t>
                        </m:r>
                        <m:r>
                          <a:rPr lang="en-US" sz="2800" b="0" i="1" smtClean="0">
                            <a:latin typeface="Cambria Math" charset="0"/>
                          </a:rPr>
                          <m:t>)</m:t>
                        </m:r>
                      </m:sup>
                    </m:sSup>
                    <m:r>
                      <a:rPr lang="en-US" sz="2800" b="0" i="1" smtClean="0">
                        <a:latin typeface="Cambria Math" charset="0"/>
                      </a:rPr>
                      <m:t>=</m:t>
                    </m:r>
                    <m:sSup>
                      <m:sSupPr>
                        <m:ctrlPr>
                          <a:rPr lang="en-US" sz="2800" b="0" i="1" smtClean="0">
                            <a:latin typeface="Cambria Math" panose="02040503050406030204" pitchFamily="18" charset="0"/>
                          </a:rPr>
                        </m:ctrlPr>
                      </m:sSupPr>
                      <m:e>
                        <m:r>
                          <a:rPr lang="en-US" sz="2800" b="0" i="1" smtClean="0">
                            <a:latin typeface="Cambria Math" charset="0"/>
                          </a:rPr>
                          <m:t>𝑎</m:t>
                        </m:r>
                      </m:e>
                      <m:sup>
                        <m:d>
                          <m:dPr>
                            <m:ctrlPr>
                              <a:rPr lang="en-US" sz="2800" b="0" i="1" smtClean="0">
                                <a:latin typeface="Cambria Math" panose="02040503050406030204" pitchFamily="18" charset="0"/>
                              </a:rPr>
                            </m:ctrlPr>
                          </m:dPr>
                          <m:e>
                            <m:r>
                              <a:rPr lang="en-US" sz="2800" b="0" i="1" smtClean="0">
                                <a:latin typeface="Cambria Math" charset="0"/>
                              </a:rPr>
                              <m:t>𝑙</m:t>
                            </m:r>
                            <m:r>
                              <a:rPr lang="en-US" sz="2800" b="0" i="1" smtClean="0">
                                <a:latin typeface="Cambria Math" charset="0"/>
                              </a:rPr>
                              <m:t>−1</m:t>
                            </m:r>
                          </m:e>
                        </m:d>
                      </m:sup>
                    </m:sSup>
                    <m:sSup>
                      <m:sSupPr>
                        <m:ctrlPr>
                          <a:rPr lang="en-US" sz="2800" b="0" i="1" smtClean="0">
                            <a:latin typeface="Cambria Math" panose="02040503050406030204" pitchFamily="18" charset="0"/>
                          </a:rPr>
                        </m:ctrlPr>
                      </m:sSupPr>
                      <m:e>
                        <m:r>
                          <a:rPr lang="en-US" sz="2800" b="0" i="1" smtClean="0">
                            <a:latin typeface="Cambria Math" charset="0"/>
                          </a:rPr>
                          <m:t>𝑊</m:t>
                        </m:r>
                      </m:e>
                      <m:sup>
                        <m:d>
                          <m:dPr>
                            <m:ctrlPr>
                              <a:rPr lang="en-US" sz="2800" b="0" i="1" smtClean="0">
                                <a:latin typeface="Cambria Math" panose="02040503050406030204" pitchFamily="18" charset="0"/>
                              </a:rPr>
                            </m:ctrlPr>
                          </m:dPr>
                          <m:e>
                            <m:r>
                              <a:rPr lang="en-US" sz="2800" b="0" i="1" smtClean="0">
                                <a:latin typeface="Cambria Math" charset="0"/>
                              </a:rPr>
                              <m:t>𝑙</m:t>
                            </m:r>
                            <m:r>
                              <a:rPr lang="en-US" sz="2800" b="0" i="1" smtClean="0">
                                <a:latin typeface="Cambria Math" charset="0"/>
                              </a:rPr>
                              <m:t>−1</m:t>
                            </m:r>
                          </m:e>
                        </m:d>
                      </m:sup>
                    </m:sSup>
                  </m:oMath>
                </a14:m>
                <a:r>
                  <a:rPr lang="en-US" sz="2800" dirty="0" smtClean="0"/>
                  <a:t>    or    </a:t>
                </a:r>
                <a14:m>
                  <m:oMath xmlns:m="http://schemas.openxmlformats.org/officeDocument/2006/math">
                    <m:sSup>
                      <m:sSupPr>
                        <m:ctrlPr>
                          <a:rPr lang="en-US" sz="2800" i="1">
                            <a:latin typeface="Cambria Math" panose="02040503050406030204" pitchFamily="18" charset="0"/>
                          </a:rPr>
                        </m:ctrlPr>
                      </m:sSupPr>
                      <m:e>
                        <m:r>
                          <a:rPr lang="en-US" sz="2800" i="1">
                            <a:latin typeface="Cambria Math" charset="0"/>
                          </a:rPr>
                          <m:t>𝑧</m:t>
                        </m:r>
                      </m:e>
                      <m:sup>
                        <m:r>
                          <a:rPr lang="en-US" sz="2800" i="1">
                            <a:latin typeface="Cambria Math" charset="0"/>
                          </a:rPr>
                          <m:t>(</m:t>
                        </m:r>
                        <m:r>
                          <a:rPr lang="en-US" sz="2800" i="1">
                            <a:latin typeface="Cambria Math" charset="0"/>
                          </a:rPr>
                          <m:t>𝑙</m:t>
                        </m:r>
                        <m:r>
                          <a:rPr lang="en-US" sz="2800" i="1">
                            <a:latin typeface="Cambria Math" charset="0"/>
                          </a:rPr>
                          <m:t>)</m:t>
                        </m:r>
                      </m:sup>
                    </m:sSup>
                    <m:r>
                      <a:rPr lang="en-US" sz="2800" i="1">
                        <a:latin typeface="Cambria Math" charset="0"/>
                      </a:rPr>
                      <m:t>=</m:t>
                    </m:r>
                    <m:r>
                      <a:rPr lang="en-US" sz="2800" i="1">
                        <a:latin typeface="Cambria Math" charset="0"/>
                      </a:rPr>
                      <m:t>𝑐𝑜𝑛𝑣</m:t>
                    </m:r>
                    <m:r>
                      <a:rPr lang="en-US" sz="2800" i="1">
                        <a:latin typeface="Cambria Math" charset="0"/>
                      </a:rPr>
                      <m:t>(</m:t>
                    </m:r>
                    <m:sSup>
                      <m:sSupPr>
                        <m:ctrlPr>
                          <a:rPr lang="en-US" sz="2800" i="1">
                            <a:latin typeface="Cambria Math" panose="02040503050406030204" pitchFamily="18" charset="0"/>
                          </a:rPr>
                        </m:ctrlPr>
                      </m:sSupPr>
                      <m:e>
                        <m:r>
                          <a:rPr lang="en-US" sz="2800" i="1">
                            <a:latin typeface="Cambria Math" charset="0"/>
                          </a:rPr>
                          <m:t>𝑎</m:t>
                        </m:r>
                      </m:e>
                      <m:sup>
                        <m:d>
                          <m:dPr>
                            <m:ctrlPr>
                              <a:rPr lang="en-US" sz="2800" i="1">
                                <a:latin typeface="Cambria Math" panose="02040503050406030204" pitchFamily="18" charset="0"/>
                              </a:rPr>
                            </m:ctrlPr>
                          </m:dPr>
                          <m:e>
                            <m:r>
                              <a:rPr lang="en-US" sz="2800" i="1">
                                <a:latin typeface="Cambria Math" charset="0"/>
                              </a:rPr>
                              <m:t>𝑙</m:t>
                            </m:r>
                            <m:r>
                              <a:rPr lang="en-US" sz="2800" i="1">
                                <a:latin typeface="Cambria Math" charset="0"/>
                              </a:rPr>
                              <m:t>−1</m:t>
                            </m:r>
                          </m:e>
                        </m:d>
                      </m:sup>
                    </m:sSup>
                    <m:sSup>
                      <m:sSupPr>
                        <m:ctrlPr>
                          <a:rPr lang="en-US" sz="2800" i="1">
                            <a:latin typeface="Cambria Math" panose="02040503050406030204" pitchFamily="18" charset="0"/>
                          </a:rPr>
                        </m:ctrlPr>
                      </m:sSupPr>
                      <m:e>
                        <m:r>
                          <a:rPr lang="en-US" sz="2800" i="1">
                            <a:latin typeface="Cambria Math" charset="0"/>
                          </a:rPr>
                          <m:t>𝑊</m:t>
                        </m:r>
                      </m:e>
                      <m:sup>
                        <m:d>
                          <m:dPr>
                            <m:ctrlPr>
                              <a:rPr lang="en-US" sz="2800" i="1">
                                <a:latin typeface="Cambria Math" panose="02040503050406030204" pitchFamily="18" charset="0"/>
                              </a:rPr>
                            </m:ctrlPr>
                          </m:dPr>
                          <m:e>
                            <m:r>
                              <a:rPr lang="en-US" sz="2800" i="1">
                                <a:latin typeface="Cambria Math" charset="0"/>
                              </a:rPr>
                              <m:t>𝑙</m:t>
                            </m:r>
                            <m:r>
                              <a:rPr lang="en-US" sz="2800" i="1">
                                <a:latin typeface="Cambria Math" charset="0"/>
                              </a:rPr>
                              <m:t>−1</m:t>
                            </m:r>
                          </m:e>
                        </m:d>
                      </m:sup>
                    </m:sSup>
                    <m:r>
                      <a:rPr lang="en-US" sz="2800" i="1">
                        <a:latin typeface="Cambria Math" charset="0"/>
                      </a:rPr>
                      <m:t>)</m:t>
                    </m:r>
                  </m:oMath>
                </a14:m>
                <a:endParaRPr 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295844" y="5572897"/>
                <a:ext cx="8900385" cy="459934"/>
              </a:xfrm>
              <a:prstGeom prst="rect">
                <a:avLst/>
              </a:prstGeom>
              <a:blipFill rotWithShape="0">
                <a:blip r:embed="rId5"/>
                <a:stretch>
                  <a:fillRect t="-18421" b="-44737"/>
                </a:stretch>
              </a:blipFill>
            </p:spPr>
            <p:txBody>
              <a:bodyPr/>
              <a:lstStyle/>
              <a:p>
                <a:r>
                  <a:rPr lang="en-US">
                    <a:noFill/>
                  </a:rPr>
                  <a:t> </a:t>
                </a:r>
              </a:p>
            </p:txBody>
          </p:sp>
        </mc:Fallback>
      </mc:AlternateContent>
    </p:spTree>
    <p:extLst>
      <p:ext uri="{BB962C8B-B14F-4D97-AF65-F5344CB8AC3E}">
        <p14:creationId xmlns:p14="http://schemas.microsoft.com/office/powerpoint/2010/main" val="769709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Normalization in </a:t>
            </a:r>
            <a:r>
              <a:rPr lang="en-US" dirty="0" err="1" smtClean="0"/>
              <a:t>TensorFlow</a:t>
            </a:r>
            <a:endParaRPr lang="en-US" dirty="0"/>
          </a:p>
        </p:txBody>
      </p:sp>
      <p:sp>
        <p:nvSpPr>
          <p:cNvPr id="3" name="Content Placeholder 2"/>
          <p:cNvSpPr>
            <a:spLocks noGrp="1"/>
          </p:cNvSpPr>
          <p:nvPr>
            <p:ph idx="1"/>
          </p:nvPr>
        </p:nvSpPr>
        <p:spPr>
          <a:xfrm>
            <a:off x="1593436" y="1600200"/>
            <a:ext cx="9782801" cy="685800"/>
          </a:xfrm>
        </p:spPr>
        <p:txBody>
          <a:bodyPr>
            <a:normAutofit/>
          </a:bodyPr>
          <a:lstStyle/>
          <a:p>
            <a:r>
              <a:rPr lang="en-US" dirty="0" smtClean="0"/>
              <a:t>Method 1: Manually</a:t>
            </a:r>
          </a:p>
          <a:p>
            <a:pPr marL="0" indent="0">
              <a:buNone/>
            </a:pPr>
            <a:endParaRPr lang="en-US" dirty="0">
              <a:latin typeface="Consolas" charset="0"/>
              <a:ea typeface="Consolas" charset="0"/>
              <a:cs typeface="Consolas" charset="0"/>
            </a:endParaRPr>
          </a:p>
          <a:p>
            <a:pPr marL="0" indent="0">
              <a:buNone/>
            </a:pPr>
            <a:endParaRPr lang="en-US" dirty="0">
              <a:latin typeface="Consolas" charset="0"/>
              <a:ea typeface="Consolas" charset="0"/>
              <a:cs typeface="Consolas" charset="0"/>
            </a:endParaRPr>
          </a:p>
        </p:txBody>
      </p:sp>
      <p:sp>
        <p:nvSpPr>
          <p:cNvPr id="4" name="Rectangle 3"/>
          <p:cNvSpPr/>
          <p:nvPr/>
        </p:nvSpPr>
        <p:spPr>
          <a:xfrm>
            <a:off x="1751012" y="2468563"/>
            <a:ext cx="9753600" cy="2862322"/>
          </a:xfrm>
          <a:prstGeom prst="rect">
            <a:avLst/>
          </a:prstGeom>
        </p:spPr>
        <p:txBody>
          <a:bodyPr wrap="square">
            <a:spAutoFit/>
          </a:bodyPr>
          <a:lstStyle/>
          <a:p>
            <a:r>
              <a:rPr lang="en-US" sz="2000" dirty="0">
                <a:latin typeface="Consolas" charset="0"/>
                <a:ea typeface="Consolas" charset="0"/>
                <a:cs typeface="Consolas" charset="0"/>
              </a:rPr>
              <a:t>z = </a:t>
            </a:r>
            <a:r>
              <a:rPr lang="en-US" sz="2000" dirty="0" err="1">
                <a:latin typeface="Consolas" charset="0"/>
                <a:ea typeface="Consolas" charset="0"/>
                <a:cs typeface="Consolas" charset="0"/>
              </a:rPr>
              <a:t>tf.matmul</a:t>
            </a:r>
            <a:r>
              <a:rPr lang="en-US" sz="2000" dirty="0">
                <a:latin typeface="Consolas" charset="0"/>
                <a:ea typeface="Consolas" charset="0"/>
                <a:cs typeface="Consolas" charset="0"/>
              </a:rPr>
              <a:t>(</a:t>
            </a:r>
            <a:r>
              <a:rPr lang="en-US" sz="2000" dirty="0" err="1">
                <a:latin typeface="Consolas" charset="0"/>
                <a:ea typeface="Consolas" charset="0"/>
                <a:cs typeface="Consolas" charset="0"/>
              </a:rPr>
              <a:t>a_prev</a:t>
            </a:r>
            <a:r>
              <a:rPr lang="en-US" sz="2000" dirty="0">
                <a:latin typeface="Consolas" charset="0"/>
                <a:ea typeface="Consolas" charset="0"/>
                <a:cs typeface="Consolas" charset="0"/>
              </a:rPr>
              <a:t>, W)</a:t>
            </a:r>
          </a:p>
          <a:p>
            <a:r>
              <a:rPr lang="en-US" sz="2000" dirty="0">
                <a:latin typeface="Consolas" charset="0"/>
                <a:ea typeface="Consolas" charset="0"/>
                <a:cs typeface="Consolas" charset="0"/>
              </a:rPr>
              <a:t>a = </a:t>
            </a:r>
            <a:r>
              <a:rPr lang="en-US" sz="2000" dirty="0" err="1">
                <a:latin typeface="Consolas" charset="0"/>
                <a:ea typeface="Consolas" charset="0"/>
                <a:cs typeface="Consolas" charset="0"/>
              </a:rPr>
              <a:t>tf.nn.relu</a:t>
            </a:r>
            <a:r>
              <a:rPr lang="en-US" sz="2000" dirty="0">
                <a:latin typeface="Consolas" charset="0"/>
                <a:ea typeface="Consolas" charset="0"/>
                <a:cs typeface="Consolas" charset="0"/>
              </a:rPr>
              <a:t>(z)</a:t>
            </a:r>
          </a:p>
          <a:p>
            <a:endParaRPr lang="en-US" sz="2000" dirty="0" smtClean="0">
              <a:latin typeface="Consolas" charset="0"/>
              <a:ea typeface="Consolas" charset="0"/>
              <a:cs typeface="Consolas" charset="0"/>
            </a:endParaRPr>
          </a:p>
          <a:p>
            <a:r>
              <a:rPr lang="en-US" sz="2000" dirty="0" err="1">
                <a:latin typeface="Consolas" charset="0"/>
                <a:ea typeface="Consolas" charset="0"/>
                <a:cs typeface="Consolas" charset="0"/>
              </a:rPr>
              <a:t>a_mean</a:t>
            </a:r>
            <a:r>
              <a:rPr lang="en-US" sz="2000" dirty="0">
                <a:latin typeface="Consolas" charset="0"/>
                <a:ea typeface="Consolas" charset="0"/>
                <a:cs typeface="Consolas" charset="0"/>
              </a:rPr>
              <a:t>, </a:t>
            </a:r>
            <a:r>
              <a:rPr lang="en-US" sz="2000" dirty="0" err="1">
                <a:latin typeface="Consolas" charset="0"/>
                <a:ea typeface="Consolas" charset="0"/>
                <a:cs typeface="Consolas" charset="0"/>
              </a:rPr>
              <a:t>a_var</a:t>
            </a:r>
            <a:r>
              <a:rPr lang="en-US" sz="2000" dirty="0">
                <a:latin typeface="Consolas" charset="0"/>
                <a:ea typeface="Consolas" charset="0"/>
                <a:cs typeface="Consolas" charset="0"/>
              </a:rPr>
              <a:t> </a:t>
            </a:r>
            <a:r>
              <a:rPr lang="en-US" sz="2000" dirty="0" smtClean="0">
                <a:latin typeface="Consolas" charset="0"/>
                <a:ea typeface="Consolas" charset="0"/>
                <a:cs typeface="Consolas" charset="0"/>
              </a:rPr>
              <a:t>= </a:t>
            </a:r>
            <a:r>
              <a:rPr lang="en-US" sz="2000" dirty="0" err="1" smtClean="0">
                <a:latin typeface="Consolas" charset="0"/>
                <a:ea typeface="Consolas" charset="0"/>
                <a:cs typeface="Consolas" charset="0"/>
              </a:rPr>
              <a:t>tf.nn.moments</a:t>
            </a:r>
            <a:r>
              <a:rPr lang="en-US" sz="2000" dirty="0" smtClean="0">
                <a:latin typeface="Consolas" charset="0"/>
                <a:ea typeface="Consolas" charset="0"/>
                <a:cs typeface="Consolas" charset="0"/>
              </a:rPr>
              <a:t>(a, [0])</a:t>
            </a:r>
            <a:endParaRPr lang="en-US" sz="2000" dirty="0">
              <a:latin typeface="Consolas" charset="0"/>
              <a:ea typeface="Consolas" charset="0"/>
              <a:cs typeface="Consolas" charset="0"/>
            </a:endParaRPr>
          </a:p>
          <a:p>
            <a:endParaRPr lang="en-US" sz="2000" dirty="0">
              <a:latin typeface="Consolas" charset="0"/>
              <a:ea typeface="Consolas" charset="0"/>
              <a:cs typeface="Consolas" charset="0"/>
            </a:endParaRPr>
          </a:p>
          <a:p>
            <a:r>
              <a:rPr lang="en-US" sz="2000" dirty="0" smtClean="0">
                <a:latin typeface="Consolas" charset="0"/>
                <a:ea typeface="Consolas" charset="0"/>
                <a:cs typeface="Consolas" charset="0"/>
              </a:rPr>
              <a:t>scale </a:t>
            </a:r>
            <a:r>
              <a:rPr lang="en-US" sz="2000" dirty="0">
                <a:latin typeface="Consolas" charset="0"/>
                <a:ea typeface="Consolas" charset="0"/>
                <a:cs typeface="Consolas" charset="0"/>
              </a:rPr>
              <a:t>= </a:t>
            </a:r>
            <a:r>
              <a:rPr lang="en-US" sz="2000" dirty="0" err="1">
                <a:latin typeface="Consolas" charset="0"/>
                <a:ea typeface="Consolas" charset="0"/>
                <a:cs typeface="Consolas" charset="0"/>
              </a:rPr>
              <a:t>tf.Variable</a:t>
            </a:r>
            <a:r>
              <a:rPr lang="en-US" sz="2000" dirty="0">
                <a:latin typeface="Consolas" charset="0"/>
                <a:ea typeface="Consolas" charset="0"/>
                <a:cs typeface="Consolas" charset="0"/>
              </a:rPr>
              <a:t>(</a:t>
            </a:r>
            <a:r>
              <a:rPr lang="en-US" sz="2000" dirty="0" err="1">
                <a:latin typeface="Consolas" charset="0"/>
                <a:ea typeface="Consolas" charset="0"/>
                <a:cs typeface="Consolas" charset="0"/>
              </a:rPr>
              <a:t>tf.ones</a:t>
            </a:r>
            <a:r>
              <a:rPr lang="en-US" sz="2000" dirty="0">
                <a:latin typeface="Consolas" charset="0"/>
                <a:ea typeface="Consolas" charset="0"/>
                <a:cs typeface="Consolas" charset="0"/>
              </a:rPr>
              <a:t>([depth/channels]))</a:t>
            </a:r>
          </a:p>
          <a:p>
            <a:r>
              <a:rPr lang="en-US" sz="2000" dirty="0">
                <a:latin typeface="Consolas" charset="0"/>
                <a:ea typeface="Consolas" charset="0"/>
                <a:cs typeface="Consolas" charset="0"/>
              </a:rPr>
              <a:t>beta = </a:t>
            </a:r>
            <a:r>
              <a:rPr lang="en-US" sz="2000" dirty="0" err="1">
                <a:latin typeface="Consolas" charset="0"/>
                <a:ea typeface="Consolas" charset="0"/>
                <a:cs typeface="Consolas" charset="0"/>
              </a:rPr>
              <a:t>tf.Variable</a:t>
            </a:r>
            <a:r>
              <a:rPr lang="en-US" sz="2000" dirty="0">
                <a:latin typeface="Consolas" charset="0"/>
                <a:ea typeface="Consolas" charset="0"/>
                <a:cs typeface="Consolas" charset="0"/>
              </a:rPr>
              <a:t>(</a:t>
            </a:r>
            <a:r>
              <a:rPr lang="en-US" sz="2000" dirty="0" err="1">
                <a:latin typeface="Consolas" charset="0"/>
                <a:ea typeface="Consolas" charset="0"/>
                <a:cs typeface="Consolas" charset="0"/>
              </a:rPr>
              <a:t>tf.zeros</a:t>
            </a:r>
            <a:r>
              <a:rPr lang="en-US" sz="2000" dirty="0">
                <a:latin typeface="Consolas" charset="0"/>
                <a:ea typeface="Consolas" charset="0"/>
                <a:cs typeface="Consolas" charset="0"/>
              </a:rPr>
              <a:t> ([depth/channels</a:t>
            </a:r>
            <a:r>
              <a:rPr lang="en-US" sz="2000" dirty="0" smtClean="0">
                <a:latin typeface="Consolas" charset="0"/>
                <a:ea typeface="Consolas" charset="0"/>
                <a:cs typeface="Consolas" charset="0"/>
              </a:rPr>
              <a:t>]))</a:t>
            </a:r>
          </a:p>
          <a:p>
            <a:endParaRPr lang="en-US" sz="2000" dirty="0" smtClean="0">
              <a:latin typeface="Consolas" charset="0"/>
              <a:ea typeface="Consolas" charset="0"/>
              <a:cs typeface="Consolas" charset="0"/>
            </a:endParaRPr>
          </a:p>
          <a:p>
            <a:r>
              <a:rPr lang="en-US" sz="2000" dirty="0" err="1" smtClean="0">
                <a:latin typeface="Consolas" charset="0"/>
                <a:ea typeface="Consolas" charset="0"/>
                <a:cs typeface="Consolas" charset="0"/>
              </a:rPr>
              <a:t>bn</a:t>
            </a:r>
            <a:r>
              <a:rPr lang="en-US" sz="2000" dirty="0" smtClean="0">
                <a:latin typeface="Consolas" charset="0"/>
                <a:ea typeface="Consolas" charset="0"/>
                <a:cs typeface="Consolas" charset="0"/>
              </a:rPr>
              <a:t> = </a:t>
            </a:r>
            <a:r>
              <a:rPr lang="en-US" sz="2000" dirty="0" err="1" smtClean="0">
                <a:latin typeface="Consolas" charset="0"/>
                <a:ea typeface="Consolas" charset="0"/>
                <a:cs typeface="Consolas" charset="0"/>
              </a:rPr>
              <a:t>tf.nn.batch_normalizaton</a:t>
            </a:r>
            <a:r>
              <a:rPr lang="en-US" sz="2000" dirty="0" smtClean="0">
                <a:latin typeface="Consolas" charset="0"/>
                <a:ea typeface="Consolas" charset="0"/>
                <a:cs typeface="Consolas" charset="0"/>
              </a:rPr>
              <a:t>(a, </a:t>
            </a:r>
            <a:r>
              <a:rPr lang="en-US" sz="2000" dirty="0" err="1" smtClean="0">
                <a:latin typeface="Consolas" charset="0"/>
                <a:ea typeface="Consolas" charset="0"/>
                <a:cs typeface="Consolas" charset="0"/>
              </a:rPr>
              <a:t>a_mean</a:t>
            </a:r>
            <a:r>
              <a:rPr lang="en-US" sz="2000" dirty="0" smtClean="0">
                <a:latin typeface="Consolas" charset="0"/>
                <a:ea typeface="Consolas" charset="0"/>
                <a:cs typeface="Consolas" charset="0"/>
              </a:rPr>
              <a:t>, </a:t>
            </a:r>
            <a:r>
              <a:rPr lang="en-US" sz="2000" dirty="0" err="1" smtClean="0">
                <a:latin typeface="Consolas" charset="0"/>
                <a:ea typeface="Consolas" charset="0"/>
                <a:cs typeface="Consolas" charset="0"/>
              </a:rPr>
              <a:t>a_var</a:t>
            </a:r>
            <a:r>
              <a:rPr lang="en-US" sz="2000" dirty="0" smtClean="0">
                <a:latin typeface="Consolas" charset="0"/>
                <a:ea typeface="Consolas" charset="0"/>
                <a:cs typeface="Consolas" charset="0"/>
              </a:rPr>
              <a:t>, beta, scale, 1e-3)</a:t>
            </a:r>
            <a:endParaRPr lang="en-US" sz="2000" dirty="0">
              <a:latin typeface="Consolas" charset="0"/>
              <a:ea typeface="Consolas" charset="0"/>
              <a:cs typeface="Consolas" charset="0"/>
            </a:endParaRPr>
          </a:p>
        </p:txBody>
      </p:sp>
      <p:sp>
        <p:nvSpPr>
          <p:cNvPr id="5" name="Content Placeholder 2"/>
          <p:cNvSpPr txBox="1">
            <a:spLocks/>
          </p:cNvSpPr>
          <p:nvPr/>
        </p:nvSpPr>
        <p:spPr>
          <a:xfrm>
            <a:off x="1593436" y="5791200"/>
            <a:ext cx="9911176" cy="6858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smtClean="0"/>
              <a:t>For testing, </a:t>
            </a:r>
            <a:r>
              <a:rPr lang="en-US" dirty="0" smtClean="0"/>
              <a:t>replace </a:t>
            </a:r>
            <a:r>
              <a:rPr lang="en-US" dirty="0" err="1" smtClean="0"/>
              <a:t>a_mean</a:t>
            </a:r>
            <a:r>
              <a:rPr lang="en-US" dirty="0" smtClean="0"/>
              <a:t>, </a:t>
            </a:r>
            <a:r>
              <a:rPr lang="en-US" dirty="0" err="1" smtClean="0"/>
              <a:t>a_var</a:t>
            </a:r>
            <a:r>
              <a:rPr lang="en-US" dirty="0" smtClean="0"/>
              <a:t> with full training statistics</a:t>
            </a:r>
            <a:endParaRPr lang="en-US" dirty="0">
              <a:latin typeface="Consolas" charset="0"/>
              <a:ea typeface="Consolas" charset="0"/>
              <a:cs typeface="Consolas" charset="0"/>
            </a:endParaRPr>
          </a:p>
        </p:txBody>
      </p:sp>
    </p:spTree>
    <p:extLst>
      <p:ext uri="{BB962C8B-B14F-4D97-AF65-F5344CB8AC3E}">
        <p14:creationId xmlns:p14="http://schemas.microsoft.com/office/powerpoint/2010/main" val="1498324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Normalization in </a:t>
            </a:r>
            <a:r>
              <a:rPr lang="en-US" dirty="0" err="1"/>
              <a:t>TensorFlow</a:t>
            </a:r>
            <a:endParaRPr lang="en-US" dirty="0"/>
          </a:p>
        </p:txBody>
      </p:sp>
      <p:sp>
        <p:nvSpPr>
          <p:cNvPr id="3" name="Content Placeholder 2"/>
          <p:cNvSpPr>
            <a:spLocks noGrp="1"/>
          </p:cNvSpPr>
          <p:nvPr>
            <p:ph idx="1"/>
          </p:nvPr>
        </p:nvSpPr>
        <p:spPr>
          <a:xfrm>
            <a:off x="1593436" y="1600200"/>
            <a:ext cx="9782801" cy="685800"/>
          </a:xfrm>
        </p:spPr>
        <p:txBody>
          <a:bodyPr/>
          <a:lstStyle/>
          <a:p>
            <a:r>
              <a:rPr lang="en-US" dirty="0" smtClean="0"/>
              <a:t>Method 2: Built-in layer function</a:t>
            </a:r>
            <a:endParaRPr lang="en-US" dirty="0"/>
          </a:p>
        </p:txBody>
      </p:sp>
      <p:sp>
        <p:nvSpPr>
          <p:cNvPr id="4" name="Rectangle 3"/>
          <p:cNvSpPr/>
          <p:nvPr/>
        </p:nvSpPr>
        <p:spPr>
          <a:xfrm>
            <a:off x="1751012" y="2468563"/>
            <a:ext cx="9753600" cy="1323439"/>
          </a:xfrm>
          <a:prstGeom prst="rect">
            <a:avLst/>
          </a:prstGeom>
        </p:spPr>
        <p:txBody>
          <a:bodyPr wrap="square">
            <a:spAutoFit/>
          </a:bodyPr>
          <a:lstStyle/>
          <a:p>
            <a:r>
              <a:rPr lang="en-US" sz="2000" dirty="0">
                <a:latin typeface="Consolas" charset="0"/>
                <a:ea typeface="Consolas" charset="0"/>
                <a:cs typeface="Consolas" charset="0"/>
              </a:rPr>
              <a:t>z = </a:t>
            </a:r>
            <a:r>
              <a:rPr lang="en-US" sz="2000" dirty="0" err="1">
                <a:latin typeface="Consolas" charset="0"/>
                <a:ea typeface="Consolas" charset="0"/>
                <a:cs typeface="Consolas" charset="0"/>
              </a:rPr>
              <a:t>tf.matmul</a:t>
            </a:r>
            <a:r>
              <a:rPr lang="en-US" sz="2000" dirty="0">
                <a:latin typeface="Consolas" charset="0"/>
                <a:ea typeface="Consolas" charset="0"/>
                <a:cs typeface="Consolas" charset="0"/>
              </a:rPr>
              <a:t>(</a:t>
            </a:r>
            <a:r>
              <a:rPr lang="en-US" sz="2000" dirty="0" err="1">
                <a:latin typeface="Consolas" charset="0"/>
                <a:ea typeface="Consolas" charset="0"/>
                <a:cs typeface="Consolas" charset="0"/>
              </a:rPr>
              <a:t>a_prev</a:t>
            </a:r>
            <a:r>
              <a:rPr lang="en-US" sz="2000" dirty="0">
                <a:latin typeface="Consolas" charset="0"/>
                <a:ea typeface="Consolas" charset="0"/>
                <a:cs typeface="Consolas" charset="0"/>
              </a:rPr>
              <a:t>, W)</a:t>
            </a:r>
          </a:p>
          <a:p>
            <a:r>
              <a:rPr lang="en-US" sz="2000" dirty="0">
                <a:latin typeface="Consolas" charset="0"/>
                <a:ea typeface="Consolas" charset="0"/>
                <a:cs typeface="Consolas" charset="0"/>
              </a:rPr>
              <a:t>a = </a:t>
            </a:r>
            <a:r>
              <a:rPr lang="en-US" sz="2000" dirty="0" err="1">
                <a:latin typeface="Consolas" charset="0"/>
                <a:ea typeface="Consolas" charset="0"/>
                <a:cs typeface="Consolas" charset="0"/>
              </a:rPr>
              <a:t>tf.nn.relu</a:t>
            </a:r>
            <a:r>
              <a:rPr lang="en-US" sz="2000" dirty="0">
                <a:latin typeface="Consolas" charset="0"/>
                <a:ea typeface="Consolas" charset="0"/>
                <a:cs typeface="Consolas" charset="0"/>
              </a:rPr>
              <a:t>(z)</a:t>
            </a:r>
          </a:p>
          <a:p>
            <a:endParaRPr lang="en-US" sz="2000" dirty="0" smtClean="0">
              <a:latin typeface="Consolas" charset="0"/>
              <a:ea typeface="Consolas" charset="0"/>
              <a:cs typeface="Consolas" charset="0"/>
            </a:endParaRPr>
          </a:p>
          <a:p>
            <a:r>
              <a:rPr lang="en-US" sz="2000" dirty="0" err="1" smtClean="0">
                <a:latin typeface="Consolas" charset="0"/>
                <a:ea typeface="Consolas" charset="0"/>
                <a:cs typeface="Consolas" charset="0"/>
              </a:rPr>
              <a:t>bn</a:t>
            </a:r>
            <a:r>
              <a:rPr lang="en-US" sz="2000" dirty="0" smtClean="0">
                <a:latin typeface="Consolas" charset="0"/>
                <a:ea typeface="Consolas" charset="0"/>
                <a:cs typeface="Consolas" charset="0"/>
              </a:rPr>
              <a:t> = </a:t>
            </a:r>
            <a:r>
              <a:rPr lang="en-US" sz="2000" dirty="0" err="1" smtClean="0">
                <a:latin typeface="Consolas" charset="0"/>
                <a:ea typeface="Consolas" charset="0"/>
                <a:cs typeface="Consolas" charset="0"/>
              </a:rPr>
              <a:t>tf.layers.batch_normalization</a:t>
            </a:r>
            <a:r>
              <a:rPr lang="en-US" sz="2000" dirty="0" smtClean="0">
                <a:latin typeface="Consolas" charset="0"/>
                <a:ea typeface="Consolas" charset="0"/>
                <a:cs typeface="Consolas" charset="0"/>
              </a:rPr>
              <a:t>(a)</a:t>
            </a:r>
            <a:endParaRPr lang="en-US" sz="2000" dirty="0">
              <a:latin typeface="Consolas" charset="0"/>
              <a:ea typeface="Consolas" charset="0"/>
              <a:cs typeface="Consolas" charset="0"/>
            </a:endParaRPr>
          </a:p>
        </p:txBody>
      </p:sp>
      <p:sp>
        <p:nvSpPr>
          <p:cNvPr id="5" name="Content Placeholder 2"/>
          <p:cNvSpPr txBox="1">
            <a:spLocks/>
          </p:cNvSpPr>
          <p:nvPr/>
        </p:nvSpPr>
        <p:spPr>
          <a:xfrm>
            <a:off x="1293812" y="4343400"/>
            <a:ext cx="10668000" cy="16764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a:buFont typeface="Arial" charset="0"/>
              <a:buChar char="•"/>
            </a:pPr>
            <a:r>
              <a:rPr lang="en-US" dirty="0" smtClean="0"/>
              <a:t>Keeps a decaying average of activation mean and variance</a:t>
            </a:r>
          </a:p>
          <a:p>
            <a:pPr>
              <a:buFont typeface="Arial" charset="0"/>
              <a:buChar char="•"/>
            </a:pPr>
            <a:r>
              <a:rPr lang="en-US" dirty="0" smtClean="0"/>
              <a:t>Much simpler than doing manually</a:t>
            </a:r>
          </a:p>
          <a:p>
            <a:pPr>
              <a:buFont typeface="Arial" charset="0"/>
              <a:buChar char="•"/>
            </a:pPr>
            <a:r>
              <a:rPr lang="en-US" dirty="0" smtClean="0"/>
              <a:t>Can still replace with full training mean/variance if desired</a:t>
            </a:r>
          </a:p>
        </p:txBody>
      </p:sp>
    </p:spTree>
    <p:extLst>
      <p:ext uri="{BB962C8B-B14F-4D97-AF65-F5344CB8AC3E}">
        <p14:creationId xmlns:p14="http://schemas.microsoft.com/office/powerpoint/2010/main" val="1195785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of Batch Normalization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Speeds up training dramatically</a:t>
            </a:r>
          </a:p>
          <a:p>
            <a:endParaRPr lang="en-US" dirty="0" smtClean="0"/>
          </a:p>
          <a:p>
            <a:r>
              <a:rPr lang="en-US" dirty="0" smtClean="0"/>
              <a:t>Enables increased learning rate with less chance of exploding gradients</a:t>
            </a:r>
          </a:p>
          <a:p>
            <a:endParaRPr lang="en-US" dirty="0" smtClean="0"/>
          </a:p>
          <a:p>
            <a:r>
              <a:rPr lang="en-US" dirty="0" smtClean="0"/>
              <a:t>Reduces effectiveness/need for dropout</a:t>
            </a:r>
          </a:p>
          <a:p>
            <a:endParaRPr lang="en-US" dirty="0" smtClean="0"/>
          </a:p>
          <a:p>
            <a:r>
              <a:rPr lang="en-US" dirty="0" smtClean="0"/>
              <a:t>Final model is more accurate</a:t>
            </a:r>
          </a:p>
          <a:p>
            <a:endParaRPr lang="en-US" dirty="0"/>
          </a:p>
          <a:p>
            <a:r>
              <a:rPr lang="en-US" dirty="0" smtClean="0"/>
              <a:t>In summary: use batch normalization.</a:t>
            </a:r>
            <a:endParaRPr lang="en-US" dirty="0"/>
          </a:p>
        </p:txBody>
      </p:sp>
    </p:spTree>
    <p:extLst>
      <p:ext uri="{BB962C8B-B14F-4D97-AF65-F5344CB8AC3E}">
        <p14:creationId xmlns:p14="http://schemas.microsoft.com/office/powerpoint/2010/main" val="18201165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9677399" cy="2654064"/>
          </a:xfrm>
        </p:spPr>
        <p:txBody>
          <a:bodyPr>
            <a:normAutofit/>
          </a:bodyPr>
          <a:lstStyle/>
          <a:p>
            <a:r>
              <a:rPr lang="en-US" sz="4400" dirty="0" smtClean="0"/>
              <a:t>Deeper </a:t>
            </a:r>
            <a:r>
              <a:rPr lang="en-US" sz="4400" dirty="0"/>
              <a:t>N</a:t>
            </a:r>
            <a:r>
              <a:rPr lang="en-US" sz="4400" dirty="0" smtClean="0"/>
              <a:t>etworks and Receptive Field</a:t>
            </a:r>
            <a:endParaRPr lang="en-US" sz="4400" dirty="0"/>
          </a:p>
        </p:txBody>
      </p:sp>
      <p:sp>
        <p:nvSpPr>
          <p:cNvPr id="3" name="Text Placeholder 2"/>
          <p:cNvSpPr>
            <a:spLocks noGrp="1"/>
          </p:cNvSpPr>
          <p:nvPr>
            <p:ph type="body" idx="1"/>
          </p:nvPr>
        </p:nvSpPr>
        <p:spPr/>
        <p:txBody>
          <a:bodyPr/>
          <a:lstStyle/>
          <a:p>
            <a:r>
              <a:rPr lang="en-US" dirty="0" err="1" smtClean="0"/>
              <a:t>VGGNet</a:t>
            </a:r>
            <a:endParaRPr lang="en-US" dirty="0"/>
          </a:p>
        </p:txBody>
      </p:sp>
    </p:spTree>
    <p:extLst>
      <p:ext uri="{BB962C8B-B14F-4D97-AF65-F5344CB8AC3E}">
        <p14:creationId xmlns:p14="http://schemas.microsoft.com/office/powerpoint/2010/main" val="974892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VGG Net</a:t>
            </a:r>
            <a:endParaRPr lang="en-US" dirty="0"/>
          </a:p>
        </p:txBody>
      </p:sp>
      <p:sp>
        <p:nvSpPr>
          <p:cNvPr id="3" name="Content Placeholder 2"/>
          <p:cNvSpPr>
            <a:spLocks noGrp="1"/>
          </p:cNvSpPr>
          <p:nvPr>
            <p:ph idx="1"/>
          </p:nvPr>
        </p:nvSpPr>
        <p:spPr>
          <a:xfrm>
            <a:off x="1370012" y="1600200"/>
            <a:ext cx="10287000" cy="4572000"/>
          </a:xfrm>
        </p:spPr>
        <p:txBody>
          <a:bodyPr>
            <a:normAutofit/>
          </a:bodyPr>
          <a:lstStyle/>
          <a:p>
            <a:r>
              <a:rPr lang="en-US" sz="2400" i="1" dirty="0" smtClean="0"/>
              <a:t>Very Deep Convolutional Networks for Large-Scale Image Recognition</a:t>
            </a:r>
          </a:p>
          <a:p>
            <a:pPr lvl="1"/>
            <a:r>
              <a:rPr lang="en-US" sz="2000" dirty="0" smtClean="0"/>
              <a:t>Karen </a:t>
            </a:r>
            <a:r>
              <a:rPr lang="en-US" sz="2000" dirty="0" err="1" smtClean="0"/>
              <a:t>Simonyan</a:t>
            </a:r>
            <a:r>
              <a:rPr lang="en-US" sz="2000" dirty="0" smtClean="0"/>
              <a:t> and Andrew Zisserman, 2014</a:t>
            </a:r>
          </a:p>
          <a:p>
            <a:pPr lvl="1"/>
            <a:endParaRPr lang="en-US" sz="2000" dirty="0" smtClean="0"/>
          </a:p>
          <a:p>
            <a:r>
              <a:rPr lang="en-US" dirty="0" smtClean="0"/>
              <a:t>Problem: networks involve many manual decisions</a:t>
            </a:r>
          </a:p>
          <a:p>
            <a:r>
              <a:rPr lang="en-US" dirty="0" smtClean="0"/>
              <a:t>How to choose between different size convolutions?</a:t>
            </a:r>
          </a:p>
          <a:p>
            <a:endParaRPr lang="en-US" dirty="0" smtClean="0"/>
          </a:p>
          <a:p>
            <a:pPr marL="0" indent="0">
              <a:buNone/>
            </a:pPr>
            <a:r>
              <a:rPr lang="en-US" sz="3200" dirty="0" smtClean="0"/>
              <a:t>Idea: Simplify network and add many more layers</a:t>
            </a:r>
            <a:endParaRPr lang="en-US" sz="3200" dirty="0"/>
          </a:p>
        </p:txBody>
      </p:sp>
    </p:spTree>
    <p:extLst>
      <p:ext uri="{BB962C8B-B14F-4D97-AF65-F5344CB8AC3E}">
        <p14:creationId xmlns:p14="http://schemas.microsoft.com/office/powerpoint/2010/main" val="1872983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402034" y="1717197"/>
            <a:ext cx="10165603" cy="400110"/>
          </a:xfrm>
          <a:prstGeom prst="rect">
            <a:avLst/>
          </a:prstGeom>
          <a:noFill/>
        </p:spPr>
        <p:txBody>
          <a:bodyPr wrap="none" rtlCol="0">
            <a:spAutoFit/>
          </a:bodyPr>
          <a:lstStyle/>
          <a:p>
            <a:r>
              <a:rPr lang="en-US" sz="2000" dirty="0" smtClean="0"/>
              <a:t>Idea: Each subsequent 3x3 </a:t>
            </a:r>
            <a:r>
              <a:rPr lang="en-US" sz="2000" smtClean="0"/>
              <a:t>convolution effectively “sees</a:t>
            </a:r>
            <a:r>
              <a:rPr lang="en-US" sz="2000" dirty="0" smtClean="0"/>
              <a:t>” a larger portion of the inputs</a:t>
            </a:r>
            <a:endParaRPr lang="en-US" sz="2000" dirty="0"/>
          </a:p>
        </p:txBody>
      </p: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spTree>
    <p:extLst>
      <p:ext uri="{BB962C8B-B14F-4D97-AF65-F5344CB8AC3E}">
        <p14:creationId xmlns:p14="http://schemas.microsoft.com/office/powerpoint/2010/main" val="1420941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3012" y="2970989"/>
            <a:ext cx="1067657" cy="1067657"/>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31738" y="3328224"/>
            <a:ext cx="353148" cy="354791"/>
          </a:xfrm>
          <a:prstGeom prst="rect">
            <a:avLst/>
          </a:prstGeom>
        </p:spPr>
      </p:pic>
      <p:sp>
        <p:nvSpPr>
          <p:cNvPr id="19" name="TextBox 18"/>
          <p:cNvSpPr txBox="1"/>
          <p:nvPr/>
        </p:nvSpPr>
        <p:spPr>
          <a:xfrm>
            <a:off x="1837130" y="1674463"/>
            <a:ext cx="8737520" cy="400110"/>
          </a:xfrm>
          <a:prstGeom prst="rect">
            <a:avLst/>
          </a:prstGeom>
          <a:noFill/>
        </p:spPr>
        <p:txBody>
          <a:bodyPr wrap="none" rtlCol="0">
            <a:spAutoFit/>
          </a:bodyPr>
          <a:lstStyle/>
          <a:p>
            <a:r>
              <a:rPr lang="en-US" sz="2000" dirty="0" smtClean="0"/>
              <a:t>A single output in Layer 2 is the result of “seeing” a 3x3 grid from Layer 1</a:t>
            </a:r>
            <a:endParaRPr lang="en-US" sz="2000" dirty="0"/>
          </a:p>
        </p:txBody>
      </p:sp>
      <p:cxnSp>
        <p:nvCxnSpPr>
          <p:cNvPr id="6" name="Straight Arrow Connector 5"/>
          <p:cNvCxnSpPr/>
          <p:nvPr/>
        </p:nvCxnSpPr>
        <p:spPr>
          <a:xfrm>
            <a:off x="3268922"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p:cNvSpPr/>
          <p:nvPr/>
        </p:nvSpPr>
        <p:spPr>
          <a:xfrm>
            <a:off x="3030830"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44593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sp>
        <p:nvSpPr>
          <p:cNvPr id="19" name="TextBox 18"/>
          <p:cNvSpPr txBox="1"/>
          <p:nvPr/>
        </p:nvSpPr>
        <p:spPr>
          <a:xfrm>
            <a:off x="1837130" y="1435181"/>
            <a:ext cx="6489597" cy="400110"/>
          </a:xfrm>
          <a:prstGeom prst="rect">
            <a:avLst/>
          </a:prstGeom>
          <a:noFill/>
        </p:spPr>
        <p:txBody>
          <a:bodyPr wrap="none" rtlCol="0">
            <a:spAutoFit/>
          </a:bodyPr>
          <a:lstStyle/>
          <a:p>
            <a:r>
              <a:rPr lang="en-US" sz="2000" dirty="0" smtClean="0"/>
              <a:t>We can say that the “receptive field” of Layer 2 </a:t>
            </a:r>
            <a:r>
              <a:rPr lang="en-US" sz="2000" smtClean="0"/>
              <a:t>is 3x3</a:t>
            </a:r>
            <a:endParaRPr lang="en-US" sz="2000" dirty="0"/>
          </a:p>
        </p:txBody>
      </p:sp>
      <p:sp>
        <p:nvSpPr>
          <p:cNvPr id="16" name="TextBox 15"/>
          <p:cNvSpPr txBox="1"/>
          <p:nvPr/>
        </p:nvSpPr>
        <p:spPr>
          <a:xfrm>
            <a:off x="1837130" y="1808666"/>
            <a:ext cx="6977808" cy="400110"/>
          </a:xfrm>
          <a:prstGeom prst="rect">
            <a:avLst/>
          </a:prstGeom>
          <a:noFill/>
        </p:spPr>
        <p:txBody>
          <a:bodyPr wrap="none" rtlCol="0">
            <a:spAutoFit/>
          </a:bodyPr>
          <a:lstStyle/>
          <a:p>
            <a:r>
              <a:rPr lang="en-US" sz="2000" dirty="0" smtClean="0"/>
              <a:t>Each output has been influenced by a 3x3 patch of inputs </a:t>
            </a:r>
            <a:endParaRPr lang="en-US" sz="2000" dirty="0"/>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357" y="2971800"/>
            <a:ext cx="1067657" cy="1067657"/>
          </a:xfrm>
          <a:prstGeom prst="rect">
            <a:avLst/>
          </a:prstGeom>
          <a:solidFill>
            <a:srgbClr val="0000FF">
              <a:alpha val="12000"/>
            </a:srgbClr>
          </a:solidFill>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32836" y="3329867"/>
            <a:ext cx="353148" cy="353148"/>
          </a:xfrm>
          <a:prstGeom prst="rect">
            <a:avLst/>
          </a:prstGeom>
          <a:solidFill>
            <a:srgbClr val="0000FF">
              <a:alpha val="12000"/>
            </a:srgbClr>
          </a:solidFill>
        </p:spPr>
      </p:pic>
    </p:spTree>
    <p:extLst>
      <p:ext uri="{BB962C8B-B14F-4D97-AF65-F5344CB8AC3E}">
        <p14:creationId xmlns:p14="http://schemas.microsoft.com/office/powerpoint/2010/main" val="17942010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sp>
        <p:nvSpPr>
          <p:cNvPr id="19" name="TextBox 18"/>
          <p:cNvSpPr txBox="1"/>
          <p:nvPr/>
        </p:nvSpPr>
        <p:spPr>
          <a:xfrm>
            <a:off x="1837130" y="1683697"/>
            <a:ext cx="2976264" cy="400110"/>
          </a:xfrm>
          <a:prstGeom prst="rect">
            <a:avLst/>
          </a:prstGeom>
          <a:noFill/>
        </p:spPr>
        <p:txBody>
          <a:bodyPr wrap="none" rtlCol="0">
            <a:spAutoFit/>
          </a:bodyPr>
          <a:lstStyle/>
          <a:p>
            <a:r>
              <a:rPr lang="en-US" sz="2000" dirty="0" smtClean="0"/>
              <a:t>What about on Layer 3?</a:t>
            </a:r>
            <a:endParaRPr lang="en-US" sz="2000" dirty="0"/>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357" y="2971800"/>
            <a:ext cx="1067657" cy="1067657"/>
          </a:xfrm>
          <a:prstGeom prst="rect">
            <a:avLst/>
          </a:prstGeom>
          <a:solidFill>
            <a:srgbClr val="0000FF">
              <a:alpha val="12000"/>
            </a:srgbClr>
          </a:solidFill>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32836" y="3329867"/>
            <a:ext cx="353148" cy="353148"/>
          </a:xfrm>
          <a:prstGeom prst="rect">
            <a:avLst/>
          </a:prstGeom>
          <a:solidFill>
            <a:srgbClr val="0000FF">
              <a:alpha val="12000"/>
            </a:srgbClr>
          </a:solidFill>
        </p:spPr>
      </p:pic>
    </p:spTree>
    <p:extLst>
      <p:ext uri="{BB962C8B-B14F-4D97-AF65-F5344CB8AC3E}">
        <p14:creationId xmlns:p14="http://schemas.microsoft.com/office/powerpoint/2010/main" val="1723652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sp>
        <p:nvSpPr>
          <p:cNvPr id="19" name="TextBox 18"/>
          <p:cNvSpPr txBox="1"/>
          <p:nvPr/>
        </p:nvSpPr>
        <p:spPr>
          <a:xfrm>
            <a:off x="1837130" y="1683697"/>
            <a:ext cx="6390211" cy="400110"/>
          </a:xfrm>
          <a:prstGeom prst="rect">
            <a:avLst/>
          </a:prstGeom>
          <a:noFill/>
        </p:spPr>
        <p:txBody>
          <a:bodyPr wrap="none" rtlCol="0">
            <a:spAutoFit/>
          </a:bodyPr>
          <a:lstStyle/>
          <a:p>
            <a:r>
              <a:rPr lang="en-US" sz="2000" dirty="0" smtClean="0"/>
              <a:t>This output on Layer 3 uses a 3x3 patch from Layer 2</a:t>
            </a:r>
            <a:endParaRPr lang="en-US" sz="2000" dirty="0"/>
          </a:p>
        </p:txBody>
      </p:sp>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1837130" y="2129419"/>
            <a:ext cx="4440190" cy="400110"/>
          </a:xfrm>
          <a:prstGeom prst="rect">
            <a:avLst/>
          </a:prstGeom>
          <a:noFill/>
        </p:spPr>
        <p:txBody>
          <a:bodyPr wrap="none" rtlCol="0">
            <a:spAutoFit/>
          </a:bodyPr>
          <a:lstStyle/>
          <a:p>
            <a:r>
              <a:rPr lang="en-US" sz="2000" dirty="0" smtClean="0"/>
              <a:t>How much from Layer 1 does it use?</a:t>
            </a:r>
            <a:endParaRPr lang="en-US" sz="2000" dirty="0"/>
          </a:p>
        </p:txBody>
      </p:sp>
    </p:spTree>
    <p:extLst>
      <p:ext uri="{BB962C8B-B14F-4D97-AF65-F5344CB8AC3E}">
        <p14:creationId xmlns:p14="http://schemas.microsoft.com/office/powerpoint/2010/main" val="2135019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6712" y="2645576"/>
            <a:ext cx="1067657" cy="1067657"/>
          </a:xfrm>
          <a:prstGeom prst="rect">
            <a:avLst/>
          </a:prstGeom>
        </p:spPr>
      </p:pic>
      <p:cxnSp>
        <p:nvCxnSpPr>
          <p:cNvPr id="27" name="Straight Arrow Connector 26"/>
          <p:cNvCxnSpPr/>
          <p:nvPr/>
        </p:nvCxnSpPr>
        <p:spPr>
          <a:xfrm>
            <a:off x="2940739" y="3168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Right Brace 27"/>
          <p:cNvSpPr/>
          <p:nvPr/>
        </p:nvSpPr>
        <p:spPr>
          <a:xfrm>
            <a:off x="2702647" y="2639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61503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9018" y="2639226"/>
            <a:ext cx="1067657" cy="1067657"/>
          </a:xfrm>
          <a:prstGeom prst="rect">
            <a:avLst/>
          </a:prstGeom>
        </p:spPr>
      </p:pic>
      <p:cxnSp>
        <p:nvCxnSpPr>
          <p:cNvPr id="29" name="Straight Arrow Connector 28"/>
          <p:cNvCxnSpPr/>
          <p:nvPr/>
        </p:nvCxnSpPr>
        <p:spPr>
          <a:xfrm>
            <a:off x="3283045" y="316193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 name="Right Brace 29"/>
          <p:cNvSpPr/>
          <p:nvPr/>
        </p:nvSpPr>
        <p:spPr>
          <a:xfrm>
            <a:off x="3044953" y="263363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1133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1918" y="2639226"/>
            <a:ext cx="1067657" cy="1067657"/>
          </a:xfrm>
          <a:prstGeom prst="rect">
            <a:avLst/>
          </a:prstGeom>
        </p:spPr>
      </p:pic>
      <p:cxnSp>
        <p:nvCxnSpPr>
          <p:cNvPr id="32" name="Straight Arrow Connector 31"/>
          <p:cNvCxnSpPr/>
          <p:nvPr/>
        </p:nvCxnSpPr>
        <p:spPr>
          <a:xfrm>
            <a:off x="3625945" y="316193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3" name="Right Brace 32"/>
          <p:cNvSpPr/>
          <p:nvPr/>
        </p:nvSpPr>
        <p:spPr>
          <a:xfrm>
            <a:off x="3387853" y="263363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18490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6118" y="2981827"/>
            <a:ext cx="1067657" cy="1067657"/>
          </a:xfrm>
          <a:prstGeom prst="rect">
            <a:avLst/>
          </a:prstGeom>
        </p:spPr>
      </p:pic>
      <p:cxnSp>
        <p:nvCxnSpPr>
          <p:cNvPr id="34" name="Straight Arrow Connector 33"/>
          <p:cNvCxnSpPr/>
          <p:nvPr/>
        </p:nvCxnSpPr>
        <p:spPr>
          <a:xfrm>
            <a:off x="2940145" y="350453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5" name="Right Brace 34"/>
          <p:cNvSpPr/>
          <p:nvPr/>
        </p:nvSpPr>
        <p:spPr>
          <a:xfrm>
            <a:off x="2702053" y="297624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35311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4" name="Pictur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9612" y="2977387"/>
            <a:ext cx="1067657" cy="1067657"/>
          </a:xfrm>
          <a:prstGeom prst="rect">
            <a:avLst/>
          </a:prstGeom>
        </p:spPr>
      </p:pic>
      <p:cxnSp>
        <p:nvCxnSpPr>
          <p:cNvPr id="35" name="Straight Arrow Connector 34"/>
          <p:cNvCxnSpPr/>
          <p:nvPr/>
        </p:nvCxnSpPr>
        <p:spPr>
          <a:xfrm>
            <a:off x="3283639" y="350009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Right Brace 35"/>
          <p:cNvSpPr/>
          <p:nvPr/>
        </p:nvSpPr>
        <p:spPr>
          <a:xfrm>
            <a:off x="3045547" y="297180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842143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4" name="Picture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340948"/>
            <a:ext cx="353148" cy="353148"/>
          </a:xfrm>
          <a:prstGeom prst="rect">
            <a:avLst/>
          </a:prstGeom>
          <a:solidFill>
            <a:srgbClr val="0000FF">
              <a:alpha val="12000"/>
            </a:srgbClr>
          </a:solidFill>
        </p:spPr>
      </p:pic>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975477"/>
            <a:ext cx="1067657" cy="1067657"/>
          </a:xfrm>
          <a:prstGeom prst="rect">
            <a:avLst/>
          </a:prstGeom>
          <a:solidFill>
            <a:srgbClr val="0000FF">
              <a:alpha val="12000"/>
            </a:srgbClr>
          </a:solidFill>
        </p:spPr>
      </p:pic>
      <p:pic>
        <p:nvPicPr>
          <p:cNvPr id="36" name="Pictur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1918" y="2977387"/>
            <a:ext cx="1067657" cy="1067657"/>
          </a:xfrm>
          <a:prstGeom prst="rect">
            <a:avLst/>
          </a:prstGeom>
        </p:spPr>
      </p:pic>
      <p:cxnSp>
        <p:nvCxnSpPr>
          <p:cNvPr id="37" name="Straight Arrow Connector 36"/>
          <p:cNvCxnSpPr/>
          <p:nvPr/>
        </p:nvCxnSpPr>
        <p:spPr>
          <a:xfrm>
            <a:off x="3625945" y="350009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Right Brace 37"/>
          <p:cNvSpPr/>
          <p:nvPr/>
        </p:nvSpPr>
        <p:spPr>
          <a:xfrm>
            <a:off x="3387853" y="297180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884425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pic>
        <p:nvPicPr>
          <p:cNvPr id="34" name="Picture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340948"/>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975477"/>
            <a:ext cx="1067657" cy="1067657"/>
          </a:xfrm>
          <a:prstGeom prst="rect">
            <a:avLst/>
          </a:prstGeom>
          <a:solidFill>
            <a:srgbClr val="0000FF">
              <a:alpha val="12000"/>
            </a:srgbClr>
          </a:solidFill>
        </p:spPr>
      </p:pic>
      <p:pic>
        <p:nvPicPr>
          <p:cNvPr id="36" name="Picture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4364" y="3679614"/>
            <a:ext cx="353148" cy="353148"/>
          </a:xfrm>
          <a:prstGeom prst="rect">
            <a:avLst/>
          </a:prstGeom>
          <a:solidFill>
            <a:srgbClr val="0000FF">
              <a:alpha val="12000"/>
            </a:srgbClr>
          </a:solidFill>
        </p:spPr>
      </p:pic>
      <p:pic>
        <p:nvPicPr>
          <p:cNvPr id="37" name="Picture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3317343"/>
            <a:ext cx="1067657" cy="1067657"/>
          </a:xfrm>
          <a:prstGeom prst="rect">
            <a:avLst/>
          </a:prstGeom>
          <a:solidFill>
            <a:srgbClr val="0000FF">
              <a:alpha val="12000"/>
            </a:srgbClr>
          </a:solidFill>
        </p:spPr>
      </p:pic>
      <p:pic>
        <p:nvPicPr>
          <p:cNvPr id="38" name="Picture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5421" y="3321557"/>
            <a:ext cx="1067657" cy="1067657"/>
          </a:xfrm>
          <a:prstGeom prst="rect">
            <a:avLst/>
          </a:prstGeom>
        </p:spPr>
      </p:pic>
      <p:cxnSp>
        <p:nvCxnSpPr>
          <p:cNvPr id="39" name="Straight Arrow Connector 38"/>
          <p:cNvCxnSpPr/>
          <p:nvPr/>
        </p:nvCxnSpPr>
        <p:spPr>
          <a:xfrm>
            <a:off x="2939448" y="384426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0" name="Right Brace 39"/>
          <p:cNvSpPr/>
          <p:nvPr/>
        </p:nvSpPr>
        <p:spPr>
          <a:xfrm>
            <a:off x="2701356" y="331597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973522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pic>
        <p:nvPicPr>
          <p:cNvPr id="34" name="Picture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340948"/>
            <a:ext cx="353148" cy="353148"/>
          </a:xfrm>
          <a:prstGeom prst="rect">
            <a:avLst/>
          </a:prstGeom>
          <a:solidFill>
            <a:srgbClr val="0000FF">
              <a:alpha val="12000"/>
            </a:srgbClr>
          </a:solidFill>
        </p:spPr>
      </p:pic>
      <p:pic>
        <p:nvPicPr>
          <p:cNvPr id="36" name="Picture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4364" y="3679614"/>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975477"/>
            <a:ext cx="1067657" cy="1067657"/>
          </a:xfrm>
          <a:prstGeom prst="rect">
            <a:avLst/>
          </a:prstGeom>
          <a:solidFill>
            <a:srgbClr val="0000FF">
              <a:alpha val="12000"/>
            </a:srgbClr>
          </a:solidFill>
        </p:spPr>
      </p:pic>
      <p:pic>
        <p:nvPicPr>
          <p:cNvPr id="37" name="Picture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3317343"/>
            <a:ext cx="1067657" cy="1067657"/>
          </a:xfrm>
          <a:prstGeom prst="rect">
            <a:avLst/>
          </a:prstGeom>
          <a:solidFill>
            <a:srgbClr val="0000FF">
              <a:alpha val="12000"/>
            </a:srgbClr>
          </a:solidFill>
        </p:spPr>
      </p:pic>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679614"/>
            <a:ext cx="353148" cy="353148"/>
          </a:xfrm>
          <a:prstGeom prst="rect">
            <a:avLst/>
          </a:prstGeom>
          <a:solidFill>
            <a:srgbClr val="0000FF">
              <a:alpha val="12000"/>
            </a:srgbClr>
          </a:solidFill>
        </p:spPr>
      </p:pic>
      <p:pic>
        <p:nvPicPr>
          <p:cNvPr id="39" name="Picture 3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3317343"/>
            <a:ext cx="1067657" cy="1067657"/>
          </a:xfrm>
          <a:prstGeom prst="rect">
            <a:avLst/>
          </a:prstGeom>
          <a:solidFill>
            <a:srgbClr val="0000FF">
              <a:alpha val="12000"/>
            </a:srgbClr>
          </a:solidFill>
        </p:spPr>
      </p:pic>
      <p:pic>
        <p:nvPicPr>
          <p:cNvPr id="40" name="Picture 3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9612" y="3321557"/>
            <a:ext cx="1067657" cy="1067657"/>
          </a:xfrm>
          <a:prstGeom prst="rect">
            <a:avLst/>
          </a:prstGeom>
        </p:spPr>
      </p:pic>
      <p:cxnSp>
        <p:nvCxnSpPr>
          <p:cNvPr id="41" name="Straight Arrow Connector 40"/>
          <p:cNvCxnSpPr/>
          <p:nvPr/>
        </p:nvCxnSpPr>
        <p:spPr>
          <a:xfrm>
            <a:off x="3283639" y="384426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Right Brace 41"/>
          <p:cNvSpPr/>
          <p:nvPr/>
        </p:nvSpPr>
        <p:spPr>
          <a:xfrm>
            <a:off x="3045547" y="331597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89384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2" name="Picture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pic>
        <p:nvPicPr>
          <p:cNvPr id="34" name="Picture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7564" y="3340948"/>
            <a:ext cx="353148" cy="353148"/>
          </a:xfrm>
          <a:prstGeom prst="rect">
            <a:avLst/>
          </a:prstGeom>
          <a:solidFill>
            <a:srgbClr val="0000FF">
              <a:alpha val="12000"/>
            </a:srgbClr>
          </a:solidFill>
        </p:spPr>
      </p:pic>
      <p:pic>
        <p:nvPicPr>
          <p:cNvPr id="36" name="Picture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4364" y="3679614"/>
            <a:ext cx="353148" cy="353148"/>
          </a:xfrm>
          <a:prstGeom prst="rect">
            <a:avLst/>
          </a:prstGeom>
          <a:solidFill>
            <a:srgbClr val="0000FF">
              <a:alpha val="12000"/>
            </a:srgbClr>
          </a:solidFill>
        </p:spPr>
      </p:pic>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2835" y="3679614"/>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75581" y="2983089"/>
            <a:ext cx="1067657" cy="1067657"/>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8695" y="3333042"/>
            <a:ext cx="353148" cy="354791"/>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cxnSp>
        <p:nvCxnSpPr>
          <p:cNvPr id="18" name="Straight Arrow Connector 17"/>
          <p:cNvCxnSpPr/>
          <p:nvPr/>
        </p:nvCxnSpPr>
        <p:spPr>
          <a:xfrm>
            <a:off x="6993853" y="3499287"/>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6755761" y="2970989"/>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5" name="Picture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2177" y="2975477"/>
            <a:ext cx="1067657" cy="1067657"/>
          </a:xfrm>
          <a:prstGeom prst="rect">
            <a:avLst/>
          </a:prstGeom>
          <a:solidFill>
            <a:srgbClr val="0000FF">
              <a:alpha val="12000"/>
            </a:srgbClr>
          </a:solidFill>
        </p:spPr>
      </p:pic>
      <p:pic>
        <p:nvPicPr>
          <p:cNvPr id="37" name="Picture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40483" y="3317343"/>
            <a:ext cx="1067657" cy="1067657"/>
          </a:xfrm>
          <a:prstGeom prst="rect">
            <a:avLst/>
          </a:prstGeom>
          <a:solidFill>
            <a:srgbClr val="0000FF">
              <a:alpha val="12000"/>
            </a:srgbClr>
          </a:solidFill>
        </p:spPr>
      </p:pic>
      <p:pic>
        <p:nvPicPr>
          <p:cNvPr id="39" name="Picture 3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83282" y="3317343"/>
            <a:ext cx="1067657" cy="1067657"/>
          </a:xfrm>
          <a:prstGeom prst="rect">
            <a:avLst/>
          </a:prstGeom>
          <a:solidFill>
            <a:srgbClr val="0000FF">
              <a:alpha val="12000"/>
            </a:srgbClr>
          </a:solidFill>
        </p:spPr>
      </p:pic>
      <p:pic>
        <p:nvPicPr>
          <p:cNvPr id="40" name="Picture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2740" y="3679614"/>
            <a:ext cx="353148" cy="353148"/>
          </a:xfrm>
          <a:prstGeom prst="rect">
            <a:avLst/>
          </a:prstGeom>
          <a:solidFill>
            <a:srgbClr val="0000FF">
              <a:alpha val="12000"/>
            </a:srgbClr>
          </a:solidFill>
        </p:spPr>
      </p:pic>
      <p:pic>
        <p:nvPicPr>
          <p:cNvPr id="41" name="Picture 4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23539" y="3317343"/>
            <a:ext cx="1067657" cy="1067657"/>
          </a:xfrm>
          <a:prstGeom prst="rect">
            <a:avLst/>
          </a:prstGeom>
          <a:solidFill>
            <a:srgbClr val="0000FF">
              <a:alpha val="12000"/>
            </a:srgbClr>
          </a:solidFill>
        </p:spPr>
      </p:pic>
      <p:pic>
        <p:nvPicPr>
          <p:cNvPr id="42" name="Picture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1918" y="3321557"/>
            <a:ext cx="1067657" cy="1067657"/>
          </a:xfrm>
          <a:prstGeom prst="rect">
            <a:avLst/>
          </a:prstGeom>
        </p:spPr>
      </p:pic>
      <p:cxnSp>
        <p:nvCxnSpPr>
          <p:cNvPr id="43" name="Straight Arrow Connector 42"/>
          <p:cNvCxnSpPr/>
          <p:nvPr/>
        </p:nvCxnSpPr>
        <p:spPr>
          <a:xfrm>
            <a:off x="3625945" y="3844268"/>
            <a:ext cx="2716117"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4" name="Right Brace 43"/>
          <p:cNvSpPr/>
          <p:nvPr/>
        </p:nvSpPr>
        <p:spPr>
          <a:xfrm>
            <a:off x="3387853" y="3315970"/>
            <a:ext cx="161892" cy="1067657"/>
          </a:xfrm>
          <a:prstGeom prst="righ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890093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329" y="2616367"/>
            <a:ext cx="2490105" cy="248682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579" y="3000529"/>
            <a:ext cx="353148" cy="353148"/>
          </a:xfrm>
          <a:prstGeom prst="rect">
            <a:avLst/>
          </a:prstGeom>
          <a:solidFill>
            <a:srgbClr val="0000FF">
              <a:alpha val="12000"/>
            </a:srgbClr>
          </a:solidFill>
        </p:spPr>
      </p:pic>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2835" y="3000529"/>
            <a:ext cx="353148" cy="353148"/>
          </a:xfrm>
          <a:prstGeom prst="rect">
            <a:avLst/>
          </a:prstGeom>
          <a:solidFill>
            <a:srgbClr val="0000FF">
              <a:alpha val="12000"/>
            </a:srgbClr>
          </a:solidFill>
        </p:spPr>
      </p:pic>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7564" y="3000529"/>
            <a:ext cx="353148" cy="353148"/>
          </a:xfrm>
          <a:prstGeom prst="rect">
            <a:avLst/>
          </a:prstGeom>
          <a:solidFill>
            <a:srgbClr val="0000FF">
              <a:alpha val="12000"/>
            </a:srgbClr>
          </a:solid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579" y="3340948"/>
            <a:ext cx="353148" cy="353148"/>
          </a:xfrm>
          <a:prstGeom prst="rect">
            <a:avLst/>
          </a:prstGeom>
          <a:solidFill>
            <a:srgbClr val="0000FF">
              <a:alpha val="12000"/>
            </a:srgbClr>
          </a:solidFill>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5265" y="3340948"/>
            <a:ext cx="353148" cy="353148"/>
          </a:xfrm>
          <a:prstGeom prst="rect">
            <a:avLst/>
          </a:prstGeom>
          <a:solidFill>
            <a:srgbClr val="0000FF">
              <a:alpha val="12000"/>
            </a:srgbClr>
          </a:solidFill>
        </p:spPr>
      </p:pic>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7564" y="3340948"/>
            <a:ext cx="353148" cy="353148"/>
          </a:xfrm>
          <a:prstGeom prst="rect">
            <a:avLst/>
          </a:prstGeom>
          <a:solidFill>
            <a:srgbClr val="0000FF">
              <a:alpha val="12000"/>
            </a:srgbClr>
          </a:solidFill>
        </p:spPr>
      </p:pic>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4364" y="3679614"/>
            <a:ext cx="353148" cy="353148"/>
          </a:xfrm>
          <a:prstGeom prst="rect">
            <a:avLst/>
          </a:prstGeom>
          <a:solidFill>
            <a:srgbClr val="0000FF">
              <a:alpha val="12000"/>
            </a:srgbClr>
          </a:solidFill>
        </p:spPr>
      </p:pic>
      <p:pic>
        <p:nvPicPr>
          <p:cNvPr id="38" name="Picture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2835" y="3679614"/>
            <a:ext cx="353148" cy="353148"/>
          </a:xfrm>
          <a:prstGeom prst="rect">
            <a:avLst/>
          </a:prstGeom>
          <a:solidFill>
            <a:srgbClr val="0000FF">
              <a:alpha val="12000"/>
            </a:srgbClr>
          </a:solidFill>
        </p:spPr>
      </p:pic>
      <p:sp>
        <p:nvSpPr>
          <p:cNvPr id="2" name="Title 1"/>
          <p:cNvSpPr>
            <a:spLocks noGrp="1"/>
          </p:cNvSpPr>
          <p:nvPr>
            <p:ph type="title"/>
          </p:nvPr>
        </p:nvSpPr>
        <p:spPr/>
        <p:txBody>
          <a:bodyPr/>
          <a:lstStyle/>
          <a:p>
            <a:r>
              <a:rPr lang="en-US" dirty="0" smtClean="0"/>
              <a:t>Receptive field</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629" y="2616367"/>
            <a:ext cx="2490105" cy="2486820"/>
          </a:xfrm>
          <a:prstGeom prst="rect">
            <a:avLst/>
          </a:prstGeom>
        </p:spPr>
      </p:pic>
      <p:sp>
        <p:nvSpPr>
          <p:cNvPr id="3" name="TextBox 2"/>
          <p:cNvSpPr txBox="1"/>
          <p:nvPr/>
        </p:nvSpPr>
        <p:spPr>
          <a:xfrm>
            <a:off x="2370959" y="6024390"/>
            <a:ext cx="967444" cy="369332"/>
          </a:xfrm>
          <a:prstGeom prst="rect">
            <a:avLst/>
          </a:prstGeom>
          <a:noFill/>
        </p:spPr>
        <p:txBody>
          <a:bodyPr wrap="none" rtlCol="0">
            <a:spAutoFit/>
          </a:bodyPr>
          <a:lstStyle/>
          <a:p>
            <a:r>
              <a:rPr lang="en-US" dirty="0" smtClean="0"/>
              <a:t>Layer 1</a:t>
            </a:r>
            <a:endParaRPr lang="en-US"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1029" y="2616367"/>
            <a:ext cx="2490105" cy="2486820"/>
          </a:xfrm>
          <a:prstGeom prst="rect">
            <a:avLst/>
          </a:prstGeom>
        </p:spPr>
      </p:pic>
      <p:sp>
        <p:nvSpPr>
          <p:cNvPr id="11" name="TextBox 10"/>
          <p:cNvSpPr txBox="1"/>
          <p:nvPr/>
        </p:nvSpPr>
        <p:spPr>
          <a:xfrm>
            <a:off x="6069975" y="6002357"/>
            <a:ext cx="967444" cy="369332"/>
          </a:xfrm>
          <a:prstGeom prst="rect">
            <a:avLst/>
          </a:prstGeom>
          <a:noFill/>
        </p:spPr>
        <p:txBody>
          <a:bodyPr wrap="none" rtlCol="0">
            <a:spAutoFit/>
          </a:bodyPr>
          <a:lstStyle/>
          <a:p>
            <a:r>
              <a:rPr lang="en-US" dirty="0" smtClean="0"/>
              <a:t>Layer 2</a:t>
            </a:r>
            <a:endParaRPr lang="en-US" dirty="0"/>
          </a:p>
        </p:txBody>
      </p:sp>
      <p:sp>
        <p:nvSpPr>
          <p:cNvPr id="12" name="TextBox 11"/>
          <p:cNvSpPr txBox="1"/>
          <p:nvPr/>
        </p:nvSpPr>
        <p:spPr>
          <a:xfrm>
            <a:off x="9768992" y="6002357"/>
            <a:ext cx="967444" cy="369332"/>
          </a:xfrm>
          <a:prstGeom prst="rect">
            <a:avLst/>
          </a:prstGeom>
          <a:noFill/>
        </p:spPr>
        <p:txBody>
          <a:bodyPr wrap="none" rtlCol="0">
            <a:spAutoFit/>
          </a:bodyPr>
          <a:lstStyle/>
          <a:p>
            <a:r>
              <a:rPr lang="en-US" dirty="0" smtClean="0"/>
              <a:t>Layer 3</a:t>
            </a:r>
            <a:endParaRPr lang="en-US" dirty="0"/>
          </a:p>
        </p:txBody>
      </p:sp>
      <p:cxnSp>
        <p:nvCxnSpPr>
          <p:cNvPr id="14" name="Straight Arrow Connector 13"/>
          <p:cNvCxnSpPr/>
          <p:nvPr/>
        </p:nvCxnSpPr>
        <p:spPr>
          <a:xfrm>
            <a:off x="4243578"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923212" y="3886200"/>
            <a:ext cx="914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427320" y="6371689"/>
            <a:ext cx="854721" cy="369332"/>
          </a:xfrm>
          <a:prstGeom prst="rect">
            <a:avLst/>
          </a:prstGeom>
          <a:noFill/>
        </p:spPr>
        <p:txBody>
          <a:bodyPr wrap="none" rtlCol="0">
            <a:spAutoFit/>
          </a:bodyPr>
          <a:lstStyle/>
          <a:p>
            <a:r>
              <a:rPr lang="en-US" dirty="0" smtClean="0"/>
              <a:t>(Input)</a:t>
            </a:r>
            <a:endParaRPr lang="en-US" dirty="0"/>
          </a:p>
        </p:txBody>
      </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40483" y="2638965"/>
            <a:ext cx="1067657" cy="1067657"/>
          </a:xfrm>
          <a:prstGeom prst="rect">
            <a:avLst/>
          </a:prstGeom>
          <a:solidFill>
            <a:srgbClr val="0000FF">
              <a:alpha val="12000"/>
            </a:srgbClr>
          </a:solidFill>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9612" y="2638965"/>
            <a:ext cx="1067657" cy="1067657"/>
          </a:xfrm>
          <a:prstGeom prst="rect">
            <a:avLst/>
          </a:prstGeom>
          <a:solidFill>
            <a:srgbClr val="0000FF">
              <a:alpha val="12000"/>
            </a:srgbClr>
          </a:solidFill>
        </p:spPr>
      </p:pic>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2177" y="2638965"/>
            <a:ext cx="1067657" cy="1067657"/>
          </a:xfrm>
          <a:prstGeom prst="rect">
            <a:avLst/>
          </a:prstGeom>
          <a:solidFill>
            <a:srgbClr val="0000FF">
              <a:alpha val="12000"/>
            </a:srgbClr>
          </a:solidFill>
        </p:spPr>
      </p:pic>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40483" y="2975477"/>
            <a:ext cx="1067657" cy="1067657"/>
          </a:xfrm>
          <a:prstGeom prst="rect">
            <a:avLst/>
          </a:prstGeom>
          <a:solidFill>
            <a:srgbClr val="0000FF">
              <a:alpha val="12000"/>
            </a:srgbClr>
          </a:solidFill>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3282" y="2975477"/>
            <a:ext cx="1067657" cy="1067657"/>
          </a:xfrm>
          <a:prstGeom prst="rect">
            <a:avLst/>
          </a:prstGeom>
          <a:solidFill>
            <a:srgbClr val="0000FF">
              <a:alpha val="12000"/>
            </a:srgbClr>
          </a:solidFill>
        </p:spPr>
      </p:pic>
      <p:pic>
        <p:nvPicPr>
          <p:cNvPr id="35" name="Picture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2177" y="2975477"/>
            <a:ext cx="1067657" cy="1067657"/>
          </a:xfrm>
          <a:prstGeom prst="rect">
            <a:avLst/>
          </a:prstGeom>
          <a:solidFill>
            <a:srgbClr val="0000FF">
              <a:alpha val="12000"/>
            </a:srgbClr>
          </a:solidFill>
        </p:spPr>
      </p:pic>
      <p:pic>
        <p:nvPicPr>
          <p:cNvPr id="37" name="Picture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40483" y="3317343"/>
            <a:ext cx="1067657" cy="1067657"/>
          </a:xfrm>
          <a:prstGeom prst="rect">
            <a:avLst/>
          </a:prstGeom>
          <a:solidFill>
            <a:srgbClr val="0000FF">
              <a:alpha val="12000"/>
            </a:srgbClr>
          </a:solidFill>
        </p:spPr>
      </p:pic>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3282" y="3317343"/>
            <a:ext cx="1067657" cy="1067657"/>
          </a:xfrm>
          <a:prstGeom prst="rect">
            <a:avLst/>
          </a:prstGeom>
          <a:solidFill>
            <a:srgbClr val="0000FF">
              <a:alpha val="12000"/>
            </a:srgbClr>
          </a:solidFill>
        </p:spPr>
      </p:pic>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740" y="3679614"/>
            <a:ext cx="353148" cy="353148"/>
          </a:xfrm>
          <a:prstGeom prst="rect">
            <a:avLst/>
          </a:prstGeom>
          <a:solidFill>
            <a:srgbClr val="0000FF">
              <a:alpha val="12000"/>
            </a:srgbClr>
          </a:solidFill>
        </p:spPr>
      </p:pic>
      <p:pic>
        <p:nvPicPr>
          <p:cNvPr id="41" name="Picture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23539" y="3317343"/>
            <a:ext cx="1067657" cy="1067657"/>
          </a:xfrm>
          <a:prstGeom prst="rect">
            <a:avLst/>
          </a:prstGeom>
          <a:solidFill>
            <a:srgbClr val="0000FF">
              <a:alpha val="12000"/>
            </a:srgbClr>
          </a:solidFill>
        </p:spPr>
      </p:pic>
      <p:pic>
        <p:nvPicPr>
          <p:cNvPr id="45" name="Picture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30009" y="3334810"/>
            <a:ext cx="353148" cy="353148"/>
          </a:xfrm>
          <a:prstGeom prst="rect">
            <a:avLst/>
          </a:prstGeom>
          <a:solidFill>
            <a:srgbClr val="0000FF">
              <a:alpha val="12000"/>
            </a:srgbClr>
          </a:solidFill>
        </p:spPr>
      </p:pic>
      <p:cxnSp>
        <p:nvCxnSpPr>
          <p:cNvPr id="47" name="Straight Arrow Connector 46"/>
          <p:cNvCxnSpPr/>
          <p:nvPr/>
        </p:nvCxnSpPr>
        <p:spPr>
          <a:xfrm>
            <a:off x="8678263" y="2256456"/>
            <a:ext cx="1024758" cy="10608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875212" y="1832336"/>
            <a:ext cx="6444906" cy="400110"/>
          </a:xfrm>
          <a:prstGeom prst="rect">
            <a:avLst/>
          </a:prstGeom>
          <a:noFill/>
        </p:spPr>
        <p:txBody>
          <a:bodyPr wrap="none" rtlCol="0">
            <a:spAutoFit/>
          </a:bodyPr>
          <a:lstStyle/>
          <a:p>
            <a:r>
              <a:rPr lang="en-US" sz="2000" dirty="0" smtClean="0">
                <a:solidFill>
                  <a:srgbClr val="FF0000"/>
                </a:solidFill>
              </a:rPr>
              <a:t>Each square </a:t>
            </a:r>
            <a:r>
              <a:rPr lang="en-US" sz="2000" smtClean="0">
                <a:solidFill>
                  <a:srgbClr val="FF0000"/>
                </a:solidFill>
              </a:rPr>
              <a:t>in Layer 3 “sees</a:t>
            </a:r>
            <a:r>
              <a:rPr lang="en-US" sz="2000" dirty="0" smtClean="0">
                <a:solidFill>
                  <a:srgbClr val="FF0000"/>
                </a:solidFill>
              </a:rPr>
              <a:t>” a 5x5 grid from Layer 1</a:t>
            </a:r>
            <a:endParaRPr lang="en-US" sz="2000" dirty="0">
              <a:solidFill>
                <a:srgbClr val="FF0000"/>
              </a:solidFill>
            </a:endParaRPr>
          </a:p>
        </p:txBody>
      </p:sp>
    </p:spTree>
    <p:extLst>
      <p:ext uri="{BB962C8B-B14F-4D97-AF65-F5344CB8AC3E}">
        <p14:creationId xmlns:p14="http://schemas.microsoft.com/office/powerpoint/2010/main" val="961183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Receptive Field</a:t>
            </a:r>
            <a:endParaRPr lang="en-US" dirty="0"/>
          </a:p>
        </p:txBody>
      </p:sp>
      <p:sp>
        <p:nvSpPr>
          <p:cNvPr id="3" name="Content Placeholder 2"/>
          <p:cNvSpPr>
            <a:spLocks noGrp="1"/>
          </p:cNvSpPr>
          <p:nvPr>
            <p:ph idx="1"/>
          </p:nvPr>
        </p:nvSpPr>
        <p:spPr>
          <a:xfrm>
            <a:off x="1593436" y="1600200"/>
            <a:ext cx="9782801" cy="1828800"/>
          </a:xfrm>
        </p:spPr>
        <p:txBody>
          <a:bodyPr>
            <a:normAutofit/>
          </a:bodyPr>
          <a:lstStyle/>
          <a:p>
            <a:r>
              <a:rPr lang="en-US" dirty="0" smtClean="0"/>
              <a:t>Two 3x3, stride 1 convolutions in a row </a:t>
            </a:r>
            <a:r>
              <a:rPr lang="en-US" dirty="0" smtClean="0">
                <a:sym typeface="Wingdings"/>
              </a:rPr>
              <a:t>is effectively </a:t>
            </a:r>
            <a:r>
              <a:rPr lang="en-US" dirty="0">
                <a:sym typeface="Wingdings"/>
              </a:rPr>
              <a:t>a</a:t>
            </a:r>
            <a:r>
              <a:rPr lang="en-US" dirty="0" smtClean="0">
                <a:sym typeface="Wingdings"/>
              </a:rPr>
              <a:t> 5x5</a:t>
            </a:r>
          </a:p>
          <a:p>
            <a:r>
              <a:rPr lang="en-US" dirty="0" smtClean="0">
                <a:sym typeface="Wingdings"/>
              </a:rPr>
              <a:t>Three 3x3 convolutions is effectively a 7x7 convolution</a:t>
            </a:r>
          </a:p>
          <a:p>
            <a:r>
              <a:rPr lang="en-US" dirty="0" smtClean="0"/>
              <a:t>Benefit: fewer parameters!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208212" y="4003357"/>
                <a:ext cx="328994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rPr>
                        <m:t>3×3×</m:t>
                      </m:r>
                      <m:r>
                        <a:rPr lang="en-US" sz="3200" b="0" i="1" smtClean="0">
                          <a:latin typeface="Cambria Math" charset="0"/>
                        </a:rPr>
                        <m:t>𝐶</m:t>
                      </m:r>
                      <m:r>
                        <a:rPr lang="en-US" sz="3200" b="0" i="1" smtClean="0">
                          <a:latin typeface="Cambria Math" charset="0"/>
                        </a:rPr>
                        <m:t>×</m:t>
                      </m:r>
                      <m:r>
                        <a:rPr lang="en-US" sz="3200" b="0" i="1" smtClean="0">
                          <a:latin typeface="Cambria Math" charset="0"/>
                        </a:rPr>
                        <m:t>𝐶</m:t>
                      </m:r>
                      <m:r>
                        <a:rPr lang="en-US" sz="3200" b="0" i="1" smtClean="0">
                          <a:latin typeface="Cambria Math" charset="0"/>
                        </a:rPr>
                        <m:t>=9</m:t>
                      </m:r>
                      <m:sSup>
                        <m:sSupPr>
                          <m:ctrlPr>
                            <a:rPr lang="en-US" sz="3200" b="0" i="1" smtClean="0">
                              <a:latin typeface="Cambria Math" panose="02040503050406030204" pitchFamily="18" charset="0"/>
                            </a:rPr>
                          </m:ctrlPr>
                        </m:sSupPr>
                        <m:e>
                          <m:r>
                            <a:rPr lang="en-US" sz="3200" b="0" i="1" smtClean="0">
                              <a:latin typeface="Cambria Math" charset="0"/>
                            </a:rPr>
                            <m:t>𝐶</m:t>
                          </m:r>
                        </m:e>
                        <m:sup>
                          <m:r>
                            <a:rPr lang="en-US" sz="3200" b="0" i="1" smtClean="0">
                              <a:latin typeface="Cambria Math" charset="0"/>
                            </a:rPr>
                            <m:t>2</m:t>
                          </m:r>
                        </m:sup>
                      </m:sSup>
                    </m:oMath>
                  </m:oMathPara>
                </a14:m>
                <a:endParaRPr lang="en-US" sz="3200" dirty="0"/>
              </a:p>
            </p:txBody>
          </p:sp>
        </mc:Choice>
        <mc:Fallback xmlns="">
          <p:sp>
            <p:nvSpPr>
              <p:cNvPr id="4" name="TextBox 3"/>
              <p:cNvSpPr txBox="1">
                <a:spLocks noRot="1" noChangeAspect="1" noMove="1" noResize="1" noEditPoints="1" noAdjustHandles="1" noChangeArrowheads="1" noChangeShapeType="1" noTextEdit="1"/>
              </p:cNvSpPr>
              <p:nvPr/>
            </p:nvSpPr>
            <p:spPr>
              <a:xfrm>
                <a:off x="2208212" y="4003357"/>
                <a:ext cx="3289940" cy="492443"/>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856412" y="4003357"/>
                <a:ext cx="351756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charset="0"/>
                        </a:rPr>
                        <m:t>7</m:t>
                      </m:r>
                      <m:r>
                        <a:rPr lang="en-US" sz="3200" b="0" i="1" smtClean="0">
                          <a:latin typeface="Cambria Math" charset="0"/>
                        </a:rPr>
                        <m:t>×7×</m:t>
                      </m:r>
                      <m:r>
                        <a:rPr lang="en-US" sz="3200" b="0" i="1" smtClean="0">
                          <a:latin typeface="Cambria Math" charset="0"/>
                        </a:rPr>
                        <m:t>𝐶</m:t>
                      </m:r>
                      <m:r>
                        <a:rPr lang="en-US" sz="3200" b="0" i="1" smtClean="0">
                          <a:latin typeface="Cambria Math" charset="0"/>
                        </a:rPr>
                        <m:t>×</m:t>
                      </m:r>
                      <m:r>
                        <a:rPr lang="en-US" sz="3200" b="0" i="1" smtClean="0">
                          <a:latin typeface="Cambria Math" charset="0"/>
                        </a:rPr>
                        <m:t>𝐶</m:t>
                      </m:r>
                      <m:r>
                        <a:rPr lang="en-US" sz="3200" b="0" i="1" smtClean="0">
                          <a:latin typeface="Cambria Math" charset="0"/>
                        </a:rPr>
                        <m:t>=49</m:t>
                      </m:r>
                      <m:sSup>
                        <m:sSupPr>
                          <m:ctrlPr>
                            <a:rPr lang="en-US" sz="3200" b="0" i="1" smtClean="0">
                              <a:latin typeface="Cambria Math" panose="02040503050406030204" pitchFamily="18" charset="0"/>
                            </a:rPr>
                          </m:ctrlPr>
                        </m:sSupPr>
                        <m:e>
                          <m:r>
                            <a:rPr lang="en-US" sz="3200" b="0" i="1" smtClean="0">
                              <a:latin typeface="Cambria Math" charset="0"/>
                            </a:rPr>
                            <m:t>𝐶</m:t>
                          </m:r>
                        </m:e>
                        <m:sup>
                          <m:r>
                            <a:rPr lang="en-US" sz="3200" b="0" i="1" smtClean="0">
                              <a:latin typeface="Cambria Math" charset="0"/>
                            </a:rPr>
                            <m:t>2</m:t>
                          </m:r>
                        </m:sup>
                      </m:sSup>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6856412" y="4003357"/>
                <a:ext cx="3517565" cy="492443"/>
              </a:xfrm>
              <a:prstGeom prst="rect">
                <a:avLst/>
              </a:prstGeom>
              <a:blipFill rotWithShape="0">
                <a:blip r:embed="rId3"/>
                <a:stretch>
                  <a:fillRect/>
                </a:stretch>
              </a:blipFill>
            </p:spPr>
            <p:txBody>
              <a:bodyPr/>
              <a:lstStyle/>
              <a:p>
                <a:r>
                  <a:rPr lang="en-US">
                    <a:noFill/>
                  </a:rPr>
                  <a:t> </a:t>
                </a:r>
              </a:p>
            </p:txBody>
          </p:sp>
        </mc:Fallback>
      </mc:AlternateContent>
      <p:sp>
        <p:nvSpPr>
          <p:cNvPr id="6" name="TextBox 5"/>
          <p:cNvSpPr txBox="1"/>
          <p:nvPr/>
        </p:nvSpPr>
        <p:spPr>
          <a:xfrm>
            <a:off x="2741612" y="3541692"/>
            <a:ext cx="2152962" cy="461665"/>
          </a:xfrm>
          <a:prstGeom prst="rect">
            <a:avLst/>
          </a:prstGeom>
          <a:noFill/>
        </p:spPr>
        <p:txBody>
          <a:bodyPr wrap="none" rtlCol="0">
            <a:spAutoFit/>
          </a:bodyPr>
          <a:lstStyle/>
          <a:p>
            <a:r>
              <a:rPr lang="en-US" sz="2400" dirty="0" smtClean="0"/>
              <a:t>One 3x3 layer</a:t>
            </a:r>
            <a:endParaRPr lang="en-US" sz="2400" dirty="0"/>
          </a:p>
        </p:txBody>
      </p:sp>
      <p:sp>
        <p:nvSpPr>
          <p:cNvPr id="7" name="TextBox 6"/>
          <p:cNvSpPr txBox="1"/>
          <p:nvPr/>
        </p:nvSpPr>
        <p:spPr>
          <a:xfrm>
            <a:off x="7538713" y="3541692"/>
            <a:ext cx="2152962" cy="461665"/>
          </a:xfrm>
          <a:prstGeom prst="rect">
            <a:avLst/>
          </a:prstGeom>
          <a:noFill/>
        </p:spPr>
        <p:txBody>
          <a:bodyPr wrap="none" rtlCol="0">
            <a:spAutoFit/>
          </a:bodyPr>
          <a:lstStyle/>
          <a:p>
            <a:r>
              <a:rPr lang="en-US" sz="2400" dirty="0" smtClean="0"/>
              <a:t>One 7x7 layer</a:t>
            </a:r>
            <a:endParaRPr lang="en-US" sz="2400" dirty="0"/>
          </a:p>
        </p:txBody>
      </p:sp>
      <mc:AlternateContent xmlns:mc="http://schemas.openxmlformats.org/markup-compatibility/2006" xmlns:a14="http://schemas.microsoft.com/office/drawing/2010/main">
        <mc:Choice Requires="a14">
          <p:sp>
            <p:nvSpPr>
              <p:cNvPr id="8" name="TextBox 7"/>
              <p:cNvSpPr txBox="1"/>
              <p:nvPr/>
            </p:nvSpPr>
            <p:spPr>
              <a:xfrm>
                <a:off x="2208212" y="5298132"/>
                <a:ext cx="3203634"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rPr>
                        <m:t>3×(9</m:t>
                      </m:r>
                      <m:sSup>
                        <m:sSupPr>
                          <m:ctrlPr>
                            <a:rPr lang="en-US" sz="3200" b="0" i="1" smtClean="0">
                              <a:latin typeface="Cambria Math" panose="02040503050406030204" pitchFamily="18" charset="0"/>
                            </a:rPr>
                          </m:ctrlPr>
                        </m:sSupPr>
                        <m:e>
                          <m:r>
                            <a:rPr lang="en-US" sz="3200" b="0" i="1" smtClean="0">
                              <a:latin typeface="Cambria Math" charset="0"/>
                            </a:rPr>
                            <m:t>𝐶</m:t>
                          </m:r>
                        </m:e>
                        <m:sup>
                          <m:r>
                            <a:rPr lang="en-US" sz="3200" b="0" i="1" smtClean="0">
                              <a:latin typeface="Cambria Math" charset="0"/>
                            </a:rPr>
                            <m:t>2</m:t>
                          </m:r>
                        </m:sup>
                      </m:sSup>
                      <m:r>
                        <a:rPr lang="en-US" sz="3200" b="0" i="1" smtClean="0">
                          <a:latin typeface="Cambria Math" charset="0"/>
                        </a:rPr>
                        <m:t>)=27</m:t>
                      </m:r>
                      <m:sSup>
                        <m:sSupPr>
                          <m:ctrlPr>
                            <a:rPr lang="en-US" sz="3200" b="0" i="1" smtClean="0">
                              <a:latin typeface="Cambria Math" panose="02040503050406030204" pitchFamily="18" charset="0"/>
                            </a:rPr>
                          </m:ctrlPr>
                        </m:sSupPr>
                        <m:e>
                          <m:r>
                            <a:rPr lang="en-US" sz="3200" b="0" i="1" smtClean="0">
                              <a:latin typeface="Cambria Math" charset="0"/>
                            </a:rPr>
                            <m:t>𝐶</m:t>
                          </m:r>
                        </m:e>
                        <m:sup>
                          <m:r>
                            <a:rPr lang="en-US" sz="3200" b="0" i="1" smtClean="0">
                              <a:latin typeface="Cambria Math" charset="0"/>
                            </a:rPr>
                            <m:t>2</m:t>
                          </m:r>
                        </m:sup>
                      </m:sSup>
                    </m:oMath>
                  </m:oMathPara>
                </a14:m>
                <a:endParaRPr lang="en-US"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2208212" y="5298132"/>
                <a:ext cx="3203634" cy="492443"/>
              </a:xfrm>
              <a:prstGeom prst="rect">
                <a:avLst/>
              </a:prstGeom>
              <a:blipFill rotWithShape="0">
                <a:blip r:embed="rId4"/>
                <a:stretch>
                  <a:fillRect/>
                </a:stretch>
              </a:blipFill>
            </p:spPr>
            <p:txBody>
              <a:bodyPr/>
              <a:lstStyle/>
              <a:p>
                <a:r>
                  <a:rPr lang="en-US">
                    <a:noFill/>
                  </a:rPr>
                  <a:t> </a:t>
                </a:r>
              </a:p>
            </p:txBody>
          </p:sp>
        </mc:Fallback>
      </mc:AlternateContent>
      <p:sp>
        <p:nvSpPr>
          <p:cNvPr id="9" name="TextBox 8"/>
          <p:cNvSpPr txBox="1"/>
          <p:nvPr/>
        </p:nvSpPr>
        <p:spPr>
          <a:xfrm>
            <a:off x="2391966" y="4836467"/>
            <a:ext cx="2502608" cy="461665"/>
          </a:xfrm>
          <a:prstGeom prst="rect">
            <a:avLst/>
          </a:prstGeom>
          <a:noFill/>
        </p:spPr>
        <p:txBody>
          <a:bodyPr wrap="none" rtlCol="0">
            <a:spAutoFit/>
          </a:bodyPr>
          <a:lstStyle/>
          <a:p>
            <a:r>
              <a:rPr lang="en-US" sz="2400" dirty="0" smtClean="0"/>
              <a:t>Three 3x3 layers</a:t>
            </a:r>
            <a:endParaRPr lang="en-US" sz="2400" dirty="0"/>
          </a:p>
        </p:txBody>
      </p:sp>
      <p:sp>
        <p:nvSpPr>
          <p:cNvPr id="10" name="Rectangle 9"/>
          <p:cNvSpPr/>
          <p:nvPr/>
        </p:nvSpPr>
        <p:spPr>
          <a:xfrm>
            <a:off x="4121377" y="6324600"/>
            <a:ext cx="3725635" cy="369332"/>
          </a:xfrm>
          <a:prstGeom prst="rect">
            <a:avLst/>
          </a:prstGeom>
        </p:spPr>
        <p:txBody>
          <a:bodyPr wrap="none">
            <a:spAutoFit/>
          </a:bodyPr>
          <a:lstStyle/>
          <a:p>
            <a:r>
              <a:rPr lang="en-US" dirty="0" smtClean="0"/>
              <a:t>assume </a:t>
            </a:r>
            <a:r>
              <a:rPr lang="en-US" dirty="0"/>
              <a:t>C input/output channels</a:t>
            </a:r>
          </a:p>
        </p:txBody>
      </p:sp>
      <mc:AlternateContent xmlns:mc="http://schemas.openxmlformats.org/markup-compatibility/2006" xmlns:a14="http://schemas.microsoft.com/office/drawing/2010/main">
        <mc:Choice Requires="a14">
          <p:sp>
            <p:nvSpPr>
              <p:cNvPr id="11" name="Rectangle 10"/>
              <p:cNvSpPr/>
              <p:nvPr/>
            </p:nvSpPr>
            <p:spPr>
              <a:xfrm>
                <a:off x="5984194" y="5118268"/>
                <a:ext cx="5970609" cy="523220"/>
              </a:xfrm>
              <a:prstGeom prst="rect">
                <a:avLst/>
              </a:prstGeom>
            </p:spPr>
            <p:txBody>
              <a:bodyPr wrap="none">
                <a:spAutoFit/>
              </a:bodyPr>
              <a:lstStyle/>
              <a:p>
                <a14:m>
                  <m:oMath xmlns:m="http://schemas.openxmlformats.org/officeDocument/2006/math">
                    <m:r>
                      <a:rPr lang="en-US" sz="2800" i="1" smtClean="0">
                        <a:latin typeface="Cambria Math" charset="0"/>
                      </a:rPr>
                      <m:t>49</m:t>
                    </m:r>
                    <m:sSup>
                      <m:sSupPr>
                        <m:ctrlPr>
                          <a:rPr lang="en-US" sz="2800" i="1">
                            <a:latin typeface="Cambria Math" panose="02040503050406030204" pitchFamily="18" charset="0"/>
                          </a:rPr>
                        </m:ctrlPr>
                      </m:sSupPr>
                      <m:e>
                        <m:r>
                          <a:rPr lang="en-US" sz="2800" i="1">
                            <a:latin typeface="Cambria Math" charset="0"/>
                          </a:rPr>
                          <m:t>𝐶</m:t>
                        </m:r>
                      </m:e>
                      <m:sup>
                        <m:r>
                          <a:rPr lang="en-US" sz="2800" i="1">
                            <a:latin typeface="Cambria Math" charset="0"/>
                          </a:rPr>
                          <m:t>2</m:t>
                        </m:r>
                      </m:sup>
                    </m:sSup>
                  </m:oMath>
                </a14:m>
                <a:r>
                  <a:rPr lang="en-US" sz="2800" dirty="0" smtClean="0">
                    <a:sym typeface="Wingdings"/>
                  </a:rPr>
                  <a:t>  </a:t>
                </a:r>
                <a14:m>
                  <m:oMath xmlns:m="http://schemas.openxmlformats.org/officeDocument/2006/math">
                    <m:r>
                      <a:rPr lang="en-US" sz="2800" i="1">
                        <a:latin typeface="Cambria Math" charset="0"/>
                      </a:rPr>
                      <m:t>27</m:t>
                    </m:r>
                    <m:sSup>
                      <m:sSupPr>
                        <m:ctrlPr>
                          <a:rPr lang="en-US" sz="2800" i="1">
                            <a:latin typeface="Cambria Math" panose="02040503050406030204" pitchFamily="18" charset="0"/>
                          </a:rPr>
                        </m:ctrlPr>
                      </m:sSupPr>
                      <m:e>
                        <m:r>
                          <a:rPr lang="en-US" sz="2800" i="1">
                            <a:latin typeface="Cambria Math" charset="0"/>
                          </a:rPr>
                          <m:t>𝐶</m:t>
                        </m:r>
                      </m:e>
                      <m:sup>
                        <m:r>
                          <a:rPr lang="en-US" sz="2800" i="1">
                            <a:latin typeface="Cambria Math" charset="0"/>
                          </a:rPr>
                          <m:t>2</m:t>
                        </m:r>
                      </m:sup>
                    </m:sSup>
                  </m:oMath>
                </a14:m>
                <a:r>
                  <a:rPr lang="en-US" sz="2800" dirty="0" smtClean="0"/>
                  <a:t> </a:t>
                </a:r>
                <a:r>
                  <a:rPr lang="en-US" sz="2800" dirty="0" smtClean="0">
                    <a:sym typeface="Wingdings"/>
                  </a:rPr>
                  <a:t> </a:t>
                </a:r>
                <a14:m>
                  <m:oMath xmlns:m="http://schemas.openxmlformats.org/officeDocument/2006/math">
                    <m:r>
                      <a:rPr lang="en-US" sz="2800" i="1" smtClean="0">
                        <a:latin typeface="Cambria Math" charset="0"/>
                        <a:ea typeface="Cambria Math" charset="0"/>
                        <a:cs typeface="Cambria Math" charset="0"/>
                        <a:sym typeface="Wingdings"/>
                      </a:rPr>
                      <m:t>≈</m:t>
                    </m:r>
                  </m:oMath>
                </a14:m>
                <a:r>
                  <a:rPr lang="en-US" sz="2800" dirty="0" smtClean="0">
                    <a:sym typeface="Wingdings"/>
                  </a:rPr>
                  <a:t>45% reduction!</a:t>
                </a:r>
                <a:endParaRPr lang="en-US" sz="2800" dirty="0"/>
              </a:p>
            </p:txBody>
          </p:sp>
        </mc:Choice>
        <mc:Fallback xmlns="">
          <p:sp>
            <p:nvSpPr>
              <p:cNvPr id="11" name="Rectangle 10"/>
              <p:cNvSpPr>
                <a:spLocks noRot="1" noChangeAspect="1" noMove="1" noResize="1" noEditPoints="1" noAdjustHandles="1" noChangeArrowheads="1" noChangeShapeType="1" noTextEdit="1"/>
              </p:cNvSpPr>
              <p:nvPr/>
            </p:nvSpPr>
            <p:spPr>
              <a:xfrm>
                <a:off x="5984194" y="5118268"/>
                <a:ext cx="5970609" cy="523220"/>
              </a:xfrm>
              <a:prstGeom prst="rect">
                <a:avLst/>
              </a:prstGeom>
              <a:blipFill rotWithShape="0">
                <a:blip r:embed="rId5"/>
                <a:stretch>
                  <a:fillRect t="-14118" r="-919" b="-32941"/>
                </a:stretch>
              </a:blipFill>
            </p:spPr>
            <p:txBody>
              <a:bodyPr/>
              <a:lstStyle/>
              <a:p>
                <a:r>
                  <a:rPr lang="en-US">
                    <a:noFill/>
                  </a:rPr>
                  <a:t> </a:t>
                </a:r>
              </a:p>
            </p:txBody>
          </p:sp>
        </mc:Fallback>
      </mc:AlternateContent>
    </p:spTree>
    <p:extLst>
      <p:ext uri="{BB962C8B-B14F-4D97-AF65-F5344CB8AC3E}">
        <p14:creationId xmlns:p14="http://schemas.microsoft.com/office/powerpoint/2010/main" val="1241243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Ramifications of </a:t>
            </a:r>
            <a:r>
              <a:rPr lang="en-US" dirty="0" err="1" smtClean="0"/>
              <a:t>VGGNet</a:t>
            </a:r>
            <a:endParaRPr lang="en-US" dirty="0"/>
          </a:p>
        </p:txBody>
      </p:sp>
      <p:sp>
        <p:nvSpPr>
          <p:cNvPr id="3" name="Content Placeholder 2"/>
          <p:cNvSpPr>
            <a:spLocks noGrp="1"/>
          </p:cNvSpPr>
          <p:nvPr>
            <p:ph idx="1"/>
          </p:nvPr>
        </p:nvSpPr>
        <p:spPr/>
        <p:txBody>
          <a:bodyPr/>
          <a:lstStyle/>
          <a:p>
            <a:r>
              <a:rPr lang="en-US" dirty="0" smtClean="0"/>
              <a:t>One of the first papers to experiment with many layers</a:t>
            </a:r>
          </a:p>
          <a:p>
            <a:pPr lvl="1"/>
            <a:r>
              <a:rPr lang="en-US" dirty="0" smtClean="0"/>
              <a:t>More is better!</a:t>
            </a:r>
          </a:p>
          <a:p>
            <a:endParaRPr lang="en-US" dirty="0" smtClean="0"/>
          </a:p>
          <a:p>
            <a:r>
              <a:rPr lang="en-US" dirty="0" smtClean="0"/>
              <a:t>Can use multiple 3x3 convolutions to simulate larger kernels with fewer parameters</a:t>
            </a:r>
          </a:p>
          <a:p>
            <a:endParaRPr lang="en-US" dirty="0"/>
          </a:p>
          <a:p>
            <a:r>
              <a:rPr lang="en-US" dirty="0" smtClean="0"/>
              <a:t>Served as ”base model” for future works</a:t>
            </a:r>
            <a:endParaRPr lang="en-US" dirty="0"/>
          </a:p>
        </p:txBody>
      </p:sp>
    </p:spTree>
    <p:extLst>
      <p:ext uri="{BB962C8B-B14F-4D97-AF65-F5344CB8AC3E}">
        <p14:creationId xmlns:p14="http://schemas.microsoft.com/office/powerpoint/2010/main" val="915996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1516</Words>
  <Application>Microsoft Office PowerPoint</Application>
  <PresentationFormat>Custom</PresentationFormat>
  <Paragraphs>280</Paragraphs>
  <Slides>43</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Cambria Math</vt:lpstr>
      <vt:lpstr>Consolas</vt:lpstr>
      <vt:lpstr>Euphemia</vt:lpstr>
      <vt:lpstr>Intel Clear</vt:lpstr>
      <vt:lpstr>Intel Clear Light</vt:lpstr>
      <vt:lpstr>Intel Clear Pro</vt:lpstr>
      <vt:lpstr>Lucida Grande</vt:lpstr>
      <vt:lpstr>Neo Sans Intel</vt:lpstr>
      <vt:lpstr>Wingdings</vt:lpstr>
      <vt:lpstr>IS_PPT Template_ClearPro_16x9_051915</vt:lpstr>
      <vt:lpstr>Transfer Learning</vt:lpstr>
      <vt:lpstr>Legal Notices and Disclaimers</vt:lpstr>
      <vt:lpstr>Transfer Learning</vt:lpstr>
      <vt:lpstr>Training huge models is a bottleneck</vt:lpstr>
      <vt:lpstr>Transfer Learning</vt:lpstr>
      <vt:lpstr>Our general CNN template</vt:lpstr>
      <vt:lpstr>What if the most decision-making for classification comes at final layer?</vt:lpstr>
      <vt:lpstr>We could simply use the rest of the network as is and learn weights for a new final layer</vt:lpstr>
      <vt:lpstr>We only train weights for the last layer</vt:lpstr>
      <vt:lpstr>This technique is called transfer learning</vt:lpstr>
      <vt:lpstr>Transfer Learning in TensorFlow (classification)</vt:lpstr>
      <vt:lpstr>Accessing Ops and Tensors</vt:lpstr>
      <vt:lpstr>Accessing arbitrary Operations/Tensors</vt:lpstr>
      <vt:lpstr>Accessing arbitrary Operations/Tensors</vt:lpstr>
      <vt:lpstr>Op names</vt:lpstr>
      <vt:lpstr>Tensor names</vt:lpstr>
      <vt:lpstr>Batch Normalization</vt:lpstr>
      <vt:lpstr>Internal Covariate Shift</vt:lpstr>
      <vt:lpstr>Batch Normalization</vt:lpstr>
      <vt:lpstr>Batch norm: training vs final</vt:lpstr>
      <vt:lpstr>Implementation Note</vt:lpstr>
      <vt:lpstr>Batch Normalization in TensorFlow</vt:lpstr>
      <vt:lpstr>Batch Normalization in TensorFlow</vt:lpstr>
      <vt:lpstr>Results of Batch Normalization</vt:lpstr>
      <vt:lpstr>Deeper Networks and Receptive Field</vt:lpstr>
      <vt:lpstr>VGG Net</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Receptive Field</vt:lpstr>
      <vt:lpstr>Ramifications of VGGNet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2018-01-26T01:18:23Z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282284e3-600b-40b1-9094-f7a895d371a5</vt:lpwstr>
  </property>
  <property fmtid="{D5CDD505-2E9C-101B-9397-08002B2CF9AE}" pid="4" name="CTP_TimeStamp">
    <vt:lpwstr>2018-01-26 01:18:21Z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
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65"/>
  </p:notesMasterIdLst>
  <p:handoutMasterIdLst>
    <p:handoutMasterId r:id="rId66"/>
  </p:handoutMasterIdLst>
  <p:sldIdLst>
    <p:sldId id="256" r:id="rId3"/>
    <p:sldId id="325" r:id="rId4"/>
    <p:sldId id="311" r:id="rId5"/>
    <p:sldId id="317" r:id="rId6"/>
    <p:sldId id="318" r:id="rId7"/>
    <p:sldId id="319" r:id="rId8"/>
    <p:sldId id="320" r:id="rId9"/>
    <p:sldId id="321" r:id="rId10"/>
    <p:sldId id="322" r:id="rId11"/>
    <p:sldId id="323" r:id="rId12"/>
    <p:sldId id="324" r:id="rId13"/>
    <p:sldId id="312" r:id="rId14"/>
    <p:sldId id="313" r:id="rId15"/>
    <p:sldId id="314" r:id="rId16"/>
    <p:sldId id="315" r:id="rId17"/>
    <p:sldId id="275" r:id="rId18"/>
    <p:sldId id="276" r:id="rId19"/>
    <p:sldId id="277" r:id="rId20"/>
    <p:sldId id="278" r:id="rId21"/>
    <p:sldId id="257" r:id="rId22"/>
    <p:sldId id="262" r:id="rId23"/>
    <p:sldId id="263" r:id="rId24"/>
    <p:sldId id="264" r:id="rId25"/>
    <p:sldId id="258" r:id="rId26"/>
    <p:sldId id="265" r:id="rId27"/>
    <p:sldId id="266" r:id="rId28"/>
    <p:sldId id="267" r:id="rId29"/>
    <p:sldId id="268" r:id="rId30"/>
    <p:sldId id="269" r:id="rId31"/>
    <p:sldId id="270" r:id="rId32"/>
    <p:sldId id="271" r:id="rId33"/>
    <p:sldId id="272" r:id="rId34"/>
    <p:sldId id="273" r:id="rId35"/>
    <p:sldId id="274" r:id="rId36"/>
    <p:sldId id="282" r:id="rId37"/>
    <p:sldId id="283" r:id="rId38"/>
    <p:sldId id="284" r:id="rId39"/>
    <p:sldId id="285" r:id="rId40"/>
    <p:sldId id="286" r:id="rId41"/>
    <p:sldId id="287" r:id="rId42"/>
    <p:sldId id="260" r:id="rId43"/>
    <p:sldId id="289" r:id="rId44"/>
    <p:sldId id="288" r:id="rId45"/>
    <p:sldId id="292" r:id="rId46"/>
    <p:sldId id="293" r:id="rId47"/>
    <p:sldId id="294" r:id="rId48"/>
    <p:sldId id="295" r:id="rId49"/>
    <p:sldId id="296" r:id="rId50"/>
    <p:sldId id="298" r:id="rId51"/>
    <p:sldId id="299" r:id="rId52"/>
    <p:sldId id="300" r:id="rId53"/>
    <p:sldId id="303" r:id="rId54"/>
    <p:sldId id="297" r:id="rId55"/>
    <p:sldId id="306" r:id="rId56"/>
    <p:sldId id="301" r:id="rId57"/>
    <p:sldId id="307" r:id="rId58"/>
    <p:sldId id="302" r:id="rId59"/>
    <p:sldId id="304" r:id="rId60"/>
    <p:sldId id="305" r:id="rId61"/>
    <p:sldId id="308" r:id="rId62"/>
    <p:sldId id="309" r:id="rId63"/>
    <p:sldId id="310" r:id="rId6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6BD75B-9874-D546-ACD2-0A1567333584}">
          <p14:sldIdLst>
            <p14:sldId id="256"/>
            <p14:sldId id="325"/>
            <p14:sldId id="311"/>
            <p14:sldId id="317"/>
            <p14:sldId id="318"/>
            <p14:sldId id="319"/>
            <p14:sldId id="320"/>
            <p14:sldId id="321"/>
            <p14:sldId id="322"/>
            <p14:sldId id="323"/>
            <p14:sldId id="324"/>
            <p14:sldId id="312"/>
            <p14:sldId id="313"/>
            <p14:sldId id="314"/>
            <p14:sldId id="315"/>
            <p14:sldId id="275"/>
            <p14:sldId id="276"/>
            <p14:sldId id="277"/>
            <p14:sldId id="278"/>
            <p14:sldId id="257"/>
            <p14:sldId id="262"/>
            <p14:sldId id="263"/>
            <p14:sldId id="264"/>
            <p14:sldId id="258"/>
            <p14:sldId id="265"/>
            <p14:sldId id="266"/>
            <p14:sldId id="267"/>
            <p14:sldId id="268"/>
            <p14:sldId id="269"/>
            <p14:sldId id="270"/>
            <p14:sldId id="271"/>
            <p14:sldId id="272"/>
            <p14:sldId id="273"/>
            <p14:sldId id="274"/>
            <p14:sldId id="282"/>
            <p14:sldId id="283"/>
            <p14:sldId id="284"/>
            <p14:sldId id="285"/>
            <p14:sldId id="286"/>
            <p14:sldId id="287"/>
            <p14:sldId id="260"/>
            <p14:sldId id="289"/>
            <p14:sldId id="288"/>
            <p14:sldId id="292"/>
            <p14:sldId id="293"/>
            <p14:sldId id="294"/>
            <p14:sldId id="295"/>
            <p14:sldId id="296"/>
            <p14:sldId id="298"/>
            <p14:sldId id="299"/>
            <p14:sldId id="300"/>
            <p14:sldId id="303"/>
            <p14:sldId id="297"/>
            <p14:sldId id="306"/>
            <p14:sldId id="301"/>
            <p14:sldId id="307"/>
            <p14:sldId id="302"/>
            <p14:sldId id="304"/>
            <p14:sldId id="305"/>
            <p14:sldId id="308"/>
            <p14:sldId id="309"/>
            <p14:sldId id="310"/>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07" autoAdjust="0"/>
    <p:restoredTop sz="68902"/>
  </p:normalViewPr>
  <p:slideViewPr>
    <p:cSldViewPr showGuides="1">
      <p:cViewPr varScale="1">
        <p:scale>
          <a:sx n="87" d="100"/>
          <a:sy n="87" d="100"/>
        </p:scale>
        <p:origin x="1356" y="96"/>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are massively compressing</a:t>
            </a:r>
            <a:r>
              <a:rPr lang="en-US" baseline="0" dirty="0" smtClean="0"/>
              <a:t> this and just providing a bit of background.  We’ll use (TF’s </a:t>
            </a:r>
            <a:r>
              <a:rPr lang="en-US" baseline="0" dirty="0" err="1" smtClean="0"/>
              <a:t>builtin</a:t>
            </a:r>
            <a:r>
              <a:rPr lang="en-US" baseline="0" dirty="0" smtClean="0"/>
              <a:t> seq2seq) it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1602604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 is, we have both persistent state –and- data flow through us.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2138208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input to the next training/testing</a:t>
            </a:r>
            <a:r>
              <a:rPr lang="en-US" baseline="0" dirty="0" smtClean="0"/>
              <a:t> step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597856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Neuron</a:t>
            </a:r>
            <a:r>
              <a:rPr lang="en-US" baseline="0" dirty="0" smtClean="0"/>
              <a:t> is getting different inputs at t_1,2,3,4 </a:t>
            </a:r>
            <a:r>
              <a:rPr lang="is-IS" baseline="0" dirty="0" smtClean="0"/>
              <a:t>…. </a:t>
            </a:r>
            <a:r>
              <a:rPr lang="en-US" baseline="0" dirty="0" smtClean="0"/>
              <a:t>A</a:t>
            </a:r>
            <a:r>
              <a:rPr lang="is-IS" baseline="0" dirty="0" smtClean="0"/>
              <a:t>long with its own prior state from time t minus 1</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1458606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Sequences can</a:t>
            </a:r>
            <a:r>
              <a:rPr lang="en-US" baseline="0" dirty="0" smtClean="0"/>
              <a:t> be measure over time, sentences, stock prices, etc.</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09206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Classic prediction of a (suffix)</a:t>
            </a:r>
            <a:r>
              <a:rPr lang="en-US" baseline="0" dirty="0" smtClean="0"/>
              <a:t> sequence from a (prefix) sequence.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2107498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Show and tell is an image caption generator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1888974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Show and tell is an image caption generator,</a:t>
            </a:r>
            <a:r>
              <a:rPr lang="en-US" baseline="0" dirty="0" smtClean="0"/>
              <a:t> examples on next slide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Go from image (convolution network) </a:t>
            </a:r>
            <a:r>
              <a:rPr lang="en-US" dirty="0" smtClean="0">
                <a:sym typeface="Wingdings"/>
              </a:rPr>
              <a:t> encoded input </a:t>
            </a:r>
            <a:r>
              <a:rPr lang="is-IS" dirty="0" smtClean="0">
                <a:sym typeface="Wingdings"/>
              </a:rPr>
              <a:t>… then produce a sequence of words (caption)</a:t>
            </a:r>
            <a:endParaRPr lang="en-US" dirty="0" smtClean="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332934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a:t>
            </a:r>
            <a:r>
              <a:rPr lang="en-US" baseline="0" dirty="0" smtClean="0"/>
              <a:t> “raw” API. You can consider wrapping it in a nicer interface:  for example, something that raises </a:t>
            </a:r>
            <a:r>
              <a:rPr lang="en-US" baseline="0" dirty="0" err="1" smtClean="0"/>
              <a:t>StopIteration</a:t>
            </a:r>
            <a:r>
              <a:rPr lang="en-US" baseline="0" dirty="0" smtClean="0"/>
              <a:t> (and cleans up) when done </a:t>
            </a:r>
            <a:r>
              <a:rPr lang="is-IS" baseline="0" dirty="0" smtClean="0"/>
              <a:t>… so you could just use it like a for loop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40</a:t>
            </a:fld>
            <a:endParaRPr lang="en-US"/>
          </a:p>
        </p:txBody>
      </p:sp>
    </p:spTree>
    <p:extLst>
      <p:ext uri="{BB962C8B-B14F-4D97-AF65-F5344CB8AC3E}">
        <p14:creationId xmlns:p14="http://schemas.microsoft.com/office/powerpoint/2010/main" val="100728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 parallel is like “SIMD” with single instruction being a “single model”</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50</a:t>
            </a:fld>
            <a:endParaRPr lang="en-US"/>
          </a:p>
        </p:txBody>
      </p:sp>
    </p:spTree>
    <p:extLst>
      <p:ext uri="{BB962C8B-B14F-4D97-AF65-F5344CB8AC3E}">
        <p14:creationId xmlns:p14="http://schemas.microsoft.com/office/powerpoint/2010/main" val="5045304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8794574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45678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9.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9.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9.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9.xml"/><Relationship Id="rId5" Type="http://schemas.openxmlformats.org/officeDocument/2006/relationships/image" Target="../media/image56.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1411.4555.pdf" TargetMode="External"/><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Devices and </a:t>
            </a:r>
            <a:r>
              <a:rPr lang="en-US" dirty="0" err="1" smtClean="0"/>
              <a:t>TensorFlow</a:t>
            </a:r>
            <a:endParaRPr lang="en-US" dirty="0"/>
          </a:p>
        </p:txBody>
      </p:sp>
      <p:sp>
        <p:nvSpPr>
          <p:cNvPr id="4" name="Subtitle 3"/>
          <p:cNvSpPr>
            <a:spLocks noGrp="1"/>
          </p:cNvSpPr>
          <p:nvPr>
            <p:ph type="subTitle" idx="1"/>
          </p:nvPr>
        </p:nvSpPr>
        <p:spPr>
          <a:xfrm>
            <a:off x="2428668" y="4344915"/>
            <a:ext cx="8999744" cy="1116085"/>
          </a:xfrm>
        </p:spPr>
        <p:txBody>
          <a:bodyPr/>
          <a:lstStyle/>
          <a:p>
            <a:r>
              <a:rPr lang="en-US" i="1" dirty="0" smtClean="0"/>
              <a:t>Deep Learning with </a:t>
            </a:r>
            <a:r>
              <a:rPr lang="en-US" i="1" dirty="0" err="1" smtClean="0"/>
              <a:t>TensorFlow</a:t>
            </a:r>
            <a:r>
              <a:rPr lang="en-US" dirty="0"/>
              <a:t> </a:t>
            </a:r>
            <a:r>
              <a:rPr lang="en-US" dirty="0" smtClean="0"/>
              <a:t>Day </a:t>
            </a:r>
            <a:r>
              <a:rPr lang="en-US" dirty="0"/>
              <a:t>8</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2761106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411" y="1600201"/>
            <a:ext cx="10820399" cy="2654064"/>
          </a:xfrm>
        </p:spPr>
        <p:txBody>
          <a:bodyPr/>
          <a:lstStyle/>
          <a:p>
            <a:r>
              <a:rPr lang="en-US" dirty="0" smtClean="0"/>
              <a:t>RNNs and Seq2Seq (briefly)</a:t>
            </a:r>
            <a:endParaRPr lang="en-US" dirty="0"/>
          </a:p>
        </p:txBody>
      </p:sp>
    </p:spTree>
    <p:extLst>
      <p:ext uri="{BB962C8B-B14F-4D97-AF65-F5344CB8AC3E}">
        <p14:creationId xmlns:p14="http://schemas.microsoft.com/office/powerpoint/2010/main" val="400739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Modelling sequences of data</a:t>
            </a:r>
            <a:endParaRPr lang="en-US" dirty="0"/>
          </a:p>
        </p:txBody>
      </p:sp>
      <p:sp>
        <p:nvSpPr>
          <p:cNvPr id="3" name="Content Placeholder 2"/>
          <p:cNvSpPr>
            <a:spLocks noGrp="1"/>
          </p:cNvSpPr>
          <p:nvPr>
            <p:ph idx="1"/>
          </p:nvPr>
        </p:nvSpPr>
        <p:spPr>
          <a:xfrm>
            <a:off x="1370012" y="1600200"/>
            <a:ext cx="10006225" cy="4572000"/>
          </a:xfrm>
        </p:spPr>
        <p:txBody>
          <a:bodyPr/>
          <a:lstStyle/>
          <a:p>
            <a:pPr>
              <a:lnSpc>
                <a:spcPct val="150000"/>
              </a:lnSpc>
            </a:pPr>
            <a:r>
              <a:rPr lang="en-US" dirty="0" smtClean="0"/>
              <a:t>Thus far, our models required data be set to a specific size</a:t>
            </a:r>
          </a:p>
          <a:p>
            <a:pPr>
              <a:lnSpc>
                <a:spcPct val="150000"/>
              </a:lnSpc>
            </a:pPr>
            <a:r>
              <a:rPr lang="en-US" dirty="0" smtClean="0"/>
              <a:t>What if we want to be able to model text?</a:t>
            </a:r>
          </a:p>
          <a:p>
            <a:pPr>
              <a:lnSpc>
                <a:spcPct val="150000"/>
              </a:lnSpc>
            </a:pPr>
            <a:r>
              <a:rPr lang="en-US" dirty="0" smtClean="0"/>
              <a:t>Sentences can be of </a:t>
            </a:r>
            <a:r>
              <a:rPr lang="en-US" i="1" dirty="0" smtClean="0"/>
              <a:t>any </a:t>
            </a:r>
            <a:r>
              <a:rPr lang="en-US" dirty="0" smtClean="0"/>
              <a:t>length!</a:t>
            </a:r>
          </a:p>
          <a:p>
            <a:pPr>
              <a:lnSpc>
                <a:spcPct val="150000"/>
              </a:lnSpc>
            </a:pPr>
            <a:r>
              <a:rPr lang="en-US" dirty="0" smtClean="0"/>
              <a:t>What would our model look like?</a:t>
            </a:r>
          </a:p>
          <a:p>
            <a:pPr>
              <a:lnSpc>
                <a:spcPct val="150000"/>
              </a:lnSpc>
            </a:pPr>
            <a:endParaRPr lang="en-US" dirty="0"/>
          </a:p>
        </p:txBody>
      </p:sp>
    </p:spTree>
    <p:extLst>
      <p:ext uri="{BB962C8B-B14F-4D97-AF65-F5344CB8AC3E}">
        <p14:creationId xmlns:p14="http://schemas.microsoft.com/office/powerpoint/2010/main" val="609618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 Recurrence</a:t>
            </a:r>
            <a:endParaRPr lang="en-US" dirty="0"/>
          </a:p>
        </p:txBody>
      </p:sp>
      <p:sp>
        <p:nvSpPr>
          <p:cNvPr id="4" name="Oval 3"/>
          <p:cNvSpPr/>
          <p:nvPr/>
        </p:nvSpPr>
        <p:spPr>
          <a:xfrm>
            <a:off x="50276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ysClr val="windowText" lastClr="000000"/>
                </a:solidFill>
              </a:rPr>
              <a:t>STATE</a:t>
            </a:r>
            <a:endParaRPr lang="en-US" sz="4000" dirty="0">
              <a:solidFill>
                <a:sysClr val="windowText" lastClr="000000"/>
              </a:solidFill>
            </a:endParaRPr>
          </a:p>
        </p:txBody>
      </p:sp>
      <p:cxnSp>
        <p:nvCxnSpPr>
          <p:cNvPr id="6" name="Elbow Connector 5"/>
          <p:cNvCxnSpPr>
            <a:stCxn id="4" idx="2"/>
            <a:endCxn id="4" idx="6"/>
          </p:cNvCxnSpPr>
          <p:nvPr/>
        </p:nvCxnSpPr>
        <p:spPr>
          <a:xfrm rot="10800000" flipH="1">
            <a:off x="5027612" y="4343400"/>
            <a:ext cx="2438400" cy="12700"/>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4"/>
          </p:cNvCxnSpPr>
          <p:nvPr/>
        </p:nvCxnSpPr>
        <p:spPr>
          <a:xfrm flipV="1">
            <a:off x="62468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2468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2631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 Recurrence</a:t>
            </a:r>
            <a:endParaRPr lang="en-US" dirty="0"/>
          </a:p>
        </p:txBody>
      </p:sp>
      <p:sp>
        <p:nvSpPr>
          <p:cNvPr id="4" name="Oval 3"/>
          <p:cNvSpPr/>
          <p:nvPr/>
        </p:nvSpPr>
        <p:spPr>
          <a:xfrm>
            <a:off x="50276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ysClr val="windowText" lastClr="000000"/>
                </a:solidFill>
              </a:rPr>
              <a:t>STATE</a:t>
            </a:r>
            <a:endParaRPr lang="en-US" sz="4000" dirty="0">
              <a:solidFill>
                <a:sysClr val="windowText" lastClr="000000"/>
              </a:solidFill>
            </a:endParaRPr>
          </a:p>
        </p:txBody>
      </p:sp>
      <p:cxnSp>
        <p:nvCxnSpPr>
          <p:cNvPr id="6" name="Elbow Connector 5"/>
          <p:cNvCxnSpPr>
            <a:stCxn id="4" idx="2"/>
            <a:endCxn id="4" idx="6"/>
          </p:cNvCxnSpPr>
          <p:nvPr/>
        </p:nvCxnSpPr>
        <p:spPr>
          <a:xfrm rot="10800000" flipH="1">
            <a:off x="5027612" y="4343400"/>
            <a:ext cx="2438400" cy="12700"/>
          </a:xfrm>
          <a:prstGeom prst="bentConnector5">
            <a:avLst>
              <a:gd name="adj1" fmla="val -34046"/>
              <a:gd name="adj2" fmla="val 11400000"/>
              <a:gd name="adj3" fmla="val 133059"/>
            </a:avLst>
          </a:prstGeom>
          <a:ln w="1270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4"/>
          </p:cNvCxnSpPr>
          <p:nvPr/>
        </p:nvCxnSpPr>
        <p:spPr>
          <a:xfrm flipV="1">
            <a:off x="62468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2468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593436" y="1497666"/>
            <a:ext cx="9738435" cy="523220"/>
          </a:xfrm>
          <a:prstGeom prst="rect">
            <a:avLst/>
          </a:prstGeom>
          <a:noFill/>
        </p:spPr>
        <p:txBody>
          <a:bodyPr wrap="none" rtlCol="0">
            <a:spAutoFit/>
          </a:bodyPr>
          <a:lstStyle/>
          <a:p>
            <a:r>
              <a:rPr lang="en-US" sz="2800" dirty="0" smtClean="0"/>
              <a:t>Have some sort of “state” that gets passed back into itself</a:t>
            </a:r>
            <a:endParaRPr lang="en-US" sz="2800" dirty="0"/>
          </a:p>
        </p:txBody>
      </p:sp>
    </p:spTree>
    <p:extLst>
      <p:ext uri="{BB962C8B-B14F-4D97-AF65-F5344CB8AC3E}">
        <p14:creationId xmlns:p14="http://schemas.microsoft.com/office/powerpoint/2010/main" val="162748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 Recurrence</a:t>
            </a:r>
            <a:endParaRPr lang="en-US" dirty="0"/>
          </a:p>
        </p:txBody>
      </p:sp>
      <p:sp>
        <p:nvSpPr>
          <p:cNvPr id="4" name="Oval 3"/>
          <p:cNvSpPr/>
          <p:nvPr/>
        </p:nvSpPr>
        <p:spPr>
          <a:xfrm>
            <a:off x="50276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ysClr val="windowText" lastClr="000000"/>
                </a:solidFill>
              </a:rPr>
              <a:t>STATE</a:t>
            </a:r>
            <a:endParaRPr lang="en-US" sz="4000" dirty="0">
              <a:solidFill>
                <a:sysClr val="windowText" lastClr="000000"/>
              </a:solidFill>
            </a:endParaRPr>
          </a:p>
        </p:txBody>
      </p:sp>
      <p:cxnSp>
        <p:nvCxnSpPr>
          <p:cNvPr id="6" name="Elbow Connector 5"/>
          <p:cNvCxnSpPr>
            <a:stCxn id="4" idx="2"/>
            <a:endCxn id="4" idx="6"/>
          </p:cNvCxnSpPr>
          <p:nvPr/>
        </p:nvCxnSpPr>
        <p:spPr>
          <a:xfrm rot="10800000" flipH="1">
            <a:off x="5027612" y="4343400"/>
            <a:ext cx="2438400" cy="12700"/>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4"/>
          </p:cNvCxnSpPr>
          <p:nvPr/>
        </p:nvCxnSpPr>
        <p:spPr>
          <a:xfrm flipV="1">
            <a:off x="62468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246811" y="1981200"/>
            <a:ext cx="1" cy="1143000"/>
          </a:xfrm>
          <a:prstGeom prst="straightConnector1">
            <a:avLst/>
          </a:prstGeom>
          <a:ln w="1270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93436" y="1497666"/>
            <a:ext cx="9542677" cy="523220"/>
          </a:xfrm>
          <a:prstGeom prst="rect">
            <a:avLst/>
          </a:prstGeom>
          <a:noFill/>
        </p:spPr>
        <p:txBody>
          <a:bodyPr wrap="none" rtlCol="0">
            <a:spAutoFit/>
          </a:bodyPr>
          <a:lstStyle/>
          <a:p>
            <a:r>
              <a:rPr lang="en-US" sz="2800" dirty="0" smtClean="0"/>
              <a:t>At each “step”, output a prediction from the current state</a:t>
            </a:r>
            <a:endParaRPr lang="en-US" sz="2800" dirty="0"/>
          </a:p>
        </p:txBody>
      </p:sp>
    </p:spTree>
    <p:extLst>
      <p:ext uri="{BB962C8B-B14F-4D97-AF65-F5344CB8AC3E}">
        <p14:creationId xmlns:p14="http://schemas.microsoft.com/office/powerpoint/2010/main" val="1566869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 Recurrence</a:t>
            </a:r>
            <a:endParaRPr lang="en-US" dirty="0"/>
          </a:p>
        </p:txBody>
      </p:sp>
      <p:sp>
        <p:nvSpPr>
          <p:cNvPr id="4" name="Oval 3"/>
          <p:cNvSpPr/>
          <p:nvPr/>
        </p:nvSpPr>
        <p:spPr>
          <a:xfrm>
            <a:off x="50276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rgbClr val="FF0000"/>
                </a:solidFill>
              </a:rPr>
              <a:t>STATE</a:t>
            </a:r>
            <a:endParaRPr lang="en-US" sz="4000" dirty="0">
              <a:solidFill>
                <a:srgbClr val="FF0000"/>
              </a:solidFill>
            </a:endParaRPr>
          </a:p>
        </p:txBody>
      </p:sp>
      <p:cxnSp>
        <p:nvCxnSpPr>
          <p:cNvPr id="6" name="Elbow Connector 5"/>
          <p:cNvCxnSpPr>
            <a:stCxn id="4" idx="2"/>
            <a:endCxn id="4" idx="6"/>
          </p:cNvCxnSpPr>
          <p:nvPr/>
        </p:nvCxnSpPr>
        <p:spPr>
          <a:xfrm rot="10800000" flipH="1">
            <a:off x="5027612" y="4343400"/>
            <a:ext cx="2438400" cy="12700"/>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4"/>
          </p:cNvCxnSpPr>
          <p:nvPr/>
        </p:nvCxnSpPr>
        <p:spPr>
          <a:xfrm flipV="1">
            <a:off x="62468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62468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93436" y="1497666"/>
            <a:ext cx="7194598" cy="954107"/>
          </a:xfrm>
          <a:prstGeom prst="rect">
            <a:avLst/>
          </a:prstGeom>
          <a:noFill/>
        </p:spPr>
        <p:txBody>
          <a:bodyPr wrap="none" rtlCol="0">
            <a:spAutoFit/>
          </a:bodyPr>
          <a:lstStyle/>
          <a:p>
            <a:r>
              <a:rPr lang="en-US" sz="2800" dirty="0" smtClean="0"/>
              <a:t>The ”state” is just a vector of neurons, </a:t>
            </a:r>
          </a:p>
          <a:p>
            <a:r>
              <a:rPr lang="en-US" sz="2800" dirty="0" smtClean="0"/>
              <a:t>similar to a FF network</a:t>
            </a:r>
            <a:endParaRPr lang="en-US" sz="2800" dirty="0"/>
          </a:p>
        </p:txBody>
      </p:sp>
    </p:spTree>
    <p:extLst>
      <p:ext uri="{BB962C8B-B14F-4D97-AF65-F5344CB8AC3E}">
        <p14:creationId xmlns:p14="http://schemas.microsoft.com/office/powerpoint/2010/main" val="1930635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Unrolled view of an RNN</a:t>
            </a:r>
            <a:endParaRPr lang="en-US" dirty="0"/>
          </a:p>
        </p:txBody>
      </p:sp>
      <p:grpSp>
        <p:nvGrpSpPr>
          <p:cNvPr id="16" name="Group 15"/>
          <p:cNvGrpSpPr/>
          <p:nvPr/>
        </p:nvGrpSpPr>
        <p:grpSpPr>
          <a:xfrm>
            <a:off x="1615911" y="2471737"/>
            <a:ext cx="1752600" cy="3395663"/>
            <a:chOff x="2055812" y="1981200"/>
            <a:chExt cx="2438400" cy="4724400"/>
          </a:xfrm>
        </p:grpSpPr>
        <p:sp>
          <p:nvSpPr>
            <p:cNvPr id="4" name="Oval 3"/>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5" name="Straight Arrow Connector 4"/>
            <p:cNvCxnSpPr>
              <a:endCxn id="6"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4037012" y="2471737"/>
            <a:ext cx="1752600" cy="3395663"/>
            <a:chOff x="2055812" y="1981200"/>
            <a:chExt cx="2438400" cy="4724400"/>
          </a:xfrm>
        </p:grpSpPr>
        <p:sp>
          <p:nvSpPr>
            <p:cNvPr id="18" name="Oval 17"/>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19" name="Straight Arrow Connector 18"/>
            <p:cNvCxnSpPr>
              <a:endCxn id="20"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6475412" y="2471737"/>
            <a:ext cx="1752600" cy="3395663"/>
            <a:chOff x="2055812" y="1981200"/>
            <a:chExt cx="2438400" cy="4724400"/>
          </a:xfrm>
        </p:grpSpPr>
        <p:sp>
          <p:nvSpPr>
            <p:cNvPr id="22" name="Oval 21"/>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3" name="Straight Arrow Connector 22"/>
            <p:cNvCxnSpPr>
              <a:endCxn id="24"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8913812" y="2471737"/>
            <a:ext cx="1752600" cy="3395663"/>
            <a:chOff x="2055812" y="1981200"/>
            <a:chExt cx="2438400" cy="4724400"/>
          </a:xfrm>
        </p:grpSpPr>
        <p:sp>
          <p:nvSpPr>
            <p:cNvPr id="26" name="Oval 25"/>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7" name="Straight Arrow Connector 26"/>
            <p:cNvCxnSpPr>
              <a:endCxn id="28"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30" name="Straight Arrow Connector 29"/>
          <p:cNvCxnSpPr>
            <a:stCxn id="4" idx="6"/>
            <a:endCxn id="18" idx="2"/>
          </p:cNvCxnSpPr>
          <p:nvPr/>
        </p:nvCxnSpPr>
        <p:spPr>
          <a:xfrm>
            <a:off x="33685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8069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2280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06664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206715" y="6096000"/>
            <a:ext cx="570990" cy="369332"/>
          </a:xfrm>
          <a:prstGeom prst="rect">
            <a:avLst/>
          </a:prstGeom>
          <a:noFill/>
        </p:spPr>
        <p:txBody>
          <a:bodyPr wrap="none" rtlCol="0">
            <a:spAutoFit/>
          </a:bodyPr>
          <a:lstStyle/>
          <a:p>
            <a:r>
              <a:rPr lang="en-US" smtClean="0"/>
              <a:t>T_1</a:t>
            </a:r>
            <a:endParaRPr lang="en-US"/>
          </a:p>
        </p:txBody>
      </p:sp>
      <p:sp>
        <p:nvSpPr>
          <p:cNvPr id="29" name="TextBox 28"/>
          <p:cNvSpPr txBox="1"/>
          <p:nvPr/>
        </p:nvSpPr>
        <p:spPr>
          <a:xfrm>
            <a:off x="4627816" y="6096000"/>
            <a:ext cx="570990" cy="369332"/>
          </a:xfrm>
          <a:prstGeom prst="rect">
            <a:avLst/>
          </a:prstGeom>
          <a:noFill/>
        </p:spPr>
        <p:txBody>
          <a:bodyPr wrap="none" rtlCol="0">
            <a:spAutoFit/>
          </a:bodyPr>
          <a:lstStyle/>
          <a:p>
            <a:r>
              <a:rPr lang="en-US" dirty="0" smtClean="0"/>
              <a:t>T_2</a:t>
            </a:r>
            <a:endParaRPr lang="en-US" dirty="0"/>
          </a:p>
        </p:txBody>
      </p:sp>
      <p:sp>
        <p:nvSpPr>
          <p:cNvPr id="34" name="TextBox 33"/>
          <p:cNvSpPr txBox="1"/>
          <p:nvPr/>
        </p:nvSpPr>
        <p:spPr>
          <a:xfrm>
            <a:off x="7066216" y="6096000"/>
            <a:ext cx="570990" cy="369332"/>
          </a:xfrm>
          <a:prstGeom prst="rect">
            <a:avLst/>
          </a:prstGeom>
          <a:noFill/>
        </p:spPr>
        <p:txBody>
          <a:bodyPr wrap="none" rtlCol="0">
            <a:spAutoFit/>
          </a:bodyPr>
          <a:lstStyle/>
          <a:p>
            <a:r>
              <a:rPr lang="en-US" dirty="0" smtClean="0"/>
              <a:t>T_3</a:t>
            </a:r>
            <a:endParaRPr lang="en-US" dirty="0"/>
          </a:p>
        </p:txBody>
      </p:sp>
      <p:sp>
        <p:nvSpPr>
          <p:cNvPr id="35" name="TextBox 34"/>
          <p:cNvSpPr txBox="1"/>
          <p:nvPr/>
        </p:nvSpPr>
        <p:spPr>
          <a:xfrm>
            <a:off x="9504616" y="6096000"/>
            <a:ext cx="570990" cy="369332"/>
          </a:xfrm>
          <a:prstGeom prst="rect">
            <a:avLst/>
          </a:prstGeom>
          <a:noFill/>
        </p:spPr>
        <p:txBody>
          <a:bodyPr wrap="none" rtlCol="0">
            <a:spAutoFit/>
          </a:bodyPr>
          <a:lstStyle/>
          <a:p>
            <a:r>
              <a:rPr lang="en-US" dirty="0" smtClean="0"/>
              <a:t>T_4</a:t>
            </a:r>
            <a:endParaRPr lang="en-US" dirty="0"/>
          </a:p>
        </p:txBody>
      </p:sp>
    </p:spTree>
    <p:extLst>
      <p:ext uri="{BB962C8B-B14F-4D97-AF65-F5344CB8AC3E}">
        <p14:creationId xmlns:p14="http://schemas.microsoft.com/office/powerpoint/2010/main" val="1861232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911" y="495985"/>
            <a:ext cx="9782801" cy="1239837"/>
          </a:xfrm>
        </p:spPr>
        <p:txBody>
          <a:bodyPr/>
          <a:lstStyle/>
          <a:p>
            <a:r>
              <a:rPr lang="en-US" dirty="0" smtClean="0"/>
              <a:t>At each step, we pass in an input</a:t>
            </a:r>
            <a:endParaRPr lang="en-US" dirty="0"/>
          </a:p>
        </p:txBody>
      </p:sp>
      <p:grpSp>
        <p:nvGrpSpPr>
          <p:cNvPr id="16" name="Group 15"/>
          <p:cNvGrpSpPr/>
          <p:nvPr/>
        </p:nvGrpSpPr>
        <p:grpSpPr>
          <a:xfrm>
            <a:off x="1615911" y="2471737"/>
            <a:ext cx="1752600" cy="3395663"/>
            <a:chOff x="2055812" y="1981200"/>
            <a:chExt cx="2438400" cy="4724400"/>
          </a:xfrm>
        </p:grpSpPr>
        <p:sp>
          <p:nvSpPr>
            <p:cNvPr id="4" name="Oval 3"/>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5" name="Straight Arrow Connector 4"/>
            <p:cNvCxnSpPr>
              <a:endCxn id="6"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4037012" y="2471737"/>
            <a:ext cx="1752600" cy="3395663"/>
            <a:chOff x="2055812" y="1981200"/>
            <a:chExt cx="2438400" cy="4724400"/>
          </a:xfrm>
        </p:grpSpPr>
        <p:sp>
          <p:nvSpPr>
            <p:cNvPr id="18" name="Oval 17"/>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19" name="Straight Arrow Connector 18"/>
            <p:cNvCxnSpPr>
              <a:endCxn id="20"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6475412" y="2471737"/>
            <a:ext cx="1752600" cy="3395663"/>
            <a:chOff x="2055812" y="1981200"/>
            <a:chExt cx="2438400" cy="4724400"/>
          </a:xfrm>
        </p:grpSpPr>
        <p:sp>
          <p:nvSpPr>
            <p:cNvPr id="22" name="Oval 21"/>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3" name="Straight Arrow Connector 22"/>
            <p:cNvCxnSpPr>
              <a:endCxn id="24"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8913812" y="2471737"/>
            <a:ext cx="1752600" cy="3395663"/>
            <a:chOff x="2055812" y="1981200"/>
            <a:chExt cx="2438400" cy="4724400"/>
          </a:xfrm>
        </p:grpSpPr>
        <p:sp>
          <p:nvSpPr>
            <p:cNvPr id="26" name="Oval 25"/>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7" name="Straight Arrow Connector 26"/>
            <p:cNvCxnSpPr>
              <a:endCxn id="28"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30" name="Straight Arrow Connector 29"/>
          <p:cNvCxnSpPr>
            <a:stCxn id="4" idx="6"/>
            <a:endCxn id="18" idx="2"/>
          </p:cNvCxnSpPr>
          <p:nvPr/>
        </p:nvCxnSpPr>
        <p:spPr>
          <a:xfrm>
            <a:off x="33685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8069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2280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06664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879220" y="6044625"/>
            <a:ext cx="1287532" cy="584775"/>
          </a:xfrm>
          <a:prstGeom prst="rect">
            <a:avLst/>
          </a:prstGeom>
          <a:noFill/>
        </p:spPr>
        <p:txBody>
          <a:bodyPr wrap="none" rtlCol="0">
            <a:spAutoFit/>
          </a:bodyPr>
          <a:lstStyle/>
          <a:p>
            <a:r>
              <a:rPr lang="en-US" sz="3200" dirty="0" smtClean="0"/>
              <a:t>“This”</a:t>
            </a:r>
            <a:endParaRPr lang="en-US" sz="3200" dirty="0"/>
          </a:p>
        </p:txBody>
      </p:sp>
      <p:sp>
        <p:nvSpPr>
          <p:cNvPr id="29" name="TextBox 28"/>
          <p:cNvSpPr txBox="1"/>
          <p:nvPr/>
        </p:nvSpPr>
        <p:spPr>
          <a:xfrm>
            <a:off x="4506789" y="6044625"/>
            <a:ext cx="813043" cy="584775"/>
          </a:xfrm>
          <a:prstGeom prst="rect">
            <a:avLst/>
          </a:prstGeom>
          <a:noFill/>
        </p:spPr>
        <p:txBody>
          <a:bodyPr wrap="none" rtlCol="0">
            <a:spAutoFit/>
          </a:bodyPr>
          <a:lstStyle/>
          <a:p>
            <a:r>
              <a:rPr lang="en-US" sz="3200" dirty="0" smtClean="0"/>
              <a:t>“is”</a:t>
            </a:r>
            <a:endParaRPr lang="en-US" sz="3200" dirty="0"/>
          </a:p>
        </p:txBody>
      </p:sp>
      <p:sp>
        <p:nvSpPr>
          <p:cNvPr id="34" name="TextBox 33"/>
          <p:cNvSpPr txBox="1"/>
          <p:nvPr/>
        </p:nvSpPr>
        <p:spPr>
          <a:xfrm>
            <a:off x="6796495" y="6044625"/>
            <a:ext cx="1468094" cy="584775"/>
          </a:xfrm>
          <a:prstGeom prst="rect">
            <a:avLst/>
          </a:prstGeom>
          <a:noFill/>
        </p:spPr>
        <p:txBody>
          <a:bodyPr wrap="none" rtlCol="0">
            <a:spAutoFit/>
          </a:bodyPr>
          <a:lstStyle/>
          <a:p>
            <a:r>
              <a:rPr lang="en-US" sz="3200" dirty="0" smtClean="0"/>
              <a:t>“great”</a:t>
            </a:r>
            <a:endParaRPr lang="en-US" sz="3200" dirty="0"/>
          </a:p>
        </p:txBody>
      </p:sp>
      <p:sp>
        <p:nvSpPr>
          <p:cNvPr id="35" name="TextBox 34"/>
          <p:cNvSpPr txBox="1"/>
          <p:nvPr/>
        </p:nvSpPr>
        <p:spPr>
          <a:xfrm>
            <a:off x="9498761" y="6044625"/>
            <a:ext cx="607859" cy="584775"/>
          </a:xfrm>
          <a:prstGeom prst="rect">
            <a:avLst/>
          </a:prstGeom>
          <a:noFill/>
        </p:spPr>
        <p:txBody>
          <a:bodyPr wrap="none" rtlCol="0">
            <a:spAutoFit/>
          </a:bodyPr>
          <a:lstStyle/>
          <a:p>
            <a:r>
              <a:rPr lang="en-US" sz="3200" dirty="0" smtClean="0"/>
              <a:t>“!”</a:t>
            </a:r>
            <a:endParaRPr lang="en-US" sz="3200" dirty="0"/>
          </a:p>
        </p:txBody>
      </p:sp>
    </p:spTree>
    <p:extLst>
      <p:ext uri="{BB962C8B-B14F-4D97-AF65-F5344CB8AC3E}">
        <p14:creationId xmlns:p14="http://schemas.microsoft.com/office/powerpoint/2010/main" val="14914051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9" grpId="0"/>
      <p:bldP spid="34" grpId="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911" y="233143"/>
            <a:ext cx="9782801" cy="1519457"/>
          </a:xfrm>
        </p:spPr>
        <p:txBody>
          <a:bodyPr>
            <a:normAutofit/>
          </a:bodyPr>
          <a:lstStyle/>
          <a:p>
            <a:r>
              <a:rPr lang="en-US" dirty="0" smtClean="0"/>
              <a:t>As we go along, the network makes a prediction, which changes as it gets more info</a:t>
            </a:r>
            <a:endParaRPr lang="en-US" dirty="0"/>
          </a:p>
        </p:txBody>
      </p:sp>
      <p:grpSp>
        <p:nvGrpSpPr>
          <p:cNvPr id="16" name="Group 15"/>
          <p:cNvGrpSpPr/>
          <p:nvPr/>
        </p:nvGrpSpPr>
        <p:grpSpPr>
          <a:xfrm>
            <a:off x="1615911" y="2471737"/>
            <a:ext cx="1752600" cy="3395663"/>
            <a:chOff x="2055812" y="1981200"/>
            <a:chExt cx="2438400" cy="4724400"/>
          </a:xfrm>
        </p:grpSpPr>
        <p:sp>
          <p:nvSpPr>
            <p:cNvPr id="4" name="Oval 3"/>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5" name="Straight Arrow Connector 4"/>
            <p:cNvCxnSpPr>
              <a:endCxn id="6"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4037012" y="2471737"/>
            <a:ext cx="1752600" cy="3395663"/>
            <a:chOff x="2055812" y="1981200"/>
            <a:chExt cx="2438400" cy="4724400"/>
          </a:xfrm>
        </p:grpSpPr>
        <p:sp>
          <p:nvSpPr>
            <p:cNvPr id="18" name="Oval 17"/>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19" name="Straight Arrow Connector 18"/>
            <p:cNvCxnSpPr>
              <a:endCxn id="20"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6475412" y="2471737"/>
            <a:ext cx="1752600" cy="3395663"/>
            <a:chOff x="2055812" y="1981200"/>
            <a:chExt cx="2438400" cy="4724400"/>
          </a:xfrm>
        </p:grpSpPr>
        <p:sp>
          <p:nvSpPr>
            <p:cNvPr id="22" name="Oval 21"/>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3" name="Straight Arrow Connector 22"/>
            <p:cNvCxnSpPr>
              <a:endCxn id="24"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8913812" y="2471737"/>
            <a:ext cx="1752600" cy="3395663"/>
            <a:chOff x="2055812" y="1981200"/>
            <a:chExt cx="2438400" cy="4724400"/>
          </a:xfrm>
        </p:grpSpPr>
        <p:sp>
          <p:nvSpPr>
            <p:cNvPr id="26" name="Oval 25"/>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STATE</a:t>
              </a:r>
              <a:endParaRPr lang="en-US" sz="2800" dirty="0">
                <a:solidFill>
                  <a:sysClr val="windowText" lastClr="000000"/>
                </a:solidFill>
              </a:endParaRPr>
            </a:p>
          </p:txBody>
        </p:sp>
        <p:cxnSp>
          <p:nvCxnSpPr>
            <p:cNvPr id="27" name="Straight Arrow Connector 26"/>
            <p:cNvCxnSpPr>
              <a:endCxn id="28"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30" name="Straight Arrow Connector 29"/>
          <p:cNvCxnSpPr>
            <a:stCxn id="4" idx="6"/>
            <a:endCxn id="18" idx="2"/>
          </p:cNvCxnSpPr>
          <p:nvPr/>
        </p:nvCxnSpPr>
        <p:spPr>
          <a:xfrm>
            <a:off x="33685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806911"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2280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10666412" y="4169568"/>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879220" y="6044625"/>
            <a:ext cx="1287532" cy="584775"/>
          </a:xfrm>
          <a:prstGeom prst="rect">
            <a:avLst/>
          </a:prstGeom>
          <a:noFill/>
        </p:spPr>
        <p:txBody>
          <a:bodyPr wrap="none" rtlCol="0">
            <a:spAutoFit/>
          </a:bodyPr>
          <a:lstStyle/>
          <a:p>
            <a:r>
              <a:rPr lang="en-US" sz="3200" dirty="0" smtClean="0"/>
              <a:t>“This”</a:t>
            </a:r>
            <a:endParaRPr lang="en-US" sz="3200" dirty="0"/>
          </a:p>
        </p:txBody>
      </p:sp>
      <p:sp>
        <p:nvSpPr>
          <p:cNvPr id="29" name="TextBox 28"/>
          <p:cNvSpPr txBox="1"/>
          <p:nvPr/>
        </p:nvSpPr>
        <p:spPr>
          <a:xfrm>
            <a:off x="4506789" y="6044625"/>
            <a:ext cx="813043" cy="584775"/>
          </a:xfrm>
          <a:prstGeom prst="rect">
            <a:avLst/>
          </a:prstGeom>
          <a:noFill/>
        </p:spPr>
        <p:txBody>
          <a:bodyPr wrap="none" rtlCol="0">
            <a:spAutoFit/>
          </a:bodyPr>
          <a:lstStyle/>
          <a:p>
            <a:r>
              <a:rPr lang="en-US" sz="3200" dirty="0" smtClean="0"/>
              <a:t>“is”</a:t>
            </a:r>
            <a:endParaRPr lang="en-US" sz="3200" dirty="0"/>
          </a:p>
        </p:txBody>
      </p:sp>
      <p:sp>
        <p:nvSpPr>
          <p:cNvPr id="34" name="TextBox 33"/>
          <p:cNvSpPr txBox="1"/>
          <p:nvPr/>
        </p:nvSpPr>
        <p:spPr>
          <a:xfrm>
            <a:off x="6796495" y="6044625"/>
            <a:ext cx="1468094" cy="584775"/>
          </a:xfrm>
          <a:prstGeom prst="rect">
            <a:avLst/>
          </a:prstGeom>
          <a:noFill/>
        </p:spPr>
        <p:txBody>
          <a:bodyPr wrap="none" rtlCol="0">
            <a:spAutoFit/>
          </a:bodyPr>
          <a:lstStyle/>
          <a:p>
            <a:r>
              <a:rPr lang="en-US" sz="3200" dirty="0" smtClean="0"/>
              <a:t>“great”</a:t>
            </a:r>
            <a:endParaRPr lang="en-US" sz="3200" dirty="0"/>
          </a:p>
        </p:txBody>
      </p:sp>
      <p:sp>
        <p:nvSpPr>
          <p:cNvPr id="35" name="TextBox 34"/>
          <p:cNvSpPr txBox="1"/>
          <p:nvPr/>
        </p:nvSpPr>
        <p:spPr>
          <a:xfrm>
            <a:off x="9498761" y="6044625"/>
            <a:ext cx="607859" cy="584775"/>
          </a:xfrm>
          <a:prstGeom prst="rect">
            <a:avLst/>
          </a:prstGeom>
          <a:noFill/>
        </p:spPr>
        <p:txBody>
          <a:bodyPr wrap="none" rtlCol="0">
            <a:spAutoFit/>
          </a:bodyPr>
          <a:lstStyle/>
          <a:p>
            <a:r>
              <a:rPr lang="en-US" sz="3200" dirty="0" smtClean="0"/>
              <a:t>“!”</a:t>
            </a:r>
            <a:endParaRPr lang="en-US" sz="3200" dirty="0"/>
          </a:p>
        </p:txBody>
      </p:sp>
      <p:sp>
        <p:nvSpPr>
          <p:cNvPr id="36" name="TextBox 35"/>
          <p:cNvSpPr txBox="1"/>
          <p:nvPr/>
        </p:nvSpPr>
        <p:spPr>
          <a:xfrm>
            <a:off x="2361380" y="1819781"/>
            <a:ext cx="380232" cy="584775"/>
          </a:xfrm>
          <a:prstGeom prst="rect">
            <a:avLst/>
          </a:prstGeom>
          <a:noFill/>
        </p:spPr>
        <p:txBody>
          <a:bodyPr wrap="none" rtlCol="0">
            <a:spAutoFit/>
          </a:bodyPr>
          <a:lstStyle/>
          <a:p>
            <a:r>
              <a:rPr lang="en-US" sz="3200" dirty="0"/>
              <a:t>?</a:t>
            </a:r>
          </a:p>
        </p:txBody>
      </p:sp>
      <p:sp>
        <p:nvSpPr>
          <p:cNvPr id="41" name="TextBox 40"/>
          <p:cNvSpPr txBox="1"/>
          <p:nvPr/>
        </p:nvSpPr>
        <p:spPr>
          <a:xfrm>
            <a:off x="4723194" y="1819781"/>
            <a:ext cx="380232" cy="584775"/>
          </a:xfrm>
          <a:prstGeom prst="rect">
            <a:avLst/>
          </a:prstGeom>
          <a:noFill/>
        </p:spPr>
        <p:txBody>
          <a:bodyPr wrap="none" rtlCol="0">
            <a:spAutoFit/>
          </a:bodyPr>
          <a:lstStyle/>
          <a:p>
            <a:r>
              <a:rPr lang="en-US" sz="3200" dirty="0"/>
              <a:t>?</a:t>
            </a:r>
          </a:p>
        </p:txBody>
      </p:sp>
      <p:sp>
        <p:nvSpPr>
          <p:cNvPr id="42" name="TextBox 41"/>
          <p:cNvSpPr txBox="1"/>
          <p:nvPr/>
        </p:nvSpPr>
        <p:spPr>
          <a:xfrm>
            <a:off x="7178799" y="1819781"/>
            <a:ext cx="431528" cy="584775"/>
          </a:xfrm>
          <a:prstGeom prst="rect">
            <a:avLst/>
          </a:prstGeom>
          <a:noFill/>
        </p:spPr>
        <p:txBody>
          <a:bodyPr wrap="none" rtlCol="0">
            <a:spAutoFit/>
          </a:bodyPr>
          <a:lstStyle/>
          <a:p>
            <a:r>
              <a:rPr lang="en-US" sz="3200" dirty="0" smtClean="0"/>
              <a:t>+</a:t>
            </a:r>
            <a:endParaRPr lang="en-US" sz="3200" dirty="0"/>
          </a:p>
        </p:txBody>
      </p:sp>
      <p:sp>
        <p:nvSpPr>
          <p:cNvPr id="43" name="TextBox 42"/>
          <p:cNvSpPr txBox="1"/>
          <p:nvPr/>
        </p:nvSpPr>
        <p:spPr>
          <a:xfrm>
            <a:off x="9523412" y="1819781"/>
            <a:ext cx="678391" cy="584775"/>
          </a:xfrm>
          <a:prstGeom prst="rect">
            <a:avLst/>
          </a:prstGeom>
          <a:noFill/>
        </p:spPr>
        <p:txBody>
          <a:bodyPr wrap="none" rtlCol="0">
            <a:spAutoFit/>
          </a:bodyPr>
          <a:lstStyle/>
          <a:p>
            <a:r>
              <a:rPr lang="en-US" sz="3200" dirty="0" smtClean="0"/>
              <a:t>++</a:t>
            </a:r>
            <a:endParaRPr lang="en-US" sz="3200" dirty="0"/>
          </a:p>
        </p:txBody>
      </p:sp>
    </p:spTree>
    <p:extLst>
      <p:ext uri="{BB962C8B-B14F-4D97-AF65-F5344CB8AC3E}">
        <p14:creationId xmlns:p14="http://schemas.microsoft.com/office/powerpoint/2010/main" val="617883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2" grpId="0"/>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to sequence</a:t>
            </a:r>
            <a:endParaRPr lang="en-US" dirty="0"/>
          </a:p>
        </p:txBody>
      </p:sp>
      <p:grpSp>
        <p:nvGrpSpPr>
          <p:cNvPr id="4" name="Group 3"/>
          <p:cNvGrpSpPr/>
          <p:nvPr/>
        </p:nvGrpSpPr>
        <p:grpSpPr>
          <a:xfrm>
            <a:off x="1598612" y="3804354"/>
            <a:ext cx="5138256" cy="1682046"/>
            <a:chOff x="1593436" y="3107530"/>
            <a:chExt cx="8746140" cy="2863114"/>
          </a:xfrm>
        </p:grpSpPr>
        <p:grpSp>
          <p:nvGrpSpPr>
            <p:cNvPr id="5" name="Group 4"/>
            <p:cNvGrpSpPr/>
            <p:nvPr/>
          </p:nvGrpSpPr>
          <p:grpSpPr>
            <a:xfrm>
              <a:off x="1593436" y="3107531"/>
              <a:ext cx="8746140" cy="2133600"/>
              <a:chOff x="1593436" y="3733800"/>
              <a:chExt cx="8746140" cy="2133600"/>
            </a:xfrm>
          </p:grpSpPr>
          <p:cxnSp>
            <p:nvCxnSpPr>
              <p:cNvPr id="16" name="Straight Arrow Connector 15"/>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19" name="Straight Arrow Connector 18"/>
              <p:cNvCxnSpPr/>
              <p:nvPr/>
            </p:nvCxnSpPr>
            <p:spPr>
              <a:xfrm>
                <a:off x="8250486"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671074"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041259" y="3107530"/>
              <a:ext cx="2443577" cy="2133601"/>
              <a:chOff x="1593435" y="3733799"/>
              <a:chExt cx="2443577" cy="2133601"/>
            </a:xfrm>
          </p:grpSpPr>
          <p:cxnSp>
            <p:nvCxnSpPr>
              <p:cNvPr id="13" name="Straight Arrow Connector 12"/>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grpSp>
          <p:nvGrpSpPr>
            <p:cNvPr id="7" name="Group 6"/>
            <p:cNvGrpSpPr/>
            <p:nvPr/>
          </p:nvGrpSpPr>
          <p:grpSpPr>
            <a:xfrm>
              <a:off x="6475412" y="3107531"/>
              <a:ext cx="1775075" cy="2133600"/>
              <a:chOff x="1593436" y="3733800"/>
              <a:chExt cx="1775075" cy="2133600"/>
            </a:xfrm>
          </p:grpSpPr>
          <p:cxnSp>
            <p:nvCxnSpPr>
              <p:cNvPr id="11" name="Straight Arrow Connector 10"/>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8" name="TextBox 7"/>
                <p:cNvSpPr txBox="1"/>
                <p:nvPr/>
              </p:nvSpPr>
              <p:spPr>
                <a:xfrm>
                  <a:off x="2055812"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sub>
                        </m:sSub>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55812" y="5237202"/>
                  <a:ext cx="919223" cy="639381"/>
                </a:xfrm>
                <a:prstGeom prst="rect">
                  <a:avLst/>
                </a:prstGeom>
                <a:blipFill rotWithShape="0">
                  <a:blip r:embed="rId3"/>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80423"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480423" y="5237202"/>
                  <a:ext cx="919223" cy="639381"/>
                </a:xfrm>
                <a:prstGeom prst="rect">
                  <a:avLst/>
                </a:prstGeom>
                <a:blipFill rotWithShape="0">
                  <a:blip r:embed="rId4"/>
                  <a:stretch>
                    <a:fillRect r="-15730" b="-12903"/>
                  </a:stretch>
                </a:blipFill>
              </p:spPr>
              <p:txBody>
                <a:bodyPr/>
                <a:lstStyle/>
                <a:p>
                  <a:r>
                    <a:rPr lang="en-US">
                      <a:noFill/>
                    </a:rPr>
                    <a:t> </a:t>
                  </a:r>
                </a:p>
              </p:txBody>
            </p:sp>
          </mc:Fallback>
        </mc:AlternateContent>
        <p:sp>
          <p:nvSpPr>
            <p:cNvPr id="10" name="TextBox 9"/>
            <p:cNvSpPr txBox="1"/>
            <p:nvPr/>
          </p:nvSpPr>
          <p:spPr>
            <a:xfrm>
              <a:off x="6715109" y="5237205"/>
              <a:ext cx="1704857" cy="733439"/>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p:grpSp>
      <p:sp>
        <p:nvSpPr>
          <p:cNvPr id="21" name="Rounded Rectangle 20"/>
          <p:cNvSpPr/>
          <p:nvPr/>
        </p:nvSpPr>
        <p:spPr>
          <a:xfrm>
            <a:off x="58791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66792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0" name="Straight Arrow Connector 29"/>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2" name="Straight Arrow Connector 31"/>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3" name="TextBox 32"/>
              <p:cNvSpPr txBox="1"/>
              <p:nvPr/>
            </p:nvSpPr>
            <p:spPr>
              <a:xfrm>
                <a:off x="70037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7003745" y="2769511"/>
                <a:ext cx="540033" cy="43088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4281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8428175" y="2769511"/>
                <a:ext cx="540033" cy="430887"/>
              </a:xfrm>
              <a:prstGeom prst="rect">
                <a:avLst/>
              </a:prstGeom>
              <a:blipFill rotWithShape="0">
                <a:blip r:embed="rId6"/>
                <a:stretch>
                  <a:fillRect l="-1136" r="-17045"/>
                </a:stretch>
              </a:blipFill>
            </p:spPr>
            <p:txBody>
              <a:bodyPr/>
              <a:lstStyle/>
              <a:p>
                <a:r>
                  <a:rPr lang="en-US">
                    <a:noFill/>
                  </a:rPr>
                  <a:t> </a:t>
                </a:r>
              </a:p>
            </p:txBody>
          </p:sp>
        </mc:Fallback>
      </mc:AlternateContent>
      <p:sp>
        <p:nvSpPr>
          <p:cNvPr id="35" name="TextBox 34"/>
          <p:cNvSpPr txBox="1"/>
          <p:nvPr/>
        </p:nvSpPr>
        <p:spPr>
          <a:xfrm>
            <a:off x="95686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6" name="TextBox 35"/>
              <p:cNvSpPr txBox="1"/>
              <p:nvPr/>
            </p:nvSpPr>
            <p:spPr>
              <a:xfrm>
                <a:off x="83753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375342" y="4940562"/>
                <a:ext cx="540033" cy="430887"/>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98386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9838627" y="4910478"/>
                <a:ext cx="540033" cy="430887"/>
              </a:xfrm>
              <a:prstGeom prst="rect">
                <a:avLst/>
              </a:prstGeom>
              <a:blipFill rotWithShape="0">
                <a:blip r:embed="rId8"/>
                <a:stretch>
                  <a:fillRect r="-16854"/>
                </a:stretch>
              </a:blipFill>
            </p:spPr>
            <p:txBody>
              <a:bodyPr/>
              <a:lstStyle/>
              <a:p>
                <a:r>
                  <a:rPr lang="en-US">
                    <a:noFill/>
                  </a:rPr>
                  <a:t> </a:t>
                </a:r>
              </a:p>
            </p:txBody>
          </p:sp>
        </mc:Fallback>
      </mc:AlternateContent>
      <p:sp>
        <p:nvSpPr>
          <p:cNvPr id="40" name="TextBox 39"/>
          <p:cNvSpPr txBox="1"/>
          <p:nvPr/>
        </p:nvSpPr>
        <p:spPr>
          <a:xfrm>
            <a:off x="68472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spTree>
    <p:extLst>
      <p:ext uri="{BB962C8B-B14F-4D97-AF65-F5344CB8AC3E}">
        <p14:creationId xmlns:p14="http://schemas.microsoft.com/office/powerpoint/2010/main" val="726362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to sequence</a:t>
            </a:r>
            <a:endParaRPr lang="en-US" dirty="0"/>
          </a:p>
        </p:txBody>
      </p:sp>
      <p:grpSp>
        <p:nvGrpSpPr>
          <p:cNvPr id="4" name="Group 3"/>
          <p:cNvGrpSpPr/>
          <p:nvPr/>
        </p:nvGrpSpPr>
        <p:grpSpPr>
          <a:xfrm>
            <a:off x="1598612" y="3804354"/>
            <a:ext cx="5138256" cy="1682046"/>
            <a:chOff x="1593436" y="3107530"/>
            <a:chExt cx="8746140" cy="2863114"/>
          </a:xfrm>
        </p:grpSpPr>
        <p:grpSp>
          <p:nvGrpSpPr>
            <p:cNvPr id="5" name="Group 4"/>
            <p:cNvGrpSpPr/>
            <p:nvPr/>
          </p:nvGrpSpPr>
          <p:grpSpPr>
            <a:xfrm>
              <a:off x="1593436" y="3107531"/>
              <a:ext cx="8746140" cy="2133600"/>
              <a:chOff x="1593436" y="3733800"/>
              <a:chExt cx="8746140" cy="2133600"/>
            </a:xfrm>
          </p:grpSpPr>
          <p:cxnSp>
            <p:nvCxnSpPr>
              <p:cNvPr id="16" name="Straight Arrow Connector 15"/>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19" name="Straight Arrow Connector 18"/>
              <p:cNvCxnSpPr/>
              <p:nvPr/>
            </p:nvCxnSpPr>
            <p:spPr>
              <a:xfrm>
                <a:off x="8250486"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671074"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041259" y="3107530"/>
              <a:ext cx="2443577" cy="2133601"/>
              <a:chOff x="1593435" y="3733799"/>
              <a:chExt cx="2443577" cy="2133601"/>
            </a:xfrm>
          </p:grpSpPr>
          <p:cxnSp>
            <p:nvCxnSpPr>
              <p:cNvPr id="13" name="Straight Arrow Connector 12"/>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grpSp>
          <p:nvGrpSpPr>
            <p:cNvPr id="7" name="Group 6"/>
            <p:cNvGrpSpPr/>
            <p:nvPr/>
          </p:nvGrpSpPr>
          <p:grpSpPr>
            <a:xfrm>
              <a:off x="6475412" y="3107531"/>
              <a:ext cx="1775075" cy="2133600"/>
              <a:chOff x="1593436" y="3733800"/>
              <a:chExt cx="1775075" cy="2133600"/>
            </a:xfrm>
          </p:grpSpPr>
          <p:cxnSp>
            <p:nvCxnSpPr>
              <p:cNvPr id="11" name="Straight Arrow Connector 10"/>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8" name="TextBox 7"/>
                <p:cNvSpPr txBox="1"/>
                <p:nvPr/>
              </p:nvSpPr>
              <p:spPr>
                <a:xfrm>
                  <a:off x="2055812"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sub>
                        </m:sSub>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55812" y="5237202"/>
                  <a:ext cx="919223" cy="639381"/>
                </a:xfrm>
                <a:prstGeom prst="rect">
                  <a:avLst/>
                </a:prstGeom>
                <a:blipFill rotWithShape="0">
                  <a:blip r:embed="rId2"/>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80423"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480423" y="5237202"/>
                  <a:ext cx="919223" cy="639381"/>
                </a:xfrm>
                <a:prstGeom prst="rect">
                  <a:avLst/>
                </a:prstGeom>
                <a:blipFill rotWithShape="0">
                  <a:blip r:embed="rId3"/>
                  <a:stretch>
                    <a:fillRect r="-15730" b="-12903"/>
                  </a:stretch>
                </a:blipFill>
              </p:spPr>
              <p:txBody>
                <a:bodyPr/>
                <a:lstStyle/>
                <a:p>
                  <a:r>
                    <a:rPr lang="en-US">
                      <a:noFill/>
                    </a:rPr>
                    <a:t> </a:t>
                  </a:r>
                </a:p>
              </p:txBody>
            </p:sp>
          </mc:Fallback>
        </mc:AlternateContent>
        <p:sp>
          <p:nvSpPr>
            <p:cNvPr id="10" name="TextBox 9"/>
            <p:cNvSpPr txBox="1"/>
            <p:nvPr/>
          </p:nvSpPr>
          <p:spPr>
            <a:xfrm>
              <a:off x="6715109" y="5237205"/>
              <a:ext cx="1704857" cy="733439"/>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p:grpSp>
      <p:sp>
        <p:nvSpPr>
          <p:cNvPr id="21" name="Rounded Rectangle 20"/>
          <p:cNvSpPr/>
          <p:nvPr/>
        </p:nvSpPr>
        <p:spPr>
          <a:xfrm>
            <a:off x="58791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66792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0" name="Straight Arrow Connector 29"/>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2" name="Straight Arrow Connector 31"/>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3" name="TextBox 32"/>
              <p:cNvSpPr txBox="1"/>
              <p:nvPr/>
            </p:nvSpPr>
            <p:spPr>
              <a:xfrm>
                <a:off x="70037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7003745" y="2769511"/>
                <a:ext cx="540033"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4281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8428175" y="2769511"/>
                <a:ext cx="540033" cy="430887"/>
              </a:xfrm>
              <a:prstGeom prst="rect">
                <a:avLst/>
              </a:prstGeom>
              <a:blipFill rotWithShape="0">
                <a:blip r:embed="rId5"/>
                <a:stretch>
                  <a:fillRect l="-1136" r="-17045"/>
                </a:stretch>
              </a:blipFill>
            </p:spPr>
            <p:txBody>
              <a:bodyPr/>
              <a:lstStyle/>
              <a:p>
                <a:r>
                  <a:rPr lang="en-US">
                    <a:noFill/>
                  </a:rPr>
                  <a:t> </a:t>
                </a:r>
              </a:p>
            </p:txBody>
          </p:sp>
        </mc:Fallback>
      </mc:AlternateContent>
      <p:sp>
        <p:nvSpPr>
          <p:cNvPr id="35" name="TextBox 34"/>
          <p:cNvSpPr txBox="1"/>
          <p:nvPr/>
        </p:nvSpPr>
        <p:spPr>
          <a:xfrm>
            <a:off x="95686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6" name="TextBox 35"/>
              <p:cNvSpPr txBox="1"/>
              <p:nvPr/>
            </p:nvSpPr>
            <p:spPr>
              <a:xfrm>
                <a:off x="83753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375342" y="4940562"/>
                <a:ext cx="540033" cy="43088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98386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9838627" y="4910478"/>
                <a:ext cx="540033" cy="430887"/>
              </a:xfrm>
              <a:prstGeom prst="rect">
                <a:avLst/>
              </a:prstGeom>
              <a:blipFill rotWithShape="0">
                <a:blip r:embed="rId7"/>
                <a:stretch>
                  <a:fillRect r="-16854"/>
                </a:stretch>
              </a:blipFill>
            </p:spPr>
            <p:txBody>
              <a:bodyPr/>
              <a:lstStyle/>
              <a:p>
                <a:r>
                  <a:rPr lang="en-US">
                    <a:noFill/>
                  </a:rPr>
                  <a:t> </a:t>
                </a:r>
              </a:p>
            </p:txBody>
          </p:sp>
        </mc:Fallback>
      </mc:AlternateContent>
      <p:sp>
        <p:nvSpPr>
          <p:cNvPr id="40" name="TextBox 39"/>
          <p:cNvSpPr txBox="1"/>
          <p:nvPr/>
        </p:nvSpPr>
        <p:spPr>
          <a:xfrm>
            <a:off x="68472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sp>
        <p:nvSpPr>
          <p:cNvPr id="3" name="Left Brace 2"/>
          <p:cNvSpPr/>
          <p:nvPr/>
        </p:nvSpPr>
        <p:spPr>
          <a:xfrm rot="16200000">
            <a:off x="3431300" y="3888087"/>
            <a:ext cx="421656" cy="3735635"/>
          </a:xfrm>
          <a:prstGeom prst="leftBrace">
            <a:avLst>
              <a:gd name="adj1" fmla="val 10161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p:cNvSpPr txBox="1"/>
          <p:nvPr/>
        </p:nvSpPr>
        <p:spPr>
          <a:xfrm>
            <a:off x="2933850" y="6080669"/>
            <a:ext cx="1342034" cy="461665"/>
          </a:xfrm>
          <a:prstGeom prst="rect">
            <a:avLst/>
          </a:prstGeom>
          <a:noFill/>
        </p:spPr>
        <p:txBody>
          <a:bodyPr wrap="none" rtlCol="0">
            <a:spAutoFit/>
          </a:bodyPr>
          <a:lstStyle/>
          <a:p>
            <a:r>
              <a:rPr lang="en-US" sz="2400" dirty="0" smtClean="0">
                <a:solidFill>
                  <a:srgbClr val="FF0000"/>
                </a:solidFill>
              </a:rPr>
              <a:t>Encoder</a:t>
            </a:r>
            <a:endParaRPr lang="en-US" sz="2400" dirty="0">
              <a:solidFill>
                <a:srgbClr val="FF0000"/>
              </a:solidFill>
            </a:endParaRPr>
          </a:p>
        </p:txBody>
      </p:sp>
    </p:spTree>
    <p:extLst>
      <p:ext uri="{BB962C8B-B14F-4D97-AF65-F5344CB8AC3E}">
        <p14:creationId xmlns:p14="http://schemas.microsoft.com/office/powerpoint/2010/main" val="1671319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to sequence</a:t>
            </a:r>
            <a:endParaRPr lang="en-US" dirty="0"/>
          </a:p>
        </p:txBody>
      </p:sp>
      <p:grpSp>
        <p:nvGrpSpPr>
          <p:cNvPr id="4" name="Group 3"/>
          <p:cNvGrpSpPr/>
          <p:nvPr/>
        </p:nvGrpSpPr>
        <p:grpSpPr>
          <a:xfrm>
            <a:off x="1598612" y="3804354"/>
            <a:ext cx="5138256" cy="1682046"/>
            <a:chOff x="1593436" y="3107530"/>
            <a:chExt cx="8746140" cy="2863114"/>
          </a:xfrm>
        </p:grpSpPr>
        <p:grpSp>
          <p:nvGrpSpPr>
            <p:cNvPr id="5" name="Group 4"/>
            <p:cNvGrpSpPr/>
            <p:nvPr/>
          </p:nvGrpSpPr>
          <p:grpSpPr>
            <a:xfrm>
              <a:off x="1593436" y="3107531"/>
              <a:ext cx="8746140" cy="2133600"/>
              <a:chOff x="1593436" y="3733800"/>
              <a:chExt cx="8746140" cy="2133600"/>
            </a:xfrm>
          </p:grpSpPr>
          <p:cxnSp>
            <p:nvCxnSpPr>
              <p:cNvPr id="16" name="Straight Arrow Connector 15"/>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19" name="Straight Arrow Connector 18"/>
              <p:cNvCxnSpPr/>
              <p:nvPr/>
            </p:nvCxnSpPr>
            <p:spPr>
              <a:xfrm>
                <a:off x="8250486"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671074"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041259" y="3107530"/>
              <a:ext cx="2443577" cy="2133601"/>
              <a:chOff x="1593435" y="3733799"/>
              <a:chExt cx="2443577" cy="2133601"/>
            </a:xfrm>
          </p:grpSpPr>
          <p:cxnSp>
            <p:nvCxnSpPr>
              <p:cNvPr id="13" name="Straight Arrow Connector 12"/>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grpSp>
          <p:nvGrpSpPr>
            <p:cNvPr id="7" name="Group 6"/>
            <p:cNvGrpSpPr/>
            <p:nvPr/>
          </p:nvGrpSpPr>
          <p:grpSpPr>
            <a:xfrm>
              <a:off x="6475412" y="3107531"/>
              <a:ext cx="1775075" cy="2133600"/>
              <a:chOff x="1593436" y="3733800"/>
              <a:chExt cx="1775075" cy="2133600"/>
            </a:xfrm>
          </p:grpSpPr>
          <p:cxnSp>
            <p:nvCxnSpPr>
              <p:cNvPr id="11" name="Straight Arrow Connector 10"/>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8" name="TextBox 7"/>
                <p:cNvSpPr txBox="1"/>
                <p:nvPr/>
              </p:nvSpPr>
              <p:spPr>
                <a:xfrm>
                  <a:off x="2055812"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sub>
                        </m:sSub>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55812" y="5237202"/>
                  <a:ext cx="919223" cy="639381"/>
                </a:xfrm>
                <a:prstGeom prst="rect">
                  <a:avLst/>
                </a:prstGeom>
                <a:blipFill rotWithShape="0">
                  <a:blip r:embed="rId2"/>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80423"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480423" y="5237202"/>
                  <a:ext cx="919223" cy="639381"/>
                </a:xfrm>
                <a:prstGeom prst="rect">
                  <a:avLst/>
                </a:prstGeom>
                <a:blipFill rotWithShape="0">
                  <a:blip r:embed="rId3"/>
                  <a:stretch>
                    <a:fillRect r="-15730" b="-12903"/>
                  </a:stretch>
                </a:blipFill>
              </p:spPr>
              <p:txBody>
                <a:bodyPr/>
                <a:lstStyle/>
                <a:p>
                  <a:r>
                    <a:rPr lang="en-US">
                      <a:noFill/>
                    </a:rPr>
                    <a:t> </a:t>
                  </a:r>
                </a:p>
              </p:txBody>
            </p:sp>
          </mc:Fallback>
        </mc:AlternateContent>
        <p:sp>
          <p:nvSpPr>
            <p:cNvPr id="10" name="TextBox 9"/>
            <p:cNvSpPr txBox="1"/>
            <p:nvPr/>
          </p:nvSpPr>
          <p:spPr>
            <a:xfrm>
              <a:off x="6715109" y="5237205"/>
              <a:ext cx="1704857" cy="733439"/>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p:grpSp>
      <p:sp>
        <p:nvSpPr>
          <p:cNvPr id="21" name="Rounded Rectangle 20"/>
          <p:cNvSpPr/>
          <p:nvPr/>
        </p:nvSpPr>
        <p:spPr>
          <a:xfrm>
            <a:off x="58791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66792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0" name="Straight Arrow Connector 29"/>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2" name="Straight Arrow Connector 31"/>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3" name="TextBox 32"/>
              <p:cNvSpPr txBox="1"/>
              <p:nvPr/>
            </p:nvSpPr>
            <p:spPr>
              <a:xfrm>
                <a:off x="70037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7003745" y="2769511"/>
                <a:ext cx="540033"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4281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8428175" y="2769511"/>
                <a:ext cx="540033" cy="430887"/>
              </a:xfrm>
              <a:prstGeom prst="rect">
                <a:avLst/>
              </a:prstGeom>
              <a:blipFill rotWithShape="0">
                <a:blip r:embed="rId5"/>
                <a:stretch>
                  <a:fillRect l="-1136" r="-17045"/>
                </a:stretch>
              </a:blipFill>
            </p:spPr>
            <p:txBody>
              <a:bodyPr/>
              <a:lstStyle/>
              <a:p>
                <a:r>
                  <a:rPr lang="en-US">
                    <a:noFill/>
                  </a:rPr>
                  <a:t> </a:t>
                </a:r>
              </a:p>
            </p:txBody>
          </p:sp>
        </mc:Fallback>
      </mc:AlternateContent>
      <p:sp>
        <p:nvSpPr>
          <p:cNvPr id="35" name="TextBox 34"/>
          <p:cNvSpPr txBox="1"/>
          <p:nvPr/>
        </p:nvSpPr>
        <p:spPr>
          <a:xfrm>
            <a:off x="95686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6" name="TextBox 35"/>
              <p:cNvSpPr txBox="1"/>
              <p:nvPr/>
            </p:nvSpPr>
            <p:spPr>
              <a:xfrm>
                <a:off x="83753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375342" y="4940562"/>
                <a:ext cx="540033" cy="43088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98386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9838627" y="4910478"/>
                <a:ext cx="540033" cy="430887"/>
              </a:xfrm>
              <a:prstGeom prst="rect">
                <a:avLst/>
              </a:prstGeom>
              <a:blipFill rotWithShape="0">
                <a:blip r:embed="rId7"/>
                <a:stretch>
                  <a:fillRect r="-16854"/>
                </a:stretch>
              </a:blipFill>
            </p:spPr>
            <p:txBody>
              <a:bodyPr/>
              <a:lstStyle/>
              <a:p>
                <a:r>
                  <a:rPr lang="en-US">
                    <a:noFill/>
                  </a:rPr>
                  <a:t> </a:t>
                </a:r>
              </a:p>
            </p:txBody>
          </p:sp>
        </mc:Fallback>
      </mc:AlternateContent>
      <p:sp>
        <p:nvSpPr>
          <p:cNvPr id="40" name="TextBox 39"/>
          <p:cNvSpPr txBox="1"/>
          <p:nvPr/>
        </p:nvSpPr>
        <p:spPr>
          <a:xfrm>
            <a:off x="68472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sp>
        <p:nvSpPr>
          <p:cNvPr id="3" name="Left Brace 2"/>
          <p:cNvSpPr/>
          <p:nvPr/>
        </p:nvSpPr>
        <p:spPr>
          <a:xfrm rot="16200000">
            <a:off x="8511567" y="3888088"/>
            <a:ext cx="421656" cy="3735635"/>
          </a:xfrm>
          <a:prstGeom prst="leftBrace">
            <a:avLst>
              <a:gd name="adj1" fmla="val 10161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p:cNvSpPr txBox="1"/>
          <p:nvPr/>
        </p:nvSpPr>
        <p:spPr>
          <a:xfrm>
            <a:off x="8014117" y="6080670"/>
            <a:ext cx="1372492" cy="461665"/>
          </a:xfrm>
          <a:prstGeom prst="rect">
            <a:avLst/>
          </a:prstGeom>
          <a:noFill/>
        </p:spPr>
        <p:txBody>
          <a:bodyPr wrap="none" rtlCol="0">
            <a:spAutoFit/>
          </a:bodyPr>
          <a:lstStyle/>
          <a:p>
            <a:r>
              <a:rPr lang="en-US" sz="2400" dirty="0" smtClean="0">
                <a:solidFill>
                  <a:srgbClr val="FF0000"/>
                </a:solidFill>
              </a:rPr>
              <a:t>Decoder</a:t>
            </a:r>
            <a:endParaRPr lang="en-US" sz="2400" dirty="0">
              <a:solidFill>
                <a:srgbClr val="FF0000"/>
              </a:solidFill>
            </a:endParaRPr>
          </a:p>
        </p:txBody>
      </p:sp>
    </p:spTree>
    <p:extLst>
      <p:ext uri="{BB962C8B-B14F-4D97-AF65-F5344CB8AC3E}">
        <p14:creationId xmlns:p14="http://schemas.microsoft.com/office/powerpoint/2010/main" val="785490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to sequence</a:t>
            </a:r>
            <a:endParaRPr lang="en-US" dirty="0"/>
          </a:p>
        </p:txBody>
      </p:sp>
      <p:grpSp>
        <p:nvGrpSpPr>
          <p:cNvPr id="4" name="Group 3"/>
          <p:cNvGrpSpPr/>
          <p:nvPr/>
        </p:nvGrpSpPr>
        <p:grpSpPr>
          <a:xfrm>
            <a:off x="1598612" y="3804354"/>
            <a:ext cx="5138256" cy="1682046"/>
            <a:chOff x="1593436" y="3107530"/>
            <a:chExt cx="8746140" cy="2863114"/>
          </a:xfrm>
        </p:grpSpPr>
        <p:grpSp>
          <p:nvGrpSpPr>
            <p:cNvPr id="5" name="Group 4"/>
            <p:cNvGrpSpPr/>
            <p:nvPr/>
          </p:nvGrpSpPr>
          <p:grpSpPr>
            <a:xfrm>
              <a:off x="1593436" y="3107531"/>
              <a:ext cx="8746140" cy="2133600"/>
              <a:chOff x="1593436" y="3733800"/>
              <a:chExt cx="8746140" cy="2133600"/>
            </a:xfrm>
          </p:grpSpPr>
          <p:cxnSp>
            <p:nvCxnSpPr>
              <p:cNvPr id="16" name="Straight Arrow Connector 15"/>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19" name="Straight Arrow Connector 18"/>
              <p:cNvCxnSpPr/>
              <p:nvPr/>
            </p:nvCxnSpPr>
            <p:spPr>
              <a:xfrm>
                <a:off x="8250486"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671074"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041259" y="3107530"/>
              <a:ext cx="2443577" cy="2133601"/>
              <a:chOff x="1593435" y="3733799"/>
              <a:chExt cx="2443577" cy="2133601"/>
            </a:xfrm>
          </p:grpSpPr>
          <p:cxnSp>
            <p:nvCxnSpPr>
              <p:cNvPr id="13" name="Straight Arrow Connector 12"/>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grpSp>
          <p:nvGrpSpPr>
            <p:cNvPr id="7" name="Group 6"/>
            <p:cNvGrpSpPr/>
            <p:nvPr/>
          </p:nvGrpSpPr>
          <p:grpSpPr>
            <a:xfrm>
              <a:off x="6475412" y="3107531"/>
              <a:ext cx="1775075" cy="2133600"/>
              <a:chOff x="1593436" y="3733800"/>
              <a:chExt cx="1775075" cy="2133600"/>
            </a:xfrm>
          </p:grpSpPr>
          <p:cxnSp>
            <p:nvCxnSpPr>
              <p:cNvPr id="11" name="Straight Arrow Connector 10"/>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8" name="TextBox 7"/>
                <p:cNvSpPr txBox="1"/>
                <p:nvPr/>
              </p:nvSpPr>
              <p:spPr>
                <a:xfrm>
                  <a:off x="2055812"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sub>
                        </m:sSub>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55812" y="5237202"/>
                  <a:ext cx="919223" cy="639381"/>
                </a:xfrm>
                <a:prstGeom prst="rect">
                  <a:avLst/>
                </a:prstGeom>
                <a:blipFill rotWithShape="0">
                  <a:blip r:embed="rId2"/>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80423"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480423" y="5237202"/>
                  <a:ext cx="919223" cy="639381"/>
                </a:xfrm>
                <a:prstGeom prst="rect">
                  <a:avLst/>
                </a:prstGeom>
                <a:blipFill rotWithShape="0">
                  <a:blip r:embed="rId3"/>
                  <a:stretch>
                    <a:fillRect r="-15730" b="-12903"/>
                  </a:stretch>
                </a:blipFill>
              </p:spPr>
              <p:txBody>
                <a:bodyPr/>
                <a:lstStyle/>
                <a:p>
                  <a:r>
                    <a:rPr lang="en-US">
                      <a:noFill/>
                    </a:rPr>
                    <a:t> </a:t>
                  </a:r>
                </a:p>
              </p:txBody>
            </p:sp>
          </mc:Fallback>
        </mc:AlternateContent>
        <p:sp>
          <p:nvSpPr>
            <p:cNvPr id="10" name="TextBox 9"/>
            <p:cNvSpPr txBox="1"/>
            <p:nvPr/>
          </p:nvSpPr>
          <p:spPr>
            <a:xfrm>
              <a:off x="6715109" y="5237205"/>
              <a:ext cx="1704857" cy="733439"/>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p:grpSp>
      <p:sp>
        <p:nvSpPr>
          <p:cNvPr id="21" name="Rounded Rectangle 20"/>
          <p:cNvSpPr/>
          <p:nvPr/>
        </p:nvSpPr>
        <p:spPr>
          <a:xfrm>
            <a:off x="58791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66792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0" name="Straight Arrow Connector 29"/>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2" name="Straight Arrow Connector 31"/>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3" name="TextBox 32"/>
              <p:cNvSpPr txBox="1"/>
              <p:nvPr/>
            </p:nvSpPr>
            <p:spPr>
              <a:xfrm>
                <a:off x="70037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7003745" y="2769511"/>
                <a:ext cx="540033"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4281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8428175" y="2769511"/>
                <a:ext cx="540033" cy="430887"/>
              </a:xfrm>
              <a:prstGeom prst="rect">
                <a:avLst/>
              </a:prstGeom>
              <a:blipFill rotWithShape="0">
                <a:blip r:embed="rId5"/>
                <a:stretch>
                  <a:fillRect l="-1136" r="-17045"/>
                </a:stretch>
              </a:blipFill>
            </p:spPr>
            <p:txBody>
              <a:bodyPr/>
              <a:lstStyle/>
              <a:p>
                <a:r>
                  <a:rPr lang="en-US">
                    <a:noFill/>
                  </a:rPr>
                  <a:t> </a:t>
                </a:r>
              </a:p>
            </p:txBody>
          </p:sp>
        </mc:Fallback>
      </mc:AlternateContent>
      <p:sp>
        <p:nvSpPr>
          <p:cNvPr id="35" name="TextBox 34"/>
          <p:cNvSpPr txBox="1"/>
          <p:nvPr/>
        </p:nvSpPr>
        <p:spPr>
          <a:xfrm>
            <a:off x="95686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6" name="TextBox 35"/>
              <p:cNvSpPr txBox="1"/>
              <p:nvPr/>
            </p:nvSpPr>
            <p:spPr>
              <a:xfrm>
                <a:off x="83753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375342" y="4940562"/>
                <a:ext cx="540033" cy="43088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98386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9838627" y="4910478"/>
                <a:ext cx="540033" cy="430887"/>
              </a:xfrm>
              <a:prstGeom prst="rect">
                <a:avLst/>
              </a:prstGeom>
              <a:blipFill rotWithShape="0">
                <a:blip r:embed="rId7"/>
                <a:stretch>
                  <a:fillRect r="-16854"/>
                </a:stretch>
              </a:blipFill>
            </p:spPr>
            <p:txBody>
              <a:bodyPr/>
              <a:lstStyle/>
              <a:p>
                <a:r>
                  <a:rPr lang="en-US">
                    <a:noFill/>
                  </a:rPr>
                  <a:t> </a:t>
                </a:r>
              </a:p>
            </p:txBody>
          </p:sp>
        </mc:Fallback>
      </mc:AlternateContent>
      <p:sp>
        <p:nvSpPr>
          <p:cNvPr id="40" name="TextBox 39"/>
          <p:cNvSpPr txBox="1"/>
          <p:nvPr/>
        </p:nvSpPr>
        <p:spPr>
          <a:xfrm>
            <a:off x="68472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sp>
        <p:nvSpPr>
          <p:cNvPr id="42" name="TextBox 41"/>
          <p:cNvSpPr txBox="1"/>
          <p:nvPr/>
        </p:nvSpPr>
        <p:spPr>
          <a:xfrm>
            <a:off x="5108328" y="6172906"/>
            <a:ext cx="2211567" cy="461665"/>
          </a:xfrm>
          <a:prstGeom prst="rect">
            <a:avLst/>
          </a:prstGeom>
          <a:noFill/>
        </p:spPr>
        <p:txBody>
          <a:bodyPr wrap="none" rtlCol="0">
            <a:spAutoFit/>
          </a:bodyPr>
          <a:lstStyle/>
          <a:p>
            <a:r>
              <a:rPr lang="en-US" sz="2400" smtClean="0">
                <a:solidFill>
                  <a:srgbClr val="FF0000"/>
                </a:solidFill>
              </a:rPr>
              <a:t>Encoded input</a:t>
            </a:r>
            <a:endParaRPr lang="en-US" sz="2400" dirty="0">
              <a:solidFill>
                <a:srgbClr val="FF0000"/>
              </a:solidFill>
            </a:endParaRPr>
          </a:p>
        </p:txBody>
      </p:sp>
      <p:sp>
        <p:nvSpPr>
          <p:cNvPr id="43" name="Rounded Rectangle 42"/>
          <p:cNvSpPr/>
          <p:nvPr/>
        </p:nvSpPr>
        <p:spPr>
          <a:xfrm>
            <a:off x="5705920" y="1905000"/>
            <a:ext cx="834579" cy="4175670"/>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0485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and Tell</a:t>
            </a:r>
            <a:endParaRPr lang="en-US" dirty="0"/>
          </a:p>
        </p:txBody>
      </p:sp>
      <p:sp>
        <p:nvSpPr>
          <p:cNvPr id="3" name="Content Placeholder 2"/>
          <p:cNvSpPr>
            <a:spLocks noGrp="1"/>
          </p:cNvSpPr>
          <p:nvPr>
            <p:ph idx="1"/>
          </p:nvPr>
        </p:nvSpPr>
        <p:spPr>
          <a:xfrm>
            <a:off x="1593436" y="1600200"/>
            <a:ext cx="9782801" cy="671154"/>
          </a:xfrm>
        </p:spPr>
        <p:txBody>
          <a:bodyPr/>
          <a:lstStyle/>
          <a:p>
            <a:r>
              <a:rPr lang="en-US" dirty="0" smtClean="0"/>
              <a:t>Instead of this:</a:t>
            </a:r>
            <a:endParaRPr lang="en-US" dirty="0"/>
          </a:p>
        </p:txBody>
      </p:sp>
      <p:grpSp>
        <p:nvGrpSpPr>
          <p:cNvPr id="4" name="Group 3"/>
          <p:cNvGrpSpPr/>
          <p:nvPr/>
        </p:nvGrpSpPr>
        <p:grpSpPr>
          <a:xfrm>
            <a:off x="1598612" y="3804354"/>
            <a:ext cx="5138256" cy="1682046"/>
            <a:chOff x="1593436" y="3107530"/>
            <a:chExt cx="8746140" cy="2863114"/>
          </a:xfrm>
        </p:grpSpPr>
        <p:grpSp>
          <p:nvGrpSpPr>
            <p:cNvPr id="5" name="Group 4"/>
            <p:cNvGrpSpPr/>
            <p:nvPr/>
          </p:nvGrpSpPr>
          <p:grpSpPr>
            <a:xfrm>
              <a:off x="1593436" y="3107531"/>
              <a:ext cx="8746140" cy="2133600"/>
              <a:chOff x="1593436" y="3733800"/>
              <a:chExt cx="8746140" cy="2133600"/>
            </a:xfrm>
          </p:grpSpPr>
          <p:cxnSp>
            <p:nvCxnSpPr>
              <p:cNvPr id="16" name="Straight Arrow Connector 15"/>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19" name="Straight Arrow Connector 18"/>
              <p:cNvCxnSpPr/>
              <p:nvPr/>
            </p:nvCxnSpPr>
            <p:spPr>
              <a:xfrm>
                <a:off x="8250486"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9671074" y="4389834"/>
                <a:ext cx="668502"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4041259" y="3107530"/>
              <a:ext cx="2443577" cy="2133601"/>
              <a:chOff x="1593435" y="3733799"/>
              <a:chExt cx="2443577" cy="2133601"/>
            </a:xfrm>
          </p:grpSpPr>
          <p:cxnSp>
            <p:nvCxnSpPr>
              <p:cNvPr id="13" name="Straight Arrow Connector 12"/>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grpSp>
          <p:nvGrpSpPr>
            <p:cNvPr id="7" name="Group 6"/>
            <p:cNvGrpSpPr/>
            <p:nvPr/>
          </p:nvGrpSpPr>
          <p:grpSpPr>
            <a:xfrm>
              <a:off x="6475412" y="3107531"/>
              <a:ext cx="1775075" cy="2133600"/>
              <a:chOff x="1593436" y="3733800"/>
              <a:chExt cx="1775075" cy="2133600"/>
            </a:xfrm>
          </p:grpSpPr>
          <p:cxnSp>
            <p:nvCxnSpPr>
              <p:cNvPr id="11" name="Straight Arrow Connector 10"/>
              <p:cNvCxnSpPr/>
              <p:nvPr/>
            </p:nvCxnSpPr>
            <p:spPr>
              <a:xfrm flipV="1">
                <a:off x="2492210" y="50458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8" name="TextBox 7"/>
                <p:cNvSpPr txBox="1"/>
                <p:nvPr/>
              </p:nvSpPr>
              <p:spPr>
                <a:xfrm>
                  <a:off x="2055812"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sub>
                        </m:sSub>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55812" y="5237202"/>
                  <a:ext cx="919223" cy="639381"/>
                </a:xfrm>
                <a:prstGeom prst="rect">
                  <a:avLst/>
                </a:prstGeom>
                <a:blipFill rotWithShape="0">
                  <a:blip r:embed="rId3"/>
                  <a:stretch>
                    <a:fillRect b="-129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480423" y="5237202"/>
                  <a:ext cx="919223" cy="63938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𝑥</m:t>
                            </m:r>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480423" y="5237202"/>
                  <a:ext cx="919223" cy="639381"/>
                </a:xfrm>
                <a:prstGeom prst="rect">
                  <a:avLst/>
                </a:prstGeom>
                <a:blipFill rotWithShape="0">
                  <a:blip r:embed="rId4"/>
                  <a:stretch>
                    <a:fillRect r="-15730" b="-12903"/>
                  </a:stretch>
                </a:blipFill>
              </p:spPr>
              <p:txBody>
                <a:bodyPr/>
                <a:lstStyle/>
                <a:p>
                  <a:r>
                    <a:rPr lang="en-US">
                      <a:noFill/>
                    </a:rPr>
                    <a:t> </a:t>
                  </a:r>
                </a:p>
              </p:txBody>
            </p:sp>
          </mc:Fallback>
        </mc:AlternateContent>
        <p:sp>
          <p:nvSpPr>
            <p:cNvPr id="10" name="TextBox 9"/>
            <p:cNvSpPr txBox="1"/>
            <p:nvPr/>
          </p:nvSpPr>
          <p:spPr>
            <a:xfrm>
              <a:off x="6715109" y="5237205"/>
              <a:ext cx="1704857" cy="733439"/>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p:grpSp>
      <p:sp>
        <p:nvSpPr>
          <p:cNvPr id="21" name="Rounded Rectangle 20"/>
          <p:cNvSpPr/>
          <p:nvPr/>
        </p:nvSpPr>
        <p:spPr>
          <a:xfrm>
            <a:off x="58791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66792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3" name="Straight Arrow Connector 32"/>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5" name="Straight Arrow Connector 34"/>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6" name="TextBox 35"/>
              <p:cNvSpPr txBox="1"/>
              <p:nvPr/>
            </p:nvSpPr>
            <p:spPr>
              <a:xfrm>
                <a:off x="70037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7003745" y="2769511"/>
                <a:ext cx="540033" cy="43088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84281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7" name="TextBox 36"/>
              <p:cNvSpPr txBox="1">
                <a:spLocks noRot="1" noChangeAspect="1" noMove="1" noResize="1" noEditPoints="1" noAdjustHandles="1" noChangeArrowheads="1" noChangeShapeType="1" noTextEdit="1"/>
              </p:cNvSpPr>
              <p:nvPr/>
            </p:nvSpPr>
            <p:spPr>
              <a:xfrm>
                <a:off x="8428175" y="2769511"/>
                <a:ext cx="540033" cy="430887"/>
              </a:xfrm>
              <a:prstGeom prst="rect">
                <a:avLst/>
              </a:prstGeom>
              <a:blipFill rotWithShape="0">
                <a:blip r:embed="rId6"/>
                <a:stretch>
                  <a:fillRect l="-1136" r="-17045"/>
                </a:stretch>
              </a:blipFill>
            </p:spPr>
            <p:txBody>
              <a:bodyPr/>
              <a:lstStyle/>
              <a:p>
                <a:r>
                  <a:rPr lang="en-US">
                    <a:noFill/>
                  </a:rPr>
                  <a:t> </a:t>
                </a:r>
              </a:p>
            </p:txBody>
          </p:sp>
        </mc:Fallback>
      </mc:AlternateContent>
      <p:sp>
        <p:nvSpPr>
          <p:cNvPr id="38" name="TextBox 37"/>
          <p:cNvSpPr txBox="1"/>
          <p:nvPr/>
        </p:nvSpPr>
        <p:spPr>
          <a:xfrm>
            <a:off x="95686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9" name="TextBox 38"/>
              <p:cNvSpPr txBox="1"/>
              <p:nvPr/>
            </p:nvSpPr>
            <p:spPr>
              <a:xfrm>
                <a:off x="83753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9" name="TextBox 38"/>
              <p:cNvSpPr txBox="1">
                <a:spLocks noRot="1" noChangeAspect="1" noMove="1" noResize="1" noEditPoints="1" noAdjustHandles="1" noChangeArrowheads="1" noChangeShapeType="1" noTextEdit="1"/>
              </p:cNvSpPr>
              <p:nvPr/>
            </p:nvSpPr>
            <p:spPr>
              <a:xfrm>
                <a:off x="8375342" y="4940562"/>
                <a:ext cx="540033" cy="430887"/>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98386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40" name="TextBox 39"/>
              <p:cNvSpPr txBox="1">
                <a:spLocks noRot="1" noChangeAspect="1" noMove="1" noResize="1" noEditPoints="1" noAdjustHandles="1" noChangeArrowheads="1" noChangeShapeType="1" noTextEdit="1"/>
              </p:cNvSpPr>
              <p:nvPr/>
            </p:nvSpPr>
            <p:spPr>
              <a:xfrm>
                <a:off x="9838627" y="4910478"/>
                <a:ext cx="540033" cy="430887"/>
              </a:xfrm>
              <a:prstGeom prst="rect">
                <a:avLst/>
              </a:prstGeom>
              <a:blipFill rotWithShape="0">
                <a:blip r:embed="rId8"/>
                <a:stretch>
                  <a:fillRect r="-16854"/>
                </a:stretch>
              </a:blipFill>
            </p:spPr>
            <p:txBody>
              <a:bodyPr/>
              <a:lstStyle/>
              <a:p>
                <a:r>
                  <a:rPr lang="en-US">
                    <a:noFill/>
                  </a:rPr>
                  <a:t> </a:t>
                </a:r>
              </a:p>
            </p:txBody>
          </p:sp>
        </mc:Fallback>
      </mc:AlternateContent>
      <p:sp>
        <p:nvSpPr>
          <p:cNvPr id="41" name="TextBox 40"/>
          <p:cNvSpPr txBox="1"/>
          <p:nvPr/>
        </p:nvSpPr>
        <p:spPr>
          <a:xfrm>
            <a:off x="68472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spTree>
    <p:extLst>
      <p:ext uri="{BB962C8B-B14F-4D97-AF65-F5344CB8AC3E}">
        <p14:creationId xmlns:p14="http://schemas.microsoft.com/office/powerpoint/2010/main" val="2106923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and Tell</a:t>
            </a:r>
            <a:endParaRPr lang="en-US" dirty="0"/>
          </a:p>
        </p:txBody>
      </p:sp>
      <p:sp>
        <p:nvSpPr>
          <p:cNvPr id="3" name="Content Placeholder 2"/>
          <p:cNvSpPr>
            <a:spLocks noGrp="1"/>
          </p:cNvSpPr>
          <p:nvPr>
            <p:ph idx="1"/>
          </p:nvPr>
        </p:nvSpPr>
        <p:spPr>
          <a:xfrm>
            <a:off x="1593436" y="1600200"/>
            <a:ext cx="9782801" cy="671154"/>
          </a:xfrm>
        </p:spPr>
        <p:txBody>
          <a:bodyPr/>
          <a:lstStyle/>
          <a:p>
            <a:r>
              <a:rPr lang="en-US" dirty="0" smtClean="0"/>
              <a:t>Try this!</a:t>
            </a:r>
            <a:endParaRPr lang="en-US" dirty="0"/>
          </a:p>
        </p:txBody>
      </p:sp>
      <p:sp>
        <p:nvSpPr>
          <p:cNvPr id="21" name="Rounded Rectangle 20"/>
          <p:cNvSpPr/>
          <p:nvPr/>
        </p:nvSpPr>
        <p:spPr>
          <a:xfrm>
            <a:off x="6484836" y="2133600"/>
            <a:ext cx="464995" cy="3783441"/>
          </a:xfrm>
          <a:prstGeom prst="roundRect">
            <a:avLst/>
          </a:prstGeom>
          <a:solidFill>
            <a:schemeClr val="accent3">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p:nvGrpSpPr>
          <p:cNvPr id="22" name="Group 21"/>
          <p:cNvGrpSpPr/>
          <p:nvPr/>
        </p:nvGrpSpPr>
        <p:grpSpPr>
          <a:xfrm>
            <a:off x="7284971" y="3204456"/>
            <a:ext cx="3910941" cy="1740163"/>
            <a:chOff x="1593436" y="2286000"/>
            <a:chExt cx="6657051" cy="2962036"/>
          </a:xfrm>
        </p:grpSpPr>
        <p:grpSp>
          <p:nvGrpSpPr>
            <p:cNvPr id="23" name="Group 22"/>
            <p:cNvGrpSpPr/>
            <p:nvPr/>
          </p:nvGrpSpPr>
          <p:grpSpPr>
            <a:xfrm>
              <a:off x="1593436" y="2286000"/>
              <a:ext cx="2443576" cy="2133600"/>
              <a:chOff x="1593436" y="2912269"/>
              <a:chExt cx="2443576" cy="2133600"/>
            </a:xfrm>
          </p:grpSpPr>
          <p:cxnSp>
            <p:nvCxnSpPr>
              <p:cNvPr id="33" name="Straight Arrow Connector 32"/>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a:off x="1593436" y="3733800"/>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35" name="Straight Arrow Connector 34"/>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489286" y="2286000"/>
              <a:ext cx="4897814" cy="2962036"/>
              <a:chOff x="41462" y="2912269"/>
              <a:chExt cx="4897814" cy="2962036"/>
            </a:xfrm>
          </p:grpSpPr>
          <p:cxnSp>
            <p:nvCxnSpPr>
              <p:cNvPr id="26" name="Straight Arrow Connector 25"/>
              <p:cNvCxnSpPr/>
              <p:nvPr/>
            </p:nvCxnSpPr>
            <p:spPr>
              <a:xfrm>
                <a:off x="3368511" y="4389834"/>
                <a:ext cx="668501"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593435" y="3733799"/>
                <a:ext cx="1775074"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cxnSp>
            <p:nvCxnSpPr>
              <p:cNvPr id="28" name="Straight Arrow Connector 27"/>
              <p:cNvCxnSpPr/>
              <p:nvPr/>
            </p:nvCxnSpPr>
            <p:spPr>
              <a:xfrm flipV="1">
                <a:off x="2492210" y="2912269"/>
                <a:ext cx="1"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910728" y="2912269"/>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2492210"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4939274"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41462" y="5052774"/>
                <a:ext cx="2" cy="82153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grpSp>
        <p:sp>
          <p:nvSpPr>
            <p:cNvPr id="25" name="Rounded Rectangle 24"/>
            <p:cNvSpPr/>
            <p:nvPr/>
          </p:nvSpPr>
          <p:spPr>
            <a:xfrm>
              <a:off x="6475412" y="3107531"/>
              <a:ext cx="1775075" cy="1312069"/>
            </a:xfrm>
            <a:prstGeom prst="round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000" dirty="0">
                <a:ln>
                  <a:solidFill>
                    <a:sysClr val="windowText" lastClr="000000"/>
                  </a:solidFill>
                </a:ln>
              </a:endParaRPr>
            </a:p>
          </p:txBody>
        </p:sp>
      </p:grpSp>
      <mc:AlternateContent xmlns:mc="http://schemas.openxmlformats.org/markup-compatibility/2006" xmlns:a14="http://schemas.microsoft.com/office/drawing/2010/main">
        <mc:Choice Requires="a14">
          <p:sp>
            <p:nvSpPr>
              <p:cNvPr id="36" name="TextBox 35"/>
              <p:cNvSpPr txBox="1"/>
              <p:nvPr/>
            </p:nvSpPr>
            <p:spPr>
              <a:xfrm>
                <a:off x="760944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7609445" y="2769511"/>
                <a:ext cx="540033" cy="430887"/>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9033875" y="2769511"/>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37" name="TextBox 36"/>
              <p:cNvSpPr txBox="1">
                <a:spLocks noRot="1" noChangeAspect="1" noMove="1" noResize="1" noEditPoints="1" noAdjustHandles="1" noChangeArrowheads="1" noChangeShapeType="1" noTextEdit="1"/>
              </p:cNvSpPr>
              <p:nvPr/>
            </p:nvSpPr>
            <p:spPr>
              <a:xfrm>
                <a:off x="9033875" y="2769511"/>
                <a:ext cx="540033" cy="430887"/>
              </a:xfrm>
              <a:prstGeom prst="rect">
                <a:avLst/>
              </a:prstGeom>
              <a:blipFill rotWithShape="0">
                <a:blip r:embed="rId3"/>
                <a:stretch>
                  <a:fillRect r="-16854"/>
                </a:stretch>
              </a:blipFill>
            </p:spPr>
            <p:txBody>
              <a:bodyPr/>
              <a:lstStyle/>
              <a:p>
                <a:r>
                  <a:rPr lang="en-US">
                    <a:noFill/>
                  </a:rPr>
                  <a:t> </a:t>
                </a:r>
              </a:p>
            </p:txBody>
          </p:sp>
        </mc:Fallback>
      </mc:AlternateContent>
      <p:sp>
        <p:nvSpPr>
          <p:cNvPr id="38" name="TextBox 37"/>
          <p:cNvSpPr txBox="1"/>
          <p:nvPr/>
        </p:nvSpPr>
        <p:spPr>
          <a:xfrm>
            <a:off x="10174312" y="2793054"/>
            <a:ext cx="1001584" cy="430887"/>
          </a:xfrm>
          <a:prstGeom prst="rect">
            <a:avLst/>
          </a:prstGeom>
          <a:noFill/>
        </p:spPr>
        <p:txBody>
          <a:bodyPr wrap="square" lIns="0" tIns="0" rIns="0" bIns="0" rtlCol="0">
            <a:spAutoFit/>
          </a:bodyPr>
          <a:lstStyle/>
          <a:p>
            <a:r>
              <a:rPr lang="en-US" sz="2800" dirty="0" smtClean="0"/>
              <a:t>&lt;</a:t>
            </a:r>
            <a:r>
              <a:rPr lang="en-US" sz="2800" dirty="0" err="1" smtClean="0"/>
              <a:t>eos</a:t>
            </a:r>
            <a:r>
              <a:rPr lang="en-US" sz="2800" dirty="0" smtClean="0"/>
              <a:t>&gt;</a:t>
            </a:r>
            <a:endParaRPr lang="en-US" sz="2800" dirty="0"/>
          </a:p>
        </p:txBody>
      </p:sp>
      <mc:AlternateContent xmlns:mc="http://schemas.openxmlformats.org/markup-compatibility/2006" xmlns:a14="http://schemas.microsoft.com/office/drawing/2010/main">
        <mc:Choice Requires="a14">
          <p:sp>
            <p:nvSpPr>
              <p:cNvPr id="39" name="TextBox 38"/>
              <p:cNvSpPr txBox="1"/>
              <p:nvPr/>
            </p:nvSpPr>
            <p:spPr>
              <a:xfrm>
                <a:off x="8981042" y="4940562"/>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sub>
                      </m:sSub>
                    </m:oMath>
                  </m:oMathPara>
                </a14:m>
                <a:endParaRPr lang="en-US" sz="2800" dirty="0"/>
              </a:p>
            </p:txBody>
          </p:sp>
        </mc:Choice>
        <mc:Fallback xmlns="">
          <p:sp>
            <p:nvSpPr>
              <p:cNvPr id="39" name="TextBox 38"/>
              <p:cNvSpPr txBox="1">
                <a:spLocks noRot="1" noChangeAspect="1" noMove="1" noResize="1" noEditPoints="1" noAdjustHandles="1" noChangeArrowheads="1" noChangeShapeType="1" noTextEdit="1"/>
              </p:cNvSpPr>
              <p:nvPr/>
            </p:nvSpPr>
            <p:spPr>
              <a:xfrm>
                <a:off x="8981042" y="4940562"/>
                <a:ext cx="540033"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10444327" y="4910478"/>
                <a:ext cx="5400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charset="0"/>
                                </a:rPr>
                                <m:t>𝑦</m:t>
                              </m:r>
                            </m:e>
                          </m:acc>
                        </m:e>
                        <m:sub>
                          <m:r>
                            <a:rPr lang="en-US" sz="2800" b="0" i="1" smtClean="0">
                              <a:latin typeface="Cambria Math" charset="0"/>
                            </a:rPr>
                            <m:t>𝑡</m:t>
                          </m:r>
                          <m:r>
                            <a:rPr lang="en-US" sz="2800" b="0" i="1" smtClean="0">
                              <a:latin typeface="Cambria Math" charset="0"/>
                            </a:rPr>
                            <m:t>+1</m:t>
                          </m:r>
                        </m:sub>
                      </m:sSub>
                    </m:oMath>
                  </m:oMathPara>
                </a14:m>
                <a:endParaRPr lang="en-US" sz="2800" dirty="0"/>
              </a:p>
            </p:txBody>
          </p:sp>
        </mc:Choice>
        <mc:Fallback xmlns="">
          <p:sp>
            <p:nvSpPr>
              <p:cNvPr id="40" name="TextBox 39"/>
              <p:cNvSpPr txBox="1">
                <a:spLocks noRot="1" noChangeAspect="1" noMove="1" noResize="1" noEditPoints="1" noAdjustHandles="1" noChangeArrowheads="1" noChangeShapeType="1" noTextEdit="1"/>
              </p:cNvSpPr>
              <p:nvPr/>
            </p:nvSpPr>
            <p:spPr>
              <a:xfrm>
                <a:off x="10444327" y="4910478"/>
                <a:ext cx="540033" cy="430887"/>
              </a:xfrm>
              <a:prstGeom prst="rect">
                <a:avLst/>
              </a:prstGeom>
              <a:blipFill rotWithShape="0">
                <a:blip r:embed="rId5"/>
                <a:stretch>
                  <a:fillRect r="-16854"/>
                </a:stretch>
              </a:blipFill>
            </p:spPr>
            <p:txBody>
              <a:bodyPr/>
              <a:lstStyle/>
              <a:p>
                <a:r>
                  <a:rPr lang="en-US">
                    <a:noFill/>
                  </a:rPr>
                  <a:t> </a:t>
                </a:r>
              </a:p>
            </p:txBody>
          </p:sp>
        </mc:Fallback>
      </mc:AlternateContent>
      <p:sp>
        <p:nvSpPr>
          <p:cNvPr id="41" name="TextBox 40"/>
          <p:cNvSpPr txBox="1"/>
          <p:nvPr/>
        </p:nvSpPr>
        <p:spPr>
          <a:xfrm>
            <a:off x="7452931" y="4926227"/>
            <a:ext cx="1001584" cy="430887"/>
          </a:xfrm>
          <a:prstGeom prst="rect">
            <a:avLst/>
          </a:prstGeom>
          <a:noFill/>
        </p:spPr>
        <p:txBody>
          <a:bodyPr wrap="square" lIns="0" tIns="0" rIns="0" bIns="0" rtlCol="0">
            <a:spAutoFit/>
          </a:bodyPr>
          <a:lstStyle/>
          <a:p>
            <a:r>
              <a:rPr lang="en-US" sz="2800" smtClean="0"/>
              <a:t>&lt;go&gt;</a:t>
            </a:r>
            <a:endParaRPr lang="en-US" sz="2800" dirty="0"/>
          </a:p>
        </p:txBody>
      </p:sp>
      <p:cxnSp>
        <p:nvCxnSpPr>
          <p:cNvPr id="42" name="Straight Arrow Connector 41"/>
          <p:cNvCxnSpPr/>
          <p:nvPr/>
        </p:nvCxnSpPr>
        <p:spPr>
          <a:xfrm>
            <a:off x="6949831" y="4114800"/>
            <a:ext cx="392737"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1546056" y="3368205"/>
            <a:ext cx="4430162" cy="1314229"/>
            <a:chOff x="1582555" y="2803300"/>
            <a:chExt cx="8017057" cy="2378300"/>
          </a:xfrm>
        </p:grpSpPr>
        <p:sp>
          <p:nvSpPr>
            <p:cNvPr id="43" name="Cube 42"/>
            <p:cNvSpPr/>
            <p:nvPr/>
          </p:nvSpPr>
          <p:spPr>
            <a:xfrm>
              <a:off x="1582555" y="2803300"/>
              <a:ext cx="457200" cy="1600200"/>
            </a:xfrm>
            <a:prstGeom prst="cube">
              <a:avLst>
                <a:gd name="adj" fmla="val 87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ube 43"/>
            <p:cNvSpPr/>
            <p:nvPr/>
          </p:nvSpPr>
          <p:spPr>
            <a:xfrm>
              <a:off x="2420755" y="2803300"/>
              <a:ext cx="914400" cy="1600200"/>
            </a:xfrm>
            <a:prstGeom prst="cube">
              <a:avLst>
                <a:gd name="adj" fmla="val 630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ube 44"/>
            <p:cNvSpPr/>
            <p:nvPr/>
          </p:nvSpPr>
          <p:spPr>
            <a:xfrm>
              <a:off x="3639955" y="3489100"/>
              <a:ext cx="1295400" cy="914400"/>
            </a:xfrm>
            <a:prstGeom prst="cube">
              <a:avLst>
                <a:gd name="adj" fmla="val 26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Cube 45"/>
            <p:cNvSpPr/>
            <p:nvPr/>
          </p:nvSpPr>
          <p:spPr>
            <a:xfrm>
              <a:off x="5240155" y="3793900"/>
              <a:ext cx="2209800" cy="609600"/>
            </a:xfrm>
            <a:prstGeom prst="cube">
              <a:avLst>
                <a:gd name="adj" fmla="val 310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83042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9294812" y="2971800"/>
              <a:ext cx="304800" cy="220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p:nvPr/>
          </p:nvCxnSpPr>
          <p:spPr>
            <a:xfrm>
              <a:off x="20397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258955" y="3941780"/>
              <a:ext cx="3810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4951412" y="4076744"/>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7571918" y="4076744"/>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8675758" y="4098700"/>
              <a:ext cx="6096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a:off x="6092099" y="4100413"/>
            <a:ext cx="392737"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131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and Tell</a:t>
            </a:r>
            <a:endParaRPr lang="en-US" dirty="0"/>
          </a:p>
        </p:txBody>
      </p:sp>
      <p:sp>
        <p:nvSpPr>
          <p:cNvPr id="3" name="Content Placeholder 2"/>
          <p:cNvSpPr>
            <a:spLocks noGrp="1"/>
          </p:cNvSpPr>
          <p:nvPr>
            <p:ph idx="1"/>
          </p:nvPr>
        </p:nvSpPr>
        <p:spPr/>
        <p:txBody>
          <a:bodyPr/>
          <a:lstStyle/>
          <a:p>
            <a:r>
              <a:rPr lang="en-US" dirty="0" smtClean="0"/>
              <a:t>Idea: instead of encoding with an RNN, use a CNN</a:t>
            </a:r>
          </a:p>
          <a:p>
            <a:endParaRPr lang="en-US" dirty="0" smtClean="0"/>
          </a:p>
          <a:p>
            <a:r>
              <a:rPr lang="en-US" dirty="0" smtClean="0"/>
              <a:t>Use flattened output vector as the initial input of RNN</a:t>
            </a:r>
          </a:p>
          <a:p>
            <a:endParaRPr lang="en-US" dirty="0" smtClean="0"/>
          </a:p>
          <a:p>
            <a:r>
              <a:rPr lang="en-US" dirty="0" smtClean="0"/>
              <a:t>Run one step of RNN to calculate “initial hidden state”</a:t>
            </a:r>
          </a:p>
          <a:p>
            <a:endParaRPr lang="en-US" dirty="0" smtClean="0"/>
          </a:p>
          <a:p>
            <a:r>
              <a:rPr lang="en-US" dirty="0" smtClean="0"/>
              <a:t>Then have the RNN decode words as before</a:t>
            </a:r>
          </a:p>
          <a:p>
            <a:r>
              <a:rPr lang="en-US" dirty="0" smtClean="0">
                <a:hlinkClick r:id="rId3"/>
              </a:rPr>
              <a:t>https</a:t>
            </a:r>
            <a:r>
              <a:rPr lang="en-US" dirty="0">
                <a:hlinkClick r:id="rId3"/>
              </a:rPr>
              <a:t>://</a:t>
            </a:r>
            <a:r>
              <a:rPr lang="en-US" dirty="0" smtClean="0">
                <a:hlinkClick r:id="rId3"/>
              </a:rPr>
              <a:t>arxiv.org/pdf/1411.4555.pdf</a:t>
            </a:r>
            <a:endParaRPr lang="en-US" dirty="0" smtClean="0"/>
          </a:p>
          <a:p>
            <a:endParaRPr lang="en-US" dirty="0" smtClean="0"/>
          </a:p>
          <a:p>
            <a:endParaRPr lang="en-US" dirty="0"/>
          </a:p>
        </p:txBody>
      </p:sp>
    </p:spTree>
    <p:extLst>
      <p:ext uri="{BB962C8B-B14F-4D97-AF65-F5344CB8AC3E}">
        <p14:creationId xmlns:p14="http://schemas.microsoft.com/office/powerpoint/2010/main" val="1447388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 and limitations</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2781" y="1604963"/>
            <a:ext cx="7256914" cy="4567237"/>
          </a:xfrm>
        </p:spPr>
      </p:pic>
    </p:spTree>
    <p:extLst>
      <p:ext uri="{BB962C8B-B14F-4D97-AF65-F5344CB8AC3E}">
        <p14:creationId xmlns:p14="http://schemas.microsoft.com/office/powerpoint/2010/main" val="1713081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TFRecords</a:t>
            </a:r>
            <a:endParaRPr lang="en-US" dirty="0"/>
          </a:p>
        </p:txBody>
      </p:sp>
    </p:spTree>
    <p:extLst>
      <p:ext uri="{BB962C8B-B14F-4D97-AF65-F5344CB8AC3E}">
        <p14:creationId xmlns:p14="http://schemas.microsoft.com/office/powerpoint/2010/main" val="1223187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TFRecords</a:t>
            </a:r>
            <a:r>
              <a:rPr lang="en-US" dirty="0" smtClean="0"/>
              <a:t> format</a:t>
            </a:r>
            <a:endParaRPr lang="en-US" dirty="0"/>
          </a:p>
        </p:txBody>
      </p:sp>
      <p:sp>
        <p:nvSpPr>
          <p:cNvPr id="3" name="Content Placeholder 2"/>
          <p:cNvSpPr>
            <a:spLocks noGrp="1"/>
          </p:cNvSpPr>
          <p:nvPr>
            <p:ph idx="1"/>
          </p:nvPr>
        </p:nvSpPr>
        <p:spPr>
          <a:xfrm>
            <a:off x="1293812" y="1600200"/>
            <a:ext cx="10287000" cy="5105400"/>
          </a:xfrm>
        </p:spPr>
        <p:txBody>
          <a:bodyPr>
            <a:normAutofit/>
          </a:bodyPr>
          <a:lstStyle/>
          <a:p>
            <a:pPr>
              <a:lnSpc>
                <a:spcPct val="150000"/>
              </a:lnSpc>
            </a:pPr>
            <a:r>
              <a:rPr lang="en-US" dirty="0" err="1" smtClean="0"/>
              <a:t>TensorFlow</a:t>
            </a:r>
            <a:r>
              <a:rPr lang="en-US" dirty="0" smtClean="0"/>
              <a:t> has its own file format for storing training data</a:t>
            </a:r>
          </a:p>
          <a:p>
            <a:pPr>
              <a:lnSpc>
                <a:spcPct val="150000"/>
              </a:lnSpc>
            </a:pPr>
            <a:r>
              <a:rPr lang="en-US" dirty="0" smtClean="0"/>
              <a:t>Allows you to store related data together, instead of having to merge them together at run time, e.g.</a:t>
            </a:r>
          </a:p>
          <a:p>
            <a:pPr lvl="1">
              <a:lnSpc>
                <a:spcPct val="100000"/>
              </a:lnSpc>
            </a:pPr>
            <a:r>
              <a:rPr lang="en-US" dirty="0" smtClean="0"/>
              <a:t>raw image data</a:t>
            </a:r>
          </a:p>
          <a:p>
            <a:pPr lvl="1">
              <a:lnSpc>
                <a:spcPct val="100000"/>
              </a:lnSpc>
            </a:pPr>
            <a:r>
              <a:rPr lang="en-US" dirty="0" smtClean="0"/>
              <a:t>labels</a:t>
            </a:r>
          </a:p>
          <a:p>
            <a:pPr lvl="1">
              <a:lnSpc>
                <a:spcPct val="100000"/>
              </a:lnSpc>
            </a:pPr>
            <a:r>
              <a:rPr lang="en-US" dirty="0" smtClean="0"/>
              <a:t>text</a:t>
            </a:r>
          </a:p>
          <a:p>
            <a:pPr lvl="1">
              <a:lnSpc>
                <a:spcPct val="100000"/>
              </a:lnSpc>
            </a:pPr>
            <a:r>
              <a:rPr lang="en-US" dirty="0" smtClean="0"/>
              <a:t>any other metadata</a:t>
            </a:r>
          </a:p>
          <a:p>
            <a:pPr>
              <a:lnSpc>
                <a:spcPct val="100000"/>
              </a:lnSpc>
            </a:pPr>
            <a:r>
              <a:rPr lang="en-US" dirty="0" smtClean="0"/>
              <a:t>One file can hold an entire training set (or a </a:t>
            </a:r>
            <a:r>
              <a:rPr lang="en-US" dirty="0" err="1" smtClean="0"/>
              <a:t>sharded</a:t>
            </a:r>
            <a:r>
              <a:rPr lang="en-US" dirty="0" smtClean="0"/>
              <a:t> chunk)</a:t>
            </a:r>
          </a:p>
        </p:txBody>
      </p:sp>
    </p:spTree>
    <p:extLst>
      <p:ext uri="{BB962C8B-B14F-4D97-AF65-F5344CB8AC3E}">
        <p14:creationId xmlns:p14="http://schemas.microsoft.com/office/powerpoint/2010/main" val="466797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create </a:t>
            </a:r>
            <a:r>
              <a:rPr lang="en-US" dirty="0" err="1" smtClean="0"/>
              <a:t>TFRecords</a:t>
            </a:r>
            <a:endParaRPr lang="en-US" dirty="0"/>
          </a:p>
        </p:txBody>
      </p:sp>
      <p:sp>
        <p:nvSpPr>
          <p:cNvPr id="3" name="Content Placeholder 2"/>
          <p:cNvSpPr>
            <a:spLocks noGrp="1"/>
          </p:cNvSpPr>
          <p:nvPr>
            <p:ph idx="1"/>
          </p:nvPr>
        </p:nvSpPr>
        <p:spPr>
          <a:xfrm>
            <a:off x="1593436" y="1600200"/>
            <a:ext cx="9782801" cy="5486400"/>
          </a:xfrm>
        </p:spPr>
        <p:txBody>
          <a:bodyPr>
            <a:normAutofit/>
          </a:bodyPr>
          <a:lstStyle/>
          <a:p>
            <a:pPr marL="514350" indent="-514350">
              <a:buFont typeface="+mj-lt"/>
              <a:buAutoNum type="arabicPeriod"/>
            </a:pPr>
            <a:r>
              <a:rPr lang="en-US" sz="2400" dirty="0" smtClean="0">
                <a:solidFill>
                  <a:schemeClr val="tx1">
                    <a:lumMod val="75000"/>
                  </a:schemeClr>
                </a:solidFill>
              </a:rPr>
              <a:t>Open a </a:t>
            </a:r>
            <a:r>
              <a:rPr lang="en-US" sz="2400" dirty="0" err="1" smtClean="0">
                <a:solidFill>
                  <a:schemeClr val="tx1">
                    <a:lumMod val="75000"/>
                  </a:schemeClr>
                </a:solidFill>
                <a:latin typeface="Consolas" charset="0"/>
                <a:ea typeface="Consolas" charset="0"/>
                <a:cs typeface="Consolas" charset="0"/>
              </a:rPr>
              <a:t>tf.python_io.TFRecordWriter</a:t>
            </a:r>
            <a:endParaRPr lang="en-US" sz="2400" dirty="0" smtClean="0">
              <a:solidFill>
                <a:schemeClr val="tx1">
                  <a:lumMod val="75000"/>
                </a:schemeClr>
              </a:solidFill>
              <a:latin typeface="Consolas" charset="0"/>
              <a:ea typeface="Consolas" charset="0"/>
              <a:cs typeface="Consolas" charset="0"/>
            </a:endParaRPr>
          </a:p>
          <a:p>
            <a:pPr marL="0" indent="0">
              <a:buNone/>
            </a:pPr>
            <a:r>
              <a:rPr lang="en-US" sz="2400" dirty="0" smtClean="0">
                <a:solidFill>
                  <a:schemeClr val="tx1">
                    <a:lumMod val="75000"/>
                  </a:schemeClr>
                </a:solidFill>
                <a:latin typeface="Consolas" charset="0"/>
                <a:ea typeface="Consolas" charset="0"/>
                <a:cs typeface="Consolas" charset="0"/>
              </a:rPr>
              <a:t>	writer = </a:t>
            </a:r>
            <a:r>
              <a:rPr lang="en-US" sz="2400" dirty="0" err="1" smtClean="0">
                <a:solidFill>
                  <a:schemeClr val="tx1">
                    <a:lumMod val="75000"/>
                  </a:schemeClr>
                </a:solidFill>
                <a:latin typeface="Consolas" charset="0"/>
                <a:ea typeface="Consolas" charset="0"/>
                <a:cs typeface="Consolas" charset="0"/>
              </a:rPr>
              <a:t>tf.python_io.TFRecordWriter</a:t>
            </a:r>
            <a:r>
              <a:rPr lang="en-US" sz="2400" dirty="0" smtClean="0">
                <a:solidFill>
                  <a:schemeClr val="tx1">
                    <a:lumMod val="75000"/>
                  </a:schemeClr>
                </a:solidFill>
                <a:latin typeface="Consolas" charset="0"/>
                <a:ea typeface="Consolas" charset="0"/>
                <a:cs typeface="Consolas" charset="0"/>
              </a:rPr>
              <a:t>(path)</a:t>
            </a:r>
          </a:p>
          <a:p>
            <a:pPr marL="0" indent="0">
              <a:buNone/>
            </a:pPr>
            <a:endParaRPr lang="en-US" sz="2400" dirty="0" smtClean="0">
              <a:solidFill>
                <a:schemeClr val="tx1">
                  <a:lumMod val="75000"/>
                </a:schemeClr>
              </a:solidFill>
              <a:latin typeface="Consolas" charset="0"/>
              <a:ea typeface="Consolas" charset="0"/>
              <a:cs typeface="Consolas" charset="0"/>
            </a:endParaRPr>
          </a:p>
          <a:p>
            <a:pPr marL="0" indent="0">
              <a:buNone/>
            </a:pPr>
            <a:r>
              <a:rPr lang="en-US" sz="2400" dirty="0" smtClean="0">
                <a:solidFill>
                  <a:schemeClr val="tx1">
                    <a:lumMod val="75000"/>
                  </a:schemeClr>
                </a:solidFill>
              </a:rPr>
              <a:t>2. Create a </a:t>
            </a:r>
            <a:r>
              <a:rPr lang="en-US" sz="2400" dirty="0" err="1" smtClean="0">
                <a:solidFill>
                  <a:schemeClr val="tx1">
                    <a:lumMod val="75000"/>
                  </a:schemeClr>
                </a:solidFill>
                <a:latin typeface="Consolas" charset="0"/>
                <a:ea typeface="Consolas" charset="0"/>
                <a:cs typeface="Consolas" charset="0"/>
              </a:rPr>
              <a:t>tf.train.Feature</a:t>
            </a:r>
            <a:r>
              <a:rPr lang="en-US" sz="2400" dirty="0" smtClean="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rPr>
              <a:t>for each value you want to save</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 Raw image bytes feature</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err="1" smtClean="0">
                <a:solidFill>
                  <a:schemeClr val="tx1">
                    <a:lumMod val="75000"/>
                  </a:schemeClr>
                </a:solidFill>
                <a:latin typeface="Consolas" charset="0"/>
                <a:ea typeface="Consolas" charset="0"/>
                <a:cs typeface="Consolas" charset="0"/>
              </a:rPr>
              <a:t>img</a:t>
            </a:r>
            <a:r>
              <a:rPr lang="en-US" sz="2400" dirty="0" smtClean="0">
                <a:solidFill>
                  <a:schemeClr val="tx1">
                    <a:lumMod val="75000"/>
                  </a:schemeClr>
                </a:solidFill>
                <a:latin typeface="Consolas" charset="0"/>
                <a:ea typeface="Consolas" charset="0"/>
                <a:cs typeface="Consolas" charset="0"/>
              </a:rPr>
              <a:t> = </a:t>
            </a:r>
            <a:r>
              <a:rPr lang="en-US" sz="2400" dirty="0" err="1" smtClean="0">
                <a:solidFill>
                  <a:schemeClr val="tx1">
                    <a:lumMod val="75000"/>
                  </a:schemeClr>
                </a:solidFill>
                <a:latin typeface="Consolas" charset="0"/>
                <a:ea typeface="Consolas" charset="0"/>
                <a:cs typeface="Consolas" charset="0"/>
              </a:rPr>
              <a:t>tf.train.BytesList</a:t>
            </a:r>
            <a:r>
              <a:rPr lang="en-US" sz="2400" dirty="0" smtClean="0">
                <a:solidFill>
                  <a:schemeClr val="tx1">
                    <a:lumMod val="75000"/>
                  </a:schemeClr>
                </a:solidFill>
                <a:latin typeface="Consolas" charset="0"/>
                <a:ea typeface="Consolas" charset="0"/>
                <a:cs typeface="Consolas" charset="0"/>
              </a:rPr>
              <a:t>(value=[</a:t>
            </a:r>
            <a:r>
              <a:rPr lang="en-US" sz="2400" dirty="0" err="1" smtClean="0">
                <a:solidFill>
                  <a:schemeClr val="tx1">
                    <a:lumMod val="75000"/>
                  </a:schemeClr>
                </a:solidFill>
                <a:latin typeface="Consolas" charset="0"/>
                <a:ea typeface="Consolas" charset="0"/>
                <a:cs typeface="Consolas" charset="0"/>
              </a:rPr>
              <a:t>image_bytes</a:t>
            </a:r>
            <a:r>
              <a:rPr lang="en-US" sz="2400" dirty="0" smtClean="0">
                <a:solidFill>
                  <a:schemeClr val="tx1">
                    <a:lumMod val="75000"/>
                  </a:schemeClr>
                </a:solidFill>
                <a:latin typeface="Consolas" charset="0"/>
                <a:ea typeface="Consolas" charset="0"/>
                <a:cs typeface="Consolas" charset="0"/>
              </a:rPr>
              <a:t>])</a:t>
            </a:r>
          </a:p>
          <a:p>
            <a:pPr marL="0" indent="0">
              <a:buNone/>
            </a:pPr>
            <a:r>
              <a:rPr lang="en-US" sz="2400" dirty="0" smtClean="0">
                <a:solidFill>
                  <a:schemeClr val="tx1">
                    <a:lumMod val="75000"/>
                  </a:schemeClr>
                </a:solidFill>
                <a:latin typeface="Consolas" charset="0"/>
                <a:ea typeface="Consolas" charset="0"/>
                <a:cs typeface="Consolas" charset="0"/>
              </a:rPr>
              <a:t>	image = </a:t>
            </a:r>
            <a:r>
              <a:rPr lang="en-US" sz="2400" dirty="0" err="1" smtClean="0">
                <a:solidFill>
                  <a:schemeClr val="tx1">
                    <a:lumMod val="75000"/>
                  </a:schemeClr>
                </a:solidFill>
                <a:latin typeface="Consolas" charset="0"/>
                <a:ea typeface="Consolas" charset="0"/>
                <a:cs typeface="Consolas" charset="0"/>
              </a:rPr>
              <a:t>tf.train.Feature</a:t>
            </a:r>
            <a:r>
              <a:rPr lang="en-US" sz="2400" dirty="0" smtClean="0">
                <a:solidFill>
                  <a:schemeClr val="tx1">
                    <a:lumMod val="75000"/>
                  </a:schemeClr>
                </a:solidFill>
                <a:latin typeface="Consolas" charset="0"/>
                <a:ea typeface="Consolas" charset="0"/>
                <a:cs typeface="Consolas" charset="0"/>
              </a:rPr>
              <a:t>(</a:t>
            </a:r>
            <a:r>
              <a:rPr lang="en-US" sz="2400" dirty="0" err="1" smtClean="0">
                <a:solidFill>
                  <a:schemeClr val="tx1">
                    <a:lumMod val="75000"/>
                  </a:schemeClr>
                </a:solidFill>
                <a:latin typeface="Consolas" charset="0"/>
                <a:ea typeface="Consolas" charset="0"/>
                <a:cs typeface="Consolas" charset="0"/>
              </a:rPr>
              <a:t>bytes_list</a:t>
            </a:r>
            <a:r>
              <a:rPr lang="en-US" sz="2400" dirty="0" smtClean="0">
                <a:solidFill>
                  <a:schemeClr val="tx1">
                    <a:lumMod val="75000"/>
                  </a:schemeClr>
                </a:solidFill>
                <a:latin typeface="Consolas" charset="0"/>
                <a:ea typeface="Consolas" charset="0"/>
                <a:cs typeface="Consolas" charset="0"/>
              </a:rPr>
              <a:t>=</a:t>
            </a:r>
            <a:r>
              <a:rPr lang="en-US" sz="2400" dirty="0" err="1" smtClean="0">
                <a:solidFill>
                  <a:schemeClr val="tx1">
                    <a:lumMod val="75000"/>
                  </a:schemeClr>
                </a:solidFill>
                <a:latin typeface="Consolas" charset="0"/>
                <a:ea typeface="Consolas" charset="0"/>
                <a:cs typeface="Consolas" charset="0"/>
              </a:rPr>
              <a:t>img</a:t>
            </a:r>
            <a:r>
              <a:rPr lang="en-US" sz="2400" dirty="0" smtClean="0">
                <a:solidFill>
                  <a:schemeClr val="tx1">
                    <a:lumMod val="75000"/>
                  </a:schemeClr>
                </a:solidFill>
                <a:latin typeface="Consolas" charset="0"/>
                <a:ea typeface="Consolas" charset="0"/>
                <a:cs typeface="Consolas" charset="0"/>
              </a:rPr>
              <a:t>)</a:t>
            </a:r>
          </a:p>
          <a:p>
            <a:pPr marL="0" indent="0">
              <a:buNone/>
            </a:pPr>
            <a:r>
              <a:rPr lang="en-US" sz="2400" dirty="0" smtClean="0">
                <a:solidFill>
                  <a:schemeClr val="tx1">
                    <a:lumMod val="75000"/>
                  </a:schemeClr>
                </a:solidFill>
                <a:latin typeface="Consolas" charset="0"/>
                <a:ea typeface="Consolas" charset="0"/>
                <a:cs typeface="Consolas" charset="0"/>
              </a:rPr>
              <a:t>	# Integer label feature</a:t>
            </a:r>
          </a:p>
          <a:p>
            <a:pPr marL="0" indent="0">
              <a:buNone/>
            </a:pPr>
            <a:r>
              <a:rPr lang="en-US" sz="2400" dirty="0" smtClean="0">
                <a:solidFill>
                  <a:schemeClr val="tx1">
                    <a:lumMod val="75000"/>
                  </a:schemeClr>
                </a:solidFill>
                <a:latin typeface="Consolas" charset="0"/>
                <a:ea typeface="Consolas" charset="0"/>
                <a:cs typeface="Consolas" charset="0"/>
              </a:rPr>
              <a:t>	</a:t>
            </a:r>
            <a:r>
              <a:rPr lang="en-US" sz="2400" dirty="0" err="1" smtClean="0">
                <a:solidFill>
                  <a:schemeClr val="tx1">
                    <a:lumMod val="75000"/>
                  </a:schemeClr>
                </a:solidFill>
                <a:latin typeface="Consolas" charset="0"/>
                <a:ea typeface="Consolas" charset="0"/>
                <a:cs typeface="Consolas" charset="0"/>
              </a:rPr>
              <a:t>lbl</a:t>
            </a:r>
            <a:r>
              <a:rPr lang="en-US" sz="2400" dirty="0" smtClean="0">
                <a:solidFill>
                  <a:schemeClr val="tx1">
                    <a:lumMod val="75000"/>
                  </a:schemeClr>
                </a:solidFill>
                <a:latin typeface="Consolas" charset="0"/>
                <a:ea typeface="Consolas" charset="0"/>
                <a:cs typeface="Consolas" charset="0"/>
              </a:rPr>
              <a:t> </a:t>
            </a: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tf.train.Int64List(value=[label])</a:t>
            </a:r>
            <a:endParaRPr lang="en-US" sz="2400" dirty="0">
              <a:solidFill>
                <a:schemeClr val="tx1">
                  <a:lumMod val="75000"/>
                </a:schemeClr>
              </a:solidFill>
              <a:latin typeface="Consolas" charset="0"/>
              <a:ea typeface="Consolas" charset="0"/>
              <a:cs typeface="Consolas" charset="0"/>
            </a:endParaRPr>
          </a:p>
          <a:p>
            <a:pPr marL="0" indent="0">
              <a:buNone/>
            </a:pP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label </a:t>
            </a:r>
            <a:r>
              <a:rPr lang="en-US" sz="2400" dirty="0">
                <a:solidFill>
                  <a:schemeClr val="tx1">
                    <a:lumMod val="75000"/>
                  </a:schemeClr>
                </a:solidFill>
                <a:latin typeface="Consolas" charset="0"/>
                <a:ea typeface="Consolas" charset="0"/>
                <a:cs typeface="Consolas" charset="0"/>
              </a:rPr>
              <a:t>= </a:t>
            </a:r>
            <a:r>
              <a:rPr lang="en-US" sz="2400" dirty="0" err="1" smtClean="0">
                <a:solidFill>
                  <a:schemeClr val="tx1">
                    <a:lumMod val="75000"/>
                  </a:schemeClr>
                </a:solidFill>
                <a:latin typeface="Consolas" charset="0"/>
                <a:ea typeface="Consolas" charset="0"/>
                <a:cs typeface="Consolas" charset="0"/>
              </a:rPr>
              <a:t>tf.train.Feature</a:t>
            </a:r>
            <a:r>
              <a:rPr lang="en-US" sz="2400" dirty="0" smtClean="0">
                <a:solidFill>
                  <a:schemeClr val="tx1">
                    <a:lumMod val="75000"/>
                  </a:schemeClr>
                </a:solidFill>
                <a:latin typeface="Consolas" charset="0"/>
                <a:ea typeface="Consolas" charset="0"/>
                <a:cs typeface="Consolas" charset="0"/>
              </a:rPr>
              <a:t>(int64_list=</a:t>
            </a:r>
            <a:r>
              <a:rPr lang="en-US" sz="2400" dirty="0" err="1" smtClean="0">
                <a:solidFill>
                  <a:schemeClr val="tx1">
                    <a:lumMod val="75000"/>
                  </a:schemeClr>
                </a:solidFill>
                <a:latin typeface="Consolas" charset="0"/>
                <a:ea typeface="Consolas" charset="0"/>
                <a:cs typeface="Consolas" charset="0"/>
              </a:rPr>
              <a:t>lbl</a:t>
            </a:r>
            <a:r>
              <a:rPr lang="en-US" sz="2400" dirty="0" smtClean="0">
                <a:solidFill>
                  <a:schemeClr val="tx1">
                    <a:lumMod val="75000"/>
                  </a:schemeClr>
                </a:solidFill>
                <a:latin typeface="Consolas" charset="0"/>
                <a:ea typeface="Consolas" charset="0"/>
                <a:cs typeface="Consolas" charset="0"/>
              </a:rPr>
              <a:t>)</a:t>
            </a:r>
            <a:endParaRPr lang="en-US" sz="2400" dirty="0">
              <a:solidFill>
                <a:schemeClr val="tx1">
                  <a:lumMod val="75000"/>
                </a:schemeClr>
              </a:solidFill>
              <a:latin typeface="Consolas" charset="0"/>
              <a:ea typeface="Consolas" charset="0"/>
              <a:cs typeface="Consolas" charset="0"/>
            </a:endParaRPr>
          </a:p>
          <a:p>
            <a:pPr marL="0" indent="0">
              <a:buNone/>
            </a:pPr>
            <a:endParaRPr lang="en-US" sz="2400" dirty="0">
              <a:solidFill>
                <a:schemeClr val="tx1">
                  <a:lumMod val="75000"/>
                </a:schemeClr>
              </a:solidFill>
              <a:latin typeface="Consolas" charset="0"/>
              <a:ea typeface="Consolas" charset="0"/>
              <a:cs typeface="Consolas" charset="0"/>
            </a:endParaRPr>
          </a:p>
        </p:txBody>
      </p:sp>
    </p:spTree>
    <p:extLst>
      <p:ext uri="{BB962C8B-B14F-4D97-AF65-F5344CB8AC3E}">
        <p14:creationId xmlns:p14="http://schemas.microsoft.com/office/powerpoint/2010/main" val="12984669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create </a:t>
            </a:r>
            <a:r>
              <a:rPr lang="en-US" dirty="0" err="1" smtClean="0"/>
              <a:t>TFRecords</a:t>
            </a:r>
            <a:endParaRPr lang="en-US" dirty="0"/>
          </a:p>
        </p:txBody>
      </p:sp>
      <p:sp>
        <p:nvSpPr>
          <p:cNvPr id="3" name="Content Placeholder 2"/>
          <p:cNvSpPr>
            <a:spLocks noGrp="1"/>
          </p:cNvSpPr>
          <p:nvPr>
            <p:ph idx="1"/>
          </p:nvPr>
        </p:nvSpPr>
        <p:spPr>
          <a:xfrm>
            <a:off x="1593436" y="1600200"/>
            <a:ext cx="9782801" cy="5486400"/>
          </a:xfrm>
        </p:spPr>
        <p:txBody>
          <a:bodyPr>
            <a:normAutofit/>
          </a:bodyPr>
          <a:lstStyle/>
          <a:p>
            <a:pPr marL="0" indent="0">
              <a:buNone/>
            </a:pPr>
            <a:r>
              <a:rPr lang="en-US" sz="2400" dirty="0" smtClean="0">
                <a:solidFill>
                  <a:schemeClr val="tx1">
                    <a:lumMod val="75000"/>
                  </a:schemeClr>
                </a:solidFill>
              </a:rPr>
              <a:t>3. Create a </a:t>
            </a:r>
            <a:r>
              <a:rPr lang="en-US" sz="2400" dirty="0" err="1" smtClean="0">
                <a:solidFill>
                  <a:schemeClr val="tx1">
                    <a:lumMod val="75000"/>
                  </a:schemeClr>
                </a:solidFill>
                <a:latin typeface="Consolas" charset="0"/>
                <a:ea typeface="Consolas" charset="0"/>
                <a:cs typeface="Consolas" charset="0"/>
              </a:rPr>
              <a:t>tf.train.Features</a:t>
            </a:r>
            <a:r>
              <a:rPr lang="en-US" sz="2400" dirty="0" smtClean="0">
                <a:solidFill>
                  <a:schemeClr val="tx1">
                    <a:lumMod val="75000"/>
                  </a:schemeClr>
                </a:solidFill>
              </a:rPr>
              <a:t> object that holds all features:</a:t>
            </a:r>
            <a:endParaRPr lang="en-US" sz="2400" dirty="0" smtClean="0">
              <a:solidFill>
                <a:schemeClr val="tx1">
                  <a:lumMod val="75000"/>
                </a:schemeClr>
              </a:solidFill>
              <a:latin typeface="Consolas" charset="0"/>
              <a:ea typeface="Consolas" charset="0"/>
              <a:cs typeface="Consolas" charset="0"/>
            </a:endParaRPr>
          </a:p>
          <a:p>
            <a:pPr marL="0" indent="0">
              <a:buNone/>
            </a:pPr>
            <a:r>
              <a:rPr lang="en-US" sz="2400" dirty="0" smtClean="0">
                <a:solidFill>
                  <a:schemeClr val="tx1">
                    <a:lumMod val="75000"/>
                  </a:schemeClr>
                </a:solidFill>
                <a:latin typeface="Consolas" charset="0"/>
                <a:ea typeface="Consolas" charset="0"/>
                <a:cs typeface="Consolas" charset="0"/>
              </a:rPr>
              <a:t>	features = </a:t>
            </a:r>
            <a:r>
              <a:rPr lang="en-US" sz="2400" dirty="0" err="1" smtClean="0">
                <a:solidFill>
                  <a:schemeClr val="tx1">
                    <a:lumMod val="75000"/>
                  </a:schemeClr>
                </a:solidFill>
                <a:latin typeface="Consolas" charset="0"/>
                <a:ea typeface="Consolas" charset="0"/>
                <a:cs typeface="Consolas" charset="0"/>
              </a:rPr>
              <a:t>tf.train.Features</a:t>
            </a:r>
            <a:r>
              <a:rPr lang="en-US" sz="2400" dirty="0" smtClean="0">
                <a:solidFill>
                  <a:schemeClr val="tx1">
                    <a:lumMod val="75000"/>
                  </a:schemeClr>
                </a:solidFill>
                <a:latin typeface="Consolas" charset="0"/>
                <a:ea typeface="Consolas" charset="0"/>
                <a:cs typeface="Consolas" charset="0"/>
              </a:rPr>
              <a:t>(feature=</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	{‘</a:t>
            </a:r>
            <a:r>
              <a:rPr lang="en-US" sz="2400" dirty="0" err="1" smtClean="0">
                <a:solidFill>
                  <a:schemeClr val="tx1">
                    <a:lumMod val="75000"/>
                  </a:schemeClr>
                </a:solidFill>
                <a:latin typeface="Consolas" charset="0"/>
                <a:ea typeface="Consolas" charset="0"/>
                <a:cs typeface="Consolas" charset="0"/>
              </a:rPr>
              <a:t>image_bytes</a:t>
            </a:r>
            <a:r>
              <a:rPr lang="en-US" sz="2400" dirty="0" smtClean="0">
                <a:solidFill>
                  <a:schemeClr val="tx1">
                    <a:lumMod val="75000"/>
                  </a:schemeClr>
                </a:solidFill>
                <a:latin typeface="Consolas" charset="0"/>
                <a:ea typeface="Consolas" charset="0"/>
                <a:cs typeface="Consolas" charset="0"/>
              </a:rPr>
              <a:t>’: image,</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	 ‘label’: label}</a:t>
            </a:r>
          </a:p>
          <a:p>
            <a:pPr marL="0" indent="0">
              <a:buNone/>
            </a:pPr>
            <a:endParaRPr lang="en-US" sz="2400" dirty="0" smtClean="0">
              <a:solidFill>
                <a:schemeClr val="tx1">
                  <a:lumMod val="75000"/>
                </a:schemeClr>
              </a:solidFill>
              <a:latin typeface="Consolas" charset="0"/>
              <a:ea typeface="Consolas" charset="0"/>
              <a:cs typeface="Consolas" charset="0"/>
            </a:endParaRPr>
          </a:p>
          <a:p>
            <a:pPr marL="0" indent="0">
              <a:buNone/>
            </a:pPr>
            <a:r>
              <a:rPr lang="en-US" sz="2400" dirty="0">
                <a:solidFill>
                  <a:schemeClr val="tx1">
                    <a:lumMod val="75000"/>
                  </a:schemeClr>
                </a:solidFill>
              </a:rPr>
              <a:t>4</a:t>
            </a:r>
            <a:r>
              <a:rPr lang="en-US" sz="2400" dirty="0" smtClean="0">
                <a:solidFill>
                  <a:schemeClr val="tx1">
                    <a:lumMod val="75000"/>
                  </a:schemeClr>
                </a:solidFill>
              </a:rPr>
              <a:t>. Wrap </a:t>
            </a:r>
            <a:r>
              <a:rPr lang="en-US" sz="2400" dirty="0" smtClean="0">
                <a:solidFill>
                  <a:schemeClr val="tx1">
                    <a:lumMod val="75000"/>
                  </a:schemeClr>
                </a:solidFill>
                <a:latin typeface="Consolas" charset="0"/>
                <a:ea typeface="Consolas" charset="0"/>
                <a:cs typeface="Consolas" charset="0"/>
              </a:rPr>
              <a:t>Features </a:t>
            </a:r>
            <a:r>
              <a:rPr lang="en-US" sz="2400" dirty="0" smtClean="0">
                <a:solidFill>
                  <a:schemeClr val="tx1">
                    <a:lumMod val="75000"/>
                  </a:schemeClr>
                </a:solidFill>
              </a:rPr>
              <a:t>inside of a </a:t>
            </a:r>
            <a:r>
              <a:rPr lang="en-US" sz="2400" dirty="0" err="1" smtClean="0">
                <a:solidFill>
                  <a:schemeClr val="tx1">
                    <a:lumMod val="75000"/>
                  </a:schemeClr>
                </a:solidFill>
                <a:latin typeface="Consolas" charset="0"/>
                <a:ea typeface="Consolas" charset="0"/>
                <a:cs typeface="Consolas" charset="0"/>
              </a:rPr>
              <a:t>tf.train.Example</a:t>
            </a:r>
            <a:r>
              <a:rPr lang="en-US" sz="2400" dirty="0" smtClean="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rPr>
              <a:t>class</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smtClean="0">
                <a:solidFill>
                  <a:schemeClr val="tx1">
                    <a:lumMod val="75000"/>
                  </a:schemeClr>
                </a:solidFill>
                <a:latin typeface="Consolas" charset="0"/>
                <a:ea typeface="Consolas" charset="0"/>
                <a:cs typeface="Consolas" charset="0"/>
              </a:rPr>
              <a:t>example = </a:t>
            </a:r>
            <a:r>
              <a:rPr lang="en-US" sz="2400" dirty="0" err="1" smtClean="0">
                <a:solidFill>
                  <a:schemeClr val="tx1">
                    <a:lumMod val="75000"/>
                  </a:schemeClr>
                </a:solidFill>
                <a:latin typeface="Consolas" charset="0"/>
                <a:ea typeface="Consolas" charset="0"/>
                <a:cs typeface="Consolas" charset="0"/>
              </a:rPr>
              <a:t>tf.train.Example</a:t>
            </a:r>
            <a:r>
              <a:rPr lang="en-US" sz="2400" dirty="0" smtClean="0">
                <a:solidFill>
                  <a:schemeClr val="tx1">
                    <a:lumMod val="75000"/>
                  </a:schemeClr>
                </a:solidFill>
                <a:latin typeface="Consolas" charset="0"/>
                <a:ea typeface="Consolas" charset="0"/>
                <a:cs typeface="Consolas" charset="0"/>
              </a:rPr>
              <a:t>(features=features)</a:t>
            </a:r>
          </a:p>
          <a:p>
            <a:pPr marL="0" indent="0">
              <a:buNone/>
            </a:pPr>
            <a:endParaRPr lang="en-US" sz="2400" dirty="0" smtClean="0">
              <a:solidFill>
                <a:schemeClr val="tx1">
                  <a:lumMod val="75000"/>
                </a:schemeClr>
              </a:solidFill>
              <a:latin typeface="Consolas" charset="0"/>
              <a:ea typeface="Consolas" charset="0"/>
              <a:cs typeface="Consolas" charset="0"/>
            </a:endParaRPr>
          </a:p>
          <a:p>
            <a:pPr marL="0" indent="0">
              <a:buNone/>
            </a:pPr>
            <a:r>
              <a:rPr lang="en-US" sz="2400" dirty="0" smtClean="0">
                <a:solidFill>
                  <a:schemeClr val="tx1">
                    <a:lumMod val="75000"/>
                  </a:schemeClr>
                </a:solidFill>
              </a:rPr>
              <a:t>5. Write the </a:t>
            </a:r>
            <a:r>
              <a:rPr lang="en-US" sz="2400" dirty="0" smtClean="0">
                <a:solidFill>
                  <a:schemeClr val="tx1">
                    <a:lumMod val="75000"/>
                  </a:schemeClr>
                </a:solidFill>
                <a:latin typeface="Consolas" charset="0"/>
                <a:ea typeface="Consolas" charset="0"/>
                <a:cs typeface="Consolas" charset="0"/>
              </a:rPr>
              <a:t>Example </a:t>
            </a:r>
            <a:r>
              <a:rPr lang="en-US" sz="2400" dirty="0" smtClean="0">
                <a:solidFill>
                  <a:schemeClr val="tx1">
                    <a:lumMod val="75000"/>
                  </a:schemeClr>
                </a:solidFill>
              </a:rPr>
              <a:t>to the records file</a:t>
            </a:r>
          </a:p>
          <a:p>
            <a:pPr marL="0" indent="0">
              <a:buNone/>
            </a:pPr>
            <a:r>
              <a:rPr lang="en-US" sz="2400" dirty="0">
                <a:solidFill>
                  <a:schemeClr val="tx1">
                    <a:lumMod val="75000"/>
                  </a:schemeClr>
                </a:solidFill>
                <a:latin typeface="Consolas" charset="0"/>
                <a:ea typeface="Consolas" charset="0"/>
                <a:cs typeface="Consolas" charset="0"/>
              </a:rPr>
              <a:t>	</a:t>
            </a:r>
            <a:r>
              <a:rPr lang="en-US" sz="2400" dirty="0" err="1" smtClean="0">
                <a:solidFill>
                  <a:schemeClr val="tx1">
                    <a:lumMod val="75000"/>
                  </a:schemeClr>
                </a:solidFill>
                <a:latin typeface="Consolas" charset="0"/>
                <a:ea typeface="Consolas" charset="0"/>
                <a:cs typeface="Consolas" charset="0"/>
              </a:rPr>
              <a:t>writer.write</a:t>
            </a:r>
            <a:r>
              <a:rPr lang="en-US" sz="2400" dirty="0" smtClean="0">
                <a:solidFill>
                  <a:schemeClr val="tx1">
                    <a:lumMod val="75000"/>
                  </a:schemeClr>
                </a:solidFill>
                <a:latin typeface="Consolas" charset="0"/>
                <a:ea typeface="Consolas" charset="0"/>
                <a:cs typeface="Consolas" charset="0"/>
              </a:rPr>
              <a:t>(</a:t>
            </a:r>
            <a:r>
              <a:rPr lang="en-US" sz="2400" dirty="0" err="1" smtClean="0">
                <a:solidFill>
                  <a:schemeClr val="tx1">
                    <a:lumMod val="75000"/>
                  </a:schemeClr>
                </a:solidFill>
                <a:latin typeface="Consolas" charset="0"/>
                <a:ea typeface="Consolas" charset="0"/>
                <a:cs typeface="Consolas" charset="0"/>
              </a:rPr>
              <a:t>example.SerializeToString</a:t>
            </a:r>
            <a:r>
              <a:rPr lang="en-US" sz="2400" dirty="0" smtClean="0">
                <a:solidFill>
                  <a:schemeClr val="tx1">
                    <a:lumMod val="75000"/>
                  </a:schemeClr>
                </a:solidFill>
                <a:latin typeface="Consolas" charset="0"/>
                <a:ea typeface="Consolas" charset="0"/>
                <a:cs typeface="Consolas" charset="0"/>
              </a:rPr>
              <a:t>())</a:t>
            </a:r>
            <a:endParaRPr lang="en-US" sz="2400" dirty="0">
              <a:solidFill>
                <a:schemeClr val="tx1">
                  <a:lumMod val="75000"/>
                </a:schemeClr>
              </a:solidFill>
              <a:latin typeface="Consolas" charset="0"/>
              <a:ea typeface="Consolas" charset="0"/>
              <a:cs typeface="Consolas" charset="0"/>
            </a:endParaRPr>
          </a:p>
        </p:txBody>
      </p:sp>
    </p:spTree>
    <p:extLst>
      <p:ext uri="{BB962C8B-B14F-4D97-AF65-F5344CB8AC3E}">
        <p14:creationId xmlns:p14="http://schemas.microsoft.com/office/powerpoint/2010/main" val="2043215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Queues</a:t>
            </a:r>
            <a:endParaRPr lang="en-US" dirty="0"/>
          </a:p>
        </p:txBody>
      </p:sp>
    </p:spTree>
    <p:extLst>
      <p:ext uri="{BB962C8B-B14F-4D97-AF65-F5344CB8AC3E}">
        <p14:creationId xmlns:p14="http://schemas.microsoft.com/office/powerpoint/2010/main" val="14942000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alternative to </a:t>
            </a:r>
            <a:r>
              <a:rPr lang="en-US" dirty="0" err="1" smtClean="0"/>
              <a:t>feed_dict</a:t>
            </a:r>
            <a:endParaRPr lang="en-US" dirty="0"/>
          </a:p>
        </p:txBody>
      </p:sp>
      <p:sp>
        <p:nvSpPr>
          <p:cNvPr id="3" name="Content Placeholder 2"/>
          <p:cNvSpPr>
            <a:spLocks noGrp="1"/>
          </p:cNvSpPr>
          <p:nvPr>
            <p:ph idx="1"/>
          </p:nvPr>
        </p:nvSpPr>
        <p:spPr>
          <a:xfrm>
            <a:off x="1370012" y="1600200"/>
            <a:ext cx="10006225" cy="4572000"/>
          </a:xfrm>
        </p:spPr>
        <p:txBody>
          <a:bodyPr>
            <a:normAutofit/>
          </a:bodyPr>
          <a:lstStyle/>
          <a:p>
            <a:pPr>
              <a:lnSpc>
                <a:spcPct val="150000"/>
              </a:lnSpc>
            </a:pPr>
            <a:r>
              <a:rPr lang="en-US" sz="2400" dirty="0" smtClean="0"/>
              <a:t>So far, we’ve passed data to our model via a feed dictionary</a:t>
            </a:r>
          </a:p>
          <a:p>
            <a:pPr>
              <a:lnSpc>
                <a:spcPct val="150000"/>
              </a:lnSpc>
            </a:pPr>
            <a:r>
              <a:rPr lang="en-US" sz="2400" dirty="0" smtClean="0"/>
              <a:t>Unfortunately, this isn’t the fastest mechanism:</a:t>
            </a:r>
          </a:p>
          <a:p>
            <a:pPr lvl="1">
              <a:lnSpc>
                <a:spcPct val="150000"/>
              </a:lnSpc>
            </a:pPr>
            <a:r>
              <a:rPr lang="en-US" sz="2000" dirty="0" smtClean="0"/>
              <a:t>It has to jump back and forth between the Python and C++ layers for each step</a:t>
            </a:r>
          </a:p>
          <a:p>
            <a:pPr lvl="1">
              <a:lnSpc>
                <a:spcPct val="150000"/>
              </a:lnSpc>
            </a:pPr>
            <a:r>
              <a:rPr lang="en-US" sz="2000" dirty="0" smtClean="0"/>
              <a:t>It waits to load data into GPU until after the previous run is finished</a:t>
            </a:r>
          </a:p>
          <a:p>
            <a:pPr>
              <a:lnSpc>
                <a:spcPct val="150000"/>
              </a:lnSpc>
            </a:pPr>
            <a:r>
              <a:rPr lang="en-US" dirty="0" smtClean="0"/>
              <a:t>What can we do instead?</a:t>
            </a:r>
          </a:p>
        </p:txBody>
      </p:sp>
    </p:spTree>
    <p:extLst>
      <p:ext uri="{BB962C8B-B14F-4D97-AF65-F5344CB8AC3E}">
        <p14:creationId xmlns:p14="http://schemas.microsoft.com/office/powerpoint/2010/main" val="8902425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TensorFlow</a:t>
            </a:r>
            <a:r>
              <a:rPr lang="en-US" dirty="0" smtClean="0"/>
              <a:t> Queues</a:t>
            </a:r>
            <a:endParaRPr lang="en-US" dirty="0"/>
          </a:p>
        </p:txBody>
      </p:sp>
      <p:sp>
        <p:nvSpPr>
          <p:cNvPr id="3" name="Content Placeholder 2"/>
          <p:cNvSpPr>
            <a:spLocks noGrp="1"/>
          </p:cNvSpPr>
          <p:nvPr>
            <p:ph idx="1"/>
          </p:nvPr>
        </p:nvSpPr>
        <p:spPr/>
        <p:txBody>
          <a:bodyPr/>
          <a:lstStyle/>
          <a:p>
            <a:pPr marL="457200" indent="-457200">
              <a:lnSpc>
                <a:spcPct val="150000"/>
              </a:lnSpc>
              <a:buFont typeface="Arial" charset="0"/>
              <a:buChar char="•"/>
            </a:pPr>
            <a:r>
              <a:rPr lang="en-US" dirty="0" err="1" smtClean="0"/>
              <a:t>TensorFlow</a:t>
            </a:r>
            <a:r>
              <a:rPr lang="en-US" dirty="0" smtClean="0"/>
              <a:t> has built-in support for asynchronous queues</a:t>
            </a:r>
          </a:p>
          <a:p>
            <a:pPr marL="457200" indent="-457200">
              <a:lnSpc>
                <a:spcPct val="150000"/>
              </a:lnSpc>
              <a:buFont typeface="Arial" charset="0"/>
              <a:buChar char="•"/>
            </a:pPr>
            <a:r>
              <a:rPr lang="en-US" dirty="0" smtClean="0"/>
              <a:t>Creates batches of data in the background</a:t>
            </a:r>
          </a:p>
          <a:p>
            <a:pPr marL="457200" indent="-457200">
              <a:lnSpc>
                <a:spcPct val="150000"/>
              </a:lnSpc>
              <a:buFont typeface="Arial" charset="0"/>
              <a:buChar char="•"/>
            </a:pPr>
            <a:r>
              <a:rPr lang="en-US" dirty="0"/>
              <a:t>C</a:t>
            </a:r>
            <a:r>
              <a:rPr lang="en-US" dirty="0" smtClean="0"/>
              <a:t>an immediately start next batch after one batch is done</a:t>
            </a:r>
          </a:p>
          <a:p>
            <a:pPr marL="457200" indent="-457200">
              <a:lnSpc>
                <a:spcPct val="150000"/>
              </a:lnSpc>
              <a:buFont typeface="Arial" charset="0"/>
              <a:buChar char="•"/>
            </a:pPr>
            <a:r>
              <a:rPr lang="en-US" dirty="0" smtClean="0"/>
              <a:t>Easiest to use with </a:t>
            </a:r>
            <a:r>
              <a:rPr lang="en-US" dirty="0" err="1" smtClean="0"/>
              <a:t>TFRecords</a:t>
            </a:r>
            <a:r>
              <a:rPr lang="en-US" dirty="0" smtClean="0"/>
              <a:t>!</a:t>
            </a:r>
          </a:p>
        </p:txBody>
      </p:sp>
    </p:spTree>
    <p:extLst>
      <p:ext uri="{BB962C8B-B14F-4D97-AF65-F5344CB8AC3E}">
        <p14:creationId xmlns:p14="http://schemas.microsoft.com/office/powerpoint/2010/main" val="722919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Basic Queue pattern</a:t>
            </a:r>
            <a:endParaRPr lang="en-US" dirty="0"/>
          </a:p>
        </p:txBody>
      </p:sp>
    </p:spTree>
    <p:extLst>
      <p:ext uri="{BB962C8B-B14F-4D97-AF65-F5344CB8AC3E}">
        <p14:creationId xmlns:p14="http://schemas.microsoft.com/office/powerpoint/2010/main" val="987703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cxnSp>
        <p:nvCxnSpPr>
          <p:cNvPr id="7" name="Straight Arrow Connector 6"/>
          <p:cNvCxnSpPr>
            <a:stCxn id="4" idx="2"/>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sp>
        <p:nvSpPr>
          <p:cNvPr id="20" name="Title 1"/>
          <p:cNvSpPr txBox="1">
            <a:spLocks/>
          </p:cNvSpPr>
          <p:nvPr/>
        </p:nvSpPr>
        <p:spPr>
          <a:xfrm>
            <a:off x="1593436" y="177801"/>
            <a:ext cx="9782801" cy="6604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dirty="0"/>
              <a:t>Basic Queue pattern</a:t>
            </a:r>
          </a:p>
        </p:txBody>
      </p:sp>
    </p:spTree>
    <p:extLst>
      <p:ext uri="{BB962C8B-B14F-4D97-AF65-F5344CB8AC3E}">
        <p14:creationId xmlns:p14="http://schemas.microsoft.com/office/powerpoint/2010/main" val="93744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a:t>Basic Queue pattern</a:t>
            </a:r>
          </a:p>
        </p:txBody>
      </p:sp>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sp>
        <p:nvSpPr>
          <p:cNvPr id="5" name="Trapezoid 4"/>
          <p:cNvSpPr/>
          <p:nvPr/>
        </p:nvSpPr>
        <p:spPr>
          <a:xfrm>
            <a:off x="3732212" y="2209800"/>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2"/>
                </a:solidFill>
              </a:rPr>
              <a:t>F</a:t>
            </a:r>
            <a:r>
              <a:rPr lang="en-US" sz="2800" smtClean="0">
                <a:solidFill>
                  <a:schemeClr val="tx2"/>
                </a:solidFill>
              </a:rPr>
              <a:t>ilename </a:t>
            </a:r>
            <a:r>
              <a:rPr lang="en-US" sz="2800" dirty="0" smtClean="0">
                <a:solidFill>
                  <a:schemeClr val="tx2"/>
                </a:solidFill>
              </a:rPr>
              <a:t>queue </a:t>
            </a:r>
            <a:endParaRPr lang="en-US" sz="2800" dirty="0">
              <a:solidFill>
                <a:schemeClr val="tx2"/>
              </a:solidFill>
            </a:endParaRPr>
          </a:p>
        </p:txBody>
      </p:sp>
      <p:cxnSp>
        <p:nvCxnSpPr>
          <p:cNvPr id="7" name="Straight Arrow Connector 6"/>
          <p:cNvCxnSpPr>
            <a:stCxn id="4" idx="2"/>
            <a:endCxn id="5" idx="0"/>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cxnSp>
        <p:nvCxnSpPr>
          <p:cNvPr id="9" name="Straight Arrow Connector 8"/>
          <p:cNvCxnSpPr/>
          <p:nvPr/>
        </p:nvCxnSpPr>
        <p:spPr>
          <a:xfrm>
            <a:off x="6208712" y="2974484"/>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50801" y="3018417"/>
            <a:ext cx="1196161" cy="369332"/>
          </a:xfrm>
          <a:prstGeom prst="rect">
            <a:avLst/>
          </a:prstGeom>
          <a:noFill/>
        </p:spPr>
        <p:txBody>
          <a:bodyPr wrap="none" rtlCol="0">
            <a:spAutoFit/>
          </a:bodyPr>
          <a:lstStyle/>
          <a:p>
            <a:r>
              <a:rPr lang="en-US" dirty="0" smtClean="0"/>
              <a:t>filenames</a:t>
            </a:r>
            <a:endParaRPr lang="en-US" dirty="0"/>
          </a:p>
        </p:txBody>
      </p:sp>
    </p:spTree>
    <p:extLst>
      <p:ext uri="{BB962C8B-B14F-4D97-AF65-F5344CB8AC3E}">
        <p14:creationId xmlns:p14="http://schemas.microsoft.com/office/powerpoint/2010/main" val="1013611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a:t>Basic Queue pattern</a:t>
            </a:r>
          </a:p>
        </p:txBody>
      </p:sp>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sp>
        <p:nvSpPr>
          <p:cNvPr id="5" name="Trapezoid 4"/>
          <p:cNvSpPr/>
          <p:nvPr/>
        </p:nvSpPr>
        <p:spPr>
          <a:xfrm>
            <a:off x="3732212" y="2209800"/>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2"/>
                </a:solidFill>
              </a:rPr>
              <a:t>F</a:t>
            </a:r>
            <a:r>
              <a:rPr lang="en-US" sz="2800" smtClean="0">
                <a:solidFill>
                  <a:schemeClr val="tx2"/>
                </a:solidFill>
              </a:rPr>
              <a:t>ilename </a:t>
            </a:r>
            <a:r>
              <a:rPr lang="en-US" sz="2800" dirty="0" smtClean="0">
                <a:solidFill>
                  <a:schemeClr val="tx2"/>
                </a:solidFill>
              </a:rPr>
              <a:t>queue </a:t>
            </a:r>
            <a:endParaRPr lang="en-US" sz="2800" dirty="0">
              <a:solidFill>
                <a:schemeClr val="tx2"/>
              </a:solidFill>
            </a:endParaRPr>
          </a:p>
        </p:txBody>
      </p:sp>
      <p:cxnSp>
        <p:nvCxnSpPr>
          <p:cNvPr id="7" name="Straight Arrow Connector 6"/>
          <p:cNvCxnSpPr>
            <a:stCxn id="4" idx="2"/>
            <a:endCxn id="5" idx="0"/>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cxnSp>
        <p:nvCxnSpPr>
          <p:cNvPr id="9" name="Straight Arrow Connector 8"/>
          <p:cNvCxnSpPr/>
          <p:nvPr/>
        </p:nvCxnSpPr>
        <p:spPr>
          <a:xfrm>
            <a:off x="6208712" y="2974484"/>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50801" y="3018417"/>
            <a:ext cx="1196161" cy="369332"/>
          </a:xfrm>
          <a:prstGeom prst="rect">
            <a:avLst/>
          </a:prstGeom>
          <a:noFill/>
        </p:spPr>
        <p:txBody>
          <a:bodyPr wrap="none" rtlCol="0">
            <a:spAutoFit/>
          </a:bodyPr>
          <a:lstStyle/>
          <a:p>
            <a:r>
              <a:rPr lang="en-US" dirty="0" smtClean="0"/>
              <a:t>filenames</a:t>
            </a:r>
            <a:endParaRPr lang="en-US" dirty="0"/>
          </a:p>
        </p:txBody>
      </p:sp>
      <p:sp>
        <p:nvSpPr>
          <p:cNvPr id="11" name="Rounded Rectangle 10"/>
          <p:cNvSpPr/>
          <p:nvPr/>
        </p:nvSpPr>
        <p:spPr>
          <a:xfrm>
            <a:off x="5141912" y="3382370"/>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Load data</a:t>
            </a:r>
            <a:endParaRPr lang="en-US" dirty="0">
              <a:solidFill>
                <a:schemeClr val="tx2"/>
              </a:solidFill>
            </a:endParaRPr>
          </a:p>
        </p:txBody>
      </p:sp>
      <p:cxnSp>
        <p:nvCxnSpPr>
          <p:cNvPr id="17" name="Straight Arrow Connector 16"/>
          <p:cNvCxnSpPr/>
          <p:nvPr/>
        </p:nvCxnSpPr>
        <p:spPr>
          <a:xfrm>
            <a:off x="6208712" y="3989286"/>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50801" y="4014849"/>
            <a:ext cx="1834605" cy="369332"/>
          </a:xfrm>
          <a:prstGeom prst="rect">
            <a:avLst/>
          </a:prstGeom>
          <a:noFill/>
        </p:spPr>
        <p:txBody>
          <a:bodyPr wrap="none" rtlCol="0">
            <a:spAutoFit/>
          </a:bodyPr>
          <a:lstStyle/>
          <a:p>
            <a:r>
              <a:rPr lang="en-US" dirty="0" smtClean="0"/>
              <a:t>raw </a:t>
            </a:r>
            <a:r>
              <a:rPr lang="en-US" dirty="0"/>
              <a:t>t</a:t>
            </a:r>
            <a:r>
              <a:rPr lang="en-US" dirty="0" smtClean="0"/>
              <a:t>ensor data</a:t>
            </a:r>
            <a:endParaRPr lang="en-US" dirty="0"/>
          </a:p>
        </p:txBody>
      </p:sp>
    </p:spTree>
    <p:extLst>
      <p:ext uri="{BB962C8B-B14F-4D97-AF65-F5344CB8AC3E}">
        <p14:creationId xmlns:p14="http://schemas.microsoft.com/office/powerpoint/2010/main" val="19310664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a:t>Basic Queue pattern</a:t>
            </a:r>
          </a:p>
        </p:txBody>
      </p:sp>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sp>
        <p:nvSpPr>
          <p:cNvPr id="5" name="Trapezoid 4"/>
          <p:cNvSpPr/>
          <p:nvPr/>
        </p:nvSpPr>
        <p:spPr>
          <a:xfrm>
            <a:off x="3732212" y="2209800"/>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2"/>
                </a:solidFill>
              </a:rPr>
              <a:t>F</a:t>
            </a:r>
            <a:r>
              <a:rPr lang="en-US" sz="2800" smtClean="0">
                <a:solidFill>
                  <a:schemeClr val="tx2"/>
                </a:solidFill>
              </a:rPr>
              <a:t>ilename </a:t>
            </a:r>
            <a:r>
              <a:rPr lang="en-US" sz="2800" dirty="0" smtClean="0">
                <a:solidFill>
                  <a:schemeClr val="tx2"/>
                </a:solidFill>
              </a:rPr>
              <a:t>queue </a:t>
            </a:r>
            <a:endParaRPr lang="en-US" sz="2800" dirty="0">
              <a:solidFill>
                <a:schemeClr val="tx2"/>
              </a:solidFill>
            </a:endParaRPr>
          </a:p>
        </p:txBody>
      </p:sp>
      <p:cxnSp>
        <p:nvCxnSpPr>
          <p:cNvPr id="7" name="Straight Arrow Connector 6"/>
          <p:cNvCxnSpPr>
            <a:stCxn id="4" idx="2"/>
            <a:endCxn id="5" idx="0"/>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cxnSp>
        <p:nvCxnSpPr>
          <p:cNvPr id="9" name="Straight Arrow Connector 8"/>
          <p:cNvCxnSpPr/>
          <p:nvPr/>
        </p:nvCxnSpPr>
        <p:spPr>
          <a:xfrm>
            <a:off x="6208712" y="2974484"/>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50801" y="3018417"/>
            <a:ext cx="1196161" cy="369332"/>
          </a:xfrm>
          <a:prstGeom prst="rect">
            <a:avLst/>
          </a:prstGeom>
          <a:noFill/>
        </p:spPr>
        <p:txBody>
          <a:bodyPr wrap="none" rtlCol="0">
            <a:spAutoFit/>
          </a:bodyPr>
          <a:lstStyle/>
          <a:p>
            <a:r>
              <a:rPr lang="en-US" dirty="0" smtClean="0"/>
              <a:t>filenames</a:t>
            </a:r>
            <a:endParaRPr lang="en-US" dirty="0"/>
          </a:p>
        </p:txBody>
      </p:sp>
      <p:sp>
        <p:nvSpPr>
          <p:cNvPr id="11" name="Rounded Rectangle 10"/>
          <p:cNvSpPr/>
          <p:nvPr/>
        </p:nvSpPr>
        <p:spPr>
          <a:xfrm>
            <a:off x="5141912" y="3382370"/>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Load data</a:t>
            </a:r>
            <a:endParaRPr lang="en-US" dirty="0">
              <a:solidFill>
                <a:schemeClr val="tx2"/>
              </a:solidFill>
            </a:endParaRPr>
          </a:p>
        </p:txBody>
      </p:sp>
      <p:sp>
        <p:nvSpPr>
          <p:cNvPr id="13" name="Rounded Rectangle 12"/>
          <p:cNvSpPr/>
          <p:nvPr/>
        </p:nvSpPr>
        <p:spPr>
          <a:xfrm>
            <a:off x="5141912" y="4397172"/>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Preprocess</a:t>
            </a:r>
            <a:endParaRPr lang="en-US" dirty="0">
              <a:solidFill>
                <a:schemeClr val="tx2"/>
              </a:solidFill>
            </a:endParaRPr>
          </a:p>
        </p:txBody>
      </p:sp>
      <p:cxnSp>
        <p:nvCxnSpPr>
          <p:cNvPr id="17" name="Straight Arrow Connector 16"/>
          <p:cNvCxnSpPr/>
          <p:nvPr/>
        </p:nvCxnSpPr>
        <p:spPr>
          <a:xfrm>
            <a:off x="6208712" y="3989286"/>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208712" y="5004088"/>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50801" y="4014849"/>
            <a:ext cx="1834605" cy="369332"/>
          </a:xfrm>
          <a:prstGeom prst="rect">
            <a:avLst/>
          </a:prstGeom>
          <a:noFill/>
        </p:spPr>
        <p:txBody>
          <a:bodyPr wrap="none" rtlCol="0">
            <a:spAutoFit/>
          </a:bodyPr>
          <a:lstStyle/>
          <a:p>
            <a:r>
              <a:rPr lang="en-US" dirty="0" smtClean="0"/>
              <a:t>raw </a:t>
            </a:r>
            <a:r>
              <a:rPr lang="en-US" dirty="0"/>
              <a:t>t</a:t>
            </a:r>
            <a:r>
              <a:rPr lang="en-US" dirty="0" smtClean="0"/>
              <a:t>ensor data</a:t>
            </a:r>
            <a:endParaRPr lang="en-US" dirty="0"/>
          </a:p>
        </p:txBody>
      </p:sp>
      <p:sp>
        <p:nvSpPr>
          <p:cNvPr id="22" name="TextBox 21"/>
          <p:cNvSpPr txBox="1"/>
          <p:nvPr/>
        </p:nvSpPr>
        <p:spPr>
          <a:xfrm>
            <a:off x="6250801" y="5026054"/>
            <a:ext cx="2148602" cy="369332"/>
          </a:xfrm>
          <a:prstGeom prst="rect">
            <a:avLst/>
          </a:prstGeom>
          <a:noFill/>
        </p:spPr>
        <p:txBody>
          <a:bodyPr wrap="none" rtlCol="0">
            <a:spAutoFit/>
          </a:bodyPr>
          <a:lstStyle/>
          <a:p>
            <a:r>
              <a:rPr lang="en-US" smtClean="0"/>
              <a:t>preprocessed data</a:t>
            </a:r>
            <a:endParaRPr lang="en-US" dirty="0"/>
          </a:p>
        </p:txBody>
      </p:sp>
    </p:spTree>
    <p:extLst>
      <p:ext uri="{BB962C8B-B14F-4D97-AF65-F5344CB8AC3E}">
        <p14:creationId xmlns:p14="http://schemas.microsoft.com/office/powerpoint/2010/main" val="514190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a:t>Basic Queue pattern</a:t>
            </a:r>
          </a:p>
        </p:txBody>
      </p:sp>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sp>
        <p:nvSpPr>
          <p:cNvPr id="5" name="Trapezoid 4"/>
          <p:cNvSpPr/>
          <p:nvPr/>
        </p:nvSpPr>
        <p:spPr>
          <a:xfrm>
            <a:off x="3732212" y="2209800"/>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2"/>
                </a:solidFill>
              </a:rPr>
              <a:t>F</a:t>
            </a:r>
            <a:r>
              <a:rPr lang="en-US" sz="2800" smtClean="0">
                <a:solidFill>
                  <a:schemeClr val="tx2"/>
                </a:solidFill>
              </a:rPr>
              <a:t>ilename </a:t>
            </a:r>
            <a:r>
              <a:rPr lang="en-US" sz="2800" dirty="0" smtClean="0">
                <a:solidFill>
                  <a:schemeClr val="tx2"/>
                </a:solidFill>
              </a:rPr>
              <a:t>queue </a:t>
            </a:r>
            <a:endParaRPr lang="en-US" sz="2800" dirty="0">
              <a:solidFill>
                <a:schemeClr val="tx2"/>
              </a:solidFill>
            </a:endParaRPr>
          </a:p>
        </p:txBody>
      </p:sp>
      <p:cxnSp>
        <p:nvCxnSpPr>
          <p:cNvPr id="7" name="Straight Arrow Connector 6"/>
          <p:cNvCxnSpPr>
            <a:stCxn id="4" idx="2"/>
            <a:endCxn id="5" idx="0"/>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cxnSp>
        <p:nvCxnSpPr>
          <p:cNvPr id="9" name="Straight Arrow Connector 8"/>
          <p:cNvCxnSpPr/>
          <p:nvPr/>
        </p:nvCxnSpPr>
        <p:spPr>
          <a:xfrm>
            <a:off x="6208712" y="2974484"/>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50801" y="3018417"/>
            <a:ext cx="1196161" cy="369332"/>
          </a:xfrm>
          <a:prstGeom prst="rect">
            <a:avLst/>
          </a:prstGeom>
          <a:noFill/>
        </p:spPr>
        <p:txBody>
          <a:bodyPr wrap="none" rtlCol="0">
            <a:spAutoFit/>
          </a:bodyPr>
          <a:lstStyle/>
          <a:p>
            <a:r>
              <a:rPr lang="en-US" dirty="0" smtClean="0"/>
              <a:t>filenames</a:t>
            </a:r>
            <a:endParaRPr lang="en-US" dirty="0"/>
          </a:p>
        </p:txBody>
      </p:sp>
      <p:sp>
        <p:nvSpPr>
          <p:cNvPr id="11" name="Rounded Rectangle 10"/>
          <p:cNvSpPr/>
          <p:nvPr/>
        </p:nvSpPr>
        <p:spPr>
          <a:xfrm>
            <a:off x="5141912" y="3382370"/>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Load data</a:t>
            </a:r>
            <a:endParaRPr lang="en-US" dirty="0">
              <a:solidFill>
                <a:schemeClr val="tx2"/>
              </a:solidFill>
            </a:endParaRPr>
          </a:p>
        </p:txBody>
      </p:sp>
      <p:sp>
        <p:nvSpPr>
          <p:cNvPr id="13" name="Rounded Rectangle 12"/>
          <p:cNvSpPr/>
          <p:nvPr/>
        </p:nvSpPr>
        <p:spPr>
          <a:xfrm>
            <a:off x="5141912" y="4397172"/>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Preprocess</a:t>
            </a:r>
            <a:endParaRPr lang="en-US" dirty="0">
              <a:solidFill>
                <a:schemeClr val="tx2"/>
              </a:solidFill>
            </a:endParaRPr>
          </a:p>
        </p:txBody>
      </p:sp>
      <p:sp>
        <p:nvSpPr>
          <p:cNvPr id="14" name="Trapezoid 13"/>
          <p:cNvSpPr/>
          <p:nvPr/>
        </p:nvSpPr>
        <p:spPr>
          <a:xfrm>
            <a:off x="3732212" y="5411974"/>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solidFill>
                  <a:schemeClr val="tx2"/>
                </a:solidFill>
              </a:rPr>
              <a:t>Shuffle/batch queue </a:t>
            </a:r>
            <a:endParaRPr lang="en-US" sz="2800" dirty="0">
              <a:solidFill>
                <a:schemeClr val="tx2"/>
              </a:solidFill>
            </a:endParaRPr>
          </a:p>
        </p:txBody>
      </p:sp>
      <p:cxnSp>
        <p:nvCxnSpPr>
          <p:cNvPr id="17" name="Straight Arrow Connector 16"/>
          <p:cNvCxnSpPr/>
          <p:nvPr/>
        </p:nvCxnSpPr>
        <p:spPr>
          <a:xfrm>
            <a:off x="6208712" y="3989286"/>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208712" y="5004088"/>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208712" y="6173974"/>
            <a:ext cx="0" cy="60782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50801" y="4014849"/>
            <a:ext cx="1834605" cy="369332"/>
          </a:xfrm>
          <a:prstGeom prst="rect">
            <a:avLst/>
          </a:prstGeom>
          <a:noFill/>
        </p:spPr>
        <p:txBody>
          <a:bodyPr wrap="none" rtlCol="0">
            <a:spAutoFit/>
          </a:bodyPr>
          <a:lstStyle/>
          <a:p>
            <a:r>
              <a:rPr lang="en-US" dirty="0" smtClean="0"/>
              <a:t>raw </a:t>
            </a:r>
            <a:r>
              <a:rPr lang="en-US" dirty="0"/>
              <a:t>t</a:t>
            </a:r>
            <a:r>
              <a:rPr lang="en-US" dirty="0" smtClean="0"/>
              <a:t>ensor data</a:t>
            </a:r>
            <a:endParaRPr lang="en-US" dirty="0"/>
          </a:p>
        </p:txBody>
      </p:sp>
      <p:sp>
        <p:nvSpPr>
          <p:cNvPr id="22" name="TextBox 21"/>
          <p:cNvSpPr txBox="1"/>
          <p:nvPr/>
        </p:nvSpPr>
        <p:spPr>
          <a:xfrm>
            <a:off x="6250801" y="5026054"/>
            <a:ext cx="2148602" cy="369332"/>
          </a:xfrm>
          <a:prstGeom prst="rect">
            <a:avLst/>
          </a:prstGeom>
          <a:noFill/>
        </p:spPr>
        <p:txBody>
          <a:bodyPr wrap="none" rtlCol="0">
            <a:spAutoFit/>
          </a:bodyPr>
          <a:lstStyle/>
          <a:p>
            <a:r>
              <a:rPr lang="en-US" smtClean="0"/>
              <a:t>preprocessed data</a:t>
            </a:r>
            <a:endParaRPr lang="en-US" dirty="0"/>
          </a:p>
        </p:txBody>
      </p:sp>
      <p:sp>
        <p:nvSpPr>
          <p:cNvPr id="23" name="TextBox 22"/>
          <p:cNvSpPr txBox="1"/>
          <p:nvPr/>
        </p:nvSpPr>
        <p:spPr>
          <a:xfrm>
            <a:off x="6250801" y="6293221"/>
            <a:ext cx="1872564" cy="369332"/>
          </a:xfrm>
          <a:prstGeom prst="rect">
            <a:avLst/>
          </a:prstGeom>
          <a:noFill/>
        </p:spPr>
        <p:txBody>
          <a:bodyPr wrap="none" rtlCol="0">
            <a:spAutoFit/>
          </a:bodyPr>
          <a:lstStyle/>
          <a:p>
            <a:r>
              <a:rPr lang="en-US" dirty="0" smtClean="0"/>
              <a:t>training batches</a:t>
            </a:r>
            <a:endParaRPr lang="en-US" dirty="0"/>
          </a:p>
        </p:txBody>
      </p:sp>
    </p:spTree>
    <p:extLst>
      <p:ext uri="{BB962C8B-B14F-4D97-AF65-F5344CB8AC3E}">
        <p14:creationId xmlns:p14="http://schemas.microsoft.com/office/powerpoint/2010/main" val="529571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a:t>Basic Queue pattern</a:t>
            </a:r>
          </a:p>
        </p:txBody>
      </p:sp>
      <p:sp>
        <p:nvSpPr>
          <p:cNvPr id="4" name="Rounded Rectangle 3"/>
          <p:cNvSpPr/>
          <p:nvPr/>
        </p:nvSpPr>
        <p:spPr>
          <a:xfrm>
            <a:off x="1979612" y="1066800"/>
            <a:ext cx="8458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smtClean="0"/>
              <a:t>Training data</a:t>
            </a:r>
            <a:endParaRPr lang="en-US" sz="3200" dirty="0"/>
          </a:p>
        </p:txBody>
      </p:sp>
      <p:sp>
        <p:nvSpPr>
          <p:cNvPr id="5" name="Trapezoid 4"/>
          <p:cNvSpPr/>
          <p:nvPr/>
        </p:nvSpPr>
        <p:spPr>
          <a:xfrm>
            <a:off x="3732212" y="2209800"/>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2"/>
                </a:solidFill>
              </a:rPr>
              <a:t>F</a:t>
            </a:r>
            <a:r>
              <a:rPr lang="en-US" sz="2800" smtClean="0">
                <a:solidFill>
                  <a:schemeClr val="tx2"/>
                </a:solidFill>
              </a:rPr>
              <a:t>ilename </a:t>
            </a:r>
            <a:r>
              <a:rPr lang="en-US" sz="2800" dirty="0" smtClean="0">
                <a:solidFill>
                  <a:schemeClr val="tx2"/>
                </a:solidFill>
              </a:rPr>
              <a:t>queue </a:t>
            </a:r>
            <a:endParaRPr lang="en-US" sz="2800" dirty="0">
              <a:solidFill>
                <a:schemeClr val="tx2"/>
              </a:solidFill>
            </a:endParaRPr>
          </a:p>
        </p:txBody>
      </p:sp>
      <p:cxnSp>
        <p:nvCxnSpPr>
          <p:cNvPr id="7" name="Straight Arrow Connector 6"/>
          <p:cNvCxnSpPr>
            <a:stCxn id="4" idx="2"/>
            <a:endCxn id="5" idx="0"/>
          </p:cNvCxnSpPr>
          <p:nvPr/>
        </p:nvCxnSpPr>
        <p:spPr>
          <a:xfrm>
            <a:off x="6208712" y="1676400"/>
            <a:ext cx="0" cy="533400"/>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250801" y="1720333"/>
            <a:ext cx="1196161" cy="369332"/>
          </a:xfrm>
          <a:prstGeom prst="rect">
            <a:avLst/>
          </a:prstGeom>
          <a:noFill/>
        </p:spPr>
        <p:txBody>
          <a:bodyPr wrap="none" rtlCol="0">
            <a:spAutoFit/>
          </a:bodyPr>
          <a:lstStyle/>
          <a:p>
            <a:r>
              <a:rPr lang="en-US" dirty="0" smtClean="0"/>
              <a:t>filenames</a:t>
            </a:r>
            <a:endParaRPr lang="en-US" dirty="0"/>
          </a:p>
        </p:txBody>
      </p:sp>
      <p:cxnSp>
        <p:nvCxnSpPr>
          <p:cNvPr id="9" name="Straight Arrow Connector 8"/>
          <p:cNvCxnSpPr/>
          <p:nvPr/>
        </p:nvCxnSpPr>
        <p:spPr>
          <a:xfrm>
            <a:off x="6208712" y="2974484"/>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50801" y="3018417"/>
            <a:ext cx="1196161" cy="369332"/>
          </a:xfrm>
          <a:prstGeom prst="rect">
            <a:avLst/>
          </a:prstGeom>
          <a:noFill/>
        </p:spPr>
        <p:txBody>
          <a:bodyPr wrap="none" rtlCol="0">
            <a:spAutoFit/>
          </a:bodyPr>
          <a:lstStyle/>
          <a:p>
            <a:r>
              <a:rPr lang="en-US" dirty="0" smtClean="0"/>
              <a:t>filenames</a:t>
            </a:r>
            <a:endParaRPr lang="en-US" dirty="0"/>
          </a:p>
        </p:txBody>
      </p:sp>
      <p:sp>
        <p:nvSpPr>
          <p:cNvPr id="11" name="Rounded Rectangle 10"/>
          <p:cNvSpPr/>
          <p:nvPr/>
        </p:nvSpPr>
        <p:spPr>
          <a:xfrm>
            <a:off x="5141912" y="3382370"/>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Load data</a:t>
            </a:r>
            <a:endParaRPr lang="en-US" dirty="0">
              <a:solidFill>
                <a:schemeClr val="tx2"/>
              </a:solidFill>
            </a:endParaRPr>
          </a:p>
        </p:txBody>
      </p:sp>
      <p:sp>
        <p:nvSpPr>
          <p:cNvPr id="13" name="Rounded Rectangle 12"/>
          <p:cNvSpPr/>
          <p:nvPr/>
        </p:nvSpPr>
        <p:spPr>
          <a:xfrm>
            <a:off x="5141912" y="4397172"/>
            <a:ext cx="2133600" cy="6069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solidFill>
                  <a:schemeClr val="tx2"/>
                </a:solidFill>
              </a:rPr>
              <a:t>Preprocess</a:t>
            </a:r>
            <a:endParaRPr lang="en-US" dirty="0">
              <a:solidFill>
                <a:schemeClr val="tx2"/>
              </a:solidFill>
            </a:endParaRPr>
          </a:p>
        </p:txBody>
      </p:sp>
      <p:sp>
        <p:nvSpPr>
          <p:cNvPr id="14" name="Trapezoid 13"/>
          <p:cNvSpPr/>
          <p:nvPr/>
        </p:nvSpPr>
        <p:spPr>
          <a:xfrm>
            <a:off x="3732212" y="5411974"/>
            <a:ext cx="4953000" cy="762000"/>
          </a:xfrm>
          <a:prstGeom prst="trapezoid">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solidFill>
                  <a:schemeClr val="tx2"/>
                </a:solidFill>
              </a:rPr>
              <a:t>Shuffle/batch queue </a:t>
            </a:r>
            <a:endParaRPr lang="en-US" sz="2800" dirty="0">
              <a:solidFill>
                <a:schemeClr val="tx2"/>
              </a:solidFill>
            </a:endParaRPr>
          </a:p>
        </p:txBody>
      </p:sp>
      <p:cxnSp>
        <p:nvCxnSpPr>
          <p:cNvPr id="17" name="Straight Arrow Connector 16"/>
          <p:cNvCxnSpPr/>
          <p:nvPr/>
        </p:nvCxnSpPr>
        <p:spPr>
          <a:xfrm>
            <a:off x="6208712" y="3989286"/>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208712" y="5004088"/>
            <a:ext cx="0" cy="413265"/>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208712" y="6173974"/>
            <a:ext cx="0" cy="60782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50801" y="4014849"/>
            <a:ext cx="1834605" cy="369332"/>
          </a:xfrm>
          <a:prstGeom prst="rect">
            <a:avLst/>
          </a:prstGeom>
          <a:noFill/>
        </p:spPr>
        <p:txBody>
          <a:bodyPr wrap="none" rtlCol="0">
            <a:spAutoFit/>
          </a:bodyPr>
          <a:lstStyle/>
          <a:p>
            <a:r>
              <a:rPr lang="en-US" dirty="0" smtClean="0"/>
              <a:t>raw </a:t>
            </a:r>
            <a:r>
              <a:rPr lang="en-US" dirty="0"/>
              <a:t>t</a:t>
            </a:r>
            <a:r>
              <a:rPr lang="en-US" dirty="0" smtClean="0"/>
              <a:t>ensor data</a:t>
            </a:r>
            <a:endParaRPr lang="en-US" dirty="0"/>
          </a:p>
        </p:txBody>
      </p:sp>
      <p:sp>
        <p:nvSpPr>
          <p:cNvPr id="22" name="TextBox 21"/>
          <p:cNvSpPr txBox="1"/>
          <p:nvPr/>
        </p:nvSpPr>
        <p:spPr>
          <a:xfrm>
            <a:off x="6250801" y="5026054"/>
            <a:ext cx="2148602" cy="369332"/>
          </a:xfrm>
          <a:prstGeom prst="rect">
            <a:avLst/>
          </a:prstGeom>
          <a:noFill/>
        </p:spPr>
        <p:txBody>
          <a:bodyPr wrap="none" rtlCol="0">
            <a:spAutoFit/>
          </a:bodyPr>
          <a:lstStyle/>
          <a:p>
            <a:r>
              <a:rPr lang="en-US" smtClean="0"/>
              <a:t>preprocessed data</a:t>
            </a:r>
            <a:endParaRPr lang="en-US" dirty="0"/>
          </a:p>
        </p:txBody>
      </p:sp>
      <p:sp>
        <p:nvSpPr>
          <p:cNvPr id="23" name="TextBox 22"/>
          <p:cNvSpPr txBox="1"/>
          <p:nvPr/>
        </p:nvSpPr>
        <p:spPr>
          <a:xfrm>
            <a:off x="6250801" y="6293221"/>
            <a:ext cx="1872564" cy="369332"/>
          </a:xfrm>
          <a:prstGeom prst="rect">
            <a:avLst/>
          </a:prstGeom>
          <a:noFill/>
        </p:spPr>
        <p:txBody>
          <a:bodyPr wrap="none" rtlCol="0">
            <a:spAutoFit/>
          </a:bodyPr>
          <a:lstStyle/>
          <a:p>
            <a:r>
              <a:rPr lang="en-US" dirty="0" smtClean="0"/>
              <a:t>training batches</a:t>
            </a:r>
            <a:endParaRPr lang="en-US" dirty="0"/>
          </a:p>
        </p:txBody>
      </p:sp>
    </p:spTree>
    <p:extLst>
      <p:ext uri="{BB962C8B-B14F-4D97-AF65-F5344CB8AC3E}">
        <p14:creationId xmlns:p14="http://schemas.microsoft.com/office/powerpoint/2010/main" val="1338521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the Queue in a Graph</a:t>
            </a:r>
            <a:endParaRPr lang="en-US" dirty="0"/>
          </a:p>
        </p:txBody>
      </p:sp>
      <p:sp>
        <p:nvSpPr>
          <p:cNvPr id="3" name="Content Placeholder 2"/>
          <p:cNvSpPr>
            <a:spLocks noGrp="1"/>
          </p:cNvSpPr>
          <p:nvPr>
            <p:ph idx="1"/>
          </p:nvPr>
        </p:nvSpPr>
        <p:spPr/>
        <p:txBody>
          <a:bodyPr/>
          <a:lstStyle/>
          <a:p>
            <a:r>
              <a:rPr lang="en-US" dirty="0" smtClean="0"/>
              <a:t>Once you’ve created the queue, you end up with handles to batches of training data:</a:t>
            </a:r>
          </a:p>
          <a:p>
            <a:pPr marL="0" indent="0">
              <a:buNone/>
            </a:pPr>
            <a:r>
              <a:rPr lang="en-US" sz="2400" dirty="0" err="1" smtClean="0">
                <a:latin typeface="Consolas" charset="0"/>
                <a:ea typeface="Consolas" charset="0"/>
                <a:cs typeface="Consolas" charset="0"/>
              </a:rPr>
              <a:t>image_batch</a:t>
            </a:r>
            <a:r>
              <a:rPr lang="en-US" sz="2400" dirty="0">
                <a:latin typeface="Consolas" charset="0"/>
                <a:ea typeface="Consolas" charset="0"/>
                <a:cs typeface="Consolas" charset="0"/>
              </a:rPr>
              <a:t>, </a:t>
            </a:r>
            <a:r>
              <a:rPr lang="en-US" sz="2400" dirty="0" err="1">
                <a:latin typeface="Consolas" charset="0"/>
                <a:ea typeface="Consolas" charset="0"/>
                <a:cs typeface="Consolas" charset="0"/>
              </a:rPr>
              <a:t>label_batch</a:t>
            </a:r>
            <a:r>
              <a:rPr lang="en-US" sz="2400" dirty="0">
                <a:latin typeface="Consolas" charset="0"/>
                <a:ea typeface="Consolas" charset="0"/>
                <a:cs typeface="Consolas" charset="0"/>
              </a:rPr>
              <a:t> = </a:t>
            </a:r>
            <a:r>
              <a:rPr lang="en-US" sz="2400" dirty="0" err="1">
                <a:latin typeface="Consolas" charset="0"/>
                <a:ea typeface="Consolas" charset="0"/>
                <a:cs typeface="Consolas" charset="0"/>
              </a:rPr>
              <a:t>tf.train.shuffle_batch</a:t>
            </a:r>
            <a:r>
              <a:rPr lang="en-US" sz="2400" dirty="0" smtClean="0">
                <a:latin typeface="Consolas" charset="0"/>
                <a:ea typeface="Consolas" charset="0"/>
                <a:cs typeface="Consolas" charset="0"/>
              </a:rPr>
              <a:t>(</a:t>
            </a:r>
            <a:r>
              <a:rPr lang="mr-IN" sz="2400" dirty="0" smtClean="0">
                <a:latin typeface="Consolas" charset="0"/>
                <a:ea typeface="Consolas" charset="0"/>
                <a:cs typeface="Consolas" charset="0"/>
              </a:rPr>
              <a:t>…</a:t>
            </a:r>
            <a:r>
              <a:rPr lang="en-US" sz="2400" dirty="0" smtClean="0">
                <a:latin typeface="Consolas" charset="0"/>
                <a:ea typeface="Consolas" charset="0"/>
                <a:cs typeface="Consolas" charset="0"/>
              </a:rPr>
              <a:t>)</a:t>
            </a:r>
          </a:p>
          <a:p>
            <a:pPr marL="0" indent="0">
              <a:buNone/>
            </a:pPr>
            <a:endParaRPr lang="en-US" sz="2400" dirty="0" smtClean="0">
              <a:latin typeface="Consolas" charset="0"/>
              <a:ea typeface="Consolas" charset="0"/>
              <a:cs typeface="Consolas" charset="0"/>
            </a:endParaRPr>
          </a:p>
          <a:p>
            <a:r>
              <a:rPr lang="en-US" dirty="0" smtClean="0"/>
              <a:t>Use these the same way you would a placeholder!</a:t>
            </a:r>
            <a:endParaRPr lang="en-US" dirty="0">
              <a:latin typeface="Consolas" charset="0"/>
              <a:ea typeface="Consolas" charset="0"/>
              <a:cs typeface="Consolas" charset="0"/>
            </a:endParaRPr>
          </a:p>
        </p:txBody>
      </p:sp>
    </p:spTree>
    <p:extLst>
      <p:ext uri="{BB962C8B-B14F-4D97-AF65-F5344CB8AC3E}">
        <p14:creationId xmlns:p14="http://schemas.microsoft.com/office/powerpoint/2010/main" val="295766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7" name="Straight Arrow Connector 6"/>
          <p:cNvCxnSpPr/>
          <p:nvPr/>
        </p:nvCxnSpPr>
        <p:spPr>
          <a:xfrm flipH="1">
            <a:off x="6780212" y="1746180"/>
            <a:ext cx="685800" cy="3048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466012" y="1392237"/>
            <a:ext cx="3238707" cy="707886"/>
          </a:xfrm>
          <a:prstGeom prst="rect">
            <a:avLst/>
          </a:prstGeom>
          <a:noFill/>
        </p:spPr>
        <p:txBody>
          <a:bodyPr wrap="none" rtlCol="0">
            <a:spAutoFit/>
          </a:bodyPr>
          <a:lstStyle/>
          <a:p>
            <a:r>
              <a:rPr lang="en-US" sz="2000" dirty="0" smtClean="0">
                <a:solidFill>
                  <a:srgbClr val="FF0000"/>
                </a:solidFill>
              </a:rPr>
              <a:t>Coordinator manages the </a:t>
            </a:r>
          </a:p>
          <a:p>
            <a:r>
              <a:rPr lang="en-US" sz="2000" dirty="0" smtClean="0">
                <a:solidFill>
                  <a:srgbClr val="FF0000"/>
                </a:solidFill>
              </a:rPr>
              <a:t>pool of threads</a:t>
            </a:r>
            <a:endParaRPr lang="en-US" sz="2000" dirty="0">
              <a:solidFill>
                <a:srgbClr val="FF0000"/>
              </a:solidFill>
            </a:endParaRPr>
          </a:p>
        </p:txBody>
      </p:sp>
    </p:spTree>
    <p:extLst>
      <p:ext uri="{BB962C8B-B14F-4D97-AF65-F5344CB8AC3E}">
        <p14:creationId xmlns:p14="http://schemas.microsoft.com/office/powerpoint/2010/main" val="322875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7" name="Straight Arrow Connector 6"/>
          <p:cNvCxnSpPr/>
          <p:nvPr/>
        </p:nvCxnSpPr>
        <p:spPr>
          <a:xfrm flipH="1" flipV="1">
            <a:off x="7902005" y="2811454"/>
            <a:ext cx="457200" cy="40805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359205" y="3106763"/>
            <a:ext cx="3230884" cy="707886"/>
          </a:xfrm>
          <a:prstGeom prst="rect">
            <a:avLst/>
          </a:prstGeom>
          <a:noFill/>
        </p:spPr>
        <p:txBody>
          <a:bodyPr wrap="none" rtlCol="0">
            <a:spAutoFit/>
          </a:bodyPr>
          <a:lstStyle/>
          <a:p>
            <a:r>
              <a:rPr lang="en-US" sz="2000" dirty="0" smtClean="0">
                <a:solidFill>
                  <a:srgbClr val="FF0000"/>
                </a:solidFill>
              </a:rPr>
              <a:t>Starts the threads created</a:t>
            </a:r>
          </a:p>
          <a:p>
            <a:r>
              <a:rPr lang="en-US" sz="2000" dirty="0" smtClean="0">
                <a:solidFill>
                  <a:srgbClr val="FF0000"/>
                </a:solidFill>
              </a:rPr>
              <a:t>in the Graph</a:t>
            </a:r>
          </a:p>
        </p:txBody>
      </p:sp>
    </p:spTree>
    <p:extLst>
      <p:ext uri="{BB962C8B-B14F-4D97-AF65-F5344CB8AC3E}">
        <p14:creationId xmlns:p14="http://schemas.microsoft.com/office/powerpoint/2010/main" val="2081033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5" name="Straight Arrow Connector 4"/>
          <p:cNvCxnSpPr/>
          <p:nvPr/>
        </p:nvCxnSpPr>
        <p:spPr>
          <a:xfrm flipH="1" flipV="1">
            <a:off x="7542212" y="3675809"/>
            <a:ext cx="457200" cy="40805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999412" y="3971118"/>
            <a:ext cx="2985561" cy="707886"/>
          </a:xfrm>
          <a:prstGeom prst="rect">
            <a:avLst/>
          </a:prstGeom>
          <a:noFill/>
        </p:spPr>
        <p:txBody>
          <a:bodyPr wrap="none" rtlCol="0">
            <a:spAutoFit/>
          </a:bodyPr>
          <a:lstStyle/>
          <a:p>
            <a:r>
              <a:rPr lang="en-US" sz="2000" dirty="0" smtClean="0">
                <a:solidFill>
                  <a:srgbClr val="FF0000"/>
                </a:solidFill>
              </a:rPr>
              <a:t>Coordinator can receive</a:t>
            </a:r>
          </a:p>
          <a:p>
            <a:r>
              <a:rPr lang="en-US" sz="2000" dirty="0" smtClean="0">
                <a:solidFill>
                  <a:srgbClr val="FF0000"/>
                </a:solidFill>
              </a:rPr>
              <a:t>signals to stop training</a:t>
            </a:r>
          </a:p>
        </p:txBody>
      </p:sp>
    </p:spTree>
    <p:extLst>
      <p:ext uri="{BB962C8B-B14F-4D97-AF65-F5344CB8AC3E}">
        <p14:creationId xmlns:p14="http://schemas.microsoft.com/office/powerpoint/2010/main" val="2005577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5" name="Straight Arrow Connector 4"/>
          <p:cNvCxnSpPr/>
          <p:nvPr/>
        </p:nvCxnSpPr>
        <p:spPr>
          <a:xfrm flipH="1" flipV="1">
            <a:off x="7008812" y="4657691"/>
            <a:ext cx="457200" cy="40805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466012" y="4953000"/>
            <a:ext cx="4073487" cy="1323439"/>
          </a:xfrm>
          <a:prstGeom prst="rect">
            <a:avLst/>
          </a:prstGeom>
          <a:noFill/>
        </p:spPr>
        <p:txBody>
          <a:bodyPr wrap="none" rtlCol="0">
            <a:spAutoFit/>
          </a:bodyPr>
          <a:lstStyle/>
          <a:p>
            <a:r>
              <a:rPr lang="en-US" sz="2000" dirty="0" smtClean="0">
                <a:solidFill>
                  <a:srgbClr val="FF0000"/>
                </a:solidFill>
              </a:rPr>
              <a:t>We’ll get an </a:t>
            </a:r>
            <a:r>
              <a:rPr lang="en-US" sz="2000" dirty="0" err="1" smtClean="0">
                <a:solidFill>
                  <a:srgbClr val="FF0000"/>
                </a:solidFill>
              </a:rPr>
              <a:t>OutOfRangeError</a:t>
            </a:r>
            <a:endParaRPr lang="en-US" sz="2000" dirty="0" smtClean="0">
              <a:solidFill>
                <a:srgbClr val="FF0000"/>
              </a:solidFill>
            </a:endParaRPr>
          </a:p>
          <a:p>
            <a:r>
              <a:rPr lang="en-US" sz="2000" dirty="0" smtClean="0">
                <a:solidFill>
                  <a:srgbClr val="FF0000"/>
                </a:solidFill>
              </a:rPr>
              <a:t>when we’ve gone through all data</a:t>
            </a:r>
          </a:p>
          <a:p>
            <a:r>
              <a:rPr lang="en-US" sz="2000" dirty="0" smtClean="0">
                <a:solidFill>
                  <a:srgbClr val="FF0000"/>
                </a:solidFill>
              </a:rPr>
              <a:t>(or when we’ve gone through the </a:t>
            </a:r>
          </a:p>
          <a:p>
            <a:r>
              <a:rPr lang="en-US" sz="2000" dirty="0" smtClean="0">
                <a:solidFill>
                  <a:srgbClr val="FF0000"/>
                </a:solidFill>
              </a:rPr>
              <a:t>max number of epochs)</a:t>
            </a:r>
          </a:p>
        </p:txBody>
      </p:sp>
    </p:spTree>
    <p:extLst>
      <p:ext uri="{BB962C8B-B14F-4D97-AF65-F5344CB8AC3E}">
        <p14:creationId xmlns:p14="http://schemas.microsoft.com/office/powerpoint/2010/main" val="1498388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5" name="Straight Arrow Connector 4"/>
          <p:cNvCxnSpPr/>
          <p:nvPr/>
        </p:nvCxnSpPr>
        <p:spPr>
          <a:xfrm flipH="1">
            <a:off x="5954024" y="5436919"/>
            <a:ext cx="685800" cy="1524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639824" y="5113009"/>
            <a:ext cx="3109441" cy="400110"/>
          </a:xfrm>
          <a:prstGeom prst="rect">
            <a:avLst/>
          </a:prstGeom>
          <a:noFill/>
        </p:spPr>
        <p:txBody>
          <a:bodyPr wrap="none" rtlCol="0">
            <a:spAutoFit/>
          </a:bodyPr>
          <a:lstStyle/>
          <a:p>
            <a:r>
              <a:rPr lang="en-US" sz="2000" smtClean="0">
                <a:solidFill>
                  <a:srgbClr val="FF0000"/>
                </a:solidFill>
              </a:rPr>
              <a:t>Requests threads to stop</a:t>
            </a:r>
            <a:endParaRPr lang="en-US" sz="2000" dirty="0" smtClean="0">
              <a:solidFill>
                <a:srgbClr val="FF0000"/>
              </a:solidFill>
            </a:endParaRPr>
          </a:p>
        </p:txBody>
      </p:sp>
    </p:spTree>
    <p:extLst>
      <p:ext uri="{BB962C8B-B14F-4D97-AF65-F5344CB8AC3E}">
        <p14:creationId xmlns:p14="http://schemas.microsoft.com/office/powerpoint/2010/main" val="559475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Extra bits for managing threads:</a:t>
            </a:r>
            <a:endParaRPr lang="en-US" dirty="0"/>
          </a:p>
        </p:txBody>
      </p:sp>
      <p:sp>
        <p:nvSpPr>
          <p:cNvPr id="3" name="Content Placeholder 2"/>
          <p:cNvSpPr>
            <a:spLocks noGrp="1"/>
          </p:cNvSpPr>
          <p:nvPr>
            <p:ph idx="1"/>
          </p:nvPr>
        </p:nvSpPr>
        <p:spPr>
          <a:xfrm>
            <a:off x="1217612" y="1417637"/>
            <a:ext cx="10158625" cy="5211763"/>
          </a:xfrm>
        </p:spPr>
        <p:txBody>
          <a:bodyPr>
            <a:normAutofit fontScale="92500" lnSpcReduction="20000"/>
          </a:bodyPr>
          <a:lstStyle/>
          <a:p>
            <a:endParaRPr lang="en-US" dirty="0"/>
          </a:p>
          <a:p>
            <a:pPr marL="0" indent="0">
              <a:buNone/>
            </a:pPr>
            <a:r>
              <a:rPr lang="en-US" dirty="0" err="1" smtClean="0">
                <a:latin typeface="Consolas" charset="0"/>
                <a:ea typeface="Consolas" charset="0"/>
                <a:cs typeface="Consolas" charset="0"/>
              </a:rPr>
              <a:t>coord</a:t>
            </a:r>
            <a:r>
              <a:rPr lang="en-US" dirty="0" smtClean="0">
                <a:latin typeface="Consolas" charset="0"/>
                <a:ea typeface="Consolas" charset="0"/>
                <a:cs typeface="Consolas" charset="0"/>
              </a:rPr>
              <a:t> = </a:t>
            </a:r>
            <a:r>
              <a:rPr lang="en-US" dirty="0" err="1" smtClean="0">
                <a:latin typeface="Consolas" charset="0"/>
                <a:ea typeface="Consolas" charset="0"/>
                <a:cs typeface="Consolas" charset="0"/>
              </a:rPr>
              <a:t>tf.train.Coordinator</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threads = </a:t>
            </a:r>
            <a:r>
              <a:rPr lang="en-US" dirty="0" err="1" smtClean="0">
                <a:latin typeface="Consolas" charset="0"/>
                <a:ea typeface="Consolas" charset="0"/>
                <a:cs typeface="Consolas" charset="0"/>
              </a:rPr>
              <a:t>tf.train.start_queue_runners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r>
              <a:rPr lang="en-US" dirty="0" err="1" smtClean="0">
                <a:latin typeface="Consolas" charset="0"/>
                <a:ea typeface="Consolas" charset="0"/>
                <a:cs typeface="Consolas" charset="0"/>
              </a:rPr>
              <a:t>sess</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try:</a:t>
            </a:r>
          </a:p>
          <a:p>
            <a:pPr marL="0" indent="0">
              <a:buNone/>
            </a:pPr>
            <a:r>
              <a:rPr lang="en-US" dirty="0" smtClean="0">
                <a:latin typeface="Consolas" charset="0"/>
                <a:ea typeface="Consolas" charset="0"/>
                <a:cs typeface="Consolas" charset="0"/>
              </a:rPr>
              <a:t>	while not </a:t>
            </a:r>
            <a:r>
              <a:rPr lang="en-US" dirty="0" err="1" smtClean="0">
                <a:latin typeface="Consolas" charset="0"/>
                <a:ea typeface="Consolas" charset="0"/>
                <a:cs typeface="Consolas" charset="0"/>
              </a:rPr>
              <a:t>coord.should_stop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mr-IN" dirty="0" smtClean="0">
                <a:latin typeface="Consolas" charset="0"/>
                <a:ea typeface="Consolas" charset="0"/>
                <a:cs typeface="Consolas" charset="0"/>
              </a:rPr>
              <a:t>…</a:t>
            </a:r>
            <a:r>
              <a:rPr lang="en-US" dirty="0" err="1" smtClean="0">
                <a:latin typeface="Consolas" charset="0"/>
                <a:ea typeface="Consolas" charset="0"/>
                <a:cs typeface="Consolas" charset="0"/>
              </a:rPr>
              <a:t>sess.run</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except </a:t>
            </a:r>
            <a:r>
              <a:rPr lang="en-US" dirty="0" err="1" smtClean="0">
                <a:latin typeface="Consolas" charset="0"/>
                <a:ea typeface="Consolas" charset="0"/>
                <a:cs typeface="Consolas" charset="0"/>
              </a:rPr>
              <a:t>tf.errors.OutOfRangeError</a:t>
            </a:r>
            <a:r>
              <a:rPr lang="en-US" dirty="0" smtClean="0">
                <a:latin typeface="Consolas" charset="0"/>
                <a:ea typeface="Consolas" charset="0"/>
                <a:cs typeface="Consolas" charset="0"/>
              </a:rPr>
              <a:t>:</a:t>
            </a:r>
          </a:p>
          <a:p>
            <a:pPr marL="0" indent="0">
              <a:buNone/>
            </a:pPr>
            <a:r>
              <a:rPr lang="en-US" dirty="0">
                <a:latin typeface="Consolas" charset="0"/>
                <a:ea typeface="Consolas" charset="0"/>
                <a:cs typeface="Consolas" charset="0"/>
              </a:rPr>
              <a:t>	</a:t>
            </a:r>
            <a:r>
              <a:rPr lang="en-US" dirty="0" smtClean="0">
                <a:latin typeface="Consolas" charset="0"/>
                <a:ea typeface="Consolas" charset="0"/>
                <a:cs typeface="Consolas" charset="0"/>
              </a:rPr>
              <a:t>print(‘done!’)</a:t>
            </a:r>
          </a:p>
          <a:p>
            <a:pPr marL="0" indent="0">
              <a:buNone/>
            </a:pPr>
            <a:r>
              <a:rPr lang="en-US" dirty="0" smtClean="0">
                <a:latin typeface="Consolas" charset="0"/>
                <a:ea typeface="Consolas" charset="0"/>
                <a:cs typeface="Consolas" charset="0"/>
              </a:rPr>
              <a:t>finally:</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coord.request_stop</a:t>
            </a:r>
            <a:r>
              <a:rPr lang="en-US" dirty="0" smtClean="0">
                <a:latin typeface="Consolas" charset="0"/>
                <a:ea typeface="Consolas" charset="0"/>
                <a:cs typeface="Consolas" charset="0"/>
              </a:rPr>
              <a:t>()</a:t>
            </a:r>
          </a:p>
          <a:p>
            <a:pPr marL="0" indent="0">
              <a:buNone/>
            </a:pPr>
            <a:r>
              <a:rPr lang="en-US" dirty="0" smtClean="0">
                <a:latin typeface="Consolas" charset="0"/>
                <a:ea typeface="Consolas" charset="0"/>
                <a:cs typeface="Consolas" charset="0"/>
              </a:rPr>
              <a:t>	</a:t>
            </a:r>
            <a:r>
              <a:rPr lang="en-US" dirty="0" err="1" smtClean="0">
                <a:latin typeface="Consolas" charset="0"/>
                <a:ea typeface="Consolas" charset="0"/>
                <a:cs typeface="Consolas" charset="0"/>
              </a:rPr>
              <a:t>coord.join</a:t>
            </a:r>
            <a:r>
              <a:rPr lang="en-US" dirty="0" smtClean="0">
                <a:latin typeface="Consolas" charset="0"/>
                <a:ea typeface="Consolas" charset="0"/>
                <a:cs typeface="Consolas" charset="0"/>
              </a:rPr>
              <a:t>(threads)</a:t>
            </a:r>
            <a:endParaRPr lang="en-US" dirty="0">
              <a:latin typeface="Consolas" charset="0"/>
              <a:ea typeface="Consolas" charset="0"/>
              <a:cs typeface="Consolas" charset="0"/>
            </a:endParaRPr>
          </a:p>
        </p:txBody>
      </p:sp>
      <p:cxnSp>
        <p:nvCxnSpPr>
          <p:cNvPr id="5" name="Straight Arrow Connector 4"/>
          <p:cNvCxnSpPr/>
          <p:nvPr/>
        </p:nvCxnSpPr>
        <p:spPr>
          <a:xfrm flipH="1">
            <a:off x="5713412" y="5962710"/>
            <a:ext cx="685800" cy="1524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452841" y="5486400"/>
            <a:ext cx="2918171" cy="707886"/>
          </a:xfrm>
          <a:prstGeom prst="rect">
            <a:avLst/>
          </a:prstGeom>
          <a:noFill/>
        </p:spPr>
        <p:txBody>
          <a:bodyPr wrap="none" rtlCol="0">
            <a:spAutoFit/>
          </a:bodyPr>
          <a:lstStyle/>
          <a:p>
            <a:r>
              <a:rPr lang="en-US" sz="2000" dirty="0" smtClean="0">
                <a:solidFill>
                  <a:srgbClr val="FF0000"/>
                </a:solidFill>
              </a:rPr>
              <a:t>Waits for all threads to </a:t>
            </a:r>
          </a:p>
          <a:p>
            <a:r>
              <a:rPr lang="en-US" sz="2000" dirty="0" smtClean="0">
                <a:solidFill>
                  <a:srgbClr val="FF0000"/>
                </a:solidFill>
              </a:rPr>
              <a:t>finish before continuing</a:t>
            </a:r>
          </a:p>
        </p:txBody>
      </p:sp>
    </p:spTree>
    <p:extLst>
      <p:ext uri="{BB962C8B-B14F-4D97-AF65-F5344CB8AC3E}">
        <p14:creationId xmlns:p14="http://schemas.microsoft.com/office/powerpoint/2010/main" val="1126138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Multi-GPU</a:t>
            </a:r>
            <a:endParaRPr lang="en-US" dirty="0"/>
          </a:p>
        </p:txBody>
      </p:sp>
    </p:spTree>
    <p:extLst>
      <p:ext uri="{BB962C8B-B14F-4D97-AF65-F5344CB8AC3E}">
        <p14:creationId xmlns:p14="http://schemas.microsoft.com/office/powerpoint/2010/main" val="514071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more power!</a:t>
            </a:r>
            <a:endParaRPr lang="en-US" dirty="0"/>
          </a:p>
        </p:txBody>
      </p:sp>
      <p:sp>
        <p:nvSpPr>
          <p:cNvPr id="3" name="Content Placeholder 2"/>
          <p:cNvSpPr>
            <a:spLocks noGrp="1"/>
          </p:cNvSpPr>
          <p:nvPr>
            <p:ph idx="1"/>
          </p:nvPr>
        </p:nvSpPr>
        <p:spPr/>
        <p:txBody>
          <a:bodyPr/>
          <a:lstStyle/>
          <a:p>
            <a:r>
              <a:rPr lang="en-US" dirty="0" smtClean="0"/>
              <a:t>“Device” </a:t>
            </a:r>
            <a:r>
              <a:rPr lang="mr-IN" dirty="0" smtClean="0"/>
              <a:t>–</a:t>
            </a:r>
            <a:r>
              <a:rPr lang="en-US" dirty="0" smtClean="0"/>
              <a:t> A computational device. CPU, GPU, etc.</a:t>
            </a:r>
          </a:p>
          <a:p>
            <a:endParaRPr lang="en-US" dirty="0"/>
          </a:p>
        </p:txBody>
      </p:sp>
    </p:spTree>
    <p:extLst>
      <p:ext uri="{BB962C8B-B14F-4D97-AF65-F5344CB8AC3E}">
        <p14:creationId xmlns:p14="http://schemas.microsoft.com/office/powerpoint/2010/main" val="38047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Multi-device graph</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Tree>
    <p:extLst>
      <p:ext uri="{BB962C8B-B14F-4D97-AF65-F5344CB8AC3E}">
        <p14:creationId xmlns:p14="http://schemas.microsoft.com/office/powerpoint/2010/main" val="1863971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normAutofit fontScale="90000"/>
          </a:bodyPr>
          <a:lstStyle/>
          <a:p>
            <a:r>
              <a:rPr lang="en-US" dirty="0" smtClean="0"/>
              <a:t>By default, operations will be placed on GPU:0</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5130799" y="2362200"/>
            <a:ext cx="228600" cy="3874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217612" y="94929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a:t>
            </a:r>
            <a:r>
              <a:rPr lang="en-US" sz="2800" dirty="0" smtClean="0">
                <a:solidFill>
                  <a:schemeClr val="accent5">
                    <a:lumMod val="75000"/>
                  </a:schemeClr>
                </a:solidFill>
                <a:latin typeface="Consolas" panose="020B0609020204030204" pitchFamily="49" charset="0"/>
              </a:rPr>
              <a:t> </a:t>
            </a:r>
            <a:r>
              <a:rPr lang="en-US" sz="2800" dirty="0">
                <a:solidFill>
                  <a:schemeClr val="accent5">
                    <a:lumMod val="75000"/>
                  </a:schemeClr>
                </a:solidFill>
                <a:latin typeface="Consolas" panose="020B0609020204030204" pitchFamily="49" charset="0"/>
              </a:rPr>
              <a:t>= </a:t>
            </a:r>
            <a:r>
              <a:rPr lang="en-US" sz="2800" dirty="0" err="1" smtClean="0">
                <a:solidFill>
                  <a:schemeClr val="accent5">
                    <a:lumMod val="75000"/>
                  </a:schemeClr>
                </a:solidFill>
                <a:latin typeface="Consolas" panose="020B0609020204030204" pitchFamily="49" charset="0"/>
              </a:rPr>
              <a:t>tf.placeholder</a:t>
            </a:r>
            <a:r>
              <a:rPr lang="en-US" sz="2800" dirty="0" smtClean="0">
                <a:solidFill>
                  <a:schemeClr val="accent5">
                    <a:lumMod val="75000"/>
                  </a:schemeClr>
                </a:solidFill>
                <a:latin typeface="Consolas" panose="020B0609020204030204" pitchFamily="49" charset="0"/>
              </a:rPr>
              <a:t>(tf.float32)</a:t>
            </a:r>
            <a:endParaRPr lang="en-US" sz="2800" dirty="0">
              <a:solidFill>
                <a:schemeClr val="accent5">
                  <a:lumMod val="75000"/>
                </a:schemeClr>
              </a:solidFill>
              <a:latin typeface="Consolas" panose="020B0609020204030204" pitchFamily="49" charset="0"/>
            </a:endParaRP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Tree>
    <p:extLst>
      <p:ext uri="{BB962C8B-B14F-4D97-AF65-F5344CB8AC3E}">
        <p14:creationId xmlns:p14="http://schemas.microsoft.com/office/powerpoint/2010/main" val="1675955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normAutofit fontScale="90000"/>
          </a:bodyPr>
          <a:lstStyle/>
          <a:p>
            <a:r>
              <a:rPr lang="en-US" dirty="0" smtClean="0"/>
              <a:t>By default, operations will be placed on GPU:0</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5130799" y="2362200"/>
            <a:ext cx="228600" cy="3874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217612" y="94929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smtClean="0">
                <a:solidFill>
                  <a:schemeClr val="accent5">
                    <a:lumMod val="75000"/>
                  </a:schemeClr>
                </a:solidFill>
                <a:latin typeface="Consolas" panose="020B0609020204030204" pitchFamily="49" charset="0"/>
              </a:rPr>
              <a:t>b </a:t>
            </a:r>
            <a:r>
              <a:rPr lang="en-US" sz="2800" dirty="0">
                <a:solidFill>
                  <a:schemeClr val="accent5">
                    <a:lumMod val="75000"/>
                  </a:schemeClr>
                </a:solidFill>
                <a:latin typeface="Consolas" panose="020B0609020204030204" pitchFamily="49" charset="0"/>
              </a:rPr>
              <a:t>= </a:t>
            </a:r>
            <a:r>
              <a:rPr lang="en-US" sz="2800" dirty="0" err="1" smtClean="0">
                <a:solidFill>
                  <a:schemeClr val="accent5">
                    <a:lumMod val="75000"/>
                  </a:schemeClr>
                </a:solidFill>
                <a:latin typeface="Consolas" panose="020B0609020204030204" pitchFamily="49" charset="0"/>
              </a:rPr>
              <a:t>tf.placeholder</a:t>
            </a:r>
            <a:r>
              <a:rPr lang="en-US" sz="2800" dirty="0" smtClean="0">
                <a:solidFill>
                  <a:schemeClr val="accent5">
                    <a:lumMod val="75000"/>
                  </a:schemeClr>
                </a:solidFill>
                <a:latin typeface="Consolas" panose="020B0609020204030204" pitchFamily="49" charset="0"/>
              </a:rPr>
              <a:t>(tf.float32)</a:t>
            </a:r>
            <a:endParaRPr lang="en-US" sz="2800" dirty="0">
              <a:solidFill>
                <a:schemeClr val="accent5">
                  <a:lumMod val="75000"/>
                </a:schemeClr>
              </a:solidFill>
              <a:latin typeface="Consolas" panose="020B0609020204030204" pitchFamily="49" charset="0"/>
            </a:endParaRP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1" name="Oval 10"/>
          <p:cNvSpPr/>
          <p:nvPr/>
        </p:nvSpPr>
        <p:spPr>
          <a:xfrm>
            <a:off x="6399212"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Tree>
    <p:extLst>
      <p:ext uri="{BB962C8B-B14F-4D97-AF65-F5344CB8AC3E}">
        <p14:creationId xmlns:p14="http://schemas.microsoft.com/office/powerpoint/2010/main" val="1280293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normAutofit fontScale="90000"/>
          </a:bodyPr>
          <a:lstStyle/>
          <a:p>
            <a:r>
              <a:rPr lang="en-US" dirty="0" smtClean="0"/>
              <a:t>By default, operations will be placed on GPU:0</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5130799" y="2362200"/>
            <a:ext cx="228600" cy="3874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217612" y="94929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c = </a:t>
            </a:r>
            <a:r>
              <a:rPr lang="en-US" sz="2800" dirty="0" err="1">
                <a:solidFill>
                  <a:schemeClr val="accent5">
                    <a:lumMod val="75000"/>
                  </a:schemeClr>
                </a:solidFill>
                <a:latin typeface="Consolas" panose="020B0609020204030204" pitchFamily="49" charset="0"/>
              </a:rPr>
              <a:t>tf.matmul</a:t>
            </a:r>
            <a:r>
              <a:rPr lang="en-US" sz="2800" dirty="0">
                <a:solidFill>
                  <a:schemeClr val="accent5">
                    <a:lumMod val="75000"/>
                  </a:schemeClr>
                </a:solidFill>
                <a:latin typeface="Consolas" panose="020B0609020204030204" pitchFamily="49" charset="0"/>
              </a:rPr>
              <a:t>(a, b)</a:t>
            </a: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1" name="Oval 10"/>
          <p:cNvSpPr/>
          <p:nvPr/>
        </p:nvSpPr>
        <p:spPr>
          <a:xfrm>
            <a:off x="6399212"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3" name="Oval 12"/>
          <p:cNvSpPr/>
          <p:nvPr/>
        </p:nvSpPr>
        <p:spPr>
          <a:xfrm>
            <a:off x="5867316" y="3920340"/>
            <a:ext cx="617520" cy="617520"/>
          </a:xfrm>
          <a:prstGeom prst="ellipse">
            <a:avLst/>
          </a:prstGeom>
          <a:solidFill>
            <a:schemeClr val="accent2"/>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cxnSp>
        <p:nvCxnSpPr>
          <p:cNvPr id="14" name="Straight Arrow Connector 13"/>
          <p:cNvCxnSpPr>
            <a:endCxn id="13" idx="1"/>
          </p:cNvCxnSpPr>
          <p:nvPr/>
        </p:nvCxnSpPr>
        <p:spPr>
          <a:xfrm>
            <a:off x="5786419" y="3546885"/>
            <a:ext cx="171331" cy="463889"/>
          </a:xfrm>
          <a:prstGeom prst="straightConnector1">
            <a:avLst/>
          </a:prstGeom>
          <a:ln w="571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3" idx="7"/>
          </p:cNvCxnSpPr>
          <p:nvPr/>
        </p:nvCxnSpPr>
        <p:spPr>
          <a:xfrm flipH="1">
            <a:off x="6394402" y="3560850"/>
            <a:ext cx="171331" cy="449924"/>
          </a:xfrm>
          <a:prstGeom prst="straightConnector1">
            <a:avLst/>
          </a:prstGeom>
          <a:ln w="571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5373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30200"/>
            <a:ext cx="9782801" cy="660400"/>
          </a:xfrm>
        </p:spPr>
        <p:txBody>
          <a:bodyPr>
            <a:normAutofit fontScale="90000"/>
          </a:bodyPr>
          <a:lstStyle/>
          <a:p>
            <a:r>
              <a:rPr lang="en-US" dirty="0" smtClean="0"/>
              <a:t>Unless there isn’t a GPU implementation for an Op</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5130799" y="2362200"/>
            <a:ext cx="228600" cy="3874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217612" y="94929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smtClean="0">
                <a:solidFill>
                  <a:schemeClr val="accent5">
                    <a:lumMod val="75000"/>
                  </a:schemeClr>
                </a:solidFill>
                <a:latin typeface="Consolas" panose="020B0609020204030204" pitchFamily="49" charset="0"/>
              </a:rPr>
              <a:t>read </a:t>
            </a:r>
            <a:r>
              <a:rPr lang="en-US" sz="2800" dirty="0">
                <a:solidFill>
                  <a:schemeClr val="accent5">
                    <a:lumMod val="75000"/>
                  </a:schemeClr>
                </a:solidFill>
                <a:latin typeface="Consolas" panose="020B0609020204030204" pitchFamily="49" charset="0"/>
              </a:rPr>
              <a:t>= </a:t>
            </a:r>
            <a:r>
              <a:rPr lang="en-US" sz="2800" dirty="0" err="1" smtClean="0">
                <a:solidFill>
                  <a:schemeClr val="accent5">
                    <a:lumMod val="75000"/>
                  </a:schemeClr>
                </a:solidFill>
                <a:latin typeface="Consolas" panose="020B0609020204030204" pitchFamily="49" charset="0"/>
              </a:rPr>
              <a:t>tf.image.decode_jpeg</a:t>
            </a:r>
            <a:r>
              <a:rPr lang="en-US" sz="2800" dirty="0" smtClean="0">
                <a:solidFill>
                  <a:schemeClr val="accent5">
                    <a:lumMod val="75000"/>
                  </a:schemeClr>
                </a:solidFill>
                <a:latin typeface="Consolas" panose="020B0609020204030204" pitchFamily="49" charset="0"/>
              </a:rPr>
              <a:t>(image)</a:t>
            </a:r>
            <a:endParaRPr lang="en-US" sz="2800" dirty="0">
              <a:solidFill>
                <a:schemeClr val="accent5">
                  <a:lumMod val="75000"/>
                </a:schemeClr>
              </a:solidFill>
              <a:latin typeface="Consolas" panose="020B0609020204030204" pitchFamily="49" charset="0"/>
            </a:endParaRP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1" name="Oval 10"/>
          <p:cNvSpPr/>
          <p:nvPr/>
        </p:nvSpPr>
        <p:spPr>
          <a:xfrm>
            <a:off x="6399212"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3" name="Oval 12"/>
          <p:cNvSpPr/>
          <p:nvPr/>
        </p:nvSpPr>
        <p:spPr>
          <a:xfrm>
            <a:off x="5867316" y="3920340"/>
            <a:ext cx="617520" cy="617520"/>
          </a:xfrm>
          <a:prstGeom prst="ellipse">
            <a:avLst/>
          </a:prstGeom>
          <a:solidFill>
            <a:schemeClr val="accent2"/>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cxnSp>
        <p:nvCxnSpPr>
          <p:cNvPr id="14" name="Straight Arrow Connector 13"/>
          <p:cNvCxnSpPr>
            <a:endCxn id="13" idx="1"/>
          </p:cNvCxnSpPr>
          <p:nvPr/>
        </p:nvCxnSpPr>
        <p:spPr>
          <a:xfrm>
            <a:off x="5786419" y="3546885"/>
            <a:ext cx="171331" cy="463889"/>
          </a:xfrm>
          <a:prstGeom prst="straightConnector1">
            <a:avLst/>
          </a:prstGeom>
          <a:ln w="571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3" idx="7"/>
          </p:cNvCxnSpPr>
          <p:nvPr/>
        </p:nvCxnSpPr>
        <p:spPr>
          <a:xfrm flipH="1">
            <a:off x="6394402" y="3560850"/>
            <a:ext cx="171331" cy="449924"/>
          </a:xfrm>
          <a:prstGeom prst="straightConnector1">
            <a:avLst/>
          </a:prstGeom>
          <a:ln w="571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132012" y="2943330"/>
            <a:ext cx="617520" cy="617520"/>
          </a:xfrm>
          <a:prstGeom prst="ellipse">
            <a:avLst/>
          </a:prstGeom>
          <a:solidFill>
            <a:schemeClr val="accent4">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Tree>
    <p:extLst>
      <p:ext uri="{BB962C8B-B14F-4D97-AF65-F5344CB8AC3E}">
        <p14:creationId xmlns:p14="http://schemas.microsoft.com/office/powerpoint/2010/main" val="1591884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normAutofit/>
          </a:bodyPr>
          <a:lstStyle/>
          <a:p>
            <a:r>
              <a:rPr lang="en-US" dirty="0" smtClean="0"/>
              <a:t>We can explicitly place Ops on a device</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5130799" y="2362200"/>
            <a:ext cx="228600" cy="3874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217612" y="838201"/>
            <a:ext cx="10668000" cy="796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smtClean="0">
                <a:solidFill>
                  <a:schemeClr val="accent5">
                    <a:lumMod val="75000"/>
                  </a:schemeClr>
                </a:solidFill>
                <a:latin typeface="Consolas" panose="020B0609020204030204" pitchFamily="49" charset="0"/>
              </a:rPr>
              <a:t>with </a:t>
            </a:r>
            <a:r>
              <a:rPr lang="en-US" sz="2800" dirty="0" err="1" smtClean="0">
                <a:solidFill>
                  <a:schemeClr val="accent5">
                    <a:lumMod val="75000"/>
                  </a:schemeClr>
                </a:solidFill>
                <a:latin typeface="Consolas" panose="020B0609020204030204" pitchFamily="49" charset="0"/>
              </a:rPr>
              <a:t>tf.device</a:t>
            </a:r>
            <a:r>
              <a:rPr lang="en-US" sz="2800" dirty="0" smtClean="0">
                <a:solidFill>
                  <a:schemeClr val="accent5">
                    <a:lumMod val="75000"/>
                  </a:schemeClr>
                </a:solidFill>
                <a:latin typeface="Consolas" panose="020B0609020204030204" pitchFamily="49" charset="0"/>
              </a:rPr>
              <a:t>(‘/gpu:1’):</a:t>
            </a:r>
          </a:p>
          <a:p>
            <a:r>
              <a:rPr lang="en-US" sz="2800" dirty="0">
                <a:solidFill>
                  <a:schemeClr val="accent5">
                    <a:lumMod val="75000"/>
                  </a:schemeClr>
                </a:solidFill>
                <a:latin typeface="Consolas" panose="020B0609020204030204" pitchFamily="49" charset="0"/>
              </a:rPr>
              <a:t>	</a:t>
            </a:r>
            <a:r>
              <a:rPr lang="en-US" sz="2800" dirty="0" smtClean="0">
                <a:solidFill>
                  <a:schemeClr val="accent5">
                    <a:lumMod val="75000"/>
                  </a:schemeClr>
                </a:solidFill>
                <a:latin typeface="Consolas" panose="020B0609020204030204" pitchFamily="49" charset="0"/>
              </a:rPr>
              <a:t>	c = </a:t>
            </a:r>
            <a:r>
              <a:rPr lang="en-US" sz="2800" dirty="0" err="1" smtClean="0">
                <a:solidFill>
                  <a:schemeClr val="accent5">
                    <a:lumMod val="75000"/>
                  </a:schemeClr>
                </a:solidFill>
                <a:latin typeface="Consolas" panose="020B0609020204030204" pitchFamily="49" charset="0"/>
              </a:rPr>
              <a:t>tf.matmul</a:t>
            </a:r>
            <a:r>
              <a:rPr lang="en-US" sz="2800" dirty="0" smtClean="0">
                <a:solidFill>
                  <a:schemeClr val="accent5">
                    <a:lumMod val="75000"/>
                  </a:schemeClr>
                </a:solidFill>
                <a:latin typeface="Consolas" panose="020B0609020204030204" pitchFamily="49" charset="0"/>
              </a:rPr>
              <a:t>(</a:t>
            </a:r>
            <a:r>
              <a:rPr lang="en-US" sz="2800" dirty="0" err="1" smtClean="0">
                <a:solidFill>
                  <a:schemeClr val="accent5">
                    <a:lumMod val="75000"/>
                  </a:schemeClr>
                </a:solidFill>
                <a:latin typeface="Consolas" panose="020B0609020204030204" pitchFamily="49" charset="0"/>
              </a:rPr>
              <a:t>a,b</a:t>
            </a:r>
            <a:r>
              <a:rPr lang="en-US" sz="2800" dirty="0" smtClean="0">
                <a:solidFill>
                  <a:schemeClr val="accent5">
                    <a:lumMod val="75000"/>
                  </a:schemeClr>
                </a:solidFill>
                <a:latin typeface="Consolas" panose="020B0609020204030204" pitchFamily="49" charset="0"/>
              </a:rPr>
              <a:t>)</a:t>
            </a:r>
            <a:endParaRPr lang="en-US" sz="2800" dirty="0">
              <a:solidFill>
                <a:schemeClr val="accent5">
                  <a:lumMod val="75000"/>
                </a:schemeClr>
              </a:solidFill>
              <a:latin typeface="Consolas" panose="020B0609020204030204" pitchFamily="49" charset="0"/>
            </a:endParaRP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1" name="Oval 10"/>
          <p:cNvSpPr/>
          <p:nvPr/>
        </p:nvSpPr>
        <p:spPr>
          <a:xfrm>
            <a:off x="6399212"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3" name="Oval 12"/>
          <p:cNvSpPr/>
          <p:nvPr/>
        </p:nvSpPr>
        <p:spPr>
          <a:xfrm>
            <a:off x="9866312" y="2924280"/>
            <a:ext cx="617520" cy="617520"/>
          </a:xfrm>
          <a:prstGeom prst="ellipse">
            <a:avLst/>
          </a:prstGeom>
          <a:solidFill>
            <a:schemeClr val="accent2"/>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6" name="Oval 15"/>
          <p:cNvSpPr/>
          <p:nvPr/>
        </p:nvSpPr>
        <p:spPr>
          <a:xfrm>
            <a:off x="2132012" y="2943330"/>
            <a:ext cx="617520" cy="617520"/>
          </a:xfrm>
          <a:prstGeom prst="ellipse">
            <a:avLst/>
          </a:prstGeom>
          <a:solidFill>
            <a:schemeClr val="accent4">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cxnSp>
        <p:nvCxnSpPr>
          <p:cNvPr id="18" name="Elbow Connector 17"/>
          <p:cNvCxnSpPr>
            <a:stCxn id="12" idx="0"/>
            <a:endCxn id="13" idx="1"/>
          </p:cNvCxnSpPr>
          <p:nvPr/>
        </p:nvCxnSpPr>
        <p:spPr>
          <a:xfrm rot="16200000" flipH="1">
            <a:off x="7776760" y="834729"/>
            <a:ext cx="71384" cy="4288587"/>
          </a:xfrm>
          <a:prstGeom prst="bentConnector3">
            <a:avLst>
              <a:gd name="adj1" fmla="val -186807"/>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1" idx="6"/>
            <a:endCxn id="13" idx="2"/>
          </p:cNvCxnSpPr>
          <p:nvPr/>
        </p:nvCxnSpPr>
        <p:spPr>
          <a:xfrm flipV="1">
            <a:off x="7016732" y="3233040"/>
            <a:ext cx="2849580"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834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304800"/>
            <a:ext cx="10006225" cy="660400"/>
          </a:xfrm>
        </p:spPr>
        <p:txBody>
          <a:bodyPr>
            <a:normAutofit fontScale="90000"/>
          </a:bodyPr>
          <a:lstStyle/>
          <a:p>
            <a:r>
              <a:rPr lang="en-US" dirty="0" err="1" smtClean="0"/>
              <a:t>TensorFlow</a:t>
            </a:r>
            <a:r>
              <a:rPr lang="en-US" dirty="0" smtClean="0"/>
              <a:t> automatically handles cross-device data</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9" name="Rectangle 8"/>
          <p:cNvSpPr/>
          <p:nvPr/>
        </p:nvSpPr>
        <p:spPr>
          <a:xfrm>
            <a:off x="1217612" y="838201"/>
            <a:ext cx="10668000" cy="7968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smtClean="0">
                <a:solidFill>
                  <a:schemeClr val="accent5">
                    <a:lumMod val="75000"/>
                  </a:schemeClr>
                </a:solidFill>
                <a:latin typeface="Consolas" panose="020B0609020204030204" pitchFamily="49" charset="0"/>
              </a:rPr>
              <a:t>&gt;&gt;&gt;</a:t>
            </a:r>
            <a:endParaRPr lang="en-US" sz="2800" dirty="0">
              <a:solidFill>
                <a:schemeClr val="accent5">
                  <a:lumMod val="75000"/>
                </a:schemeClr>
              </a:solidFill>
              <a:latin typeface="Consolas" panose="020B0609020204030204" pitchFamily="49" charset="0"/>
            </a:endParaRPr>
          </a:p>
        </p:txBody>
      </p:sp>
      <p:sp>
        <p:nvSpPr>
          <p:cNvPr id="12" name="Oval 11"/>
          <p:cNvSpPr/>
          <p:nvPr/>
        </p:nvSpPr>
        <p:spPr>
          <a:xfrm>
            <a:off x="5359399"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1" name="Oval 10"/>
          <p:cNvSpPr/>
          <p:nvPr/>
        </p:nvSpPr>
        <p:spPr>
          <a:xfrm>
            <a:off x="6399212" y="2943330"/>
            <a:ext cx="617520" cy="61752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3" name="Oval 12"/>
          <p:cNvSpPr/>
          <p:nvPr/>
        </p:nvSpPr>
        <p:spPr>
          <a:xfrm>
            <a:off x="9866312" y="2924280"/>
            <a:ext cx="617520" cy="617520"/>
          </a:xfrm>
          <a:prstGeom prst="ellipse">
            <a:avLst/>
          </a:prstGeom>
          <a:solidFill>
            <a:schemeClr val="accent2"/>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sp>
        <p:nvSpPr>
          <p:cNvPr id="16" name="Oval 15"/>
          <p:cNvSpPr/>
          <p:nvPr/>
        </p:nvSpPr>
        <p:spPr>
          <a:xfrm>
            <a:off x="2132012" y="2943330"/>
            <a:ext cx="617520" cy="617520"/>
          </a:xfrm>
          <a:prstGeom prst="ellipse">
            <a:avLst/>
          </a:prstGeom>
          <a:solidFill>
            <a:schemeClr val="accent4">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endParaRPr lang="en-US" sz="1600" dirty="0">
              <a:solidFill>
                <a:schemeClr val="tx2"/>
              </a:solidFill>
            </a:endParaRPr>
          </a:p>
        </p:txBody>
      </p:sp>
      <p:cxnSp>
        <p:nvCxnSpPr>
          <p:cNvPr id="18" name="Elbow Connector 17"/>
          <p:cNvCxnSpPr>
            <a:stCxn id="12" idx="0"/>
            <a:endCxn id="13" idx="1"/>
          </p:cNvCxnSpPr>
          <p:nvPr/>
        </p:nvCxnSpPr>
        <p:spPr>
          <a:xfrm rot="16200000" flipH="1">
            <a:off x="7776760" y="834729"/>
            <a:ext cx="71384" cy="4288587"/>
          </a:xfrm>
          <a:prstGeom prst="bentConnector3">
            <a:avLst>
              <a:gd name="adj1" fmla="val -186807"/>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1" idx="6"/>
            <a:endCxn id="13" idx="2"/>
          </p:cNvCxnSpPr>
          <p:nvPr/>
        </p:nvCxnSpPr>
        <p:spPr>
          <a:xfrm flipV="1">
            <a:off x="7016732" y="3233040"/>
            <a:ext cx="2849580" cy="190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9875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main ways to parallelize model</a:t>
            </a:r>
            <a:endParaRPr lang="en-US" dirty="0"/>
          </a:p>
        </p:txBody>
      </p:sp>
      <p:sp>
        <p:nvSpPr>
          <p:cNvPr id="3" name="Content Placeholder 2"/>
          <p:cNvSpPr>
            <a:spLocks noGrp="1"/>
          </p:cNvSpPr>
          <p:nvPr>
            <p:ph idx="1"/>
          </p:nvPr>
        </p:nvSpPr>
        <p:spPr/>
        <p:txBody>
          <a:bodyPr>
            <a:normAutofit/>
          </a:bodyPr>
          <a:lstStyle/>
          <a:p>
            <a:r>
              <a:rPr lang="en-US" sz="3200" b="1" dirty="0" smtClean="0"/>
              <a:t>Model Parallel</a:t>
            </a:r>
          </a:p>
          <a:p>
            <a:r>
              <a:rPr lang="en-US" sz="3200" dirty="0" smtClean="0"/>
              <a:t>Create a huge model that spans multiple GPUs</a:t>
            </a:r>
          </a:p>
          <a:p>
            <a:endParaRPr lang="en-US" sz="3200" dirty="0" smtClean="0"/>
          </a:p>
          <a:p>
            <a:endParaRPr lang="en-US" sz="3200" dirty="0"/>
          </a:p>
          <a:p>
            <a:r>
              <a:rPr lang="en-US" sz="3200" b="1" dirty="0" smtClean="0"/>
              <a:t>Data parallel</a:t>
            </a:r>
          </a:p>
          <a:p>
            <a:r>
              <a:rPr lang="en-US" sz="3200" dirty="0" smtClean="0"/>
              <a:t>Same model on each GPU and pass different data to each</a:t>
            </a:r>
            <a:endParaRPr lang="en-US" sz="3200" dirty="0"/>
          </a:p>
        </p:txBody>
      </p:sp>
    </p:spTree>
    <p:extLst>
      <p:ext uri="{BB962C8B-B14F-4D97-AF65-F5344CB8AC3E}">
        <p14:creationId xmlns:p14="http://schemas.microsoft.com/office/powerpoint/2010/main" val="531928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Model-Parallel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3" name="Rounded Rectangle 2"/>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532812" y="30480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Rounded Rectangle 10"/>
          <p:cNvSpPr/>
          <p:nvPr/>
        </p:nvSpPr>
        <p:spPr>
          <a:xfrm>
            <a:off x="8532812" y="40386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Rounded Rectangle 11"/>
          <p:cNvSpPr/>
          <p:nvPr/>
        </p:nvSpPr>
        <p:spPr>
          <a:xfrm>
            <a:off x="8532812" y="51054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ounded Rectangle 12"/>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Rounded Rectangle 13"/>
          <p:cNvSpPr/>
          <p:nvPr/>
        </p:nvSpPr>
        <p:spPr>
          <a:xfrm>
            <a:off x="1979612" y="40386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Rounded Rectangle 14"/>
          <p:cNvSpPr/>
          <p:nvPr/>
        </p:nvSpPr>
        <p:spPr>
          <a:xfrm>
            <a:off x="1979612" y="51054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7" name="Straight Arrow Connector 16"/>
          <p:cNvCxnSpPr>
            <a:stCxn id="13" idx="3"/>
            <a:endCxn id="8" idx="1"/>
          </p:cNvCxnSpPr>
          <p:nvPr/>
        </p:nvCxnSpPr>
        <p:spPr>
          <a:xfrm>
            <a:off x="4570412" y="3352800"/>
            <a:ext cx="7620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4" idx="3"/>
            <a:endCxn id="3" idx="1"/>
          </p:cNvCxnSpPr>
          <p:nvPr/>
        </p:nvCxnSpPr>
        <p:spPr>
          <a:xfrm flipV="1">
            <a:off x="4570412" y="3352800"/>
            <a:ext cx="7620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3"/>
            <a:endCxn id="9" idx="1"/>
          </p:cNvCxnSpPr>
          <p:nvPr/>
        </p:nvCxnSpPr>
        <p:spPr>
          <a:xfrm>
            <a:off x="4570412" y="4343400"/>
            <a:ext cx="7620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5" idx="3"/>
            <a:endCxn id="8" idx="1"/>
          </p:cNvCxnSpPr>
          <p:nvPr/>
        </p:nvCxnSpPr>
        <p:spPr>
          <a:xfrm flipV="1">
            <a:off x="4570412" y="4343400"/>
            <a:ext cx="7620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1" idx="1"/>
          </p:cNvCxnSpPr>
          <p:nvPr/>
        </p:nvCxnSpPr>
        <p:spPr>
          <a:xfrm>
            <a:off x="7923212" y="3352800"/>
            <a:ext cx="6096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0" idx="1"/>
          </p:cNvCxnSpPr>
          <p:nvPr/>
        </p:nvCxnSpPr>
        <p:spPr>
          <a:xfrm flipV="1">
            <a:off x="7923212" y="3352800"/>
            <a:ext cx="6096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2" idx="1"/>
          </p:cNvCxnSpPr>
          <p:nvPr/>
        </p:nvCxnSpPr>
        <p:spPr>
          <a:xfrm>
            <a:off x="7923212" y="4343400"/>
            <a:ext cx="6096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1" idx="1"/>
          </p:cNvCxnSpPr>
          <p:nvPr/>
        </p:nvCxnSpPr>
        <p:spPr>
          <a:xfrm flipV="1">
            <a:off x="7923212" y="4343400"/>
            <a:ext cx="6096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952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Model-Parallel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3" name="Rounded Rectangle 2"/>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532812" y="30480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Rounded Rectangle 10"/>
          <p:cNvSpPr/>
          <p:nvPr/>
        </p:nvSpPr>
        <p:spPr>
          <a:xfrm>
            <a:off x="8532812" y="40386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Rounded Rectangle 11"/>
          <p:cNvSpPr/>
          <p:nvPr/>
        </p:nvSpPr>
        <p:spPr>
          <a:xfrm>
            <a:off x="8532812" y="5105400"/>
            <a:ext cx="2590800" cy="6096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ounded Rectangle 12"/>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Rounded Rectangle 13"/>
          <p:cNvSpPr/>
          <p:nvPr/>
        </p:nvSpPr>
        <p:spPr>
          <a:xfrm>
            <a:off x="1979612" y="40386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Rounded Rectangle 14"/>
          <p:cNvSpPr/>
          <p:nvPr/>
        </p:nvSpPr>
        <p:spPr>
          <a:xfrm>
            <a:off x="1979612" y="51054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7" name="Straight Arrow Connector 16"/>
          <p:cNvCxnSpPr>
            <a:stCxn id="13" idx="3"/>
            <a:endCxn id="8" idx="1"/>
          </p:cNvCxnSpPr>
          <p:nvPr/>
        </p:nvCxnSpPr>
        <p:spPr>
          <a:xfrm>
            <a:off x="4570412" y="3352800"/>
            <a:ext cx="7620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4" idx="3"/>
            <a:endCxn id="3" idx="1"/>
          </p:cNvCxnSpPr>
          <p:nvPr/>
        </p:nvCxnSpPr>
        <p:spPr>
          <a:xfrm flipV="1">
            <a:off x="4570412" y="3352800"/>
            <a:ext cx="7620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3"/>
            <a:endCxn id="9" idx="1"/>
          </p:cNvCxnSpPr>
          <p:nvPr/>
        </p:nvCxnSpPr>
        <p:spPr>
          <a:xfrm>
            <a:off x="4570412" y="4343400"/>
            <a:ext cx="7620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5" idx="3"/>
            <a:endCxn id="8" idx="1"/>
          </p:cNvCxnSpPr>
          <p:nvPr/>
        </p:nvCxnSpPr>
        <p:spPr>
          <a:xfrm flipV="1">
            <a:off x="4570412" y="4343400"/>
            <a:ext cx="7620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1" idx="1"/>
          </p:cNvCxnSpPr>
          <p:nvPr/>
        </p:nvCxnSpPr>
        <p:spPr>
          <a:xfrm>
            <a:off x="7923212" y="3352800"/>
            <a:ext cx="6096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0" idx="1"/>
          </p:cNvCxnSpPr>
          <p:nvPr/>
        </p:nvCxnSpPr>
        <p:spPr>
          <a:xfrm flipV="1">
            <a:off x="7923212" y="3352800"/>
            <a:ext cx="609600" cy="9906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endCxn id="12" idx="1"/>
          </p:cNvCxnSpPr>
          <p:nvPr/>
        </p:nvCxnSpPr>
        <p:spPr>
          <a:xfrm>
            <a:off x="7923212" y="4343400"/>
            <a:ext cx="6096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1" idx="1"/>
          </p:cNvCxnSpPr>
          <p:nvPr/>
        </p:nvCxnSpPr>
        <p:spPr>
          <a:xfrm flipV="1">
            <a:off x="7923212" y="4343400"/>
            <a:ext cx="609600" cy="106680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6637236" y="1688838"/>
            <a:ext cx="619024" cy="12067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332412" y="1176547"/>
            <a:ext cx="5964133" cy="400110"/>
          </a:xfrm>
          <a:prstGeom prst="rect">
            <a:avLst/>
          </a:prstGeom>
          <a:noFill/>
        </p:spPr>
        <p:txBody>
          <a:bodyPr wrap="none" rtlCol="0">
            <a:spAutoFit/>
          </a:bodyPr>
          <a:lstStyle/>
          <a:p>
            <a:r>
              <a:rPr lang="en-US" sz="2000" dirty="0" smtClean="0">
                <a:solidFill>
                  <a:srgbClr val="FF0000"/>
                </a:solidFill>
              </a:rPr>
              <a:t>Different computations occur on different devices</a:t>
            </a:r>
            <a:endParaRPr lang="en-US" sz="2000" dirty="0">
              <a:solidFill>
                <a:srgbClr val="FF0000"/>
              </a:solidFill>
            </a:endParaRPr>
          </a:p>
        </p:txBody>
      </p:sp>
      <p:cxnSp>
        <p:nvCxnSpPr>
          <p:cNvPr id="31" name="Straight Arrow Connector 30"/>
          <p:cNvCxnSpPr/>
          <p:nvPr/>
        </p:nvCxnSpPr>
        <p:spPr>
          <a:xfrm>
            <a:off x="8923236" y="1688838"/>
            <a:ext cx="838200" cy="12067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68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549247"/>
            <a:ext cx="9782801" cy="660400"/>
          </a:xfrm>
        </p:spPr>
        <p:txBody>
          <a:bodyPr>
            <a:normAutofit fontScale="90000"/>
          </a:bodyPr>
          <a:lstStyle/>
          <a:p>
            <a:r>
              <a:rPr lang="en-US" dirty="0" smtClean="0"/>
              <a:t>Problem: communication across devices is slow</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4494212" y="4267200"/>
            <a:ext cx="762000"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847012" y="4267200"/>
            <a:ext cx="762000"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010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549247"/>
            <a:ext cx="9782801" cy="660400"/>
          </a:xfrm>
        </p:spPr>
        <p:txBody>
          <a:bodyPr>
            <a:normAutofit/>
          </a:bodyPr>
          <a:lstStyle/>
          <a:p>
            <a:r>
              <a:rPr lang="en-US" dirty="0" smtClean="0"/>
              <a:t>Want to minimize as much as possible!</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cxnSp>
        <p:nvCxnSpPr>
          <p:cNvPr id="8" name="Straight Arrow Connector 7"/>
          <p:cNvCxnSpPr/>
          <p:nvPr/>
        </p:nvCxnSpPr>
        <p:spPr>
          <a:xfrm>
            <a:off x="4494212" y="4267200"/>
            <a:ext cx="762000"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847012" y="4267200"/>
            <a:ext cx="762000" cy="0"/>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886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Data 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8" name="Rounded Rectangle 7"/>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6090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090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6090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Merge gradients</a:t>
            </a:r>
            <a:endParaRPr lang="en-US" dirty="0">
              <a:solidFill>
                <a:schemeClr val="tx2"/>
              </a:solidFill>
            </a:endParaRPr>
          </a:p>
        </p:txBody>
      </p:sp>
      <p:sp>
        <p:nvSpPr>
          <p:cNvPr id="16" name="Rounded Rectangle 15"/>
          <p:cNvSpPr/>
          <p:nvPr/>
        </p:nvSpPr>
        <p:spPr>
          <a:xfrm>
            <a:off x="1979612" y="4048125"/>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Update</a:t>
            </a:r>
            <a:endParaRPr lang="en-US" dirty="0">
              <a:solidFill>
                <a:schemeClr val="tx2"/>
              </a:solidFill>
            </a:endParaRPr>
          </a:p>
        </p:txBody>
      </p:sp>
      <p:sp>
        <p:nvSpPr>
          <p:cNvPr id="17" name="Rounded Rectangle 16"/>
          <p:cNvSpPr/>
          <p:nvPr/>
        </p:nvSpPr>
        <p:spPr>
          <a:xfrm>
            <a:off x="1979612" y="5105400"/>
            <a:ext cx="25908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solidFill>
                  <a:schemeClr val="tx2"/>
                </a:solidFill>
              </a:rPr>
              <a:t>Variables</a:t>
            </a:r>
            <a:endParaRPr lang="en-US" dirty="0">
              <a:solidFill>
                <a:schemeClr val="tx2"/>
              </a:solidFill>
            </a:endParaRPr>
          </a:p>
        </p:txBody>
      </p:sp>
      <p:cxnSp>
        <p:nvCxnSpPr>
          <p:cNvPr id="18" name="Elbow Connector 17"/>
          <p:cNvCxnSpPr>
            <a:stCxn id="17" idx="2"/>
            <a:endCxn id="10" idx="2"/>
          </p:cNvCxnSpPr>
          <p:nvPr/>
        </p:nvCxnSpPr>
        <p:spPr>
          <a:xfrm rot="16200000" flipH="1">
            <a:off x="4951412" y="4038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7" idx="2"/>
            <a:endCxn id="13" idx="2"/>
          </p:cNvCxnSpPr>
          <p:nvPr/>
        </p:nvCxnSpPr>
        <p:spPr>
          <a:xfrm rot="16200000" flipH="1">
            <a:off x="6589712" y="24003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0"/>
            <a:endCxn id="14" idx="0"/>
          </p:cNvCxnSpPr>
          <p:nvPr/>
        </p:nvCxnSpPr>
        <p:spPr>
          <a:xfrm rot="16200000" flipV="1">
            <a:off x="4951412" y="1371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1" idx="0"/>
            <a:endCxn id="14" idx="0"/>
          </p:cNvCxnSpPr>
          <p:nvPr/>
        </p:nvCxnSpPr>
        <p:spPr>
          <a:xfrm rot="16200000" flipV="1">
            <a:off x="6589712" y="-2667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6" idx="0"/>
          </p:cNvCxnSpPr>
          <p:nvPr/>
        </p:nvCxnSpPr>
        <p:spPr>
          <a:xfrm>
            <a:off x="3275012" y="3657600"/>
            <a:ext cx="0"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0"/>
          </p:cNvCxnSpPr>
          <p:nvPr/>
        </p:nvCxnSpPr>
        <p:spPr>
          <a:xfrm>
            <a:off x="32750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0"/>
            <a:endCxn id="8" idx="2"/>
          </p:cNvCxnSpPr>
          <p:nvPr/>
        </p:nvCxnSpPr>
        <p:spPr>
          <a:xfrm flipV="1">
            <a:off x="66278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0" idx="0"/>
          </p:cNvCxnSpPr>
          <p:nvPr/>
        </p:nvCxnSpPr>
        <p:spPr>
          <a:xfrm flipV="1">
            <a:off x="66278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99044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99044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135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0"/>
            <a:ext cx="9782801" cy="895349"/>
          </a:xfrm>
        </p:spPr>
        <p:txBody>
          <a:bodyPr/>
          <a:lstStyle/>
          <a:p>
            <a:r>
              <a:rPr lang="en-US" dirty="0" smtClean="0"/>
              <a:t>More common pattern for models</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8" name="Rounded Rectangle 7"/>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6090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090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6090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Merge gradients</a:t>
            </a:r>
            <a:endParaRPr lang="en-US" dirty="0">
              <a:solidFill>
                <a:schemeClr val="tx2"/>
              </a:solidFill>
            </a:endParaRPr>
          </a:p>
        </p:txBody>
      </p:sp>
      <p:sp>
        <p:nvSpPr>
          <p:cNvPr id="16" name="Rounded Rectangle 15"/>
          <p:cNvSpPr/>
          <p:nvPr/>
        </p:nvSpPr>
        <p:spPr>
          <a:xfrm>
            <a:off x="1979612" y="4048125"/>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Update</a:t>
            </a:r>
            <a:endParaRPr lang="en-US" dirty="0">
              <a:solidFill>
                <a:schemeClr val="tx2"/>
              </a:solidFill>
            </a:endParaRPr>
          </a:p>
        </p:txBody>
      </p:sp>
      <p:sp>
        <p:nvSpPr>
          <p:cNvPr id="17" name="Rounded Rectangle 16"/>
          <p:cNvSpPr/>
          <p:nvPr/>
        </p:nvSpPr>
        <p:spPr>
          <a:xfrm>
            <a:off x="1979612" y="5105400"/>
            <a:ext cx="25908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solidFill>
                  <a:schemeClr val="tx2"/>
                </a:solidFill>
              </a:rPr>
              <a:t>Variables</a:t>
            </a:r>
            <a:endParaRPr lang="en-US" dirty="0">
              <a:solidFill>
                <a:schemeClr val="tx2"/>
              </a:solidFill>
            </a:endParaRPr>
          </a:p>
        </p:txBody>
      </p:sp>
      <p:cxnSp>
        <p:nvCxnSpPr>
          <p:cNvPr id="18" name="Elbow Connector 17"/>
          <p:cNvCxnSpPr>
            <a:stCxn id="17" idx="2"/>
            <a:endCxn id="10" idx="2"/>
          </p:cNvCxnSpPr>
          <p:nvPr/>
        </p:nvCxnSpPr>
        <p:spPr>
          <a:xfrm rot="16200000" flipH="1">
            <a:off x="4951412" y="4038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7" idx="2"/>
            <a:endCxn id="13" idx="2"/>
          </p:cNvCxnSpPr>
          <p:nvPr/>
        </p:nvCxnSpPr>
        <p:spPr>
          <a:xfrm rot="16200000" flipH="1">
            <a:off x="6589712" y="24003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0"/>
            <a:endCxn id="14" idx="0"/>
          </p:cNvCxnSpPr>
          <p:nvPr/>
        </p:nvCxnSpPr>
        <p:spPr>
          <a:xfrm rot="16200000" flipV="1">
            <a:off x="4951412" y="1371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1" idx="0"/>
            <a:endCxn id="14" idx="0"/>
          </p:cNvCxnSpPr>
          <p:nvPr/>
        </p:nvCxnSpPr>
        <p:spPr>
          <a:xfrm rot="16200000" flipV="1">
            <a:off x="6589712" y="-2667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6" idx="0"/>
          </p:cNvCxnSpPr>
          <p:nvPr/>
        </p:nvCxnSpPr>
        <p:spPr>
          <a:xfrm>
            <a:off x="3275012" y="3657600"/>
            <a:ext cx="0"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0"/>
          </p:cNvCxnSpPr>
          <p:nvPr/>
        </p:nvCxnSpPr>
        <p:spPr>
          <a:xfrm>
            <a:off x="32750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0"/>
            <a:endCxn id="8" idx="2"/>
          </p:cNvCxnSpPr>
          <p:nvPr/>
        </p:nvCxnSpPr>
        <p:spPr>
          <a:xfrm flipV="1">
            <a:off x="66278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0" idx="0"/>
          </p:cNvCxnSpPr>
          <p:nvPr/>
        </p:nvCxnSpPr>
        <p:spPr>
          <a:xfrm flipV="1">
            <a:off x="66278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99044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99044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772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Data 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8" name="Rounded Rectangle 7"/>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6090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090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6090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Merge gradients</a:t>
            </a:r>
            <a:endParaRPr lang="en-US" dirty="0">
              <a:solidFill>
                <a:schemeClr val="tx2"/>
              </a:solidFill>
            </a:endParaRPr>
          </a:p>
        </p:txBody>
      </p:sp>
      <p:sp>
        <p:nvSpPr>
          <p:cNvPr id="16" name="Rounded Rectangle 15"/>
          <p:cNvSpPr/>
          <p:nvPr/>
        </p:nvSpPr>
        <p:spPr>
          <a:xfrm>
            <a:off x="1979612" y="4048125"/>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Update</a:t>
            </a:r>
            <a:endParaRPr lang="en-US" dirty="0">
              <a:solidFill>
                <a:schemeClr val="tx2"/>
              </a:solidFill>
            </a:endParaRPr>
          </a:p>
        </p:txBody>
      </p:sp>
      <p:sp>
        <p:nvSpPr>
          <p:cNvPr id="17" name="Rounded Rectangle 16"/>
          <p:cNvSpPr/>
          <p:nvPr/>
        </p:nvSpPr>
        <p:spPr>
          <a:xfrm>
            <a:off x="1979612" y="5105400"/>
            <a:ext cx="25908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solidFill>
                  <a:schemeClr val="tx2"/>
                </a:solidFill>
              </a:rPr>
              <a:t>Variables</a:t>
            </a:r>
            <a:endParaRPr lang="en-US" dirty="0">
              <a:solidFill>
                <a:schemeClr val="tx2"/>
              </a:solidFill>
            </a:endParaRPr>
          </a:p>
        </p:txBody>
      </p:sp>
      <p:cxnSp>
        <p:nvCxnSpPr>
          <p:cNvPr id="18" name="Elbow Connector 17"/>
          <p:cNvCxnSpPr>
            <a:stCxn id="17" idx="2"/>
            <a:endCxn id="10" idx="2"/>
          </p:cNvCxnSpPr>
          <p:nvPr/>
        </p:nvCxnSpPr>
        <p:spPr>
          <a:xfrm rot="16200000" flipH="1">
            <a:off x="4951412" y="4038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7" idx="2"/>
            <a:endCxn id="13" idx="2"/>
          </p:cNvCxnSpPr>
          <p:nvPr/>
        </p:nvCxnSpPr>
        <p:spPr>
          <a:xfrm rot="16200000" flipH="1">
            <a:off x="6589712" y="24003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0"/>
            <a:endCxn id="14" idx="0"/>
          </p:cNvCxnSpPr>
          <p:nvPr/>
        </p:nvCxnSpPr>
        <p:spPr>
          <a:xfrm rot="16200000" flipV="1">
            <a:off x="4951412" y="1371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1" idx="0"/>
            <a:endCxn id="14" idx="0"/>
          </p:cNvCxnSpPr>
          <p:nvPr/>
        </p:nvCxnSpPr>
        <p:spPr>
          <a:xfrm rot="16200000" flipV="1">
            <a:off x="6589712" y="-2667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6" idx="0"/>
          </p:cNvCxnSpPr>
          <p:nvPr/>
        </p:nvCxnSpPr>
        <p:spPr>
          <a:xfrm>
            <a:off x="3275012" y="3657600"/>
            <a:ext cx="0"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0"/>
          </p:cNvCxnSpPr>
          <p:nvPr/>
        </p:nvCxnSpPr>
        <p:spPr>
          <a:xfrm>
            <a:off x="32750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0"/>
            <a:endCxn id="8" idx="2"/>
          </p:cNvCxnSpPr>
          <p:nvPr/>
        </p:nvCxnSpPr>
        <p:spPr>
          <a:xfrm flipV="1">
            <a:off x="66278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0" idx="0"/>
          </p:cNvCxnSpPr>
          <p:nvPr/>
        </p:nvCxnSpPr>
        <p:spPr>
          <a:xfrm flipV="1">
            <a:off x="66278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99044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99044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6932612" y="1688838"/>
            <a:ext cx="323648" cy="12004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965315" y="1176547"/>
            <a:ext cx="6410922" cy="400110"/>
          </a:xfrm>
          <a:prstGeom prst="rect">
            <a:avLst/>
          </a:prstGeom>
          <a:noFill/>
        </p:spPr>
        <p:txBody>
          <a:bodyPr wrap="none" rtlCol="0">
            <a:spAutoFit/>
          </a:bodyPr>
          <a:lstStyle/>
          <a:p>
            <a:r>
              <a:rPr lang="en-US" sz="2000" dirty="0" smtClean="0">
                <a:solidFill>
                  <a:srgbClr val="FF0000"/>
                </a:solidFill>
              </a:rPr>
              <a:t>Identical models compute gradients for different data</a:t>
            </a:r>
            <a:endParaRPr lang="en-US" sz="2000" dirty="0">
              <a:solidFill>
                <a:srgbClr val="FF0000"/>
              </a:solidFill>
            </a:endParaRPr>
          </a:p>
        </p:txBody>
      </p:sp>
      <p:cxnSp>
        <p:nvCxnSpPr>
          <p:cNvPr id="31" name="Straight Arrow Connector 30"/>
          <p:cNvCxnSpPr/>
          <p:nvPr/>
        </p:nvCxnSpPr>
        <p:spPr>
          <a:xfrm>
            <a:off x="9127027" y="1640950"/>
            <a:ext cx="735417" cy="12430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451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Data 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8" name="Rounded Rectangle 7"/>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6090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090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6090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Merge gradients</a:t>
            </a:r>
            <a:endParaRPr lang="en-US" dirty="0">
              <a:solidFill>
                <a:schemeClr val="tx2"/>
              </a:solidFill>
            </a:endParaRPr>
          </a:p>
        </p:txBody>
      </p:sp>
      <p:sp>
        <p:nvSpPr>
          <p:cNvPr id="16" name="Rounded Rectangle 15"/>
          <p:cNvSpPr/>
          <p:nvPr/>
        </p:nvSpPr>
        <p:spPr>
          <a:xfrm>
            <a:off x="1979612" y="4048125"/>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Update</a:t>
            </a:r>
            <a:endParaRPr lang="en-US" dirty="0">
              <a:solidFill>
                <a:schemeClr val="tx2"/>
              </a:solidFill>
            </a:endParaRPr>
          </a:p>
        </p:txBody>
      </p:sp>
      <p:sp>
        <p:nvSpPr>
          <p:cNvPr id="17" name="Rounded Rectangle 16"/>
          <p:cNvSpPr/>
          <p:nvPr/>
        </p:nvSpPr>
        <p:spPr>
          <a:xfrm>
            <a:off x="1979612" y="5105400"/>
            <a:ext cx="25908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solidFill>
                  <a:schemeClr val="tx2"/>
                </a:solidFill>
              </a:rPr>
              <a:t>Variables</a:t>
            </a:r>
            <a:endParaRPr lang="en-US" dirty="0">
              <a:solidFill>
                <a:schemeClr val="tx2"/>
              </a:solidFill>
            </a:endParaRPr>
          </a:p>
        </p:txBody>
      </p:sp>
      <p:cxnSp>
        <p:nvCxnSpPr>
          <p:cNvPr id="18" name="Elbow Connector 17"/>
          <p:cNvCxnSpPr>
            <a:stCxn id="17" idx="2"/>
            <a:endCxn id="10" idx="2"/>
          </p:cNvCxnSpPr>
          <p:nvPr/>
        </p:nvCxnSpPr>
        <p:spPr>
          <a:xfrm rot="16200000" flipH="1">
            <a:off x="4951412" y="4038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7" idx="2"/>
            <a:endCxn id="13" idx="2"/>
          </p:cNvCxnSpPr>
          <p:nvPr/>
        </p:nvCxnSpPr>
        <p:spPr>
          <a:xfrm rot="16200000" flipH="1">
            <a:off x="6589712" y="24003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0"/>
            <a:endCxn id="14" idx="0"/>
          </p:cNvCxnSpPr>
          <p:nvPr/>
        </p:nvCxnSpPr>
        <p:spPr>
          <a:xfrm rot="16200000" flipV="1">
            <a:off x="4951412" y="1371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1" idx="0"/>
            <a:endCxn id="14" idx="0"/>
          </p:cNvCxnSpPr>
          <p:nvPr/>
        </p:nvCxnSpPr>
        <p:spPr>
          <a:xfrm rot="16200000" flipV="1">
            <a:off x="6589712" y="-2667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6" idx="0"/>
          </p:cNvCxnSpPr>
          <p:nvPr/>
        </p:nvCxnSpPr>
        <p:spPr>
          <a:xfrm>
            <a:off x="3275012" y="3657600"/>
            <a:ext cx="0"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0"/>
          </p:cNvCxnSpPr>
          <p:nvPr/>
        </p:nvCxnSpPr>
        <p:spPr>
          <a:xfrm>
            <a:off x="32750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0"/>
            <a:endCxn id="8" idx="2"/>
          </p:cNvCxnSpPr>
          <p:nvPr/>
        </p:nvCxnSpPr>
        <p:spPr>
          <a:xfrm flipV="1">
            <a:off x="66278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0" idx="0"/>
          </p:cNvCxnSpPr>
          <p:nvPr/>
        </p:nvCxnSpPr>
        <p:spPr>
          <a:xfrm flipV="1">
            <a:off x="66278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99044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99044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3156844" y="1804987"/>
            <a:ext cx="323648" cy="12004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893290" y="1293784"/>
            <a:ext cx="7960897" cy="400110"/>
          </a:xfrm>
          <a:prstGeom prst="rect">
            <a:avLst/>
          </a:prstGeom>
          <a:noFill/>
        </p:spPr>
        <p:txBody>
          <a:bodyPr wrap="none" rtlCol="0">
            <a:spAutoFit/>
          </a:bodyPr>
          <a:lstStyle/>
          <a:p>
            <a:r>
              <a:rPr lang="en-US" sz="2000" dirty="0" smtClean="0">
                <a:solidFill>
                  <a:srgbClr val="FF0000"/>
                </a:solidFill>
              </a:rPr>
              <a:t>Gradients Variables can then be merged/averaged across all GPUs</a:t>
            </a:r>
            <a:endParaRPr lang="en-US" sz="2000" dirty="0">
              <a:solidFill>
                <a:srgbClr val="FF0000"/>
              </a:solidFill>
            </a:endParaRPr>
          </a:p>
        </p:txBody>
      </p:sp>
    </p:spTree>
    <p:extLst>
      <p:ext uri="{BB962C8B-B14F-4D97-AF65-F5344CB8AC3E}">
        <p14:creationId xmlns:p14="http://schemas.microsoft.com/office/powerpoint/2010/main" val="452594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1"/>
            <a:ext cx="9782801" cy="660400"/>
          </a:xfrm>
        </p:spPr>
        <p:txBody>
          <a:bodyPr/>
          <a:lstStyle/>
          <a:p>
            <a:r>
              <a:rPr lang="en-US" dirty="0" smtClean="0"/>
              <a:t>Data parallel</a:t>
            </a:r>
            <a:endParaRPr lang="en-US" dirty="0"/>
          </a:p>
        </p:txBody>
      </p:sp>
      <p:sp>
        <p:nvSpPr>
          <p:cNvPr id="4" name="Rectangle: Rounded Corners 3"/>
          <p:cNvSpPr/>
          <p:nvPr/>
        </p:nvSpPr>
        <p:spPr>
          <a:xfrm>
            <a:off x="1522412" y="1828800"/>
            <a:ext cx="10210800" cy="4800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mtClean="0">
                <a:solidFill>
                  <a:schemeClr val="accent5">
                    <a:lumMod val="75000"/>
                  </a:schemeClr>
                </a:solidFill>
                <a:latin typeface="Consolas" panose="020B0609020204030204" pitchFamily="49" charset="0"/>
              </a:rPr>
              <a:t>graph</a:t>
            </a:r>
            <a:endParaRPr lang="en-US" dirty="0">
              <a:solidFill>
                <a:schemeClr val="accent5">
                  <a:lumMod val="75000"/>
                </a:schemeClr>
              </a:solidFill>
              <a:latin typeface="Consolas" panose="020B0609020204030204" pitchFamily="49" charset="0"/>
            </a:endParaRPr>
          </a:p>
        </p:txBody>
      </p:sp>
      <p:sp>
        <p:nvSpPr>
          <p:cNvPr id="5" name="Rounded Rectangle 4"/>
          <p:cNvSpPr/>
          <p:nvPr/>
        </p:nvSpPr>
        <p:spPr>
          <a:xfrm>
            <a:off x="1751012" y="2362200"/>
            <a:ext cx="3124200" cy="4114800"/>
          </a:xfrm>
          <a:prstGeom prst="roundRect">
            <a:avLst/>
          </a:prstGeom>
          <a:noFill/>
          <a:ln w="285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CPU:0</a:t>
            </a:r>
            <a:endParaRPr lang="en-US" dirty="0">
              <a:solidFill>
                <a:schemeClr val="tx2"/>
              </a:solidFill>
              <a:latin typeface="Consolas" charset="0"/>
              <a:ea typeface="Consolas" charset="0"/>
              <a:cs typeface="Consolas" charset="0"/>
            </a:endParaRPr>
          </a:p>
        </p:txBody>
      </p:sp>
      <p:sp>
        <p:nvSpPr>
          <p:cNvPr id="6" name="Rounded Rectangle 5"/>
          <p:cNvSpPr/>
          <p:nvPr/>
        </p:nvSpPr>
        <p:spPr>
          <a:xfrm>
            <a:off x="50276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2"/>
                </a:solidFill>
                <a:latin typeface="Consolas" charset="0"/>
                <a:ea typeface="Consolas" charset="0"/>
                <a:cs typeface="Consolas" charset="0"/>
              </a:rPr>
              <a:t>G</a:t>
            </a:r>
            <a:r>
              <a:rPr lang="en-US" dirty="0" smtClean="0">
                <a:solidFill>
                  <a:schemeClr val="tx2"/>
                </a:solidFill>
                <a:latin typeface="Consolas" charset="0"/>
                <a:ea typeface="Consolas" charset="0"/>
                <a:cs typeface="Consolas" charset="0"/>
              </a:rPr>
              <a:t>PU:0</a:t>
            </a:r>
            <a:endParaRPr lang="en-US" dirty="0">
              <a:solidFill>
                <a:schemeClr val="tx2"/>
              </a:solidFill>
              <a:latin typeface="Consolas" charset="0"/>
              <a:ea typeface="Consolas" charset="0"/>
              <a:cs typeface="Consolas" charset="0"/>
            </a:endParaRPr>
          </a:p>
        </p:txBody>
      </p:sp>
      <p:sp>
        <p:nvSpPr>
          <p:cNvPr id="7" name="Rounded Rectangle 6"/>
          <p:cNvSpPr/>
          <p:nvPr/>
        </p:nvSpPr>
        <p:spPr>
          <a:xfrm>
            <a:off x="8304212" y="2362200"/>
            <a:ext cx="3124200" cy="4114800"/>
          </a:xfrm>
          <a:prstGeom prst="roundRect">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r"/>
            <a:r>
              <a:rPr lang="en-US" dirty="0" smtClean="0">
                <a:solidFill>
                  <a:schemeClr val="tx2"/>
                </a:solidFill>
                <a:latin typeface="Consolas" charset="0"/>
                <a:ea typeface="Consolas" charset="0"/>
                <a:cs typeface="Consolas" charset="0"/>
              </a:rPr>
              <a:t>GPU:1</a:t>
            </a:r>
            <a:endParaRPr lang="en-US" dirty="0">
              <a:solidFill>
                <a:schemeClr val="tx2"/>
              </a:solidFill>
              <a:latin typeface="Consolas" charset="0"/>
              <a:ea typeface="Consolas" charset="0"/>
              <a:cs typeface="Consolas" charset="0"/>
            </a:endParaRPr>
          </a:p>
        </p:txBody>
      </p:sp>
      <p:sp>
        <p:nvSpPr>
          <p:cNvPr id="8" name="Rounded Rectangle 7"/>
          <p:cNvSpPr/>
          <p:nvPr/>
        </p:nvSpPr>
        <p:spPr>
          <a:xfrm>
            <a:off x="53324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3324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3324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609012" y="30480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09012" y="40386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609012" y="5105400"/>
            <a:ext cx="2590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979612" y="3048000"/>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Merge gradients</a:t>
            </a:r>
            <a:endParaRPr lang="en-US" dirty="0">
              <a:solidFill>
                <a:schemeClr val="tx2"/>
              </a:solidFill>
            </a:endParaRPr>
          </a:p>
        </p:txBody>
      </p:sp>
      <p:sp>
        <p:nvSpPr>
          <p:cNvPr id="16" name="Rounded Rectangle 15"/>
          <p:cNvSpPr/>
          <p:nvPr/>
        </p:nvSpPr>
        <p:spPr>
          <a:xfrm>
            <a:off x="1979612" y="4048125"/>
            <a:ext cx="2590800" cy="6096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solidFill>
                  <a:schemeClr val="tx2"/>
                </a:solidFill>
              </a:rPr>
              <a:t>Update</a:t>
            </a:r>
            <a:endParaRPr lang="en-US" dirty="0">
              <a:solidFill>
                <a:schemeClr val="tx2"/>
              </a:solidFill>
            </a:endParaRPr>
          </a:p>
        </p:txBody>
      </p:sp>
      <p:sp>
        <p:nvSpPr>
          <p:cNvPr id="17" name="Rounded Rectangle 16"/>
          <p:cNvSpPr/>
          <p:nvPr/>
        </p:nvSpPr>
        <p:spPr>
          <a:xfrm>
            <a:off x="1979612" y="5105400"/>
            <a:ext cx="2590800" cy="6096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solidFill>
                  <a:schemeClr val="tx2"/>
                </a:solidFill>
              </a:rPr>
              <a:t>Variables</a:t>
            </a:r>
            <a:endParaRPr lang="en-US" dirty="0">
              <a:solidFill>
                <a:schemeClr val="tx2"/>
              </a:solidFill>
            </a:endParaRPr>
          </a:p>
        </p:txBody>
      </p:sp>
      <p:cxnSp>
        <p:nvCxnSpPr>
          <p:cNvPr id="18" name="Elbow Connector 17"/>
          <p:cNvCxnSpPr>
            <a:stCxn id="17" idx="2"/>
            <a:endCxn id="10" idx="2"/>
          </p:cNvCxnSpPr>
          <p:nvPr/>
        </p:nvCxnSpPr>
        <p:spPr>
          <a:xfrm rot="16200000" flipH="1">
            <a:off x="4951412" y="4038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7" idx="2"/>
            <a:endCxn id="13" idx="2"/>
          </p:cNvCxnSpPr>
          <p:nvPr/>
        </p:nvCxnSpPr>
        <p:spPr>
          <a:xfrm rot="16200000" flipH="1">
            <a:off x="6589712" y="24003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0"/>
            <a:endCxn id="14" idx="0"/>
          </p:cNvCxnSpPr>
          <p:nvPr/>
        </p:nvCxnSpPr>
        <p:spPr>
          <a:xfrm rot="16200000" flipV="1">
            <a:off x="4951412" y="1371600"/>
            <a:ext cx="12700" cy="33528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11" idx="0"/>
            <a:endCxn id="14" idx="0"/>
          </p:cNvCxnSpPr>
          <p:nvPr/>
        </p:nvCxnSpPr>
        <p:spPr>
          <a:xfrm rot="16200000" flipV="1">
            <a:off x="6589712" y="-266700"/>
            <a:ext cx="12700" cy="6629400"/>
          </a:xfrm>
          <a:prstGeom prst="bentConnector3">
            <a:avLst>
              <a:gd name="adj1" fmla="val 180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6" idx="0"/>
          </p:cNvCxnSpPr>
          <p:nvPr/>
        </p:nvCxnSpPr>
        <p:spPr>
          <a:xfrm>
            <a:off x="3275012" y="3657600"/>
            <a:ext cx="0" cy="3905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0"/>
          </p:cNvCxnSpPr>
          <p:nvPr/>
        </p:nvCxnSpPr>
        <p:spPr>
          <a:xfrm>
            <a:off x="32750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9" idx="0"/>
            <a:endCxn id="8" idx="2"/>
          </p:cNvCxnSpPr>
          <p:nvPr/>
        </p:nvCxnSpPr>
        <p:spPr>
          <a:xfrm flipV="1">
            <a:off x="66278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0" idx="0"/>
          </p:cNvCxnSpPr>
          <p:nvPr/>
        </p:nvCxnSpPr>
        <p:spPr>
          <a:xfrm flipV="1">
            <a:off x="66278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9904412" y="3657600"/>
            <a:ext cx="0" cy="381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9904412" y="4648200"/>
            <a:ext cx="0" cy="4572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827212" y="1828800"/>
            <a:ext cx="485876" cy="240969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435200" y="1323945"/>
            <a:ext cx="8280857" cy="400110"/>
          </a:xfrm>
          <a:prstGeom prst="rect">
            <a:avLst/>
          </a:prstGeom>
          <a:noFill/>
        </p:spPr>
        <p:txBody>
          <a:bodyPr wrap="none" rtlCol="0">
            <a:spAutoFit/>
          </a:bodyPr>
          <a:lstStyle/>
          <a:p>
            <a:r>
              <a:rPr lang="en-US" sz="2000" dirty="0" smtClean="0">
                <a:solidFill>
                  <a:srgbClr val="FF0000"/>
                </a:solidFill>
              </a:rPr>
              <a:t>Gradients for Variables can then be merged/averaged across all GPUs</a:t>
            </a:r>
            <a:endParaRPr lang="en-US" sz="2000" dirty="0">
              <a:solidFill>
                <a:srgbClr val="FF0000"/>
              </a:solidFill>
            </a:endParaRPr>
          </a:p>
        </p:txBody>
      </p:sp>
    </p:spTree>
    <p:extLst>
      <p:ext uri="{BB962C8B-B14F-4D97-AF65-F5344CB8AC3E}">
        <p14:creationId xmlns:p14="http://schemas.microsoft.com/office/powerpoint/2010/main" val="524760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idea for data parallel models</a:t>
            </a:r>
            <a:endParaRPr lang="en-US" dirty="0"/>
          </a:p>
        </p:txBody>
      </p:sp>
      <p:sp>
        <p:nvSpPr>
          <p:cNvPr id="3" name="Content Placeholder 2"/>
          <p:cNvSpPr>
            <a:spLocks noGrp="1"/>
          </p:cNvSpPr>
          <p:nvPr>
            <p:ph idx="1"/>
          </p:nvPr>
        </p:nvSpPr>
        <p:spPr>
          <a:xfrm>
            <a:off x="1593436" y="1600200"/>
            <a:ext cx="9782801" cy="4876800"/>
          </a:xfrm>
        </p:spPr>
        <p:txBody>
          <a:bodyPr/>
          <a:lstStyle/>
          <a:p>
            <a:pPr>
              <a:lnSpc>
                <a:spcPct val="150000"/>
              </a:lnSpc>
            </a:pPr>
            <a:r>
              <a:rPr lang="en-US" dirty="0" smtClean="0"/>
              <a:t>Placed on CPU:</a:t>
            </a:r>
          </a:p>
          <a:p>
            <a:pPr lvl="1">
              <a:lnSpc>
                <a:spcPct val="150000"/>
              </a:lnSpc>
            </a:pPr>
            <a:r>
              <a:rPr lang="en-US" dirty="0" smtClean="0"/>
              <a:t>Variables (including global step), shared updates</a:t>
            </a:r>
          </a:p>
          <a:p>
            <a:pPr lvl="1">
              <a:lnSpc>
                <a:spcPct val="150000"/>
              </a:lnSpc>
            </a:pPr>
            <a:r>
              <a:rPr lang="en-US" dirty="0" smtClean="0"/>
              <a:t>Queues, preprocessing steps</a:t>
            </a:r>
          </a:p>
          <a:p>
            <a:pPr lvl="1">
              <a:lnSpc>
                <a:spcPct val="150000"/>
              </a:lnSpc>
            </a:pPr>
            <a:r>
              <a:rPr lang="en-US" dirty="0" smtClean="0"/>
              <a:t>Initializers, merged summaries, Savers</a:t>
            </a:r>
          </a:p>
          <a:p>
            <a:pPr>
              <a:lnSpc>
                <a:spcPct val="150000"/>
              </a:lnSpc>
            </a:pPr>
            <a:r>
              <a:rPr lang="en-US" dirty="0" smtClean="0"/>
              <a:t>Placed on GPU:</a:t>
            </a:r>
          </a:p>
          <a:p>
            <a:pPr lvl="1">
              <a:lnSpc>
                <a:spcPct val="150000"/>
              </a:lnSpc>
            </a:pPr>
            <a:r>
              <a:rPr lang="en-US" dirty="0" smtClean="0"/>
              <a:t>Replicated model computation</a:t>
            </a:r>
          </a:p>
          <a:p>
            <a:pPr lvl="1">
              <a:lnSpc>
                <a:spcPct val="150000"/>
              </a:lnSpc>
            </a:pPr>
            <a:r>
              <a:rPr lang="en-US" dirty="0" smtClean="0"/>
              <a:t>Individual loss functions</a:t>
            </a:r>
          </a:p>
        </p:txBody>
      </p:sp>
    </p:spTree>
    <p:extLst>
      <p:ext uri="{BB962C8B-B14F-4D97-AF65-F5344CB8AC3E}">
        <p14:creationId xmlns:p14="http://schemas.microsoft.com/office/powerpoint/2010/main" val="1409257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generally</a:t>
            </a:r>
            <a:endParaRPr lang="en-US" dirty="0"/>
          </a:p>
        </p:txBody>
      </p:sp>
      <p:sp>
        <p:nvSpPr>
          <p:cNvPr id="3" name="Content Placeholder 2"/>
          <p:cNvSpPr>
            <a:spLocks noGrp="1"/>
          </p:cNvSpPr>
          <p:nvPr>
            <p:ph idx="1"/>
          </p:nvPr>
        </p:nvSpPr>
        <p:spPr>
          <a:xfrm>
            <a:off x="1593436" y="1600200"/>
            <a:ext cx="9782801" cy="4876800"/>
          </a:xfrm>
        </p:spPr>
        <p:txBody>
          <a:bodyPr/>
          <a:lstStyle/>
          <a:p>
            <a:pPr>
              <a:lnSpc>
                <a:spcPct val="150000"/>
              </a:lnSpc>
            </a:pPr>
            <a:r>
              <a:rPr lang="en-US" dirty="0" smtClean="0"/>
              <a:t>Placed on CPU:</a:t>
            </a:r>
          </a:p>
          <a:p>
            <a:pPr lvl="1">
              <a:lnSpc>
                <a:spcPct val="150000"/>
              </a:lnSpc>
            </a:pPr>
            <a:r>
              <a:rPr lang="en-US" dirty="0" smtClean="0"/>
              <a:t>Anything that needs to be shared between model replicas</a:t>
            </a:r>
          </a:p>
          <a:p>
            <a:pPr>
              <a:lnSpc>
                <a:spcPct val="150000"/>
              </a:lnSpc>
            </a:pPr>
            <a:endParaRPr lang="en-US" dirty="0" smtClean="0"/>
          </a:p>
          <a:p>
            <a:pPr>
              <a:lnSpc>
                <a:spcPct val="150000"/>
              </a:lnSpc>
            </a:pPr>
            <a:r>
              <a:rPr lang="en-US" dirty="0" smtClean="0"/>
              <a:t>Placed on GPU:</a:t>
            </a:r>
          </a:p>
          <a:p>
            <a:pPr lvl="1">
              <a:lnSpc>
                <a:spcPct val="150000"/>
              </a:lnSpc>
            </a:pPr>
            <a:r>
              <a:rPr lang="en-US" dirty="0" smtClean="0"/>
              <a:t>Anything that doesn’t need to be shared</a:t>
            </a:r>
          </a:p>
        </p:txBody>
      </p:sp>
    </p:spTree>
    <p:extLst>
      <p:ext uri="{BB962C8B-B14F-4D97-AF65-F5344CB8AC3E}">
        <p14:creationId xmlns:p14="http://schemas.microsoft.com/office/powerpoint/2010/main" val="2114882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we’re going to accomplish this:</a:t>
            </a:r>
            <a:endParaRPr lang="en-US" dirty="0"/>
          </a:p>
        </p:txBody>
      </p:sp>
      <p:sp>
        <p:nvSpPr>
          <p:cNvPr id="3" name="Content Placeholder 2"/>
          <p:cNvSpPr>
            <a:spLocks noGrp="1"/>
          </p:cNvSpPr>
          <p:nvPr>
            <p:ph idx="1"/>
          </p:nvPr>
        </p:nvSpPr>
        <p:spPr>
          <a:xfrm>
            <a:off x="1217612" y="1600200"/>
            <a:ext cx="10158625" cy="4572000"/>
          </a:xfrm>
        </p:spPr>
        <p:txBody>
          <a:bodyPr/>
          <a:lstStyle/>
          <a:p>
            <a:pPr marL="457200" indent="-457200">
              <a:lnSpc>
                <a:spcPct val="150000"/>
              </a:lnSpc>
              <a:buFont typeface="Arial" charset="0"/>
              <a:buChar char="•"/>
            </a:pPr>
            <a:r>
              <a:rPr lang="en-US" dirty="0" smtClean="0"/>
              <a:t>Modify our layer functions to create Variables on CPU</a:t>
            </a:r>
          </a:p>
          <a:p>
            <a:pPr marL="457200" indent="-457200">
              <a:lnSpc>
                <a:spcPct val="150000"/>
              </a:lnSpc>
              <a:buFont typeface="Arial" charset="0"/>
              <a:buChar char="•"/>
            </a:pPr>
            <a:r>
              <a:rPr lang="en-US" dirty="0" smtClean="0"/>
              <a:t>Reuse Variables via </a:t>
            </a:r>
            <a:r>
              <a:rPr lang="en-US" dirty="0" err="1" smtClean="0"/>
              <a:t>variable_scope</a:t>
            </a:r>
            <a:r>
              <a:rPr lang="en-US" dirty="0" smtClean="0"/>
              <a:t>() for each GPU</a:t>
            </a:r>
          </a:p>
          <a:p>
            <a:pPr marL="457200" indent="-457200">
              <a:lnSpc>
                <a:spcPct val="150000"/>
              </a:lnSpc>
              <a:buFont typeface="Arial" charset="0"/>
              <a:buChar char="•"/>
            </a:pPr>
            <a:r>
              <a:rPr lang="en-US" dirty="0" smtClean="0"/>
              <a:t>Loop over each GPU in our system, placing models on each</a:t>
            </a:r>
          </a:p>
          <a:p>
            <a:pPr marL="457200" indent="-457200">
              <a:lnSpc>
                <a:spcPct val="150000"/>
              </a:lnSpc>
              <a:buFont typeface="Arial" charset="0"/>
              <a:buChar char="•"/>
            </a:pPr>
            <a:r>
              <a:rPr lang="en-US" dirty="0" smtClean="0"/>
              <a:t>Average the calculated gradient from each GPU for updates</a:t>
            </a:r>
            <a:endParaRPr lang="en-US" dirty="0"/>
          </a:p>
        </p:txBody>
      </p:sp>
    </p:spTree>
    <p:extLst>
      <p:ext uri="{BB962C8B-B14F-4D97-AF65-F5344CB8AC3E}">
        <p14:creationId xmlns:p14="http://schemas.microsoft.com/office/powerpoint/2010/main" val="404637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1485</Words>
  <Application>Microsoft Office PowerPoint</Application>
  <PresentationFormat>Custom</PresentationFormat>
  <Paragraphs>467</Paragraphs>
  <Slides>62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Arial</vt:lpstr>
      <vt:lpstr>Cambria Math</vt:lpstr>
      <vt:lpstr>Consolas</vt:lpstr>
      <vt:lpstr>Euphemia</vt:lpstr>
      <vt:lpstr>Intel Clear</vt:lpstr>
      <vt:lpstr>Intel Clear Light</vt:lpstr>
      <vt:lpstr>Intel Clear Pro</vt:lpstr>
      <vt:lpstr>Lucida Grande</vt:lpstr>
      <vt:lpstr>Neo Sans Intel</vt:lpstr>
      <vt:lpstr>Wingdings</vt:lpstr>
      <vt:lpstr>IS_PPT Template_ClearPro_16x9_051915</vt:lpstr>
      <vt:lpstr>Devices and TensorFlow</vt:lpstr>
      <vt:lpstr>Legal Notices and Disclaimers</vt:lpstr>
      <vt:lpstr>RNNs and Seq2Seq (briefly)</vt:lpstr>
      <vt:lpstr>Modelling sequences of data</vt:lpstr>
      <vt:lpstr>Idea: Recurrence</vt:lpstr>
      <vt:lpstr>Idea: Recurrence</vt:lpstr>
      <vt:lpstr>Idea: Recurrence</vt:lpstr>
      <vt:lpstr>Idea: Recurrence</vt:lpstr>
      <vt:lpstr>Unrolled view of an RNN</vt:lpstr>
      <vt:lpstr>At each step, we pass in an input</vt:lpstr>
      <vt:lpstr>As we go along, the network makes a prediction, which changes as it gets more info</vt:lpstr>
      <vt:lpstr>Sequence to sequence</vt:lpstr>
      <vt:lpstr>Sequence to sequence</vt:lpstr>
      <vt:lpstr>Sequence to sequence</vt:lpstr>
      <vt:lpstr>Sequence to sequence</vt:lpstr>
      <vt:lpstr>Show and Tell</vt:lpstr>
      <vt:lpstr>Show and Tell</vt:lpstr>
      <vt:lpstr>Show and Tell</vt:lpstr>
      <vt:lpstr>Success and limitations</vt:lpstr>
      <vt:lpstr>TFRecords</vt:lpstr>
      <vt:lpstr>TFRecords format</vt:lpstr>
      <vt:lpstr>How to create TFRecords</vt:lpstr>
      <vt:lpstr>How to create TFRecords</vt:lpstr>
      <vt:lpstr>Queues</vt:lpstr>
      <vt:lpstr>An alternative to feed_dict</vt:lpstr>
      <vt:lpstr>TensorFlow Queues</vt:lpstr>
      <vt:lpstr>Basic Queue pattern</vt:lpstr>
      <vt:lpstr>PowerPoint Presentation</vt:lpstr>
      <vt:lpstr>Basic Queue pattern</vt:lpstr>
      <vt:lpstr>Basic Queue pattern</vt:lpstr>
      <vt:lpstr>Basic Queue pattern</vt:lpstr>
      <vt:lpstr>Basic Queue pattern</vt:lpstr>
      <vt:lpstr>Basic Queue pattern</vt:lpstr>
      <vt:lpstr>Using the Queue in a Graph</vt:lpstr>
      <vt:lpstr>Extra bits for managing threads:</vt:lpstr>
      <vt:lpstr>Extra bits for managing threads:</vt:lpstr>
      <vt:lpstr>Extra bits for managing threads:</vt:lpstr>
      <vt:lpstr>Extra bits for managing threads:</vt:lpstr>
      <vt:lpstr>Extra bits for managing threads:</vt:lpstr>
      <vt:lpstr>Extra bits for managing threads:</vt:lpstr>
      <vt:lpstr>Multi-GPU</vt:lpstr>
      <vt:lpstr>Getting more power!</vt:lpstr>
      <vt:lpstr>Multi-device graph</vt:lpstr>
      <vt:lpstr>By default, operations will be placed on GPU:0</vt:lpstr>
      <vt:lpstr>By default, operations will be placed on GPU:0</vt:lpstr>
      <vt:lpstr>By default, operations will be placed on GPU:0</vt:lpstr>
      <vt:lpstr>Unless there isn’t a GPU implementation for an Op</vt:lpstr>
      <vt:lpstr>We can explicitly place Ops on a device</vt:lpstr>
      <vt:lpstr>TensorFlow automatically handles cross-device data</vt:lpstr>
      <vt:lpstr>Two main ways to parallelize model</vt:lpstr>
      <vt:lpstr>Model-Parallel</vt:lpstr>
      <vt:lpstr>Model-Parallel</vt:lpstr>
      <vt:lpstr>Problem: communication across devices is slow</vt:lpstr>
      <vt:lpstr>Want to minimize as much as possible!</vt:lpstr>
      <vt:lpstr>Data parallel</vt:lpstr>
      <vt:lpstr>More common pattern for models</vt:lpstr>
      <vt:lpstr>Data parallel</vt:lpstr>
      <vt:lpstr>Data parallel</vt:lpstr>
      <vt:lpstr>Data parallel</vt:lpstr>
      <vt:lpstr>Basic idea for data parallel models</vt:lpstr>
      <vt:lpstr>More generally</vt:lpstr>
      <vt:lpstr>How we’re going to accomplish this: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2018-01-26T01:18:36Z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d5360939-5245-499c-a3bc-590e0703e6d8</vt:lpwstr>
  </property>
  <property fmtid="{D5CDD505-2E9C-101B-9397-08002B2CF9AE}" pid="4" name="CTP_TimeStamp">
    <vt:lpwstr>2018-01-26 01:18:35Z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
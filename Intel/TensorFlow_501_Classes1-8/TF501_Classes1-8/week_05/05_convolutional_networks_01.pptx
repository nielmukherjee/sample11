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61"/>
  </p:notesMasterIdLst>
  <p:handoutMasterIdLst>
    <p:handoutMasterId r:id="rId62"/>
  </p:handoutMasterIdLst>
  <p:sldIdLst>
    <p:sldId id="256" r:id="rId3"/>
    <p:sldId id="327" r:id="rId4"/>
    <p:sldId id="276" r:id="rId5"/>
    <p:sldId id="277" r:id="rId6"/>
    <p:sldId id="278" r:id="rId7"/>
    <p:sldId id="279" r:id="rId8"/>
    <p:sldId id="265" r:id="rId9"/>
    <p:sldId id="266" r:id="rId10"/>
    <p:sldId id="268" r:id="rId11"/>
    <p:sldId id="282" r:id="rId12"/>
    <p:sldId id="269" r:id="rId13"/>
    <p:sldId id="270" r:id="rId14"/>
    <p:sldId id="271" r:id="rId15"/>
    <p:sldId id="272" r:id="rId16"/>
    <p:sldId id="273" r:id="rId17"/>
    <p:sldId id="281" r:id="rId18"/>
    <p:sldId id="264" r:id="rId19"/>
    <p:sldId id="293" r:id="rId20"/>
    <p:sldId id="294" r:id="rId21"/>
    <p:sldId id="260" r:id="rId22"/>
    <p:sldId id="287" r:id="rId23"/>
    <p:sldId id="283" r:id="rId24"/>
    <p:sldId id="284" r:id="rId25"/>
    <p:sldId id="289" r:id="rId26"/>
    <p:sldId id="285" r:id="rId27"/>
    <p:sldId id="290" r:id="rId28"/>
    <p:sldId id="291" r:id="rId29"/>
    <p:sldId id="288" r:id="rId30"/>
    <p:sldId id="292" r:id="rId31"/>
    <p:sldId id="297" r:id="rId32"/>
    <p:sldId id="322" r:id="rId33"/>
    <p:sldId id="298" r:id="rId34"/>
    <p:sldId id="299" r:id="rId35"/>
    <p:sldId id="258" r:id="rId36"/>
    <p:sldId id="259" r:id="rId37"/>
    <p:sldId id="300" r:id="rId38"/>
    <p:sldId id="267" r:id="rId39"/>
    <p:sldId id="295" r:id="rId40"/>
    <p:sldId id="301" r:id="rId41"/>
    <p:sldId id="302" r:id="rId42"/>
    <p:sldId id="303" r:id="rId43"/>
    <p:sldId id="304" r:id="rId44"/>
    <p:sldId id="305" r:id="rId45"/>
    <p:sldId id="306" r:id="rId46"/>
    <p:sldId id="315" r:id="rId47"/>
    <p:sldId id="307" r:id="rId48"/>
    <p:sldId id="308" r:id="rId49"/>
    <p:sldId id="309" r:id="rId50"/>
    <p:sldId id="310" r:id="rId51"/>
    <p:sldId id="311" r:id="rId52"/>
    <p:sldId id="312" r:id="rId53"/>
    <p:sldId id="313" r:id="rId54"/>
    <p:sldId id="314" r:id="rId55"/>
    <p:sldId id="316" r:id="rId56"/>
    <p:sldId id="323" r:id="rId57"/>
    <p:sldId id="324" r:id="rId58"/>
    <p:sldId id="325" r:id="rId59"/>
    <p:sldId id="326" r:id="rId60"/>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6B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143" autoAdjust="0"/>
    <p:restoredTop sz="69355"/>
  </p:normalViewPr>
  <p:slideViewPr>
    <p:cSldViewPr showGuides="1">
      <p:cViewPr varScale="1">
        <p:scale>
          <a:sx n="88" d="100"/>
          <a:sy n="88" d="100"/>
        </p:scale>
        <p:origin x="618" y="90"/>
      </p:cViewPr>
      <p:guideLst>
        <p:guide orient="horz" pos="2160"/>
        <p:guide pos="3839"/>
        <p:guide pos="1007"/>
      </p:guideLst>
    </p:cSldViewPr>
  </p:slideViewPr>
  <p:notesTextViewPr>
    <p:cViewPr>
      <p:scale>
        <a:sx n="1" d="1"/>
        <a:sy n="1" d="1"/>
      </p:scale>
      <p:origin x="0" y="0"/>
    </p:cViewPr>
  </p:notesTextViewPr>
  <p:notesViewPr>
    <p:cSldViewPr showGuides="1">
      <p:cViewPr varScale="1">
        <p:scale>
          <a:sx n="90" d="100"/>
          <a:sy n="90" d="100"/>
        </p:scale>
        <p:origin x="3840" y="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1/25/2018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1/25/2018</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jmlr.org/proceedings/papers/v9/glorot10a/glorot10a.pdf"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arxiv.org/abs/1502.01852"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1429092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Many</a:t>
            </a:r>
            <a:r>
              <a:rPr lang="en-US" baseline="0" dirty="0" smtClean="0"/>
              <a:t> notions of kernel in mathematics have to do with a center and a region around (and/or distances around and/or weighting by that distance).  In this case, we apply a kernel as a template over a small region of an image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32253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Example coming </a:t>
            </a:r>
            <a:r>
              <a:rPr lang="is-IS" dirty="0" smtClean="0"/>
              <a:t>… don’t get hung up “hand waving” here.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8</a:t>
            </a:fld>
            <a:endParaRPr lang="en-US"/>
          </a:p>
        </p:txBody>
      </p:sp>
    </p:spTree>
    <p:extLst>
      <p:ext uri="{BB962C8B-B14F-4D97-AF65-F5344CB8AC3E}">
        <p14:creationId xmlns:p14="http://schemas.microsoft.com/office/powerpoint/2010/main" val="195474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 build up slides here </a:t>
            </a:r>
            <a:r>
              <a:rPr lang="is-IS" dirty="0" smtClean="0"/>
              <a:t>… there’s a nice animated</a:t>
            </a:r>
            <a:r>
              <a:rPr lang="is-IS" baseline="0" dirty="0" smtClean="0"/>
              <a:t> gif in the notebook.</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16</a:t>
            </a:fld>
            <a:endParaRPr lang="en-US"/>
          </a:p>
        </p:txBody>
      </p:sp>
    </p:spTree>
    <p:extLst>
      <p:ext uri="{BB962C8B-B14F-4D97-AF65-F5344CB8AC3E}">
        <p14:creationId xmlns:p14="http://schemas.microsoft.com/office/powerpoint/2010/main" val="982534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These are more “applied” kernels, your mileage</a:t>
            </a:r>
            <a:r>
              <a:rPr lang="en-US" baseline="0" dirty="0" smtClean="0"/>
              <a:t> might vary.</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17</a:t>
            </a:fld>
            <a:endParaRPr lang="en-US"/>
          </a:p>
        </p:txBody>
      </p:sp>
    </p:spTree>
    <p:extLst>
      <p:ext uri="{BB962C8B-B14F-4D97-AF65-F5344CB8AC3E}">
        <p14:creationId xmlns:p14="http://schemas.microsoft.com/office/powerpoint/2010/main" val="1877756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19</a:t>
            </a:fld>
            <a:endParaRPr lang="en-US"/>
          </a:p>
        </p:txBody>
      </p:sp>
    </p:spTree>
    <p:extLst>
      <p:ext uri="{BB962C8B-B14F-4D97-AF65-F5344CB8AC3E}">
        <p14:creationId xmlns:p14="http://schemas.microsoft.com/office/powerpoint/2010/main" val="480197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These are supposed to be either (1)</a:t>
            </a:r>
            <a:r>
              <a:rPr lang="en-US" baseline="0" dirty="0" smtClean="0"/>
              <a:t> a set of kernels for RGB (red green blue) or (2) a the same for CMYK (cyan magenta yellow black)</a:t>
            </a:r>
          </a:p>
          <a:p>
            <a:endParaRPr lang="en-US" baseline="0" dirty="0" smtClean="0"/>
          </a:p>
          <a:p>
            <a:r>
              <a:rPr lang="en-US" baseline="0" dirty="0" smtClean="0"/>
              <a:t>For our purposes, the convolution operation can be seen as a means for combining a kernel (which we will learn the weights of by training) with inputs (either pixels from an image or outputs from a prior network layer).  </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20</a:t>
            </a:fld>
            <a:endParaRPr lang="en-US"/>
          </a:p>
        </p:txBody>
      </p:sp>
    </p:spTree>
    <p:extLst>
      <p:ext uri="{BB962C8B-B14F-4D97-AF65-F5344CB8AC3E}">
        <p14:creationId xmlns:p14="http://schemas.microsoft.com/office/powerpoint/2010/main" val="219980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Lessons from a Dropped Ball at http://</a:t>
            </a:r>
            <a:r>
              <a:rPr lang="en-US" dirty="0" err="1" smtClean="0"/>
              <a:t>colah.github.io</a:t>
            </a:r>
            <a:r>
              <a:rPr lang="en-US" dirty="0" smtClean="0"/>
              <a:t>/posts/2014-07-Understanding-Convolutions/ is a nice way to break into understanding convolutions in a larger mathematical</a:t>
            </a:r>
            <a:r>
              <a:rPr lang="en-US" baseline="0" dirty="0" smtClean="0"/>
              <a:t> context.  It isn’t strictly necessary for us here.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21</a:t>
            </a:fld>
            <a:endParaRPr lang="en-US"/>
          </a:p>
        </p:txBody>
      </p:sp>
    </p:spTree>
    <p:extLst>
      <p:ext uri="{BB962C8B-B14F-4D97-AF65-F5344CB8AC3E}">
        <p14:creationId xmlns:p14="http://schemas.microsoft.com/office/powerpoint/2010/main" val="1426776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Odd dims b/c centering</a:t>
            </a:r>
            <a:r>
              <a:rPr lang="en-US" baseline="0" dirty="0" smtClean="0"/>
              <a:t> in even numbers is a problem and we don’t want to get into averaging/splitting between pixels.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22</a:t>
            </a:fld>
            <a:endParaRPr lang="en-US"/>
          </a:p>
        </p:txBody>
      </p:sp>
    </p:spTree>
    <p:extLst>
      <p:ext uri="{BB962C8B-B14F-4D97-AF65-F5344CB8AC3E}">
        <p14:creationId xmlns:p14="http://schemas.microsoft.com/office/powerpoint/2010/main" val="324616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Aka, if we stride bigger than 1,1 </a:t>
            </a:r>
            <a:r>
              <a:rPr lang="is-IS" dirty="0" smtClean="0"/>
              <a:t>…. </a:t>
            </a:r>
            <a:r>
              <a:rPr lang="en-US" dirty="0" smtClean="0"/>
              <a:t>W</a:t>
            </a:r>
            <a:r>
              <a:rPr lang="is-IS" dirty="0" smtClean="0"/>
              <a:t>e will be “skipping</a:t>
            </a:r>
            <a:r>
              <a:rPr lang="is-IS" baseline="0" dirty="0" smtClean="0"/>
              <a:t> over” some potential center pixels and thus we will be reducing on output.  Examples to come!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23</a:t>
            </a:fld>
            <a:endParaRPr lang="en-US"/>
          </a:p>
        </p:txBody>
      </p:sp>
    </p:spTree>
    <p:extLst>
      <p:ext uri="{BB962C8B-B14F-4D97-AF65-F5344CB8AC3E}">
        <p14:creationId xmlns:p14="http://schemas.microsoft.com/office/powerpoint/2010/main" val="1973631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That</a:t>
            </a:r>
            <a:r>
              <a:rPr lang="en-US" baseline="0" dirty="0" smtClean="0"/>
              <a:t> is, the standard convolution combines the input with the kernel and doesn’t have any way of filling in the input’s “fringe” (where the kernel can’t be centered due to its shape).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25</a:t>
            </a:fld>
            <a:endParaRPr lang="en-US"/>
          </a:p>
        </p:txBody>
      </p:sp>
    </p:spTree>
    <p:extLst>
      <p:ext uri="{BB962C8B-B14F-4D97-AF65-F5344CB8AC3E}">
        <p14:creationId xmlns:p14="http://schemas.microsoft.com/office/powerpoint/2010/main" val="93358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Same means same output</a:t>
            </a:r>
            <a:r>
              <a:rPr lang="en-US" baseline="0" dirty="0" smtClean="0"/>
              <a:t> size as the input size.  Means we have to add pseud—pixels around the input to fill things out.</a:t>
            </a:r>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27</a:t>
            </a:fld>
            <a:endParaRPr lang="en-US"/>
          </a:p>
        </p:txBody>
      </p:sp>
    </p:spTree>
    <p:extLst>
      <p:ext uri="{BB962C8B-B14F-4D97-AF65-F5344CB8AC3E}">
        <p14:creationId xmlns:p14="http://schemas.microsoft.com/office/powerpoint/2010/main" val="11503019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a:t>
            </a:r>
            <a:r>
              <a:rPr lang="en-US" baseline="0" dirty="0" smtClean="0"/>
              <a:t> careful:  “deep networks” generally refers to the notion of many layers.  Width of a layer is how many nodes it has.  Read your academic papers closely.</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28</a:t>
            </a:fld>
            <a:endParaRPr lang="en-US"/>
          </a:p>
        </p:txBody>
      </p:sp>
    </p:spTree>
    <p:extLst>
      <p:ext uri="{BB962C8B-B14F-4D97-AF65-F5344CB8AC3E}">
        <p14:creationId xmlns:p14="http://schemas.microsoft.com/office/powerpoint/2010/main" val="13459150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we want two output channels, we need two kernels.  Note, we might have 0,1,2,</a:t>
            </a:r>
            <a:r>
              <a:rPr lang="en-US" baseline="0" dirty="0" smtClean="0"/>
              <a:t> or more inputs feeding several kernels.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29</a:t>
            </a:fld>
            <a:endParaRPr lang="en-US"/>
          </a:p>
        </p:txBody>
      </p:sp>
    </p:spTree>
    <p:extLst>
      <p:ext uri="{BB962C8B-B14F-4D97-AF65-F5344CB8AC3E}">
        <p14:creationId xmlns:p14="http://schemas.microsoft.com/office/powerpoint/2010/main" val="2093208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Depth here is used in the sense of a dimension of the matrix:  [</a:t>
            </a:r>
            <a:r>
              <a:rPr lang="en-US" dirty="0" err="1" smtClean="0"/>
              <a:t>rows,cols</a:t>
            </a:r>
            <a:r>
              <a:rPr lang="en-US" dirty="0" smtClean="0"/>
              <a:t>] -&gt; [depth,</a:t>
            </a:r>
            <a:r>
              <a:rPr lang="en-US" baseline="0" dirty="0" smtClean="0"/>
              <a:t> rows, cols] (or possibly [rows, cols, depth]).  Some people prefer the term panels b/c it eliminates confusion with how tall the neural network is (number of layers in the whole network).</a:t>
            </a:r>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30</a:t>
            </a:fld>
            <a:endParaRPr lang="en-US"/>
          </a:p>
        </p:txBody>
      </p:sp>
    </p:spTree>
    <p:extLst>
      <p:ext uri="{BB962C8B-B14F-4D97-AF65-F5344CB8AC3E}">
        <p14:creationId xmlns:p14="http://schemas.microsoft.com/office/powerpoint/2010/main" val="6005112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the input, this is (number of images, height image, width image, number of color </a:t>
            </a:r>
            <a:r>
              <a:rPr lang="en-US" dirty="0" err="1" smtClean="0"/>
              <a:t>channes</a:t>
            </a:r>
            <a:r>
              <a:rPr lang="en-US" dirty="0" smtClean="0"/>
              <a:t>)</a:t>
            </a:r>
          </a:p>
          <a:p>
            <a:endParaRPr lang="en-US" dirty="0" smtClean="0"/>
          </a:p>
          <a:p>
            <a:r>
              <a:rPr lang="en-US" dirty="0" smtClean="0"/>
              <a:t>For the filter, </a:t>
            </a:r>
            <a:r>
              <a:rPr lang="en-US" dirty="0" err="1" smtClean="0"/>
              <a:t>channels_in</a:t>
            </a:r>
            <a:r>
              <a:rPr lang="en-US" baseline="0" dirty="0" smtClean="0"/>
              <a:t> and </a:t>
            </a:r>
            <a:r>
              <a:rPr lang="en-US" baseline="0" dirty="0" err="1" smtClean="0"/>
              <a:t>channels_out</a:t>
            </a:r>
            <a:r>
              <a:rPr lang="en-US" baseline="0" dirty="0" smtClean="0"/>
              <a:t> is similar to a </a:t>
            </a:r>
            <a:r>
              <a:rPr lang="en-US" baseline="0" dirty="0" err="1" smtClean="0"/>
              <a:t>fully_connected_layer</a:t>
            </a:r>
            <a:r>
              <a:rPr lang="en-US" baseline="0" dirty="0" smtClean="0"/>
              <a:t> and </a:t>
            </a:r>
            <a:r>
              <a:rPr lang="en-US" baseline="0" dirty="0" err="1" smtClean="0"/>
              <a:t>num_nodes_in</a:t>
            </a:r>
            <a:r>
              <a:rPr lang="en-US" baseline="0" dirty="0" smtClean="0"/>
              <a:t>, </a:t>
            </a:r>
            <a:r>
              <a:rPr lang="en-US" baseline="0" dirty="0" err="1" smtClean="0"/>
              <a:t>num_nodes_out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31</a:t>
            </a:fld>
            <a:endParaRPr lang="en-US"/>
          </a:p>
        </p:txBody>
      </p:sp>
    </p:spTree>
    <p:extLst>
      <p:ext uri="{BB962C8B-B14F-4D97-AF65-F5344CB8AC3E}">
        <p14:creationId xmlns:p14="http://schemas.microsoft.com/office/powerpoint/2010/main" val="648775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Could call this aggregation or summarization </a:t>
            </a:r>
            <a:r>
              <a:rPr lang="is-IS" dirty="0" smtClean="0"/>
              <a:t>… computing means, maxes, etc.</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32</a:t>
            </a:fld>
            <a:endParaRPr lang="en-US"/>
          </a:p>
        </p:txBody>
      </p:sp>
    </p:spTree>
    <p:extLst>
      <p:ext uri="{BB962C8B-B14F-4D97-AF65-F5344CB8AC3E}">
        <p14:creationId xmlns:p14="http://schemas.microsoft.com/office/powerpoint/2010/main" val="674277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image feature could be something like an edge detector or the orientation of the image.</a:t>
            </a:r>
            <a:r>
              <a:rPr lang="en-US" baseline="0" dirty="0" smtClean="0"/>
              <a:t>  In classical image processing, a lot of hard work goes into manually processing images to extract features.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39</a:t>
            </a:fld>
            <a:endParaRPr lang="en-US"/>
          </a:p>
        </p:txBody>
      </p:sp>
    </p:spTree>
    <p:extLst>
      <p:ext uri="{BB962C8B-B14F-4D97-AF65-F5344CB8AC3E}">
        <p14:creationId xmlns:p14="http://schemas.microsoft.com/office/powerpoint/2010/main" val="7407824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discuss</a:t>
            </a:r>
            <a:r>
              <a:rPr lang="en-US" baseline="0" dirty="0" smtClean="0"/>
              <a:t> some of this here, but we’ll make it concrete in the notebook.</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40</a:t>
            </a:fld>
            <a:endParaRPr lang="en-US"/>
          </a:p>
        </p:txBody>
      </p:sp>
    </p:spTree>
    <p:extLst>
      <p:ext uri="{BB962C8B-B14F-4D97-AF65-F5344CB8AC3E}">
        <p14:creationId xmlns:p14="http://schemas.microsoft.com/office/powerpoint/2010/main" val="4258253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42</a:t>
            </a:fld>
            <a:endParaRPr lang="en-US"/>
          </a:p>
        </p:txBody>
      </p:sp>
    </p:spTree>
    <p:extLst>
      <p:ext uri="{BB962C8B-B14F-4D97-AF65-F5344CB8AC3E}">
        <p14:creationId xmlns:p14="http://schemas.microsoft.com/office/powerpoint/2010/main" val="123322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48</a:t>
            </a:fld>
            <a:endParaRPr lang="en-US"/>
          </a:p>
        </p:txBody>
      </p:sp>
    </p:spTree>
    <p:extLst>
      <p:ext uri="{BB962C8B-B14F-4D97-AF65-F5344CB8AC3E}">
        <p14:creationId xmlns:p14="http://schemas.microsoft.com/office/powerpoint/2010/main" val="14440335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61706</a:t>
            </a:r>
            <a:r>
              <a:rPr lang="en-US" baseline="0" dirty="0" smtClean="0"/>
              <a:t> / (1200^2) is about .42 </a:t>
            </a:r>
            <a:r>
              <a:rPr lang="is-IS" baseline="0" dirty="0" smtClean="0"/>
              <a:t>… we we’ve got less than half the number of parameters for a *single* FC layer</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54</a:t>
            </a:fld>
            <a:endParaRPr lang="en-US"/>
          </a:p>
        </p:txBody>
      </p:sp>
    </p:spTree>
    <p:extLst>
      <p:ext uri="{BB962C8B-B14F-4D97-AF65-F5344CB8AC3E}">
        <p14:creationId xmlns:p14="http://schemas.microsoft.com/office/powerpoint/2010/main" val="4248968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N_in</a:t>
            </a:r>
            <a:r>
              <a:rPr lang="en-US" dirty="0" smtClean="0"/>
              <a:t>, </a:t>
            </a:r>
            <a:r>
              <a:rPr lang="en-US" dirty="0" err="1" smtClean="0"/>
              <a:t>n_out</a:t>
            </a:r>
            <a:r>
              <a:rPr lang="en-US" dirty="0" smtClean="0"/>
              <a:t> </a:t>
            </a:r>
            <a:r>
              <a:rPr lang="is-IS" smtClean="0"/>
              <a:t>… number of inputs/outputs for that layer</a:t>
            </a:r>
            <a:endParaRPr lang="en-US" smtClean="0"/>
          </a:p>
          <a:p>
            <a:endParaRPr lang="en-US" dirty="0" smtClean="0"/>
          </a:p>
          <a:p>
            <a:r>
              <a:rPr lang="en-US" dirty="0" err="1" smtClean="0"/>
              <a:t>Truncnorm</a:t>
            </a:r>
            <a:r>
              <a:rPr lang="en-US" dirty="0" smtClean="0"/>
              <a:t> = truncated normal distribution</a:t>
            </a:r>
          </a:p>
          <a:p>
            <a:r>
              <a:rPr lang="en-US" dirty="0" smtClean="0"/>
              <a:t>Aka, </a:t>
            </a:r>
            <a:r>
              <a:rPr lang="en-US" dirty="0" err="1" smtClean="0"/>
              <a:t>std</a:t>
            </a:r>
            <a:r>
              <a:rPr lang="en-US" dirty="0" smtClean="0"/>
              <a:t> deviation is root (2 / </a:t>
            </a:r>
            <a:r>
              <a:rPr lang="en-US" dirty="0" err="1" smtClean="0"/>
              <a:t>n_in</a:t>
            </a:r>
            <a:r>
              <a:rPr lang="en-US" dirty="0" smtClean="0"/>
              <a:t> + </a:t>
            </a:r>
            <a:r>
              <a:rPr lang="en-US" dirty="0" err="1" smtClean="0"/>
              <a:t>n_out</a:t>
            </a:r>
            <a:r>
              <a:rPr lang="en-US" dirty="0" smtClean="0"/>
              <a:t>)</a:t>
            </a:r>
          </a:p>
          <a:p>
            <a:endParaRPr lang="en-US" dirty="0" smtClean="0"/>
          </a:p>
          <a:p>
            <a:r>
              <a:rPr lang="en-US" dirty="0" smtClean="0"/>
              <a:t>Link to paper:</a:t>
            </a:r>
          </a:p>
          <a:p>
            <a:pPr lvl="1"/>
            <a:r>
              <a:rPr lang="en-US" sz="2000" dirty="0" smtClean="0">
                <a:hlinkClick r:id="rId3"/>
              </a:rPr>
              <a:t>http://jmlr.org/proceedings/papers/v9/glorot10a/glorot10a.pdf</a:t>
            </a:r>
            <a:endParaRPr lang="en-US" sz="2000" dirty="0" smtClean="0"/>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56</a:t>
            </a:fld>
            <a:endParaRPr lang="en-US"/>
          </a:p>
        </p:txBody>
      </p:sp>
    </p:spTree>
    <p:extLst>
      <p:ext uri="{BB962C8B-B14F-4D97-AF65-F5344CB8AC3E}">
        <p14:creationId xmlns:p14="http://schemas.microsoft.com/office/powerpoint/2010/main" val="6079648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Truncnorm</a:t>
            </a:r>
            <a:r>
              <a:rPr lang="en-US" dirty="0" smtClean="0"/>
              <a:t> = truncated normal distribution</a:t>
            </a:r>
          </a:p>
          <a:p>
            <a:r>
              <a:rPr lang="en-US" dirty="0" smtClean="0"/>
              <a:t>Aka, </a:t>
            </a:r>
            <a:r>
              <a:rPr lang="en-US" dirty="0" err="1" smtClean="0"/>
              <a:t>std</a:t>
            </a:r>
            <a:r>
              <a:rPr lang="en-US" dirty="0" smtClean="0"/>
              <a:t> deviation is root (2 / </a:t>
            </a:r>
            <a:r>
              <a:rPr lang="en-US" dirty="0" err="1" smtClean="0"/>
              <a:t>n_in</a:t>
            </a:r>
            <a:r>
              <a:rPr lang="en-US" dirty="0" smtClean="0"/>
              <a:t>)</a:t>
            </a:r>
          </a:p>
          <a:p>
            <a:endParaRPr lang="en-US" dirty="0" smtClean="0"/>
          </a:p>
          <a:p>
            <a:r>
              <a:rPr lang="en-US" dirty="0" smtClean="0"/>
              <a:t>Link to paper:</a:t>
            </a:r>
          </a:p>
          <a:p>
            <a:pPr lvl="1"/>
            <a:r>
              <a:rPr lang="mr-IN" dirty="0" smtClean="0">
                <a:hlinkClick r:id="rId3"/>
              </a:rPr>
              <a:t>https://arxiv.org/abs/1502.01852</a:t>
            </a:r>
            <a:endParaRPr lang="en-US" dirty="0" smtClean="0"/>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57</a:t>
            </a:fld>
            <a:endParaRPr lang="en-US"/>
          </a:p>
        </p:txBody>
      </p:sp>
    </p:spTree>
    <p:extLst>
      <p:ext uri="{BB962C8B-B14F-4D97-AF65-F5344CB8AC3E}">
        <p14:creationId xmlns:p14="http://schemas.microsoft.com/office/powerpoint/2010/main" val="3375037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616665" y="533064"/>
            <a:ext cx="1640574" cy="1542997"/>
          </a:xfrm>
          <a:prstGeom prst="rect">
            <a:avLst/>
          </a:prstGeom>
        </p:spPr>
      </p:pic>
      <p:sp>
        <p:nvSpPr>
          <p:cNvPr id="12" name="Rectangle 11"/>
          <p:cNvSpPr/>
          <p:nvPr/>
        </p:nvSpPr>
        <p:spPr>
          <a:xfrm>
            <a:off x="626112" y="6498502"/>
            <a:ext cx="2672206" cy="164019"/>
          </a:xfrm>
          <a:prstGeom prst="rect">
            <a:avLst/>
          </a:prstGeom>
        </p:spPr>
        <p:txBody>
          <a:bodyPr wrap="none" lIns="0" tIns="0" rIns="0" bIns="0">
            <a:spAutoFit/>
          </a:bodyPr>
          <a:lstStyle/>
          <a:p>
            <a:pPr algn="l" rtl="0"/>
            <a:r>
              <a:rPr lang="en-US" sz="1066" b="0" i="0" u="none" strike="noStrike" kern="1200" baseline="0" dirty="0" smtClean="0">
                <a:solidFill>
                  <a:schemeClr val="bg1"/>
                </a:solidFill>
                <a:latin typeface="+mn-lt"/>
                <a:ea typeface="+mn-ea"/>
                <a:cs typeface="Neo Sans Intel"/>
              </a:rPr>
              <a:t>Intel® Confidential — INTERNAL USE ONLY</a:t>
            </a:r>
          </a:p>
        </p:txBody>
      </p:sp>
    </p:spTree>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88825" cy="6358467"/>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92449" y="301124"/>
            <a:ext cx="1875189" cy="1538477"/>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32"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33"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58" name="Picture 57" descr="StackedISWhite.png"/>
          <p:cNvPicPr>
            <a:picLocks noChangeAspect="1"/>
          </p:cNvPicPr>
          <p:nvPr/>
        </p:nvPicPr>
        <p:blipFill>
          <a:blip r:embed="rId3"/>
          <a:stretch>
            <a:fillRect/>
          </a:stretch>
        </p:blipFill>
        <p:spPr>
          <a:xfrm>
            <a:off x="11056288" y="6407851"/>
            <a:ext cx="419545" cy="394592"/>
          </a:xfrm>
          <a:prstGeom prst="rect">
            <a:avLst/>
          </a:prstGeom>
        </p:spPr>
      </p:pic>
      <p:cxnSp>
        <p:nvCxnSpPr>
          <p:cNvPr id="74" name="Straight Connector 73"/>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607326" y="1604434"/>
            <a:ext cx="10967826" cy="4567767"/>
          </a:xfrm>
        </p:spPr>
        <p:txBody>
          <a:bodyPr/>
          <a:lstStyle>
            <a:lvl1pPr>
              <a:defRPr>
                <a:solidFill>
                  <a:srgbClr val="0071C5"/>
                </a:solidFill>
              </a:defRPr>
            </a:lvl1pPr>
            <a:lvl2pPr>
              <a:defRPr sz="2399"/>
            </a:lvl2pPr>
            <a:lvl3pPr>
              <a:defRPr sz="2399"/>
            </a:lvl3pPr>
            <a:lvl4pPr>
              <a:defRPr sz="2133"/>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pPr/>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6439341" y="1257907"/>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
        <p:nvSpPr>
          <p:cNvPr id="10" name="Picture Placeholder 8"/>
          <p:cNvSpPr>
            <a:spLocks noGrp="1"/>
          </p:cNvSpPr>
          <p:nvPr>
            <p:ph type="pic" sz="quarter" idx="14"/>
          </p:nvPr>
        </p:nvSpPr>
        <p:spPr>
          <a:xfrm>
            <a:off x="6439341" y="3791863"/>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6236193" y="1604433"/>
            <a:ext cx="5338961"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326" y="1604434"/>
            <a:ext cx="10967827" cy="4567767"/>
          </a:xfrm>
        </p:spPr>
        <p:txBody>
          <a:bodyPr anchor="ctr" anchorCtr="0"/>
          <a:lstStyle>
            <a:lvl1pPr marL="253937" indent="-253937">
              <a:defRPr sz="4799" b="1" baseline="0">
                <a:solidFill>
                  <a:schemeClr val="accent2"/>
                </a:solidFill>
                <a:latin typeface="+mn-lt"/>
                <a:cs typeface="Intel Clear Light" panose="020B0404020203020204" pitchFamily="34" charset="0"/>
              </a:defRPr>
            </a:lvl1pPr>
            <a:lvl2pPr marL="556545" indent="-300492">
              <a:buFont typeface="Lucida Grande"/>
              <a:buChar char="−"/>
              <a:defRPr sz="1600" baseline="0">
                <a:latin typeface="+mn-lt"/>
                <a:cs typeface="Intel Clear" panose="020B0604020203020204" pitchFamily="34" charset="0"/>
              </a:defRPr>
            </a:lvl2pPr>
            <a:lvl3pPr marL="914171" indent="-304724">
              <a:defRPr sz="1600">
                <a:latin typeface="+mn-lt"/>
              </a:defRPr>
            </a:lvl3pPr>
            <a:lvl4pPr>
              <a:defRPr sz="1466">
                <a:latin typeface="+mn-lt"/>
              </a:defRPr>
            </a:lvl4pPr>
            <a:lvl5pPr>
              <a:defRPr sz="140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88825" cy="6350445"/>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88825" cy="2918271"/>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18" name="Content Placeholder 2"/>
          <p:cNvSpPr>
            <a:spLocks noGrp="1"/>
          </p:cNvSpPr>
          <p:nvPr>
            <p:ph sz="half" idx="1" hasCustomPrompt="1"/>
          </p:nvPr>
        </p:nvSpPr>
        <p:spPr>
          <a:xfrm>
            <a:off x="607326" y="1604433"/>
            <a:ext cx="5341077"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6236193" y="1604433"/>
            <a:ext cx="5338961"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345633" y="6634394"/>
            <a:ext cx="184731" cy="297454"/>
          </a:xfrm>
          <a:prstGeom prst="rect">
            <a:avLst/>
          </a:prstGeom>
          <a:noFill/>
        </p:spPr>
        <p:txBody>
          <a:bodyPr wrap="none" rtlCol="0">
            <a:spAutoFit/>
          </a:bodyPr>
          <a:lstStyle/>
          <a:p>
            <a:endParaRPr lang="en-US" sz="1333" dirty="0" smtClean="0">
              <a:solidFill>
                <a:schemeClr val="tx2"/>
              </a:solidFill>
              <a:cs typeface="Neo Sans Intel"/>
            </a:endParaRPr>
          </a:p>
        </p:txBody>
      </p:sp>
      <p:sp>
        <p:nvSpPr>
          <p:cNvPr id="10"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6194" y="3"/>
            <a:ext cx="5952632" cy="6340821"/>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607326" y="411797"/>
            <a:ext cx="5341075" cy="1158240"/>
          </a:xfrm>
        </p:spPr>
        <p:txBody>
          <a:bodyPr>
            <a:noAutofit/>
          </a:bodyPr>
          <a:lstStyle>
            <a:lvl1pPr>
              <a:defRPr sz="3732"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11631045" y="6394031"/>
            <a:ext cx="373763" cy="365125"/>
          </a:xfrm>
        </p:spPr>
        <p:txBody>
          <a:bodyPr/>
          <a:lstStyle/>
          <a:p>
            <a:fld id="{7DC1BBB0-96F0-4077-A278-0F3FB5C104D3}" type="slidenum">
              <a:rPr lang="en-US" smtClean="0"/>
              <a:pPr/>
              <a:t>‹#›</a:t>
            </a:fld>
            <a:endParaRPr lang="en-US"/>
          </a:p>
        </p:txBody>
      </p:sp>
      <p:sp>
        <p:nvSpPr>
          <p:cNvPr id="17" name="Content Placeholder 2"/>
          <p:cNvSpPr>
            <a:spLocks noGrp="1"/>
          </p:cNvSpPr>
          <p:nvPr>
            <p:ph sz="half" idx="1" hasCustomPrompt="1"/>
          </p:nvPr>
        </p:nvSpPr>
        <p:spPr>
          <a:xfrm>
            <a:off x="607327" y="1766992"/>
            <a:ext cx="5341075"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i="0" baseline="0">
                <a:solidFill>
                  <a:srgbClr val="F3D54E"/>
                </a:solidFill>
                <a:latin typeface="Intel Clear"/>
                <a:cs typeface="Intel Clear"/>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326" y="2979843"/>
            <a:ext cx="10360501" cy="1500187"/>
          </a:xfrm>
        </p:spPr>
        <p:txBody>
          <a:bodyPr anchor="t" anchorCtr="0">
            <a:noAutofit/>
          </a:bodyPr>
          <a:lstStyle>
            <a:lvl1pPr marL="0" indent="0">
              <a:buNone/>
              <a:defRPr sz="5332"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7" name="Title 1"/>
          <p:cNvSpPr>
            <a:spLocks noGrp="1"/>
          </p:cNvSpPr>
          <p:nvPr>
            <p:ph type="title" hasCustomPrompt="1"/>
          </p:nvPr>
        </p:nvSpPr>
        <p:spPr>
          <a:xfrm>
            <a:off x="607326" y="1469059"/>
            <a:ext cx="10360501" cy="1362075"/>
          </a:xfrm>
        </p:spPr>
        <p:txBody>
          <a:bodyPr anchor="b" anchorCtr="0">
            <a:noAutofit/>
          </a:bodyPr>
          <a:lstStyle>
            <a:lvl1pPr algn="l">
              <a:lnSpc>
                <a:spcPct val="80000"/>
              </a:lnSpc>
              <a:defRPr sz="5332"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3013451"/>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607326" y="4465049"/>
            <a:ext cx="10360501"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2"/>
            <a:ext cx="12188825" cy="3432175"/>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7DC1BBB0-96F0-4077-A278-0F3FB5C104D3}" type="slidenum">
              <a:rPr lang="en-US" smtClean="0"/>
              <a:t>‹#›</a:t>
            </a:fld>
            <a:endParaRPr lang="en-US"/>
          </a:p>
        </p:txBody>
      </p:sp>
      <p:sp>
        <p:nvSpPr>
          <p:cNvPr id="6"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12188825" cy="6358467"/>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a:solidFill>
                <a:srgbClr val="0071C5"/>
              </a:solidFill>
            </a:endParaRPr>
          </a:p>
        </p:txBody>
      </p:sp>
      <p:pic>
        <p:nvPicPr>
          <p:cNvPr id="5" name="Picture 4" descr="StackedISWhite.png"/>
          <p:cNvPicPr>
            <a:picLocks noChangeAspect="1"/>
          </p:cNvPicPr>
          <p:nvPr/>
        </p:nvPicPr>
        <p:blipFill>
          <a:blip r:embed="rId2"/>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5999"/>
            </a:lvl1pPr>
          </a:lstStyle>
          <a:p>
            <a:r>
              <a:rPr lang="en-US" smtClean="0"/>
              <a:t>Click to edit Master title style</a:t>
            </a:r>
            <a:endParaRPr lang="en-US"/>
          </a:p>
        </p:txBody>
      </p:sp>
      <p:sp>
        <p:nvSpPr>
          <p:cNvPr id="3" name="Subtitle 2"/>
          <p:cNvSpPr>
            <a:spLocks noGrp="1"/>
          </p:cNvSpPr>
          <p:nvPr>
            <p:ph type="subTitle" idx="1"/>
          </p:nvPr>
        </p:nvSpPr>
        <p:spPr>
          <a:xfrm>
            <a:off x="1523603" y="3602037"/>
            <a:ext cx="9141619" cy="1655763"/>
          </a:xfrm>
        </p:spPr>
        <p:txBody>
          <a:bodyPr/>
          <a:lstStyle>
            <a:lvl1pPr marL="0" indent="0" algn="ctr">
              <a:buNone/>
              <a:defRPr sz="2399"/>
            </a:lvl1pPr>
            <a:lvl2pPr marL="457086" indent="0" algn="ctr">
              <a:buNone/>
              <a:defRPr sz="2000"/>
            </a:lvl2pPr>
            <a:lvl3pPr marL="914171" indent="0" algn="ctr">
              <a:buNone/>
              <a:defRPr sz="1800"/>
            </a:lvl3pPr>
            <a:lvl4pPr marL="1371257" indent="0" algn="ctr">
              <a:buNone/>
              <a:defRPr sz="1600"/>
            </a:lvl4pPr>
            <a:lvl5pPr marL="1828343" indent="0" algn="ctr">
              <a:buNone/>
              <a:defRPr sz="1600"/>
            </a:lvl5pPr>
            <a:lvl6pPr marL="2285429" indent="0" algn="ctr">
              <a:buNone/>
              <a:defRPr sz="1600"/>
            </a:lvl6pPr>
            <a:lvl7pPr marL="2742514" indent="0" algn="ctr">
              <a:buNone/>
              <a:defRPr sz="1600"/>
            </a:lvl7pPr>
            <a:lvl8pPr marL="3199600" indent="0" algn="ctr">
              <a:buNone/>
              <a:defRPr sz="1600"/>
            </a:lvl8pPr>
            <a:lvl9pPr marL="3656686"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837982" y="6356351"/>
            <a:ext cx="2742486" cy="365125"/>
          </a:xfrm>
          <a:prstGeom prst="rect">
            <a:avLst/>
          </a:prstGeom>
        </p:spPr>
        <p:txBody>
          <a:bodyPr/>
          <a:lstStyle/>
          <a:p>
            <a:fld id="{C2C6F8EA-316C-41DE-B9A4-EDCC3A85ED9A}" type="datetimeFigureOut">
              <a:rPr lang="en-US" smtClean="0"/>
              <a:pPr/>
              <a:t>1/25/2018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5180250" y="6356351"/>
            <a:ext cx="1218883" cy="365125"/>
          </a:xfrm>
          <a:prstGeom prst="rect">
            <a:avLst/>
          </a:prstGeom>
        </p:spPr>
        <p:txBody>
          <a:bodyPr/>
          <a:lstStyle/>
          <a:p>
            <a:fld id="{C2C6F8EA-316C-41DE-B9A4-EDCC3A85ED9A}" type="datetimeFigureOut">
              <a:rPr lang="en-US"/>
              <a:t>1/25/2018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5516019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2" name="Title Placeholder 1"/>
          <p:cNvSpPr>
            <a:spLocks noGrp="1"/>
          </p:cNvSpPr>
          <p:nvPr>
            <p:ph type="title"/>
          </p:nvPr>
        </p:nvSpPr>
        <p:spPr>
          <a:xfrm>
            <a:off x="607326" y="413507"/>
            <a:ext cx="10969943" cy="115824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607326" y="1604434"/>
            <a:ext cx="10967826" cy="4567767"/>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6"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16" name="Picture 15" descr="StackedISWhite.png"/>
          <p:cNvPicPr>
            <a:picLocks noChangeAspect="1"/>
          </p:cNvPicPr>
          <p:nvPr/>
        </p:nvPicPr>
        <p:blipFill>
          <a:blip r:embed="rId21"/>
          <a:stretch>
            <a:fillRect/>
          </a:stretch>
        </p:blipFill>
        <p:spPr>
          <a:xfrm>
            <a:off x="11056288" y="6407851"/>
            <a:ext cx="419545" cy="394592"/>
          </a:xfrm>
          <a:prstGeom prst="rect">
            <a:avLst/>
          </a:prstGeom>
        </p:spPr>
      </p:pic>
      <p:cxnSp>
        <p:nvCxnSpPr>
          <p:cNvPr id="37" name="Straight Connector 36"/>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65559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iming>
    <p:tnLst>
      <p:par>
        <p:cTn id="1" dur="indefinite" restart="never" nodeType="tmRoot"/>
      </p:par>
    </p:tnLst>
  </p:timing>
  <p:txStyles>
    <p:titleStyle>
      <a:lvl1pPr algn="l" defTabSz="609448" rtl="0" eaLnBrk="1" latinLnBrk="0" hangingPunct="1">
        <a:lnSpc>
          <a:spcPct val="100000"/>
        </a:lnSpc>
        <a:spcBef>
          <a:spcPct val="0"/>
        </a:spcBef>
        <a:buNone/>
        <a:defRPr sz="3732"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609448" rtl="0" eaLnBrk="1" latinLnBrk="0" hangingPunct="1">
        <a:spcBef>
          <a:spcPts val="1600"/>
        </a:spcBef>
        <a:spcAft>
          <a:spcPts val="0"/>
        </a:spcAft>
        <a:buFont typeface="Wingdings" panose="05000000000000000000" pitchFamily="2" charset="2"/>
        <a:buNone/>
        <a:defRPr sz="2399" b="0" kern="1200">
          <a:solidFill>
            <a:srgbClr val="0071C5"/>
          </a:solidFill>
          <a:latin typeface="+mn-lt"/>
          <a:ea typeface="+mn-ea"/>
          <a:cs typeface="Intel Clear" panose="020B0604020203020204" pitchFamily="34" charset="0"/>
        </a:defRPr>
      </a:lvl1pPr>
      <a:lvl2pPr marL="300492" indent="-300492" algn="l" defTabSz="609448"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810" indent="-304724" algn="l" defTabSz="609448" rtl="0" eaLnBrk="1" latinLnBrk="0" hangingPunct="1">
        <a:spcBef>
          <a:spcPts val="1066"/>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2961" indent="-304724" algn="l" defTabSz="609448" rtl="0" eaLnBrk="1" latinLnBrk="0" hangingPunct="1">
        <a:spcBef>
          <a:spcPct val="20000"/>
        </a:spcBef>
        <a:buFont typeface="Arial"/>
        <a:buChar char="–"/>
        <a:defRPr sz="1866" kern="1200">
          <a:solidFill>
            <a:srgbClr val="003C71"/>
          </a:solidFill>
          <a:latin typeface="+mn-lt"/>
          <a:ea typeface="+mn-ea"/>
          <a:cs typeface="Intel Clear" panose="020B0604020203020204" pitchFamily="34" charset="0"/>
        </a:defRPr>
      </a:lvl4pPr>
      <a:lvl5pPr marL="1758511" indent="-304724" algn="l" defTabSz="609448" rtl="0" eaLnBrk="1" latinLnBrk="0" hangingPunct="1">
        <a:spcBef>
          <a:spcPct val="20000"/>
        </a:spcBef>
        <a:buFont typeface="Intel Clear" panose="020B0604020203020204" pitchFamily="34" charset="0"/>
        <a:buChar char="–"/>
        <a:defRPr sz="1866" kern="1200">
          <a:solidFill>
            <a:srgbClr val="003C71"/>
          </a:solidFill>
          <a:latin typeface="+mn-lt"/>
          <a:ea typeface="+mn-ea"/>
          <a:cs typeface="Intel Clear" panose="020B0604020203020204" pitchFamily="34" charset="0"/>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image" Target="../media/image60.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image" Target="../media/image80.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image" Target="../media/image100.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hyperlink" Target="http://setosa.io/ev/image-kernels/" TargetMode="External"/><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hyperlink" Target="http://cs231n.github.io/convolutional-networks/" TargetMode="Externa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dirty="0" smtClean="0"/>
              <a:t>Introduction to </a:t>
            </a:r>
            <a:br>
              <a:rPr lang="en-US" sz="4400" dirty="0" smtClean="0"/>
            </a:br>
            <a:r>
              <a:rPr lang="en-US" sz="4400" dirty="0" smtClean="0"/>
              <a:t>Convolutional Networks</a:t>
            </a:r>
            <a:endParaRPr lang="en-US" sz="4400" dirty="0"/>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2000" dirty="0"/>
              <a:t>This presentation is for informational purposes only. INTEL MAKES NO WARRANTIES, EXPRESS OR IMPLIED, IN THIS SUMMARY. </a:t>
            </a:r>
          </a:p>
          <a:p>
            <a:r>
              <a:rPr lang="en-US" sz="2000" dirty="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2000" dirty="0">
                <a:hlinkClick r:id="rId2"/>
              </a:rPr>
              <a:t>intel.com</a:t>
            </a:r>
            <a:r>
              <a:rPr lang="en-US" sz="2000" dirty="0"/>
              <a:t>. </a:t>
            </a:r>
          </a:p>
          <a:p>
            <a:r>
              <a:rPr lang="en-US" sz="2000" dirty="0"/>
              <a:t>This sample source code is released under the </a:t>
            </a:r>
            <a:r>
              <a:rPr lang="en-US" sz="2000" dirty="0">
                <a:hlinkClick r:id="rId3"/>
              </a:rPr>
              <a:t>Intel Sample Source Code License Agreement</a:t>
            </a:r>
            <a:r>
              <a:rPr lang="en-US" sz="2000" dirty="0"/>
              <a:t>. </a:t>
            </a:r>
          </a:p>
          <a:p>
            <a:r>
              <a:rPr lang="en-US" sz="2000" dirty="0"/>
              <a:t>Intel and the Intel logo are trademarks of Intel Corporation in the U.S. and/or other countries. </a:t>
            </a:r>
          </a:p>
          <a:p>
            <a:r>
              <a:rPr lang="en-US" sz="2000" dirty="0"/>
              <a:t>*Other names and brands may be claimed as the property of others. </a:t>
            </a:r>
          </a:p>
          <a:p>
            <a:r>
              <a:rPr lang="en-US" sz="2000" dirty="0"/>
              <a:t>Copyright © 2017, Intel Corporation. All rights reserved. </a:t>
            </a:r>
            <a:endParaRPr lang="en-US" sz="2000" dirty="0"/>
          </a:p>
        </p:txBody>
      </p:sp>
    </p:spTree>
    <p:extLst>
      <p:ext uri="{BB962C8B-B14F-4D97-AF65-F5344CB8AC3E}">
        <p14:creationId xmlns:p14="http://schemas.microsoft.com/office/powerpoint/2010/main" val="1144918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Last time:</a:t>
            </a:r>
            <a:endParaRPr lang="en-US" dirty="0"/>
          </a:p>
        </p:txBody>
      </p:sp>
      <p:sp>
        <p:nvSpPr>
          <p:cNvPr id="3" name="Content Placeholder 2"/>
          <p:cNvSpPr>
            <a:spLocks noGrp="1"/>
          </p:cNvSpPr>
          <p:nvPr>
            <p:ph idx="1"/>
          </p:nvPr>
        </p:nvSpPr>
        <p:spPr/>
        <p:txBody>
          <a:bodyPr>
            <a:normAutofit fontScale="92500" lnSpcReduction="10000"/>
          </a:bodyPr>
          <a:lstStyle/>
          <a:p>
            <a:r>
              <a:rPr lang="en-US" sz="2400" dirty="0" smtClean="0"/>
              <a:t>Managed to get seemingly good results with basic network</a:t>
            </a:r>
          </a:p>
          <a:p>
            <a:endParaRPr lang="en-US" sz="2400" dirty="0" smtClean="0"/>
          </a:p>
          <a:p>
            <a:r>
              <a:rPr lang="en-US" sz="2400" dirty="0" smtClean="0"/>
              <a:t>98% Test Accuracy on MNIST:</a:t>
            </a:r>
          </a:p>
          <a:p>
            <a:pPr marL="342900" indent="-342900">
              <a:buFont typeface="Arial" charset="0"/>
              <a:buChar char="•"/>
            </a:pPr>
            <a:r>
              <a:rPr lang="en-US" sz="2400" dirty="0" err="1" smtClean="0"/>
              <a:t>ReLU</a:t>
            </a:r>
            <a:r>
              <a:rPr lang="en-US" sz="2400" dirty="0" smtClean="0"/>
              <a:t>, </a:t>
            </a:r>
          </a:p>
          <a:p>
            <a:pPr marL="342900" indent="-342900">
              <a:buFont typeface="Arial" charset="0"/>
              <a:buChar char="•"/>
            </a:pPr>
            <a:r>
              <a:rPr lang="en-US" sz="2400" dirty="0" smtClean="0"/>
              <a:t>3 hidden layers of depth 1200</a:t>
            </a:r>
          </a:p>
          <a:p>
            <a:pPr marL="342900" indent="-342900">
              <a:buFont typeface="Arial" charset="0"/>
              <a:buChar char="•"/>
            </a:pPr>
            <a:r>
              <a:rPr lang="en-US" sz="2400" dirty="0" smtClean="0"/>
              <a:t>15 epochs</a:t>
            </a:r>
          </a:p>
          <a:p>
            <a:endParaRPr lang="en-US" sz="2400" dirty="0" smtClean="0"/>
          </a:p>
          <a:p>
            <a:r>
              <a:rPr lang="en-US" sz="2400" dirty="0" smtClean="0"/>
              <a:t>98% for a minimal amount of training time seems pretty good!</a:t>
            </a:r>
          </a:p>
          <a:p>
            <a:r>
              <a:rPr lang="en-US" sz="2400" dirty="0" smtClean="0"/>
              <a:t>What are we missing?</a:t>
            </a:r>
            <a:endParaRPr lang="en-US" sz="2400" dirty="0"/>
          </a:p>
        </p:txBody>
      </p:sp>
    </p:spTree>
    <p:extLst>
      <p:ext uri="{BB962C8B-B14F-4D97-AF65-F5344CB8AC3E}">
        <p14:creationId xmlns:p14="http://schemas.microsoft.com/office/powerpoint/2010/main" val="7907881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Considerations</a:t>
            </a:r>
            <a:endParaRPr lang="en-US" dirty="0"/>
          </a:p>
        </p:txBody>
      </p:sp>
      <p:sp>
        <p:nvSpPr>
          <p:cNvPr id="3" name="Content Placeholder 2"/>
          <p:cNvSpPr>
            <a:spLocks noGrp="1"/>
          </p:cNvSpPr>
          <p:nvPr>
            <p:ph idx="1"/>
          </p:nvPr>
        </p:nvSpPr>
        <p:spPr/>
        <p:txBody>
          <a:bodyPr/>
          <a:lstStyle/>
          <a:p>
            <a:r>
              <a:rPr lang="en-US" dirty="0" smtClean="0"/>
              <a:t>MNIST has relatively clean images</a:t>
            </a:r>
          </a:p>
          <a:p>
            <a:endParaRPr lang="en-US" dirty="0" smtClean="0"/>
          </a:p>
          <a:p>
            <a:r>
              <a:rPr lang="en-US" dirty="0" smtClean="0"/>
              <a:t>Numbers are:</a:t>
            </a:r>
          </a:p>
          <a:p>
            <a:pPr lvl="1"/>
            <a:r>
              <a:rPr lang="en-US" dirty="0" smtClean="0"/>
              <a:t>Centered</a:t>
            </a:r>
          </a:p>
          <a:p>
            <a:pPr lvl="1"/>
            <a:r>
              <a:rPr lang="en-US" dirty="0" smtClean="0"/>
              <a:t>Approximately same size</a:t>
            </a:r>
          </a:p>
          <a:p>
            <a:endParaRPr lang="en-US" dirty="0" smtClean="0"/>
          </a:p>
          <a:p>
            <a:r>
              <a:rPr lang="en-US" dirty="0" smtClean="0"/>
              <a:t>Image only has number in it - background is black</a:t>
            </a:r>
          </a:p>
        </p:txBody>
      </p:sp>
    </p:spTree>
    <p:extLst>
      <p:ext uri="{BB962C8B-B14F-4D97-AF65-F5344CB8AC3E}">
        <p14:creationId xmlns:p14="http://schemas.microsoft.com/office/powerpoint/2010/main" val="20252970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1: Translation invariance</a:t>
            </a:r>
            <a:endParaRPr lang="en-US" dirty="0"/>
          </a:p>
        </p:txBody>
      </p:sp>
      <p:sp>
        <p:nvSpPr>
          <p:cNvPr id="3" name="Content Placeholder 2"/>
          <p:cNvSpPr>
            <a:spLocks noGrp="1"/>
          </p:cNvSpPr>
          <p:nvPr>
            <p:ph idx="1"/>
          </p:nvPr>
        </p:nvSpPr>
        <p:spPr>
          <a:xfrm>
            <a:off x="1593436" y="1600200"/>
            <a:ext cx="9911176" cy="1447800"/>
          </a:xfrm>
        </p:spPr>
        <p:txBody>
          <a:bodyPr>
            <a:normAutofit fontScale="92500"/>
          </a:bodyPr>
          <a:lstStyle/>
          <a:p>
            <a:r>
              <a:rPr lang="en-US" dirty="0" smtClean="0"/>
              <a:t>Each pixel is independent input</a:t>
            </a:r>
          </a:p>
          <a:p>
            <a:r>
              <a:rPr lang="en-US" dirty="0" smtClean="0"/>
              <a:t>If we translate the input, the model breaks down</a:t>
            </a:r>
          </a:p>
          <a:p>
            <a:pPr lvl="1"/>
            <a:r>
              <a:rPr lang="en-US" dirty="0"/>
              <a:t>W</a:t>
            </a:r>
            <a:r>
              <a:rPr lang="en-US" dirty="0" smtClean="0"/>
              <a:t>e need to train (and test) models on translated data for more realistic scenario</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4412" y="3429000"/>
            <a:ext cx="3086100" cy="30607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3612" y="3408417"/>
            <a:ext cx="3086100" cy="3073400"/>
          </a:xfrm>
          <a:prstGeom prst="rect">
            <a:avLst/>
          </a:prstGeom>
        </p:spPr>
      </p:pic>
      <p:cxnSp>
        <p:nvCxnSpPr>
          <p:cNvPr id="7" name="Straight Arrow Connector 6"/>
          <p:cNvCxnSpPr/>
          <p:nvPr/>
        </p:nvCxnSpPr>
        <p:spPr>
          <a:xfrm>
            <a:off x="5484812" y="4953000"/>
            <a:ext cx="1600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90284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2: Huge number of parameters</a:t>
            </a:r>
            <a:endParaRPr lang="en-US" dirty="0"/>
          </a:p>
        </p:txBody>
      </p:sp>
      <p:sp>
        <p:nvSpPr>
          <p:cNvPr id="3" name="Content Placeholder 2"/>
          <p:cNvSpPr>
            <a:spLocks noGrp="1"/>
          </p:cNvSpPr>
          <p:nvPr>
            <p:ph idx="1"/>
          </p:nvPr>
        </p:nvSpPr>
        <p:spPr/>
        <p:txBody>
          <a:bodyPr/>
          <a:lstStyle/>
          <a:p>
            <a:r>
              <a:rPr lang="en-US" dirty="0" smtClean="0"/>
              <a:t>1200x1200 matrix of weights = 1.4 </a:t>
            </a:r>
            <a:r>
              <a:rPr lang="en-US" i="1" dirty="0" smtClean="0"/>
              <a:t>million</a:t>
            </a:r>
            <a:r>
              <a:rPr lang="en-US" dirty="0" smtClean="0"/>
              <a:t> weights</a:t>
            </a:r>
          </a:p>
          <a:p>
            <a:pPr marL="457200" indent="-457200">
              <a:buFont typeface="Arial" charset="0"/>
              <a:buChar char="•"/>
            </a:pPr>
            <a:r>
              <a:rPr lang="en-US" dirty="0" smtClean="0"/>
              <a:t>More weights </a:t>
            </a:r>
            <a:r>
              <a:rPr lang="en-US" dirty="0" smtClean="0">
                <a:sym typeface="Wingdings"/>
              </a:rPr>
              <a:t></a:t>
            </a:r>
            <a:r>
              <a:rPr lang="en-US" dirty="0" smtClean="0"/>
              <a:t> need more data</a:t>
            </a:r>
          </a:p>
          <a:p>
            <a:pPr marL="457200" indent="-457200">
              <a:buFont typeface="Arial" charset="0"/>
              <a:buChar char="•"/>
            </a:pPr>
            <a:r>
              <a:rPr lang="en-US" dirty="0" smtClean="0"/>
              <a:t>More weights </a:t>
            </a:r>
            <a:r>
              <a:rPr lang="en-US" dirty="0" smtClean="0">
                <a:sym typeface="Wingdings"/>
              </a:rPr>
              <a:t> hard to scale on hardware</a:t>
            </a:r>
          </a:p>
          <a:p>
            <a:pPr lvl="1"/>
            <a:r>
              <a:rPr lang="en-US" dirty="0" smtClean="0">
                <a:sym typeface="Wingdings"/>
              </a:rPr>
              <a:t>Memory constraints!</a:t>
            </a:r>
          </a:p>
          <a:p>
            <a:endParaRPr lang="en-US" dirty="0" smtClean="0"/>
          </a:p>
          <a:p>
            <a:r>
              <a:rPr lang="en-US" dirty="0" smtClean="0"/>
              <a:t>What can we do?</a:t>
            </a:r>
            <a:endParaRPr lang="en-US" dirty="0"/>
          </a:p>
        </p:txBody>
      </p:sp>
    </p:spTree>
    <p:extLst>
      <p:ext uri="{BB962C8B-B14F-4D97-AF65-F5344CB8AC3E}">
        <p14:creationId xmlns:p14="http://schemas.microsoft.com/office/powerpoint/2010/main" val="5605380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Kernels</a:t>
            </a:r>
            <a:endParaRPr lang="en-US" dirty="0"/>
          </a:p>
        </p:txBody>
      </p:sp>
    </p:spTree>
    <p:extLst>
      <p:ext uri="{BB962C8B-B14F-4D97-AF65-F5344CB8AC3E}">
        <p14:creationId xmlns:p14="http://schemas.microsoft.com/office/powerpoint/2010/main" val="9582442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are kernels?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2400" dirty="0" smtClean="0"/>
                  <a:t>Square grid of weights overlaid on image, centered on one pixel, and moved around the image</a:t>
                </a:r>
              </a:p>
              <a:p>
                <a:r>
                  <a:rPr lang="en-US" sz="2400" dirty="0" smtClean="0"/>
                  <a:t>Each weight multiplied with pixel underneath it</a:t>
                </a:r>
              </a:p>
              <a:p>
                <a:r>
                  <a:rPr lang="en-US" sz="2400" dirty="0" smtClean="0"/>
                  <a:t>Output for the centered pixel is </a:t>
                </a:r>
                <a14:m>
                  <m:oMath xmlns:m="http://schemas.openxmlformats.org/officeDocument/2006/math">
                    <m:nary>
                      <m:naryPr>
                        <m:chr m:val="∑"/>
                        <m:ctrlPr>
                          <a:rPr lang="is-IS" sz="2400" i="1" smtClean="0">
                            <a:latin typeface="Cambria Math" panose="02040503050406030204" pitchFamily="18" charset="0"/>
                          </a:rPr>
                        </m:ctrlPr>
                      </m:naryPr>
                      <m:sub>
                        <m:r>
                          <m:rPr>
                            <m:brk m:alnAt="23"/>
                          </m:rPr>
                          <a:rPr lang="en-US" sz="2400" b="0" i="1" smtClean="0">
                            <a:latin typeface="Cambria Math" charset="0"/>
                          </a:rPr>
                          <m:t>𝑝</m:t>
                        </m:r>
                        <m:r>
                          <a:rPr lang="en-US" sz="2400" b="0" i="1" smtClean="0">
                            <a:latin typeface="Cambria Math" charset="0"/>
                          </a:rPr>
                          <m:t>=1</m:t>
                        </m:r>
                      </m:sub>
                      <m:sup>
                        <m:r>
                          <a:rPr lang="en-US" sz="2400" b="0" i="1" smtClean="0">
                            <a:latin typeface="Cambria Math" charset="0"/>
                          </a:rPr>
                          <m:t>𝑃</m:t>
                        </m:r>
                      </m:sup>
                      <m:e>
                        <m:sSub>
                          <m:sSubPr>
                            <m:ctrlPr>
                              <a:rPr lang="en-US" sz="2400" b="0" i="1" smtClean="0">
                                <a:latin typeface="Cambria Math" panose="02040503050406030204" pitchFamily="18" charset="0"/>
                              </a:rPr>
                            </m:ctrlPr>
                          </m:sSubPr>
                          <m:e>
                            <m:r>
                              <a:rPr lang="en-US" sz="2400" b="0" i="1" smtClean="0">
                                <a:latin typeface="Cambria Math" charset="0"/>
                              </a:rPr>
                              <m:t>𝑊</m:t>
                            </m:r>
                          </m:e>
                          <m:sub>
                            <m:r>
                              <a:rPr lang="en-US" sz="2400" b="0" i="1" smtClean="0">
                                <a:latin typeface="Cambria Math" charset="0"/>
                              </a:rPr>
                              <m:t>𝑝</m:t>
                            </m:r>
                          </m:sub>
                        </m:sSub>
                        <m:r>
                          <a:rPr lang="en-US" sz="2400" b="0" i="1" smtClean="0">
                            <a:latin typeface="Cambria Math" charset="0"/>
                          </a:rPr>
                          <m:t>⋅</m:t>
                        </m:r>
                        <m:r>
                          <a:rPr lang="en-US" sz="2400" b="0" i="1" smtClean="0">
                            <a:latin typeface="Cambria Math" charset="0"/>
                          </a:rPr>
                          <m:t>𝑝𝑖𝑥𝑒</m:t>
                        </m:r>
                        <m:sSub>
                          <m:sSubPr>
                            <m:ctrlPr>
                              <a:rPr lang="en-US" sz="2400" b="0" i="1" smtClean="0">
                                <a:latin typeface="Cambria Math" panose="02040503050406030204" pitchFamily="18" charset="0"/>
                              </a:rPr>
                            </m:ctrlPr>
                          </m:sSubPr>
                          <m:e>
                            <m:r>
                              <a:rPr lang="en-US" sz="2400" b="0" i="1" smtClean="0">
                                <a:latin typeface="Cambria Math" charset="0"/>
                              </a:rPr>
                              <m:t>𝑙</m:t>
                            </m:r>
                          </m:e>
                          <m:sub>
                            <m:r>
                              <a:rPr lang="en-US" sz="2400" b="0" i="1" smtClean="0">
                                <a:latin typeface="Cambria Math" charset="0"/>
                              </a:rPr>
                              <m:t>𝑝</m:t>
                            </m:r>
                          </m:sub>
                        </m:sSub>
                      </m:e>
                    </m:nary>
                  </m:oMath>
                </a14:m>
                <a:endParaRPr lang="en-US" sz="2400" dirty="0" smtClean="0"/>
              </a:p>
              <a:p>
                <a:r>
                  <a:rPr lang="en-US" sz="2400" dirty="0" smtClean="0"/>
                  <a:t>Used for traditional image processing techniques:</a:t>
                </a:r>
              </a:p>
              <a:p>
                <a:pPr lvl="1"/>
                <a:r>
                  <a:rPr lang="en-US" sz="2000" dirty="0" smtClean="0"/>
                  <a:t>Blur</a:t>
                </a:r>
              </a:p>
              <a:p>
                <a:pPr lvl="1"/>
                <a:r>
                  <a:rPr lang="en-US" sz="2000" dirty="0" smtClean="0"/>
                  <a:t>Sharpen</a:t>
                </a:r>
              </a:p>
              <a:p>
                <a:pPr lvl="1"/>
                <a:r>
                  <a:rPr lang="en-US" sz="2000" dirty="0" smtClean="0"/>
                  <a:t>Edge detection</a:t>
                </a:r>
              </a:p>
              <a:p>
                <a:pPr lvl="1"/>
                <a:r>
                  <a:rPr lang="en-US" sz="2000" dirty="0" smtClean="0"/>
                  <a:t>Emboss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935" t="-1867" r="-2430"/>
                </a:stretch>
              </a:blipFill>
            </p:spPr>
            <p:txBody>
              <a:bodyPr/>
              <a:lstStyle/>
              <a:p>
                <a:r>
                  <a:rPr lang="en-US">
                    <a:noFill/>
                  </a:rPr>
                  <a:t> </a:t>
                </a:r>
              </a:p>
            </p:txBody>
          </p:sp>
        </mc:Fallback>
      </mc:AlternateContent>
    </p:spTree>
    <p:extLst>
      <p:ext uri="{BB962C8B-B14F-4D97-AF65-F5344CB8AC3E}">
        <p14:creationId xmlns:p14="http://schemas.microsoft.com/office/powerpoint/2010/main" val="21259359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3x3</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0612" y="2209800"/>
            <a:ext cx="1981200" cy="1981200"/>
          </a:xfrm>
          <a:prstGeom prst="rect">
            <a:avLst/>
          </a:prstGeom>
        </p:spPr>
      </p:pic>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79513" y="2209800"/>
            <a:ext cx="1981200" cy="198120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09012" y="2209800"/>
            <a:ext cx="1981200" cy="1981200"/>
          </a:xfrm>
          <a:prstGeom prst="rect">
            <a:avLst/>
          </a:prstGeom>
        </p:spPr>
      </p:pic>
      <p:sp>
        <p:nvSpPr>
          <p:cNvPr id="9" name="TextBox 8"/>
          <p:cNvSpPr txBox="1"/>
          <p:nvPr/>
        </p:nvSpPr>
        <p:spPr>
          <a:xfrm>
            <a:off x="2995986" y="1749187"/>
            <a:ext cx="710451" cy="369332"/>
          </a:xfrm>
          <a:prstGeom prst="rect">
            <a:avLst/>
          </a:prstGeom>
          <a:noFill/>
        </p:spPr>
        <p:txBody>
          <a:bodyPr wrap="none" rtlCol="0">
            <a:spAutoFit/>
          </a:bodyPr>
          <a:lstStyle/>
          <a:p>
            <a:r>
              <a:rPr lang="en-US" dirty="0" smtClean="0"/>
              <a:t>Input</a:t>
            </a:r>
            <a:endParaRPr lang="en-US" dirty="0"/>
          </a:p>
        </p:txBody>
      </p:sp>
      <p:sp>
        <p:nvSpPr>
          <p:cNvPr id="10" name="TextBox 9"/>
          <p:cNvSpPr txBox="1"/>
          <p:nvPr/>
        </p:nvSpPr>
        <p:spPr>
          <a:xfrm>
            <a:off x="5865812" y="1749187"/>
            <a:ext cx="856325" cy="369332"/>
          </a:xfrm>
          <a:prstGeom prst="rect">
            <a:avLst/>
          </a:prstGeom>
          <a:noFill/>
        </p:spPr>
        <p:txBody>
          <a:bodyPr wrap="none" rtlCol="0">
            <a:spAutoFit/>
          </a:bodyPr>
          <a:lstStyle/>
          <a:p>
            <a:r>
              <a:rPr lang="en-US" smtClean="0"/>
              <a:t>Kernel</a:t>
            </a:r>
            <a:endParaRPr lang="en-US"/>
          </a:p>
        </p:txBody>
      </p:sp>
      <p:sp>
        <p:nvSpPr>
          <p:cNvPr id="11" name="TextBox 10"/>
          <p:cNvSpPr txBox="1"/>
          <p:nvPr/>
        </p:nvSpPr>
        <p:spPr>
          <a:xfrm>
            <a:off x="9134765" y="1749187"/>
            <a:ext cx="922047" cy="369332"/>
          </a:xfrm>
          <a:prstGeom prst="rect">
            <a:avLst/>
          </a:prstGeom>
          <a:noFill/>
        </p:spPr>
        <p:txBody>
          <a:bodyPr wrap="none" rtlCol="0">
            <a:spAutoFit/>
          </a:bodyPr>
          <a:lstStyle/>
          <a:p>
            <a:r>
              <a:rPr lang="en-US" smtClean="0"/>
              <a:t>Output</a:t>
            </a:r>
            <a:endParaRPr lang="en-US"/>
          </a:p>
        </p:txBody>
      </p:sp>
      <p:sp>
        <p:nvSpPr>
          <p:cNvPr id="12" name="TextBox 11"/>
          <p:cNvSpPr txBox="1"/>
          <p:nvPr/>
        </p:nvSpPr>
        <p:spPr>
          <a:xfrm>
            <a:off x="254717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3" name="TextBox 12"/>
          <p:cNvSpPr txBox="1"/>
          <p:nvPr/>
        </p:nvSpPr>
        <p:spPr>
          <a:xfrm>
            <a:off x="3173919"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4" name="TextBox 13"/>
          <p:cNvSpPr txBox="1"/>
          <p:nvPr/>
        </p:nvSpPr>
        <p:spPr>
          <a:xfrm>
            <a:off x="380841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5" name="TextBox 14"/>
          <p:cNvSpPr txBox="1"/>
          <p:nvPr/>
        </p:nvSpPr>
        <p:spPr>
          <a:xfrm>
            <a:off x="254717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6" name="TextBox 15"/>
          <p:cNvSpPr txBox="1"/>
          <p:nvPr/>
        </p:nvSpPr>
        <p:spPr>
          <a:xfrm>
            <a:off x="3173919"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7" name="TextBox 16"/>
          <p:cNvSpPr txBox="1"/>
          <p:nvPr/>
        </p:nvSpPr>
        <p:spPr>
          <a:xfrm>
            <a:off x="380841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8" name="TextBox 17"/>
          <p:cNvSpPr txBox="1"/>
          <p:nvPr/>
        </p:nvSpPr>
        <p:spPr>
          <a:xfrm>
            <a:off x="254717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9" name="TextBox 18"/>
          <p:cNvSpPr txBox="1"/>
          <p:nvPr/>
        </p:nvSpPr>
        <p:spPr>
          <a:xfrm>
            <a:off x="3173919"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0" name="TextBox 19"/>
          <p:cNvSpPr txBox="1"/>
          <p:nvPr/>
        </p:nvSpPr>
        <p:spPr>
          <a:xfrm>
            <a:off x="380841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1" name="TextBox 20"/>
          <p:cNvSpPr txBox="1"/>
          <p:nvPr/>
        </p:nvSpPr>
        <p:spPr>
          <a:xfrm>
            <a:off x="5332412" y="2336519"/>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2" name="TextBox 21"/>
          <p:cNvSpPr txBox="1"/>
          <p:nvPr/>
        </p:nvSpPr>
        <p:spPr>
          <a:xfrm>
            <a:off x="6095935"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3" name="TextBox 22"/>
          <p:cNvSpPr txBox="1"/>
          <p:nvPr/>
        </p:nvSpPr>
        <p:spPr>
          <a:xfrm>
            <a:off x="6730428"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4" name="TextBox 23"/>
          <p:cNvSpPr txBox="1"/>
          <p:nvPr/>
        </p:nvSpPr>
        <p:spPr>
          <a:xfrm>
            <a:off x="5332412" y="2969567"/>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5" name="TextBox 24"/>
          <p:cNvSpPr txBox="1"/>
          <p:nvPr/>
        </p:nvSpPr>
        <p:spPr>
          <a:xfrm>
            <a:off x="6095935"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6" name="TextBox 25"/>
          <p:cNvSpPr txBox="1"/>
          <p:nvPr/>
        </p:nvSpPr>
        <p:spPr>
          <a:xfrm>
            <a:off x="6730428"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7" name="TextBox 26"/>
          <p:cNvSpPr txBox="1"/>
          <p:nvPr/>
        </p:nvSpPr>
        <p:spPr>
          <a:xfrm>
            <a:off x="5332412" y="3608564"/>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8" name="TextBox 27"/>
          <p:cNvSpPr txBox="1"/>
          <p:nvPr/>
        </p:nvSpPr>
        <p:spPr>
          <a:xfrm>
            <a:off x="6095935"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9" name="TextBox 28"/>
          <p:cNvSpPr txBox="1"/>
          <p:nvPr/>
        </p:nvSpPr>
        <p:spPr>
          <a:xfrm>
            <a:off x="6730428"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Tree>
    <p:extLst>
      <p:ext uri="{BB962C8B-B14F-4D97-AF65-F5344CB8AC3E}">
        <p14:creationId xmlns:p14="http://schemas.microsoft.com/office/powerpoint/2010/main" val="959444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Imagine kernel is stacked on top of input</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09012" y="2209800"/>
            <a:ext cx="1981200" cy="1981200"/>
          </a:xfrm>
          <a:prstGeom prst="rect">
            <a:avLst/>
          </a:prstGeom>
        </p:spPr>
      </p:pic>
      <p:sp>
        <p:nvSpPr>
          <p:cNvPr id="11" name="TextBox 10"/>
          <p:cNvSpPr txBox="1"/>
          <p:nvPr/>
        </p:nvSpPr>
        <p:spPr>
          <a:xfrm>
            <a:off x="9134765" y="1749187"/>
            <a:ext cx="922047" cy="369332"/>
          </a:xfrm>
          <a:prstGeom prst="rect">
            <a:avLst/>
          </a:prstGeom>
          <a:noFill/>
        </p:spPr>
        <p:txBody>
          <a:bodyPr wrap="none" rtlCol="0">
            <a:spAutoFit/>
          </a:bodyPr>
          <a:lstStyle/>
          <a:p>
            <a:r>
              <a:rPr lang="en-US" smtClean="0"/>
              <a:t>Output</a:t>
            </a:r>
            <a:endParaRPr lang="en-US"/>
          </a:p>
        </p:txBody>
      </p:sp>
      <p:grpSp>
        <p:nvGrpSpPr>
          <p:cNvPr id="41" name="Group 40"/>
          <p:cNvGrpSpPr/>
          <p:nvPr/>
        </p:nvGrpSpPr>
        <p:grpSpPr>
          <a:xfrm>
            <a:off x="3656012" y="2024638"/>
            <a:ext cx="2305294" cy="2153110"/>
            <a:chOff x="2360612" y="2037890"/>
            <a:chExt cx="2305294" cy="2153110"/>
          </a:xfrm>
        </p:grpSpPr>
        <p:cxnSp>
          <p:nvCxnSpPr>
            <p:cNvPr id="36" name="Straight Connector 35"/>
            <p:cNvCxnSpPr/>
            <p:nvPr/>
          </p:nvCxnSpPr>
          <p:spPr>
            <a:xfrm flipH="1">
              <a:off x="4303021" y="2110782"/>
              <a:ext cx="310954" cy="148865"/>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0612" y="2209800"/>
              <a:ext cx="1981200" cy="1981200"/>
            </a:xfrm>
            <a:prstGeom prst="rect">
              <a:avLst/>
            </a:prstGeom>
          </p:spPr>
        </p:pic>
        <p:sp>
          <p:nvSpPr>
            <p:cNvPr id="12" name="TextBox 11"/>
            <p:cNvSpPr txBox="1"/>
            <p:nvPr/>
          </p:nvSpPr>
          <p:spPr>
            <a:xfrm>
              <a:off x="254717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3" name="TextBox 12"/>
            <p:cNvSpPr txBox="1"/>
            <p:nvPr/>
          </p:nvSpPr>
          <p:spPr>
            <a:xfrm>
              <a:off x="3173919"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4" name="TextBox 13"/>
            <p:cNvSpPr txBox="1"/>
            <p:nvPr/>
          </p:nvSpPr>
          <p:spPr>
            <a:xfrm>
              <a:off x="380841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5" name="TextBox 14"/>
            <p:cNvSpPr txBox="1"/>
            <p:nvPr/>
          </p:nvSpPr>
          <p:spPr>
            <a:xfrm>
              <a:off x="254717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6" name="TextBox 15"/>
            <p:cNvSpPr txBox="1"/>
            <p:nvPr/>
          </p:nvSpPr>
          <p:spPr>
            <a:xfrm>
              <a:off x="3173919"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7" name="TextBox 16"/>
            <p:cNvSpPr txBox="1"/>
            <p:nvPr/>
          </p:nvSpPr>
          <p:spPr>
            <a:xfrm>
              <a:off x="380841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8" name="TextBox 17"/>
            <p:cNvSpPr txBox="1"/>
            <p:nvPr/>
          </p:nvSpPr>
          <p:spPr>
            <a:xfrm>
              <a:off x="254717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9" name="TextBox 18"/>
            <p:cNvSpPr txBox="1"/>
            <p:nvPr/>
          </p:nvSpPr>
          <p:spPr>
            <a:xfrm>
              <a:off x="3173919"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0" name="TextBox 19"/>
            <p:cNvSpPr txBox="1"/>
            <p:nvPr/>
          </p:nvSpPr>
          <p:spPr>
            <a:xfrm>
              <a:off x="380841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grpSp>
          <p:nvGrpSpPr>
            <p:cNvPr id="3" name="Group 2"/>
            <p:cNvGrpSpPr/>
            <p:nvPr/>
          </p:nvGrpSpPr>
          <p:grpSpPr>
            <a:xfrm>
              <a:off x="2684706" y="2037890"/>
              <a:ext cx="1981200" cy="1981200"/>
              <a:chOff x="4722812" y="1930751"/>
              <a:chExt cx="1981200" cy="198120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2812" y="1930751"/>
                <a:ext cx="1981200" cy="1981200"/>
              </a:xfrm>
              <a:prstGeom prst="rect">
                <a:avLst/>
              </a:prstGeom>
              <a:solidFill>
                <a:schemeClr val="bg1">
                  <a:alpha val="79000"/>
                </a:schemeClr>
              </a:solidFill>
            </p:spPr>
          </p:pic>
          <p:sp>
            <p:nvSpPr>
              <p:cNvPr id="21" name="TextBox 20"/>
              <p:cNvSpPr txBox="1"/>
              <p:nvPr/>
            </p:nvSpPr>
            <p:spPr>
              <a:xfrm>
                <a:off x="4775711" y="2057470"/>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2" name="TextBox 21"/>
              <p:cNvSpPr txBox="1"/>
              <p:nvPr/>
            </p:nvSpPr>
            <p:spPr>
              <a:xfrm>
                <a:off x="5539234" y="2057470"/>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3" name="TextBox 22"/>
              <p:cNvSpPr txBox="1"/>
              <p:nvPr/>
            </p:nvSpPr>
            <p:spPr>
              <a:xfrm>
                <a:off x="6173727" y="2057470"/>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4" name="TextBox 23"/>
              <p:cNvSpPr txBox="1"/>
              <p:nvPr/>
            </p:nvSpPr>
            <p:spPr>
              <a:xfrm>
                <a:off x="4775711" y="2690518"/>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5" name="TextBox 24"/>
              <p:cNvSpPr txBox="1"/>
              <p:nvPr/>
            </p:nvSpPr>
            <p:spPr>
              <a:xfrm>
                <a:off x="5539234" y="2690518"/>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6" name="TextBox 25"/>
              <p:cNvSpPr txBox="1"/>
              <p:nvPr/>
            </p:nvSpPr>
            <p:spPr>
              <a:xfrm>
                <a:off x="6173727" y="2690518"/>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7" name="TextBox 26"/>
              <p:cNvSpPr txBox="1"/>
              <p:nvPr/>
            </p:nvSpPr>
            <p:spPr>
              <a:xfrm>
                <a:off x="4775711" y="3329515"/>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8" name="TextBox 27"/>
              <p:cNvSpPr txBox="1"/>
              <p:nvPr/>
            </p:nvSpPr>
            <p:spPr>
              <a:xfrm>
                <a:off x="5539234" y="3329515"/>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9" name="TextBox 28"/>
              <p:cNvSpPr txBox="1"/>
              <p:nvPr/>
            </p:nvSpPr>
            <p:spPr>
              <a:xfrm>
                <a:off x="6173727" y="3329515"/>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grpSp>
        <p:cxnSp>
          <p:nvCxnSpPr>
            <p:cNvPr id="7" name="Straight Connector 6"/>
            <p:cNvCxnSpPr/>
            <p:nvPr/>
          </p:nvCxnSpPr>
          <p:spPr>
            <a:xfrm flipH="1">
              <a:off x="2398187" y="2081367"/>
              <a:ext cx="310954" cy="148865"/>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2398187" y="3989848"/>
              <a:ext cx="310954" cy="148865"/>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303021" y="3989848"/>
              <a:ext cx="310954" cy="148865"/>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81141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3x3</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0612" y="2209800"/>
            <a:ext cx="1981200" cy="1981200"/>
          </a:xfrm>
          <a:prstGeom prst="rect">
            <a:avLst/>
          </a:prstGeom>
        </p:spPr>
      </p:pic>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79513" y="2209800"/>
            <a:ext cx="1981200" cy="198120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09012" y="2209800"/>
            <a:ext cx="1981200" cy="1981200"/>
          </a:xfrm>
          <a:prstGeom prst="rect">
            <a:avLst/>
          </a:prstGeom>
        </p:spPr>
      </p:pic>
      <p:sp>
        <p:nvSpPr>
          <p:cNvPr id="9" name="TextBox 8"/>
          <p:cNvSpPr txBox="1"/>
          <p:nvPr/>
        </p:nvSpPr>
        <p:spPr>
          <a:xfrm>
            <a:off x="2995986" y="1749187"/>
            <a:ext cx="710451" cy="369332"/>
          </a:xfrm>
          <a:prstGeom prst="rect">
            <a:avLst/>
          </a:prstGeom>
          <a:noFill/>
        </p:spPr>
        <p:txBody>
          <a:bodyPr wrap="none" rtlCol="0">
            <a:spAutoFit/>
          </a:bodyPr>
          <a:lstStyle/>
          <a:p>
            <a:r>
              <a:rPr lang="en-US" dirty="0" smtClean="0"/>
              <a:t>Input</a:t>
            </a:r>
            <a:endParaRPr lang="en-US" dirty="0"/>
          </a:p>
        </p:txBody>
      </p:sp>
      <p:sp>
        <p:nvSpPr>
          <p:cNvPr id="10" name="TextBox 9"/>
          <p:cNvSpPr txBox="1"/>
          <p:nvPr/>
        </p:nvSpPr>
        <p:spPr>
          <a:xfrm>
            <a:off x="5865812" y="1749187"/>
            <a:ext cx="856325" cy="369332"/>
          </a:xfrm>
          <a:prstGeom prst="rect">
            <a:avLst/>
          </a:prstGeom>
          <a:noFill/>
        </p:spPr>
        <p:txBody>
          <a:bodyPr wrap="none" rtlCol="0">
            <a:spAutoFit/>
          </a:bodyPr>
          <a:lstStyle/>
          <a:p>
            <a:r>
              <a:rPr lang="en-US" smtClean="0"/>
              <a:t>Kernel</a:t>
            </a:r>
            <a:endParaRPr lang="en-US"/>
          </a:p>
        </p:txBody>
      </p:sp>
      <p:sp>
        <p:nvSpPr>
          <p:cNvPr id="11" name="TextBox 10"/>
          <p:cNvSpPr txBox="1"/>
          <p:nvPr/>
        </p:nvSpPr>
        <p:spPr>
          <a:xfrm>
            <a:off x="9134765" y="1749187"/>
            <a:ext cx="922047" cy="369332"/>
          </a:xfrm>
          <a:prstGeom prst="rect">
            <a:avLst/>
          </a:prstGeom>
          <a:noFill/>
        </p:spPr>
        <p:txBody>
          <a:bodyPr wrap="none" rtlCol="0">
            <a:spAutoFit/>
          </a:bodyPr>
          <a:lstStyle/>
          <a:p>
            <a:r>
              <a:rPr lang="en-US" smtClean="0"/>
              <a:t>Output</a:t>
            </a:r>
            <a:endParaRPr lang="en-US"/>
          </a:p>
        </p:txBody>
      </p:sp>
      <p:sp>
        <p:nvSpPr>
          <p:cNvPr id="12" name="TextBox 11"/>
          <p:cNvSpPr txBox="1"/>
          <p:nvPr/>
        </p:nvSpPr>
        <p:spPr>
          <a:xfrm>
            <a:off x="254717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3" name="TextBox 12"/>
          <p:cNvSpPr txBox="1"/>
          <p:nvPr/>
        </p:nvSpPr>
        <p:spPr>
          <a:xfrm>
            <a:off x="3173919"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4" name="TextBox 13"/>
          <p:cNvSpPr txBox="1"/>
          <p:nvPr/>
        </p:nvSpPr>
        <p:spPr>
          <a:xfrm>
            <a:off x="380841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5" name="TextBox 14"/>
          <p:cNvSpPr txBox="1"/>
          <p:nvPr/>
        </p:nvSpPr>
        <p:spPr>
          <a:xfrm>
            <a:off x="254717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6" name="TextBox 15"/>
          <p:cNvSpPr txBox="1"/>
          <p:nvPr/>
        </p:nvSpPr>
        <p:spPr>
          <a:xfrm>
            <a:off x="3173919"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7" name="TextBox 16"/>
          <p:cNvSpPr txBox="1"/>
          <p:nvPr/>
        </p:nvSpPr>
        <p:spPr>
          <a:xfrm>
            <a:off x="380841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8" name="TextBox 17"/>
          <p:cNvSpPr txBox="1"/>
          <p:nvPr/>
        </p:nvSpPr>
        <p:spPr>
          <a:xfrm>
            <a:off x="254717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9" name="TextBox 18"/>
          <p:cNvSpPr txBox="1"/>
          <p:nvPr/>
        </p:nvSpPr>
        <p:spPr>
          <a:xfrm>
            <a:off x="3173919"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0" name="TextBox 19"/>
          <p:cNvSpPr txBox="1"/>
          <p:nvPr/>
        </p:nvSpPr>
        <p:spPr>
          <a:xfrm>
            <a:off x="380841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1" name="TextBox 20"/>
          <p:cNvSpPr txBox="1"/>
          <p:nvPr/>
        </p:nvSpPr>
        <p:spPr>
          <a:xfrm>
            <a:off x="5332412" y="2336519"/>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2" name="TextBox 21"/>
          <p:cNvSpPr txBox="1"/>
          <p:nvPr/>
        </p:nvSpPr>
        <p:spPr>
          <a:xfrm>
            <a:off x="6095935"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3" name="TextBox 22"/>
          <p:cNvSpPr txBox="1"/>
          <p:nvPr/>
        </p:nvSpPr>
        <p:spPr>
          <a:xfrm>
            <a:off x="6730428"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4" name="TextBox 23"/>
          <p:cNvSpPr txBox="1"/>
          <p:nvPr/>
        </p:nvSpPr>
        <p:spPr>
          <a:xfrm>
            <a:off x="5332412" y="2969567"/>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5" name="TextBox 24"/>
          <p:cNvSpPr txBox="1"/>
          <p:nvPr/>
        </p:nvSpPr>
        <p:spPr>
          <a:xfrm>
            <a:off x="6095935"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6" name="TextBox 25"/>
          <p:cNvSpPr txBox="1"/>
          <p:nvPr/>
        </p:nvSpPr>
        <p:spPr>
          <a:xfrm>
            <a:off x="6730428"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7" name="TextBox 26"/>
          <p:cNvSpPr txBox="1"/>
          <p:nvPr/>
        </p:nvSpPr>
        <p:spPr>
          <a:xfrm>
            <a:off x="5332412" y="3608564"/>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8" name="TextBox 27"/>
          <p:cNvSpPr txBox="1"/>
          <p:nvPr/>
        </p:nvSpPr>
        <p:spPr>
          <a:xfrm>
            <a:off x="6095935"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9" name="TextBox 28"/>
          <p:cNvSpPr txBox="1"/>
          <p:nvPr/>
        </p:nvSpPr>
        <p:spPr>
          <a:xfrm>
            <a:off x="6730428"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mc:AlternateContent xmlns:mc="http://schemas.openxmlformats.org/markup-compatibility/2006" xmlns:a14="http://schemas.microsoft.com/office/drawing/2010/main">
        <mc:Choice Requires="a14">
          <p:sp>
            <p:nvSpPr>
              <p:cNvPr id="6" name="TextBox 5"/>
              <p:cNvSpPr txBox="1"/>
              <p:nvPr/>
            </p:nvSpPr>
            <p:spPr>
              <a:xfrm>
                <a:off x="2301950" y="4983163"/>
                <a:ext cx="170277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3⋅−1</m:t>
                          </m:r>
                        </m:e>
                      </m:d>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2301950" y="4983163"/>
                <a:ext cx="1702774" cy="461665"/>
              </a:xfrm>
              <a:prstGeom prst="rect">
                <a:avLst/>
              </a:prstGeom>
              <a:blipFill rotWithShape="0">
                <a:blip r:embed="rId4"/>
                <a:stretch>
                  <a:fillRect/>
                </a:stretch>
              </a:blipFill>
            </p:spPr>
            <p:txBody>
              <a:bodyPr/>
              <a:lstStyle/>
              <a:p>
                <a:r>
                  <a:rPr lang="en-US">
                    <a:noFill/>
                  </a:rPr>
                  <a:t> </a:t>
                </a:r>
              </a:p>
            </p:txBody>
          </p:sp>
        </mc:Fallback>
      </mc:AlternateContent>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96804" y="2236600"/>
            <a:ext cx="655320" cy="658368"/>
          </a:xfrm>
          <a:prstGeom prst="rect">
            <a:avLst/>
          </a:prstGeom>
        </p:spPr>
      </p:pic>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00661" y="2236600"/>
            <a:ext cx="655320" cy="658368"/>
          </a:xfrm>
          <a:prstGeom prst="rect">
            <a:avLst/>
          </a:prstGeom>
        </p:spPr>
      </p:pic>
    </p:spTree>
    <p:extLst>
      <p:ext uri="{BB962C8B-B14F-4D97-AF65-F5344CB8AC3E}">
        <p14:creationId xmlns:p14="http://schemas.microsoft.com/office/powerpoint/2010/main" val="9316068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3x3</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0612" y="2209800"/>
            <a:ext cx="1981200" cy="1981200"/>
          </a:xfrm>
          <a:prstGeom prst="rect">
            <a:avLst/>
          </a:prstGeom>
        </p:spPr>
      </p:pic>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79513" y="2209800"/>
            <a:ext cx="1981200" cy="198120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09012" y="2209800"/>
            <a:ext cx="1981200" cy="1981200"/>
          </a:xfrm>
          <a:prstGeom prst="rect">
            <a:avLst/>
          </a:prstGeom>
        </p:spPr>
      </p:pic>
      <p:sp>
        <p:nvSpPr>
          <p:cNvPr id="9" name="TextBox 8"/>
          <p:cNvSpPr txBox="1"/>
          <p:nvPr/>
        </p:nvSpPr>
        <p:spPr>
          <a:xfrm>
            <a:off x="2995986" y="1749187"/>
            <a:ext cx="710451" cy="369332"/>
          </a:xfrm>
          <a:prstGeom prst="rect">
            <a:avLst/>
          </a:prstGeom>
          <a:noFill/>
        </p:spPr>
        <p:txBody>
          <a:bodyPr wrap="none" rtlCol="0">
            <a:spAutoFit/>
          </a:bodyPr>
          <a:lstStyle/>
          <a:p>
            <a:r>
              <a:rPr lang="en-US" dirty="0" smtClean="0"/>
              <a:t>Input</a:t>
            </a:r>
            <a:endParaRPr lang="en-US" dirty="0"/>
          </a:p>
        </p:txBody>
      </p:sp>
      <p:sp>
        <p:nvSpPr>
          <p:cNvPr id="10" name="TextBox 9"/>
          <p:cNvSpPr txBox="1"/>
          <p:nvPr/>
        </p:nvSpPr>
        <p:spPr>
          <a:xfrm>
            <a:off x="5865812" y="1749187"/>
            <a:ext cx="856325" cy="369332"/>
          </a:xfrm>
          <a:prstGeom prst="rect">
            <a:avLst/>
          </a:prstGeom>
          <a:noFill/>
        </p:spPr>
        <p:txBody>
          <a:bodyPr wrap="none" rtlCol="0">
            <a:spAutoFit/>
          </a:bodyPr>
          <a:lstStyle/>
          <a:p>
            <a:r>
              <a:rPr lang="en-US" smtClean="0"/>
              <a:t>Kernel</a:t>
            </a:r>
            <a:endParaRPr lang="en-US"/>
          </a:p>
        </p:txBody>
      </p:sp>
      <p:sp>
        <p:nvSpPr>
          <p:cNvPr id="11" name="TextBox 10"/>
          <p:cNvSpPr txBox="1"/>
          <p:nvPr/>
        </p:nvSpPr>
        <p:spPr>
          <a:xfrm>
            <a:off x="9134765" y="1749187"/>
            <a:ext cx="922047" cy="369332"/>
          </a:xfrm>
          <a:prstGeom prst="rect">
            <a:avLst/>
          </a:prstGeom>
          <a:noFill/>
        </p:spPr>
        <p:txBody>
          <a:bodyPr wrap="none" rtlCol="0">
            <a:spAutoFit/>
          </a:bodyPr>
          <a:lstStyle/>
          <a:p>
            <a:r>
              <a:rPr lang="en-US" smtClean="0"/>
              <a:t>Output</a:t>
            </a:r>
            <a:endParaRPr lang="en-US"/>
          </a:p>
        </p:txBody>
      </p:sp>
      <p:sp>
        <p:nvSpPr>
          <p:cNvPr id="12" name="TextBox 11"/>
          <p:cNvSpPr txBox="1"/>
          <p:nvPr/>
        </p:nvSpPr>
        <p:spPr>
          <a:xfrm>
            <a:off x="254717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3" name="TextBox 12"/>
          <p:cNvSpPr txBox="1"/>
          <p:nvPr/>
        </p:nvSpPr>
        <p:spPr>
          <a:xfrm>
            <a:off x="3173919"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4" name="TextBox 13"/>
          <p:cNvSpPr txBox="1"/>
          <p:nvPr/>
        </p:nvSpPr>
        <p:spPr>
          <a:xfrm>
            <a:off x="380841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5" name="TextBox 14"/>
          <p:cNvSpPr txBox="1"/>
          <p:nvPr/>
        </p:nvSpPr>
        <p:spPr>
          <a:xfrm>
            <a:off x="254717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6" name="TextBox 15"/>
          <p:cNvSpPr txBox="1"/>
          <p:nvPr/>
        </p:nvSpPr>
        <p:spPr>
          <a:xfrm>
            <a:off x="3173919"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7" name="TextBox 16"/>
          <p:cNvSpPr txBox="1"/>
          <p:nvPr/>
        </p:nvSpPr>
        <p:spPr>
          <a:xfrm>
            <a:off x="380841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8" name="TextBox 17"/>
          <p:cNvSpPr txBox="1"/>
          <p:nvPr/>
        </p:nvSpPr>
        <p:spPr>
          <a:xfrm>
            <a:off x="254717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9" name="TextBox 18"/>
          <p:cNvSpPr txBox="1"/>
          <p:nvPr/>
        </p:nvSpPr>
        <p:spPr>
          <a:xfrm>
            <a:off x="3173919"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0" name="TextBox 19"/>
          <p:cNvSpPr txBox="1"/>
          <p:nvPr/>
        </p:nvSpPr>
        <p:spPr>
          <a:xfrm>
            <a:off x="380841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1" name="TextBox 20"/>
          <p:cNvSpPr txBox="1"/>
          <p:nvPr/>
        </p:nvSpPr>
        <p:spPr>
          <a:xfrm>
            <a:off x="5332412" y="2336519"/>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2" name="TextBox 21"/>
          <p:cNvSpPr txBox="1"/>
          <p:nvPr/>
        </p:nvSpPr>
        <p:spPr>
          <a:xfrm>
            <a:off x="6095935"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3" name="TextBox 22"/>
          <p:cNvSpPr txBox="1"/>
          <p:nvPr/>
        </p:nvSpPr>
        <p:spPr>
          <a:xfrm>
            <a:off x="6730428"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4" name="TextBox 23"/>
          <p:cNvSpPr txBox="1"/>
          <p:nvPr/>
        </p:nvSpPr>
        <p:spPr>
          <a:xfrm>
            <a:off x="5332412" y="2969567"/>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5" name="TextBox 24"/>
          <p:cNvSpPr txBox="1"/>
          <p:nvPr/>
        </p:nvSpPr>
        <p:spPr>
          <a:xfrm>
            <a:off x="6095935"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6" name="TextBox 25"/>
          <p:cNvSpPr txBox="1"/>
          <p:nvPr/>
        </p:nvSpPr>
        <p:spPr>
          <a:xfrm>
            <a:off x="6730428"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7" name="TextBox 26"/>
          <p:cNvSpPr txBox="1"/>
          <p:nvPr/>
        </p:nvSpPr>
        <p:spPr>
          <a:xfrm>
            <a:off x="5332412" y="3608564"/>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8" name="TextBox 27"/>
          <p:cNvSpPr txBox="1"/>
          <p:nvPr/>
        </p:nvSpPr>
        <p:spPr>
          <a:xfrm>
            <a:off x="6095935"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9" name="TextBox 28"/>
          <p:cNvSpPr txBox="1"/>
          <p:nvPr/>
        </p:nvSpPr>
        <p:spPr>
          <a:xfrm>
            <a:off x="6730428"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mc:AlternateContent xmlns:mc="http://schemas.openxmlformats.org/markup-compatibility/2006" xmlns:a14="http://schemas.microsoft.com/office/drawing/2010/main">
        <mc:Choice Requires="a14">
          <p:sp>
            <p:nvSpPr>
              <p:cNvPr id="6" name="TextBox 5"/>
              <p:cNvSpPr txBox="1"/>
              <p:nvPr/>
            </p:nvSpPr>
            <p:spPr>
              <a:xfrm>
                <a:off x="2301950" y="4983163"/>
                <a:ext cx="288854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3⋅−1</m:t>
                          </m:r>
                        </m:e>
                      </m:d>
                      <m:r>
                        <a:rPr lang="en-US" sz="2400" b="0" i="1" smtClean="0">
                          <a:latin typeface="Cambria Math" charset="0"/>
                        </a:rPr>
                        <m:t>+(2⋅0)</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2301950" y="4983163"/>
                <a:ext cx="2888547" cy="461665"/>
              </a:xfrm>
              <a:prstGeom prst="rect">
                <a:avLst/>
              </a:prstGeom>
              <a:blipFill rotWithShape="0">
                <a:blip r:embed="rId4"/>
                <a:stretch>
                  <a:fillRect b="-19737"/>
                </a:stretch>
              </a:blipFill>
            </p:spPr>
            <p:txBody>
              <a:bodyPr/>
              <a:lstStyle/>
              <a:p>
                <a:r>
                  <a:rPr lang="en-US">
                    <a:noFill/>
                  </a:rPr>
                  <a:t> </a:t>
                </a:r>
              </a:p>
            </p:txBody>
          </p:sp>
        </mc:Fallback>
      </mc:AlternateContent>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4231" y="2236600"/>
            <a:ext cx="655320" cy="658368"/>
          </a:xfrm>
          <a:prstGeom prst="rect">
            <a:avLst/>
          </a:prstGeom>
        </p:spPr>
      </p:pic>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28088" y="2236600"/>
            <a:ext cx="655320" cy="658368"/>
          </a:xfrm>
          <a:prstGeom prst="rect">
            <a:avLst/>
          </a:prstGeom>
        </p:spPr>
      </p:pic>
    </p:spTree>
    <p:extLst>
      <p:ext uri="{BB962C8B-B14F-4D97-AF65-F5344CB8AC3E}">
        <p14:creationId xmlns:p14="http://schemas.microsoft.com/office/powerpoint/2010/main" val="14513950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3x3</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0612" y="2209800"/>
            <a:ext cx="1981200" cy="1981200"/>
          </a:xfrm>
          <a:prstGeom prst="rect">
            <a:avLst/>
          </a:prstGeom>
        </p:spPr>
      </p:pic>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79513" y="2209800"/>
            <a:ext cx="1981200" cy="198120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09012" y="2209800"/>
            <a:ext cx="1981200" cy="1981200"/>
          </a:xfrm>
          <a:prstGeom prst="rect">
            <a:avLst/>
          </a:prstGeom>
        </p:spPr>
      </p:pic>
      <p:sp>
        <p:nvSpPr>
          <p:cNvPr id="9" name="TextBox 8"/>
          <p:cNvSpPr txBox="1"/>
          <p:nvPr/>
        </p:nvSpPr>
        <p:spPr>
          <a:xfrm>
            <a:off x="2995986" y="1749187"/>
            <a:ext cx="710451" cy="369332"/>
          </a:xfrm>
          <a:prstGeom prst="rect">
            <a:avLst/>
          </a:prstGeom>
          <a:noFill/>
        </p:spPr>
        <p:txBody>
          <a:bodyPr wrap="none" rtlCol="0">
            <a:spAutoFit/>
          </a:bodyPr>
          <a:lstStyle/>
          <a:p>
            <a:r>
              <a:rPr lang="en-US" dirty="0" smtClean="0"/>
              <a:t>Input</a:t>
            </a:r>
            <a:endParaRPr lang="en-US" dirty="0"/>
          </a:p>
        </p:txBody>
      </p:sp>
      <p:sp>
        <p:nvSpPr>
          <p:cNvPr id="10" name="TextBox 9"/>
          <p:cNvSpPr txBox="1"/>
          <p:nvPr/>
        </p:nvSpPr>
        <p:spPr>
          <a:xfrm>
            <a:off x="5865812" y="1749187"/>
            <a:ext cx="856325" cy="369332"/>
          </a:xfrm>
          <a:prstGeom prst="rect">
            <a:avLst/>
          </a:prstGeom>
          <a:noFill/>
        </p:spPr>
        <p:txBody>
          <a:bodyPr wrap="none" rtlCol="0">
            <a:spAutoFit/>
          </a:bodyPr>
          <a:lstStyle/>
          <a:p>
            <a:r>
              <a:rPr lang="en-US" smtClean="0"/>
              <a:t>Kernel</a:t>
            </a:r>
            <a:endParaRPr lang="en-US"/>
          </a:p>
        </p:txBody>
      </p:sp>
      <p:sp>
        <p:nvSpPr>
          <p:cNvPr id="11" name="TextBox 10"/>
          <p:cNvSpPr txBox="1"/>
          <p:nvPr/>
        </p:nvSpPr>
        <p:spPr>
          <a:xfrm>
            <a:off x="9134765" y="1749187"/>
            <a:ext cx="922047" cy="369332"/>
          </a:xfrm>
          <a:prstGeom prst="rect">
            <a:avLst/>
          </a:prstGeom>
          <a:noFill/>
        </p:spPr>
        <p:txBody>
          <a:bodyPr wrap="none" rtlCol="0">
            <a:spAutoFit/>
          </a:bodyPr>
          <a:lstStyle/>
          <a:p>
            <a:r>
              <a:rPr lang="en-US" smtClean="0"/>
              <a:t>Output</a:t>
            </a:r>
            <a:endParaRPr lang="en-US"/>
          </a:p>
        </p:txBody>
      </p:sp>
      <p:sp>
        <p:nvSpPr>
          <p:cNvPr id="12" name="TextBox 11"/>
          <p:cNvSpPr txBox="1"/>
          <p:nvPr/>
        </p:nvSpPr>
        <p:spPr>
          <a:xfrm>
            <a:off x="254717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3" name="TextBox 12"/>
          <p:cNvSpPr txBox="1"/>
          <p:nvPr/>
        </p:nvSpPr>
        <p:spPr>
          <a:xfrm>
            <a:off x="3173919"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4" name="TextBox 13"/>
          <p:cNvSpPr txBox="1"/>
          <p:nvPr/>
        </p:nvSpPr>
        <p:spPr>
          <a:xfrm>
            <a:off x="380841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5" name="TextBox 14"/>
          <p:cNvSpPr txBox="1"/>
          <p:nvPr/>
        </p:nvSpPr>
        <p:spPr>
          <a:xfrm>
            <a:off x="254717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6" name="TextBox 15"/>
          <p:cNvSpPr txBox="1"/>
          <p:nvPr/>
        </p:nvSpPr>
        <p:spPr>
          <a:xfrm>
            <a:off x="3173919"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7" name="TextBox 16"/>
          <p:cNvSpPr txBox="1"/>
          <p:nvPr/>
        </p:nvSpPr>
        <p:spPr>
          <a:xfrm>
            <a:off x="380841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8" name="TextBox 17"/>
          <p:cNvSpPr txBox="1"/>
          <p:nvPr/>
        </p:nvSpPr>
        <p:spPr>
          <a:xfrm>
            <a:off x="254717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9" name="TextBox 18"/>
          <p:cNvSpPr txBox="1"/>
          <p:nvPr/>
        </p:nvSpPr>
        <p:spPr>
          <a:xfrm>
            <a:off x="3173919"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0" name="TextBox 19"/>
          <p:cNvSpPr txBox="1"/>
          <p:nvPr/>
        </p:nvSpPr>
        <p:spPr>
          <a:xfrm>
            <a:off x="380841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1" name="TextBox 20"/>
          <p:cNvSpPr txBox="1"/>
          <p:nvPr/>
        </p:nvSpPr>
        <p:spPr>
          <a:xfrm>
            <a:off x="5332412" y="2336519"/>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2" name="TextBox 21"/>
          <p:cNvSpPr txBox="1"/>
          <p:nvPr/>
        </p:nvSpPr>
        <p:spPr>
          <a:xfrm>
            <a:off x="6095935"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3" name="TextBox 22"/>
          <p:cNvSpPr txBox="1"/>
          <p:nvPr/>
        </p:nvSpPr>
        <p:spPr>
          <a:xfrm>
            <a:off x="6730428"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4" name="TextBox 23"/>
          <p:cNvSpPr txBox="1"/>
          <p:nvPr/>
        </p:nvSpPr>
        <p:spPr>
          <a:xfrm>
            <a:off x="5332412" y="2969567"/>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5" name="TextBox 24"/>
          <p:cNvSpPr txBox="1"/>
          <p:nvPr/>
        </p:nvSpPr>
        <p:spPr>
          <a:xfrm>
            <a:off x="6095935"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6" name="TextBox 25"/>
          <p:cNvSpPr txBox="1"/>
          <p:nvPr/>
        </p:nvSpPr>
        <p:spPr>
          <a:xfrm>
            <a:off x="6730428"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7" name="TextBox 26"/>
          <p:cNvSpPr txBox="1"/>
          <p:nvPr/>
        </p:nvSpPr>
        <p:spPr>
          <a:xfrm>
            <a:off x="5332412" y="3608564"/>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8" name="TextBox 27"/>
          <p:cNvSpPr txBox="1"/>
          <p:nvPr/>
        </p:nvSpPr>
        <p:spPr>
          <a:xfrm>
            <a:off x="6095935"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9" name="TextBox 28"/>
          <p:cNvSpPr txBox="1"/>
          <p:nvPr/>
        </p:nvSpPr>
        <p:spPr>
          <a:xfrm>
            <a:off x="6730428"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mc:AlternateContent xmlns:mc="http://schemas.openxmlformats.org/markup-compatibility/2006" xmlns:a14="http://schemas.microsoft.com/office/drawing/2010/main">
        <mc:Choice Requires="a14">
          <p:sp>
            <p:nvSpPr>
              <p:cNvPr id="6" name="TextBox 5"/>
              <p:cNvSpPr txBox="1"/>
              <p:nvPr/>
            </p:nvSpPr>
            <p:spPr>
              <a:xfrm>
                <a:off x="2301950" y="4983163"/>
                <a:ext cx="407329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3⋅−1</m:t>
                          </m:r>
                        </m:e>
                      </m:d>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2⋅0</m:t>
                          </m:r>
                        </m:e>
                      </m:d>
                      <m:r>
                        <a:rPr lang="en-US" sz="2400" b="0" i="1" smtClean="0">
                          <a:latin typeface="Cambria Math" charset="0"/>
                        </a:rPr>
                        <m:t>+(1⋅1)</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2301950" y="4983163"/>
                <a:ext cx="4073295" cy="461665"/>
              </a:xfrm>
              <a:prstGeom prst="rect">
                <a:avLst/>
              </a:prstGeom>
              <a:blipFill rotWithShape="0">
                <a:blip r:embed="rId4"/>
                <a:stretch>
                  <a:fillRect b="-19737"/>
                </a:stretch>
              </a:blipFill>
            </p:spPr>
            <p:txBody>
              <a:bodyPr/>
              <a:lstStyle/>
              <a:p>
                <a:r>
                  <a:rPr lang="en-US">
                    <a:noFill/>
                  </a:rPr>
                  <a:t> </a:t>
                </a:r>
              </a:p>
            </p:txBody>
          </p:sp>
        </mc:Fallback>
      </mc:AlternateContent>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66277" y="2236600"/>
            <a:ext cx="655320" cy="658368"/>
          </a:xfrm>
          <a:prstGeom prst="rect">
            <a:avLst/>
          </a:prstGeom>
        </p:spPr>
      </p:pic>
      <p:pic>
        <p:nvPicPr>
          <p:cNvPr id="31" name="Picture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0134" y="2236600"/>
            <a:ext cx="655320" cy="658368"/>
          </a:xfrm>
          <a:prstGeom prst="rect">
            <a:avLst/>
          </a:prstGeom>
        </p:spPr>
      </p:pic>
    </p:spTree>
    <p:extLst>
      <p:ext uri="{BB962C8B-B14F-4D97-AF65-F5344CB8AC3E}">
        <p14:creationId xmlns:p14="http://schemas.microsoft.com/office/powerpoint/2010/main" val="18401268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3x3</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0612" y="2209800"/>
            <a:ext cx="1981200" cy="1981200"/>
          </a:xfrm>
          <a:prstGeom prst="rect">
            <a:avLst/>
          </a:prstGeom>
        </p:spPr>
      </p:pic>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79513" y="2209800"/>
            <a:ext cx="1981200" cy="198120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09012" y="2209800"/>
            <a:ext cx="1981200" cy="1981200"/>
          </a:xfrm>
          <a:prstGeom prst="rect">
            <a:avLst/>
          </a:prstGeom>
        </p:spPr>
      </p:pic>
      <p:sp>
        <p:nvSpPr>
          <p:cNvPr id="9" name="TextBox 8"/>
          <p:cNvSpPr txBox="1"/>
          <p:nvPr/>
        </p:nvSpPr>
        <p:spPr>
          <a:xfrm>
            <a:off x="2995986" y="1749187"/>
            <a:ext cx="710451" cy="369332"/>
          </a:xfrm>
          <a:prstGeom prst="rect">
            <a:avLst/>
          </a:prstGeom>
          <a:noFill/>
        </p:spPr>
        <p:txBody>
          <a:bodyPr wrap="none" rtlCol="0">
            <a:spAutoFit/>
          </a:bodyPr>
          <a:lstStyle/>
          <a:p>
            <a:r>
              <a:rPr lang="en-US" dirty="0" smtClean="0"/>
              <a:t>Input</a:t>
            </a:r>
            <a:endParaRPr lang="en-US" dirty="0"/>
          </a:p>
        </p:txBody>
      </p:sp>
      <p:sp>
        <p:nvSpPr>
          <p:cNvPr id="10" name="TextBox 9"/>
          <p:cNvSpPr txBox="1"/>
          <p:nvPr/>
        </p:nvSpPr>
        <p:spPr>
          <a:xfrm>
            <a:off x="5865812" y="1749187"/>
            <a:ext cx="856325" cy="369332"/>
          </a:xfrm>
          <a:prstGeom prst="rect">
            <a:avLst/>
          </a:prstGeom>
          <a:noFill/>
        </p:spPr>
        <p:txBody>
          <a:bodyPr wrap="none" rtlCol="0">
            <a:spAutoFit/>
          </a:bodyPr>
          <a:lstStyle/>
          <a:p>
            <a:r>
              <a:rPr lang="en-US" smtClean="0"/>
              <a:t>Kernel</a:t>
            </a:r>
            <a:endParaRPr lang="en-US"/>
          </a:p>
        </p:txBody>
      </p:sp>
      <p:sp>
        <p:nvSpPr>
          <p:cNvPr id="11" name="TextBox 10"/>
          <p:cNvSpPr txBox="1"/>
          <p:nvPr/>
        </p:nvSpPr>
        <p:spPr>
          <a:xfrm>
            <a:off x="9134765" y="1749187"/>
            <a:ext cx="922047" cy="369332"/>
          </a:xfrm>
          <a:prstGeom prst="rect">
            <a:avLst/>
          </a:prstGeom>
          <a:noFill/>
        </p:spPr>
        <p:txBody>
          <a:bodyPr wrap="none" rtlCol="0">
            <a:spAutoFit/>
          </a:bodyPr>
          <a:lstStyle/>
          <a:p>
            <a:r>
              <a:rPr lang="en-US" smtClean="0"/>
              <a:t>Output</a:t>
            </a:r>
            <a:endParaRPr lang="en-US"/>
          </a:p>
        </p:txBody>
      </p:sp>
      <p:sp>
        <p:nvSpPr>
          <p:cNvPr id="12" name="TextBox 11"/>
          <p:cNvSpPr txBox="1"/>
          <p:nvPr/>
        </p:nvSpPr>
        <p:spPr>
          <a:xfrm>
            <a:off x="254717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3" name="TextBox 12"/>
          <p:cNvSpPr txBox="1"/>
          <p:nvPr/>
        </p:nvSpPr>
        <p:spPr>
          <a:xfrm>
            <a:off x="3173919"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4" name="TextBox 13"/>
          <p:cNvSpPr txBox="1"/>
          <p:nvPr/>
        </p:nvSpPr>
        <p:spPr>
          <a:xfrm>
            <a:off x="380841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5" name="TextBox 14"/>
          <p:cNvSpPr txBox="1"/>
          <p:nvPr/>
        </p:nvSpPr>
        <p:spPr>
          <a:xfrm>
            <a:off x="254717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6" name="TextBox 15"/>
          <p:cNvSpPr txBox="1"/>
          <p:nvPr/>
        </p:nvSpPr>
        <p:spPr>
          <a:xfrm>
            <a:off x="3173919"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7" name="TextBox 16"/>
          <p:cNvSpPr txBox="1"/>
          <p:nvPr/>
        </p:nvSpPr>
        <p:spPr>
          <a:xfrm>
            <a:off x="380841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8" name="TextBox 17"/>
          <p:cNvSpPr txBox="1"/>
          <p:nvPr/>
        </p:nvSpPr>
        <p:spPr>
          <a:xfrm>
            <a:off x="254717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9" name="TextBox 18"/>
          <p:cNvSpPr txBox="1"/>
          <p:nvPr/>
        </p:nvSpPr>
        <p:spPr>
          <a:xfrm>
            <a:off x="3173919"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0" name="TextBox 19"/>
          <p:cNvSpPr txBox="1"/>
          <p:nvPr/>
        </p:nvSpPr>
        <p:spPr>
          <a:xfrm>
            <a:off x="380841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1" name="TextBox 20"/>
          <p:cNvSpPr txBox="1"/>
          <p:nvPr/>
        </p:nvSpPr>
        <p:spPr>
          <a:xfrm>
            <a:off x="5332412" y="2336519"/>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2" name="TextBox 21"/>
          <p:cNvSpPr txBox="1"/>
          <p:nvPr/>
        </p:nvSpPr>
        <p:spPr>
          <a:xfrm>
            <a:off x="6095935"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3" name="TextBox 22"/>
          <p:cNvSpPr txBox="1"/>
          <p:nvPr/>
        </p:nvSpPr>
        <p:spPr>
          <a:xfrm>
            <a:off x="6730428"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4" name="TextBox 23"/>
          <p:cNvSpPr txBox="1"/>
          <p:nvPr/>
        </p:nvSpPr>
        <p:spPr>
          <a:xfrm>
            <a:off x="5332412" y="2969567"/>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5" name="TextBox 24"/>
          <p:cNvSpPr txBox="1"/>
          <p:nvPr/>
        </p:nvSpPr>
        <p:spPr>
          <a:xfrm>
            <a:off x="6095935"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6" name="TextBox 25"/>
          <p:cNvSpPr txBox="1"/>
          <p:nvPr/>
        </p:nvSpPr>
        <p:spPr>
          <a:xfrm>
            <a:off x="6730428"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7" name="TextBox 26"/>
          <p:cNvSpPr txBox="1"/>
          <p:nvPr/>
        </p:nvSpPr>
        <p:spPr>
          <a:xfrm>
            <a:off x="5332412" y="3608564"/>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8" name="TextBox 27"/>
          <p:cNvSpPr txBox="1"/>
          <p:nvPr/>
        </p:nvSpPr>
        <p:spPr>
          <a:xfrm>
            <a:off x="6095935"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9" name="TextBox 28"/>
          <p:cNvSpPr txBox="1"/>
          <p:nvPr/>
        </p:nvSpPr>
        <p:spPr>
          <a:xfrm>
            <a:off x="6730428"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mc:AlternateContent xmlns:mc="http://schemas.openxmlformats.org/markup-compatibility/2006" xmlns:a14="http://schemas.microsoft.com/office/drawing/2010/main">
        <mc:Choice Requires="a14">
          <p:sp>
            <p:nvSpPr>
              <p:cNvPr id="6" name="TextBox 5"/>
              <p:cNvSpPr txBox="1"/>
              <p:nvPr/>
            </p:nvSpPr>
            <p:spPr>
              <a:xfrm>
                <a:off x="2301950" y="4983163"/>
                <a:ext cx="548727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3⋅−1</m:t>
                          </m:r>
                        </m:e>
                      </m:d>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2⋅0</m:t>
                          </m:r>
                        </m:e>
                      </m:d>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1⋅1</m:t>
                          </m:r>
                        </m:e>
                      </m:d>
                      <m:r>
                        <a:rPr lang="en-US" sz="2400" b="0" i="1" smtClean="0">
                          <a:latin typeface="Cambria Math" charset="0"/>
                        </a:rPr>
                        <m:t>+(1⋅−2)</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2301950" y="4983163"/>
                <a:ext cx="5487271" cy="461665"/>
              </a:xfrm>
              <a:prstGeom prst="rect">
                <a:avLst/>
              </a:prstGeom>
              <a:blipFill rotWithShape="0">
                <a:blip r:embed="rId4"/>
                <a:stretch>
                  <a:fillRect b="-19737"/>
                </a:stretch>
              </a:blipFill>
            </p:spPr>
            <p:txBody>
              <a:bodyPr/>
              <a:lstStyle/>
              <a:p>
                <a:r>
                  <a:rPr lang="en-US">
                    <a:noFill/>
                  </a:rPr>
                  <a:t> </a:t>
                </a:r>
              </a:p>
            </p:txBody>
          </p:sp>
        </mc:Fallback>
      </mc:AlternateContent>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92532" y="2865081"/>
            <a:ext cx="655320" cy="658368"/>
          </a:xfrm>
          <a:prstGeom prst="rect">
            <a:avLst/>
          </a:prstGeom>
        </p:spPr>
      </p:pic>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96389" y="2865081"/>
            <a:ext cx="655320" cy="658368"/>
          </a:xfrm>
          <a:prstGeom prst="rect">
            <a:avLst/>
          </a:prstGeom>
        </p:spPr>
      </p:pic>
    </p:spTree>
    <p:extLst>
      <p:ext uri="{BB962C8B-B14F-4D97-AF65-F5344CB8AC3E}">
        <p14:creationId xmlns:p14="http://schemas.microsoft.com/office/powerpoint/2010/main" val="17281057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3x3</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0612" y="2209800"/>
            <a:ext cx="1981200" cy="1981200"/>
          </a:xfrm>
          <a:prstGeom prst="rect">
            <a:avLst/>
          </a:prstGeom>
        </p:spPr>
      </p:pic>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79513" y="2209800"/>
            <a:ext cx="1981200" cy="198120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09012" y="2209800"/>
            <a:ext cx="1981200" cy="1981200"/>
          </a:xfrm>
          <a:prstGeom prst="rect">
            <a:avLst/>
          </a:prstGeom>
        </p:spPr>
      </p:pic>
      <p:sp>
        <p:nvSpPr>
          <p:cNvPr id="9" name="TextBox 8"/>
          <p:cNvSpPr txBox="1"/>
          <p:nvPr/>
        </p:nvSpPr>
        <p:spPr>
          <a:xfrm>
            <a:off x="2995986" y="1749187"/>
            <a:ext cx="710451" cy="369332"/>
          </a:xfrm>
          <a:prstGeom prst="rect">
            <a:avLst/>
          </a:prstGeom>
          <a:noFill/>
        </p:spPr>
        <p:txBody>
          <a:bodyPr wrap="none" rtlCol="0">
            <a:spAutoFit/>
          </a:bodyPr>
          <a:lstStyle/>
          <a:p>
            <a:r>
              <a:rPr lang="en-US" dirty="0" smtClean="0"/>
              <a:t>Input</a:t>
            </a:r>
            <a:endParaRPr lang="en-US" dirty="0"/>
          </a:p>
        </p:txBody>
      </p:sp>
      <p:sp>
        <p:nvSpPr>
          <p:cNvPr id="10" name="TextBox 9"/>
          <p:cNvSpPr txBox="1"/>
          <p:nvPr/>
        </p:nvSpPr>
        <p:spPr>
          <a:xfrm>
            <a:off x="5865812" y="1749187"/>
            <a:ext cx="856325" cy="369332"/>
          </a:xfrm>
          <a:prstGeom prst="rect">
            <a:avLst/>
          </a:prstGeom>
          <a:noFill/>
        </p:spPr>
        <p:txBody>
          <a:bodyPr wrap="none" rtlCol="0">
            <a:spAutoFit/>
          </a:bodyPr>
          <a:lstStyle/>
          <a:p>
            <a:r>
              <a:rPr lang="en-US" smtClean="0"/>
              <a:t>Kernel</a:t>
            </a:r>
            <a:endParaRPr lang="en-US"/>
          </a:p>
        </p:txBody>
      </p:sp>
      <p:sp>
        <p:nvSpPr>
          <p:cNvPr id="11" name="TextBox 10"/>
          <p:cNvSpPr txBox="1"/>
          <p:nvPr/>
        </p:nvSpPr>
        <p:spPr>
          <a:xfrm>
            <a:off x="9134765" y="1749187"/>
            <a:ext cx="922047" cy="369332"/>
          </a:xfrm>
          <a:prstGeom prst="rect">
            <a:avLst/>
          </a:prstGeom>
          <a:noFill/>
        </p:spPr>
        <p:txBody>
          <a:bodyPr wrap="none" rtlCol="0">
            <a:spAutoFit/>
          </a:bodyPr>
          <a:lstStyle/>
          <a:p>
            <a:r>
              <a:rPr lang="en-US" smtClean="0"/>
              <a:t>Output</a:t>
            </a:r>
            <a:endParaRPr lang="en-US"/>
          </a:p>
        </p:txBody>
      </p:sp>
      <p:sp>
        <p:nvSpPr>
          <p:cNvPr id="12" name="TextBox 11"/>
          <p:cNvSpPr txBox="1"/>
          <p:nvPr/>
        </p:nvSpPr>
        <p:spPr>
          <a:xfrm>
            <a:off x="254717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3" name="TextBox 12"/>
          <p:cNvSpPr txBox="1"/>
          <p:nvPr/>
        </p:nvSpPr>
        <p:spPr>
          <a:xfrm>
            <a:off x="3173919"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4" name="TextBox 13"/>
          <p:cNvSpPr txBox="1"/>
          <p:nvPr/>
        </p:nvSpPr>
        <p:spPr>
          <a:xfrm>
            <a:off x="3808412"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5" name="TextBox 14"/>
          <p:cNvSpPr txBox="1"/>
          <p:nvPr/>
        </p:nvSpPr>
        <p:spPr>
          <a:xfrm>
            <a:off x="254717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6" name="TextBox 15"/>
          <p:cNvSpPr txBox="1"/>
          <p:nvPr/>
        </p:nvSpPr>
        <p:spPr>
          <a:xfrm>
            <a:off x="3173919"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17" name="TextBox 16"/>
          <p:cNvSpPr txBox="1"/>
          <p:nvPr/>
        </p:nvSpPr>
        <p:spPr>
          <a:xfrm>
            <a:off x="3808412"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3</a:t>
            </a:r>
            <a:endParaRPr lang="en-US" sz="2400" dirty="0">
              <a:latin typeface="Consolas" charset="0"/>
              <a:ea typeface="Consolas" charset="0"/>
              <a:cs typeface="Consolas" charset="0"/>
            </a:endParaRPr>
          </a:p>
        </p:txBody>
      </p:sp>
      <p:sp>
        <p:nvSpPr>
          <p:cNvPr id="18" name="TextBox 17"/>
          <p:cNvSpPr txBox="1"/>
          <p:nvPr/>
        </p:nvSpPr>
        <p:spPr>
          <a:xfrm>
            <a:off x="254717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19" name="TextBox 18"/>
          <p:cNvSpPr txBox="1"/>
          <p:nvPr/>
        </p:nvSpPr>
        <p:spPr>
          <a:xfrm>
            <a:off x="3173919"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0" name="TextBox 19"/>
          <p:cNvSpPr txBox="1"/>
          <p:nvPr/>
        </p:nvSpPr>
        <p:spPr>
          <a:xfrm>
            <a:off x="3808412"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1" name="TextBox 20"/>
          <p:cNvSpPr txBox="1"/>
          <p:nvPr/>
        </p:nvSpPr>
        <p:spPr>
          <a:xfrm>
            <a:off x="5332412" y="2336519"/>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2" name="TextBox 21"/>
          <p:cNvSpPr txBox="1"/>
          <p:nvPr/>
        </p:nvSpPr>
        <p:spPr>
          <a:xfrm>
            <a:off x="6095935"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3" name="TextBox 22"/>
          <p:cNvSpPr txBox="1"/>
          <p:nvPr/>
        </p:nvSpPr>
        <p:spPr>
          <a:xfrm>
            <a:off x="6730428" y="2336519"/>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4" name="TextBox 23"/>
          <p:cNvSpPr txBox="1"/>
          <p:nvPr/>
        </p:nvSpPr>
        <p:spPr>
          <a:xfrm>
            <a:off x="5332412" y="2969567"/>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5" name="TextBox 24"/>
          <p:cNvSpPr txBox="1"/>
          <p:nvPr/>
        </p:nvSpPr>
        <p:spPr>
          <a:xfrm>
            <a:off x="6095935"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6" name="TextBox 25"/>
          <p:cNvSpPr txBox="1"/>
          <p:nvPr/>
        </p:nvSpPr>
        <p:spPr>
          <a:xfrm>
            <a:off x="6730428"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
        <p:nvSpPr>
          <p:cNvPr id="27" name="TextBox 26"/>
          <p:cNvSpPr txBox="1"/>
          <p:nvPr/>
        </p:nvSpPr>
        <p:spPr>
          <a:xfrm>
            <a:off x="5332412" y="3608564"/>
            <a:ext cx="524503"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p:sp>
        <p:nvSpPr>
          <p:cNvPr id="28" name="TextBox 27"/>
          <p:cNvSpPr txBox="1"/>
          <p:nvPr/>
        </p:nvSpPr>
        <p:spPr>
          <a:xfrm>
            <a:off x="6095935"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0</a:t>
            </a:r>
            <a:endParaRPr lang="en-US" sz="2400" dirty="0">
              <a:latin typeface="Consolas" charset="0"/>
              <a:ea typeface="Consolas" charset="0"/>
              <a:cs typeface="Consolas" charset="0"/>
            </a:endParaRPr>
          </a:p>
        </p:txBody>
      </p:sp>
      <p:sp>
        <p:nvSpPr>
          <p:cNvPr id="29" name="TextBox 28"/>
          <p:cNvSpPr txBox="1"/>
          <p:nvPr/>
        </p:nvSpPr>
        <p:spPr>
          <a:xfrm>
            <a:off x="6730428" y="3608564"/>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1</a:t>
            </a:r>
            <a:endParaRPr lang="en-US" sz="2400" dirty="0">
              <a:latin typeface="Consolas" charset="0"/>
              <a:ea typeface="Consolas" charset="0"/>
              <a:cs typeface="Consolas" charset="0"/>
            </a:endParaRPr>
          </a:p>
        </p:txBody>
      </p:sp>
      <mc:AlternateContent xmlns:mc="http://schemas.openxmlformats.org/markup-compatibility/2006" xmlns:a14="http://schemas.microsoft.com/office/drawing/2010/main">
        <mc:Choice Requires="a14">
          <p:sp>
            <p:nvSpPr>
              <p:cNvPr id="6" name="TextBox 5"/>
              <p:cNvSpPr txBox="1"/>
              <p:nvPr/>
            </p:nvSpPr>
            <p:spPr>
              <a:xfrm>
                <a:off x="2419782" y="4724400"/>
                <a:ext cx="10151630" cy="221599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3⋅−1</m:t>
                          </m:r>
                        </m:e>
                      </m:d>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2⋅0</m:t>
                          </m:r>
                        </m:e>
                      </m:d>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1⋅1</m:t>
                          </m:r>
                        </m:e>
                      </m:d>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1⋅−2</m:t>
                          </m:r>
                        </m:e>
                      </m:d>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2⋅0</m:t>
                          </m:r>
                        </m:e>
                      </m:d>
                      <m:r>
                        <a:rPr lang="en-US" sz="2400" i="1">
                          <a:latin typeface="Cambria Math" charset="0"/>
                        </a:rPr>
                        <m:t>+</m:t>
                      </m:r>
                      <m:d>
                        <m:dPr>
                          <m:ctrlPr>
                            <a:rPr lang="en-US" sz="2400" i="1">
                              <a:latin typeface="Cambria Math" panose="02040503050406030204" pitchFamily="18" charset="0"/>
                            </a:rPr>
                          </m:ctrlPr>
                        </m:dPr>
                        <m:e>
                          <m:r>
                            <a:rPr lang="en-US" sz="2400" i="1">
                              <a:latin typeface="Cambria Math" charset="0"/>
                            </a:rPr>
                            <m:t>3⋅2</m:t>
                          </m:r>
                        </m:e>
                      </m:d>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1</m:t>
                          </m:r>
                          <m:r>
                            <a:rPr lang="en-US" sz="2400" i="1">
                              <a:latin typeface="Cambria Math" charset="0"/>
                            </a:rPr>
                            <m:t>⋅</m:t>
                          </m:r>
                          <m:r>
                            <a:rPr lang="en-US" sz="2400" b="0" i="1" smtClean="0">
                              <a:latin typeface="Cambria Math" charset="0"/>
                            </a:rPr>
                            <m:t>−1</m:t>
                          </m:r>
                        </m:e>
                      </m:d>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1⋅0</m:t>
                          </m:r>
                        </m:e>
                      </m:d>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1⋅1</m:t>
                          </m:r>
                        </m:e>
                      </m:d>
                    </m:oMath>
                  </m:oMathPara>
                </a14:m>
                <a:endParaRPr lang="en-US" sz="2400" b="0" dirty="0" smtClean="0"/>
              </a:p>
              <a:p>
                <a:endParaRPr lang="en-US" sz="2400" b="0" dirty="0" smtClean="0"/>
              </a:p>
              <a:p>
                <a:pPr/>
                <a14:m>
                  <m:oMathPara xmlns:m="http://schemas.openxmlformats.org/officeDocument/2006/math">
                    <m:oMathParaPr>
                      <m:jc m:val="left"/>
                    </m:oMathParaPr>
                    <m:oMath xmlns:m="http://schemas.openxmlformats.org/officeDocument/2006/math">
                      <m:r>
                        <a:rPr lang="en-US" sz="2400" b="0" i="1" smtClean="0">
                          <a:latin typeface="Cambria Math" charset="0"/>
                        </a:rPr>
                        <m:t>=−3+1−2+6−1+1</m:t>
                      </m:r>
                    </m:oMath>
                  </m:oMathPara>
                </a14:m>
                <a:endParaRPr lang="en-US" sz="2400" b="0" dirty="0" smtClean="0"/>
              </a:p>
              <a:p>
                <a:pPr/>
                <a14:m>
                  <m:oMathPara xmlns:m="http://schemas.openxmlformats.org/officeDocument/2006/math">
                    <m:oMathParaPr>
                      <m:jc m:val="left"/>
                    </m:oMathParaPr>
                    <m:oMath xmlns:m="http://schemas.openxmlformats.org/officeDocument/2006/math">
                      <m:r>
                        <a:rPr lang="en-US" sz="2400" b="0" i="1" smtClean="0">
                          <a:latin typeface="Cambria Math" charset="0"/>
                        </a:rPr>
                        <m:t>=2</m:t>
                      </m:r>
                    </m:oMath>
                  </m:oMathPara>
                </a14:m>
                <a:endParaRPr lang="en-US" sz="2400" b="0" dirty="0" smtClean="0"/>
              </a:p>
              <a:p>
                <a:r>
                  <a:rPr lang="en-US" dirty="0" smtClean="0"/>
                  <a:t>     </a:t>
                </a:r>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2419782" y="4724400"/>
                <a:ext cx="10151630" cy="2215991"/>
              </a:xfrm>
              <a:prstGeom prst="rect">
                <a:avLst/>
              </a:prstGeom>
              <a:blipFill rotWithShape="0">
                <a:blip r:embed="rId4"/>
                <a:stretch>
                  <a:fillRect l="-60"/>
                </a:stretch>
              </a:blipFill>
            </p:spPr>
            <p:txBody>
              <a:bodyPr/>
              <a:lstStyle/>
              <a:p>
                <a:r>
                  <a:rPr lang="en-US">
                    <a:noFill/>
                  </a:rPr>
                  <a:t> </a:t>
                </a:r>
              </a:p>
            </p:txBody>
          </p:sp>
        </mc:Fallback>
      </mc:AlternateContent>
      <p:sp>
        <p:nvSpPr>
          <p:cNvPr id="30" name="TextBox 29"/>
          <p:cNvSpPr txBox="1"/>
          <p:nvPr/>
        </p:nvSpPr>
        <p:spPr>
          <a:xfrm>
            <a:off x="9418496" y="2969567"/>
            <a:ext cx="354584" cy="461665"/>
          </a:xfrm>
          <a:prstGeom prst="rect">
            <a:avLst/>
          </a:prstGeom>
          <a:noFill/>
        </p:spPr>
        <p:txBody>
          <a:bodyPr wrap="none" rtlCol="0">
            <a:spAutoFit/>
          </a:bodyPr>
          <a:lstStyle/>
          <a:p>
            <a:r>
              <a:rPr lang="en-US" sz="2400" dirty="0" smtClean="0">
                <a:latin typeface="Consolas" charset="0"/>
                <a:ea typeface="Consolas" charset="0"/>
                <a:cs typeface="Consolas" charset="0"/>
              </a:rPr>
              <a:t>2</a:t>
            </a:r>
            <a:endParaRPr lang="en-US" sz="2400" dirty="0">
              <a:latin typeface="Consolas" charset="0"/>
              <a:ea typeface="Consolas" charset="0"/>
              <a:cs typeface="Consolas" charset="0"/>
            </a:endParaRPr>
          </a:p>
        </p:txBody>
      </p:sp>
    </p:spTree>
    <p:extLst>
      <p:ext uri="{BB962C8B-B14F-4D97-AF65-F5344CB8AC3E}">
        <p14:creationId xmlns:p14="http://schemas.microsoft.com/office/powerpoint/2010/main" val="21103564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Here’s what the process looks like over a larger input:</a:t>
            </a:r>
            <a:endParaRPr lang="en-US" sz="28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3436" y="2225184"/>
            <a:ext cx="10006225" cy="3918295"/>
          </a:xfrm>
          <a:prstGeom prst="rect">
            <a:avLst/>
          </a:prstGeom>
        </p:spPr>
      </p:pic>
    </p:spTree>
    <p:extLst>
      <p:ext uri="{BB962C8B-B14F-4D97-AF65-F5344CB8AC3E}">
        <p14:creationId xmlns:p14="http://schemas.microsoft.com/office/powerpoint/2010/main" val="7370382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Interactive Kernel Demonstration</a:t>
            </a:r>
            <a:endParaRPr lang="en-US" dirty="0"/>
          </a:p>
        </p:txBody>
      </p:sp>
      <p:sp>
        <p:nvSpPr>
          <p:cNvPr id="4" name="Rectangle 3"/>
          <p:cNvSpPr/>
          <p:nvPr/>
        </p:nvSpPr>
        <p:spPr>
          <a:xfrm>
            <a:off x="1979612" y="3200400"/>
            <a:ext cx="8686417" cy="707886"/>
          </a:xfrm>
          <a:prstGeom prst="rect">
            <a:avLst/>
          </a:prstGeom>
        </p:spPr>
        <p:txBody>
          <a:bodyPr wrap="none">
            <a:spAutoFit/>
          </a:bodyPr>
          <a:lstStyle/>
          <a:p>
            <a:r>
              <a:rPr lang="en-US" sz="4000" dirty="0">
                <a:solidFill>
                  <a:schemeClr val="accent4">
                    <a:lumMod val="50000"/>
                  </a:schemeClr>
                </a:solidFill>
                <a:hlinkClick r:id="rId3"/>
              </a:rPr>
              <a:t>http://</a:t>
            </a:r>
            <a:r>
              <a:rPr lang="en-US" sz="4000" dirty="0" err="1">
                <a:solidFill>
                  <a:schemeClr val="accent4">
                    <a:lumMod val="50000"/>
                  </a:schemeClr>
                </a:solidFill>
                <a:hlinkClick r:id="rId3"/>
              </a:rPr>
              <a:t>setosa.io</a:t>
            </a:r>
            <a:r>
              <a:rPr lang="en-US" sz="4000" dirty="0">
                <a:solidFill>
                  <a:schemeClr val="accent4">
                    <a:lumMod val="50000"/>
                  </a:schemeClr>
                </a:solidFill>
                <a:hlinkClick r:id="rId3"/>
              </a:rPr>
              <a:t>/</a:t>
            </a:r>
            <a:r>
              <a:rPr lang="en-US" sz="4000" dirty="0" err="1">
                <a:solidFill>
                  <a:schemeClr val="accent4">
                    <a:lumMod val="50000"/>
                  </a:schemeClr>
                </a:solidFill>
                <a:hlinkClick r:id="rId3"/>
              </a:rPr>
              <a:t>ev</a:t>
            </a:r>
            <a:r>
              <a:rPr lang="en-US" sz="4000" dirty="0">
                <a:solidFill>
                  <a:schemeClr val="accent4">
                    <a:lumMod val="50000"/>
                  </a:schemeClr>
                </a:solidFill>
                <a:hlinkClick r:id="rId3"/>
              </a:rPr>
              <a:t>/image-kernels/</a:t>
            </a:r>
            <a:endParaRPr lang="en-US" sz="4000" dirty="0">
              <a:solidFill>
                <a:schemeClr val="accent4">
                  <a:lumMod val="50000"/>
                </a:schemeClr>
              </a:solidFill>
            </a:endParaRPr>
          </a:p>
        </p:txBody>
      </p:sp>
    </p:spTree>
    <p:extLst>
      <p:ext uri="{BB962C8B-B14F-4D97-AF65-F5344CB8AC3E}">
        <p14:creationId xmlns:p14="http://schemas.microsoft.com/office/powerpoint/2010/main" val="97292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8612" y="1600201"/>
            <a:ext cx="10058399" cy="2654064"/>
          </a:xfrm>
        </p:spPr>
        <p:txBody>
          <a:bodyPr/>
          <a:lstStyle/>
          <a:p>
            <a:r>
              <a:rPr lang="en-US" dirty="0" smtClean="0"/>
              <a:t>Convolutional Neural Networks</a:t>
            </a:r>
            <a:endParaRPr lang="en-US" dirty="0"/>
          </a:p>
        </p:txBody>
      </p:sp>
    </p:spTree>
    <p:extLst>
      <p:ext uri="{BB962C8B-B14F-4D97-AF65-F5344CB8AC3E}">
        <p14:creationId xmlns:p14="http://schemas.microsoft.com/office/powerpoint/2010/main" val="17347133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Convolutional Neural Networks</a:t>
            </a:r>
            <a:endParaRPr lang="en-US" dirty="0"/>
          </a:p>
        </p:txBody>
      </p:sp>
      <p:sp>
        <p:nvSpPr>
          <p:cNvPr id="3" name="Content Placeholder 2"/>
          <p:cNvSpPr>
            <a:spLocks noGrp="1"/>
          </p:cNvSpPr>
          <p:nvPr>
            <p:ph idx="1"/>
          </p:nvPr>
        </p:nvSpPr>
        <p:spPr/>
        <p:txBody>
          <a:bodyPr/>
          <a:lstStyle/>
          <a:p>
            <a:r>
              <a:rPr lang="en-US" dirty="0" smtClean="0"/>
              <a:t>Idea: let neural network learn suitable kernels for task</a:t>
            </a:r>
          </a:p>
          <a:p>
            <a:endParaRPr lang="en-US" dirty="0"/>
          </a:p>
        </p:txBody>
      </p:sp>
    </p:spTree>
    <p:extLst>
      <p:ext uri="{BB962C8B-B14F-4D97-AF65-F5344CB8AC3E}">
        <p14:creationId xmlns:p14="http://schemas.microsoft.com/office/powerpoint/2010/main" val="9839889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Convolution operation</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4836" y="1676400"/>
            <a:ext cx="10160000" cy="4902200"/>
          </a:xfrm>
          <a:prstGeom prst="rect">
            <a:avLst/>
          </a:prstGeom>
        </p:spPr>
      </p:pic>
    </p:spTree>
    <p:extLst>
      <p:ext uri="{BB962C8B-B14F-4D97-AF65-F5344CB8AC3E}">
        <p14:creationId xmlns:p14="http://schemas.microsoft.com/office/powerpoint/2010/main" val="9656469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Convolution settings</a:t>
            </a:r>
            <a:endParaRPr lang="en-US" dirty="0"/>
          </a:p>
        </p:txBody>
      </p:sp>
    </p:spTree>
    <p:extLst>
      <p:ext uri="{BB962C8B-B14F-4D97-AF65-F5344CB8AC3E}">
        <p14:creationId xmlns:p14="http://schemas.microsoft.com/office/powerpoint/2010/main" val="17489999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Height and width</a:t>
            </a:r>
            <a:endParaRPr lang="en-US" dirty="0"/>
          </a:p>
        </p:txBody>
      </p:sp>
      <p:sp>
        <p:nvSpPr>
          <p:cNvPr id="3" name="Content Placeholder 2"/>
          <p:cNvSpPr>
            <a:spLocks noGrp="1"/>
          </p:cNvSpPr>
          <p:nvPr>
            <p:ph idx="1"/>
          </p:nvPr>
        </p:nvSpPr>
        <p:spPr>
          <a:xfrm>
            <a:off x="1593436" y="1600200"/>
            <a:ext cx="9782801" cy="2209800"/>
          </a:xfrm>
        </p:spPr>
        <p:txBody>
          <a:bodyPr/>
          <a:lstStyle/>
          <a:p>
            <a:r>
              <a:rPr lang="en-US" dirty="0" smtClean="0"/>
              <a:t>Number of pixels the kernel operates on</a:t>
            </a:r>
          </a:p>
          <a:p>
            <a:r>
              <a:rPr lang="en-US" dirty="0" smtClean="0"/>
              <a:t>Both dimensions must be odd</a:t>
            </a:r>
          </a:p>
          <a:p>
            <a:pPr lvl="1"/>
            <a:r>
              <a:rPr lang="en-US" dirty="0" smtClean="0"/>
              <a:t>B/c we need a reasonable center pixel</a:t>
            </a:r>
          </a:p>
          <a:p>
            <a:r>
              <a:rPr lang="en-US" dirty="0" smtClean="0"/>
              <a:t>Kernel doesn’t have to be square</a:t>
            </a: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3012" y="4343400"/>
            <a:ext cx="1981200" cy="1981200"/>
          </a:xfrm>
          <a:prstGeom prst="rect">
            <a:avLst/>
          </a:prstGeom>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b="65384"/>
          <a:stretch/>
        </p:blipFill>
        <p:spPr>
          <a:xfrm>
            <a:off x="5981837" y="4991100"/>
            <a:ext cx="1981200" cy="685800"/>
          </a:xfrm>
          <a:prstGeom prst="rect">
            <a:avLst/>
          </a:prstGeom>
        </p:spPr>
      </p:pic>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65384"/>
          <a:stretch/>
        </p:blipFill>
        <p:spPr>
          <a:xfrm>
            <a:off x="9447212" y="4343400"/>
            <a:ext cx="685800" cy="1981200"/>
          </a:xfrm>
          <a:prstGeom prst="rect">
            <a:avLst/>
          </a:prstGeom>
        </p:spPr>
      </p:pic>
      <p:sp>
        <p:nvSpPr>
          <p:cNvPr id="8" name="TextBox 7"/>
          <p:cNvSpPr txBox="1"/>
          <p:nvPr/>
        </p:nvSpPr>
        <p:spPr>
          <a:xfrm>
            <a:off x="2484920" y="3962400"/>
            <a:ext cx="2167516" cy="369332"/>
          </a:xfrm>
          <a:prstGeom prst="rect">
            <a:avLst/>
          </a:prstGeom>
          <a:noFill/>
        </p:spPr>
        <p:txBody>
          <a:bodyPr wrap="none" rtlCol="0">
            <a:spAutoFit/>
          </a:bodyPr>
          <a:lstStyle/>
          <a:p>
            <a:r>
              <a:rPr lang="en-US" dirty="0" smtClean="0"/>
              <a:t>Height: 3, Width: 3</a:t>
            </a:r>
            <a:endParaRPr lang="en-US" dirty="0"/>
          </a:p>
        </p:txBody>
      </p:sp>
      <p:sp>
        <p:nvSpPr>
          <p:cNvPr id="9" name="TextBox 8"/>
          <p:cNvSpPr txBox="1"/>
          <p:nvPr/>
        </p:nvSpPr>
        <p:spPr>
          <a:xfrm>
            <a:off x="5888679" y="3962400"/>
            <a:ext cx="2111412" cy="369332"/>
          </a:xfrm>
          <a:prstGeom prst="rect">
            <a:avLst/>
          </a:prstGeom>
          <a:noFill/>
        </p:spPr>
        <p:txBody>
          <a:bodyPr wrap="none" rtlCol="0">
            <a:spAutoFit/>
          </a:bodyPr>
          <a:lstStyle/>
          <a:p>
            <a:r>
              <a:rPr lang="en-US" dirty="0" smtClean="0"/>
              <a:t>Height: 1, Width: 3</a:t>
            </a:r>
            <a:endParaRPr lang="en-US" dirty="0"/>
          </a:p>
        </p:txBody>
      </p:sp>
      <p:sp>
        <p:nvSpPr>
          <p:cNvPr id="10" name="TextBox 9"/>
          <p:cNvSpPr txBox="1"/>
          <p:nvPr/>
        </p:nvSpPr>
        <p:spPr>
          <a:xfrm>
            <a:off x="8734406" y="3962400"/>
            <a:ext cx="2111412" cy="369332"/>
          </a:xfrm>
          <a:prstGeom prst="rect">
            <a:avLst/>
          </a:prstGeom>
          <a:noFill/>
        </p:spPr>
        <p:txBody>
          <a:bodyPr wrap="none" rtlCol="0">
            <a:spAutoFit/>
          </a:bodyPr>
          <a:lstStyle/>
          <a:p>
            <a:r>
              <a:rPr lang="en-US" dirty="0" smtClean="0"/>
              <a:t>Height: 3, Width: 1</a:t>
            </a:r>
            <a:endParaRPr lang="en-US" dirty="0"/>
          </a:p>
        </p:txBody>
      </p:sp>
    </p:spTree>
    <p:extLst>
      <p:ext uri="{BB962C8B-B14F-4D97-AF65-F5344CB8AC3E}">
        <p14:creationId xmlns:p14="http://schemas.microsoft.com/office/powerpoint/2010/main" val="14048865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Stride</a:t>
            </a:r>
            <a:endParaRPr lang="en-US" dirty="0"/>
          </a:p>
        </p:txBody>
      </p:sp>
      <p:sp>
        <p:nvSpPr>
          <p:cNvPr id="3" name="Content Placeholder 2"/>
          <p:cNvSpPr>
            <a:spLocks noGrp="1"/>
          </p:cNvSpPr>
          <p:nvPr>
            <p:ph idx="1"/>
          </p:nvPr>
        </p:nvSpPr>
        <p:spPr/>
        <p:txBody>
          <a:bodyPr/>
          <a:lstStyle/>
          <a:p>
            <a:r>
              <a:rPr lang="en-US" i="1" dirty="0" smtClean="0"/>
              <a:t>Stride </a:t>
            </a:r>
            <a:r>
              <a:rPr lang="en-US" dirty="0" smtClean="0"/>
              <a:t>is the </a:t>
            </a:r>
            <a:r>
              <a:rPr lang="en-US" dirty="0"/>
              <a:t>s</a:t>
            </a:r>
            <a:r>
              <a:rPr lang="en-US" dirty="0" smtClean="0"/>
              <a:t>tep size from center to center</a:t>
            </a:r>
          </a:p>
          <a:p>
            <a:endParaRPr lang="en-US" dirty="0" smtClean="0"/>
          </a:p>
          <a:p>
            <a:r>
              <a:rPr lang="en-US" dirty="0" smtClean="0"/>
              <a:t>Also has height/width component</a:t>
            </a:r>
          </a:p>
          <a:p>
            <a:pPr lvl="1"/>
            <a:r>
              <a:rPr lang="en-US" dirty="0" smtClean="0"/>
              <a:t>Generally height/width are the same</a:t>
            </a:r>
          </a:p>
          <a:p>
            <a:endParaRPr lang="en-US" dirty="0" smtClean="0"/>
          </a:p>
          <a:p>
            <a:r>
              <a:rPr lang="en-US" dirty="0" smtClean="0"/>
              <a:t>If greater than 1, will scale down the output dimensions</a:t>
            </a:r>
            <a:endParaRPr lang="en-US" dirty="0"/>
          </a:p>
          <a:p>
            <a:endParaRPr lang="en-US" dirty="0" smtClean="0"/>
          </a:p>
        </p:txBody>
      </p:sp>
    </p:spTree>
    <p:extLst>
      <p:ext uri="{BB962C8B-B14F-4D97-AF65-F5344CB8AC3E}">
        <p14:creationId xmlns:p14="http://schemas.microsoft.com/office/powerpoint/2010/main" val="19793935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Stride 2 convolution</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0012" y="2133600"/>
            <a:ext cx="10437484" cy="4087170"/>
          </a:xfrm>
          <a:prstGeom prst="rect">
            <a:avLst/>
          </a:prstGeom>
        </p:spPr>
      </p:pic>
    </p:spTree>
    <p:extLst>
      <p:ext uri="{BB962C8B-B14F-4D97-AF65-F5344CB8AC3E}">
        <p14:creationId xmlns:p14="http://schemas.microsoft.com/office/powerpoint/2010/main" val="15448420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Padding</a:t>
            </a:r>
            <a:endParaRPr lang="en-US" dirty="0"/>
          </a:p>
        </p:txBody>
      </p:sp>
      <p:sp>
        <p:nvSpPr>
          <p:cNvPr id="3" name="Content Placeholder 2"/>
          <p:cNvSpPr>
            <a:spLocks noGrp="1"/>
          </p:cNvSpPr>
          <p:nvPr>
            <p:ph idx="1"/>
          </p:nvPr>
        </p:nvSpPr>
        <p:spPr>
          <a:xfrm>
            <a:off x="1593436" y="1600200"/>
            <a:ext cx="9782801" cy="762000"/>
          </a:xfrm>
        </p:spPr>
        <p:txBody>
          <a:bodyPr/>
          <a:lstStyle/>
          <a:p>
            <a:r>
              <a:rPr lang="en-US" dirty="0" smtClean="0"/>
              <a:t>Notice: the standard convolution down samples input</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8718" y="2209800"/>
            <a:ext cx="10141200" cy="3971149"/>
          </a:xfrm>
          <a:prstGeom prst="rect">
            <a:avLst/>
          </a:prstGeom>
        </p:spPr>
      </p:pic>
      <p:sp>
        <p:nvSpPr>
          <p:cNvPr id="5" name="TextBox 4"/>
          <p:cNvSpPr txBox="1"/>
          <p:nvPr/>
        </p:nvSpPr>
        <p:spPr>
          <a:xfrm>
            <a:off x="2844316" y="6044625"/>
            <a:ext cx="1314784" cy="584775"/>
          </a:xfrm>
          <a:prstGeom prst="rect">
            <a:avLst/>
          </a:prstGeom>
          <a:noFill/>
        </p:spPr>
        <p:txBody>
          <a:bodyPr wrap="none" rtlCol="0">
            <a:spAutoFit/>
          </a:bodyPr>
          <a:lstStyle/>
          <a:p>
            <a:r>
              <a:rPr lang="en-US" sz="3200" dirty="0" smtClean="0">
                <a:latin typeface="Consolas" charset="0"/>
                <a:ea typeface="Consolas" charset="0"/>
                <a:cs typeface="Consolas" charset="0"/>
              </a:rPr>
              <a:t>[5x5]</a:t>
            </a:r>
            <a:endParaRPr lang="en-US" sz="3200" dirty="0">
              <a:latin typeface="Consolas" charset="0"/>
              <a:ea typeface="Consolas" charset="0"/>
              <a:cs typeface="Consolas" charset="0"/>
            </a:endParaRPr>
          </a:p>
        </p:txBody>
      </p:sp>
      <p:sp>
        <p:nvSpPr>
          <p:cNvPr id="6" name="TextBox 5"/>
          <p:cNvSpPr txBox="1"/>
          <p:nvPr/>
        </p:nvSpPr>
        <p:spPr>
          <a:xfrm>
            <a:off x="9675812" y="6044625"/>
            <a:ext cx="1314784" cy="584775"/>
          </a:xfrm>
          <a:prstGeom prst="rect">
            <a:avLst/>
          </a:prstGeom>
          <a:noFill/>
        </p:spPr>
        <p:txBody>
          <a:bodyPr wrap="none" rtlCol="0">
            <a:spAutoFit/>
          </a:bodyPr>
          <a:lstStyle/>
          <a:p>
            <a:r>
              <a:rPr lang="en-US" sz="3200" smtClean="0">
                <a:latin typeface="Consolas" charset="0"/>
                <a:ea typeface="Consolas" charset="0"/>
                <a:cs typeface="Consolas" charset="0"/>
              </a:rPr>
              <a:t>[3x3]</a:t>
            </a:r>
            <a:endParaRPr lang="en-US" sz="3200" dirty="0">
              <a:latin typeface="Consolas" charset="0"/>
              <a:ea typeface="Consolas" charset="0"/>
              <a:cs typeface="Consolas" charset="0"/>
            </a:endParaRPr>
          </a:p>
        </p:txBody>
      </p:sp>
    </p:spTree>
    <p:extLst>
      <p:ext uri="{BB962C8B-B14F-4D97-AF65-F5344CB8AC3E}">
        <p14:creationId xmlns:p14="http://schemas.microsoft.com/office/powerpoint/2010/main" val="12946072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Padding</a:t>
            </a:r>
            <a:endParaRPr lang="en-US" dirty="0"/>
          </a:p>
        </p:txBody>
      </p:sp>
      <p:sp>
        <p:nvSpPr>
          <p:cNvPr id="3" name="Content Placeholder 2"/>
          <p:cNvSpPr>
            <a:spLocks noGrp="1"/>
          </p:cNvSpPr>
          <p:nvPr>
            <p:ph idx="1"/>
          </p:nvPr>
        </p:nvSpPr>
        <p:spPr>
          <a:xfrm>
            <a:off x="1593436" y="1600200"/>
            <a:ext cx="9782801" cy="5410200"/>
          </a:xfrm>
        </p:spPr>
        <p:txBody>
          <a:bodyPr>
            <a:normAutofit fontScale="85000" lnSpcReduction="20000"/>
          </a:bodyPr>
          <a:lstStyle/>
          <a:p>
            <a:r>
              <a:rPr lang="en-US" dirty="0" smtClean="0"/>
              <a:t>Padding adds pseudo-pixels off-the-edge</a:t>
            </a:r>
            <a:r>
              <a:rPr lang="en-US" dirty="0"/>
              <a:t> </a:t>
            </a:r>
            <a:r>
              <a:rPr lang="en-US" dirty="0" smtClean="0"/>
              <a:t>of the input</a:t>
            </a:r>
          </a:p>
          <a:p>
            <a:pPr lvl="1"/>
            <a:r>
              <a:rPr lang="en-US" dirty="0" smtClean="0"/>
              <a:t>Padding is all zero values</a:t>
            </a:r>
          </a:p>
          <a:p>
            <a:endParaRPr lang="en-US" dirty="0" smtClean="0"/>
          </a:p>
          <a:p>
            <a:r>
              <a:rPr lang="en-US" dirty="0" smtClean="0"/>
              <a:t>One unit of padding means </a:t>
            </a:r>
            <a:r>
              <a:rPr lang="en-US" dirty="0" smtClean="0">
                <a:sym typeface="Wingdings"/>
              </a:rPr>
              <a:t>one ring of zero pixels around the input</a:t>
            </a:r>
            <a:endParaRPr lang="en-US" dirty="0" smtClean="0"/>
          </a:p>
          <a:p>
            <a:endParaRPr lang="en-US" dirty="0" smtClean="0"/>
          </a:p>
          <a:p>
            <a:r>
              <a:rPr lang="en-US" dirty="0" smtClean="0"/>
              <a:t>Amount of padding is usually either:</a:t>
            </a:r>
          </a:p>
          <a:p>
            <a:pPr marL="457200" indent="-457200">
              <a:buFont typeface="Arial" charset="0"/>
              <a:buChar char="•"/>
            </a:pPr>
            <a:r>
              <a:rPr lang="en-US" dirty="0"/>
              <a:t>N</a:t>
            </a:r>
            <a:r>
              <a:rPr lang="en-US" dirty="0" smtClean="0"/>
              <a:t>o padding</a:t>
            </a:r>
          </a:p>
          <a:p>
            <a:pPr marL="1165860" lvl="1" indent="-457200"/>
            <a:r>
              <a:rPr lang="en-US" dirty="0" err="1" smtClean="0"/>
              <a:t>TensorFlow</a:t>
            </a:r>
            <a:r>
              <a:rPr lang="en-US" dirty="0" smtClean="0"/>
              <a:t> calls this ‘VALID’ (i.e., use only </a:t>
            </a:r>
            <a:r>
              <a:rPr lang="en-US" i="1" dirty="0" smtClean="0"/>
              <a:t>valid</a:t>
            </a:r>
            <a:r>
              <a:rPr lang="en-US" dirty="0" smtClean="0"/>
              <a:t> input size)</a:t>
            </a:r>
          </a:p>
          <a:p>
            <a:pPr marL="457200" indent="-457200">
              <a:buFont typeface="Arial" charset="0"/>
              <a:buChar char="•"/>
            </a:pPr>
            <a:r>
              <a:rPr lang="en-US" dirty="0"/>
              <a:t>E</a:t>
            </a:r>
            <a:r>
              <a:rPr lang="en-US" dirty="0" smtClean="0"/>
              <a:t>nough to offset the kernel size and output the same dimensions</a:t>
            </a:r>
          </a:p>
          <a:p>
            <a:pPr marL="1165860" lvl="1" indent="-457200"/>
            <a:r>
              <a:rPr lang="en-US" dirty="0" err="1" smtClean="0"/>
              <a:t>TensorFlow</a:t>
            </a:r>
            <a:r>
              <a:rPr lang="en-US" dirty="0" smtClean="0"/>
              <a:t> calls this ‘SAME’ (i.e., same input/output size)</a:t>
            </a:r>
          </a:p>
          <a:p>
            <a:pPr lvl="2"/>
            <a:r>
              <a:rPr lang="en-US" dirty="0" smtClean="0"/>
              <a:t>3x3 kernel </a:t>
            </a:r>
            <a:r>
              <a:rPr lang="en-US" dirty="0" smtClean="0">
                <a:sym typeface="Wingdings"/>
              </a:rPr>
              <a:t> padding 1</a:t>
            </a:r>
          </a:p>
          <a:p>
            <a:pPr lvl="2"/>
            <a:r>
              <a:rPr lang="en-US" dirty="0" smtClean="0">
                <a:sym typeface="Wingdings"/>
              </a:rPr>
              <a:t>5x5 kernel  padding 2</a:t>
            </a:r>
          </a:p>
          <a:p>
            <a:pPr lvl="2"/>
            <a:r>
              <a:rPr lang="en-US" dirty="0" smtClean="0">
                <a:sym typeface="Wingdings"/>
              </a:rPr>
              <a:t>7x7 kernel  padding 3</a:t>
            </a:r>
          </a:p>
        </p:txBody>
      </p:sp>
    </p:spTree>
    <p:extLst>
      <p:ext uri="{BB962C8B-B14F-4D97-AF65-F5344CB8AC3E}">
        <p14:creationId xmlns:p14="http://schemas.microsoft.com/office/powerpoint/2010/main" val="627533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Padding: 1 (‘SAME’)</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3813" y="1691005"/>
            <a:ext cx="10515600" cy="4206240"/>
          </a:xfrm>
          <a:prstGeom prst="rect">
            <a:avLst/>
          </a:prstGeom>
        </p:spPr>
      </p:pic>
    </p:spTree>
    <p:extLst>
      <p:ext uri="{BB962C8B-B14F-4D97-AF65-F5344CB8AC3E}">
        <p14:creationId xmlns:p14="http://schemas.microsoft.com/office/powerpoint/2010/main" val="2544885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Depth </a:t>
            </a:r>
            <a:r>
              <a:rPr lang="mr-IN" dirty="0" smtClean="0"/>
              <a:t>–</a:t>
            </a:r>
            <a:r>
              <a:rPr lang="en-US" dirty="0" smtClean="0"/>
              <a:t> Number of Output Channels</a:t>
            </a:r>
            <a:endParaRPr lang="en-US" dirty="0"/>
          </a:p>
        </p:txBody>
      </p:sp>
      <p:sp>
        <p:nvSpPr>
          <p:cNvPr id="3" name="Content Placeholder 2"/>
          <p:cNvSpPr>
            <a:spLocks noGrp="1"/>
          </p:cNvSpPr>
          <p:nvPr>
            <p:ph idx="1"/>
          </p:nvPr>
        </p:nvSpPr>
        <p:spPr/>
        <p:txBody>
          <a:bodyPr/>
          <a:lstStyle/>
          <a:p>
            <a:r>
              <a:rPr lang="en-US" dirty="0" smtClean="0"/>
              <a:t>Channels: multiple numbers (colors) associated with same pixel</a:t>
            </a:r>
          </a:p>
          <a:p>
            <a:pPr lvl="1"/>
            <a:r>
              <a:rPr lang="en-US" dirty="0" smtClean="0"/>
              <a:t>3-color RGB </a:t>
            </a:r>
            <a:r>
              <a:rPr lang="en-US" dirty="0" smtClean="0">
                <a:sym typeface="Wingdings"/>
              </a:rPr>
              <a:t> 3 channels</a:t>
            </a:r>
          </a:p>
          <a:p>
            <a:pPr lvl="1"/>
            <a:r>
              <a:rPr lang="en-US" dirty="0" smtClean="0">
                <a:sym typeface="Wingdings"/>
              </a:rPr>
              <a:t>4-color CMYK  4 channels</a:t>
            </a:r>
            <a:endParaRPr lang="en-US" dirty="0" smtClean="0"/>
          </a:p>
          <a:p>
            <a:endParaRPr lang="en-US" dirty="0" smtClean="0"/>
          </a:p>
          <a:p>
            <a:r>
              <a:rPr lang="en-US" dirty="0" smtClean="0"/>
              <a:t>Number </a:t>
            </a:r>
            <a:r>
              <a:rPr lang="en-US" dirty="0"/>
              <a:t>of </a:t>
            </a:r>
            <a:r>
              <a:rPr lang="en-US" dirty="0" smtClean="0"/>
              <a:t>separate kernels</a:t>
            </a:r>
            <a:r>
              <a:rPr lang="en-US" dirty="0"/>
              <a:t> </a:t>
            </a:r>
            <a:r>
              <a:rPr lang="en-US" dirty="0" smtClean="0"/>
              <a:t>needed in a layer</a:t>
            </a:r>
            <a:endParaRPr lang="en-US" dirty="0"/>
          </a:p>
        </p:txBody>
      </p:sp>
    </p:spTree>
    <p:extLst>
      <p:ext uri="{BB962C8B-B14F-4D97-AF65-F5344CB8AC3E}">
        <p14:creationId xmlns:p14="http://schemas.microsoft.com/office/powerpoint/2010/main" val="1822949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 channels: 2</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3436" y="1600200"/>
            <a:ext cx="10006225" cy="5168264"/>
          </a:xfrm>
          <a:prstGeom prst="rect">
            <a:avLst/>
          </a:prstGeom>
        </p:spPr>
      </p:pic>
    </p:spTree>
    <p:extLst>
      <p:ext uri="{BB962C8B-B14F-4D97-AF65-F5344CB8AC3E}">
        <p14:creationId xmlns:p14="http://schemas.microsoft.com/office/powerpoint/2010/main" val="6012733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 Depth</a:t>
            </a:r>
            <a:endParaRPr lang="en-US" dirty="0"/>
          </a:p>
        </p:txBody>
      </p:sp>
      <p:sp>
        <p:nvSpPr>
          <p:cNvPr id="3" name="Content Placeholder 2"/>
          <p:cNvSpPr>
            <a:spLocks noGrp="1"/>
          </p:cNvSpPr>
          <p:nvPr>
            <p:ph idx="1"/>
          </p:nvPr>
        </p:nvSpPr>
        <p:spPr/>
        <p:txBody>
          <a:bodyPr/>
          <a:lstStyle/>
          <a:p>
            <a:r>
              <a:rPr lang="en-US" dirty="0" smtClean="0"/>
              <a:t>Each kernel has the same depth as the number of input channels</a:t>
            </a:r>
          </a:p>
          <a:p>
            <a:r>
              <a:rPr lang="en-US" dirty="0" smtClean="0"/>
              <a:t>Each input on each channel has a single weight associated with it</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0212" y="3505200"/>
            <a:ext cx="6613424" cy="3190977"/>
          </a:xfrm>
          <a:prstGeom prst="rect">
            <a:avLst/>
          </a:prstGeom>
        </p:spPr>
      </p:pic>
    </p:spTree>
    <p:extLst>
      <p:ext uri="{BB962C8B-B14F-4D97-AF65-F5344CB8AC3E}">
        <p14:creationId xmlns:p14="http://schemas.microsoft.com/office/powerpoint/2010/main" val="698260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Convolution In </a:t>
            </a:r>
            <a:r>
              <a:rPr lang="en-US" dirty="0" err="1" smtClean="0"/>
              <a:t>TensorFlow</a:t>
            </a:r>
            <a:r>
              <a:rPr lang="en-US" dirty="0" smtClean="0"/>
              <a:t>:</a:t>
            </a:r>
            <a:endParaRPr lang="en-US" dirty="0"/>
          </a:p>
        </p:txBody>
      </p:sp>
      <p:sp>
        <p:nvSpPr>
          <p:cNvPr id="3" name="Content Placeholder 2"/>
          <p:cNvSpPr>
            <a:spLocks noGrp="1"/>
          </p:cNvSpPr>
          <p:nvPr>
            <p:ph idx="1"/>
          </p:nvPr>
        </p:nvSpPr>
        <p:spPr/>
        <p:txBody>
          <a:bodyPr/>
          <a:lstStyle/>
          <a:p>
            <a:r>
              <a:rPr lang="en-US" dirty="0" smtClean="0">
                <a:latin typeface="Consolas" charset="0"/>
                <a:ea typeface="Consolas" charset="0"/>
                <a:cs typeface="Consolas" charset="0"/>
              </a:rPr>
              <a:t>tf.nn.conv2d(input, filter, strides, padding)</a:t>
            </a:r>
          </a:p>
          <a:p>
            <a:r>
              <a:rPr lang="en-US" sz="2400" dirty="0">
                <a:latin typeface="Consolas" charset="0"/>
                <a:ea typeface="Consolas" charset="0"/>
                <a:cs typeface="Consolas" charset="0"/>
              </a:rPr>
              <a:t>i</a:t>
            </a:r>
            <a:r>
              <a:rPr lang="en-US" sz="2400" dirty="0" smtClean="0">
                <a:latin typeface="Consolas" charset="0"/>
                <a:ea typeface="Consolas" charset="0"/>
                <a:cs typeface="Consolas" charset="0"/>
              </a:rPr>
              <a:t>nput: </a:t>
            </a:r>
            <a:r>
              <a:rPr lang="en-US" sz="2400" dirty="0" smtClean="0">
                <a:latin typeface="Euphemia UCAS" charset="0"/>
                <a:ea typeface="Euphemia UCAS" charset="0"/>
                <a:cs typeface="Euphemia UCAS" charset="0"/>
              </a:rPr>
              <a:t>4d tensor [</a:t>
            </a:r>
            <a:r>
              <a:rPr lang="en-US" sz="2400" dirty="0" err="1" smtClean="0">
                <a:latin typeface="Euphemia UCAS" charset="0"/>
                <a:ea typeface="Euphemia UCAS" charset="0"/>
                <a:cs typeface="Euphemia UCAS" charset="0"/>
              </a:rPr>
              <a:t>batch_size</a:t>
            </a:r>
            <a:r>
              <a:rPr lang="en-US" sz="2400" dirty="0" smtClean="0">
                <a:latin typeface="Euphemia UCAS" charset="0"/>
                <a:ea typeface="Euphemia UCAS" charset="0"/>
                <a:cs typeface="Euphemia UCAS" charset="0"/>
              </a:rPr>
              <a:t>, height, width, channels]</a:t>
            </a:r>
          </a:p>
          <a:p>
            <a:r>
              <a:rPr lang="en-US" sz="2400" dirty="0" smtClean="0">
                <a:latin typeface="Consolas" charset="0"/>
                <a:ea typeface="Consolas" charset="0"/>
                <a:cs typeface="Consolas" charset="0"/>
              </a:rPr>
              <a:t>filter: </a:t>
            </a:r>
            <a:r>
              <a:rPr lang="en-US" sz="2400" dirty="0" smtClean="0">
                <a:latin typeface="Euphemia UCAS" charset="0"/>
                <a:ea typeface="Euphemia UCAS" charset="0"/>
                <a:cs typeface="Euphemia UCAS" charset="0"/>
              </a:rPr>
              <a:t>4d: [height, width, </a:t>
            </a:r>
            <a:r>
              <a:rPr lang="en-US" sz="2400" dirty="0" err="1" smtClean="0">
                <a:latin typeface="Euphemia UCAS" charset="0"/>
                <a:ea typeface="Euphemia UCAS" charset="0"/>
                <a:cs typeface="Euphemia UCAS" charset="0"/>
              </a:rPr>
              <a:t>channels_in</a:t>
            </a:r>
            <a:r>
              <a:rPr lang="en-US" sz="2400" dirty="0" smtClean="0">
                <a:latin typeface="Euphemia UCAS" charset="0"/>
                <a:ea typeface="Euphemia UCAS" charset="0"/>
                <a:cs typeface="Euphemia UCAS" charset="0"/>
              </a:rPr>
              <a:t>, </a:t>
            </a:r>
            <a:r>
              <a:rPr lang="en-US" sz="2400" dirty="0" err="1" smtClean="0">
                <a:latin typeface="Euphemia UCAS" charset="0"/>
                <a:ea typeface="Euphemia UCAS" charset="0"/>
                <a:cs typeface="Euphemia UCAS" charset="0"/>
              </a:rPr>
              <a:t>channels_out</a:t>
            </a:r>
            <a:r>
              <a:rPr lang="en-US" sz="2400" dirty="0" smtClean="0">
                <a:latin typeface="Euphemia UCAS" charset="0"/>
                <a:ea typeface="Euphemia UCAS" charset="0"/>
                <a:cs typeface="Euphemia UCAS" charset="0"/>
              </a:rPr>
              <a:t>]</a:t>
            </a:r>
          </a:p>
          <a:p>
            <a:pPr lvl="1"/>
            <a:r>
              <a:rPr lang="en-US" sz="2000" dirty="0" smtClean="0">
                <a:latin typeface="Euphemia UCAS" charset="0"/>
                <a:ea typeface="Euphemia UCAS" charset="0"/>
                <a:cs typeface="Euphemia UCAS" charset="0"/>
              </a:rPr>
              <a:t>Generally a Variable</a:t>
            </a:r>
            <a:endParaRPr lang="en-US" sz="2000" dirty="0" smtClean="0">
              <a:latin typeface="Consolas" charset="0"/>
              <a:ea typeface="Consolas" charset="0"/>
              <a:cs typeface="Consolas" charset="0"/>
            </a:endParaRPr>
          </a:p>
          <a:p>
            <a:r>
              <a:rPr lang="en-US" sz="2400" dirty="0">
                <a:latin typeface="Consolas" charset="0"/>
                <a:ea typeface="Consolas" charset="0"/>
                <a:cs typeface="Consolas" charset="0"/>
              </a:rPr>
              <a:t>s</a:t>
            </a:r>
            <a:r>
              <a:rPr lang="en-US" sz="2400" dirty="0" smtClean="0">
                <a:latin typeface="Consolas" charset="0"/>
                <a:ea typeface="Consolas" charset="0"/>
                <a:cs typeface="Consolas" charset="0"/>
              </a:rPr>
              <a:t>trides: 4d: </a:t>
            </a:r>
            <a:r>
              <a:rPr lang="en-US" sz="2400" dirty="0" smtClean="0">
                <a:latin typeface="Euphemia UCAS" charset="0"/>
                <a:ea typeface="Euphemia UCAS" charset="0"/>
                <a:cs typeface="Euphemia UCAS" charset="0"/>
              </a:rPr>
              <a:t>[1, </a:t>
            </a:r>
            <a:r>
              <a:rPr lang="en-US" sz="2400" dirty="0" err="1" smtClean="0">
                <a:latin typeface="Euphemia UCAS" charset="0"/>
                <a:ea typeface="Euphemia UCAS" charset="0"/>
                <a:cs typeface="Euphemia UCAS" charset="0"/>
              </a:rPr>
              <a:t>vert_stride</a:t>
            </a:r>
            <a:r>
              <a:rPr lang="en-US" sz="2400" dirty="0" smtClean="0">
                <a:latin typeface="Euphemia UCAS" charset="0"/>
                <a:ea typeface="Euphemia UCAS" charset="0"/>
                <a:cs typeface="Euphemia UCAS" charset="0"/>
              </a:rPr>
              <a:t>, </a:t>
            </a:r>
            <a:r>
              <a:rPr lang="en-US" sz="2400" dirty="0" err="1" smtClean="0">
                <a:latin typeface="Euphemia UCAS" charset="0"/>
                <a:ea typeface="Euphemia UCAS" charset="0"/>
                <a:cs typeface="Euphemia UCAS" charset="0"/>
              </a:rPr>
              <a:t>horiz_strid</a:t>
            </a:r>
            <a:r>
              <a:rPr lang="en-US" sz="2400" dirty="0" smtClean="0">
                <a:latin typeface="Euphemia UCAS" charset="0"/>
                <a:ea typeface="Euphemia UCAS" charset="0"/>
                <a:cs typeface="Euphemia UCAS" charset="0"/>
              </a:rPr>
              <a:t>, 1]</a:t>
            </a:r>
          </a:p>
          <a:p>
            <a:pPr lvl="1"/>
            <a:r>
              <a:rPr lang="en-US" sz="2000" dirty="0" smtClean="0">
                <a:latin typeface="Euphemia UCAS" charset="0"/>
                <a:ea typeface="Euphemia UCAS" charset="0"/>
                <a:cs typeface="Euphemia UCAS" charset="0"/>
              </a:rPr>
              <a:t>First and last dimensions must be 1 (helps with under-the-hood math)</a:t>
            </a:r>
          </a:p>
          <a:p>
            <a:r>
              <a:rPr lang="en-US" sz="2400" dirty="0">
                <a:latin typeface="Consolas" charset="0"/>
                <a:ea typeface="Consolas" charset="0"/>
                <a:cs typeface="Consolas" charset="0"/>
              </a:rPr>
              <a:t>p</a:t>
            </a:r>
            <a:r>
              <a:rPr lang="en-US" sz="2400" dirty="0" smtClean="0">
                <a:latin typeface="Consolas" charset="0"/>
                <a:ea typeface="Consolas" charset="0"/>
                <a:cs typeface="Consolas" charset="0"/>
              </a:rPr>
              <a:t>adding: </a:t>
            </a:r>
            <a:r>
              <a:rPr lang="en-US" sz="2400" dirty="0" smtClean="0">
                <a:latin typeface="Euphemia UCAS" charset="0"/>
                <a:ea typeface="Euphemia UCAS" charset="0"/>
                <a:cs typeface="Euphemia UCAS" charset="0"/>
              </a:rPr>
              <a:t>string: ‘SAME’ or ‘VALID’</a:t>
            </a:r>
          </a:p>
          <a:p>
            <a:pPr lvl="1"/>
            <a:endParaRPr lang="en-US" sz="2000" dirty="0">
              <a:latin typeface="Consolas" charset="0"/>
              <a:ea typeface="Consolas" charset="0"/>
              <a:cs typeface="Consolas" charset="0"/>
            </a:endParaRPr>
          </a:p>
        </p:txBody>
      </p:sp>
    </p:spTree>
    <p:extLst>
      <p:ext uri="{BB962C8B-B14F-4D97-AF65-F5344CB8AC3E}">
        <p14:creationId xmlns:p14="http://schemas.microsoft.com/office/powerpoint/2010/main" val="19861565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Pooling</a:t>
            </a:r>
            <a:endParaRPr lang="en-US" dirty="0"/>
          </a:p>
        </p:txBody>
      </p:sp>
    </p:spTree>
    <p:extLst>
      <p:ext uri="{BB962C8B-B14F-4D97-AF65-F5344CB8AC3E}">
        <p14:creationId xmlns:p14="http://schemas.microsoft.com/office/powerpoint/2010/main" val="1080183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Pooling</a:t>
            </a:r>
            <a:endParaRPr lang="en-US" dirty="0"/>
          </a:p>
        </p:txBody>
      </p:sp>
      <p:sp>
        <p:nvSpPr>
          <p:cNvPr id="3" name="Content Placeholder 2"/>
          <p:cNvSpPr>
            <a:spLocks noGrp="1"/>
          </p:cNvSpPr>
          <p:nvPr>
            <p:ph idx="1"/>
          </p:nvPr>
        </p:nvSpPr>
        <p:spPr/>
        <p:txBody>
          <a:bodyPr/>
          <a:lstStyle/>
          <a:p>
            <a:r>
              <a:rPr lang="en-US" dirty="0" smtClean="0"/>
              <a:t>Idea: reduce neighboring pixels</a:t>
            </a:r>
          </a:p>
          <a:p>
            <a:endParaRPr lang="en-US" dirty="0" smtClean="0"/>
          </a:p>
          <a:p>
            <a:r>
              <a:rPr lang="en-US" dirty="0" smtClean="0"/>
              <a:t>Reduce dimensions of inputs (height and width)</a:t>
            </a:r>
          </a:p>
          <a:p>
            <a:endParaRPr lang="en-US" dirty="0" smtClean="0"/>
          </a:p>
          <a:p>
            <a:r>
              <a:rPr lang="en-US" dirty="0" smtClean="0"/>
              <a:t>No parameters!</a:t>
            </a:r>
          </a:p>
          <a:p>
            <a:endParaRPr lang="en-US" dirty="0"/>
          </a:p>
        </p:txBody>
      </p:sp>
    </p:spTree>
    <p:extLst>
      <p:ext uri="{BB962C8B-B14F-4D97-AF65-F5344CB8AC3E}">
        <p14:creationId xmlns:p14="http://schemas.microsoft.com/office/powerpoint/2010/main" val="948236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Max pooling</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3412" y="1417637"/>
            <a:ext cx="8704581" cy="5440363"/>
          </a:xfrm>
          <a:prstGeom prst="rect">
            <a:avLst/>
          </a:prstGeom>
        </p:spPr>
      </p:pic>
    </p:spTree>
    <p:extLst>
      <p:ext uri="{BB962C8B-B14F-4D97-AF65-F5344CB8AC3E}">
        <p14:creationId xmlns:p14="http://schemas.microsoft.com/office/powerpoint/2010/main" val="4293751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Average pooling</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3412" y="1417637"/>
            <a:ext cx="8704580" cy="5440363"/>
          </a:xfrm>
          <a:prstGeom prst="rect">
            <a:avLst/>
          </a:prstGeom>
        </p:spPr>
      </p:pic>
    </p:spTree>
    <p:extLst>
      <p:ext uri="{BB962C8B-B14F-4D97-AF65-F5344CB8AC3E}">
        <p14:creationId xmlns:p14="http://schemas.microsoft.com/office/powerpoint/2010/main" val="12620801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pooling</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3412" y="1417637"/>
            <a:ext cx="8704580" cy="5440362"/>
          </a:xfrm>
          <a:prstGeom prst="rect">
            <a:avLst/>
          </a:prstGeom>
        </p:spPr>
      </p:pic>
      <p:sp>
        <p:nvSpPr>
          <p:cNvPr id="4" name="Rectangle 3"/>
          <p:cNvSpPr/>
          <p:nvPr/>
        </p:nvSpPr>
        <p:spPr>
          <a:xfrm>
            <a:off x="5492617" y="904356"/>
            <a:ext cx="5341399" cy="523220"/>
          </a:xfrm>
          <a:prstGeom prst="rect">
            <a:avLst/>
          </a:prstGeom>
        </p:spPr>
        <p:txBody>
          <a:bodyPr wrap="none">
            <a:spAutoFit/>
          </a:bodyPr>
          <a:lstStyle/>
          <a:p>
            <a:r>
              <a:rPr lang="en-US" sz="2800" dirty="0" smtClean="0"/>
              <a:t>(Average </a:t>
            </a:r>
            <a:r>
              <a:rPr lang="en-US" sz="2800" dirty="0"/>
              <a:t>pool over whole </a:t>
            </a:r>
            <a:r>
              <a:rPr lang="en-US" sz="2800" dirty="0" smtClean="0"/>
              <a:t>layer)</a:t>
            </a:r>
            <a:endParaRPr lang="en-US" sz="2800" dirty="0"/>
          </a:p>
        </p:txBody>
      </p:sp>
    </p:spTree>
    <p:extLst>
      <p:ext uri="{BB962C8B-B14F-4D97-AF65-F5344CB8AC3E}">
        <p14:creationId xmlns:p14="http://schemas.microsoft.com/office/powerpoint/2010/main" val="2111628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Additional convolution operation resource</a:t>
            </a:r>
            <a:endParaRPr lang="en-US" dirty="0"/>
          </a:p>
        </p:txBody>
      </p:sp>
      <p:sp>
        <p:nvSpPr>
          <p:cNvPr id="3" name="Content Placeholder 2"/>
          <p:cNvSpPr>
            <a:spLocks noGrp="1"/>
          </p:cNvSpPr>
          <p:nvPr>
            <p:ph idx="1"/>
          </p:nvPr>
        </p:nvSpPr>
        <p:spPr>
          <a:xfrm>
            <a:off x="1593436" y="1600200"/>
            <a:ext cx="9782801" cy="1752600"/>
          </a:xfrm>
        </p:spPr>
        <p:txBody>
          <a:bodyPr>
            <a:normAutofit/>
          </a:bodyPr>
          <a:lstStyle/>
          <a:p>
            <a:r>
              <a:rPr lang="en-US" dirty="0" smtClean="0"/>
              <a:t>Andrej </a:t>
            </a:r>
            <a:r>
              <a:rPr lang="en-US" dirty="0" err="1" smtClean="0"/>
              <a:t>Karpathy’s</a:t>
            </a:r>
            <a:r>
              <a:rPr lang="en-US" dirty="0" smtClean="0"/>
              <a:t> convolutional network website</a:t>
            </a:r>
          </a:p>
          <a:p>
            <a:r>
              <a:rPr lang="en-US" dirty="0" smtClean="0"/>
              <a:t>Created for Stanford’s CS231n course</a:t>
            </a:r>
            <a:endParaRPr lang="en-US" dirty="0"/>
          </a:p>
        </p:txBody>
      </p:sp>
      <p:sp>
        <p:nvSpPr>
          <p:cNvPr id="4" name="Rectangle 3"/>
          <p:cNvSpPr/>
          <p:nvPr/>
        </p:nvSpPr>
        <p:spPr>
          <a:xfrm>
            <a:off x="1779028" y="3352800"/>
            <a:ext cx="9411615" cy="584775"/>
          </a:xfrm>
          <a:prstGeom prst="rect">
            <a:avLst/>
          </a:prstGeom>
        </p:spPr>
        <p:txBody>
          <a:bodyPr wrap="none">
            <a:spAutoFit/>
          </a:bodyPr>
          <a:lstStyle/>
          <a:p>
            <a:r>
              <a:rPr lang="en-US" sz="3200" dirty="0">
                <a:hlinkClick r:id="rId2"/>
              </a:rPr>
              <a:t>http://cs231n.github.io/convolutional-networks/</a:t>
            </a:r>
            <a:endParaRPr lang="en-US" sz="3200" dirty="0"/>
          </a:p>
        </p:txBody>
      </p:sp>
    </p:spTree>
    <p:extLst>
      <p:ext uri="{BB962C8B-B14F-4D97-AF65-F5344CB8AC3E}">
        <p14:creationId xmlns:p14="http://schemas.microsoft.com/office/powerpoint/2010/main" val="1640668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LeNet-5</a:t>
            </a:r>
            <a:endParaRPr lang="en-US" dirty="0"/>
          </a:p>
        </p:txBody>
      </p:sp>
    </p:spTree>
    <p:extLst>
      <p:ext uri="{BB962C8B-B14F-4D97-AF65-F5344CB8AC3E}">
        <p14:creationId xmlns:p14="http://schemas.microsoft.com/office/powerpoint/2010/main" val="15561621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LeNet</a:t>
            </a:r>
            <a:endParaRPr lang="en-US" dirty="0"/>
          </a:p>
        </p:txBody>
      </p:sp>
      <p:sp>
        <p:nvSpPr>
          <p:cNvPr id="3" name="Content Placeholder 2"/>
          <p:cNvSpPr>
            <a:spLocks noGrp="1"/>
          </p:cNvSpPr>
          <p:nvPr>
            <p:ph idx="1"/>
          </p:nvPr>
        </p:nvSpPr>
        <p:spPr/>
        <p:txBody>
          <a:bodyPr/>
          <a:lstStyle/>
          <a:p>
            <a:r>
              <a:rPr lang="en-US" dirty="0" smtClean="0"/>
              <a:t>Created by Yann </a:t>
            </a:r>
            <a:r>
              <a:rPr lang="en-US" dirty="0" err="1" smtClean="0"/>
              <a:t>LeCun</a:t>
            </a:r>
            <a:r>
              <a:rPr lang="en-US" dirty="0" smtClean="0"/>
              <a:t> in the 1990s</a:t>
            </a:r>
          </a:p>
          <a:p>
            <a:endParaRPr lang="en-US" dirty="0" smtClean="0"/>
          </a:p>
          <a:p>
            <a:r>
              <a:rPr lang="en-US" dirty="0" smtClean="0"/>
              <a:t>Used on the MNIST dataset</a:t>
            </a:r>
          </a:p>
          <a:p>
            <a:endParaRPr lang="en-US" dirty="0" smtClean="0"/>
          </a:p>
          <a:p>
            <a:r>
              <a:rPr lang="en-US" dirty="0" smtClean="0"/>
              <a:t>Idea: Use convolutions to efficiently learn features on image data</a:t>
            </a:r>
          </a:p>
        </p:txBody>
      </p:sp>
    </p:spTree>
    <p:extLst>
      <p:ext uri="{BB962C8B-B14F-4D97-AF65-F5344CB8AC3E}">
        <p14:creationId xmlns:p14="http://schemas.microsoft.com/office/powerpoint/2010/main" val="247994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spTree>
    <p:extLst>
      <p:ext uri="{BB962C8B-B14F-4D97-AF65-F5344CB8AC3E}">
        <p14:creationId xmlns:p14="http://schemas.microsoft.com/office/powerpoint/2010/main" val="1920731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cxnSp>
        <p:nvCxnSpPr>
          <p:cNvPr id="5" name="Straight Arrow Connector 4"/>
          <p:cNvCxnSpPr/>
          <p:nvPr/>
        </p:nvCxnSpPr>
        <p:spPr>
          <a:xfrm>
            <a:off x="1827212" y="2057400"/>
            <a:ext cx="228600" cy="6096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93436" y="1752600"/>
            <a:ext cx="5500032" cy="369332"/>
          </a:xfrm>
          <a:prstGeom prst="rect">
            <a:avLst/>
          </a:prstGeom>
          <a:noFill/>
        </p:spPr>
        <p:txBody>
          <a:bodyPr wrap="none" rtlCol="0">
            <a:spAutoFit/>
          </a:bodyPr>
          <a:lstStyle/>
          <a:p>
            <a:r>
              <a:rPr lang="en-US" dirty="0" smtClean="0">
                <a:solidFill>
                  <a:srgbClr val="FF0000"/>
                </a:solidFill>
              </a:rPr>
              <a:t>Input: 28x28, with 2 pixels of padding (on all sides)</a:t>
            </a:r>
            <a:endParaRPr lang="en-US" dirty="0">
              <a:solidFill>
                <a:srgbClr val="FF0000"/>
              </a:solidFill>
            </a:endParaRPr>
          </a:p>
        </p:txBody>
      </p:sp>
    </p:spTree>
    <p:extLst>
      <p:ext uri="{BB962C8B-B14F-4D97-AF65-F5344CB8AC3E}">
        <p14:creationId xmlns:p14="http://schemas.microsoft.com/office/powerpoint/2010/main" val="9541005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cxnSp>
        <p:nvCxnSpPr>
          <p:cNvPr id="5" name="Straight Arrow Connector 4"/>
          <p:cNvCxnSpPr/>
          <p:nvPr/>
        </p:nvCxnSpPr>
        <p:spPr>
          <a:xfrm flipV="1">
            <a:off x="2208212" y="4419601"/>
            <a:ext cx="533400" cy="66039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719607" y="5181600"/>
            <a:ext cx="5556329" cy="369332"/>
          </a:xfrm>
          <a:prstGeom prst="rect">
            <a:avLst/>
          </a:prstGeom>
          <a:noFill/>
        </p:spPr>
        <p:txBody>
          <a:bodyPr wrap="none" rtlCol="0">
            <a:spAutoFit/>
          </a:bodyPr>
          <a:lstStyle/>
          <a:p>
            <a:r>
              <a:rPr lang="en-US" dirty="0" smtClean="0">
                <a:solidFill>
                  <a:srgbClr val="FF0000"/>
                </a:solidFill>
              </a:rPr>
              <a:t>Convolution size: 5x5 (not labeled, but in paper)</a:t>
            </a:r>
            <a:endParaRPr lang="en-US" dirty="0">
              <a:solidFill>
                <a:srgbClr val="FF0000"/>
              </a:solidFill>
            </a:endParaRPr>
          </a:p>
        </p:txBody>
      </p:sp>
    </p:spTree>
    <p:extLst>
      <p:ext uri="{BB962C8B-B14F-4D97-AF65-F5344CB8AC3E}">
        <p14:creationId xmlns:p14="http://schemas.microsoft.com/office/powerpoint/2010/main" val="2779916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cxnSp>
        <p:nvCxnSpPr>
          <p:cNvPr id="5" name="Straight Arrow Connector 4"/>
          <p:cNvCxnSpPr/>
          <p:nvPr/>
        </p:nvCxnSpPr>
        <p:spPr>
          <a:xfrm>
            <a:off x="3046412" y="2285999"/>
            <a:ext cx="533400" cy="4826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751012" y="1667152"/>
            <a:ext cx="3647602" cy="369332"/>
          </a:xfrm>
          <a:prstGeom prst="rect">
            <a:avLst/>
          </a:prstGeom>
          <a:noFill/>
        </p:spPr>
        <p:txBody>
          <a:bodyPr wrap="none" rtlCol="0">
            <a:spAutoFit/>
          </a:bodyPr>
          <a:lstStyle/>
          <a:p>
            <a:r>
              <a:rPr lang="en-US" dirty="0" smtClean="0">
                <a:solidFill>
                  <a:srgbClr val="FF0000"/>
                </a:solidFill>
              </a:rPr>
              <a:t>First convolutional layer depth: 6</a:t>
            </a:r>
            <a:endParaRPr lang="en-US" dirty="0">
              <a:solidFill>
                <a:srgbClr val="FF0000"/>
              </a:solidFill>
            </a:endParaRPr>
          </a:p>
        </p:txBody>
      </p:sp>
      <p:sp>
        <p:nvSpPr>
          <p:cNvPr id="8" name="Left Brace 7"/>
          <p:cNvSpPr/>
          <p:nvPr/>
        </p:nvSpPr>
        <p:spPr>
          <a:xfrm rot="18900000">
            <a:off x="3449484" y="2911862"/>
            <a:ext cx="255897" cy="767690"/>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246063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cxnSp>
        <p:nvCxnSpPr>
          <p:cNvPr id="5" name="Straight Arrow Connector 4"/>
          <p:cNvCxnSpPr/>
          <p:nvPr/>
        </p:nvCxnSpPr>
        <p:spPr>
          <a:xfrm>
            <a:off x="4494212" y="2312737"/>
            <a:ext cx="457198" cy="55566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22612" y="1885846"/>
            <a:ext cx="2381293" cy="369332"/>
          </a:xfrm>
          <a:prstGeom prst="rect">
            <a:avLst/>
          </a:prstGeom>
          <a:noFill/>
        </p:spPr>
        <p:txBody>
          <a:bodyPr wrap="none" rtlCol="0">
            <a:spAutoFit/>
          </a:bodyPr>
          <a:lstStyle/>
          <a:p>
            <a:r>
              <a:rPr lang="en-US" dirty="0" smtClean="0">
                <a:solidFill>
                  <a:srgbClr val="FF0000"/>
                </a:solidFill>
              </a:rPr>
              <a:t>Pooling: 2x2, stride 2</a:t>
            </a:r>
            <a:endParaRPr lang="en-US" dirty="0">
              <a:solidFill>
                <a:srgbClr val="FF0000"/>
              </a:solidFill>
            </a:endParaRPr>
          </a:p>
        </p:txBody>
      </p:sp>
      <p:sp>
        <p:nvSpPr>
          <p:cNvPr id="9" name="TextBox 8"/>
          <p:cNvSpPr txBox="1"/>
          <p:nvPr/>
        </p:nvSpPr>
        <p:spPr>
          <a:xfrm>
            <a:off x="1593436" y="5625197"/>
            <a:ext cx="9412898" cy="646331"/>
          </a:xfrm>
          <a:prstGeom prst="rect">
            <a:avLst/>
          </a:prstGeom>
          <a:noFill/>
        </p:spPr>
        <p:txBody>
          <a:bodyPr wrap="none" rtlCol="0">
            <a:spAutoFit/>
          </a:bodyPr>
          <a:lstStyle/>
          <a:p>
            <a:r>
              <a:rPr lang="en-US" dirty="0" smtClean="0">
                <a:solidFill>
                  <a:srgbClr val="FF0000"/>
                </a:solidFill>
              </a:rPr>
              <a:t>Note: in the paper, the model uses a more complex parameter based pooling operation.</a:t>
            </a:r>
          </a:p>
          <a:p>
            <a:r>
              <a:rPr lang="en-US" dirty="0">
                <a:solidFill>
                  <a:srgbClr val="FF0000"/>
                </a:solidFill>
              </a:rPr>
              <a:t> </a:t>
            </a:r>
            <a:r>
              <a:rPr lang="en-US" dirty="0" smtClean="0">
                <a:solidFill>
                  <a:srgbClr val="FF0000"/>
                </a:solidFill>
              </a:rPr>
              <a:t>     Max/average pooling turns out to work better in practice</a:t>
            </a:r>
            <a:endParaRPr lang="en-US" dirty="0">
              <a:solidFill>
                <a:srgbClr val="FF0000"/>
              </a:solidFill>
            </a:endParaRPr>
          </a:p>
        </p:txBody>
      </p:sp>
    </p:spTree>
    <p:extLst>
      <p:ext uri="{BB962C8B-B14F-4D97-AF65-F5344CB8AC3E}">
        <p14:creationId xmlns:p14="http://schemas.microsoft.com/office/powerpoint/2010/main" val="10094142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cxnSp>
        <p:nvCxnSpPr>
          <p:cNvPr id="5" name="Straight Arrow Connector 4"/>
          <p:cNvCxnSpPr/>
          <p:nvPr/>
        </p:nvCxnSpPr>
        <p:spPr>
          <a:xfrm flipV="1">
            <a:off x="5516217" y="4318001"/>
            <a:ext cx="533400" cy="66039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027612" y="5080000"/>
            <a:ext cx="2425087" cy="369332"/>
          </a:xfrm>
          <a:prstGeom prst="rect">
            <a:avLst/>
          </a:prstGeom>
          <a:noFill/>
        </p:spPr>
        <p:txBody>
          <a:bodyPr wrap="none" rtlCol="0">
            <a:spAutoFit/>
          </a:bodyPr>
          <a:lstStyle/>
          <a:p>
            <a:r>
              <a:rPr lang="en-US" dirty="0" smtClean="0">
                <a:solidFill>
                  <a:srgbClr val="FF0000"/>
                </a:solidFill>
              </a:rPr>
              <a:t>Convolution size: 5x5</a:t>
            </a:r>
            <a:endParaRPr lang="en-US" dirty="0">
              <a:solidFill>
                <a:srgbClr val="FF0000"/>
              </a:solidFill>
            </a:endParaRPr>
          </a:p>
        </p:txBody>
      </p:sp>
    </p:spTree>
    <p:extLst>
      <p:ext uri="{BB962C8B-B14F-4D97-AF65-F5344CB8AC3E}">
        <p14:creationId xmlns:p14="http://schemas.microsoft.com/office/powerpoint/2010/main" val="20467230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cxnSp>
        <p:nvCxnSpPr>
          <p:cNvPr id="5" name="Straight Arrow Connector 4"/>
          <p:cNvCxnSpPr/>
          <p:nvPr/>
        </p:nvCxnSpPr>
        <p:spPr>
          <a:xfrm>
            <a:off x="5338365" y="1916328"/>
            <a:ext cx="533400" cy="4826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548893" y="1546826"/>
            <a:ext cx="4112344" cy="369332"/>
          </a:xfrm>
          <a:prstGeom prst="rect">
            <a:avLst/>
          </a:prstGeom>
          <a:noFill/>
        </p:spPr>
        <p:txBody>
          <a:bodyPr wrap="none" rtlCol="0">
            <a:spAutoFit/>
          </a:bodyPr>
          <a:lstStyle/>
          <a:p>
            <a:r>
              <a:rPr lang="en-US" smtClean="0">
                <a:solidFill>
                  <a:srgbClr val="FF0000"/>
                </a:solidFill>
              </a:rPr>
              <a:t>Second convolutional </a:t>
            </a:r>
            <a:r>
              <a:rPr lang="en-US" dirty="0" smtClean="0">
                <a:solidFill>
                  <a:srgbClr val="FF0000"/>
                </a:solidFill>
              </a:rPr>
              <a:t>layer depth: 16</a:t>
            </a:r>
            <a:endParaRPr lang="en-US" dirty="0">
              <a:solidFill>
                <a:srgbClr val="FF0000"/>
              </a:solidFill>
            </a:endParaRPr>
          </a:p>
        </p:txBody>
      </p:sp>
      <p:sp>
        <p:nvSpPr>
          <p:cNvPr id="8" name="Left Brace 7"/>
          <p:cNvSpPr/>
          <p:nvPr/>
        </p:nvSpPr>
        <p:spPr>
          <a:xfrm rot="18900000">
            <a:off x="6329168" y="2442861"/>
            <a:ext cx="323289" cy="2181982"/>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1036268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cxnSp>
        <p:nvCxnSpPr>
          <p:cNvPr id="5" name="Straight Arrow Connector 4"/>
          <p:cNvCxnSpPr/>
          <p:nvPr/>
        </p:nvCxnSpPr>
        <p:spPr>
          <a:xfrm>
            <a:off x="6256237" y="2008166"/>
            <a:ext cx="457198" cy="55566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884637" y="1581275"/>
            <a:ext cx="2381293" cy="369332"/>
          </a:xfrm>
          <a:prstGeom prst="rect">
            <a:avLst/>
          </a:prstGeom>
          <a:noFill/>
        </p:spPr>
        <p:txBody>
          <a:bodyPr wrap="none" rtlCol="0">
            <a:spAutoFit/>
          </a:bodyPr>
          <a:lstStyle/>
          <a:p>
            <a:r>
              <a:rPr lang="en-US" dirty="0" smtClean="0">
                <a:solidFill>
                  <a:srgbClr val="FF0000"/>
                </a:solidFill>
              </a:rPr>
              <a:t>Pooling: 2x2, stride 2</a:t>
            </a:r>
            <a:endParaRPr lang="en-US" dirty="0">
              <a:solidFill>
                <a:srgbClr val="FF0000"/>
              </a:solidFill>
            </a:endParaRPr>
          </a:p>
        </p:txBody>
      </p:sp>
    </p:spTree>
    <p:extLst>
      <p:ext uri="{BB962C8B-B14F-4D97-AF65-F5344CB8AC3E}">
        <p14:creationId xmlns:p14="http://schemas.microsoft.com/office/powerpoint/2010/main" val="4409490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cxnSp>
        <p:nvCxnSpPr>
          <p:cNvPr id="5" name="Straight Arrow Connector 4"/>
          <p:cNvCxnSpPr/>
          <p:nvPr/>
        </p:nvCxnSpPr>
        <p:spPr>
          <a:xfrm flipH="1">
            <a:off x="7389812" y="1838047"/>
            <a:ext cx="76202" cy="5424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569192" y="1219200"/>
            <a:ext cx="3254352" cy="369332"/>
          </a:xfrm>
          <a:prstGeom prst="rect">
            <a:avLst/>
          </a:prstGeom>
          <a:noFill/>
        </p:spPr>
        <p:txBody>
          <a:bodyPr wrap="none" rtlCol="0">
            <a:spAutoFit/>
          </a:bodyPr>
          <a:lstStyle/>
          <a:p>
            <a:r>
              <a:rPr lang="en-US" dirty="0" smtClean="0">
                <a:solidFill>
                  <a:srgbClr val="FF0000"/>
                </a:solidFill>
              </a:rPr>
              <a:t>Flatten from 5x5x16 to 400x1</a:t>
            </a:r>
            <a:endParaRPr lang="en-US" dirty="0">
              <a:solidFill>
                <a:srgbClr val="FF0000"/>
              </a:solidFill>
            </a:endParaRPr>
          </a:p>
        </p:txBody>
      </p:sp>
    </p:spTree>
    <p:extLst>
      <p:ext uri="{BB962C8B-B14F-4D97-AF65-F5344CB8AC3E}">
        <p14:creationId xmlns:p14="http://schemas.microsoft.com/office/powerpoint/2010/main" val="14675221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cxnSp>
        <p:nvCxnSpPr>
          <p:cNvPr id="5" name="Straight Arrow Connector 4"/>
          <p:cNvCxnSpPr/>
          <p:nvPr/>
        </p:nvCxnSpPr>
        <p:spPr>
          <a:xfrm flipH="1">
            <a:off x="7981832" y="2219047"/>
            <a:ext cx="76202" cy="5424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170612" y="1600200"/>
            <a:ext cx="4261231" cy="369332"/>
          </a:xfrm>
          <a:prstGeom prst="rect">
            <a:avLst/>
          </a:prstGeom>
          <a:noFill/>
        </p:spPr>
        <p:txBody>
          <a:bodyPr wrap="none" rtlCol="0">
            <a:spAutoFit/>
          </a:bodyPr>
          <a:lstStyle/>
          <a:p>
            <a:r>
              <a:rPr lang="en-US" dirty="0" smtClean="0">
                <a:solidFill>
                  <a:srgbClr val="FF0000"/>
                </a:solidFill>
              </a:rPr>
              <a:t>Fully connected layer: from 400 to 120</a:t>
            </a:r>
            <a:endParaRPr lang="en-US" dirty="0">
              <a:solidFill>
                <a:srgbClr val="FF0000"/>
              </a:solidFill>
            </a:endParaRPr>
          </a:p>
        </p:txBody>
      </p:sp>
    </p:spTree>
    <p:extLst>
      <p:ext uri="{BB962C8B-B14F-4D97-AF65-F5344CB8AC3E}">
        <p14:creationId xmlns:p14="http://schemas.microsoft.com/office/powerpoint/2010/main" val="390011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cxnSp>
        <p:nvCxnSpPr>
          <p:cNvPr id="5" name="Straight Arrow Connector 4"/>
          <p:cNvCxnSpPr/>
          <p:nvPr/>
        </p:nvCxnSpPr>
        <p:spPr>
          <a:xfrm flipH="1">
            <a:off x="8439032" y="2219047"/>
            <a:ext cx="76202" cy="5424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856412" y="1600200"/>
            <a:ext cx="4126579" cy="369332"/>
          </a:xfrm>
          <a:prstGeom prst="rect">
            <a:avLst/>
          </a:prstGeom>
          <a:noFill/>
        </p:spPr>
        <p:txBody>
          <a:bodyPr wrap="none" rtlCol="0">
            <a:spAutoFit/>
          </a:bodyPr>
          <a:lstStyle/>
          <a:p>
            <a:r>
              <a:rPr lang="en-US" dirty="0" smtClean="0">
                <a:solidFill>
                  <a:srgbClr val="FF0000"/>
                </a:solidFill>
              </a:rPr>
              <a:t>Fully connected layer: from 120 to 84</a:t>
            </a:r>
            <a:endParaRPr lang="en-US" dirty="0">
              <a:solidFill>
                <a:srgbClr val="FF0000"/>
              </a:solidFill>
            </a:endParaRPr>
          </a:p>
        </p:txBody>
      </p:sp>
    </p:spTree>
    <p:extLst>
      <p:ext uri="{BB962C8B-B14F-4D97-AF65-F5344CB8AC3E}">
        <p14:creationId xmlns:p14="http://schemas.microsoft.com/office/powerpoint/2010/main" val="15562153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cxnSp>
        <p:nvCxnSpPr>
          <p:cNvPr id="5" name="Straight Arrow Connector 4"/>
          <p:cNvCxnSpPr/>
          <p:nvPr/>
        </p:nvCxnSpPr>
        <p:spPr>
          <a:xfrm flipH="1">
            <a:off x="9142412" y="2286000"/>
            <a:ext cx="76202" cy="5424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559792" y="1667153"/>
            <a:ext cx="4007828" cy="369332"/>
          </a:xfrm>
          <a:prstGeom prst="rect">
            <a:avLst/>
          </a:prstGeom>
          <a:noFill/>
        </p:spPr>
        <p:txBody>
          <a:bodyPr wrap="none" rtlCol="0">
            <a:spAutoFit/>
          </a:bodyPr>
          <a:lstStyle/>
          <a:p>
            <a:r>
              <a:rPr lang="en-US" dirty="0" smtClean="0">
                <a:solidFill>
                  <a:srgbClr val="FF0000"/>
                </a:solidFill>
              </a:rPr>
              <a:t>Fully connected layer: from 84 to 10</a:t>
            </a:r>
            <a:endParaRPr lang="en-US" dirty="0">
              <a:solidFill>
                <a:srgbClr val="FF0000"/>
              </a:solidFill>
            </a:endParaRPr>
          </a:p>
        </p:txBody>
      </p:sp>
    </p:spTree>
    <p:extLst>
      <p:ext uri="{BB962C8B-B14F-4D97-AF65-F5344CB8AC3E}">
        <p14:creationId xmlns:p14="http://schemas.microsoft.com/office/powerpoint/2010/main" val="3837020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diagram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1012" y="2286000"/>
            <a:ext cx="9786020" cy="2794000"/>
          </a:xfrm>
          <a:prstGeom prst="rect">
            <a:avLst/>
          </a:prstGeom>
        </p:spPr>
      </p:pic>
      <p:cxnSp>
        <p:nvCxnSpPr>
          <p:cNvPr id="5" name="Straight Arrow Connector 4"/>
          <p:cNvCxnSpPr/>
          <p:nvPr/>
        </p:nvCxnSpPr>
        <p:spPr>
          <a:xfrm flipH="1" flipV="1">
            <a:off x="10514012" y="4767469"/>
            <a:ext cx="152400" cy="62506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0069075" y="5428973"/>
            <a:ext cx="1042273" cy="369332"/>
          </a:xfrm>
          <a:prstGeom prst="rect">
            <a:avLst/>
          </a:prstGeom>
          <a:noFill/>
        </p:spPr>
        <p:txBody>
          <a:bodyPr wrap="none" rtlCol="0">
            <a:spAutoFit/>
          </a:bodyPr>
          <a:lstStyle/>
          <a:p>
            <a:r>
              <a:rPr lang="en-US" smtClean="0">
                <a:solidFill>
                  <a:srgbClr val="FF0000"/>
                </a:solidFill>
              </a:rPr>
              <a:t>Softmax</a:t>
            </a:r>
            <a:endParaRPr lang="en-US" dirty="0">
              <a:solidFill>
                <a:srgbClr val="FF0000"/>
              </a:solidFill>
            </a:endParaRPr>
          </a:p>
        </p:txBody>
      </p:sp>
    </p:spTree>
    <p:extLst>
      <p:ext uri="{BB962C8B-B14F-4D97-AF65-F5344CB8AC3E}">
        <p14:creationId xmlns:p14="http://schemas.microsoft.com/office/powerpoint/2010/main" val="824143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description of LeNet-5</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03464772"/>
              </p:ext>
            </p:extLst>
          </p:nvPr>
        </p:nvGraphicFramePr>
        <p:xfrm>
          <a:off x="608013" y="1604963"/>
          <a:ext cx="10966452" cy="3656584"/>
        </p:xfrm>
        <a:graphic>
          <a:graphicData uri="http://schemas.openxmlformats.org/drawingml/2006/table">
            <a:tbl>
              <a:tblPr firstRow="1" bandRow="1">
                <a:tableStyleId>{7E9639D4-E3E2-4D34-9284-5A2195B3D0D7}</a:tableStyleId>
              </a:tblPr>
              <a:tblGrid>
                <a:gridCol w="5483226"/>
                <a:gridCol w="5483226"/>
              </a:tblGrid>
              <a:tr h="370840">
                <a:tc>
                  <a:txBody>
                    <a:bodyPr/>
                    <a:lstStyle/>
                    <a:p>
                      <a:r>
                        <a:rPr lang="en-US" dirty="0" smtClean="0"/>
                        <a:t>Layer Name</a:t>
                      </a:r>
                      <a:endParaRPr lang="en-US" dirty="0"/>
                    </a:p>
                  </a:txBody>
                  <a:tcPr marL="102510" marR="102510"/>
                </a:tc>
                <a:tc>
                  <a:txBody>
                    <a:bodyPr/>
                    <a:lstStyle/>
                    <a:p>
                      <a:r>
                        <a:rPr lang="en-US" dirty="0" smtClean="0"/>
                        <a:t>Parameters</a:t>
                      </a:r>
                      <a:endParaRPr lang="en-US" dirty="0"/>
                    </a:p>
                  </a:txBody>
                  <a:tcPr marL="102510" marR="102510"/>
                </a:tc>
              </a:tr>
              <a:tr h="370840">
                <a:tc>
                  <a:txBody>
                    <a:bodyPr/>
                    <a:lstStyle/>
                    <a:p>
                      <a:r>
                        <a:rPr lang="en-US" dirty="0" smtClean="0"/>
                        <a:t>1.</a:t>
                      </a:r>
                      <a:r>
                        <a:rPr lang="en-US" baseline="0" dirty="0" smtClean="0"/>
                        <a:t> </a:t>
                      </a:r>
                      <a:r>
                        <a:rPr lang="en-US" dirty="0" smtClean="0"/>
                        <a:t>Convolution</a:t>
                      </a:r>
                      <a:endParaRPr lang="en-US" dirty="0"/>
                    </a:p>
                  </a:txBody>
                  <a:tcPr marL="102510" marR="102510"/>
                </a:tc>
                <a:tc>
                  <a:txBody>
                    <a:bodyPr/>
                    <a:lstStyle/>
                    <a:p>
                      <a:r>
                        <a:rPr lang="en-US" dirty="0" smtClean="0"/>
                        <a:t>5x5,</a:t>
                      </a:r>
                      <a:r>
                        <a:rPr lang="en-US" baseline="0" dirty="0" smtClean="0"/>
                        <a:t> stride 1, padding 2 (‘SAME’)</a:t>
                      </a:r>
                      <a:endParaRPr lang="en-US" dirty="0"/>
                    </a:p>
                  </a:txBody>
                  <a:tcPr marL="102510" marR="102510"/>
                </a:tc>
              </a:tr>
              <a:tr h="370840">
                <a:tc>
                  <a:txBody>
                    <a:bodyPr/>
                    <a:lstStyle/>
                    <a:p>
                      <a:r>
                        <a:rPr lang="en-US" dirty="0" smtClean="0"/>
                        <a:t>2. Max</a:t>
                      </a:r>
                      <a:r>
                        <a:rPr lang="en-US" baseline="0" dirty="0" smtClean="0"/>
                        <a:t> Pool</a:t>
                      </a:r>
                      <a:endParaRPr lang="en-US" dirty="0"/>
                    </a:p>
                  </a:txBody>
                  <a:tcPr marL="102510" marR="102510"/>
                </a:tc>
                <a:tc>
                  <a:txBody>
                    <a:bodyPr/>
                    <a:lstStyle/>
                    <a:p>
                      <a:r>
                        <a:rPr lang="en-US" dirty="0" smtClean="0"/>
                        <a:t>2x2, stride</a:t>
                      </a:r>
                      <a:r>
                        <a:rPr lang="en-US" baseline="0" dirty="0" smtClean="0"/>
                        <a:t> 2</a:t>
                      </a:r>
                      <a:endParaRPr lang="en-US" dirty="0"/>
                    </a:p>
                  </a:txBody>
                  <a:tcPr marL="102510" marR="102510"/>
                </a:tc>
              </a:tr>
              <a:tr h="370840">
                <a:tc>
                  <a:txBody>
                    <a:bodyPr/>
                    <a:lstStyle/>
                    <a:p>
                      <a:r>
                        <a:rPr lang="en-US" dirty="0" smtClean="0"/>
                        <a:t>3. Convolution</a:t>
                      </a:r>
                      <a:endParaRPr lang="en-US" dirty="0"/>
                    </a:p>
                  </a:txBody>
                  <a:tcPr marL="102510" marR="102510"/>
                </a:tc>
                <a:tc>
                  <a:txBody>
                    <a:bodyPr/>
                    <a:lstStyle/>
                    <a:p>
                      <a:r>
                        <a:rPr lang="en-US" dirty="0" smtClean="0"/>
                        <a:t>5x5, stride 1, padding 2</a:t>
                      </a:r>
                      <a:r>
                        <a:rPr lang="en-US" baseline="0" dirty="0" smtClean="0"/>
                        <a:t> (‘SAME’)</a:t>
                      </a:r>
                      <a:endParaRPr lang="en-US" dirty="0"/>
                    </a:p>
                  </a:txBody>
                  <a:tcPr marL="102510" marR="102510"/>
                </a:tc>
              </a:tr>
              <a:tr h="370840">
                <a:tc>
                  <a:txBody>
                    <a:bodyPr/>
                    <a:lstStyle/>
                    <a:p>
                      <a:r>
                        <a:rPr lang="en-US" dirty="0" smtClean="0"/>
                        <a:t>4. Max Pool</a:t>
                      </a:r>
                      <a:endParaRPr lang="en-US" dirty="0"/>
                    </a:p>
                  </a:txBody>
                  <a:tcPr marL="102510" marR="102510"/>
                </a:tc>
                <a:tc>
                  <a:txBody>
                    <a:bodyPr/>
                    <a:lstStyle/>
                    <a:p>
                      <a:r>
                        <a:rPr lang="en-US" dirty="0" smtClean="0"/>
                        <a:t>2x2, stride 2</a:t>
                      </a:r>
                      <a:endParaRPr lang="en-US" dirty="0"/>
                    </a:p>
                  </a:txBody>
                  <a:tcPr marL="102510" marR="102510"/>
                </a:tc>
              </a:tr>
              <a:tr h="370840">
                <a:tc>
                  <a:txBody>
                    <a:bodyPr/>
                    <a:lstStyle/>
                    <a:p>
                      <a:r>
                        <a:rPr lang="en-US" dirty="0" smtClean="0"/>
                        <a:t>5. Fully connected (</a:t>
                      </a:r>
                      <a:r>
                        <a:rPr lang="en-US" dirty="0" err="1" smtClean="0"/>
                        <a:t>ReLU</a:t>
                      </a:r>
                      <a:r>
                        <a:rPr lang="en-US" dirty="0" smtClean="0"/>
                        <a:t>)</a:t>
                      </a:r>
                      <a:endParaRPr lang="en-US" dirty="0"/>
                    </a:p>
                  </a:txBody>
                  <a:tcPr marL="102510" marR="102510"/>
                </a:tc>
                <a:tc>
                  <a:txBody>
                    <a:bodyPr/>
                    <a:lstStyle/>
                    <a:p>
                      <a:r>
                        <a:rPr lang="en-US" dirty="0" smtClean="0"/>
                        <a:t>Depth: 120</a:t>
                      </a:r>
                      <a:endParaRPr lang="en-US" dirty="0"/>
                    </a:p>
                  </a:txBody>
                  <a:tcPr marL="102510" marR="102510"/>
                </a:tc>
              </a:tr>
              <a:tr h="370840">
                <a:tc>
                  <a:txBody>
                    <a:bodyPr/>
                    <a:lstStyle/>
                    <a:p>
                      <a:r>
                        <a:rPr lang="en-US" dirty="0" smtClean="0"/>
                        <a:t>6.</a:t>
                      </a:r>
                      <a:r>
                        <a:rPr lang="en-US" baseline="0" dirty="0" smtClean="0"/>
                        <a:t> </a:t>
                      </a:r>
                      <a:r>
                        <a:rPr lang="en-US" dirty="0" smtClean="0"/>
                        <a:t>Fully connected (</a:t>
                      </a:r>
                      <a:r>
                        <a:rPr lang="en-US" dirty="0" err="1" smtClean="0"/>
                        <a:t>ReLU</a:t>
                      </a:r>
                      <a:r>
                        <a:rPr lang="en-US" dirty="0" smtClean="0"/>
                        <a:t>)</a:t>
                      </a:r>
                      <a:endParaRPr lang="en-US" dirty="0"/>
                    </a:p>
                  </a:txBody>
                  <a:tcPr marL="102510" marR="102510"/>
                </a:tc>
                <a:tc>
                  <a:txBody>
                    <a:bodyPr/>
                    <a:lstStyle/>
                    <a:p>
                      <a:r>
                        <a:rPr lang="en-US" dirty="0" smtClean="0"/>
                        <a:t>Depth: 84</a:t>
                      </a:r>
                      <a:endParaRPr lang="en-US" dirty="0"/>
                    </a:p>
                  </a:txBody>
                  <a:tcPr marL="102510" marR="102510"/>
                </a:tc>
              </a:tr>
              <a:tr h="370840">
                <a:tc>
                  <a:txBody>
                    <a:bodyPr/>
                    <a:lstStyle/>
                    <a:p>
                      <a:r>
                        <a:rPr lang="en-US" dirty="0" smtClean="0"/>
                        <a:t>7.</a:t>
                      </a:r>
                      <a:r>
                        <a:rPr lang="en-US" baseline="0" dirty="0" smtClean="0"/>
                        <a:t> Output (fully connected </a:t>
                      </a:r>
                      <a:r>
                        <a:rPr lang="en-US" baseline="0" dirty="0" err="1" smtClean="0"/>
                        <a:t>ReLU</a:t>
                      </a:r>
                      <a:r>
                        <a:rPr lang="en-US" baseline="0" dirty="0" smtClean="0"/>
                        <a:t>)</a:t>
                      </a:r>
                      <a:endParaRPr lang="en-US" dirty="0"/>
                    </a:p>
                  </a:txBody>
                  <a:tcPr marL="102510" marR="102510"/>
                </a:tc>
                <a:tc>
                  <a:txBody>
                    <a:bodyPr/>
                    <a:lstStyle/>
                    <a:p>
                      <a:r>
                        <a:rPr lang="en-US" dirty="0" smtClean="0"/>
                        <a:t>Depth: 10</a:t>
                      </a:r>
                      <a:endParaRPr lang="en-US" dirty="0"/>
                    </a:p>
                  </a:txBody>
                  <a:tcPr marL="102510" marR="102510"/>
                </a:tc>
              </a:tr>
            </a:tbl>
          </a:graphicData>
        </a:graphic>
      </p:graphicFrame>
    </p:spTree>
    <p:extLst>
      <p:ext uri="{BB962C8B-B14F-4D97-AF65-F5344CB8AC3E}">
        <p14:creationId xmlns:p14="http://schemas.microsoft.com/office/powerpoint/2010/main" val="598103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 parameters</a:t>
            </a:r>
            <a:endParaRPr lang="en-US" dirty="0"/>
          </a:p>
        </p:txBody>
      </p:sp>
      <p:sp>
        <p:nvSpPr>
          <p:cNvPr id="3" name="Content Placeholder 2"/>
          <p:cNvSpPr>
            <a:spLocks noGrp="1"/>
          </p:cNvSpPr>
          <p:nvPr>
            <p:ph idx="1"/>
          </p:nvPr>
        </p:nvSpPr>
        <p:spPr>
          <a:xfrm>
            <a:off x="1593436" y="1600200"/>
            <a:ext cx="9782801" cy="5410200"/>
          </a:xfrm>
        </p:spPr>
        <p:txBody>
          <a:bodyPr/>
          <a:lstStyle/>
          <a:p>
            <a:r>
              <a:rPr lang="en-US" dirty="0" smtClean="0">
                <a:latin typeface="Consolas" charset="0"/>
                <a:ea typeface="Consolas" charset="0"/>
                <a:cs typeface="Consolas" charset="0"/>
              </a:rPr>
              <a:t>Conv1: 1*6*5*5 + 6   =   156</a:t>
            </a:r>
          </a:p>
          <a:p>
            <a:r>
              <a:rPr lang="en-US" dirty="0" smtClean="0">
                <a:latin typeface="Consolas" charset="0"/>
                <a:ea typeface="Consolas" charset="0"/>
                <a:cs typeface="Consolas" charset="0"/>
              </a:rPr>
              <a:t>Pool2:                     0</a:t>
            </a:r>
          </a:p>
          <a:p>
            <a:r>
              <a:rPr lang="en-US" dirty="0" smtClean="0">
                <a:latin typeface="Consolas" charset="0"/>
                <a:ea typeface="Consolas" charset="0"/>
                <a:cs typeface="Consolas" charset="0"/>
              </a:rPr>
              <a:t>Conv3: 6*16*5*5 + 16 =  2416</a:t>
            </a:r>
          </a:p>
          <a:p>
            <a:r>
              <a:rPr lang="en-US" dirty="0" smtClean="0">
                <a:latin typeface="Consolas" charset="0"/>
                <a:ea typeface="Consolas" charset="0"/>
                <a:cs typeface="Consolas" charset="0"/>
              </a:rPr>
              <a:t>Pool4:                     0</a:t>
            </a:r>
          </a:p>
          <a:p>
            <a:r>
              <a:rPr lang="en-US" dirty="0" smtClean="0">
                <a:latin typeface="Consolas" charset="0"/>
                <a:ea typeface="Consolas" charset="0"/>
                <a:cs typeface="Consolas" charset="0"/>
              </a:rPr>
              <a:t>FC1: 400*120 + 120   = 48120</a:t>
            </a:r>
          </a:p>
          <a:p>
            <a:r>
              <a:rPr lang="en-US" dirty="0" smtClean="0">
                <a:latin typeface="Consolas" charset="0"/>
                <a:ea typeface="Consolas" charset="0"/>
                <a:cs typeface="Consolas" charset="0"/>
              </a:rPr>
              <a:t>FC2: 120*84  + 84    = 10164</a:t>
            </a:r>
          </a:p>
          <a:p>
            <a:r>
              <a:rPr lang="en-US" dirty="0" smtClean="0">
                <a:latin typeface="Consolas" charset="0"/>
                <a:ea typeface="Consolas" charset="0"/>
                <a:cs typeface="Consolas" charset="0"/>
              </a:rPr>
              <a:t>FC3: 84*10 + 10      =   850</a:t>
            </a:r>
          </a:p>
          <a:p>
            <a:r>
              <a:rPr lang="en-US" dirty="0" smtClean="0">
                <a:latin typeface="Consolas" charset="0"/>
                <a:ea typeface="Consolas" charset="0"/>
                <a:cs typeface="Consolas" charset="0"/>
              </a:rPr>
              <a:t>Total:               = 61706</a:t>
            </a:r>
          </a:p>
          <a:p>
            <a:r>
              <a:rPr lang="en-US" dirty="0" smtClean="0">
                <a:latin typeface="Euphemia UCAS" charset="0"/>
                <a:ea typeface="Euphemia UCAS" charset="0"/>
                <a:cs typeface="Euphemia UCAS" charset="0"/>
              </a:rPr>
              <a:t>Less than a single FC layer with [1200x1200] weights!</a:t>
            </a:r>
            <a:endParaRPr lang="en-US" dirty="0">
              <a:latin typeface="Euphemia UCAS" charset="0"/>
              <a:ea typeface="Euphemia UCAS" charset="0"/>
              <a:cs typeface="Euphemia UCAS" charset="0"/>
            </a:endParaRPr>
          </a:p>
        </p:txBody>
      </p:sp>
    </p:spTree>
    <p:extLst>
      <p:ext uri="{BB962C8B-B14F-4D97-AF65-F5344CB8AC3E}">
        <p14:creationId xmlns:p14="http://schemas.microsoft.com/office/powerpoint/2010/main" val="1533068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8612" y="1600201"/>
            <a:ext cx="9372599" cy="2654064"/>
          </a:xfrm>
        </p:spPr>
        <p:txBody>
          <a:bodyPr/>
          <a:lstStyle/>
          <a:p>
            <a:r>
              <a:rPr lang="en-US" dirty="0" smtClean="0"/>
              <a:t>Xavier (and He) Initialization</a:t>
            </a:r>
            <a:endParaRPr lang="en-US" dirty="0"/>
          </a:p>
        </p:txBody>
      </p:sp>
    </p:spTree>
    <p:extLst>
      <p:ext uri="{BB962C8B-B14F-4D97-AF65-F5344CB8AC3E}">
        <p14:creationId xmlns:p14="http://schemas.microsoft.com/office/powerpoint/2010/main" val="15448959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Xavier Initialization</a:t>
            </a:r>
            <a:endParaRPr lang="en-US" dirty="0"/>
          </a:p>
        </p:txBody>
      </p:sp>
      <p:sp>
        <p:nvSpPr>
          <p:cNvPr id="3" name="Content Placeholder 2"/>
          <p:cNvSpPr>
            <a:spLocks noGrp="1"/>
          </p:cNvSpPr>
          <p:nvPr>
            <p:ph idx="1"/>
          </p:nvPr>
        </p:nvSpPr>
        <p:spPr>
          <a:xfrm>
            <a:off x="1370012" y="1600200"/>
            <a:ext cx="10006225" cy="4572000"/>
          </a:xfrm>
        </p:spPr>
        <p:txBody>
          <a:bodyPr>
            <a:normAutofit/>
          </a:bodyPr>
          <a:lstStyle/>
          <a:p>
            <a:r>
              <a:rPr lang="en-US" dirty="0" smtClean="0"/>
              <a:t>Want to initialize our weights such that the variance of the output of our </a:t>
            </a:r>
            <a:r>
              <a:rPr lang="en-US" i="1" dirty="0" smtClean="0"/>
              <a:t>activation</a:t>
            </a:r>
            <a:r>
              <a:rPr lang="en-US" dirty="0" smtClean="0"/>
              <a:t> </a:t>
            </a:r>
            <a:r>
              <a:rPr lang="en-US" smtClean="0"/>
              <a:t>is 1</a:t>
            </a:r>
            <a:endParaRPr lang="en-US" dirty="0" smtClean="0"/>
          </a:p>
          <a:p>
            <a:endParaRPr lang="en-US" dirty="0" smtClean="0"/>
          </a:p>
          <a:p>
            <a:r>
              <a:rPr lang="en-US" dirty="0" smtClean="0"/>
              <a:t>Xavier </a:t>
            </a:r>
            <a:r>
              <a:rPr lang="en-US" dirty="0" err="1" smtClean="0"/>
              <a:t>Glorot</a:t>
            </a:r>
            <a:r>
              <a:rPr lang="en-US" dirty="0" smtClean="0"/>
              <a:t> and </a:t>
            </a:r>
            <a:r>
              <a:rPr lang="en-US" dirty="0" err="1" smtClean="0"/>
              <a:t>Bengio</a:t>
            </a:r>
            <a:r>
              <a:rPr lang="en-US" dirty="0" smtClean="0"/>
              <a:t> derived the following initialization scheme for activations with mean zero inputs:</a:t>
            </a:r>
          </a:p>
          <a:p>
            <a:endParaRPr lang="en-US" dirty="0"/>
          </a:p>
          <a:p>
            <a:endParaRPr lang="en-US" dirty="0" smtClean="0"/>
          </a:p>
          <a:p>
            <a:endParaRPr lang="en-US" dirty="0" smtClean="0"/>
          </a:p>
        </p:txBody>
      </p:sp>
      <mc:AlternateContent xmlns:mc="http://schemas.openxmlformats.org/markup-compatibility/2006" xmlns:a14="http://schemas.microsoft.com/office/drawing/2010/main">
        <mc:Choice Requires="a14">
          <p:sp>
            <p:nvSpPr>
              <p:cNvPr id="5" name="TextBox 4"/>
              <p:cNvSpPr txBox="1"/>
              <p:nvPr/>
            </p:nvSpPr>
            <p:spPr>
              <a:xfrm>
                <a:off x="2132012" y="4052279"/>
                <a:ext cx="7682809" cy="16368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charset="0"/>
                        </a:rPr>
                        <m:t>𝑊</m:t>
                      </m:r>
                      <m:r>
                        <a:rPr lang="en-US" sz="3600" b="0" i="1" smtClean="0">
                          <a:latin typeface="Cambria Math" charset="0"/>
                        </a:rPr>
                        <m:t>=</m:t>
                      </m:r>
                      <m:r>
                        <a:rPr lang="en-US" sz="3600" b="0" i="1" smtClean="0">
                          <a:latin typeface="Cambria Math" charset="0"/>
                        </a:rPr>
                        <m:t>𝑇𝑟𝑢𝑛𝑐𝑁𝑜𝑟𝑚𝑎𝑙</m:t>
                      </m:r>
                      <m:r>
                        <a:rPr lang="en-US" sz="3600" b="0" i="1" smtClean="0">
                          <a:latin typeface="Cambria Math" charset="0"/>
                        </a:rPr>
                        <m:t>(0.0,</m:t>
                      </m:r>
                      <m:rad>
                        <m:radPr>
                          <m:degHide m:val="on"/>
                          <m:ctrlPr>
                            <a:rPr lang="en-US" sz="3600" b="0" i="1" smtClean="0">
                              <a:latin typeface="Cambria Math" panose="02040503050406030204" pitchFamily="18" charset="0"/>
                            </a:rPr>
                          </m:ctrlPr>
                        </m:radPr>
                        <m:deg/>
                        <m:e>
                          <m:f>
                            <m:fPr>
                              <m:ctrlPr>
                                <a:rPr lang="mr-IN" sz="3600" i="1">
                                  <a:latin typeface="Cambria Math" panose="02040503050406030204" pitchFamily="18" charset="0"/>
                                </a:rPr>
                              </m:ctrlPr>
                            </m:fPr>
                            <m:num>
                              <m:r>
                                <a:rPr lang="en-US" sz="3600" i="1">
                                  <a:latin typeface="Cambria Math" charset="0"/>
                                </a:rPr>
                                <m:t>2</m:t>
                              </m:r>
                            </m:num>
                            <m:den>
                              <m:sSub>
                                <m:sSubPr>
                                  <m:ctrlPr>
                                    <a:rPr lang="en-US" sz="3600" i="1">
                                      <a:latin typeface="Cambria Math" panose="02040503050406030204" pitchFamily="18" charset="0"/>
                                    </a:rPr>
                                  </m:ctrlPr>
                                </m:sSubPr>
                                <m:e>
                                  <m:r>
                                    <a:rPr lang="en-US" sz="3600" i="1">
                                      <a:latin typeface="Cambria Math" charset="0"/>
                                    </a:rPr>
                                    <m:t>𝑛</m:t>
                                  </m:r>
                                </m:e>
                                <m:sub>
                                  <m:r>
                                    <a:rPr lang="en-US" sz="3600" i="1">
                                      <a:latin typeface="Cambria Math" charset="0"/>
                                    </a:rPr>
                                    <m:t>𝑖𝑛</m:t>
                                  </m:r>
                                </m:sub>
                              </m:sSub>
                              <m:r>
                                <a:rPr lang="en-US" sz="3600" i="1">
                                  <a:latin typeface="Cambria Math" charset="0"/>
                                </a:rPr>
                                <m:t>+</m:t>
                              </m:r>
                              <m:sSub>
                                <m:sSubPr>
                                  <m:ctrlPr>
                                    <a:rPr lang="en-US" sz="3600" i="1">
                                      <a:latin typeface="Cambria Math" panose="02040503050406030204" pitchFamily="18" charset="0"/>
                                    </a:rPr>
                                  </m:ctrlPr>
                                </m:sSubPr>
                                <m:e>
                                  <m:r>
                                    <a:rPr lang="en-US" sz="3600" i="1">
                                      <a:latin typeface="Cambria Math" charset="0"/>
                                    </a:rPr>
                                    <m:t>𝑛</m:t>
                                  </m:r>
                                </m:e>
                                <m:sub>
                                  <m:r>
                                    <a:rPr lang="en-US" sz="3600" i="1">
                                      <a:latin typeface="Cambria Math" charset="0"/>
                                    </a:rPr>
                                    <m:t>𝑜𝑢𝑡</m:t>
                                  </m:r>
                                </m:sub>
                              </m:sSub>
                            </m:den>
                          </m:f>
                        </m:e>
                      </m:rad>
                      <m:r>
                        <a:rPr lang="en-US" sz="3600" b="0" i="1" smtClean="0">
                          <a:latin typeface="Cambria Math" charset="0"/>
                        </a:rPr>
                        <m:t>)</m:t>
                      </m:r>
                    </m:oMath>
                  </m:oMathPara>
                </a14:m>
                <a:endParaRPr lang="en-US" sz="3600" dirty="0"/>
              </a:p>
            </p:txBody>
          </p:sp>
        </mc:Choice>
        <mc:Fallback xmlns="">
          <p:sp>
            <p:nvSpPr>
              <p:cNvPr id="5" name="TextBox 4"/>
              <p:cNvSpPr txBox="1">
                <a:spLocks noRot="1" noChangeAspect="1" noMove="1" noResize="1" noEditPoints="1" noAdjustHandles="1" noChangeArrowheads="1" noChangeShapeType="1" noTextEdit="1"/>
              </p:cNvSpPr>
              <p:nvPr/>
            </p:nvSpPr>
            <p:spPr>
              <a:xfrm>
                <a:off x="2132012" y="4052279"/>
                <a:ext cx="7682809" cy="1636858"/>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893427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Recommendation for </a:t>
            </a:r>
            <a:r>
              <a:rPr lang="en-US" dirty="0" err="1" smtClean="0"/>
              <a:t>ReLUs</a:t>
            </a:r>
            <a:endParaRPr lang="en-US" dirty="0"/>
          </a:p>
        </p:txBody>
      </p:sp>
      <p:sp>
        <p:nvSpPr>
          <p:cNvPr id="3" name="Content Placeholder 2"/>
          <p:cNvSpPr>
            <a:spLocks noGrp="1"/>
          </p:cNvSpPr>
          <p:nvPr>
            <p:ph idx="1"/>
          </p:nvPr>
        </p:nvSpPr>
        <p:spPr>
          <a:xfrm>
            <a:off x="1593436" y="1600200"/>
            <a:ext cx="9782801" cy="990600"/>
          </a:xfrm>
        </p:spPr>
        <p:txBody>
          <a:bodyPr/>
          <a:lstStyle/>
          <a:p>
            <a:r>
              <a:rPr lang="en-US" dirty="0" smtClean="0"/>
              <a:t>He et al. derived an initialization scheme specifically for </a:t>
            </a:r>
            <a:r>
              <a:rPr lang="en-US" dirty="0" err="1" smtClean="0"/>
              <a:t>ReLUs</a:t>
            </a:r>
            <a:r>
              <a:rPr lang="en-US" dirty="0"/>
              <a:t> </a:t>
            </a:r>
            <a:r>
              <a:rPr lang="en-US" dirty="0" smtClean="0"/>
              <a:t>(which don’t have a zero mean)</a:t>
            </a:r>
            <a:endParaRPr lang="en-US" dirty="0"/>
          </a:p>
        </p:txBody>
      </p:sp>
      <mc:AlternateContent xmlns:mc="http://schemas.openxmlformats.org/markup-compatibility/2006" xmlns:a14="http://schemas.microsoft.com/office/drawing/2010/main">
        <mc:Choice Requires="a14">
          <p:sp>
            <p:nvSpPr>
              <p:cNvPr id="5" name="TextBox 4"/>
              <p:cNvSpPr txBox="1"/>
              <p:nvPr/>
            </p:nvSpPr>
            <p:spPr>
              <a:xfrm>
                <a:off x="2010149" y="2994002"/>
                <a:ext cx="7823103" cy="21823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𝑊</m:t>
                      </m:r>
                      <m:r>
                        <a:rPr lang="en-US" sz="4800" b="0" i="1" smtClean="0">
                          <a:latin typeface="Cambria Math" charset="0"/>
                        </a:rPr>
                        <m:t>=</m:t>
                      </m:r>
                      <m:r>
                        <a:rPr lang="en-US" sz="4800" b="0" i="1" smtClean="0">
                          <a:latin typeface="Cambria Math" charset="0"/>
                        </a:rPr>
                        <m:t>𝑇𝑟𝑢𝑛𝑐𝑁𝑜𝑟𝑚</m:t>
                      </m:r>
                      <m:r>
                        <a:rPr lang="en-US" sz="4800" b="0" i="1" smtClean="0">
                          <a:latin typeface="Cambria Math" charset="0"/>
                        </a:rPr>
                        <m:t>(0.0,</m:t>
                      </m:r>
                      <m:rad>
                        <m:radPr>
                          <m:degHide m:val="on"/>
                          <m:ctrlPr>
                            <a:rPr lang="en-US" sz="4800" b="0" i="1" smtClean="0">
                              <a:latin typeface="Cambria Math" panose="02040503050406030204" pitchFamily="18" charset="0"/>
                            </a:rPr>
                          </m:ctrlPr>
                        </m:radPr>
                        <m:deg/>
                        <m:e>
                          <m:f>
                            <m:fPr>
                              <m:ctrlPr>
                                <a:rPr lang="mr-IN" sz="4800" i="1">
                                  <a:latin typeface="Cambria Math" panose="02040503050406030204" pitchFamily="18" charset="0"/>
                                </a:rPr>
                              </m:ctrlPr>
                            </m:fPr>
                            <m:num>
                              <m:r>
                                <a:rPr lang="en-US" sz="4800" i="1">
                                  <a:latin typeface="Cambria Math" charset="0"/>
                                </a:rPr>
                                <m:t>2</m:t>
                              </m:r>
                            </m:num>
                            <m:den>
                              <m:sSub>
                                <m:sSubPr>
                                  <m:ctrlPr>
                                    <a:rPr lang="en-US" sz="4800" i="1">
                                      <a:latin typeface="Cambria Math" panose="02040503050406030204" pitchFamily="18" charset="0"/>
                                    </a:rPr>
                                  </m:ctrlPr>
                                </m:sSubPr>
                                <m:e>
                                  <m:r>
                                    <a:rPr lang="en-US" sz="4800" i="1">
                                      <a:latin typeface="Cambria Math" charset="0"/>
                                    </a:rPr>
                                    <m:t>𝑛</m:t>
                                  </m:r>
                                </m:e>
                                <m:sub>
                                  <m:r>
                                    <a:rPr lang="en-US" sz="4800" i="1">
                                      <a:latin typeface="Cambria Math" charset="0"/>
                                    </a:rPr>
                                    <m:t>𝑖𝑛</m:t>
                                  </m:r>
                                </m:sub>
                              </m:sSub>
                            </m:den>
                          </m:f>
                        </m:e>
                      </m:rad>
                      <m:r>
                        <a:rPr lang="en-US" sz="4800" b="0" i="1" smtClean="0">
                          <a:latin typeface="Cambria Math" charset="0"/>
                        </a:rPr>
                        <m:t>)</m:t>
                      </m:r>
                    </m:oMath>
                  </m:oMathPara>
                </a14:m>
                <a:endParaRPr lang="en-US" sz="4800" dirty="0"/>
              </a:p>
            </p:txBody>
          </p:sp>
        </mc:Choice>
        <mc:Fallback xmlns="">
          <p:sp>
            <p:nvSpPr>
              <p:cNvPr id="5" name="TextBox 4"/>
              <p:cNvSpPr txBox="1">
                <a:spLocks noRot="1" noChangeAspect="1" noMove="1" noResize="1" noEditPoints="1" noAdjustHandles="1" noChangeArrowheads="1" noChangeShapeType="1" noTextEdit="1"/>
              </p:cNvSpPr>
              <p:nvPr/>
            </p:nvSpPr>
            <p:spPr>
              <a:xfrm>
                <a:off x="2010149" y="2994002"/>
                <a:ext cx="7823103" cy="2182329"/>
              </a:xfrm>
              <a:prstGeom prst="rect">
                <a:avLst/>
              </a:prstGeom>
              <a:blipFill rotWithShape="0">
                <a:blip r:embed="rId3"/>
                <a:stretch>
                  <a:fillRect/>
                </a:stretch>
              </a:blipFill>
            </p:spPr>
            <p:txBody>
              <a:bodyPr/>
              <a:lstStyle/>
              <a:p>
                <a:r>
                  <a:rPr lang="en-US">
                    <a:noFill/>
                  </a:rPr>
                  <a:t> </a:t>
                </a:r>
              </a:p>
            </p:txBody>
          </p:sp>
        </mc:Fallback>
      </mc:AlternateContent>
      <p:sp>
        <p:nvSpPr>
          <p:cNvPr id="6" name="Content Placeholder 2"/>
          <p:cNvSpPr txBox="1">
            <a:spLocks/>
          </p:cNvSpPr>
          <p:nvPr/>
        </p:nvSpPr>
        <p:spPr>
          <a:xfrm>
            <a:off x="1593436" y="5562600"/>
            <a:ext cx="9782801" cy="99060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7113377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Simplifies the training procedure.</a:t>
            </a:r>
            <a:endParaRPr lang="en-US" dirty="0"/>
          </a:p>
        </p:txBody>
      </p:sp>
      <p:sp>
        <p:nvSpPr>
          <p:cNvPr id="3" name="Content Placeholder 2"/>
          <p:cNvSpPr>
            <a:spLocks noGrp="1"/>
          </p:cNvSpPr>
          <p:nvPr>
            <p:ph idx="1"/>
          </p:nvPr>
        </p:nvSpPr>
        <p:spPr/>
        <p:txBody>
          <a:bodyPr/>
          <a:lstStyle/>
          <a:p>
            <a:pPr>
              <a:lnSpc>
                <a:spcPct val="150000"/>
              </a:lnSpc>
            </a:pPr>
            <a:r>
              <a:rPr lang="en-US" dirty="0" smtClean="0"/>
              <a:t>Allows us to train “end-to-end”, without pre-training</a:t>
            </a:r>
          </a:p>
          <a:p>
            <a:pPr>
              <a:lnSpc>
                <a:spcPct val="150000"/>
              </a:lnSpc>
            </a:pPr>
            <a:r>
              <a:rPr lang="en-US" dirty="0" smtClean="0"/>
              <a:t>Less time spent dealing with exploding gradients</a:t>
            </a:r>
          </a:p>
          <a:p>
            <a:pPr>
              <a:lnSpc>
                <a:spcPct val="150000"/>
              </a:lnSpc>
            </a:pPr>
            <a:r>
              <a:rPr lang="en-US" dirty="0" smtClean="0"/>
              <a:t>No longer have to hand-tweak everything</a:t>
            </a:r>
          </a:p>
        </p:txBody>
      </p:sp>
    </p:spTree>
    <p:extLst>
      <p:ext uri="{BB962C8B-B14F-4D97-AF65-F5344CB8AC3E}">
        <p14:creationId xmlns:p14="http://schemas.microsoft.com/office/powerpoint/2010/main" val="4124879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IS_PPT Template_ClearPro_16x9_051915">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S_External_Template_ClearPro_16x9.potx [Read-Only]" id="{6AFB86A7-0267-4CB1-9FC3-652CFE2BAB26}" vid="{5D3D9D23-DC57-4FBF-B0A2-198F4179BAD5}"/>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20C675A-9AD3-40BB-AC57-0E9EFA3E4F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IS_External_Template_ClearPro_16x9</Template>
  <TotalTime>0</TotalTime>
  <Words>1997</Words>
  <Application>Microsoft Office PowerPoint</Application>
  <PresentationFormat>Custom</PresentationFormat>
  <Paragraphs>418</Paragraphs>
  <Slides>58</Slides>
  <Notes>24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58</vt:i4>
      </vt:variant>
    </vt:vector>
  </HeadingPairs>
  <TitlesOfParts>
    <vt:vector size="70" baseType="lpstr">
      <vt:lpstr>Arial</vt:lpstr>
      <vt:lpstr>Cambria Math</vt:lpstr>
      <vt:lpstr>Consolas</vt:lpstr>
      <vt:lpstr>Euphemia</vt:lpstr>
      <vt:lpstr>Euphemia UCAS</vt:lpstr>
      <vt:lpstr>Intel Clear</vt:lpstr>
      <vt:lpstr>Intel Clear Light</vt:lpstr>
      <vt:lpstr>Intel Clear Pro</vt:lpstr>
      <vt:lpstr>Lucida Grande</vt:lpstr>
      <vt:lpstr>Neo Sans Intel</vt:lpstr>
      <vt:lpstr>Wingdings</vt:lpstr>
      <vt:lpstr>IS_PPT Template_ClearPro_16x9_051915</vt:lpstr>
      <vt:lpstr>Introduction to  Convolutional Networks</vt:lpstr>
      <vt:lpstr>Legal Notices and Disclaimers</vt:lpstr>
      <vt:lpstr>Last time:</vt:lpstr>
      <vt:lpstr>Considerations</vt:lpstr>
      <vt:lpstr>Problem 1: Translation invariance</vt:lpstr>
      <vt:lpstr>Problem 2: Huge number of parameters</vt:lpstr>
      <vt:lpstr>Kernels</vt:lpstr>
      <vt:lpstr>What are kernels?</vt:lpstr>
      <vt:lpstr>Example: 3x3</vt:lpstr>
      <vt:lpstr>Imagine kernel is stacked on top of input</vt:lpstr>
      <vt:lpstr>Example: 3x3</vt:lpstr>
      <vt:lpstr>Example: 3x3</vt:lpstr>
      <vt:lpstr>Example: 3x3</vt:lpstr>
      <vt:lpstr>Example: 3x3</vt:lpstr>
      <vt:lpstr>Example: 3x3</vt:lpstr>
      <vt:lpstr>Here’s what the process looks like over a larger input:</vt:lpstr>
      <vt:lpstr>Interactive Kernel Demonstration</vt:lpstr>
      <vt:lpstr>Convolutional Neural Networks</vt:lpstr>
      <vt:lpstr>Convolutional Neural Networks</vt:lpstr>
      <vt:lpstr>Convolution operation</vt:lpstr>
      <vt:lpstr>Convolution settings</vt:lpstr>
      <vt:lpstr>Height and width</vt:lpstr>
      <vt:lpstr>Stride</vt:lpstr>
      <vt:lpstr>Stride 2 convolution</vt:lpstr>
      <vt:lpstr>Padding</vt:lpstr>
      <vt:lpstr>Padding</vt:lpstr>
      <vt:lpstr>Padding: 1 (‘SAME’)</vt:lpstr>
      <vt:lpstr>Depth – Number of Output Channels</vt:lpstr>
      <vt:lpstr>Output channels: 2</vt:lpstr>
      <vt:lpstr>Input Depth</vt:lpstr>
      <vt:lpstr>Convolution In TensorFlow:</vt:lpstr>
      <vt:lpstr>Pooling</vt:lpstr>
      <vt:lpstr>Pooling</vt:lpstr>
      <vt:lpstr>Max pooling</vt:lpstr>
      <vt:lpstr>Average pooling</vt:lpstr>
      <vt:lpstr>Global pooling</vt:lpstr>
      <vt:lpstr>Additional convolution operation resource</vt:lpstr>
      <vt:lpstr>LeNet-5</vt:lpstr>
      <vt:lpstr>LeNet</vt:lpstr>
      <vt:lpstr>Network diagram</vt:lpstr>
      <vt:lpstr>Network diagram</vt:lpstr>
      <vt:lpstr>Network diagram</vt:lpstr>
      <vt:lpstr>Network diagram</vt:lpstr>
      <vt:lpstr>Network diagram</vt:lpstr>
      <vt:lpstr>Network diagram</vt:lpstr>
      <vt:lpstr>Network diagram</vt:lpstr>
      <vt:lpstr>Network diagram</vt:lpstr>
      <vt:lpstr>Network diagram</vt:lpstr>
      <vt:lpstr>Network diagram</vt:lpstr>
      <vt:lpstr>Network diagram</vt:lpstr>
      <vt:lpstr>Network diagram</vt:lpstr>
      <vt:lpstr>Network diagram</vt:lpstr>
      <vt:lpstr>Table description of LeNet-5</vt:lpstr>
      <vt:lpstr>Count parameters</vt:lpstr>
      <vt:lpstr>Xavier (and He) Initialization</vt:lpstr>
      <vt:lpstr>Xavier Initialization</vt:lpstr>
      <vt:lpstr>Recommendation for ReLUs</vt:lpstr>
      <vt:lpstr>Simplifies the training procedure.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CTPClassification=CTP_NT</cp:keywords>
  <cp:lastModifiedBy/>
  <cp:revision>1</cp:revision>
  <dcterms:created xsi:type="dcterms:W3CDTF">2017-02-08T03:57:32Z</dcterms:created>
  <dcterms:modified xsi:type="dcterms:W3CDTF">2018-01-26T01:17:46Z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TC027879479991</vt:lpwstr>
  </property>
  <property fmtid="{D5CDD505-2E9C-101B-9397-08002B2CF9AE}" pid="3" name="TitusGUID">
    <vt:lpwstr>a11b66bc-d94e-4ee7-b6e8-f38fefdafa62</vt:lpwstr>
  </property>
  <property fmtid="{D5CDD505-2E9C-101B-9397-08002B2CF9AE}" pid="4" name="CTP_TimeStamp">
    <vt:lpwstr>2018-01-26 01:17:45Z</vt:lpwstr>
  </property>
  <property fmtid="{D5CDD505-2E9C-101B-9397-08002B2CF9AE}" pid="5" name="CTP_BU">
    <vt:lpwstr>NA</vt:lpwstr>
  </property>
  <property fmtid="{D5CDD505-2E9C-101B-9397-08002B2CF9AE}" pid="6" name="CTP_IDSID">
    <vt:lpwstr>NA</vt:lpwstr>
  </property>
  <property fmtid="{D5CDD505-2E9C-101B-9397-08002B2CF9AE}" pid="7" name="CTP_WWID">
    <vt:lpwstr>NA</vt:lpwstr>
  </property>
  <property fmtid="{D5CDD505-2E9C-101B-9397-08002B2CF9AE}" pid="8" name="CTPClassification">
    <vt:lpwstr>CTP_NT</vt:lpwstr>
  </property>
</Properties>
</file>
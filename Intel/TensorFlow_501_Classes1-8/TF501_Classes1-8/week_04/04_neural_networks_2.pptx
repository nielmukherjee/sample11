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2"/>
  </p:sldMasterIdLst>
  <p:notesMasterIdLst>
    <p:notesMasterId r:id="rId87"/>
  </p:notesMasterIdLst>
  <p:handoutMasterIdLst>
    <p:handoutMasterId r:id="rId88"/>
  </p:handoutMasterIdLst>
  <p:sldIdLst>
    <p:sldId id="256" r:id="rId3"/>
    <p:sldId id="383" r:id="rId4"/>
    <p:sldId id="305" r:id="rId5"/>
    <p:sldId id="306" r:id="rId6"/>
    <p:sldId id="307" r:id="rId7"/>
    <p:sldId id="309" r:id="rId8"/>
    <p:sldId id="310" r:id="rId9"/>
    <p:sldId id="308" r:id="rId10"/>
    <p:sldId id="311" r:id="rId11"/>
    <p:sldId id="382" r:id="rId12"/>
    <p:sldId id="313" r:id="rId13"/>
    <p:sldId id="314" r:id="rId14"/>
    <p:sldId id="315" r:id="rId15"/>
    <p:sldId id="318" r:id="rId16"/>
    <p:sldId id="319" r:id="rId17"/>
    <p:sldId id="320" r:id="rId18"/>
    <p:sldId id="321" r:id="rId19"/>
    <p:sldId id="322" r:id="rId20"/>
    <p:sldId id="323" r:id="rId21"/>
    <p:sldId id="325" r:id="rId22"/>
    <p:sldId id="357" r:id="rId23"/>
    <p:sldId id="324" r:id="rId24"/>
    <p:sldId id="326" r:id="rId25"/>
    <p:sldId id="327" r:id="rId26"/>
    <p:sldId id="328" r:id="rId27"/>
    <p:sldId id="329" r:id="rId28"/>
    <p:sldId id="331" r:id="rId29"/>
    <p:sldId id="330" r:id="rId30"/>
    <p:sldId id="332" r:id="rId31"/>
    <p:sldId id="333" r:id="rId32"/>
    <p:sldId id="334" r:id="rId33"/>
    <p:sldId id="338" r:id="rId34"/>
    <p:sldId id="335" r:id="rId35"/>
    <p:sldId id="336" r:id="rId36"/>
    <p:sldId id="339" r:id="rId37"/>
    <p:sldId id="337" r:id="rId38"/>
    <p:sldId id="340" r:id="rId39"/>
    <p:sldId id="341" r:id="rId40"/>
    <p:sldId id="342" r:id="rId41"/>
    <p:sldId id="343" r:id="rId42"/>
    <p:sldId id="350" r:id="rId43"/>
    <p:sldId id="344" r:id="rId44"/>
    <p:sldId id="346" r:id="rId45"/>
    <p:sldId id="347" r:id="rId46"/>
    <p:sldId id="345" r:id="rId47"/>
    <p:sldId id="348" r:id="rId48"/>
    <p:sldId id="349" r:id="rId49"/>
    <p:sldId id="351" r:id="rId50"/>
    <p:sldId id="352" r:id="rId51"/>
    <p:sldId id="353" r:id="rId52"/>
    <p:sldId id="354" r:id="rId53"/>
    <p:sldId id="355" r:id="rId54"/>
    <p:sldId id="356" r:id="rId55"/>
    <p:sldId id="358" r:id="rId56"/>
    <p:sldId id="366" r:id="rId57"/>
    <p:sldId id="359" r:id="rId58"/>
    <p:sldId id="360" r:id="rId59"/>
    <p:sldId id="361" r:id="rId60"/>
    <p:sldId id="362" r:id="rId61"/>
    <p:sldId id="364" r:id="rId62"/>
    <p:sldId id="365" r:id="rId63"/>
    <p:sldId id="367" r:id="rId64"/>
    <p:sldId id="270" r:id="rId65"/>
    <p:sldId id="271" r:id="rId66"/>
    <p:sldId id="272" r:id="rId67"/>
    <p:sldId id="273" r:id="rId68"/>
    <p:sldId id="274" r:id="rId69"/>
    <p:sldId id="275" r:id="rId70"/>
    <p:sldId id="276" r:id="rId71"/>
    <p:sldId id="278" r:id="rId72"/>
    <p:sldId id="369" r:id="rId73"/>
    <p:sldId id="371" r:id="rId74"/>
    <p:sldId id="370" r:id="rId75"/>
    <p:sldId id="368" r:id="rId76"/>
    <p:sldId id="372" r:id="rId77"/>
    <p:sldId id="373" r:id="rId78"/>
    <p:sldId id="374" r:id="rId79"/>
    <p:sldId id="375" r:id="rId80"/>
    <p:sldId id="376" r:id="rId81"/>
    <p:sldId id="377" r:id="rId82"/>
    <p:sldId id="378" r:id="rId83"/>
    <p:sldId id="379" r:id="rId84"/>
    <p:sldId id="381" r:id="rId85"/>
    <p:sldId id="380" r:id="rId8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F92832D-F12B-7A4A-906F-BD409EDF78BF}">
          <p14:sldIdLst>
            <p14:sldId id="256"/>
            <p14:sldId id="383"/>
          </p14:sldIdLst>
        </p14:section>
        <p14:section name="Batching" id="{6110C2D8-C9CA-9246-93DF-2F4840DBB356}">
          <p14:sldIdLst>
            <p14:sldId id="305"/>
            <p14:sldId id="306"/>
            <p14:sldId id="307"/>
            <p14:sldId id="309"/>
            <p14:sldId id="310"/>
            <p14:sldId id="308"/>
            <p14:sldId id="311"/>
            <p14:sldId id="382"/>
            <p14:sldId id="313"/>
            <p14:sldId id="314"/>
            <p14:sldId id="315"/>
            <p14:sldId id="318"/>
            <p14:sldId id="319"/>
            <p14:sldId id="320"/>
            <p14:sldId id="321"/>
            <p14:sldId id="322"/>
            <p14:sldId id="323"/>
          </p14:sldIdLst>
        </p14:section>
        <p14:section name="Multi-class classification" id="{C0AFC9B1-5CAC-2542-B9C6-6ACE30BFA413}">
          <p14:sldIdLst>
            <p14:sldId id="325"/>
            <p14:sldId id="357"/>
            <p14:sldId id="324"/>
            <p14:sldId id="326"/>
            <p14:sldId id="327"/>
            <p14:sldId id="328"/>
            <p14:sldId id="329"/>
          </p14:sldIdLst>
        </p14:section>
        <p14:section name="Backpropagation" id="{AC9E5704-7146-9A45-A14A-514E0B76D3ED}">
          <p14:sldIdLst>
            <p14:sldId id="331"/>
            <p14:sldId id="330"/>
            <p14:sldId id="332"/>
            <p14:sldId id="333"/>
            <p14:sldId id="334"/>
            <p14:sldId id="338"/>
            <p14:sldId id="335"/>
            <p14:sldId id="336"/>
            <p14:sldId id="339"/>
            <p14:sldId id="337"/>
            <p14:sldId id="340"/>
            <p14:sldId id="341"/>
            <p14:sldId id="342"/>
            <p14:sldId id="343"/>
            <p14:sldId id="350"/>
            <p14:sldId id="344"/>
            <p14:sldId id="346"/>
            <p14:sldId id="347"/>
            <p14:sldId id="345"/>
            <p14:sldId id="348"/>
            <p14:sldId id="349"/>
            <p14:sldId id="351"/>
            <p14:sldId id="352"/>
            <p14:sldId id="353"/>
            <p14:sldId id="354"/>
            <p14:sldId id="355"/>
            <p14:sldId id="356"/>
            <p14:sldId id="358"/>
            <p14:sldId id="366"/>
          </p14:sldIdLst>
        </p14:section>
        <p14:section name="Vanishing gradient" id="{BACA4B61-4D1B-284C-B163-8CB8F93B4B70}">
          <p14:sldIdLst>
            <p14:sldId id="359"/>
            <p14:sldId id="360"/>
            <p14:sldId id="361"/>
            <p14:sldId id="362"/>
            <p14:sldId id="364"/>
          </p14:sldIdLst>
        </p14:section>
        <p14:section name="Activation functions" id="{DA6DA7E2-8BD6-E145-9D53-87D597CF17DC}">
          <p14:sldIdLst>
            <p14:sldId id="365"/>
            <p14:sldId id="367"/>
            <p14:sldId id="270"/>
            <p14:sldId id="271"/>
            <p14:sldId id="272"/>
            <p14:sldId id="273"/>
            <p14:sldId id="274"/>
            <p14:sldId id="275"/>
            <p14:sldId id="276"/>
            <p14:sldId id="278"/>
          </p14:sldIdLst>
        </p14:section>
        <p14:section name="Dropout" id="{64A06973-1468-DF46-BC73-201F042B213A}">
          <p14:sldIdLst>
            <p14:sldId id="369"/>
            <p14:sldId id="371"/>
            <p14:sldId id="370"/>
            <p14:sldId id="368"/>
            <p14:sldId id="372"/>
            <p14:sldId id="373"/>
            <p14:sldId id="374"/>
            <p14:sldId id="375"/>
            <p14:sldId id="376"/>
            <p14:sldId id="377"/>
            <p14:sldId id="378"/>
            <p14:sldId id="379"/>
            <p14:sldId id="381"/>
            <p14:sldId id="380"/>
          </p14:sldIdLst>
        </p14:section>
      </p14:sectionLst>
    </p:ex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FDFF"/>
    <a:srgbClr val="FFFFFF"/>
    <a:srgbClr val="5C6B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269" autoAdjust="0"/>
    <p:restoredTop sz="94205"/>
  </p:normalViewPr>
  <p:slideViewPr>
    <p:cSldViewPr showGuides="1">
      <p:cViewPr varScale="1">
        <p:scale>
          <a:sx n="101" d="100"/>
          <a:sy n="101" d="100"/>
        </p:scale>
        <p:origin x="138" y="558"/>
      </p:cViewPr>
      <p:guideLst>
        <p:guide orient="horz" pos="2160"/>
        <p:guide pos="3839"/>
        <p:guide pos="1007"/>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1/25/2018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1/25/2018</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that it can be as computationally “bad” to use a single example as to use too many.  You lose data caching / movement benefits.  Apparently some people refer</a:t>
            </a:r>
            <a:r>
              <a:rPr lang="en-US" baseline="0" dirty="0" smtClean="0"/>
              <a:t> to single example learning as “online learning”; that conflicts with older machine learning uses of the term to refer to any system that can update itself over time (also called incremental learning).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1156944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shouldn’t imply that full batch will perfectly optimize directly.</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1334459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would say </a:t>
            </a:r>
            <a:r>
              <a:rPr lang="en-US" dirty="0" err="1" smtClean="0"/>
              <a:t>sGD</a:t>
            </a:r>
            <a:r>
              <a:rPr lang="en-US" dirty="0" smtClean="0"/>
              <a:t> “usually” refers to mini-batch.  Don’t be too dogmatic about these terms:  five different groups will use five different permutations</a:t>
            </a:r>
            <a:r>
              <a:rPr lang="en-US" baseline="0" dirty="0" smtClean="0"/>
              <a:t> of these terms.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8</a:t>
            </a:fld>
            <a:endParaRPr lang="en-US"/>
          </a:p>
        </p:txBody>
      </p:sp>
    </p:spTree>
    <p:extLst>
      <p:ext uri="{BB962C8B-B14F-4D97-AF65-F5344CB8AC3E}">
        <p14:creationId xmlns:p14="http://schemas.microsoft.com/office/powerpoint/2010/main" val="1682842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 this as:  at step 6, some</a:t>
            </a:r>
            <a:r>
              <a:rPr lang="en-US" baseline="0" dirty="0" smtClean="0"/>
              <a:t> example from orange/yellow/green (in the prior epoch) are now grouped together to form the first batch of the second epoch.</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19</a:t>
            </a:fld>
            <a:endParaRPr lang="en-US"/>
          </a:p>
        </p:txBody>
      </p:sp>
    </p:spTree>
    <p:extLst>
      <p:ext uri="{BB962C8B-B14F-4D97-AF65-F5344CB8AC3E}">
        <p14:creationId xmlns:p14="http://schemas.microsoft.com/office/powerpoint/2010/main" val="443356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i.e.:  output of  [.25, 17.2, 3.8] means “likely a dog”</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22</a:t>
            </a:fld>
            <a:endParaRPr lang="en-US"/>
          </a:p>
        </p:txBody>
      </p:sp>
    </p:spTree>
    <p:extLst>
      <p:ext uri="{BB962C8B-B14F-4D97-AF65-F5344CB8AC3E}">
        <p14:creationId xmlns:p14="http://schemas.microsoft.com/office/powerpoint/2010/main" val="202941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Classic</a:t>
            </a:r>
            <a:r>
              <a:rPr lang="en-US" baseline="0" dirty="0" smtClean="0"/>
              <a:t> problems of logistic regression (and why we don’t just use linear regression against a class)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23</a:t>
            </a:fld>
            <a:endParaRPr lang="en-US"/>
          </a:p>
        </p:txBody>
      </p:sp>
    </p:spTree>
    <p:extLst>
      <p:ext uri="{BB962C8B-B14F-4D97-AF65-F5344CB8AC3E}">
        <p14:creationId xmlns:p14="http://schemas.microsoft.com/office/powerpoint/2010/main" val="1248247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all fundamentally the same as logistic</a:t>
            </a:r>
            <a:r>
              <a:rPr lang="en-US" baseline="0" dirty="0" smtClean="0"/>
              <a:t> regression.  To get a single class, we just take the index of the largest </a:t>
            </a:r>
            <a:r>
              <a:rPr lang="en-US" baseline="0" dirty="0" err="1" smtClean="0"/>
              <a:t>softmax</a:t>
            </a:r>
            <a:r>
              <a:rPr lang="en-US" baseline="0" dirty="0" smtClean="0"/>
              <a:t> value.</a:t>
            </a:r>
          </a:p>
          <a:p>
            <a:endParaRPr lang="en-US" baseline="0" dirty="0" smtClean="0"/>
          </a:p>
          <a:p>
            <a:r>
              <a:rPr lang="en-US" baseline="0" dirty="0" smtClean="0"/>
              <a:t>Next slide:  our loss/cost function</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24</a:t>
            </a:fld>
            <a:endParaRPr lang="en-US"/>
          </a:p>
        </p:txBody>
      </p:sp>
    </p:spTree>
    <p:extLst>
      <p:ext uri="{BB962C8B-B14F-4D97-AF65-F5344CB8AC3E}">
        <p14:creationId xmlns:p14="http://schemas.microsoft.com/office/powerpoint/2010/main" val="560236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Of course, we also need the derivative to descend the gradient!  Derivative</a:t>
            </a:r>
            <a:r>
              <a:rPr lang="en-US" baseline="0" dirty="0" smtClean="0"/>
              <a:t> is on next slide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25</a:t>
            </a:fld>
            <a:endParaRPr lang="en-US"/>
          </a:p>
        </p:txBody>
      </p:sp>
    </p:spTree>
    <p:extLst>
      <p:ext uri="{BB962C8B-B14F-4D97-AF65-F5344CB8AC3E}">
        <p14:creationId xmlns:p14="http://schemas.microsoft.com/office/powerpoint/2010/main" val="395730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26</a:t>
            </a:fld>
            <a:endParaRPr lang="en-US"/>
          </a:p>
        </p:txBody>
      </p:sp>
    </p:spTree>
    <p:extLst>
      <p:ext uri="{BB962C8B-B14F-4D97-AF65-F5344CB8AC3E}">
        <p14:creationId xmlns:p14="http://schemas.microsoft.com/office/powerpoint/2010/main" val="844239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29</a:t>
            </a:fld>
            <a:endParaRPr lang="en-US"/>
          </a:p>
        </p:txBody>
      </p:sp>
    </p:spTree>
    <p:extLst>
      <p:ext uri="{BB962C8B-B14F-4D97-AF65-F5344CB8AC3E}">
        <p14:creationId xmlns:p14="http://schemas.microsoft.com/office/powerpoint/2010/main" val="8803354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J</a:t>
            </a:r>
            <a:r>
              <a:rPr lang="en-US" baseline="0" dirty="0" smtClean="0"/>
              <a:t> = C.E.  Means cost function is cross-entropy error between </a:t>
            </a:r>
            <a:r>
              <a:rPr lang="en-US" baseline="0" dirty="0" err="1" smtClean="0"/>
              <a:t>y_hat</a:t>
            </a:r>
            <a:r>
              <a:rPr lang="en-US" baseline="0" dirty="0" smtClean="0"/>
              <a:t> and y</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30</a:t>
            </a:fld>
            <a:endParaRPr lang="en-US"/>
          </a:p>
        </p:txBody>
      </p:sp>
    </p:spTree>
    <p:extLst>
      <p:ext uri="{BB962C8B-B14F-4D97-AF65-F5344CB8AC3E}">
        <p14:creationId xmlns:p14="http://schemas.microsoft.com/office/powerpoint/2010/main" val="47609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J is really “at the end” of these equations, not at the start.  It’s there as a “title” for the slide.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31</a:t>
            </a:fld>
            <a:endParaRPr lang="en-US"/>
          </a:p>
        </p:txBody>
      </p:sp>
    </p:spTree>
    <p:extLst>
      <p:ext uri="{BB962C8B-B14F-4D97-AF65-F5344CB8AC3E}">
        <p14:creationId xmlns:p14="http://schemas.microsoft.com/office/powerpoint/2010/main" val="176783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Recall the simple derivative for cross-entropy</a:t>
            </a:r>
            <a:r>
              <a:rPr lang="en-US" baseline="0" dirty="0" smtClean="0"/>
              <a:t> error (which is the </a:t>
            </a:r>
            <a:r>
              <a:rPr lang="en-US" baseline="0" dirty="0" err="1" smtClean="0"/>
              <a:t>y_hat</a:t>
            </a:r>
            <a:r>
              <a:rPr lang="en-US" baseline="0" dirty="0" smtClean="0"/>
              <a:t> – y in the bottom right corner)</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32</a:t>
            </a:fld>
            <a:endParaRPr lang="en-US"/>
          </a:p>
        </p:txBody>
      </p:sp>
    </p:spTree>
    <p:extLst>
      <p:ext uri="{BB962C8B-B14F-4D97-AF65-F5344CB8AC3E}">
        <p14:creationId xmlns:p14="http://schemas.microsoft.com/office/powerpoint/2010/main" val="452016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now we start “</a:t>
            </a:r>
            <a:r>
              <a:rPr lang="en-US" dirty="0" err="1" smtClean="0"/>
              <a:t>propogating</a:t>
            </a:r>
            <a:r>
              <a:rPr lang="en-US" dirty="0" smtClean="0"/>
              <a:t>” the derivatives (chain-ruling)</a:t>
            </a:r>
            <a:r>
              <a:rPr lang="en-US" baseline="0" dirty="0" smtClean="0"/>
              <a:t> backwards</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33</a:t>
            </a:fld>
            <a:endParaRPr lang="en-US"/>
          </a:p>
        </p:txBody>
      </p:sp>
    </p:spTree>
    <p:extLst>
      <p:ext uri="{BB962C8B-B14F-4D97-AF65-F5344CB8AC3E}">
        <p14:creationId xmlns:p14="http://schemas.microsoft.com/office/powerpoint/2010/main" val="9517097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Recall that for the logistic/sigmoid</a:t>
            </a:r>
            <a:r>
              <a:rPr lang="en-US" baseline="0" dirty="0" smtClean="0"/>
              <a:t> sigma:  </a:t>
            </a:r>
            <a:r>
              <a:rPr lang="en-US" dirty="0" smtClean="0"/>
              <a:t> </a:t>
            </a:r>
            <a:r>
              <a:rPr lang="en-US" dirty="0" err="1" smtClean="0"/>
              <a:t>sigma^prime</a:t>
            </a:r>
            <a:r>
              <a:rPr lang="en-US" baseline="0" dirty="0" smtClean="0"/>
              <a:t> = sigma(1-sigma).  Another “nice” form.</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34</a:t>
            </a:fld>
            <a:endParaRPr lang="en-US"/>
          </a:p>
        </p:txBody>
      </p:sp>
    </p:spTree>
    <p:extLst>
      <p:ext uri="{BB962C8B-B14F-4D97-AF65-F5344CB8AC3E}">
        <p14:creationId xmlns:p14="http://schemas.microsoft.com/office/powerpoint/2010/main" val="1572540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All the partials are filled in.  Put them together</a:t>
            </a:r>
            <a:r>
              <a:rPr lang="en-US" baseline="0" dirty="0" smtClean="0"/>
              <a:t> on the next slide.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38</a:t>
            </a:fld>
            <a:endParaRPr lang="en-US"/>
          </a:p>
        </p:txBody>
      </p:sp>
    </p:spTree>
    <p:extLst>
      <p:ext uri="{BB962C8B-B14F-4D97-AF65-F5344CB8AC3E}">
        <p14:creationId xmlns:p14="http://schemas.microsoft.com/office/powerpoint/2010/main" val="1994994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 fill in pieces on the next slide.</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39</a:t>
            </a:fld>
            <a:endParaRPr lang="en-US"/>
          </a:p>
        </p:txBody>
      </p:sp>
    </p:spTree>
    <p:extLst>
      <p:ext uri="{BB962C8B-B14F-4D97-AF65-F5344CB8AC3E}">
        <p14:creationId xmlns:p14="http://schemas.microsoft.com/office/powerpoint/2010/main" val="14756105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 get into more intuition, but think about the fact that (</a:t>
            </a:r>
            <a:r>
              <a:rPr lang="en-US" dirty="0" err="1" smtClean="0"/>
              <a:t>y_hat</a:t>
            </a:r>
            <a:r>
              <a:rPr lang="en-US" baseline="0" dirty="0" smtClean="0"/>
              <a:t> – y) will be zero if they are the same (we are correct).  That would mean that we don’t want to adjust that weight.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40</a:t>
            </a:fld>
            <a:endParaRPr lang="en-US"/>
          </a:p>
        </p:txBody>
      </p:sp>
    </p:spTree>
    <p:extLst>
      <p:ext uri="{BB962C8B-B14F-4D97-AF65-F5344CB8AC3E}">
        <p14:creationId xmlns:p14="http://schemas.microsoft.com/office/powerpoint/2010/main" val="1682847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42</a:t>
            </a:fld>
            <a:endParaRPr lang="en-US"/>
          </a:p>
        </p:txBody>
      </p:sp>
    </p:spTree>
    <p:extLst>
      <p:ext uri="{BB962C8B-B14F-4D97-AF65-F5344CB8AC3E}">
        <p14:creationId xmlns:p14="http://schemas.microsoft.com/office/powerpoint/2010/main" val="19141281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43</a:t>
            </a:fld>
            <a:endParaRPr lang="en-US"/>
          </a:p>
        </p:txBody>
      </p:sp>
    </p:spTree>
    <p:extLst>
      <p:ext uri="{BB962C8B-B14F-4D97-AF65-F5344CB8AC3E}">
        <p14:creationId xmlns:p14="http://schemas.microsoft.com/office/powerpoint/2010/main" val="9548363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44</a:t>
            </a:fld>
            <a:endParaRPr lang="en-US"/>
          </a:p>
        </p:txBody>
      </p:sp>
    </p:spTree>
    <p:extLst>
      <p:ext uri="{BB962C8B-B14F-4D97-AF65-F5344CB8AC3E}">
        <p14:creationId xmlns:p14="http://schemas.microsoft.com/office/powerpoint/2010/main" val="17172363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 we have training data (known</a:t>
            </a:r>
            <a:r>
              <a:rPr lang="en-US" baseline="0" dirty="0" smtClean="0"/>
              <a:t> labels), we can calculate the cost.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45</a:t>
            </a:fld>
            <a:endParaRPr lang="en-US"/>
          </a:p>
        </p:txBody>
      </p:sp>
    </p:spTree>
    <p:extLst>
      <p:ext uri="{BB962C8B-B14F-4D97-AF65-F5344CB8AC3E}">
        <p14:creationId xmlns:p14="http://schemas.microsoft.com/office/powerpoint/2010/main" val="15143668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46</a:t>
            </a:fld>
            <a:endParaRPr lang="en-US"/>
          </a:p>
        </p:txBody>
      </p:sp>
    </p:spTree>
    <p:extLst>
      <p:ext uri="{BB962C8B-B14F-4D97-AF65-F5344CB8AC3E}">
        <p14:creationId xmlns:p14="http://schemas.microsoft.com/office/powerpoint/2010/main" val="1958278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47</a:t>
            </a:fld>
            <a:endParaRPr lang="en-US"/>
          </a:p>
        </p:txBody>
      </p:sp>
    </p:spTree>
    <p:extLst>
      <p:ext uri="{BB962C8B-B14F-4D97-AF65-F5344CB8AC3E}">
        <p14:creationId xmlns:p14="http://schemas.microsoft.com/office/powerpoint/2010/main" val="7400900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48</a:t>
            </a:fld>
            <a:endParaRPr lang="en-US"/>
          </a:p>
        </p:txBody>
      </p:sp>
    </p:spTree>
    <p:extLst>
      <p:ext uri="{BB962C8B-B14F-4D97-AF65-F5344CB8AC3E}">
        <p14:creationId xmlns:p14="http://schemas.microsoft.com/office/powerpoint/2010/main" val="19342788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49</a:t>
            </a:fld>
            <a:endParaRPr lang="en-US"/>
          </a:p>
        </p:txBody>
      </p:sp>
    </p:spTree>
    <p:extLst>
      <p:ext uri="{BB962C8B-B14F-4D97-AF65-F5344CB8AC3E}">
        <p14:creationId xmlns:p14="http://schemas.microsoft.com/office/powerpoint/2010/main" val="2788202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50</a:t>
            </a:fld>
            <a:endParaRPr lang="en-US"/>
          </a:p>
        </p:txBody>
      </p:sp>
    </p:spTree>
    <p:extLst>
      <p:ext uri="{BB962C8B-B14F-4D97-AF65-F5344CB8AC3E}">
        <p14:creationId xmlns:p14="http://schemas.microsoft.com/office/powerpoint/2010/main" val="19498782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[error] then </a:t>
            </a:r>
          </a:p>
          <a:p>
            <a:r>
              <a:rPr lang="en-US" dirty="0" smtClean="0"/>
              <a:t>zero or more of  [weight * output</a:t>
            </a:r>
            <a:r>
              <a:rPr lang="en-US" baseline="0" dirty="0" smtClean="0"/>
              <a:t> (</a:t>
            </a:r>
            <a:r>
              <a:rPr lang="en-US" dirty="0" smtClean="0"/>
              <a:t>activation derivative)] pairs </a:t>
            </a:r>
          </a:p>
          <a:p>
            <a:r>
              <a:rPr lang="en-US" dirty="0" smtClean="0"/>
              <a:t>and then input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51</a:t>
            </a:fld>
            <a:endParaRPr lang="en-US"/>
          </a:p>
        </p:txBody>
      </p:sp>
    </p:spTree>
    <p:extLst>
      <p:ext uri="{BB962C8B-B14F-4D97-AF65-F5344CB8AC3E}">
        <p14:creationId xmlns:p14="http://schemas.microsoft.com/office/powerpoint/2010/main" val="11803880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My error signal (bottom right corner) is the:</a:t>
            </a:r>
          </a:p>
          <a:p>
            <a:r>
              <a:rPr lang="en-US" dirty="0" smtClean="0"/>
              <a:t> incoming error (from the RHS</a:t>
            </a:r>
            <a:r>
              <a:rPr lang="en-US" baseline="0" dirty="0" smtClean="0"/>
              <a:t> of the graph) times my weights times the derivative of my output/activation</a:t>
            </a:r>
          </a:p>
          <a:p>
            <a:endParaRPr lang="en-US" baseline="0" dirty="0" smtClean="0"/>
          </a:p>
          <a:p>
            <a:r>
              <a:rPr lang="en-US" baseline="0" dirty="0" smtClean="0"/>
              <a:t>And we can apply it recursively back to the first layer.</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52</a:t>
            </a:fld>
            <a:endParaRPr lang="en-US"/>
          </a:p>
        </p:txBody>
      </p:sp>
    </p:spTree>
    <p:extLst>
      <p:ext uri="{BB962C8B-B14F-4D97-AF65-F5344CB8AC3E}">
        <p14:creationId xmlns:p14="http://schemas.microsoft.com/office/powerpoint/2010/main" val="8552424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56</a:t>
            </a:fld>
            <a:endParaRPr lang="en-US"/>
          </a:p>
        </p:txBody>
      </p:sp>
    </p:spTree>
    <p:extLst>
      <p:ext uri="{BB962C8B-B14F-4D97-AF65-F5344CB8AC3E}">
        <p14:creationId xmlns:p14="http://schemas.microsoft.com/office/powerpoint/2010/main" val="16077410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the derivative</a:t>
            </a:r>
            <a:r>
              <a:rPr lang="en-US" baseline="0" dirty="0" smtClean="0"/>
              <a:t> of our sigmoid looks vaguely bell-curve shaped.  It’s max is at zero.  The sigmoid itself takes the value .5 there.  So, .5 * (1-.5) = .25.</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57</a:t>
            </a:fld>
            <a:endParaRPr lang="en-US"/>
          </a:p>
        </p:txBody>
      </p:sp>
    </p:spTree>
    <p:extLst>
      <p:ext uri="{BB962C8B-B14F-4D97-AF65-F5344CB8AC3E}">
        <p14:creationId xmlns:p14="http://schemas.microsoft.com/office/powerpoint/2010/main" val="16647656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Common problem when we take a product of probabilities.  In that case, we often take logs</a:t>
            </a:r>
            <a:r>
              <a:rPr lang="en-US" baseline="0" dirty="0" smtClean="0"/>
              <a:t> which converts the product into additions.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58</a:t>
            </a:fld>
            <a:endParaRPr lang="en-US"/>
          </a:p>
        </p:txBody>
      </p:sp>
    </p:spTree>
    <p:extLst>
      <p:ext uri="{BB962C8B-B14F-4D97-AF65-F5344CB8AC3E}">
        <p14:creationId xmlns:p14="http://schemas.microsoft.com/office/powerpoint/2010/main" val="494163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Near</a:t>
            </a:r>
            <a:r>
              <a:rPr lang="en-US" baseline="0" dirty="0" smtClean="0"/>
              <a:t> ze</a:t>
            </a:r>
            <a:r>
              <a:rPr lang="en-US" dirty="0" smtClean="0"/>
              <a:t>ro gradient is a very “flat” surface (close to a horizontal line in 2D).  And we can’t go anywhere unless we have a massive step size. </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59</a:t>
            </a:fld>
            <a:endParaRPr lang="en-US"/>
          </a:p>
        </p:txBody>
      </p:sp>
    </p:spTree>
    <p:extLst>
      <p:ext uri="{BB962C8B-B14F-4D97-AF65-F5344CB8AC3E}">
        <p14:creationId xmlns:p14="http://schemas.microsoft.com/office/powerpoint/2010/main" val="1075977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We’ll investigate the derivatives in the notebook.</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62</a:t>
            </a:fld>
            <a:endParaRPr lang="en-US"/>
          </a:p>
        </p:txBody>
      </p:sp>
    </p:spTree>
    <p:extLst>
      <p:ext uri="{BB962C8B-B14F-4D97-AF65-F5344CB8AC3E}">
        <p14:creationId xmlns:p14="http://schemas.microsoft.com/office/powerpoint/2010/main" val="13370312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that this has a nice piecemeal derivative</a:t>
            </a:r>
            <a:r>
              <a:rPr lang="en-US" baseline="0" dirty="0" smtClean="0"/>
              <a:t> but it isn’t smooth at x=0</a:t>
            </a:r>
          </a:p>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67</a:t>
            </a:fld>
            <a:endParaRPr lang="en-US"/>
          </a:p>
        </p:txBody>
      </p:sp>
    </p:spTree>
    <p:extLst>
      <p:ext uri="{BB962C8B-B14F-4D97-AF65-F5344CB8AC3E}">
        <p14:creationId xmlns:p14="http://schemas.microsoft.com/office/powerpoint/2010/main" val="17814958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Typical value of </a:t>
                </a:r>
                <a14:m>
                  <m:oMath xmlns:m="http://schemas.openxmlformats.org/officeDocument/2006/math">
                    <m:r>
                      <a:rPr lang="en-US" sz="1200" i="1">
                        <a:latin typeface="Cambria Math" charset="0"/>
                        <a:ea typeface="Cambria Math" charset="0"/>
                        <a:cs typeface="Cambria Math" charset="0"/>
                      </a:rPr>
                      <m:t>𝛼</m:t>
                    </m:r>
                  </m:oMath>
                </a14:m>
                <a:r>
                  <a:rPr lang="en-US" sz="1200" dirty="0" smtClean="0"/>
                  <a:t> is very small positive value (0.01)</a:t>
                </a:r>
                <a:endParaRPr lang="en-US" sz="1200" dirty="0"/>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Typical value of </a:t>
                </a:r>
                <a:r>
                  <a:rPr lang="en-US" sz="1200" i="0">
                    <a:latin typeface="Cambria Math" charset="0"/>
                    <a:ea typeface="Cambria Math" charset="0"/>
                    <a:cs typeface="Cambria Math" charset="0"/>
                  </a:rPr>
                  <a:t>𝛼</a:t>
                </a:r>
                <a:r>
                  <a:rPr lang="en-US" sz="1200" dirty="0" smtClean="0"/>
                  <a:t> is very small positive value (0.01</a:t>
                </a:r>
                <a:r>
                  <a:rPr lang="en-US" sz="1200" dirty="0" smtClean="0"/>
                  <a:t>)</a:t>
                </a:r>
                <a:endParaRPr lang="en-US" sz="1200" dirty="0"/>
              </a:p>
            </p:txBody>
          </p:sp>
        </mc:Fallback>
      </mc:AlternateContent>
      <p:sp>
        <p:nvSpPr>
          <p:cNvPr id="4" name="Slide Number Placeholder 3"/>
          <p:cNvSpPr>
            <a:spLocks noGrp="1"/>
          </p:cNvSpPr>
          <p:nvPr>
            <p:ph type="sldNum" sz="quarter" idx="10"/>
          </p:nvPr>
        </p:nvSpPr>
        <p:spPr/>
        <p:txBody>
          <a:bodyPr/>
          <a:lstStyle/>
          <a:p>
            <a:fld id="{841221E5-7225-48EB-A4EE-420E7BFCF705}" type="slidenum">
              <a:rPr lang="en-US" smtClean="0"/>
              <a:pPr/>
              <a:t>69</a:t>
            </a:fld>
            <a:endParaRPr lang="en-US"/>
          </a:p>
        </p:txBody>
      </p:sp>
    </p:spTree>
    <p:extLst>
      <p:ext uri="{BB962C8B-B14F-4D97-AF65-F5344CB8AC3E}">
        <p14:creationId xmlns:p14="http://schemas.microsoft.com/office/powerpoint/2010/main" val="10300219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we do</a:t>
            </a:r>
            <a:r>
              <a:rPr lang="en-US" baseline="0" dirty="0" smtClean="0"/>
              <a:t> this mathematically (with zeros) not by constructing a whole new network!</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73</a:t>
            </a:fld>
            <a:endParaRPr lang="en-US"/>
          </a:p>
        </p:txBody>
      </p:sp>
    </p:spTree>
    <p:extLst>
      <p:ext uri="{BB962C8B-B14F-4D97-AF65-F5344CB8AC3E}">
        <p14:creationId xmlns:p14="http://schemas.microsoft.com/office/powerpoint/2010/main" val="4000531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gates control whether</a:t>
            </a:r>
            <a:r>
              <a:rPr lang="en-US" baseline="0" dirty="0" smtClean="0"/>
              <a:t> the input gets through.  When a node is dropped, the gate is close and the output on the other side is simply zero.</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74</a:t>
            </a:fld>
            <a:endParaRPr lang="en-US"/>
          </a:p>
        </p:txBody>
      </p:sp>
    </p:spTree>
    <p:extLst>
      <p:ext uri="{BB962C8B-B14F-4D97-AF65-F5344CB8AC3E}">
        <p14:creationId xmlns:p14="http://schemas.microsoft.com/office/powerpoint/2010/main" val="3316410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Note:  we’re using p as the “keep </a:t>
            </a:r>
            <a:r>
              <a:rPr lang="en-US" dirty="0" err="1" smtClean="0"/>
              <a:t>prob</a:t>
            </a:r>
            <a:r>
              <a:rPr lang="en-US" dirty="0" smtClean="0"/>
              <a:t>” which is consistent</a:t>
            </a:r>
            <a:r>
              <a:rPr lang="en-US" baseline="0" dirty="0" smtClean="0"/>
              <a:t> with </a:t>
            </a:r>
            <a:r>
              <a:rPr lang="en-US" baseline="0" dirty="0" err="1" smtClean="0"/>
              <a:t>TensorFlow</a:t>
            </a:r>
            <a:r>
              <a:rPr lang="en-US" baseline="0" dirty="0" smtClean="0"/>
              <a:t>.  Some of the literature uses p as the “drop </a:t>
            </a:r>
            <a:r>
              <a:rPr lang="en-US" baseline="0" dirty="0" err="1" smtClean="0"/>
              <a:t>prob</a:t>
            </a:r>
            <a:r>
              <a:rPr lang="en-US" baseline="0" dirty="0" smtClean="0"/>
              <a:t>” and uses q = 1-p as the “keep </a:t>
            </a:r>
            <a:r>
              <a:rPr lang="en-US" baseline="0" dirty="0" err="1" smtClean="0"/>
              <a:t>prob</a:t>
            </a:r>
            <a:r>
              <a:rPr lang="en-US" baseline="0" dirty="0" smtClean="0"/>
              <a:t>”.  Also note:  </a:t>
            </a:r>
            <a:r>
              <a:rPr lang="en-US" baseline="0" dirty="0" err="1" smtClean="0"/>
              <a:t>TensorFlow</a:t>
            </a:r>
            <a:r>
              <a:rPr lang="en-US" baseline="0" dirty="0" smtClean="0"/>
              <a:t> scales (up : by 1/p &gt; 1) at training time instead of (down : p &lt; 1) at testing time. They are mathematically equivalent.</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75</a:t>
            </a:fld>
            <a:endParaRPr lang="en-US"/>
          </a:p>
        </p:txBody>
      </p:sp>
    </p:spTree>
    <p:extLst>
      <p:ext uri="{BB962C8B-B14F-4D97-AF65-F5344CB8AC3E}">
        <p14:creationId xmlns:p14="http://schemas.microsoft.com/office/powerpoint/2010/main" val="11683685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77</a:t>
            </a:fld>
            <a:endParaRPr lang="en-US"/>
          </a:p>
        </p:txBody>
      </p:sp>
    </p:spTree>
    <p:extLst>
      <p:ext uri="{BB962C8B-B14F-4D97-AF65-F5344CB8AC3E}">
        <p14:creationId xmlns:p14="http://schemas.microsoft.com/office/powerpoint/2010/main" val="5313108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Ensembles are learning systems that are composed of a combination</a:t>
            </a:r>
            <a:r>
              <a:rPr lang="en-US" baseline="0" dirty="0" smtClean="0"/>
              <a:t> of sub-learning systems.  So, imagine a neural network, a decision tree, and an SVM all make a prediction and then you somehow weight/combine those predications.  That overall output is an ensemble prediction.</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78</a:t>
            </a:fld>
            <a:endParaRPr lang="en-US"/>
          </a:p>
        </p:txBody>
      </p:sp>
    </p:spTree>
    <p:extLst>
      <p:ext uri="{BB962C8B-B14F-4D97-AF65-F5344CB8AC3E}">
        <p14:creationId xmlns:p14="http://schemas.microsoft.com/office/powerpoint/2010/main" val="1055342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our “test” network is a combination</a:t>
            </a:r>
            <a:r>
              <a:rPr lang="en-US" baseline="0" dirty="0" smtClean="0"/>
              <a:t> (a weighted linear combination) of model 1, model 2, and model 3.</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81</a:t>
            </a:fld>
            <a:endParaRPr lang="en-US"/>
          </a:p>
        </p:txBody>
      </p:sp>
    </p:spTree>
    <p:extLst>
      <p:ext uri="{BB962C8B-B14F-4D97-AF65-F5344CB8AC3E}">
        <p14:creationId xmlns:p14="http://schemas.microsoft.com/office/powerpoint/2010/main" val="18730706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82</a:t>
            </a:fld>
            <a:endParaRPr lang="en-US"/>
          </a:p>
        </p:txBody>
      </p:sp>
    </p:spTree>
    <p:extLst>
      <p:ext uri="{BB962C8B-B14F-4D97-AF65-F5344CB8AC3E}">
        <p14:creationId xmlns:p14="http://schemas.microsoft.com/office/powerpoint/2010/main" val="16324055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we’ll delve into this in </a:t>
            </a:r>
            <a:r>
              <a:rPr lang="en-US" smtClean="0"/>
              <a:t>the notebook</a:t>
            </a:r>
          </a:p>
        </p:txBody>
      </p:sp>
      <p:sp>
        <p:nvSpPr>
          <p:cNvPr id="4" name="Slide Number Placeholder 3"/>
          <p:cNvSpPr>
            <a:spLocks noGrp="1"/>
          </p:cNvSpPr>
          <p:nvPr>
            <p:ph type="sldNum" sz="quarter" idx="10"/>
          </p:nvPr>
        </p:nvSpPr>
        <p:spPr/>
        <p:txBody>
          <a:bodyPr/>
          <a:lstStyle/>
          <a:p>
            <a:fld id="{841221E5-7225-48EB-A4EE-420E7BFCF705}" type="slidenum">
              <a:rPr lang="en-US" smtClean="0"/>
              <a:pPr/>
              <a:t>84</a:t>
            </a:fld>
            <a:endParaRPr lang="en-US"/>
          </a:p>
        </p:txBody>
      </p:sp>
    </p:spTree>
    <p:extLst>
      <p:ext uri="{BB962C8B-B14F-4D97-AF65-F5344CB8AC3E}">
        <p14:creationId xmlns:p14="http://schemas.microsoft.com/office/powerpoint/2010/main" val="2458905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616665" y="533064"/>
            <a:ext cx="1640574" cy="1542997"/>
          </a:xfrm>
          <a:prstGeom prst="rect">
            <a:avLst/>
          </a:prstGeom>
        </p:spPr>
      </p:pic>
      <p:sp>
        <p:nvSpPr>
          <p:cNvPr id="12" name="Rectangle 11"/>
          <p:cNvSpPr/>
          <p:nvPr/>
        </p:nvSpPr>
        <p:spPr>
          <a:xfrm>
            <a:off x="626112" y="6498502"/>
            <a:ext cx="2672206" cy="164019"/>
          </a:xfrm>
          <a:prstGeom prst="rect">
            <a:avLst/>
          </a:prstGeom>
        </p:spPr>
        <p:txBody>
          <a:bodyPr wrap="none" lIns="0" tIns="0" rIns="0" bIns="0">
            <a:spAutoFit/>
          </a:bodyPr>
          <a:lstStyle/>
          <a:p>
            <a:pPr algn="l" rtl="0"/>
            <a:r>
              <a:rPr lang="en-US" sz="1066" b="0" i="0" u="none" strike="noStrike" kern="1200" baseline="0" dirty="0" smtClean="0">
                <a:solidFill>
                  <a:schemeClr val="bg1"/>
                </a:solidFill>
                <a:latin typeface="+mn-lt"/>
                <a:ea typeface="+mn-ea"/>
                <a:cs typeface="Neo Sans Intel"/>
              </a:rPr>
              <a:t>Intel® Confidential — INTERNAL USE ONLY</a:t>
            </a:r>
          </a:p>
        </p:txBody>
      </p:sp>
    </p:spTree>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12188825" cy="6358467"/>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592762" y="3305897"/>
            <a:ext cx="10947663" cy="1470025"/>
          </a:xfrm>
        </p:spPr>
        <p:txBody>
          <a:bodyPr lIns="0" rIns="0" anchor="b" anchorCtr="0">
            <a:noAutofit/>
          </a:bodyPr>
          <a:lstStyle>
            <a:lvl1pPr>
              <a:lnSpc>
                <a:spcPct val="80000"/>
              </a:lnSpc>
              <a:defRPr sz="8665"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607326" y="4657344"/>
            <a:ext cx="8438085" cy="1233813"/>
          </a:xfrm>
        </p:spPr>
        <p:txBody>
          <a:bodyPr lIns="0" rIns="0">
            <a:noAutofit/>
          </a:bodyPr>
          <a:lstStyle>
            <a:lvl1pPr marL="0" indent="0" algn="l">
              <a:buNone/>
              <a:defRPr sz="2133" b="0" i="0" baseline="0">
                <a:solidFill>
                  <a:srgbClr val="F3D54E"/>
                </a:solidFill>
                <a:latin typeface="Intel Clear"/>
                <a:cs typeface="Intel Clear"/>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92449" y="301124"/>
            <a:ext cx="1875189" cy="1538477"/>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Rectangle 29"/>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32"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33"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58" name="Picture 57" descr="StackedISWhite.png"/>
          <p:cNvPicPr>
            <a:picLocks noChangeAspect="1"/>
          </p:cNvPicPr>
          <p:nvPr/>
        </p:nvPicPr>
        <p:blipFill>
          <a:blip r:embed="rId3"/>
          <a:stretch>
            <a:fillRect/>
          </a:stretch>
        </p:blipFill>
        <p:spPr>
          <a:xfrm>
            <a:off x="11056288" y="6407851"/>
            <a:ext cx="419545" cy="394592"/>
          </a:xfrm>
          <a:prstGeom prst="rect">
            <a:avLst/>
          </a:prstGeom>
        </p:spPr>
      </p:pic>
      <p:cxnSp>
        <p:nvCxnSpPr>
          <p:cNvPr id="74" name="Straight Connector 73"/>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607326" y="1604434"/>
            <a:ext cx="10967826" cy="4567767"/>
          </a:xfrm>
        </p:spPr>
        <p:txBody>
          <a:bodyPr/>
          <a:lstStyle>
            <a:lvl1pPr>
              <a:defRPr>
                <a:solidFill>
                  <a:srgbClr val="0071C5"/>
                </a:solidFill>
              </a:defRPr>
            </a:lvl1pPr>
            <a:lvl2pPr>
              <a:defRPr sz="2399"/>
            </a:lvl2pPr>
            <a:lvl3pPr>
              <a:defRPr sz="2399"/>
            </a:lvl3pPr>
            <a:lvl4pPr>
              <a:defRPr sz="2133"/>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pPr/>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6439341" y="1257907"/>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
        <p:nvSpPr>
          <p:cNvPr id="10" name="Picture Placeholder 8"/>
          <p:cNvSpPr>
            <a:spLocks noGrp="1"/>
          </p:cNvSpPr>
          <p:nvPr>
            <p:ph type="pic" sz="quarter" idx="14"/>
          </p:nvPr>
        </p:nvSpPr>
        <p:spPr>
          <a:xfrm>
            <a:off x="6439341" y="3791863"/>
            <a:ext cx="4240393" cy="2227933"/>
          </a:xfrm>
          <a:solidFill>
            <a:schemeClr val="bg2">
              <a:lumMod val="60000"/>
              <a:lumOff val="40000"/>
            </a:schemeClr>
          </a:solidFill>
        </p:spPr>
        <p:txBody>
          <a:bodyPr/>
          <a:lstStyle>
            <a:lvl1pPr>
              <a:defRPr sz="2399">
                <a:latin typeface="Intel Clear"/>
              </a:defRPr>
            </a:lvl1pPr>
          </a:lstStyle>
          <a:p>
            <a:r>
              <a:rPr lang="en-US" sz="1466" smtClean="0">
                <a:latin typeface="Arial"/>
              </a:rPr>
              <a:t>Drag picture to placeholder or click icon to add</a:t>
            </a:r>
            <a:endParaRPr lang="en-US" sz="1466" dirty="0">
              <a:latin typeface="Arial"/>
            </a:endParaRPr>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
        <p:nvSpPr>
          <p:cNvPr id="15" name="Content Placeholder 2"/>
          <p:cNvSpPr>
            <a:spLocks noGrp="1"/>
          </p:cNvSpPr>
          <p:nvPr>
            <p:ph sz="half" idx="1" hasCustomPrompt="1"/>
          </p:nvPr>
        </p:nvSpPr>
        <p:spPr>
          <a:xfrm>
            <a:off x="607326" y="1604433"/>
            <a:ext cx="5341077"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6236193" y="1604433"/>
            <a:ext cx="5338961"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7326" y="1604434"/>
            <a:ext cx="10967827" cy="4567767"/>
          </a:xfrm>
        </p:spPr>
        <p:txBody>
          <a:bodyPr anchor="ctr" anchorCtr="0"/>
          <a:lstStyle>
            <a:lvl1pPr marL="253937" indent="-253937">
              <a:defRPr sz="4799" b="1" baseline="0">
                <a:solidFill>
                  <a:schemeClr val="accent2"/>
                </a:solidFill>
                <a:latin typeface="+mn-lt"/>
                <a:cs typeface="Intel Clear Light" panose="020B0404020203020204" pitchFamily="34" charset="0"/>
              </a:defRPr>
            </a:lvl1pPr>
            <a:lvl2pPr marL="556545" indent="-300492">
              <a:buFont typeface="Lucida Grande"/>
              <a:buChar char="−"/>
              <a:defRPr sz="1600" baseline="0">
                <a:latin typeface="+mn-lt"/>
                <a:cs typeface="Intel Clear" panose="020B0604020203020204" pitchFamily="34" charset="0"/>
              </a:defRPr>
            </a:lvl2pPr>
            <a:lvl3pPr marL="914171" indent="-304724">
              <a:defRPr sz="1600">
                <a:latin typeface="+mn-lt"/>
              </a:defRPr>
            </a:lvl3pPr>
            <a:lvl4pPr>
              <a:defRPr sz="1466">
                <a:latin typeface="+mn-lt"/>
              </a:defRPr>
            </a:lvl4pPr>
            <a:lvl5pPr>
              <a:defRPr sz="140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12188825" cy="6350445"/>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7"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3432175"/>
            <a:ext cx="12188825" cy="2918271"/>
          </a:xfrm>
          <a:solidFill>
            <a:schemeClr val="bg2">
              <a:lumMod val="60000"/>
              <a:lumOff val="40000"/>
            </a:schemeClr>
          </a:solidFill>
        </p:spPr>
        <p:txBody>
          <a:bodyPr/>
          <a:lstStyle>
            <a:lvl1pPr marL="0" marR="0" indent="0" algn="l" defTabSz="609448" rtl="0" eaLnBrk="1" fontAlgn="auto" latinLnBrk="0" hangingPunct="1">
              <a:lnSpc>
                <a:spcPct val="100000"/>
              </a:lnSpc>
              <a:spcBef>
                <a:spcPts val="16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11620597" y="6394031"/>
            <a:ext cx="384212" cy="365125"/>
          </a:xfrm>
        </p:spPr>
        <p:txBody>
          <a:bodyPr/>
          <a:lstStyle/>
          <a:p>
            <a:fld id="{7DC1BBB0-96F0-4077-A278-0F3FB5C104D3}" type="slidenum">
              <a:rPr lang="en-US" smtClean="0"/>
              <a:pPr/>
              <a:t>‹#›</a:t>
            </a:fld>
            <a:endParaRPr lang="en-US"/>
          </a:p>
        </p:txBody>
      </p:sp>
      <p:sp>
        <p:nvSpPr>
          <p:cNvPr id="18" name="Content Placeholder 2"/>
          <p:cNvSpPr>
            <a:spLocks noGrp="1"/>
          </p:cNvSpPr>
          <p:nvPr>
            <p:ph sz="half" idx="1" hasCustomPrompt="1"/>
          </p:nvPr>
        </p:nvSpPr>
        <p:spPr>
          <a:xfrm>
            <a:off x="607326" y="1604433"/>
            <a:ext cx="5341077"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6236193" y="1604433"/>
            <a:ext cx="5338961" cy="1745720"/>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345633" y="6634394"/>
            <a:ext cx="184731" cy="297454"/>
          </a:xfrm>
          <a:prstGeom prst="rect">
            <a:avLst/>
          </a:prstGeom>
          <a:noFill/>
        </p:spPr>
        <p:txBody>
          <a:bodyPr wrap="none" rtlCol="0">
            <a:spAutoFit/>
          </a:bodyPr>
          <a:lstStyle/>
          <a:p>
            <a:endParaRPr lang="en-US" sz="1333" dirty="0" smtClean="0">
              <a:solidFill>
                <a:schemeClr val="tx2"/>
              </a:solidFill>
              <a:cs typeface="Neo Sans Intel"/>
            </a:endParaRPr>
          </a:p>
        </p:txBody>
      </p:sp>
      <p:sp>
        <p:nvSpPr>
          <p:cNvPr id="10"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6236194" y="3"/>
            <a:ext cx="5952632" cy="6340821"/>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607326" y="411797"/>
            <a:ext cx="5341075" cy="1158240"/>
          </a:xfrm>
        </p:spPr>
        <p:txBody>
          <a:bodyPr>
            <a:noAutofit/>
          </a:bodyPr>
          <a:lstStyle>
            <a:lvl1pPr>
              <a:defRPr sz="3732"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11631045" y="6394031"/>
            <a:ext cx="373763" cy="365125"/>
          </a:xfrm>
        </p:spPr>
        <p:txBody>
          <a:bodyPr/>
          <a:lstStyle/>
          <a:p>
            <a:fld id="{7DC1BBB0-96F0-4077-A278-0F3FB5C104D3}" type="slidenum">
              <a:rPr lang="en-US" smtClean="0"/>
              <a:pPr/>
              <a:t>‹#›</a:t>
            </a:fld>
            <a:endParaRPr lang="en-US"/>
          </a:p>
        </p:txBody>
      </p:sp>
      <p:sp>
        <p:nvSpPr>
          <p:cNvPr id="17" name="Content Placeholder 2"/>
          <p:cNvSpPr>
            <a:spLocks noGrp="1"/>
          </p:cNvSpPr>
          <p:nvPr>
            <p:ph sz="half" idx="1" hasCustomPrompt="1"/>
          </p:nvPr>
        </p:nvSpPr>
        <p:spPr>
          <a:xfrm>
            <a:off x="607327" y="1766992"/>
            <a:ext cx="5341075" cy="4567767"/>
          </a:xfrm>
        </p:spPr>
        <p:txBody>
          <a:bodyPr vert="horz" lIns="0" tIns="0" rIns="0" bIns="0" rtlCol="0">
            <a:noAutofit/>
          </a:bodyPr>
          <a:lstStyle>
            <a:lvl1pPr>
              <a:defRPr lang="en-US" dirty="0" smtClean="0"/>
            </a:lvl1pPr>
            <a:lvl2pPr>
              <a:defRPr lang="en-US" dirty="0" smtClean="0"/>
            </a:lvl2pPr>
            <a:lvl3pPr>
              <a:defRPr lang="en-US" sz="1866" dirty="0" smtClean="0"/>
            </a:lvl3pPr>
            <a:lvl4pPr>
              <a:defRPr lang="en-US" sz="1600" dirty="0" smtClean="0"/>
            </a:lvl4pPr>
            <a:lvl5pPr>
              <a:defRPr lang="en-US" sz="16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baseline="0">
                <a:solidFill>
                  <a:schemeClr val="accent2"/>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2810749"/>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607326" y="4321533"/>
            <a:ext cx="10360501" cy="1500187"/>
          </a:xfrm>
        </p:spPr>
        <p:txBody>
          <a:bodyPr anchor="t" anchorCtr="0">
            <a:noAutofit/>
          </a:bodyPr>
          <a:lstStyle>
            <a:lvl1pPr marL="0" indent="0">
              <a:buNone/>
              <a:defRPr sz="2133" b="0" i="0" baseline="0">
                <a:solidFill>
                  <a:srgbClr val="F3D54E"/>
                </a:solidFill>
                <a:latin typeface="Intel Clear"/>
                <a:cs typeface="Intel Clear"/>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7326" y="2979843"/>
            <a:ext cx="10360501" cy="1500187"/>
          </a:xfrm>
        </p:spPr>
        <p:txBody>
          <a:bodyPr anchor="t" anchorCtr="0">
            <a:noAutofit/>
          </a:bodyPr>
          <a:lstStyle>
            <a:lvl1pPr marL="0" indent="0">
              <a:buNone/>
              <a:defRPr sz="5332"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lang="en-US" smtClean="0"/>
              <a:pPr/>
              <a:t>‹#›</a:t>
            </a:fld>
            <a:endParaRPr lang="en-US"/>
          </a:p>
        </p:txBody>
      </p:sp>
      <p:sp>
        <p:nvSpPr>
          <p:cNvPr id="7" name="Title 1"/>
          <p:cNvSpPr>
            <a:spLocks noGrp="1"/>
          </p:cNvSpPr>
          <p:nvPr>
            <p:ph type="title" hasCustomPrompt="1"/>
          </p:nvPr>
        </p:nvSpPr>
        <p:spPr>
          <a:xfrm>
            <a:off x="607326" y="1469059"/>
            <a:ext cx="10360501" cy="1362075"/>
          </a:xfrm>
        </p:spPr>
        <p:txBody>
          <a:bodyPr anchor="b" anchorCtr="0">
            <a:noAutofit/>
          </a:bodyPr>
          <a:lstStyle>
            <a:lvl1pPr algn="l">
              <a:lnSpc>
                <a:spcPct val="80000"/>
              </a:lnSpc>
              <a:defRPr sz="5332"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7326" y="3013451"/>
            <a:ext cx="10360501" cy="1362075"/>
          </a:xfrm>
        </p:spPr>
        <p:txBody>
          <a:bodyPr anchor="b" anchorCtr="0">
            <a:noAutofit/>
          </a:bodyPr>
          <a:lstStyle>
            <a:lvl1pPr algn="l">
              <a:lnSpc>
                <a:spcPct val="80000"/>
              </a:lnSpc>
              <a:defRPr sz="7198"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607326" y="4465049"/>
            <a:ext cx="10360501" cy="1500187"/>
          </a:xfrm>
        </p:spPr>
        <p:txBody>
          <a:bodyPr anchor="t" anchorCtr="0">
            <a:noAutofit/>
          </a:bodyPr>
          <a:lstStyle>
            <a:lvl1pPr marL="0" indent="0">
              <a:buNone/>
              <a:defRPr sz="2133" b="0" baseline="0">
                <a:solidFill>
                  <a:srgbClr val="F3D54E"/>
                </a:solidFill>
                <a:latin typeface="+mn-lt"/>
                <a:cs typeface="Intel Clear" panose="020B0604020203020204" pitchFamily="34" charset="0"/>
              </a:defRPr>
            </a:lvl1pPr>
            <a:lvl2pPr marL="609448" indent="0">
              <a:buNone/>
              <a:defRPr sz="2399">
                <a:solidFill>
                  <a:schemeClr val="tx1">
                    <a:tint val="75000"/>
                  </a:schemeClr>
                </a:solidFill>
              </a:defRPr>
            </a:lvl2pPr>
            <a:lvl3pPr marL="1218895" indent="0">
              <a:buNone/>
              <a:defRPr sz="2133">
                <a:solidFill>
                  <a:schemeClr val="tx1">
                    <a:tint val="75000"/>
                  </a:schemeClr>
                </a:solidFill>
              </a:defRPr>
            </a:lvl3pPr>
            <a:lvl4pPr marL="1828343" indent="0">
              <a:buNone/>
              <a:defRPr sz="1866">
                <a:solidFill>
                  <a:schemeClr val="tx1">
                    <a:tint val="75000"/>
                  </a:schemeClr>
                </a:solidFill>
              </a:defRPr>
            </a:lvl4pPr>
            <a:lvl5pPr marL="2437790" indent="0">
              <a:buNone/>
              <a:defRPr sz="1866">
                <a:solidFill>
                  <a:schemeClr val="tx1">
                    <a:tint val="75000"/>
                  </a:schemeClr>
                </a:solidFill>
              </a:defRPr>
            </a:lvl5pPr>
            <a:lvl6pPr marL="3047238" indent="0">
              <a:buNone/>
              <a:defRPr sz="1866">
                <a:solidFill>
                  <a:schemeClr val="tx1">
                    <a:tint val="75000"/>
                  </a:schemeClr>
                </a:solidFill>
              </a:defRPr>
            </a:lvl6pPr>
            <a:lvl7pPr marL="3656686" indent="0">
              <a:buNone/>
              <a:defRPr sz="1866">
                <a:solidFill>
                  <a:schemeClr val="tx1">
                    <a:tint val="75000"/>
                  </a:schemeClr>
                </a:solidFill>
              </a:defRPr>
            </a:lvl7pPr>
            <a:lvl8pPr marL="4266133" indent="0">
              <a:buNone/>
              <a:defRPr sz="1866">
                <a:solidFill>
                  <a:schemeClr val="tx1">
                    <a:tint val="75000"/>
                  </a:schemeClr>
                </a:solidFill>
              </a:defRPr>
            </a:lvl8pPr>
            <a:lvl9pPr marL="4875581" indent="0">
              <a:buNone/>
              <a:defRPr sz="1866">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2"/>
            <a:ext cx="12188825" cy="3432175"/>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7DC1BBB0-96F0-4077-A278-0F3FB5C104D3}" type="slidenum">
              <a:rPr lang="en-US" smtClean="0"/>
              <a:t>‹#›</a:t>
            </a:fld>
            <a:endParaRPr lang="en-US"/>
          </a:p>
        </p:txBody>
      </p:sp>
      <p:sp>
        <p:nvSpPr>
          <p:cNvPr id="6" name="Title 6"/>
          <p:cNvSpPr>
            <a:spLocks noGrp="1"/>
          </p:cNvSpPr>
          <p:nvPr>
            <p:ph type="title" hasCustomPrompt="1"/>
          </p:nvPr>
        </p:nvSpPr>
        <p:spPr>
          <a:xfrm>
            <a:off x="607326" y="411797"/>
            <a:ext cx="10969943" cy="115824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7"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12188825" cy="6358467"/>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a:solidFill>
                <a:srgbClr val="0071C5"/>
              </a:solidFill>
            </a:endParaRPr>
          </a:p>
        </p:txBody>
      </p:sp>
      <p:pic>
        <p:nvPicPr>
          <p:cNvPr id="5" name="Picture 4" descr="StackedISWhite.png"/>
          <p:cNvPicPr>
            <a:picLocks noChangeAspect="1"/>
          </p:cNvPicPr>
          <p:nvPr/>
        </p:nvPicPr>
        <p:blipFill>
          <a:blip r:embed="rId2"/>
          <a:stretch>
            <a:fillRect/>
          </a:stretch>
        </p:blipFill>
        <p:spPr>
          <a:xfrm>
            <a:off x="4650433" y="2508544"/>
            <a:ext cx="2779643" cy="2614317"/>
          </a:xfrm>
          <a:prstGeom prst="rect">
            <a:avLst/>
          </a:prstGeom>
        </p:spPr>
      </p:pic>
    </p:spTree>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9"/>
            </a:lvl1pPr>
          </a:lstStyle>
          <a:p>
            <a:r>
              <a:rPr lang="en-US" smtClean="0"/>
              <a:t>Click to edit Master title style</a:t>
            </a:r>
            <a:endParaRPr lang="en-US"/>
          </a:p>
        </p:txBody>
      </p:sp>
      <p:sp>
        <p:nvSpPr>
          <p:cNvPr id="3" name="Subtitle 2"/>
          <p:cNvSpPr>
            <a:spLocks noGrp="1"/>
          </p:cNvSpPr>
          <p:nvPr>
            <p:ph type="subTitle" idx="1"/>
          </p:nvPr>
        </p:nvSpPr>
        <p:spPr>
          <a:xfrm>
            <a:off x="1523603" y="3602037"/>
            <a:ext cx="9141619" cy="1655763"/>
          </a:xfrm>
        </p:spPr>
        <p:txBody>
          <a:bodyPr/>
          <a:lstStyle>
            <a:lvl1pPr marL="0" indent="0" algn="ctr">
              <a:buNone/>
              <a:defRPr sz="2399"/>
            </a:lvl1pPr>
            <a:lvl2pPr marL="457086" indent="0" algn="ctr">
              <a:buNone/>
              <a:defRPr sz="2000"/>
            </a:lvl2pPr>
            <a:lvl3pPr marL="914171" indent="0" algn="ctr">
              <a:buNone/>
              <a:defRPr sz="1800"/>
            </a:lvl3pPr>
            <a:lvl4pPr marL="1371257" indent="0" algn="ctr">
              <a:buNone/>
              <a:defRPr sz="1600"/>
            </a:lvl4pPr>
            <a:lvl5pPr marL="1828343" indent="0" algn="ctr">
              <a:buNone/>
              <a:defRPr sz="1600"/>
            </a:lvl5pPr>
            <a:lvl6pPr marL="2285429" indent="0" algn="ctr">
              <a:buNone/>
              <a:defRPr sz="1600"/>
            </a:lvl6pPr>
            <a:lvl7pPr marL="2742514" indent="0" algn="ctr">
              <a:buNone/>
              <a:defRPr sz="1600"/>
            </a:lvl7pPr>
            <a:lvl8pPr marL="3199600" indent="0" algn="ctr">
              <a:buNone/>
              <a:defRPr sz="1600"/>
            </a:lvl8pPr>
            <a:lvl9pPr marL="3656686"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a:xfrm>
            <a:off x="837982" y="6356351"/>
            <a:ext cx="2742486" cy="365125"/>
          </a:xfrm>
          <a:prstGeom prst="rect">
            <a:avLst/>
          </a:prstGeom>
        </p:spPr>
        <p:txBody>
          <a:bodyPr/>
          <a:lstStyle/>
          <a:p>
            <a:fld id="{C2C6F8EA-316C-41DE-B9A4-EDCC3A85ED9A}" type="datetimeFigureOut">
              <a:rPr lang="en-US" smtClean="0"/>
              <a:pPr/>
              <a:t>1/25/2018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1/25/2018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7847036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354803"/>
            <a:ext cx="12188825"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399" dirty="0"/>
          </a:p>
        </p:txBody>
      </p:sp>
      <p:sp>
        <p:nvSpPr>
          <p:cNvPr id="2" name="Title Placeholder 1"/>
          <p:cNvSpPr>
            <a:spLocks noGrp="1"/>
          </p:cNvSpPr>
          <p:nvPr>
            <p:ph type="title"/>
          </p:nvPr>
        </p:nvSpPr>
        <p:spPr>
          <a:xfrm>
            <a:off x="607326" y="413507"/>
            <a:ext cx="10969943" cy="115824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607326" y="1604434"/>
            <a:ext cx="10967826" cy="4567767"/>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4164515" y="6501641"/>
            <a:ext cx="3859795" cy="334435"/>
          </a:xfrm>
          <a:prstGeom prst="rect">
            <a:avLst/>
          </a:prstGeom>
        </p:spPr>
        <p:txBody>
          <a:bodyPr vert="horz" lIns="91440" tIns="45720" rIns="91440" bIns="45720" rtlCol="0" anchor="ctr"/>
          <a:lstStyle>
            <a:lvl1pPr algn="ctr">
              <a:defRPr sz="1066">
                <a:solidFill>
                  <a:schemeClr val="bg1"/>
                </a:solidFill>
                <a:latin typeface="+mn-lt"/>
              </a:defRPr>
            </a:lvl1pPr>
          </a:lstStyle>
          <a:p>
            <a:endParaRPr lang="en-US"/>
          </a:p>
        </p:txBody>
      </p:sp>
      <p:sp>
        <p:nvSpPr>
          <p:cNvPr id="6" name="Slide Number Placeholder 5"/>
          <p:cNvSpPr>
            <a:spLocks noGrp="1"/>
          </p:cNvSpPr>
          <p:nvPr>
            <p:ph type="sldNum" sz="quarter" idx="4"/>
          </p:nvPr>
        </p:nvSpPr>
        <p:spPr>
          <a:xfrm>
            <a:off x="11655564" y="6417962"/>
            <a:ext cx="349244" cy="329447"/>
          </a:xfrm>
          <a:prstGeom prst="rect">
            <a:avLst/>
          </a:prstGeom>
        </p:spPr>
        <p:txBody>
          <a:bodyPr vert="horz" lIns="0" tIns="0" rIns="0" bIns="0" rtlCol="0" anchor="ctr"/>
          <a:lstStyle>
            <a:lvl1pPr algn="r">
              <a:defRPr sz="1066">
                <a:solidFill>
                  <a:schemeClr val="bg1"/>
                </a:solidFill>
                <a:latin typeface="+mn-lt"/>
                <a:cs typeface="Intel Clear Light" panose="020B0404020203020204" pitchFamily="34" charset="0"/>
              </a:defRPr>
            </a:lvl1pPr>
          </a:lstStyle>
          <a:p>
            <a:fld id="{7DC1BBB0-96F0-4077-A278-0F3FB5C104D3}" type="slidenum">
              <a:rPr lang="en-US" smtClean="0"/>
              <a:pPr/>
              <a:t>‹#›</a:t>
            </a:fld>
            <a:endParaRPr lang="en-US"/>
          </a:p>
        </p:txBody>
      </p:sp>
      <p:pic>
        <p:nvPicPr>
          <p:cNvPr id="16" name="Picture 15" descr="StackedISWhite.png"/>
          <p:cNvPicPr>
            <a:picLocks noChangeAspect="1"/>
          </p:cNvPicPr>
          <p:nvPr/>
        </p:nvPicPr>
        <p:blipFill>
          <a:blip r:embed="rId21"/>
          <a:stretch>
            <a:fillRect/>
          </a:stretch>
        </p:blipFill>
        <p:spPr>
          <a:xfrm>
            <a:off x="11056288" y="6407851"/>
            <a:ext cx="419545" cy="394592"/>
          </a:xfrm>
          <a:prstGeom prst="rect">
            <a:avLst/>
          </a:prstGeom>
        </p:spPr>
      </p:pic>
      <p:cxnSp>
        <p:nvCxnSpPr>
          <p:cNvPr id="37" name="Straight Connector 36"/>
          <p:cNvCxnSpPr/>
          <p:nvPr/>
        </p:nvCxnSpPr>
        <p:spPr>
          <a:xfrm rot="5400000">
            <a:off x="11448136" y="6608236"/>
            <a:ext cx="381004"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11468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iming>
    <p:tnLst>
      <p:par>
        <p:cTn id="1" dur="indefinite" restart="never" nodeType="tmRoot"/>
      </p:par>
    </p:tnLst>
  </p:timing>
  <p:txStyles>
    <p:titleStyle>
      <a:lvl1pPr algn="l" defTabSz="609448" rtl="0" eaLnBrk="1" latinLnBrk="0" hangingPunct="1">
        <a:lnSpc>
          <a:spcPct val="100000"/>
        </a:lnSpc>
        <a:spcBef>
          <a:spcPct val="0"/>
        </a:spcBef>
        <a:buNone/>
        <a:defRPr sz="3732"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609448" rtl="0" eaLnBrk="1" latinLnBrk="0" hangingPunct="1">
        <a:spcBef>
          <a:spcPts val="1600"/>
        </a:spcBef>
        <a:spcAft>
          <a:spcPts val="0"/>
        </a:spcAft>
        <a:buFont typeface="Wingdings" panose="05000000000000000000" pitchFamily="2" charset="2"/>
        <a:buNone/>
        <a:defRPr sz="2399" b="0" kern="1200">
          <a:solidFill>
            <a:srgbClr val="0071C5"/>
          </a:solidFill>
          <a:latin typeface="+mn-lt"/>
          <a:ea typeface="+mn-ea"/>
          <a:cs typeface="Intel Clear" panose="020B0604020203020204" pitchFamily="34" charset="0"/>
        </a:defRPr>
      </a:lvl1pPr>
      <a:lvl2pPr marL="300492" indent="-300492" algn="l" defTabSz="609448"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810" indent="-304724" algn="l" defTabSz="609448" rtl="0" eaLnBrk="1" latinLnBrk="0" hangingPunct="1">
        <a:spcBef>
          <a:spcPts val="1066"/>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2961" indent="-304724" algn="l" defTabSz="609448" rtl="0" eaLnBrk="1" latinLnBrk="0" hangingPunct="1">
        <a:spcBef>
          <a:spcPct val="20000"/>
        </a:spcBef>
        <a:buFont typeface="Arial"/>
        <a:buChar char="–"/>
        <a:defRPr sz="1866" kern="1200">
          <a:solidFill>
            <a:srgbClr val="003C71"/>
          </a:solidFill>
          <a:latin typeface="+mn-lt"/>
          <a:ea typeface="+mn-ea"/>
          <a:cs typeface="Intel Clear" panose="020B0604020203020204" pitchFamily="34" charset="0"/>
        </a:defRPr>
      </a:lvl4pPr>
      <a:lvl5pPr marL="1758511" indent="-304724" algn="l" defTabSz="609448" rtl="0" eaLnBrk="1" latinLnBrk="0" hangingPunct="1">
        <a:spcBef>
          <a:spcPct val="20000"/>
        </a:spcBef>
        <a:buFont typeface="Intel Clear" panose="020B0604020203020204" pitchFamily="34" charset="0"/>
        <a:buChar char="–"/>
        <a:defRPr sz="1866" kern="1200">
          <a:solidFill>
            <a:srgbClr val="003C71"/>
          </a:solidFill>
          <a:latin typeface="+mn-lt"/>
          <a:ea typeface="+mn-ea"/>
          <a:cs typeface="Intel Clear" panose="020B0604020203020204" pitchFamily="34" charset="0"/>
        </a:defRPr>
      </a:lvl5pPr>
      <a:lvl6pPr marL="3351962" indent="-304724" algn="l" defTabSz="609448" rtl="0" eaLnBrk="1" latinLnBrk="0" hangingPunct="1">
        <a:spcBef>
          <a:spcPct val="20000"/>
        </a:spcBef>
        <a:buFont typeface="Arial"/>
        <a:buChar char="•"/>
        <a:defRPr sz="2666" kern="1200">
          <a:solidFill>
            <a:schemeClr val="tx1"/>
          </a:solidFill>
          <a:latin typeface="+mn-lt"/>
          <a:ea typeface="+mn-ea"/>
          <a:cs typeface="+mn-cs"/>
        </a:defRPr>
      </a:lvl6pPr>
      <a:lvl7pPr marL="3961409" indent="-304724" algn="l" defTabSz="609448" rtl="0" eaLnBrk="1" latinLnBrk="0" hangingPunct="1">
        <a:spcBef>
          <a:spcPct val="20000"/>
        </a:spcBef>
        <a:buFont typeface="Arial"/>
        <a:buChar char="•"/>
        <a:defRPr sz="2666" kern="1200">
          <a:solidFill>
            <a:schemeClr val="tx1"/>
          </a:solidFill>
          <a:latin typeface="+mn-lt"/>
          <a:ea typeface="+mn-ea"/>
          <a:cs typeface="+mn-cs"/>
        </a:defRPr>
      </a:lvl7pPr>
      <a:lvl8pPr marL="4570857" indent="-304724" algn="l" defTabSz="609448" rtl="0" eaLnBrk="1" latinLnBrk="0" hangingPunct="1">
        <a:spcBef>
          <a:spcPct val="20000"/>
        </a:spcBef>
        <a:buFont typeface="Arial"/>
        <a:buChar char="•"/>
        <a:defRPr sz="2666" kern="1200">
          <a:solidFill>
            <a:schemeClr val="tx1"/>
          </a:solidFill>
          <a:latin typeface="+mn-lt"/>
          <a:ea typeface="+mn-ea"/>
          <a:cs typeface="+mn-cs"/>
        </a:defRPr>
      </a:lvl8pPr>
      <a:lvl9pPr marL="5180305" indent="-304724" algn="l" defTabSz="609448"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09448" rtl="0" eaLnBrk="1" latinLnBrk="0" hangingPunct="1">
        <a:defRPr sz="2399" kern="1200">
          <a:solidFill>
            <a:schemeClr val="tx1"/>
          </a:solidFill>
          <a:latin typeface="+mn-lt"/>
          <a:ea typeface="+mn-ea"/>
          <a:cs typeface="+mn-cs"/>
        </a:defRPr>
      </a:lvl1pPr>
      <a:lvl2pPr marL="609448" algn="l" defTabSz="609448" rtl="0" eaLnBrk="1" latinLnBrk="0" hangingPunct="1">
        <a:defRPr sz="2399" kern="1200">
          <a:solidFill>
            <a:schemeClr val="tx1"/>
          </a:solidFill>
          <a:latin typeface="+mn-lt"/>
          <a:ea typeface="+mn-ea"/>
          <a:cs typeface="+mn-cs"/>
        </a:defRPr>
      </a:lvl2pPr>
      <a:lvl3pPr marL="1218895" algn="l" defTabSz="609448" rtl="0" eaLnBrk="1" latinLnBrk="0" hangingPunct="1">
        <a:defRPr sz="2399" kern="1200">
          <a:solidFill>
            <a:schemeClr val="tx1"/>
          </a:solidFill>
          <a:latin typeface="+mn-lt"/>
          <a:ea typeface="+mn-ea"/>
          <a:cs typeface="+mn-cs"/>
        </a:defRPr>
      </a:lvl3pPr>
      <a:lvl4pPr marL="1828343" algn="l" defTabSz="609448" rtl="0" eaLnBrk="1" latinLnBrk="0" hangingPunct="1">
        <a:defRPr sz="2399" kern="1200">
          <a:solidFill>
            <a:schemeClr val="tx1"/>
          </a:solidFill>
          <a:latin typeface="+mn-lt"/>
          <a:ea typeface="+mn-ea"/>
          <a:cs typeface="+mn-cs"/>
        </a:defRPr>
      </a:lvl4pPr>
      <a:lvl5pPr marL="2437790" algn="l" defTabSz="609448" rtl="0" eaLnBrk="1" latinLnBrk="0" hangingPunct="1">
        <a:defRPr sz="2399" kern="1200">
          <a:solidFill>
            <a:schemeClr val="tx1"/>
          </a:solidFill>
          <a:latin typeface="+mn-lt"/>
          <a:ea typeface="+mn-ea"/>
          <a:cs typeface="+mn-cs"/>
        </a:defRPr>
      </a:lvl5pPr>
      <a:lvl6pPr marL="3047238" algn="l" defTabSz="609448" rtl="0" eaLnBrk="1" latinLnBrk="0" hangingPunct="1">
        <a:defRPr sz="2399" kern="1200">
          <a:solidFill>
            <a:schemeClr val="tx1"/>
          </a:solidFill>
          <a:latin typeface="+mn-lt"/>
          <a:ea typeface="+mn-ea"/>
          <a:cs typeface="+mn-cs"/>
        </a:defRPr>
      </a:lvl6pPr>
      <a:lvl7pPr marL="3656686" algn="l" defTabSz="609448" rtl="0" eaLnBrk="1" latinLnBrk="0" hangingPunct="1">
        <a:defRPr sz="2399" kern="1200">
          <a:solidFill>
            <a:schemeClr val="tx1"/>
          </a:solidFill>
          <a:latin typeface="+mn-lt"/>
          <a:ea typeface="+mn-ea"/>
          <a:cs typeface="+mn-cs"/>
        </a:defRPr>
      </a:lvl7pPr>
      <a:lvl8pPr marL="4266133" algn="l" defTabSz="609448" rtl="0" eaLnBrk="1" latinLnBrk="0" hangingPunct="1">
        <a:defRPr sz="2399" kern="1200">
          <a:solidFill>
            <a:schemeClr val="tx1"/>
          </a:solidFill>
          <a:latin typeface="+mn-lt"/>
          <a:ea typeface="+mn-ea"/>
          <a:cs typeface="+mn-cs"/>
        </a:defRPr>
      </a:lvl8pPr>
      <a:lvl9pPr marL="4875581" algn="l" defTabSz="609448"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image" Target="../media/image210.png"/><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10.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19.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8.png"/></Relationships>
</file>

<file path=ppt/slides/_rels/slide3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9.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0.png"/><Relationship Id="rId4" Type="http://schemas.openxmlformats.org/officeDocument/2006/relationships/image" Target="../media/image32.png"/><Relationship Id="rId9" Type="http://schemas.openxmlformats.org/officeDocument/2006/relationships/image" Target="../media/image37.png"/></Relationships>
</file>

<file path=ppt/slides/_rels/slide3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9.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37.png"/></Relationships>
</file>

<file path=ppt/slides/_rels/slide32.xml.rels><?xml version="1.0" encoding="UTF-8" standalone="yes"?>
<Relationships xmlns="http://schemas.openxmlformats.org/package/2006/relationships"><Relationship Id="rId8" Type="http://schemas.openxmlformats.org/officeDocument/2006/relationships/image" Target="../media/image430.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380.png"/></Relationships>
</file>

<file path=ppt/slides/_rels/slide3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44.png"/><Relationship Id="rId7"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openxmlformats.org/officeDocument/2006/relationships/image" Target="../media/image39.png"/><Relationship Id="rId5" Type="http://schemas.openxmlformats.org/officeDocument/2006/relationships/image" Target="../media/image46.png"/><Relationship Id="rId10" Type="http://schemas.openxmlformats.org/officeDocument/2006/relationships/image" Target="../media/image47.png"/><Relationship Id="rId4" Type="http://schemas.openxmlformats.org/officeDocument/2006/relationships/image" Target="../media/image45.png"/><Relationship Id="rId9" Type="http://schemas.openxmlformats.org/officeDocument/2006/relationships/image" Target="../media/image42.png"/></Relationships>
</file>

<file path=ppt/slides/_rels/slide3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70.png"/><Relationship Id="rId7"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9.xml"/><Relationship Id="rId6" Type="http://schemas.openxmlformats.org/officeDocument/2006/relationships/image" Target="../media/image46.png"/><Relationship Id="rId5" Type="http://schemas.openxmlformats.org/officeDocument/2006/relationships/image" Target="../media/image49.png"/><Relationship Id="rId10" Type="http://schemas.openxmlformats.org/officeDocument/2006/relationships/image" Target="../media/image50.png"/><Relationship Id="rId4" Type="http://schemas.openxmlformats.org/officeDocument/2006/relationships/image" Target="../media/image48.png"/><Relationship Id="rId9" Type="http://schemas.openxmlformats.org/officeDocument/2006/relationships/image" Target="../media/image41.png"/></Relationships>
</file>

<file path=ppt/slides/_rels/slide35.xml.rels><?xml version="1.0" encoding="UTF-8" standalone="yes"?>
<Relationships xmlns="http://schemas.openxmlformats.org/package/2006/relationships"><Relationship Id="rId8" Type="http://schemas.openxmlformats.org/officeDocument/2006/relationships/image" Target="../media/image39.png"/><Relationship Id="rId7"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9.xml"/><Relationship Id="rId6" Type="http://schemas.openxmlformats.org/officeDocument/2006/relationships/image" Target="../media/image500.png"/><Relationship Id="rId11" Type="http://schemas.openxmlformats.org/officeDocument/2006/relationships/image" Target="../media/image53.png"/><Relationship Id="rId5" Type="http://schemas.openxmlformats.org/officeDocument/2006/relationships/image" Target="../media/image46.png"/><Relationship Id="rId10" Type="http://schemas.openxmlformats.org/officeDocument/2006/relationships/image" Target="../media/image52.png"/><Relationship Id="rId9" Type="http://schemas.openxmlformats.org/officeDocument/2006/relationships/image" Target="../media/image40.png"/></Relationships>
</file>

<file path=ppt/slides/_rels/slide36.xml.rels><?xml version="1.0" encoding="UTF-8" standalone="yes"?>
<Relationships xmlns="http://schemas.openxmlformats.org/package/2006/relationships"><Relationship Id="rId8" Type="http://schemas.openxmlformats.org/officeDocument/2006/relationships/image" Target="../media/image39.png"/><Relationship Id="rId7" Type="http://schemas.openxmlformats.org/officeDocument/2006/relationships/image" Target="../media/image54.png"/><Relationship Id="rId12" Type="http://schemas.openxmlformats.org/officeDocument/2006/relationships/image" Target="../media/image57.png"/><Relationship Id="rId2" Type="http://schemas.openxmlformats.org/officeDocument/2006/relationships/image" Target="../media/image48.png"/><Relationship Id="rId1" Type="http://schemas.openxmlformats.org/officeDocument/2006/relationships/slideLayout" Target="../slideLayouts/slideLayout19.xml"/><Relationship Id="rId6" Type="http://schemas.openxmlformats.org/officeDocument/2006/relationships/image" Target="../media/image530.png"/><Relationship Id="rId11" Type="http://schemas.openxmlformats.org/officeDocument/2006/relationships/image" Target="../media/image56.png"/><Relationship Id="rId5" Type="http://schemas.openxmlformats.org/officeDocument/2006/relationships/image" Target="../media/image46.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2.png"/></Relationships>
</file>

<file path=ppt/slides/_rels/slide37.xml.rels><?xml version="1.0" encoding="UTF-8" standalone="yes"?>
<Relationships xmlns="http://schemas.openxmlformats.org/package/2006/relationships"><Relationship Id="rId8" Type="http://schemas.openxmlformats.org/officeDocument/2006/relationships/image" Target="../media/image52.png"/><Relationship Id="rId7" Type="http://schemas.openxmlformats.org/officeDocument/2006/relationships/image" Target="../media/image54.png"/><Relationship Id="rId2" Type="http://schemas.openxmlformats.org/officeDocument/2006/relationships/image" Target="../media/image48.png"/><Relationship Id="rId1" Type="http://schemas.openxmlformats.org/officeDocument/2006/relationships/slideLayout" Target="../slideLayouts/slideLayout19.xml"/><Relationship Id="rId6" Type="http://schemas.openxmlformats.org/officeDocument/2006/relationships/image" Target="../media/image530.png"/><Relationship Id="rId5" Type="http://schemas.openxmlformats.org/officeDocument/2006/relationships/image" Target="../media/image46.png"/><Relationship Id="rId10" Type="http://schemas.openxmlformats.org/officeDocument/2006/relationships/image" Target="../media/image570.png"/><Relationship Id="rId4" Type="http://schemas.openxmlformats.org/officeDocument/2006/relationships/image" Target="../media/image49.png"/><Relationship Id="rId9" Type="http://schemas.openxmlformats.org/officeDocument/2006/relationships/image" Target="../media/image560.png"/></Relationships>
</file>

<file path=ppt/slides/_rels/slide3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19.xml"/><Relationship Id="rId6" Type="http://schemas.openxmlformats.org/officeDocument/2006/relationships/image" Target="../media/image530.png"/><Relationship Id="rId11" Type="http://schemas.openxmlformats.org/officeDocument/2006/relationships/image" Target="../media/image57.png"/><Relationship Id="rId5" Type="http://schemas.openxmlformats.org/officeDocument/2006/relationships/image" Target="../media/image46.png"/><Relationship Id="rId10" Type="http://schemas.openxmlformats.org/officeDocument/2006/relationships/image" Target="../media/image58.png"/><Relationship Id="rId4" Type="http://schemas.openxmlformats.org/officeDocument/2006/relationships/image" Target="../media/image49.png"/><Relationship Id="rId9" Type="http://schemas.openxmlformats.org/officeDocument/2006/relationships/image" Target="../media/image560.png"/></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19.xml"/><Relationship Id="rId5" Type="http://schemas.openxmlformats.org/officeDocument/2006/relationships/image" Target="../media/image61.png"/><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19.xml"/><Relationship Id="rId5" Type="http://schemas.openxmlformats.org/officeDocument/2006/relationships/image" Target="../media/image64.png"/><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19.xml"/><Relationship Id="rId16" Type="http://schemas.openxmlformats.org/officeDocument/2006/relationships/image" Target="../media/image24.png"/><Relationship Id="rId1" Type="http://schemas.openxmlformats.org/officeDocument/2006/relationships/slideLayout" Target="../slideLayouts/slideLayout19.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4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67.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66.png"/><Relationship Id="rId2" Type="http://schemas.openxmlformats.org/officeDocument/2006/relationships/notesSlide" Target="../notesSlides/notesSlide20.xml"/><Relationship Id="rId16" Type="http://schemas.openxmlformats.org/officeDocument/2006/relationships/image" Target="../media/image65.png"/><Relationship Id="rId1" Type="http://schemas.openxmlformats.org/officeDocument/2006/relationships/slideLayout" Target="../slideLayouts/slideLayout19.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4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70.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69.png"/><Relationship Id="rId2" Type="http://schemas.openxmlformats.org/officeDocument/2006/relationships/notesSlide" Target="../notesSlides/notesSlide21.xml"/><Relationship Id="rId16" Type="http://schemas.openxmlformats.org/officeDocument/2006/relationships/image" Target="../media/image68.png"/><Relationship Id="rId1" Type="http://schemas.openxmlformats.org/officeDocument/2006/relationships/slideLayout" Target="../slideLayouts/slideLayout19.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4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0.png"/><Relationship Id="rId7"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1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70.png"/></Relationships>
</file>

<file path=ppt/slides/_rels/slide4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20.png"/><Relationship Id="rId7" Type="http://schemas.openxmlformats.org/officeDocument/2006/relationships/image" Target="../media/image65.png"/><Relationship Id="rId12"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9.xml"/><Relationship Id="rId6" Type="http://schemas.openxmlformats.org/officeDocument/2006/relationships/image" Target="../media/image23.png"/><Relationship Id="rId11" Type="http://schemas.openxmlformats.org/officeDocument/2006/relationships/image" Target="../media/image18.png"/><Relationship Id="rId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21.png"/><Relationship Id="rId9" Type="http://schemas.openxmlformats.org/officeDocument/2006/relationships/image" Target="../media/image67.png"/></Relationships>
</file>

<file path=ppt/slides/_rels/slide47.xml.rels><?xml version="1.0" encoding="UTF-8" standalone="yes"?>
<Relationships xmlns="http://schemas.openxmlformats.org/package/2006/relationships"><Relationship Id="rId8" Type="http://schemas.openxmlformats.org/officeDocument/2006/relationships/image" Target="../media/image700.png"/><Relationship Id="rId13" Type="http://schemas.openxmlformats.org/officeDocument/2006/relationships/image" Target="../media/image21.png"/><Relationship Id="rId3" Type="http://schemas.openxmlformats.org/officeDocument/2006/relationships/image" Target="../media/image650.png"/><Relationship Id="rId7" Type="http://schemas.openxmlformats.org/officeDocument/2006/relationships/image" Target="../media/image690.png"/><Relationship Id="rId12" Type="http://schemas.openxmlformats.org/officeDocument/2006/relationships/image" Target="../media/image20.png"/><Relationship Id="rId2" Type="http://schemas.openxmlformats.org/officeDocument/2006/relationships/notesSlide" Target="../notesSlides/notesSlide24.xml"/><Relationship Id="rId16" Type="http://schemas.openxmlformats.org/officeDocument/2006/relationships/image" Target="../media/image71.png"/><Relationship Id="rId1" Type="http://schemas.openxmlformats.org/officeDocument/2006/relationships/slideLayout" Target="../slideLayouts/slideLayout19.xml"/><Relationship Id="rId6" Type="http://schemas.openxmlformats.org/officeDocument/2006/relationships/image" Target="../media/image680.png"/><Relationship Id="rId11" Type="http://schemas.openxmlformats.org/officeDocument/2006/relationships/image" Target="../media/image19.png"/><Relationship Id="rId5" Type="http://schemas.openxmlformats.org/officeDocument/2006/relationships/image" Target="../media/image670.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72.png"/><Relationship Id="rId4" Type="http://schemas.openxmlformats.org/officeDocument/2006/relationships/image" Target="../media/image660.png"/><Relationship Id="rId9" Type="http://schemas.openxmlformats.org/officeDocument/2006/relationships/image" Target="../media/image17.png"/><Relationship Id="rId14" Type="http://schemas.openxmlformats.org/officeDocument/2006/relationships/image" Target="../media/image22.png"/></Relationships>
</file>

<file path=ppt/slides/_rels/slide48.xml.rels><?xml version="1.0" encoding="UTF-8" standalone="yes"?>
<Relationships xmlns="http://schemas.openxmlformats.org/package/2006/relationships"><Relationship Id="rId8" Type="http://schemas.openxmlformats.org/officeDocument/2006/relationships/image" Target="../media/image700.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650.png"/><Relationship Id="rId7" Type="http://schemas.openxmlformats.org/officeDocument/2006/relationships/image" Target="../media/image690.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25.xml"/><Relationship Id="rId16" Type="http://schemas.openxmlformats.org/officeDocument/2006/relationships/image" Target="../media/image21.png"/><Relationship Id="rId1" Type="http://schemas.openxmlformats.org/officeDocument/2006/relationships/slideLayout" Target="../slideLayouts/slideLayout19.xml"/><Relationship Id="rId6" Type="http://schemas.openxmlformats.org/officeDocument/2006/relationships/image" Target="../media/image680.png"/><Relationship Id="rId11" Type="http://schemas.openxmlformats.org/officeDocument/2006/relationships/image" Target="../media/image16.png"/><Relationship Id="rId5" Type="http://schemas.openxmlformats.org/officeDocument/2006/relationships/image" Target="../media/image67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73.png"/><Relationship Id="rId4" Type="http://schemas.openxmlformats.org/officeDocument/2006/relationships/image" Target="../media/image660.png"/><Relationship Id="rId9" Type="http://schemas.openxmlformats.org/officeDocument/2006/relationships/image" Target="../media/image14.png"/><Relationship Id="rId14" Type="http://schemas.openxmlformats.org/officeDocument/2006/relationships/image" Target="../media/image19.png"/></Relationships>
</file>

<file path=ppt/slides/_rels/slide49.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650.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9.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670.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660.png"/><Relationship Id="rId9" Type="http://schemas.openxmlformats.org/officeDocument/2006/relationships/image" Target="../media/image17.png"/><Relationship Id="rId14" Type="http://schemas.openxmlformats.org/officeDocument/2006/relationships/image" Target="../media/image22.png"/></Relationships>
</file>

<file path=ppt/slides/_rels/slide5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13.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12.png"/><Relationship Id="rId2" Type="http://schemas.openxmlformats.org/officeDocument/2006/relationships/notesSlide" Target="../notesSlides/notesSlide27.xml"/><Relationship Id="rId16" Type="http://schemas.openxmlformats.org/officeDocument/2006/relationships/image" Target="../media/image11.png"/><Relationship Id="rId1" Type="http://schemas.openxmlformats.org/officeDocument/2006/relationships/slideLayout" Target="../slideLayouts/slideLayout19.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5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8.xml"/><Relationship Id="rId1" Type="http://schemas.openxmlformats.org/officeDocument/2006/relationships/slideLayout" Target="../slideLayouts/slideLayout19.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52.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74.png"/><Relationship Id="rId2" Type="http://schemas.openxmlformats.org/officeDocument/2006/relationships/notesSlide" Target="../notesSlides/notesSlide29.xml"/><Relationship Id="rId1" Type="http://schemas.openxmlformats.org/officeDocument/2006/relationships/slideLayout" Target="../slideLayouts/slideLayout19.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53.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76.png"/><Relationship Id="rId7" Type="http://schemas.openxmlformats.org/officeDocument/2006/relationships/image" Target="../media/image84.png"/><Relationship Id="rId2" Type="http://schemas.openxmlformats.org/officeDocument/2006/relationships/image" Target="../media/image75.png"/><Relationship Id="rId1" Type="http://schemas.openxmlformats.org/officeDocument/2006/relationships/slideLayout" Target="../slideLayouts/slideLayout19.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77.png"/><Relationship Id="rId9" Type="http://schemas.openxmlformats.org/officeDocument/2006/relationships/image" Target="../media/image8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0.xml"/><Relationship Id="rId1" Type="http://schemas.openxmlformats.org/officeDocument/2006/relationships/slideLayout" Target="../slideLayouts/slideLayout19.xml"/><Relationship Id="rId4" Type="http://schemas.openxmlformats.org/officeDocument/2006/relationships/image" Target="../media/image88.png"/></Relationships>
</file>

<file path=ppt/slides/_rels/slide5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1.xml"/><Relationship Id="rId1" Type="http://schemas.openxmlformats.org/officeDocument/2006/relationships/slideLayout" Target="../slideLayouts/slideLayout19.xml"/><Relationship Id="rId5" Type="http://schemas.openxmlformats.org/officeDocument/2006/relationships/image" Target="../media/image90.png"/><Relationship Id="rId4" Type="http://schemas.openxmlformats.org/officeDocument/2006/relationships/image" Target="../media/image890.png"/></Relationships>
</file>

<file path=ppt/slides/_rels/slide5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2.xml"/><Relationship Id="rId1" Type="http://schemas.openxmlformats.org/officeDocument/2006/relationships/slideLayout" Target="../slideLayouts/slideLayout19.xml"/><Relationship Id="rId4" Type="http://schemas.openxmlformats.org/officeDocument/2006/relationships/image" Target="../media/image9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14.xml"/><Relationship Id="rId4" Type="http://schemas.openxmlformats.org/officeDocument/2006/relationships/image" Target="../media/image510.png"/></Relationships>
</file>

<file path=ppt/slides/_rels/slide6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610.png"/><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810.png"/><Relationship Id="rId1" Type="http://schemas.openxmlformats.org/officeDocument/2006/relationships/slideLayout" Target="../slideLayouts/slideLayout14.xml"/><Relationship Id="rId4" Type="http://schemas.openxmlformats.org/officeDocument/2006/relationships/image" Target="../media/image910.png"/></Relationships>
</file>

<file path=ppt/slides/_rels/slide6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94.png"/><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5.xml"/><Relationship Id="rId1" Type="http://schemas.openxmlformats.org/officeDocument/2006/relationships/slideLayout" Target="../slideLayouts/slideLayout14.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410.png"/></Relationships>
</file>

<file path=ppt/slides/_rels/slide6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95.png"/><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36.xml"/><Relationship Id="rId1" Type="http://schemas.openxmlformats.org/officeDocument/2006/relationships/slideLayout" Target="../slideLayouts/slideLayout14.xml"/><Relationship Id="rId6" Type="http://schemas.openxmlformats.org/officeDocument/2006/relationships/image" Target="../media/image200.png"/><Relationship Id="rId5" Type="http://schemas.openxmlformats.org/officeDocument/2006/relationships/image" Target="../media/image190.png"/><Relationship Id="rId4" Type="http://schemas.openxmlformats.org/officeDocument/2006/relationships/image" Target="../media/image96.png"/></Relationships>
</file>

<file path=ppt/slides/_rels/slide70.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97.png"/><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9.xml"/><Relationship Id="rId1" Type="http://schemas.openxmlformats.org/officeDocument/2006/relationships/slideLayout" Target="../slideLayouts/slideLayout14.xml"/><Relationship Id="rId4" Type="http://schemas.openxmlformats.org/officeDocument/2006/relationships/image" Target="../media/image101.png"/></Relationships>
</file>

<file path=ppt/slides/_rels/slide76.xml.rels><?xml version="1.0" encoding="UTF-8" standalone="yes"?>
<Relationships xmlns="http://schemas.openxmlformats.org/package/2006/relationships"><Relationship Id="rId3" Type="http://schemas.openxmlformats.org/officeDocument/2006/relationships/image" Target="../media/image1010.png"/><Relationship Id="rId2" Type="http://schemas.openxmlformats.org/officeDocument/2006/relationships/image" Target="../media/image100.png"/><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dirty="0" smtClean="0"/>
              <a:t>Backpropagation and Dropout</a:t>
            </a:r>
            <a:endParaRPr lang="en-US" sz="4400" dirty="0"/>
          </a:p>
        </p:txBody>
      </p:sp>
      <p:sp>
        <p:nvSpPr>
          <p:cNvPr id="3" name="Subtitle 2"/>
          <p:cNvSpPr>
            <a:spLocks noGrp="1"/>
          </p:cNvSpPr>
          <p:nvPr>
            <p:ph type="subTitle" idx="1"/>
          </p:nvPr>
        </p:nvSpPr>
        <p:spPr>
          <a:xfrm>
            <a:off x="2428668" y="4344915"/>
            <a:ext cx="9228343" cy="1116085"/>
          </a:xfrm>
        </p:spPr>
        <p:txBody>
          <a:bodyPr/>
          <a:lstStyle/>
          <a:p>
            <a:r>
              <a:rPr lang="en-US" i="1" dirty="0" smtClean="0"/>
              <a:t>Deep Learning with </a:t>
            </a:r>
            <a:r>
              <a:rPr lang="en-US" i="1" dirty="0" err="1" smtClean="0"/>
              <a:t>TensorFlow</a:t>
            </a:r>
            <a:r>
              <a:rPr lang="en-US" i="1" dirty="0" smtClean="0"/>
              <a:t> </a:t>
            </a:r>
            <a:r>
              <a:rPr lang="mr-IN" dirty="0" smtClean="0"/>
              <a:t>–</a:t>
            </a:r>
            <a:r>
              <a:rPr lang="en-US" dirty="0" smtClean="0"/>
              <a:t>4</a:t>
            </a:r>
            <a:endParaRPr lang="en-US" i="1" dirty="0"/>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2000" dirty="0"/>
              <a:t>This presentation is for informational purposes only. INTEL MAKES NO WARRANTIES, EXPRESS OR IMPLIED, IN THIS SUMMARY. </a:t>
            </a:r>
          </a:p>
          <a:p>
            <a:r>
              <a:rPr lang="en-US" sz="2000" dirty="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2000" dirty="0">
                <a:hlinkClick r:id="rId2"/>
              </a:rPr>
              <a:t>intel.com</a:t>
            </a:r>
            <a:r>
              <a:rPr lang="en-US" sz="2000" dirty="0"/>
              <a:t>. </a:t>
            </a:r>
          </a:p>
          <a:p>
            <a:r>
              <a:rPr lang="en-US" sz="2000" dirty="0"/>
              <a:t>This sample source code is released under the </a:t>
            </a:r>
            <a:r>
              <a:rPr lang="en-US" sz="2000" dirty="0">
                <a:hlinkClick r:id="rId3"/>
              </a:rPr>
              <a:t>Intel Sample Source Code License Agreement</a:t>
            </a:r>
            <a:r>
              <a:rPr lang="en-US" sz="2000" dirty="0"/>
              <a:t>. </a:t>
            </a:r>
          </a:p>
          <a:p>
            <a:r>
              <a:rPr lang="en-US" sz="2000" dirty="0"/>
              <a:t>Intel and the Intel logo are trademarks of Intel Corporation in the U.S. and/or other countries. </a:t>
            </a:r>
          </a:p>
          <a:p>
            <a:r>
              <a:rPr lang="en-US" sz="2000" dirty="0"/>
              <a:t>*Other names and brands may be claimed as the property of others. </a:t>
            </a:r>
          </a:p>
          <a:p>
            <a:r>
              <a:rPr lang="en-US" sz="2000" dirty="0"/>
              <a:t>Copyright © 2017, Intel Corporation. All rights reserved. </a:t>
            </a:r>
            <a:endParaRPr lang="en-US" sz="2000" dirty="0"/>
          </a:p>
        </p:txBody>
      </p:sp>
    </p:spTree>
    <p:extLst>
      <p:ext uri="{BB962C8B-B14F-4D97-AF65-F5344CB8AC3E}">
        <p14:creationId xmlns:p14="http://schemas.microsoft.com/office/powerpoint/2010/main" val="1513747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Batching</a:t>
            </a:r>
            <a:endParaRPr lang="en-US" dirty="0"/>
          </a:p>
        </p:txBody>
      </p:sp>
    </p:spTree>
    <p:extLst>
      <p:ext uri="{BB962C8B-B14F-4D97-AF65-F5344CB8AC3E}">
        <p14:creationId xmlns:p14="http://schemas.microsoft.com/office/powerpoint/2010/main" val="638292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batch gradient descent</a:t>
            </a:r>
            <a:endParaRPr lang="en-US" dirty="0"/>
          </a:p>
        </p:txBody>
      </p:sp>
      <p:sp>
        <p:nvSpPr>
          <p:cNvPr id="3" name="Content Placeholder 2"/>
          <p:cNvSpPr>
            <a:spLocks noGrp="1"/>
          </p:cNvSpPr>
          <p:nvPr>
            <p:ph idx="1"/>
          </p:nvPr>
        </p:nvSpPr>
        <p:spPr/>
        <p:txBody>
          <a:bodyPr>
            <a:normAutofit/>
          </a:bodyPr>
          <a:lstStyle/>
          <a:p>
            <a:r>
              <a:rPr lang="en-US" dirty="0" smtClean="0"/>
              <a:t>So far in this class, we’ve passed the full training dataset into our model for each training step</a:t>
            </a:r>
          </a:p>
          <a:p>
            <a:endParaRPr lang="en-US" dirty="0" smtClean="0"/>
          </a:p>
          <a:p>
            <a:r>
              <a:rPr lang="en-US" dirty="0" smtClean="0"/>
              <a:t>Pro: we get an </a:t>
            </a:r>
            <a:r>
              <a:rPr lang="en-US" i="1" dirty="0" smtClean="0"/>
              <a:t>exact</a:t>
            </a:r>
            <a:r>
              <a:rPr lang="en-US" dirty="0" smtClean="0"/>
              <a:t> derivative for the training set</a:t>
            </a:r>
          </a:p>
          <a:p>
            <a:r>
              <a:rPr lang="en-US" dirty="0" smtClean="0"/>
              <a:t>Con: Right now- it’s </a:t>
            </a:r>
            <a:r>
              <a:rPr lang="en-US" i="1" dirty="0" smtClean="0"/>
              <a:t>really</a:t>
            </a:r>
            <a:r>
              <a:rPr lang="en-US" dirty="0" smtClean="0"/>
              <a:t> slow. Soon, it won’t be computationally feasible.</a:t>
            </a:r>
          </a:p>
          <a:p>
            <a:endParaRPr lang="en-US" dirty="0" smtClean="0"/>
          </a:p>
          <a:p>
            <a:r>
              <a:rPr lang="en-US" dirty="0" smtClean="0"/>
              <a:t>What can we do?</a:t>
            </a:r>
            <a:endParaRPr lang="en-US" dirty="0"/>
          </a:p>
        </p:txBody>
      </p:sp>
    </p:spTree>
    <p:extLst>
      <p:ext uri="{BB962C8B-B14F-4D97-AF65-F5344CB8AC3E}">
        <p14:creationId xmlns:p14="http://schemas.microsoft.com/office/powerpoint/2010/main" val="9222838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Mini-batching</a:t>
            </a:r>
            <a:endParaRPr lang="en-US" dirty="0"/>
          </a:p>
        </p:txBody>
      </p:sp>
      <p:sp>
        <p:nvSpPr>
          <p:cNvPr id="3" name="Content Placeholder 2"/>
          <p:cNvSpPr>
            <a:spLocks noGrp="1"/>
          </p:cNvSpPr>
          <p:nvPr>
            <p:ph idx="1"/>
          </p:nvPr>
        </p:nvSpPr>
        <p:spPr/>
        <p:txBody>
          <a:bodyPr/>
          <a:lstStyle/>
          <a:p>
            <a:r>
              <a:rPr lang="en-US" dirty="0" smtClean="0"/>
              <a:t>Idea: Estimate derivative with a sample of training data</a:t>
            </a:r>
          </a:p>
          <a:p>
            <a:endParaRPr lang="en-US" dirty="0" smtClean="0"/>
          </a:p>
          <a:p>
            <a:r>
              <a:rPr lang="en-US" dirty="0" smtClean="0"/>
              <a:t>Pro: </a:t>
            </a:r>
            <a:r>
              <a:rPr lang="en-US" i="1" dirty="0" smtClean="0"/>
              <a:t>much</a:t>
            </a:r>
            <a:r>
              <a:rPr lang="en-US" dirty="0" smtClean="0"/>
              <a:t> faster to compute</a:t>
            </a:r>
          </a:p>
          <a:p>
            <a:r>
              <a:rPr lang="en-US" dirty="0" smtClean="0"/>
              <a:t>Con: don’t get the </a:t>
            </a:r>
            <a:r>
              <a:rPr lang="en-US" i="1" dirty="0" smtClean="0"/>
              <a:t>exact</a:t>
            </a:r>
            <a:r>
              <a:rPr lang="en-US" dirty="0" smtClean="0"/>
              <a:t> derivative</a:t>
            </a:r>
          </a:p>
          <a:p>
            <a:endParaRPr lang="en-US" dirty="0" smtClean="0"/>
          </a:p>
          <a:p>
            <a:r>
              <a:rPr lang="en-US" dirty="0" smtClean="0"/>
              <a:t>Side effect: can potentially get out of local minima, if loss function has them</a:t>
            </a:r>
            <a:endParaRPr lang="en-US" dirty="0"/>
          </a:p>
        </p:txBody>
      </p:sp>
    </p:spTree>
    <p:extLst>
      <p:ext uri="{BB962C8B-B14F-4D97-AF65-F5344CB8AC3E}">
        <p14:creationId xmlns:p14="http://schemas.microsoft.com/office/powerpoint/2010/main" val="10894730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Stochastic Gradient Descent (SGD)</a:t>
            </a:r>
            <a:endParaRPr lang="en-US" dirty="0"/>
          </a:p>
        </p:txBody>
      </p:sp>
      <p:sp>
        <p:nvSpPr>
          <p:cNvPr id="3" name="Content Placeholder 2"/>
          <p:cNvSpPr>
            <a:spLocks noGrp="1"/>
          </p:cNvSpPr>
          <p:nvPr>
            <p:ph idx="1"/>
          </p:nvPr>
        </p:nvSpPr>
        <p:spPr/>
        <p:txBody>
          <a:bodyPr>
            <a:normAutofit/>
          </a:bodyPr>
          <a:lstStyle/>
          <a:p>
            <a:r>
              <a:rPr lang="en-US" dirty="0" smtClean="0"/>
              <a:t>At an extreme, use a single example to estimate derivative</a:t>
            </a:r>
          </a:p>
          <a:p>
            <a:pPr lvl="1"/>
            <a:r>
              <a:rPr lang="en-US" dirty="0" smtClean="0"/>
              <a:t>Mini-batch with a size of 1</a:t>
            </a:r>
          </a:p>
          <a:p>
            <a:endParaRPr lang="en-US" dirty="0" smtClean="0"/>
          </a:p>
          <a:p>
            <a:r>
              <a:rPr lang="en-US" dirty="0" smtClean="0"/>
              <a:t>Also known as online training</a:t>
            </a:r>
          </a:p>
          <a:p>
            <a:endParaRPr lang="en-US" dirty="0" smtClean="0"/>
          </a:p>
          <a:p>
            <a:r>
              <a:rPr lang="en-US" dirty="0" smtClean="0"/>
              <a:t>Movement along the error curve is much more sporadic</a:t>
            </a:r>
          </a:p>
          <a:p>
            <a:endParaRPr lang="en-US" dirty="0" smtClean="0"/>
          </a:p>
          <a:p>
            <a:r>
              <a:rPr lang="en-US" dirty="0" smtClean="0"/>
              <a:t>But also much easier to compute</a:t>
            </a:r>
            <a:endParaRPr lang="en-US" dirty="0"/>
          </a:p>
        </p:txBody>
      </p:sp>
    </p:spTree>
    <p:extLst>
      <p:ext uri="{BB962C8B-B14F-4D97-AF65-F5344CB8AC3E}">
        <p14:creationId xmlns:p14="http://schemas.microsoft.com/office/powerpoint/2010/main" val="5228500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2" y="177800"/>
            <a:ext cx="10082425" cy="1239837"/>
          </a:xfrm>
        </p:spPr>
        <p:txBody>
          <a:bodyPr>
            <a:normAutofit/>
          </a:bodyPr>
          <a:lstStyle/>
          <a:p>
            <a:r>
              <a:rPr lang="en-US" sz="3200" dirty="0" smtClean="0"/>
              <a:t>What steps might look like for different batch sizes</a:t>
            </a:r>
            <a:endParaRPr lang="en-US" sz="3200" dirty="0"/>
          </a:p>
        </p:txBody>
      </p:sp>
      <p:grpSp>
        <p:nvGrpSpPr>
          <p:cNvPr id="43" name="Group 42"/>
          <p:cNvGrpSpPr/>
          <p:nvPr/>
        </p:nvGrpSpPr>
        <p:grpSpPr>
          <a:xfrm>
            <a:off x="7770812" y="2209800"/>
            <a:ext cx="4191000" cy="3276600"/>
            <a:chOff x="684212" y="2590800"/>
            <a:chExt cx="4191000" cy="3276600"/>
          </a:xfrm>
        </p:grpSpPr>
        <p:grpSp>
          <p:nvGrpSpPr>
            <p:cNvPr id="4" name="Group 3"/>
            <p:cNvGrpSpPr/>
            <p:nvPr/>
          </p:nvGrpSpPr>
          <p:grpSpPr>
            <a:xfrm>
              <a:off x="684212" y="2590800"/>
              <a:ext cx="4191000" cy="3276600"/>
              <a:chOff x="1446212" y="2590800"/>
              <a:chExt cx="4191000" cy="3276600"/>
            </a:xfrm>
          </p:grpSpPr>
          <p:cxnSp>
            <p:nvCxnSpPr>
              <p:cNvPr id="5" name="Straight Connector 4"/>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1516889" y="2899501"/>
              <a:ext cx="2434499" cy="2434499"/>
              <a:chOff x="7317513" y="2899501"/>
              <a:chExt cx="2434499" cy="2434499"/>
            </a:xfrm>
          </p:grpSpPr>
          <p:sp>
            <p:nvSpPr>
              <p:cNvPr id="8" name="Oval 7"/>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9" name="Oval 8"/>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0" name="Oval 9"/>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1" name="Oval 10"/>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12" name="Oval 11"/>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grpSp>
        <p:nvGrpSpPr>
          <p:cNvPr id="44" name="Group 43"/>
          <p:cNvGrpSpPr/>
          <p:nvPr/>
        </p:nvGrpSpPr>
        <p:grpSpPr>
          <a:xfrm>
            <a:off x="1204410" y="2133600"/>
            <a:ext cx="4191000" cy="3352800"/>
            <a:chOff x="684212" y="2514600"/>
            <a:chExt cx="4191000" cy="3352800"/>
          </a:xfrm>
        </p:grpSpPr>
        <p:grpSp>
          <p:nvGrpSpPr>
            <p:cNvPr id="45" name="Group 44"/>
            <p:cNvGrpSpPr/>
            <p:nvPr/>
          </p:nvGrpSpPr>
          <p:grpSpPr>
            <a:xfrm>
              <a:off x="684212" y="2514600"/>
              <a:ext cx="4191000" cy="3352800"/>
              <a:chOff x="1446212" y="2514600"/>
              <a:chExt cx="4191000" cy="3352800"/>
            </a:xfrm>
          </p:grpSpPr>
          <p:cxnSp>
            <p:nvCxnSpPr>
              <p:cNvPr id="52" name="Straight Connector 51"/>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3503612" y="2514600"/>
                <a:ext cx="0" cy="33528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46" name="Group 45"/>
            <p:cNvGrpSpPr/>
            <p:nvPr/>
          </p:nvGrpSpPr>
          <p:grpSpPr>
            <a:xfrm>
              <a:off x="1516889" y="2899501"/>
              <a:ext cx="2434499" cy="2434499"/>
              <a:chOff x="7317513" y="2899501"/>
              <a:chExt cx="2434499" cy="2434499"/>
            </a:xfrm>
          </p:grpSpPr>
          <p:sp>
            <p:nvSpPr>
              <p:cNvPr id="47" name="Oval 46"/>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48" name="Oval 47"/>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49" name="Oval 48"/>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50" name="Oval 49"/>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51" name="Oval 50"/>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64" name="Straight Arrow Connector 63"/>
          <p:cNvCxnSpPr/>
          <p:nvPr/>
        </p:nvCxnSpPr>
        <p:spPr>
          <a:xfrm flipH="1" flipV="1">
            <a:off x="10164469" y="4439211"/>
            <a:ext cx="183492" cy="4375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H="1" flipV="1">
            <a:off x="10020762" y="4176674"/>
            <a:ext cx="142155" cy="2631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flipV="1">
            <a:off x="9890763" y="3906304"/>
            <a:ext cx="142155" cy="26312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H="1" flipV="1">
            <a:off x="9817643" y="3752269"/>
            <a:ext cx="91914" cy="19340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flipH="1" flipV="1">
            <a:off x="3358144" y="4616309"/>
            <a:ext cx="325730" cy="2981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V="1">
            <a:off x="3323929" y="4310565"/>
            <a:ext cx="401000" cy="3491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flipV="1">
            <a:off x="3279089" y="4217241"/>
            <a:ext cx="402047" cy="7457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a:off x="2842510" y="4217398"/>
            <a:ext cx="410191" cy="7425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flipV="1">
            <a:off x="2842510" y="3670701"/>
            <a:ext cx="31672" cy="59397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a:off x="2864151" y="3682530"/>
            <a:ext cx="339810" cy="2907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flipV="1">
            <a:off x="3222696" y="3628355"/>
            <a:ext cx="60009" cy="3588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4" name="Group 83"/>
          <p:cNvGrpSpPr/>
          <p:nvPr/>
        </p:nvGrpSpPr>
        <p:grpSpPr>
          <a:xfrm>
            <a:off x="4494212" y="2209800"/>
            <a:ext cx="4191000" cy="3276600"/>
            <a:chOff x="684212" y="2590800"/>
            <a:chExt cx="4191000" cy="3276600"/>
          </a:xfrm>
        </p:grpSpPr>
        <p:grpSp>
          <p:nvGrpSpPr>
            <p:cNvPr id="85" name="Group 84"/>
            <p:cNvGrpSpPr/>
            <p:nvPr/>
          </p:nvGrpSpPr>
          <p:grpSpPr>
            <a:xfrm>
              <a:off x="684212" y="2590800"/>
              <a:ext cx="4191000" cy="3276600"/>
              <a:chOff x="1446212" y="2590800"/>
              <a:chExt cx="4191000" cy="3276600"/>
            </a:xfrm>
          </p:grpSpPr>
          <p:cxnSp>
            <p:nvCxnSpPr>
              <p:cNvPr id="92" name="Straight Connector 91"/>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86" name="Group 85"/>
            <p:cNvGrpSpPr/>
            <p:nvPr/>
          </p:nvGrpSpPr>
          <p:grpSpPr>
            <a:xfrm>
              <a:off x="1516889" y="2899501"/>
              <a:ext cx="2434499" cy="2434499"/>
              <a:chOff x="7317513" y="2899501"/>
              <a:chExt cx="2434499" cy="2434499"/>
            </a:xfrm>
          </p:grpSpPr>
          <p:sp>
            <p:nvSpPr>
              <p:cNvPr id="87" name="Oval 86"/>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88" name="Oval 87"/>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89" name="Oval 88"/>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90" name="Oval 89"/>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91" name="Oval 90"/>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94" name="Straight Arrow Connector 93"/>
          <p:cNvCxnSpPr>
            <a:endCxn id="89" idx="4"/>
          </p:cNvCxnSpPr>
          <p:nvPr/>
        </p:nvCxnSpPr>
        <p:spPr>
          <a:xfrm flipH="1" flipV="1">
            <a:off x="6544138" y="4441575"/>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flipV="1">
            <a:off x="6529755" y="4182301"/>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flipH="1" flipV="1">
            <a:off x="6635242" y="3920265"/>
            <a:ext cx="298672" cy="1155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flipV="1">
            <a:off x="6683883" y="4063828"/>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flipH="1" flipV="1">
            <a:off x="6525550" y="3748975"/>
            <a:ext cx="126536" cy="2129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2423466" y="1657643"/>
            <a:ext cx="1656223" cy="461665"/>
          </a:xfrm>
          <a:prstGeom prst="rect">
            <a:avLst/>
          </a:prstGeom>
          <a:noFill/>
        </p:spPr>
        <p:txBody>
          <a:bodyPr wrap="none" rtlCol="0">
            <a:spAutoFit/>
          </a:bodyPr>
          <a:lstStyle/>
          <a:p>
            <a:r>
              <a:rPr lang="en-US" sz="2400" smtClean="0"/>
              <a:t>Stochastic</a:t>
            </a:r>
            <a:endParaRPr lang="en-US" sz="2400" dirty="0"/>
          </a:p>
        </p:txBody>
      </p:sp>
      <p:sp>
        <p:nvSpPr>
          <p:cNvPr id="110" name="TextBox 109"/>
          <p:cNvSpPr txBox="1"/>
          <p:nvPr/>
        </p:nvSpPr>
        <p:spPr>
          <a:xfrm>
            <a:off x="5704172" y="1676400"/>
            <a:ext cx="1642757" cy="461665"/>
          </a:xfrm>
          <a:prstGeom prst="rect">
            <a:avLst/>
          </a:prstGeom>
          <a:noFill/>
        </p:spPr>
        <p:txBody>
          <a:bodyPr wrap="none" rtlCol="0">
            <a:spAutoFit/>
          </a:bodyPr>
          <a:lstStyle/>
          <a:p>
            <a:r>
              <a:rPr lang="en-US" sz="2400" dirty="0" smtClean="0"/>
              <a:t>Mini-batch</a:t>
            </a:r>
            <a:endParaRPr lang="en-US" sz="2400" dirty="0"/>
          </a:p>
        </p:txBody>
      </p:sp>
      <p:sp>
        <p:nvSpPr>
          <p:cNvPr id="111" name="TextBox 110"/>
          <p:cNvSpPr txBox="1"/>
          <p:nvPr/>
        </p:nvSpPr>
        <p:spPr>
          <a:xfrm>
            <a:off x="9032123" y="1688245"/>
            <a:ext cx="1548886" cy="461665"/>
          </a:xfrm>
          <a:prstGeom prst="rect">
            <a:avLst/>
          </a:prstGeom>
          <a:noFill/>
        </p:spPr>
        <p:txBody>
          <a:bodyPr wrap="none" rtlCol="0">
            <a:spAutoFit/>
          </a:bodyPr>
          <a:lstStyle/>
          <a:p>
            <a:r>
              <a:rPr lang="en-US" sz="2400" smtClean="0"/>
              <a:t>Full batch</a:t>
            </a:r>
            <a:endParaRPr lang="en-US" sz="2400" dirty="0"/>
          </a:p>
        </p:txBody>
      </p:sp>
      <p:sp>
        <p:nvSpPr>
          <p:cNvPr id="117" name="Rectangle 116"/>
          <p:cNvSpPr/>
          <p:nvPr/>
        </p:nvSpPr>
        <p:spPr>
          <a:xfrm>
            <a:off x="1598612" y="6053864"/>
            <a:ext cx="9906000" cy="118194"/>
          </a:xfrm>
          <a:prstGeom prst="rect">
            <a:avLst/>
          </a:prstGeom>
          <a:gradFill>
            <a:gsLst>
              <a:gs pos="100000">
                <a:srgbClr val="FF0000"/>
              </a:gs>
              <a:gs pos="0">
                <a:srgbClr val="0070C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TextBox 117"/>
          <p:cNvSpPr txBox="1"/>
          <p:nvPr/>
        </p:nvSpPr>
        <p:spPr>
          <a:xfrm>
            <a:off x="8543230" y="6312706"/>
            <a:ext cx="3051926" cy="369332"/>
          </a:xfrm>
          <a:prstGeom prst="rect">
            <a:avLst/>
          </a:prstGeom>
          <a:noFill/>
        </p:spPr>
        <p:txBody>
          <a:bodyPr wrap="none" rtlCol="0">
            <a:spAutoFit/>
          </a:bodyPr>
          <a:lstStyle/>
          <a:p>
            <a:r>
              <a:rPr lang="en-US" b="1" dirty="0" smtClean="0">
                <a:solidFill>
                  <a:srgbClr val="FF0000"/>
                </a:solidFill>
              </a:rPr>
              <a:t>Slower, more accurate step</a:t>
            </a:r>
            <a:endParaRPr lang="en-US" b="1" dirty="0">
              <a:solidFill>
                <a:srgbClr val="FF0000"/>
              </a:solidFill>
            </a:endParaRPr>
          </a:p>
        </p:txBody>
      </p:sp>
      <p:sp>
        <p:nvSpPr>
          <p:cNvPr id="119" name="TextBox 118"/>
          <p:cNvSpPr txBox="1"/>
          <p:nvPr/>
        </p:nvSpPr>
        <p:spPr>
          <a:xfrm>
            <a:off x="1452577" y="6312706"/>
            <a:ext cx="2877070" cy="369332"/>
          </a:xfrm>
          <a:prstGeom prst="rect">
            <a:avLst/>
          </a:prstGeom>
          <a:noFill/>
        </p:spPr>
        <p:txBody>
          <a:bodyPr wrap="none" rtlCol="0">
            <a:spAutoFit/>
          </a:bodyPr>
          <a:lstStyle/>
          <a:p>
            <a:r>
              <a:rPr lang="en-US" b="1" dirty="0">
                <a:solidFill>
                  <a:srgbClr val="0070C0"/>
                </a:solidFill>
              </a:rPr>
              <a:t>F</a:t>
            </a:r>
            <a:r>
              <a:rPr lang="en-US" b="1" dirty="0" smtClean="0">
                <a:solidFill>
                  <a:srgbClr val="0070C0"/>
                </a:solidFill>
              </a:rPr>
              <a:t>aster, less accurate step</a:t>
            </a:r>
            <a:endParaRPr lang="en-US" b="1" dirty="0">
              <a:solidFill>
                <a:srgbClr val="0070C0"/>
              </a:solidFill>
            </a:endParaRPr>
          </a:p>
        </p:txBody>
      </p:sp>
      <p:sp>
        <p:nvSpPr>
          <p:cNvPr id="122" name="TextBox 121"/>
          <p:cNvSpPr txBox="1"/>
          <p:nvPr/>
        </p:nvSpPr>
        <p:spPr>
          <a:xfrm>
            <a:off x="5713412" y="5862935"/>
            <a:ext cx="1613006" cy="461665"/>
          </a:xfrm>
          <a:prstGeom prst="rect">
            <a:avLst/>
          </a:prstGeom>
          <a:solidFill>
            <a:schemeClr val="bg1">
              <a:alpha val="84000"/>
            </a:schemeClr>
          </a:solidFill>
        </p:spPr>
        <p:txBody>
          <a:bodyPr wrap="none" rtlCol="0">
            <a:spAutoFit/>
          </a:bodyPr>
          <a:lstStyle/>
          <a:p>
            <a:r>
              <a:rPr lang="en-US" sz="2400" b="1" dirty="0" smtClean="0"/>
              <a:t>Batch size</a:t>
            </a:r>
            <a:endParaRPr lang="en-US" sz="2400" b="1" dirty="0"/>
          </a:p>
        </p:txBody>
      </p:sp>
      <p:sp>
        <p:nvSpPr>
          <p:cNvPr id="123" name="Rectangle 122"/>
          <p:cNvSpPr/>
          <p:nvPr/>
        </p:nvSpPr>
        <p:spPr>
          <a:xfrm>
            <a:off x="1264345" y="5922595"/>
            <a:ext cx="319318" cy="369332"/>
          </a:xfrm>
          <a:prstGeom prst="rect">
            <a:avLst/>
          </a:prstGeom>
        </p:spPr>
        <p:txBody>
          <a:bodyPr wrap="none">
            <a:spAutoFit/>
          </a:bodyPr>
          <a:lstStyle/>
          <a:p>
            <a:r>
              <a:rPr lang="en-US" b="1" dirty="0" smtClean="0">
                <a:solidFill>
                  <a:srgbClr val="0070C0"/>
                </a:solidFill>
              </a:rPr>
              <a:t>1</a:t>
            </a:r>
            <a:endParaRPr lang="en-US" dirty="0"/>
          </a:p>
        </p:txBody>
      </p:sp>
      <p:sp>
        <p:nvSpPr>
          <p:cNvPr id="124" name="Rectangle 123"/>
          <p:cNvSpPr/>
          <p:nvPr/>
        </p:nvSpPr>
        <p:spPr>
          <a:xfrm>
            <a:off x="11489659" y="5943600"/>
            <a:ext cx="344966" cy="369332"/>
          </a:xfrm>
          <a:prstGeom prst="rect">
            <a:avLst/>
          </a:prstGeom>
        </p:spPr>
        <p:txBody>
          <a:bodyPr wrap="none">
            <a:spAutoFit/>
          </a:bodyPr>
          <a:lstStyle/>
          <a:p>
            <a:r>
              <a:rPr lang="en-US" b="1" dirty="0">
                <a:solidFill>
                  <a:srgbClr val="FF0000"/>
                </a:solidFill>
              </a:rPr>
              <a:t>N</a:t>
            </a:r>
            <a:endParaRPr lang="en-US" dirty="0">
              <a:solidFill>
                <a:srgbClr val="FF0000"/>
              </a:solidFill>
            </a:endParaRPr>
          </a:p>
        </p:txBody>
      </p:sp>
    </p:spTree>
    <p:extLst>
      <p:ext uri="{BB962C8B-B14F-4D97-AF65-F5344CB8AC3E}">
        <p14:creationId xmlns:p14="http://schemas.microsoft.com/office/powerpoint/2010/main" val="770354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110" grpId="0"/>
      <p:bldP spid="1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Batching terminology cheat-sheet</a:t>
            </a:r>
            <a:endParaRPr lang="en-US" dirty="0"/>
          </a:p>
        </p:txBody>
      </p:sp>
      <p:sp>
        <p:nvSpPr>
          <p:cNvPr id="3" name="Content Placeholder 2"/>
          <p:cNvSpPr>
            <a:spLocks noGrp="1"/>
          </p:cNvSpPr>
          <p:nvPr>
            <p:ph idx="1"/>
          </p:nvPr>
        </p:nvSpPr>
        <p:spPr/>
        <p:txBody>
          <a:bodyPr/>
          <a:lstStyle/>
          <a:p>
            <a:r>
              <a:rPr lang="en-US" dirty="0" smtClean="0"/>
              <a:t>Full-batch gradient descent</a:t>
            </a:r>
          </a:p>
          <a:p>
            <a:pPr lvl="1"/>
            <a:r>
              <a:rPr lang="en-US" dirty="0" smtClean="0"/>
              <a:t>Use all of training data per step</a:t>
            </a:r>
          </a:p>
          <a:p>
            <a:endParaRPr lang="en-US" dirty="0" smtClean="0"/>
          </a:p>
          <a:p>
            <a:r>
              <a:rPr lang="en-US" dirty="0" smtClean="0"/>
              <a:t>Mini-batch gradient descent</a:t>
            </a:r>
          </a:p>
          <a:p>
            <a:pPr lvl="1"/>
            <a:r>
              <a:rPr lang="en-US" dirty="0" smtClean="0"/>
              <a:t>Use small portion of training data per step</a:t>
            </a:r>
          </a:p>
          <a:p>
            <a:endParaRPr lang="en-US" dirty="0" smtClean="0"/>
          </a:p>
          <a:p>
            <a:r>
              <a:rPr lang="en-US" dirty="0" smtClean="0"/>
              <a:t>Stochastic gradient descent (SGD)</a:t>
            </a:r>
          </a:p>
          <a:p>
            <a:pPr lvl="1"/>
            <a:r>
              <a:rPr lang="en-US" dirty="0" smtClean="0"/>
              <a:t>Use single example per step</a:t>
            </a:r>
          </a:p>
          <a:p>
            <a:pPr lvl="1"/>
            <a:r>
              <a:rPr lang="en-US" dirty="0" smtClean="0"/>
              <a:t>Occasionally refers to mini-batch gradient descent</a:t>
            </a:r>
          </a:p>
        </p:txBody>
      </p:sp>
    </p:spTree>
    <p:extLst>
      <p:ext uri="{BB962C8B-B14F-4D97-AF65-F5344CB8AC3E}">
        <p14:creationId xmlns:p14="http://schemas.microsoft.com/office/powerpoint/2010/main" val="1234241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Epochs</a:t>
            </a:r>
            <a:endParaRPr lang="en-US" dirty="0"/>
          </a:p>
        </p:txBody>
      </p:sp>
      <p:sp>
        <p:nvSpPr>
          <p:cNvPr id="3" name="Content Placeholder 2"/>
          <p:cNvSpPr>
            <a:spLocks noGrp="1"/>
          </p:cNvSpPr>
          <p:nvPr>
            <p:ph idx="1"/>
          </p:nvPr>
        </p:nvSpPr>
        <p:spPr>
          <a:xfrm>
            <a:off x="1593436" y="1600200"/>
            <a:ext cx="10139776" cy="4572000"/>
          </a:xfrm>
        </p:spPr>
        <p:txBody>
          <a:bodyPr>
            <a:normAutofit/>
          </a:bodyPr>
          <a:lstStyle/>
          <a:p>
            <a:r>
              <a:rPr lang="en-US" dirty="0" smtClean="0"/>
              <a:t>An </a:t>
            </a:r>
            <a:r>
              <a:rPr lang="en-US" i="1" dirty="0" smtClean="0"/>
              <a:t>epoch </a:t>
            </a:r>
            <a:r>
              <a:rPr lang="en-US" dirty="0" smtClean="0"/>
              <a:t>refers to one entire pass through the dataset</a:t>
            </a:r>
          </a:p>
          <a:p>
            <a:pPr lvl="1"/>
            <a:r>
              <a:rPr lang="en-US" dirty="0" smtClean="0"/>
              <a:t>The number of times a model has seen each training example</a:t>
            </a:r>
          </a:p>
        </p:txBody>
      </p:sp>
    </p:spTree>
    <p:extLst>
      <p:ext uri="{BB962C8B-B14F-4D97-AF65-F5344CB8AC3E}">
        <p14:creationId xmlns:p14="http://schemas.microsoft.com/office/powerpoint/2010/main" val="84203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Shuffling</a:t>
            </a:r>
            <a:endParaRPr lang="en-US" dirty="0"/>
          </a:p>
        </p:txBody>
      </p:sp>
      <p:sp>
        <p:nvSpPr>
          <p:cNvPr id="3" name="Content Placeholder 2"/>
          <p:cNvSpPr>
            <a:spLocks noGrp="1"/>
          </p:cNvSpPr>
          <p:nvPr>
            <p:ph idx="1"/>
          </p:nvPr>
        </p:nvSpPr>
        <p:spPr>
          <a:xfrm>
            <a:off x="1593436" y="1600200"/>
            <a:ext cx="10139776" cy="4572000"/>
          </a:xfrm>
        </p:spPr>
        <p:txBody>
          <a:bodyPr>
            <a:normAutofit/>
          </a:bodyPr>
          <a:lstStyle/>
          <a:p>
            <a:r>
              <a:rPr lang="en-US" dirty="0" smtClean="0"/>
              <a:t>If we are using our data piecemeal, we must be careful:</a:t>
            </a:r>
          </a:p>
          <a:p>
            <a:pPr marL="457200" indent="-457200">
              <a:buFont typeface="Arial" charset="0"/>
              <a:buChar char="•"/>
            </a:pPr>
            <a:r>
              <a:rPr lang="en-US" dirty="0" smtClean="0"/>
              <a:t>Don’t want to oversample</a:t>
            </a:r>
          </a:p>
          <a:p>
            <a:pPr marL="457200" indent="-457200">
              <a:buFont typeface="Arial" charset="0"/>
              <a:buChar char="•"/>
            </a:pPr>
            <a:r>
              <a:rPr lang="en-US" dirty="0" smtClean="0"/>
              <a:t>Avoid reusing same mini-batch over and over</a:t>
            </a:r>
          </a:p>
          <a:p>
            <a:endParaRPr lang="en-US" dirty="0"/>
          </a:p>
          <a:p>
            <a:r>
              <a:rPr lang="en-US" dirty="0" smtClean="0"/>
              <a:t>Solution: shuffle training data after each epoch</a:t>
            </a:r>
          </a:p>
          <a:p>
            <a:pPr marL="457200" indent="-457200">
              <a:buFont typeface="Arial" charset="0"/>
              <a:buChar char="•"/>
            </a:pPr>
            <a:r>
              <a:rPr lang="en-US" dirty="0" smtClean="0"/>
              <a:t>Shuffle, make batches, repeat</a:t>
            </a:r>
          </a:p>
        </p:txBody>
      </p:sp>
    </p:spTree>
    <p:extLst>
      <p:ext uri="{BB962C8B-B14F-4D97-AF65-F5344CB8AC3E}">
        <p14:creationId xmlns:p14="http://schemas.microsoft.com/office/powerpoint/2010/main" val="7757658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Splitting data up into batches</a:t>
            </a:r>
            <a:endParaRPr lang="en-US" dirty="0"/>
          </a:p>
        </p:txBody>
      </p:sp>
      <p:sp>
        <p:nvSpPr>
          <p:cNvPr id="4" name="Can 3"/>
          <p:cNvSpPr/>
          <p:nvPr/>
        </p:nvSpPr>
        <p:spPr>
          <a:xfrm>
            <a:off x="7847012" y="5181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Batch 5</a:t>
            </a:r>
            <a:endParaRPr lang="en-US" dirty="0"/>
          </a:p>
        </p:txBody>
      </p:sp>
      <p:sp>
        <p:nvSpPr>
          <p:cNvPr id="15" name="Can 14"/>
          <p:cNvSpPr/>
          <p:nvPr/>
        </p:nvSpPr>
        <p:spPr>
          <a:xfrm>
            <a:off x="7847012" y="4343400"/>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Batch 4</a:t>
            </a:r>
            <a:endParaRPr lang="en-US" dirty="0"/>
          </a:p>
        </p:txBody>
      </p:sp>
      <p:sp>
        <p:nvSpPr>
          <p:cNvPr id="16" name="Can 15"/>
          <p:cNvSpPr/>
          <p:nvPr/>
        </p:nvSpPr>
        <p:spPr>
          <a:xfrm>
            <a:off x="7847012" y="350520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Batch 3</a:t>
            </a:r>
            <a:endParaRPr lang="en-US" dirty="0"/>
          </a:p>
        </p:txBody>
      </p:sp>
      <p:sp>
        <p:nvSpPr>
          <p:cNvPr id="17" name="Can 16"/>
          <p:cNvSpPr/>
          <p:nvPr/>
        </p:nvSpPr>
        <p:spPr>
          <a:xfrm>
            <a:off x="7847012" y="26670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Batch 2</a:t>
            </a:r>
            <a:endParaRPr lang="en-US" dirty="0"/>
          </a:p>
        </p:txBody>
      </p:sp>
      <p:sp>
        <p:nvSpPr>
          <p:cNvPr id="18" name="Can 17"/>
          <p:cNvSpPr/>
          <p:nvPr/>
        </p:nvSpPr>
        <p:spPr>
          <a:xfrm>
            <a:off x="7847012" y="18288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Batch 1</a:t>
            </a:r>
            <a:endParaRPr lang="en-US" dirty="0"/>
          </a:p>
        </p:txBody>
      </p:sp>
      <p:sp>
        <p:nvSpPr>
          <p:cNvPr id="19" name="Can 18"/>
          <p:cNvSpPr/>
          <p:nvPr/>
        </p:nvSpPr>
        <p:spPr>
          <a:xfrm>
            <a:off x="2055812" y="1828800"/>
            <a:ext cx="3048000" cy="4572000"/>
          </a:xfrm>
          <a:prstGeom prst="can">
            <a:avLst>
              <a:gd name="adj" fmla="val 1200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2800" dirty="0" smtClean="0">
                <a:solidFill>
                  <a:schemeClr val="bg1"/>
                </a:solidFill>
              </a:rPr>
              <a:t>FULL BATCH</a:t>
            </a:r>
            <a:endParaRPr lang="en-US" sz="2800" dirty="0">
              <a:solidFill>
                <a:schemeClr val="bg1"/>
              </a:solidFill>
            </a:endParaRPr>
          </a:p>
        </p:txBody>
      </p:sp>
      <p:cxnSp>
        <p:nvCxnSpPr>
          <p:cNvPr id="21" name="Straight Arrow Connector 20"/>
          <p:cNvCxnSpPr/>
          <p:nvPr/>
        </p:nvCxnSpPr>
        <p:spPr>
          <a:xfrm>
            <a:off x="5408612" y="4114800"/>
            <a:ext cx="1981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63459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animBg="1"/>
      <p:bldP spid="16" grpId="0" animBg="1"/>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Splitting data up into batches</a:t>
            </a:r>
            <a:endParaRPr lang="en-US" dirty="0"/>
          </a:p>
        </p:txBody>
      </p:sp>
      <p:sp>
        <p:nvSpPr>
          <p:cNvPr id="3" name="Left Brace 2"/>
          <p:cNvSpPr/>
          <p:nvPr/>
        </p:nvSpPr>
        <p:spPr>
          <a:xfrm flipH="1">
            <a:off x="5789612" y="2057400"/>
            <a:ext cx="381000" cy="762000"/>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6203848" y="2205335"/>
            <a:ext cx="1086259" cy="461665"/>
          </a:xfrm>
          <a:prstGeom prst="rect">
            <a:avLst/>
          </a:prstGeom>
          <a:noFill/>
        </p:spPr>
        <p:txBody>
          <a:bodyPr wrap="none" rtlCol="0">
            <a:spAutoFit/>
          </a:bodyPr>
          <a:lstStyle/>
          <a:p>
            <a:r>
              <a:rPr lang="en-US" sz="2400" dirty="0" smtClean="0">
                <a:solidFill>
                  <a:srgbClr val="FF0000"/>
                </a:solidFill>
              </a:rPr>
              <a:t>Step 1</a:t>
            </a:r>
            <a:endParaRPr lang="en-US" sz="2400" dirty="0">
              <a:solidFill>
                <a:srgbClr val="FF0000"/>
              </a:solidFill>
            </a:endParaRPr>
          </a:p>
        </p:txBody>
      </p:sp>
      <p:grpSp>
        <p:nvGrpSpPr>
          <p:cNvPr id="12" name="Group 11"/>
          <p:cNvGrpSpPr/>
          <p:nvPr/>
        </p:nvGrpSpPr>
        <p:grpSpPr>
          <a:xfrm>
            <a:off x="7618412" y="2514600"/>
            <a:ext cx="4191000" cy="3276600"/>
            <a:chOff x="684212" y="2590800"/>
            <a:chExt cx="4191000" cy="3276600"/>
          </a:xfrm>
        </p:grpSpPr>
        <p:grpSp>
          <p:nvGrpSpPr>
            <p:cNvPr id="13" name="Group 12"/>
            <p:cNvGrpSpPr/>
            <p:nvPr/>
          </p:nvGrpSpPr>
          <p:grpSpPr>
            <a:xfrm>
              <a:off x="684212" y="2590800"/>
              <a:ext cx="4191000" cy="3276600"/>
              <a:chOff x="1446212" y="2590800"/>
              <a:chExt cx="4191000" cy="3276600"/>
            </a:xfrm>
          </p:grpSpPr>
          <p:cxnSp>
            <p:nvCxnSpPr>
              <p:cNvPr id="26" name="Straight Connector 25"/>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1516889" y="2899501"/>
              <a:ext cx="2434499" cy="2434499"/>
              <a:chOff x="7317513" y="2899501"/>
              <a:chExt cx="2434499" cy="2434499"/>
            </a:xfrm>
          </p:grpSpPr>
          <p:sp>
            <p:nvSpPr>
              <p:cNvPr id="20" name="Oval 19"/>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2" name="Oval 21"/>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3" name="Oval 22"/>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4" name="Oval 23"/>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5" name="Oval 24"/>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8" name="Straight Arrow Connector 27"/>
          <p:cNvCxnSpPr/>
          <p:nvPr/>
        </p:nvCxnSpPr>
        <p:spPr>
          <a:xfrm flipH="1" flipV="1">
            <a:off x="9668338" y="4746375"/>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Can 32"/>
          <p:cNvSpPr/>
          <p:nvPr/>
        </p:nvSpPr>
        <p:spPr>
          <a:xfrm>
            <a:off x="2208212" y="5181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Batch 5</a:t>
            </a:r>
            <a:endParaRPr lang="en-US" dirty="0"/>
          </a:p>
        </p:txBody>
      </p:sp>
      <p:sp>
        <p:nvSpPr>
          <p:cNvPr id="34" name="Can 33"/>
          <p:cNvSpPr/>
          <p:nvPr/>
        </p:nvSpPr>
        <p:spPr>
          <a:xfrm>
            <a:off x="2208212" y="4343400"/>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Batch 4</a:t>
            </a:r>
            <a:endParaRPr lang="en-US" dirty="0"/>
          </a:p>
        </p:txBody>
      </p:sp>
      <p:sp>
        <p:nvSpPr>
          <p:cNvPr id="35" name="Can 34"/>
          <p:cNvSpPr/>
          <p:nvPr/>
        </p:nvSpPr>
        <p:spPr>
          <a:xfrm>
            <a:off x="2208212" y="350520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Batch 3</a:t>
            </a:r>
            <a:endParaRPr lang="en-US" dirty="0"/>
          </a:p>
        </p:txBody>
      </p:sp>
      <p:sp>
        <p:nvSpPr>
          <p:cNvPr id="36" name="Can 35"/>
          <p:cNvSpPr/>
          <p:nvPr/>
        </p:nvSpPr>
        <p:spPr>
          <a:xfrm>
            <a:off x="2208212" y="26670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Batch 2</a:t>
            </a:r>
            <a:endParaRPr lang="en-US" dirty="0"/>
          </a:p>
        </p:txBody>
      </p:sp>
      <p:sp>
        <p:nvSpPr>
          <p:cNvPr id="37" name="Can 36"/>
          <p:cNvSpPr/>
          <p:nvPr/>
        </p:nvSpPr>
        <p:spPr>
          <a:xfrm>
            <a:off x="2208212" y="18288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Batch 1</a:t>
            </a:r>
            <a:endParaRPr lang="en-US" dirty="0"/>
          </a:p>
        </p:txBody>
      </p:sp>
    </p:spTree>
    <p:extLst>
      <p:ext uri="{BB962C8B-B14F-4D97-AF65-F5344CB8AC3E}">
        <p14:creationId xmlns:p14="http://schemas.microsoft.com/office/powerpoint/2010/main" val="11249776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Splitting data up into batches</a:t>
            </a:r>
            <a:endParaRPr lang="en-US" dirty="0"/>
          </a:p>
        </p:txBody>
      </p:sp>
      <p:sp>
        <p:nvSpPr>
          <p:cNvPr id="3" name="Left Brace 2"/>
          <p:cNvSpPr/>
          <p:nvPr/>
        </p:nvSpPr>
        <p:spPr>
          <a:xfrm flipH="1">
            <a:off x="5789612" y="2918618"/>
            <a:ext cx="381000" cy="762000"/>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6203848" y="3066553"/>
            <a:ext cx="1086259" cy="461665"/>
          </a:xfrm>
          <a:prstGeom prst="rect">
            <a:avLst/>
          </a:prstGeom>
          <a:noFill/>
        </p:spPr>
        <p:txBody>
          <a:bodyPr wrap="none" rtlCol="0">
            <a:spAutoFit/>
          </a:bodyPr>
          <a:lstStyle/>
          <a:p>
            <a:r>
              <a:rPr lang="en-US" sz="2400" dirty="0" smtClean="0">
                <a:solidFill>
                  <a:srgbClr val="FF0000"/>
                </a:solidFill>
              </a:rPr>
              <a:t>Step 2</a:t>
            </a:r>
            <a:endParaRPr lang="en-US" sz="2400" dirty="0">
              <a:solidFill>
                <a:srgbClr val="FF0000"/>
              </a:solidFill>
            </a:endParaRPr>
          </a:p>
        </p:txBody>
      </p:sp>
      <p:grpSp>
        <p:nvGrpSpPr>
          <p:cNvPr id="12" name="Group 11"/>
          <p:cNvGrpSpPr/>
          <p:nvPr/>
        </p:nvGrpSpPr>
        <p:grpSpPr>
          <a:xfrm>
            <a:off x="7618412" y="2514600"/>
            <a:ext cx="4191000" cy="3276600"/>
            <a:chOff x="684212" y="2590800"/>
            <a:chExt cx="4191000" cy="3276600"/>
          </a:xfrm>
        </p:grpSpPr>
        <p:grpSp>
          <p:nvGrpSpPr>
            <p:cNvPr id="13" name="Group 12"/>
            <p:cNvGrpSpPr/>
            <p:nvPr/>
          </p:nvGrpSpPr>
          <p:grpSpPr>
            <a:xfrm>
              <a:off x="684212" y="2590800"/>
              <a:ext cx="4191000" cy="3276600"/>
              <a:chOff x="1446212" y="2590800"/>
              <a:chExt cx="4191000" cy="3276600"/>
            </a:xfrm>
          </p:grpSpPr>
          <p:cxnSp>
            <p:nvCxnSpPr>
              <p:cNvPr id="26" name="Straight Connector 25"/>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1516889" y="2899501"/>
              <a:ext cx="2434499" cy="2434499"/>
              <a:chOff x="7317513" y="2899501"/>
              <a:chExt cx="2434499" cy="2434499"/>
            </a:xfrm>
          </p:grpSpPr>
          <p:sp>
            <p:nvSpPr>
              <p:cNvPr id="20" name="Oval 19"/>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2" name="Oval 21"/>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3" name="Oval 22"/>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4" name="Oval 23"/>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5" name="Oval 24"/>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8" name="Straight Arrow Connector 27"/>
          <p:cNvCxnSpPr/>
          <p:nvPr/>
        </p:nvCxnSpPr>
        <p:spPr>
          <a:xfrm flipH="1" flipV="1">
            <a:off x="9668338" y="4746375"/>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9653955" y="4487101"/>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Can 32"/>
          <p:cNvSpPr/>
          <p:nvPr/>
        </p:nvSpPr>
        <p:spPr>
          <a:xfrm>
            <a:off x="2208212" y="5181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Batch 5</a:t>
            </a:r>
            <a:endParaRPr lang="en-US" dirty="0"/>
          </a:p>
        </p:txBody>
      </p:sp>
      <p:sp>
        <p:nvSpPr>
          <p:cNvPr id="34" name="Can 33"/>
          <p:cNvSpPr/>
          <p:nvPr/>
        </p:nvSpPr>
        <p:spPr>
          <a:xfrm>
            <a:off x="2208212" y="4343400"/>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Batch 4</a:t>
            </a:r>
            <a:endParaRPr lang="en-US" dirty="0"/>
          </a:p>
        </p:txBody>
      </p:sp>
      <p:sp>
        <p:nvSpPr>
          <p:cNvPr id="35" name="Can 34"/>
          <p:cNvSpPr/>
          <p:nvPr/>
        </p:nvSpPr>
        <p:spPr>
          <a:xfrm>
            <a:off x="2208212" y="350520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Batch 3</a:t>
            </a:r>
            <a:endParaRPr lang="en-US" dirty="0"/>
          </a:p>
        </p:txBody>
      </p:sp>
      <p:sp>
        <p:nvSpPr>
          <p:cNvPr id="36" name="Can 35"/>
          <p:cNvSpPr/>
          <p:nvPr/>
        </p:nvSpPr>
        <p:spPr>
          <a:xfrm>
            <a:off x="2208212" y="26670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Batch 2</a:t>
            </a:r>
            <a:endParaRPr lang="en-US" dirty="0"/>
          </a:p>
        </p:txBody>
      </p:sp>
      <p:sp>
        <p:nvSpPr>
          <p:cNvPr id="37" name="Can 36"/>
          <p:cNvSpPr/>
          <p:nvPr/>
        </p:nvSpPr>
        <p:spPr>
          <a:xfrm>
            <a:off x="2208212" y="18288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Batch 1</a:t>
            </a:r>
            <a:endParaRPr lang="en-US" dirty="0"/>
          </a:p>
        </p:txBody>
      </p:sp>
    </p:spTree>
    <p:extLst>
      <p:ext uri="{BB962C8B-B14F-4D97-AF65-F5344CB8AC3E}">
        <p14:creationId xmlns:p14="http://schemas.microsoft.com/office/powerpoint/2010/main" val="16690872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Splitting data up into batches</a:t>
            </a:r>
            <a:endParaRPr lang="en-US" dirty="0"/>
          </a:p>
        </p:txBody>
      </p:sp>
      <p:sp>
        <p:nvSpPr>
          <p:cNvPr id="3" name="Left Brace 2"/>
          <p:cNvSpPr/>
          <p:nvPr/>
        </p:nvSpPr>
        <p:spPr>
          <a:xfrm flipH="1">
            <a:off x="5789612" y="3765093"/>
            <a:ext cx="381000" cy="762000"/>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6203848" y="3913028"/>
            <a:ext cx="1086259" cy="461665"/>
          </a:xfrm>
          <a:prstGeom prst="rect">
            <a:avLst/>
          </a:prstGeom>
          <a:noFill/>
        </p:spPr>
        <p:txBody>
          <a:bodyPr wrap="none" rtlCol="0">
            <a:spAutoFit/>
          </a:bodyPr>
          <a:lstStyle/>
          <a:p>
            <a:r>
              <a:rPr lang="en-US" sz="2400" dirty="0" smtClean="0">
                <a:solidFill>
                  <a:srgbClr val="FF0000"/>
                </a:solidFill>
              </a:rPr>
              <a:t>Step 3</a:t>
            </a:r>
            <a:endParaRPr lang="en-US" sz="2400" dirty="0">
              <a:solidFill>
                <a:srgbClr val="FF0000"/>
              </a:solidFill>
            </a:endParaRPr>
          </a:p>
        </p:txBody>
      </p:sp>
      <p:grpSp>
        <p:nvGrpSpPr>
          <p:cNvPr id="12" name="Group 11"/>
          <p:cNvGrpSpPr/>
          <p:nvPr/>
        </p:nvGrpSpPr>
        <p:grpSpPr>
          <a:xfrm>
            <a:off x="7618412" y="2514600"/>
            <a:ext cx="4191000" cy="3276600"/>
            <a:chOff x="684212" y="2590800"/>
            <a:chExt cx="4191000" cy="3276600"/>
          </a:xfrm>
        </p:grpSpPr>
        <p:grpSp>
          <p:nvGrpSpPr>
            <p:cNvPr id="13" name="Group 12"/>
            <p:cNvGrpSpPr/>
            <p:nvPr/>
          </p:nvGrpSpPr>
          <p:grpSpPr>
            <a:xfrm>
              <a:off x="684212" y="2590800"/>
              <a:ext cx="4191000" cy="3276600"/>
              <a:chOff x="1446212" y="2590800"/>
              <a:chExt cx="4191000" cy="3276600"/>
            </a:xfrm>
          </p:grpSpPr>
          <p:cxnSp>
            <p:nvCxnSpPr>
              <p:cNvPr id="26" name="Straight Connector 25"/>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1516889" y="2899501"/>
              <a:ext cx="2434499" cy="2434499"/>
              <a:chOff x="7317513" y="2899501"/>
              <a:chExt cx="2434499" cy="2434499"/>
            </a:xfrm>
          </p:grpSpPr>
          <p:sp>
            <p:nvSpPr>
              <p:cNvPr id="20" name="Oval 19"/>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2" name="Oval 21"/>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3" name="Oval 22"/>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4" name="Oval 23"/>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5" name="Oval 24"/>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8" name="Straight Arrow Connector 27"/>
          <p:cNvCxnSpPr/>
          <p:nvPr/>
        </p:nvCxnSpPr>
        <p:spPr>
          <a:xfrm flipH="1" flipV="1">
            <a:off x="9668338" y="4746375"/>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9653955" y="4487101"/>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9808083" y="4368628"/>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Can 32"/>
          <p:cNvSpPr/>
          <p:nvPr/>
        </p:nvSpPr>
        <p:spPr>
          <a:xfrm>
            <a:off x="2208212" y="5181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Batch 5</a:t>
            </a:r>
            <a:endParaRPr lang="en-US" dirty="0"/>
          </a:p>
        </p:txBody>
      </p:sp>
      <p:sp>
        <p:nvSpPr>
          <p:cNvPr id="34" name="Can 33"/>
          <p:cNvSpPr/>
          <p:nvPr/>
        </p:nvSpPr>
        <p:spPr>
          <a:xfrm>
            <a:off x="2208212" y="4343400"/>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Batch 4</a:t>
            </a:r>
            <a:endParaRPr lang="en-US" dirty="0"/>
          </a:p>
        </p:txBody>
      </p:sp>
      <p:sp>
        <p:nvSpPr>
          <p:cNvPr id="35" name="Can 34"/>
          <p:cNvSpPr/>
          <p:nvPr/>
        </p:nvSpPr>
        <p:spPr>
          <a:xfrm>
            <a:off x="2208212" y="350520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Batch 3</a:t>
            </a:r>
            <a:endParaRPr lang="en-US" dirty="0"/>
          </a:p>
        </p:txBody>
      </p:sp>
      <p:sp>
        <p:nvSpPr>
          <p:cNvPr id="36" name="Can 35"/>
          <p:cNvSpPr/>
          <p:nvPr/>
        </p:nvSpPr>
        <p:spPr>
          <a:xfrm>
            <a:off x="2208212" y="26670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Batch 2</a:t>
            </a:r>
            <a:endParaRPr lang="en-US" dirty="0"/>
          </a:p>
        </p:txBody>
      </p:sp>
      <p:sp>
        <p:nvSpPr>
          <p:cNvPr id="37" name="Can 36"/>
          <p:cNvSpPr/>
          <p:nvPr/>
        </p:nvSpPr>
        <p:spPr>
          <a:xfrm>
            <a:off x="2208212" y="18288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Batch 1</a:t>
            </a:r>
            <a:endParaRPr lang="en-US" dirty="0"/>
          </a:p>
        </p:txBody>
      </p:sp>
    </p:spTree>
    <p:extLst>
      <p:ext uri="{BB962C8B-B14F-4D97-AF65-F5344CB8AC3E}">
        <p14:creationId xmlns:p14="http://schemas.microsoft.com/office/powerpoint/2010/main" val="21300522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Splitting data up into batches</a:t>
            </a:r>
            <a:endParaRPr lang="en-US" dirty="0"/>
          </a:p>
        </p:txBody>
      </p:sp>
      <p:sp>
        <p:nvSpPr>
          <p:cNvPr id="3" name="Left Brace 2"/>
          <p:cNvSpPr/>
          <p:nvPr/>
        </p:nvSpPr>
        <p:spPr>
          <a:xfrm flipH="1">
            <a:off x="5789612" y="4603293"/>
            <a:ext cx="381000" cy="762000"/>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6203848" y="4751228"/>
            <a:ext cx="1086259" cy="461665"/>
          </a:xfrm>
          <a:prstGeom prst="rect">
            <a:avLst/>
          </a:prstGeom>
          <a:noFill/>
        </p:spPr>
        <p:txBody>
          <a:bodyPr wrap="none" rtlCol="0">
            <a:spAutoFit/>
          </a:bodyPr>
          <a:lstStyle/>
          <a:p>
            <a:r>
              <a:rPr lang="en-US" sz="2400" dirty="0" smtClean="0">
                <a:solidFill>
                  <a:srgbClr val="FF0000"/>
                </a:solidFill>
              </a:rPr>
              <a:t>Step 4</a:t>
            </a:r>
            <a:endParaRPr lang="en-US" sz="2400" dirty="0">
              <a:solidFill>
                <a:srgbClr val="FF0000"/>
              </a:solidFill>
            </a:endParaRPr>
          </a:p>
        </p:txBody>
      </p:sp>
      <p:grpSp>
        <p:nvGrpSpPr>
          <p:cNvPr id="12" name="Group 11"/>
          <p:cNvGrpSpPr/>
          <p:nvPr/>
        </p:nvGrpSpPr>
        <p:grpSpPr>
          <a:xfrm>
            <a:off x="7618412" y="2514600"/>
            <a:ext cx="4191000" cy="3276600"/>
            <a:chOff x="684212" y="2590800"/>
            <a:chExt cx="4191000" cy="3276600"/>
          </a:xfrm>
        </p:grpSpPr>
        <p:grpSp>
          <p:nvGrpSpPr>
            <p:cNvPr id="13" name="Group 12"/>
            <p:cNvGrpSpPr/>
            <p:nvPr/>
          </p:nvGrpSpPr>
          <p:grpSpPr>
            <a:xfrm>
              <a:off x="684212" y="2590800"/>
              <a:ext cx="4191000" cy="3276600"/>
              <a:chOff x="1446212" y="2590800"/>
              <a:chExt cx="4191000" cy="3276600"/>
            </a:xfrm>
          </p:grpSpPr>
          <p:cxnSp>
            <p:nvCxnSpPr>
              <p:cNvPr id="26" name="Straight Connector 25"/>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1516889" y="2899501"/>
              <a:ext cx="2434499" cy="2434499"/>
              <a:chOff x="7317513" y="2899501"/>
              <a:chExt cx="2434499" cy="2434499"/>
            </a:xfrm>
          </p:grpSpPr>
          <p:sp>
            <p:nvSpPr>
              <p:cNvPr id="20" name="Oval 19"/>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2" name="Oval 21"/>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3" name="Oval 22"/>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4" name="Oval 23"/>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5" name="Oval 24"/>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8" name="Straight Arrow Connector 27"/>
          <p:cNvCxnSpPr/>
          <p:nvPr/>
        </p:nvCxnSpPr>
        <p:spPr>
          <a:xfrm flipH="1" flipV="1">
            <a:off x="9668338" y="4746375"/>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9653955" y="4487101"/>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9759442" y="4225065"/>
            <a:ext cx="298672" cy="1155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9808083" y="4368628"/>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Can 32"/>
          <p:cNvSpPr/>
          <p:nvPr/>
        </p:nvSpPr>
        <p:spPr>
          <a:xfrm>
            <a:off x="2208212" y="5181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Batch 5</a:t>
            </a:r>
            <a:endParaRPr lang="en-US" dirty="0"/>
          </a:p>
        </p:txBody>
      </p:sp>
      <p:sp>
        <p:nvSpPr>
          <p:cNvPr id="34" name="Can 33"/>
          <p:cNvSpPr/>
          <p:nvPr/>
        </p:nvSpPr>
        <p:spPr>
          <a:xfrm>
            <a:off x="2208212" y="4343400"/>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Batch 4</a:t>
            </a:r>
            <a:endParaRPr lang="en-US" dirty="0"/>
          </a:p>
        </p:txBody>
      </p:sp>
      <p:sp>
        <p:nvSpPr>
          <p:cNvPr id="35" name="Can 34"/>
          <p:cNvSpPr/>
          <p:nvPr/>
        </p:nvSpPr>
        <p:spPr>
          <a:xfrm>
            <a:off x="2208212" y="350520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Batch 3</a:t>
            </a:r>
            <a:endParaRPr lang="en-US" dirty="0"/>
          </a:p>
        </p:txBody>
      </p:sp>
      <p:sp>
        <p:nvSpPr>
          <p:cNvPr id="36" name="Can 35"/>
          <p:cNvSpPr/>
          <p:nvPr/>
        </p:nvSpPr>
        <p:spPr>
          <a:xfrm>
            <a:off x="2208212" y="26670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Batch 2</a:t>
            </a:r>
            <a:endParaRPr lang="en-US" dirty="0"/>
          </a:p>
        </p:txBody>
      </p:sp>
      <p:sp>
        <p:nvSpPr>
          <p:cNvPr id="37" name="Can 36"/>
          <p:cNvSpPr/>
          <p:nvPr/>
        </p:nvSpPr>
        <p:spPr>
          <a:xfrm>
            <a:off x="2208212" y="18288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Batch 1</a:t>
            </a:r>
            <a:endParaRPr lang="en-US" dirty="0"/>
          </a:p>
        </p:txBody>
      </p:sp>
    </p:spTree>
    <p:extLst>
      <p:ext uri="{BB962C8B-B14F-4D97-AF65-F5344CB8AC3E}">
        <p14:creationId xmlns:p14="http://schemas.microsoft.com/office/powerpoint/2010/main" val="12355517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Splitting data up into batches</a:t>
            </a:r>
            <a:endParaRPr lang="en-US" dirty="0"/>
          </a:p>
        </p:txBody>
      </p:sp>
      <p:sp>
        <p:nvSpPr>
          <p:cNvPr id="3" name="Left Brace 2"/>
          <p:cNvSpPr/>
          <p:nvPr/>
        </p:nvSpPr>
        <p:spPr>
          <a:xfrm flipH="1">
            <a:off x="5789612" y="5490865"/>
            <a:ext cx="381000" cy="762000"/>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6203848" y="5638800"/>
            <a:ext cx="1086259" cy="461665"/>
          </a:xfrm>
          <a:prstGeom prst="rect">
            <a:avLst/>
          </a:prstGeom>
          <a:noFill/>
        </p:spPr>
        <p:txBody>
          <a:bodyPr wrap="none" rtlCol="0">
            <a:spAutoFit/>
          </a:bodyPr>
          <a:lstStyle/>
          <a:p>
            <a:r>
              <a:rPr lang="en-US" sz="2400" dirty="0" smtClean="0">
                <a:solidFill>
                  <a:srgbClr val="FF0000"/>
                </a:solidFill>
              </a:rPr>
              <a:t>Step 5</a:t>
            </a:r>
            <a:endParaRPr lang="en-US" sz="2400" dirty="0">
              <a:solidFill>
                <a:srgbClr val="FF0000"/>
              </a:solidFill>
            </a:endParaRPr>
          </a:p>
        </p:txBody>
      </p:sp>
      <p:grpSp>
        <p:nvGrpSpPr>
          <p:cNvPr id="12" name="Group 11"/>
          <p:cNvGrpSpPr/>
          <p:nvPr/>
        </p:nvGrpSpPr>
        <p:grpSpPr>
          <a:xfrm>
            <a:off x="7618412" y="2514600"/>
            <a:ext cx="4191000" cy="3276600"/>
            <a:chOff x="684212" y="2590800"/>
            <a:chExt cx="4191000" cy="3276600"/>
          </a:xfrm>
        </p:grpSpPr>
        <p:grpSp>
          <p:nvGrpSpPr>
            <p:cNvPr id="13" name="Group 12"/>
            <p:cNvGrpSpPr/>
            <p:nvPr/>
          </p:nvGrpSpPr>
          <p:grpSpPr>
            <a:xfrm>
              <a:off x="684212" y="2590800"/>
              <a:ext cx="4191000" cy="3276600"/>
              <a:chOff x="1446212" y="2590800"/>
              <a:chExt cx="4191000" cy="3276600"/>
            </a:xfrm>
          </p:grpSpPr>
          <p:cxnSp>
            <p:nvCxnSpPr>
              <p:cNvPr id="26" name="Straight Connector 25"/>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1516889" y="2899501"/>
              <a:ext cx="2434499" cy="2434499"/>
              <a:chOff x="7317513" y="2899501"/>
              <a:chExt cx="2434499" cy="2434499"/>
            </a:xfrm>
          </p:grpSpPr>
          <p:sp>
            <p:nvSpPr>
              <p:cNvPr id="20" name="Oval 19"/>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2" name="Oval 21"/>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3" name="Oval 22"/>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4" name="Oval 23"/>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5" name="Oval 24"/>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8" name="Straight Arrow Connector 27"/>
          <p:cNvCxnSpPr/>
          <p:nvPr/>
        </p:nvCxnSpPr>
        <p:spPr>
          <a:xfrm flipH="1" flipV="1">
            <a:off x="9668338" y="4746375"/>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9653955" y="4487101"/>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9759442" y="4225065"/>
            <a:ext cx="298672" cy="1155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9808083" y="4368628"/>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endCxn id="24" idx="3"/>
          </p:cNvCxnSpPr>
          <p:nvPr/>
        </p:nvCxnSpPr>
        <p:spPr>
          <a:xfrm flipH="1" flipV="1">
            <a:off x="9492534" y="4216354"/>
            <a:ext cx="283752" cy="504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Can 32"/>
          <p:cNvSpPr/>
          <p:nvPr/>
        </p:nvSpPr>
        <p:spPr>
          <a:xfrm>
            <a:off x="2208212" y="5181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Batch 5</a:t>
            </a:r>
            <a:endParaRPr lang="en-US" dirty="0"/>
          </a:p>
        </p:txBody>
      </p:sp>
      <p:sp>
        <p:nvSpPr>
          <p:cNvPr id="34" name="Can 33"/>
          <p:cNvSpPr/>
          <p:nvPr/>
        </p:nvSpPr>
        <p:spPr>
          <a:xfrm>
            <a:off x="2208212" y="4343400"/>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Batch 4</a:t>
            </a:r>
            <a:endParaRPr lang="en-US" dirty="0"/>
          </a:p>
        </p:txBody>
      </p:sp>
      <p:sp>
        <p:nvSpPr>
          <p:cNvPr id="35" name="Can 34"/>
          <p:cNvSpPr/>
          <p:nvPr/>
        </p:nvSpPr>
        <p:spPr>
          <a:xfrm>
            <a:off x="2208212" y="350520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Batch 3</a:t>
            </a:r>
            <a:endParaRPr lang="en-US" dirty="0"/>
          </a:p>
        </p:txBody>
      </p:sp>
      <p:sp>
        <p:nvSpPr>
          <p:cNvPr id="36" name="Can 35"/>
          <p:cNvSpPr/>
          <p:nvPr/>
        </p:nvSpPr>
        <p:spPr>
          <a:xfrm>
            <a:off x="2208212" y="26670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Batch 2</a:t>
            </a:r>
            <a:endParaRPr lang="en-US" dirty="0"/>
          </a:p>
        </p:txBody>
      </p:sp>
      <p:sp>
        <p:nvSpPr>
          <p:cNvPr id="37" name="Can 36"/>
          <p:cNvSpPr/>
          <p:nvPr/>
        </p:nvSpPr>
        <p:spPr>
          <a:xfrm>
            <a:off x="2208212" y="18288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Batch 1</a:t>
            </a:r>
            <a:endParaRPr lang="en-US" dirty="0"/>
          </a:p>
        </p:txBody>
      </p:sp>
    </p:spTree>
    <p:extLst>
      <p:ext uri="{BB962C8B-B14F-4D97-AF65-F5344CB8AC3E}">
        <p14:creationId xmlns:p14="http://schemas.microsoft.com/office/powerpoint/2010/main" val="11864773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epoch completed</a:t>
            </a:r>
            <a:endParaRPr lang="en-US" dirty="0"/>
          </a:p>
        </p:txBody>
      </p:sp>
      <p:grpSp>
        <p:nvGrpSpPr>
          <p:cNvPr id="12" name="Group 11"/>
          <p:cNvGrpSpPr/>
          <p:nvPr/>
        </p:nvGrpSpPr>
        <p:grpSpPr>
          <a:xfrm>
            <a:off x="7618412" y="2514600"/>
            <a:ext cx="4191000" cy="3276600"/>
            <a:chOff x="684212" y="2590800"/>
            <a:chExt cx="4191000" cy="3276600"/>
          </a:xfrm>
        </p:grpSpPr>
        <p:grpSp>
          <p:nvGrpSpPr>
            <p:cNvPr id="13" name="Group 12"/>
            <p:cNvGrpSpPr/>
            <p:nvPr/>
          </p:nvGrpSpPr>
          <p:grpSpPr>
            <a:xfrm>
              <a:off x="684212" y="2590800"/>
              <a:ext cx="4191000" cy="3276600"/>
              <a:chOff x="1446212" y="2590800"/>
              <a:chExt cx="4191000" cy="3276600"/>
            </a:xfrm>
          </p:grpSpPr>
          <p:cxnSp>
            <p:nvCxnSpPr>
              <p:cNvPr id="26" name="Straight Connector 25"/>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1516889" y="2899501"/>
              <a:ext cx="2434499" cy="2434499"/>
              <a:chOff x="7317513" y="2899501"/>
              <a:chExt cx="2434499" cy="2434499"/>
            </a:xfrm>
          </p:grpSpPr>
          <p:sp>
            <p:nvSpPr>
              <p:cNvPr id="20" name="Oval 19"/>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2" name="Oval 21"/>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3" name="Oval 22"/>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4" name="Oval 23"/>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5" name="Oval 24"/>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8" name="Straight Arrow Connector 27"/>
          <p:cNvCxnSpPr/>
          <p:nvPr/>
        </p:nvCxnSpPr>
        <p:spPr>
          <a:xfrm flipH="1" flipV="1">
            <a:off x="9668338" y="4746375"/>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9653955" y="4487101"/>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9759442" y="4225065"/>
            <a:ext cx="298672" cy="1155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9808083" y="4368628"/>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endCxn id="24" idx="3"/>
          </p:cNvCxnSpPr>
          <p:nvPr/>
        </p:nvCxnSpPr>
        <p:spPr>
          <a:xfrm flipH="1" flipV="1">
            <a:off x="9492534" y="4216354"/>
            <a:ext cx="283752" cy="504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Can 32"/>
          <p:cNvSpPr/>
          <p:nvPr/>
        </p:nvSpPr>
        <p:spPr>
          <a:xfrm>
            <a:off x="2208212" y="5181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Batch 5</a:t>
            </a:r>
            <a:endParaRPr lang="en-US" dirty="0"/>
          </a:p>
        </p:txBody>
      </p:sp>
      <p:sp>
        <p:nvSpPr>
          <p:cNvPr id="34" name="Can 33"/>
          <p:cNvSpPr/>
          <p:nvPr/>
        </p:nvSpPr>
        <p:spPr>
          <a:xfrm>
            <a:off x="2208212" y="4343400"/>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Batch 4</a:t>
            </a:r>
            <a:endParaRPr lang="en-US" dirty="0"/>
          </a:p>
        </p:txBody>
      </p:sp>
      <p:sp>
        <p:nvSpPr>
          <p:cNvPr id="35" name="Can 34"/>
          <p:cNvSpPr/>
          <p:nvPr/>
        </p:nvSpPr>
        <p:spPr>
          <a:xfrm>
            <a:off x="2208212" y="350520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Batch 3</a:t>
            </a:r>
            <a:endParaRPr lang="en-US" dirty="0"/>
          </a:p>
        </p:txBody>
      </p:sp>
      <p:sp>
        <p:nvSpPr>
          <p:cNvPr id="36" name="Can 35"/>
          <p:cNvSpPr/>
          <p:nvPr/>
        </p:nvSpPr>
        <p:spPr>
          <a:xfrm>
            <a:off x="2208212" y="26670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Batch 2</a:t>
            </a:r>
            <a:endParaRPr lang="en-US" dirty="0"/>
          </a:p>
        </p:txBody>
      </p:sp>
      <p:sp>
        <p:nvSpPr>
          <p:cNvPr id="37" name="Can 36"/>
          <p:cNvSpPr/>
          <p:nvPr/>
        </p:nvSpPr>
        <p:spPr>
          <a:xfrm>
            <a:off x="2208212" y="18288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Batch 1</a:t>
            </a:r>
            <a:endParaRPr lang="en-US" dirty="0"/>
          </a:p>
        </p:txBody>
      </p:sp>
    </p:spTree>
    <p:extLst>
      <p:ext uri="{BB962C8B-B14F-4D97-AF65-F5344CB8AC3E}">
        <p14:creationId xmlns:p14="http://schemas.microsoft.com/office/powerpoint/2010/main" val="11713828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Shuffle the data!</a:t>
            </a:r>
            <a:endParaRPr lang="en-US" dirty="0"/>
          </a:p>
        </p:txBody>
      </p:sp>
      <p:sp>
        <p:nvSpPr>
          <p:cNvPr id="33" name="Can 32"/>
          <p:cNvSpPr/>
          <p:nvPr/>
        </p:nvSpPr>
        <p:spPr>
          <a:xfrm>
            <a:off x="7847012" y="5181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Can 33"/>
          <p:cNvSpPr/>
          <p:nvPr/>
        </p:nvSpPr>
        <p:spPr>
          <a:xfrm>
            <a:off x="7847012" y="4343400"/>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35" name="Can 34"/>
          <p:cNvSpPr/>
          <p:nvPr/>
        </p:nvSpPr>
        <p:spPr>
          <a:xfrm>
            <a:off x="7847012" y="350520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36" name="Can 35"/>
          <p:cNvSpPr/>
          <p:nvPr/>
        </p:nvSpPr>
        <p:spPr>
          <a:xfrm>
            <a:off x="7847012" y="26670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37" name="Can 36"/>
          <p:cNvSpPr/>
          <p:nvPr/>
        </p:nvSpPr>
        <p:spPr>
          <a:xfrm>
            <a:off x="7847012" y="18288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9" name="Can 38"/>
          <p:cNvSpPr/>
          <p:nvPr/>
        </p:nvSpPr>
        <p:spPr>
          <a:xfrm>
            <a:off x="7847012" y="2514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Can 40"/>
          <p:cNvSpPr/>
          <p:nvPr/>
        </p:nvSpPr>
        <p:spPr>
          <a:xfrm>
            <a:off x="7847012" y="2385219"/>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42" name="Can 41"/>
          <p:cNvSpPr/>
          <p:nvPr/>
        </p:nvSpPr>
        <p:spPr>
          <a:xfrm>
            <a:off x="7847012" y="31242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43" name="Can 42"/>
          <p:cNvSpPr/>
          <p:nvPr/>
        </p:nvSpPr>
        <p:spPr>
          <a:xfrm>
            <a:off x="7847012" y="2537619"/>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4" name="Can 43"/>
          <p:cNvSpPr/>
          <p:nvPr/>
        </p:nvSpPr>
        <p:spPr>
          <a:xfrm>
            <a:off x="7847012" y="18288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45" name="Can 44"/>
          <p:cNvSpPr/>
          <p:nvPr/>
        </p:nvSpPr>
        <p:spPr>
          <a:xfrm>
            <a:off x="7847012" y="4163219"/>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46" name="Can 45"/>
          <p:cNvSpPr/>
          <p:nvPr/>
        </p:nvSpPr>
        <p:spPr>
          <a:xfrm>
            <a:off x="7847012" y="3998119"/>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Can 46"/>
          <p:cNvSpPr/>
          <p:nvPr/>
        </p:nvSpPr>
        <p:spPr>
          <a:xfrm>
            <a:off x="7847012" y="3833019"/>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8" name="Can 47"/>
          <p:cNvSpPr/>
          <p:nvPr/>
        </p:nvSpPr>
        <p:spPr>
          <a:xfrm>
            <a:off x="7847012" y="351671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Batch 2</a:t>
            </a:r>
            <a:endParaRPr lang="en-US" dirty="0"/>
          </a:p>
        </p:txBody>
      </p:sp>
      <p:sp>
        <p:nvSpPr>
          <p:cNvPr id="49" name="Can 48"/>
          <p:cNvSpPr/>
          <p:nvPr/>
        </p:nvSpPr>
        <p:spPr>
          <a:xfrm>
            <a:off x="7847012" y="3158729"/>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0" name="Can 49"/>
          <p:cNvSpPr/>
          <p:nvPr/>
        </p:nvSpPr>
        <p:spPr>
          <a:xfrm>
            <a:off x="7847012" y="5202238"/>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53" name="Can 52"/>
          <p:cNvSpPr/>
          <p:nvPr/>
        </p:nvSpPr>
        <p:spPr>
          <a:xfrm>
            <a:off x="7847012" y="5026819"/>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4" name="Can 53"/>
          <p:cNvSpPr/>
          <p:nvPr/>
        </p:nvSpPr>
        <p:spPr>
          <a:xfrm>
            <a:off x="7847012" y="4705748"/>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Can 54"/>
          <p:cNvSpPr/>
          <p:nvPr/>
        </p:nvSpPr>
        <p:spPr>
          <a:xfrm>
            <a:off x="7847012" y="4472781"/>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56" name="Can 55"/>
          <p:cNvSpPr/>
          <p:nvPr/>
        </p:nvSpPr>
        <p:spPr>
          <a:xfrm>
            <a:off x="7847012" y="4289028"/>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57" name="Can 56"/>
          <p:cNvSpPr/>
          <p:nvPr/>
        </p:nvSpPr>
        <p:spPr>
          <a:xfrm>
            <a:off x="7847012" y="3976094"/>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9" name="Can 58"/>
          <p:cNvSpPr/>
          <p:nvPr/>
        </p:nvSpPr>
        <p:spPr>
          <a:xfrm>
            <a:off x="7847012" y="3526433"/>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60" name="Can 59"/>
          <p:cNvSpPr/>
          <p:nvPr/>
        </p:nvSpPr>
        <p:spPr>
          <a:xfrm>
            <a:off x="7847012" y="3291084"/>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61" name="Can 60"/>
          <p:cNvSpPr/>
          <p:nvPr/>
        </p:nvSpPr>
        <p:spPr>
          <a:xfrm>
            <a:off x="7847012" y="307221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62" name="Can 61"/>
          <p:cNvSpPr/>
          <p:nvPr/>
        </p:nvSpPr>
        <p:spPr>
          <a:xfrm>
            <a:off x="7847012" y="2675729"/>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Can 62"/>
          <p:cNvSpPr/>
          <p:nvPr/>
        </p:nvSpPr>
        <p:spPr>
          <a:xfrm>
            <a:off x="7847012" y="225941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64" name="Can 63"/>
          <p:cNvSpPr/>
          <p:nvPr/>
        </p:nvSpPr>
        <p:spPr>
          <a:xfrm>
            <a:off x="7847012" y="2053033"/>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67" name="Can 66"/>
          <p:cNvSpPr/>
          <p:nvPr/>
        </p:nvSpPr>
        <p:spPr>
          <a:xfrm>
            <a:off x="7847012" y="2152251"/>
            <a:ext cx="3048000" cy="738981"/>
          </a:xfrm>
          <a:prstGeom prst="can">
            <a:avLst>
              <a:gd name="adj" fmla="val 4278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68" name="Can 67"/>
          <p:cNvSpPr/>
          <p:nvPr/>
        </p:nvSpPr>
        <p:spPr>
          <a:xfrm>
            <a:off x="7847012" y="1816100"/>
            <a:ext cx="3048000" cy="824310"/>
          </a:xfrm>
          <a:prstGeom prst="can">
            <a:avLst>
              <a:gd name="adj" fmla="val 4308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69" name="Can 68"/>
          <p:cNvSpPr/>
          <p:nvPr/>
        </p:nvSpPr>
        <p:spPr>
          <a:xfrm>
            <a:off x="2208212" y="5181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Batch 5</a:t>
            </a:r>
            <a:endParaRPr lang="en-US" dirty="0"/>
          </a:p>
        </p:txBody>
      </p:sp>
      <p:sp>
        <p:nvSpPr>
          <p:cNvPr id="70" name="Can 69"/>
          <p:cNvSpPr/>
          <p:nvPr/>
        </p:nvSpPr>
        <p:spPr>
          <a:xfrm>
            <a:off x="2208212" y="4343400"/>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Batch 4</a:t>
            </a:r>
            <a:endParaRPr lang="en-US" dirty="0"/>
          </a:p>
        </p:txBody>
      </p:sp>
      <p:sp>
        <p:nvSpPr>
          <p:cNvPr id="71" name="Can 70"/>
          <p:cNvSpPr/>
          <p:nvPr/>
        </p:nvSpPr>
        <p:spPr>
          <a:xfrm>
            <a:off x="2208212" y="350520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Batch 3</a:t>
            </a:r>
            <a:endParaRPr lang="en-US" dirty="0"/>
          </a:p>
        </p:txBody>
      </p:sp>
      <p:sp>
        <p:nvSpPr>
          <p:cNvPr id="72" name="Can 71"/>
          <p:cNvSpPr/>
          <p:nvPr/>
        </p:nvSpPr>
        <p:spPr>
          <a:xfrm>
            <a:off x="2208212" y="26670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Batch 2</a:t>
            </a:r>
            <a:endParaRPr lang="en-US" dirty="0"/>
          </a:p>
        </p:txBody>
      </p:sp>
      <p:sp>
        <p:nvSpPr>
          <p:cNvPr id="73" name="Can 72"/>
          <p:cNvSpPr/>
          <p:nvPr/>
        </p:nvSpPr>
        <p:spPr>
          <a:xfrm>
            <a:off x="2208212" y="18288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Batch 1</a:t>
            </a:r>
            <a:endParaRPr lang="en-US" dirty="0"/>
          </a:p>
        </p:txBody>
      </p:sp>
      <p:cxnSp>
        <p:nvCxnSpPr>
          <p:cNvPr id="74" name="Straight Arrow Connector 73"/>
          <p:cNvCxnSpPr/>
          <p:nvPr/>
        </p:nvCxnSpPr>
        <p:spPr>
          <a:xfrm>
            <a:off x="5561012" y="4114800"/>
            <a:ext cx="1981200"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57283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 training</a:t>
            </a:r>
            <a:endParaRPr lang="en-US" dirty="0"/>
          </a:p>
        </p:txBody>
      </p:sp>
      <p:grpSp>
        <p:nvGrpSpPr>
          <p:cNvPr id="12" name="Group 11"/>
          <p:cNvGrpSpPr/>
          <p:nvPr/>
        </p:nvGrpSpPr>
        <p:grpSpPr>
          <a:xfrm>
            <a:off x="7618412" y="2514600"/>
            <a:ext cx="4191000" cy="3276600"/>
            <a:chOff x="684212" y="2590800"/>
            <a:chExt cx="4191000" cy="3276600"/>
          </a:xfrm>
        </p:grpSpPr>
        <p:grpSp>
          <p:nvGrpSpPr>
            <p:cNvPr id="13" name="Group 12"/>
            <p:cNvGrpSpPr/>
            <p:nvPr/>
          </p:nvGrpSpPr>
          <p:grpSpPr>
            <a:xfrm>
              <a:off x="684212" y="2590800"/>
              <a:ext cx="4191000" cy="3276600"/>
              <a:chOff x="1446212" y="2590800"/>
              <a:chExt cx="4191000" cy="3276600"/>
            </a:xfrm>
          </p:grpSpPr>
          <p:cxnSp>
            <p:nvCxnSpPr>
              <p:cNvPr id="26" name="Straight Connector 25"/>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1516889" y="2899501"/>
              <a:ext cx="2434499" cy="2434499"/>
              <a:chOff x="7317513" y="2899501"/>
              <a:chExt cx="2434499" cy="2434499"/>
            </a:xfrm>
          </p:grpSpPr>
          <p:sp>
            <p:nvSpPr>
              <p:cNvPr id="20" name="Oval 19"/>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2" name="Oval 21"/>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3" name="Oval 22"/>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4" name="Oval 23"/>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25" name="Oval 24"/>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28" name="Straight Arrow Connector 27"/>
          <p:cNvCxnSpPr/>
          <p:nvPr/>
        </p:nvCxnSpPr>
        <p:spPr>
          <a:xfrm flipH="1" flipV="1">
            <a:off x="9668338" y="4746375"/>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9653955" y="4487101"/>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9759442" y="4225065"/>
            <a:ext cx="298672" cy="1155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9808083" y="4368628"/>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endCxn id="24" idx="3"/>
          </p:cNvCxnSpPr>
          <p:nvPr/>
        </p:nvCxnSpPr>
        <p:spPr>
          <a:xfrm flipH="1" flipV="1">
            <a:off x="9492534" y="4216354"/>
            <a:ext cx="283752" cy="5040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Can 37"/>
          <p:cNvSpPr/>
          <p:nvPr/>
        </p:nvSpPr>
        <p:spPr>
          <a:xfrm>
            <a:off x="2208212" y="5181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Can 38"/>
          <p:cNvSpPr/>
          <p:nvPr/>
        </p:nvSpPr>
        <p:spPr>
          <a:xfrm>
            <a:off x="2208212" y="4343400"/>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40" name="Can 39"/>
          <p:cNvSpPr/>
          <p:nvPr/>
        </p:nvSpPr>
        <p:spPr>
          <a:xfrm>
            <a:off x="2208212" y="350520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1" name="Can 40"/>
          <p:cNvSpPr/>
          <p:nvPr/>
        </p:nvSpPr>
        <p:spPr>
          <a:xfrm>
            <a:off x="2208212" y="26670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42" name="Can 41"/>
          <p:cNvSpPr/>
          <p:nvPr/>
        </p:nvSpPr>
        <p:spPr>
          <a:xfrm>
            <a:off x="2208212" y="18288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43" name="Can 42"/>
          <p:cNvSpPr/>
          <p:nvPr/>
        </p:nvSpPr>
        <p:spPr>
          <a:xfrm>
            <a:off x="2208212" y="2514600"/>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Can 43"/>
          <p:cNvSpPr/>
          <p:nvPr/>
        </p:nvSpPr>
        <p:spPr>
          <a:xfrm>
            <a:off x="2208212" y="2385219"/>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45" name="Can 44"/>
          <p:cNvSpPr/>
          <p:nvPr/>
        </p:nvSpPr>
        <p:spPr>
          <a:xfrm>
            <a:off x="2208212" y="312420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46" name="Can 45"/>
          <p:cNvSpPr/>
          <p:nvPr/>
        </p:nvSpPr>
        <p:spPr>
          <a:xfrm>
            <a:off x="2208212" y="2537619"/>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7" name="Can 46"/>
          <p:cNvSpPr/>
          <p:nvPr/>
        </p:nvSpPr>
        <p:spPr>
          <a:xfrm>
            <a:off x="2208212" y="182880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48" name="Can 47"/>
          <p:cNvSpPr/>
          <p:nvPr/>
        </p:nvSpPr>
        <p:spPr>
          <a:xfrm>
            <a:off x="2208212" y="4163219"/>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49" name="Can 48"/>
          <p:cNvSpPr/>
          <p:nvPr/>
        </p:nvSpPr>
        <p:spPr>
          <a:xfrm>
            <a:off x="2208212" y="3998119"/>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Can 49"/>
          <p:cNvSpPr/>
          <p:nvPr/>
        </p:nvSpPr>
        <p:spPr>
          <a:xfrm>
            <a:off x="2208212" y="3833019"/>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51" name="Can 50"/>
          <p:cNvSpPr/>
          <p:nvPr/>
        </p:nvSpPr>
        <p:spPr>
          <a:xfrm>
            <a:off x="2208212" y="3516710"/>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Batch 2</a:t>
            </a:r>
            <a:endParaRPr lang="en-US" dirty="0"/>
          </a:p>
        </p:txBody>
      </p:sp>
      <p:sp>
        <p:nvSpPr>
          <p:cNvPr id="52" name="Can 51"/>
          <p:cNvSpPr/>
          <p:nvPr/>
        </p:nvSpPr>
        <p:spPr>
          <a:xfrm>
            <a:off x="2208212" y="3158729"/>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3" name="Can 52"/>
          <p:cNvSpPr/>
          <p:nvPr/>
        </p:nvSpPr>
        <p:spPr>
          <a:xfrm>
            <a:off x="2208212" y="5202238"/>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54" name="Can 53"/>
          <p:cNvSpPr/>
          <p:nvPr/>
        </p:nvSpPr>
        <p:spPr>
          <a:xfrm>
            <a:off x="2208212" y="5026819"/>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5" name="Can 54"/>
          <p:cNvSpPr/>
          <p:nvPr/>
        </p:nvSpPr>
        <p:spPr>
          <a:xfrm>
            <a:off x="2208212" y="4705748"/>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Can 55"/>
          <p:cNvSpPr/>
          <p:nvPr/>
        </p:nvSpPr>
        <p:spPr>
          <a:xfrm>
            <a:off x="2208212" y="4472781"/>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57" name="Can 56"/>
          <p:cNvSpPr/>
          <p:nvPr/>
        </p:nvSpPr>
        <p:spPr>
          <a:xfrm>
            <a:off x="2208212" y="4289028"/>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58" name="Can 57"/>
          <p:cNvSpPr/>
          <p:nvPr/>
        </p:nvSpPr>
        <p:spPr>
          <a:xfrm>
            <a:off x="2208212" y="3976094"/>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59" name="Can 58"/>
          <p:cNvSpPr/>
          <p:nvPr/>
        </p:nvSpPr>
        <p:spPr>
          <a:xfrm>
            <a:off x="2208212" y="3526433"/>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60" name="Can 59"/>
          <p:cNvSpPr/>
          <p:nvPr/>
        </p:nvSpPr>
        <p:spPr>
          <a:xfrm>
            <a:off x="2208212" y="3291084"/>
            <a:ext cx="3048000" cy="1219200"/>
          </a:xfrm>
          <a:prstGeom prst="can">
            <a:avLst>
              <a:gd name="adj" fmla="val 30758"/>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61" name="Can 60"/>
          <p:cNvSpPr/>
          <p:nvPr/>
        </p:nvSpPr>
        <p:spPr>
          <a:xfrm>
            <a:off x="2208212" y="3072210"/>
            <a:ext cx="3048000" cy="1219200"/>
          </a:xfrm>
          <a:prstGeom prst="can">
            <a:avLst>
              <a:gd name="adj" fmla="val 3075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62" name="Can 61"/>
          <p:cNvSpPr/>
          <p:nvPr/>
        </p:nvSpPr>
        <p:spPr>
          <a:xfrm>
            <a:off x="2208212" y="2675729"/>
            <a:ext cx="3048000" cy="1219200"/>
          </a:xfrm>
          <a:prstGeom prst="can">
            <a:avLst>
              <a:gd name="adj" fmla="val 307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Can 62"/>
          <p:cNvSpPr/>
          <p:nvPr/>
        </p:nvSpPr>
        <p:spPr>
          <a:xfrm>
            <a:off x="2208212" y="2259410"/>
            <a:ext cx="3048000" cy="1219200"/>
          </a:xfrm>
          <a:prstGeom prst="can">
            <a:avLst>
              <a:gd name="adj" fmla="val 30758"/>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64" name="Can 63"/>
          <p:cNvSpPr/>
          <p:nvPr/>
        </p:nvSpPr>
        <p:spPr>
          <a:xfrm>
            <a:off x="2208212" y="2053033"/>
            <a:ext cx="3048000" cy="1219200"/>
          </a:xfrm>
          <a:prstGeom prst="can">
            <a:avLst>
              <a:gd name="adj" fmla="val 30758"/>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65" name="Can 64"/>
          <p:cNvSpPr/>
          <p:nvPr/>
        </p:nvSpPr>
        <p:spPr>
          <a:xfrm>
            <a:off x="2208212" y="2152251"/>
            <a:ext cx="3048000" cy="738981"/>
          </a:xfrm>
          <a:prstGeom prst="can">
            <a:avLst>
              <a:gd name="adj" fmla="val 4278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66" name="Can 65"/>
          <p:cNvSpPr/>
          <p:nvPr/>
        </p:nvSpPr>
        <p:spPr>
          <a:xfrm>
            <a:off x="2208212" y="1816100"/>
            <a:ext cx="3048000" cy="824310"/>
          </a:xfrm>
          <a:prstGeom prst="can">
            <a:avLst>
              <a:gd name="adj" fmla="val 4308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67" name="Left Brace 66"/>
          <p:cNvSpPr/>
          <p:nvPr/>
        </p:nvSpPr>
        <p:spPr>
          <a:xfrm flipH="1">
            <a:off x="5789612" y="2057400"/>
            <a:ext cx="381000" cy="762000"/>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8" name="TextBox 67"/>
          <p:cNvSpPr txBox="1"/>
          <p:nvPr/>
        </p:nvSpPr>
        <p:spPr>
          <a:xfrm>
            <a:off x="6203848" y="2205335"/>
            <a:ext cx="1086259" cy="461665"/>
          </a:xfrm>
          <a:prstGeom prst="rect">
            <a:avLst/>
          </a:prstGeom>
          <a:noFill/>
        </p:spPr>
        <p:txBody>
          <a:bodyPr wrap="none" rtlCol="0">
            <a:spAutoFit/>
          </a:bodyPr>
          <a:lstStyle/>
          <a:p>
            <a:r>
              <a:rPr lang="en-US" sz="2400" dirty="0" smtClean="0">
                <a:solidFill>
                  <a:srgbClr val="FF0000"/>
                </a:solidFill>
              </a:rPr>
              <a:t>Step 6</a:t>
            </a:r>
            <a:endParaRPr lang="en-US" sz="2400" dirty="0">
              <a:solidFill>
                <a:srgbClr val="FF0000"/>
              </a:solidFill>
            </a:endParaRPr>
          </a:p>
        </p:txBody>
      </p:sp>
      <p:cxnSp>
        <p:nvCxnSpPr>
          <p:cNvPr id="69" name="Straight Arrow Connector 68"/>
          <p:cNvCxnSpPr/>
          <p:nvPr/>
        </p:nvCxnSpPr>
        <p:spPr>
          <a:xfrm flipV="1">
            <a:off x="9523412" y="4007778"/>
            <a:ext cx="158598" cy="18322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6932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Multi-class classification</a:t>
            </a:r>
            <a:endParaRPr lang="en-US" dirty="0"/>
          </a:p>
        </p:txBody>
      </p:sp>
    </p:spTree>
    <p:extLst>
      <p:ext uri="{BB962C8B-B14F-4D97-AF65-F5344CB8AC3E}">
        <p14:creationId xmlns:p14="http://schemas.microsoft.com/office/powerpoint/2010/main" val="945526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a:t>
            </a:r>
            <a:r>
              <a:rPr lang="en-US" dirty="0" smtClean="0"/>
              <a:t>ne-hot vectors</a:t>
            </a:r>
            <a:endParaRPr lang="en-US" dirty="0"/>
          </a:p>
        </p:txBody>
      </p:sp>
      <p:sp>
        <p:nvSpPr>
          <p:cNvPr id="3" name="Content Placeholder 2"/>
          <p:cNvSpPr>
            <a:spLocks noGrp="1"/>
          </p:cNvSpPr>
          <p:nvPr>
            <p:ph idx="1"/>
          </p:nvPr>
        </p:nvSpPr>
        <p:spPr>
          <a:xfrm>
            <a:off x="1593436" y="1600200"/>
            <a:ext cx="9782801" cy="1600200"/>
          </a:xfrm>
        </p:spPr>
        <p:txBody>
          <a:bodyPr/>
          <a:lstStyle/>
          <a:p>
            <a:r>
              <a:rPr lang="en-US" dirty="0" smtClean="0"/>
              <a:t>A vector that usually represents a single choice from among many options</a:t>
            </a:r>
          </a:p>
          <a:p>
            <a:r>
              <a:rPr lang="en-US" dirty="0" smtClean="0"/>
              <a:t>One entry is 1, the rest are 0</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2741612" y="3505200"/>
                <a:ext cx="1426609" cy="24416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mr-IN" sz="6000" i="1" smtClean="0">
                              <a:latin typeface="Cambria Math" panose="02040503050406030204" pitchFamily="18" charset="0"/>
                            </a:rPr>
                          </m:ctrlPr>
                        </m:dPr>
                        <m:e>
                          <m:m>
                            <m:mPr>
                              <m:mcs>
                                <m:mc>
                                  <m:mcPr>
                                    <m:count m:val="1"/>
                                    <m:mcJc m:val="center"/>
                                  </m:mcPr>
                                </m:mc>
                              </m:mcs>
                              <m:ctrlPr>
                                <a:rPr lang="mr-IN" sz="6000" i="1" smtClean="0">
                                  <a:latin typeface="Cambria Math" panose="02040503050406030204" pitchFamily="18" charset="0"/>
                                </a:rPr>
                              </m:ctrlPr>
                            </m:mPr>
                            <m:mr>
                              <m:e>
                                <m:r>
                                  <m:rPr>
                                    <m:brk m:alnAt="7"/>
                                  </m:rPr>
                                  <a:rPr lang="en-US" sz="6000" b="0" i="1" smtClean="0">
                                    <a:latin typeface="Cambria Math" charset="0"/>
                                  </a:rPr>
                                  <m:t>1</m:t>
                                </m:r>
                              </m:e>
                            </m:mr>
                            <m:mr>
                              <m:e>
                                <m:r>
                                  <a:rPr lang="en-US" sz="6000" b="0" i="1" smtClean="0">
                                    <a:latin typeface="Cambria Math" charset="0"/>
                                  </a:rPr>
                                  <m:t>0</m:t>
                                </m:r>
                              </m:e>
                            </m:mr>
                            <m:mr>
                              <m:e>
                                <m:r>
                                  <a:rPr lang="en-US" sz="6000" b="0" i="1" smtClean="0">
                                    <a:latin typeface="Cambria Math" charset="0"/>
                                  </a:rPr>
                                  <m:t>0</m:t>
                                </m:r>
                              </m:e>
                            </m:mr>
                          </m:m>
                        </m:e>
                      </m:d>
                    </m:oMath>
                  </m:oMathPara>
                </a14:m>
                <a:endParaRPr lang="en-US" sz="6000" dirty="0"/>
              </a:p>
            </p:txBody>
          </p:sp>
        </mc:Choice>
        <mc:Fallback xmlns="">
          <p:sp>
            <p:nvSpPr>
              <p:cNvPr id="4" name="TextBox 3"/>
              <p:cNvSpPr txBox="1">
                <a:spLocks noRot="1" noChangeAspect="1" noMove="1" noResize="1" noEditPoints="1" noAdjustHandles="1" noChangeArrowheads="1" noChangeShapeType="1" noTextEdit="1"/>
              </p:cNvSpPr>
              <p:nvPr/>
            </p:nvSpPr>
            <p:spPr>
              <a:xfrm>
                <a:off x="2741612" y="3505200"/>
                <a:ext cx="1426609" cy="2441694"/>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635624" y="3505200"/>
                <a:ext cx="1426608" cy="24416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mr-IN" sz="6000" i="1" smtClean="0">
                              <a:latin typeface="Cambria Math" panose="02040503050406030204" pitchFamily="18" charset="0"/>
                            </a:rPr>
                          </m:ctrlPr>
                        </m:dPr>
                        <m:e>
                          <m:m>
                            <m:mPr>
                              <m:mcs>
                                <m:mc>
                                  <m:mcPr>
                                    <m:count m:val="1"/>
                                    <m:mcJc m:val="center"/>
                                  </m:mcPr>
                                </m:mc>
                              </m:mcs>
                              <m:ctrlPr>
                                <a:rPr lang="mr-IN" sz="6000" i="1" smtClean="0">
                                  <a:latin typeface="Cambria Math" panose="02040503050406030204" pitchFamily="18" charset="0"/>
                                </a:rPr>
                              </m:ctrlPr>
                            </m:mPr>
                            <m:mr>
                              <m:e>
                                <m:r>
                                  <m:rPr>
                                    <m:brk m:alnAt="7"/>
                                  </m:rPr>
                                  <a:rPr lang="en-US" sz="6000" b="0" i="1" smtClean="0">
                                    <a:latin typeface="Cambria Math" charset="0"/>
                                  </a:rPr>
                                  <m:t>0</m:t>
                                </m:r>
                              </m:e>
                            </m:mr>
                            <m:mr>
                              <m:e>
                                <m:r>
                                  <a:rPr lang="en-US" sz="6000" b="0" i="1" smtClean="0">
                                    <a:latin typeface="Cambria Math" charset="0"/>
                                  </a:rPr>
                                  <m:t>1</m:t>
                                </m:r>
                              </m:e>
                            </m:mr>
                            <m:mr>
                              <m:e>
                                <m:r>
                                  <a:rPr lang="en-US" sz="6000" b="0" i="1" smtClean="0">
                                    <a:latin typeface="Cambria Math" charset="0"/>
                                  </a:rPr>
                                  <m:t>0</m:t>
                                </m:r>
                              </m:e>
                            </m:mr>
                          </m:m>
                        </m:e>
                      </m:d>
                    </m:oMath>
                  </m:oMathPara>
                </a14:m>
                <a:endParaRPr lang="en-US" sz="6000" dirty="0"/>
              </a:p>
            </p:txBody>
          </p:sp>
        </mc:Choice>
        <mc:Fallback xmlns="">
          <p:sp>
            <p:nvSpPr>
              <p:cNvPr id="5" name="TextBox 4"/>
              <p:cNvSpPr txBox="1">
                <a:spLocks noRot="1" noChangeAspect="1" noMove="1" noResize="1" noEditPoints="1" noAdjustHandles="1" noChangeArrowheads="1" noChangeShapeType="1" noTextEdit="1"/>
              </p:cNvSpPr>
              <p:nvPr/>
            </p:nvSpPr>
            <p:spPr>
              <a:xfrm>
                <a:off x="5635624" y="3505200"/>
                <a:ext cx="1426608" cy="2441694"/>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32812" y="3505200"/>
                <a:ext cx="1426608" cy="24356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mr-IN" sz="6000" i="1" smtClean="0">
                              <a:latin typeface="Cambria Math" panose="02040503050406030204" pitchFamily="18" charset="0"/>
                            </a:rPr>
                          </m:ctrlPr>
                        </m:dPr>
                        <m:e>
                          <m:m>
                            <m:mPr>
                              <m:mcs>
                                <m:mc>
                                  <m:mcPr>
                                    <m:count m:val="1"/>
                                    <m:mcJc m:val="center"/>
                                  </m:mcPr>
                                </m:mc>
                              </m:mcs>
                              <m:ctrlPr>
                                <a:rPr lang="mr-IN" sz="6000" i="1" smtClean="0">
                                  <a:latin typeface="Cambria Math" panose="02040503050406030204" pitchFamily="18" charset="0"/>
                                </a:rPr>
                              </m:ctrlPr>
                            </m:mPr>
                            <m:mr>
                              <m:e>
                                <m:r>
                                  <m:rPr>
                                    <m:brk m:alnAt="7"/>
                                  </m:rPr>
                                  <a:rPr lang="en-US" sz="6000" b="0" i="1" smtClean="0">
                                    <a:latin typeface="Cambria Math" charset="0"/>
                                  </a:rPr>
                                  <m:t>0</m:t>
                                </m:r>
                              </m:e>
                            </m:mr>
                            <m:mr>
                              <m:e>
                                <m:r>
                                  <a:rPr lang="en-US" sz="6000" b="0" i="1" smtClean="0">
                                    <a:latin typeface="Cambria Math" charset="0"/>
                                  </a:rPr>
                                  <m:t>0</m:t>
                                </m:r>
                              </m:e>
                            </m:mr>
                            <m:mr>
                              <m:e>
                                <m:r>
                                  <a:rPr lang="en-US" sz="6000" b="0" i="1" smtClean="0">
                                    <a:latin typeface="Cambria Math" charset="0"/>
                                  </a:rPr>
                                  <m:t>1</m:t>
                                </m:r>
                              </m:e>
                            </m:mr>
                          </m:m>
                        </m:e>
                      </m:d>
                    </m:oMath>
                  </m:oMathPara>
                </a14:m>
                <a:endParaRPr lang="en-US" sz="6000" dirty="0"/>
              </a:p>
            </p:txBody>
          </p:sp>
        </mc:Choice>
        <mc:Fallback xmlns="">
          <p:sp>
            <p:nvSpPr>
              <p:cNvPr id="6" name="TextBox 5"/>
              <p:cNvSpPr txBox="1">
                <a:spLocks noRot="1" noChangeAspect="1" noMove="1" noResize="1" noEditPoints="1" noAdjustHandles="1" noChangeArrowheads="1" noChangeShapeType="1" noTextEdit="1"/>
              </p:cNvSpPr>
              <p:nvPr/>
            </p:nvSpPr>
            <p:spPr>
              <a:xfrm>
                <a:off x="8532812" y="3505200"/>
                <a:ext cx="1426608" cy="2435667"/>
              </a:xfrm>
              <a:prstGeom prst="rect">
                <a:avLst/>
              </a:prstGeom>
              <a:blipFill rotWithShape="0">
                <a:blip r:embed="rId4"/>
                <a:stretch>
                  <a:fillRect/>
                </a:stretch>
              </a:blipFill>
            </p:spPr>
            <p:txBody>
              <a:bodyPr/>
              <a:lstStyle/>
              <a:p>
                <a:r>
                  <a:rPr lang="en-US">
                    <a:noFill/>
                  </a:rPr>
                  <a:t> </a:t>
                </a:r>
              </a:p>
            </p:txBody>
          </p:sp>
        </mc:Fallback>
      </mc:AlternateContent>
      <p:sp>
        <p:nvSpPr>
          <p:cNvPr id="7" name="TextBox 6"/>
          <p:cNvSpPr txBox="1"/>
          <p:nvPr/>
        </p:nvSpPr>
        <p:spPr>
          <a:xfrm>
            <a:off x="3046412" y="6096000"/>
            <a:ext cx="821250" cy="584775"/>
          </a:xfrm>
          <a:prstGeom prst="rect">
            <a:avLst/>
          </a:prstGeom>
          <a:noFill/>
        </p:spPr>
        <p:txBody>
          <a:bodyPr wrap="none" rtlCol="0">
            <a:spAutoFit/>
          </a:bodyPr>
          <a:lstStyle/>
          <a:p>
            <a:r>
              <a:rPr lang="en-US" sz="3200" dirty="0" smtClean="0"/>
              <a:t>Cat</a:t>
            </a:r>
            <a:endParaRPr lang="en-US" sz="3200" dirty="0"/>
          </a:p>
        </p:txBody>
      </p:sp>
      <p:sp>
        <p:nvSpPr>
          <p:cNvPr id="8" name="TextBox 7"/>
          <p:cNvSpPr txBox="1"/>
          <p:nvPr/>
        </p:nvSpPr>
        <p:spPr>
          <a:xfrm>
            <a:off x="5865812" y="6096000"/>
            <a:ext cx="933269" cy="584775"/>
          </a:xfrm>
          <a:prstGeom prst="rect">
            <a:avLst/>
          </a:prstGeom>
          <a:noFill/>
        </p:spPr>
        <p:txBody>
          <a:bodyPr wrap="none" rtlCol="0">
            <a:spAutoFit/>
          </a:bodyPr>
          <a:lstStyle/>
          <a:p>
            <a:r>
              <a:rPr lang="en-US" sz="3200" dirty="0" smtClean="0"/>
              <a:t>Dog</a:t>
            </a:r>
            <a:endParaRPr lang="en-US" sz="3200" dirty="0"/>
          </a:p>
        </p:txBody>
      </p:sp>
      <p:sp>
        <p:nvSpPr>
          <p:cNvPr id="9" name="TextBox 8"/>
          <p:cNvSpPr txBox="1"/>
          <p:nvPr/>
        </p:nvSpPr>
        <p:spPr>
          <a:xfrm>
            <a:off x="8472917" y="6096000"/>
            <a:ext cx="1583895" cy="584775"/>
          </a:xfrm>
          <a:prstGeom prst="rect">
            <a:avLst/>
          </a:prstGeom>
          <a:noFill/>
        </p:spPr>
        <p:txBody>
          <a:bodyPr wrap="none" rtlCol="0">
            <a:spAutoFit/>
          </a:bodyPr>
          <a:lstStyle/>
          <a:p>
            <a:r>
              <a:rPr lang="en-US" sz="3200" smtClean="0"/>
              <a:t>Toaster</a:t>
            </a:r>
            <a:endParaRPr lang="en-US" sz="3200" dirty="0"/>
          </a:p>
        </p:txBody>
      </p:sp>
    </p:spTree>
    <p:extLst>
      <p:ext uri="{BB962C8B-B14F-4D97-AF65-F5344CB8AC3E}">
        <p14:creationId xmlns:p14="http://schemas.microsoft.com/office/powerpoint/2010/main" val="1153368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Multi-class classification</a:t>
            </a:r>
            <a:endParaRPr lang="en-US" dirty="0"/>
          </a:p>
        </p:txBody>
      </p:sp>
      <p:sp>
        <p:nvSpPr>
          <p:cNvPr id="3" name="Content Placeholder 2"/>
          <p:cNvSpPr>
            <a:spLocks noGrp="1"/>
          </p:cNvSpPr>
          <p:nvPr>
            <p:ph idx="1"/>
          </p:nvPr>
        </p:nvSpPr>
        <p:spPr>
          <a:xfrm>
            <a:off x="1593436" y="1600200"/>
            <a:ext cx="10292176" cy="4572000"/>
          </a:xfrm>
        </p:spPr>
        <p:txBody>
          <a:bodyPr/>
          <a:lstStyle/>
          <a:p>
            <a:r>
              <a:rPr lang="en-US" dirty="0" smtClean="0"/>
              <a:t>Goal: We want our model to be able to predict from one of many discreet classes</a:t>
            </a:r>
          </a:p>
          <a:p>
            <a:pPr lvl="1"/>
            <a:r>
              <a:rPr lang="en-US" dirty="0" smtClean="0"/>
              <a:t>E.g., Cat, dog, toaster, etc.</a:t>
            </a:r>
          </a:p>
          <a:p>
            <a:pPr lvl="1"/>
            <a:endParaRPr lang="en-US" dirty="0"/>
          </a:p>
          <a:p>
            <a:r>
              <a:rPr lang="en-US" dirty="0" smtClean="0"/>
              <a:t>Idea: train model to output some sort of predictive vector</a:t>
            </a:r>
          </a:p>
          <a:p>
            <a:pPr lvl="1"/>
            <a:r>
              <a:rPr lang="en-US" dirty="0" smtClean="0"/>
              <a:t>Each entry in the vector corresponds to a single class’s score</a:t>
            </a:r>
          </a:p>
          <a:p>
            <a:endParaRPr lang="en-US" dirty="0"/>
          </a:p>
          <a:p>
            <a:r>
              <a:rPr lang="en-US" dirty="0" smtClean="0"/>
              <a:t>How?</a:t>
            </a:r>
          </a:p>
        </p:txBody>
      </p:sp>
    </p:spTree>
    <p:extLst>
      <p:ext uri="{BB962C8B-B14F-4D97-AF65-F5344CB8AC3E}">
        <p14:creationId xmlns:p14="http://schemas.microsoft.com/office/powerpoint/2010/main" val="3348219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Thought 1: Just use a regular vector</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93812" y="1600200"/>
                <a:ext cx="10439400" cy="4572000"/>
              </a:xfrm>
            </p:spPr>
            <p:txBody>
              <a:bodyPr>
                <a:normAutofit/>
              </a:bodyPr>
              <a:lstStyle/>
              <a:p>
                <a:r>
                  <a:rPr lang="en-US" sz="2400" dirty="0" smtClean="0"/>
                  <a:t>Create an output layer that has the same size as number of classes</a:t>
                </a:r>
              </a:p>
              <a:p>
                <a:pPr marL="342900" indent="-342900">
                  <a:buFont typeface="Arial" charset="0"/>
                  <a:buChar char="•"/>
                </a:pPr>
                <a:r>
                  <a:rPr lang="en-US" sz="2400" dirty="0" smtClean="0"/>
                  <a:t>Use the </a:t>
                </a:r>
                <a14:m>
                  <m:oMath xmlns:m="http://schemas.openxmlformats.org/officeDocument/2006/math">
                    <m:r>
                      <a:rPr lang="en-US" sz="2400" b="0" i="1" smtClean="0">
                        <a:latin typeface="Cambria Math" charset="0"/>
                      </a:rPr>
                      <m:t>𝑧</m:t>
                    </m:r>
                  </m:oMath>
                </a14:m>
                <a:r>
                  <a:rPr lang="en-US" sz="2400" dirty="0" smtClean="0"/>
                  <a:t> values (</a:t>
                </a:r>
                <a14:m>
                  <m:oMath xmlns:m="http://schemas.openxmlformats.org/officeDocument/2006/math">
                    <m:r>
                      <a:rPr lang="en-US" sz="2400" b="0" i="1" smtClean="0">
                        <a:latin typeface="Cambria Math" charset="0"/>
                      </a:rPr>
                      <m:t>𝑧</m:t>
                    </m:r>
                    <m:r>
                      <a:rPr lang="en-US" sz="2400" b="0" i="1" smtClean="0">
                        <a:latin typeface="Cambria Math" charset="0"/>
                      </a:rPr>
                      <m:t>=</m:t>
                    </m:r>
                    <m:r>
                      <a:rPr lang="en-US" sz="2400" b="0" i="1" smtClean="0">
                        <a:latin typeface="Cambria Math" charset="0"/>
                      </a:rPr>
                      <m:t>𝑎𝑊</m:t>
                    </m:r>
                    <m:r>
                      <a:rPr lang="en-US" sz="2400" b="0" i="1" smtClean="0">
                        <a:latin typeface="Cambria Math" charset="0"/>
                      </a:rPr>
                      <m:t>+</m:t>
                    </m:r>
                    <m:r>
                      <a:rPr lang="en-US" sz="2400" b="0" i="1" smtClean="0">
                        <a:latin typeface="Cambria Math" charset="0"/>
                      </a:rPr>
                      <m:t>𝑏</m:t>
                    </m:r>
                  </m:oMath>
                </a14:m>
                <a:r>
                  <a:rPr lang="en-US" sz="2400" dirty="0" smtClean="0"/>
                  <a:t>) for that layer as the score</a:t>
                </a:r>
              </a:p>
              <a:p>
                <a:endParaRPr lang="en-US" sz="2400" dirty="0"/>
              </a:p>
              <a:p>
                <a:r>
                  <a:rPr lang="en-US" sz="2400" dirty="0" smtClean="0"/>
                  <a:t>Problems:</a:t>
                </a:r>
                <a:endParaRPr lang="en-US" dirty="0"/>
              </a:p>
              <a:p>
                <a:pPr marL="342900" indent="-342900">
                  <a:buFont typeface="Arial" charset="0"/>
                  <a:buChar char="•"/>
                </a:pPr>
                <a:r>
                  <a:rPr lang="en-US" sz="2400" dirty="0" smtClean="0"/>
                  <a:t>Super high variance in output</a:t>
                </a:r>
              </a:p>
              <a:p>
                <a:pPr marL="342900" indent="-342900">
                  <a:buFont typeface="Arial" charset="0"/>
                  <a:buChar char="•"/>
                </a:pPr>
                <a:r>
                  <a:rPr lang="en-US" sz="2400" dirty="0" smtClean="0"/>
                  <a:t>Loss function isn’t clean </a:t>
                </a:r>
              </a:p>
              <a:p>
                <a:pPr lvl="1"/>
                <a:r>
                  <a:rPr lang="en-US" sz="2000" dirty="0" smtClean="0"/>
                  <a:t>The label vector is 1 at the index corresponding to the correct class, 0 elsewhere</a:t>
                </a:r>
              </a:p>
              <a:p>
                <a:pPr lvl="1"/>
                <a:r>
                  <a:rPr lang="en-US" sz="2000" dirty="0" smtClean="0"/>
                  <a:t>How to relate binary data {0, 1} to continuous values from </a:t>
                </a:r>
                <a14:m>
                  <m:oMath xmlns:m="http://schemas.openxmlformats.org/officeDocument/2006/math">
                    <m:d>
                      <m:dPr>
                        <m:ctrlPr>
                          <a:rPr lang="mr-IN" sz="2000" i="1" smtClean="0">
                            <a:latin typeface="Cambria Math" panose="02040503050406030204" pitchFamily="18" charset="0"/>
                          </a:rPr>
                        </m:ctrlPr>
                      </m:dPr>
                      <m:e>
                        <m:r>
                          <a:rPr lang="en-US" sz="2000" b="0" i="1" smtClean="0">
                            <a:latin typeface="Cambria Math" charset="0"/>
                          </a:rPr>
                          <m:t>−</m:t>
                        </m:r>
                        <m:r>
                          <a:rPr lang="en-US" sz="2000" b="0" i="1" smtClean="0">
                            <a:latin typeface="Cambria Math" charset="0"/>
                            <a:ea typeface="Cambria Math" charset="0"/>
                            <a:cs typeface="Cambria Math" charset="0"/>
                          </a:rPr>
                          <m:t>∞,∞</m:t>
                        </m:r>
                      </m:e>
                    </m:d>
                  </m:oMath>
                </a14:m>
                <a:r>
                  <a:rPr lang="en-US" sz="2400" dirty="0" smtClean="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93812" y="1600200"/>
                <a:ext cx="10439400" cy="4572000"/>
              </a:xfrm>
              <a:blipFill rotWithShape="0">
                <a:blip r:embed="rId3"/>
                <a:stretch>
                  <a:fillRect l="-876" t="-1867" r="-117"/>
                </a:stretch>
              </a:blipFill>
            </p:spPr>
            <p:txBody>
              <a:bodyPr/>
              <a:lstStyle/>
              <a:p>
                <a:r>
                  <a:rPr lang="en-US">
                    <a:noFill/>
                  </a:rPr>
                  <a:t> </a:t>
                </a:r>
              </a:p>
            </p:txBody>
          </p:sp>
        </mc:Fallback>
      </mc:AlternateContent>
    </p:spTree>
    <p:extLst>
      <p:ext uri="{BB962C8B-B14F-4D97-AF65-F5344CB8AC3E}">
        <p14:creationId xmlns:p14="http://schemas.microsoft.com/office/powerpoint/2010/main" val="8513190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better way: </a:t>
            </a:r>
            <a:r>
              <a:rPr lang="en-US" dirty="0" err="1" smtClean="0"/>
              <a:t>Softmax</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93812" y="3505200"/>
                <a:ext cx="10439400" cy="3352800"/>
              </a:xfrm>
            </p:spPr>
            <p:txBody>
              <a:bodyPr>
                <a:normAutofit/>
              </a:bodyPr>
              <a:lstStyle/>
              <a:p>
                <a:r>
                  <a:rPr lang="en-US" dirty="0" smtClean="0"/>
                  <a:t>Converts </a:t>
                </a:r>
                <a14:m>
                  <m:oMath xmlns:m="http://schemas.openxmlformats.org/officeDocument/2006/math">
                    <m:r>
                      <a:rPr lang="en-US" i="1">
                        <a:latin typeface="Cambria Math" charset="0"/>
                      </a:rPr>
                      <m:t>𝑧</m:t>
                    </m:r>
                  </m:oMath>
                </a14:m>
                <a:r>
                  <a:rPr lang="en-US" dirty="0" smtClean="0"/>
                  <a:t> to a probability vector</a:t>
                </a:r>
              </a:p>
              <a:p>
                <a:pPr lvl="1"/>
                <a:r>
                  <a:rPr lang="en-US" dirty="0" smtClean="0"/>
                  <a:t>Each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𝑧</m:t>
                        </m:r>
                      </m:e>
                      <m:sub>
                        <m:r>
                          <a:rPr lang="en-US" i="1">
                            <a:latin typeface="Cambria Math" charset="0"/>
                          </a:rPr>
                          <m:t>𝑖</m:t>
                        </m:r>
                      </m:sub>
                    </m:sSub>
                  </m:oMath>
                </a14:m>
                <a:r>
                  <a:rPr lang="en-US" dirty="0" smtClean="0"/>
                  <a:t> is </a:t>
                </a:r>
                <a:r>
                  <a:rPr lang="en-US" dirty="0"/>
                  <a:t>mapped to {0, 1}</a:t>
                </a:r>
                <a:endParaRPr lang="en-US" dirty="0" smtClean="0"/>
              </a:p>
              <a:p>
                <a:pPr lvl="1"/>
                <a:r>
                  <a:rPr lang="en-US" dirty="0"/>
                  <a:t>S</a:t>
                </a:r>
                <a:r>
                  <a:rPr lang="en-US" dirty="0" smtClean="0"/>
                  <a:t>um of </a:t>
                </a:r>
                <a:r>
                  <a:rPr lang="en-US" dirty="0" err="1" smtClean="0"/>
                  <a:t>softmaxes</a:t>
                </a:r>
                <a:r>
                  <a:rPr lang="en-US" dirty="0" smtClean="0"/>
                  <a:t> is equal to 1</a:t>
                </a:r>
              </a:p>
              <a:p>
                <a:pPr lvl="1"/>
                <a:r>
                  <a:rPr lang="en-US" dirty="0" smtClean="0"/>
                  <a:t>We call </a:t>
                </a:r>
                <a14:m>
                  <m:oMath xmlns:m="http://schemas.openxmlformats.org/officeDocument/2006/math">
                    <m:r>
                      <a:rPr lang="en-US" b="0" i="1" smtClean="0">
                        <a:latin typeface="Cambria Math" charset="0"/>
                      </a:rPr>
                      <m:t>𝑧</m:t>
                    </m:r>
                  </m:oMath>
                </a14:m>
                <a:r>
                  <a:rPr lang="en-US" dirty="0" smtClean="0"/>
                  <a:t> </a:t>
                </a:r>
                <a:r>
                  <a:rPr lang="en-US" i="1" dirty="0" smtClean="0"/>
                  <a:t>logits</a:t>
                </a:r>
              </a:p>
              <a:p>
                <a:r>
                  <a:rPr lang="en-US" dirty="0" smtClean="0"/>
                  <a:t>Can compare directly with our labels vector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93812" y="3505200"/>
                <a:ext cx="10439400" cy="3352800"/>
              </a:xfrm>
              <a:blipFill rotWithShape="0">
                <a:blip r:embed="rId3"/>
                <a:stretch>
                  <a:fillRect l="-1168" t="-3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046412" y="1817212"/>
                <a:ext cx="5640198" cy="13392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charset="0"/>
                        </a:rPr>
                        <m:t>𝑠𝑜𝑓𝑡𝑚𝑎𝑥</m:t>
                      </m:r>
                      <m:r>
                        <a:rPr lang="en-US" sz="4000" b="0" i="1" smtClean="0">
                          <a:latin typeface="Cambria Math" charset="0"/>
                        </a:rPr>
                        <m:t>(</m:t>
                      </m:r>
                      <m:sSub>
                        <m:sSubPr>
                          <m:ctrlPr>
                            <a:rPr lang="en-US" sz="4000" b="0" i="1" smtClean="0">
                              <a:latin typeface="Cambria Math" panose="02040503050406030204" pitchFamily="18" charset="0"/>
                            </a:rPr>
                          </m:ctrlPr>
                        </m:sSubPr>
                        <m:e>
                          <m:r>
                            <a:rPr lang="en-US" sz="4000" b="0" i="1" smtClean="0">
                              <a:latin typeface="Cambria Math" charset="0"/>
                            </a:rPr>
                            <m:t>𝑧</m:t>
                          </m:r>
                        </m:e>
                        <m:sub>
                          <m:r>
                            <a:rPr lang="en-US" sz="4000" b="0" i="1" smtClean="0">
                              <a:latin typeface="Cambria Math" charset="0"/>
                            </a:rPr>
                            <m:t>𝑖</m:t>
                          </m:r>
                        </m:sub>
                      </m:sSub>
                      <m:r>
                        <a:rPr lang="en-US" sz="4000" b="0" i="1" smtClean="0">
                          <a:latin typeface="Cambria Math" charset="0"/>
                        </a:rPr>
                        <m:t>)=</m:t>
                      </m:r>
                      <m:f>
                        <m:fPr>
                          <m:ctrlPr>
                            <a:rPr lang="mr-IN" sz="4000" b="0" i="1" smtClean="0">
                              <a:latin typeface="Cambria Math" panose="02040503050406030204" pitchFamily="18" charset="0"/>
                            </a:rPr>
                          </m:ctrlPr>
                        </m:fPr>
                        <m:num>
                          <m:sSup>
                            <m:sSupPr>
                              <m:ctrlPr>
                                <a:rPr lang="en-US" sz="4000" b="0" i="1" smtClean="0">
                                  <a:latin typeface="Cambria Math" panose="02040503050406030204" pitchFamily="18" charset="0"/>
                                </a:rPr>
                              </m:ctrlPr>
                            </m:sSupPr>
                            <m:e>
                              <m:r>
                                <a:rPr lang="en-US" sz="4000" b="0" i="1" smtClean="0">
                                  <a:latin typeface="Cambria Math" charset="0"/>
                                </a:rPr>
                                <m:t>𝑒</m:t>
                              </m:r>
                            </m:e>
                            <m:sup>
                              <m:sSub>
                                <m:sSubPr>
                                  <m:ctrlPr>
                                    <a:rPr lang="en-US" sz="4000" b="0" i="1" smtClean="0">
                                      <a:latin typeface="Cambria Math" panose="02040503050406030204" pitchFamily="18" charset="0"/>
                                    </a:rPr>
                                  </m:ctrlPr>
                                </m:sSubPr>
                                <m:e>
                                  <m:r>
                                    <a:rPr lang="en-US" sz="4000" b="0" i="1" smtClean="0">
                                      <a:latin typeface="Cambria Math" charset="0"/>
                                    </a:rPr>
                                    <m:t>𝑧</m:t>
                                  </m:r>
                                </m:e>
                                <m:sub>
                                  <m:r>
                                    <a:rPr lang="en-US" sz="4000" b="0" i="1" smtClean="0">
                                      <a:latin typeface="Cambria Math" charset="0"/>
                                    </a:rPr>
                                    <m:t>𝑖</m:t>
                                  </m:r>
                                </m:sub>
                              </m:sSub>
                            </m:sup>
                          </m:sSup>
                        </m:num>
                        <m:den>
                          <m:nary>
                            <m:naryPr>
                              <m:chr m:val="∑"/>
                              <m:ctrlPr>
                                <a:rPr lang="is-IS" sz="4000" b="0" i="1" smtClean="0">
                                  <a:latin typeface="Cambria Math" panose="02040503050406030204" pitchFamily="18" charset="0"/>
                                </a:rPr>
                              </m:ctrlPr>
                            </m:naryPr>
                            <m:sub>
                              <m:r>
                                <m:rPr>
                                  <m:brk m:alnAt="23"/>
                                </m:rPr>
                                <a:rPr lang="en-US" sz="4000" b="0" i="1" smtClean="0">
                                  <a:latin typeface="Cambria Math" charset="0"/>
                                </a:rPr>
                                <m:t>𝑘</m:t>
                              </m:r>
                              <m:r>
                                <a:rPr lang="en-US" sz="4000" b="0" i="1" smtClean="0">
                                  <a:latin typeface="Cambria Math" charset="0"/>
                                </a:rPr>
                                <m:t>=1</m:t>
                              </m:r>
                            </m:sub>
                            <m:sup>
                              <m:r>
                                <a:rPr lang="en-US" sz="4000" b="0" i="1" smtClean="0">
                                  <a:latin typeface="Cambria Math" charset="0"/>
                                </a:rPr>
                                <m:t>𝐾</m:t>
                              </m:r>
                            </m:sup>
                            <m:e>
                              <m:sSup>
                                <m:sSupPr>
                                  <m:ctrlPr>
                                    <a:rPr lang="en-US" sz="4000" b="0" i="1" smtClean="0">
                                      <a:latin typeface="Cambria Math" panose="02040503050406030204" pitchFamily="18" charset="0"/>
                                    </a:rPr>
                                  </m:ctrlPr>
                                </m:sSupPr>
                                <m:e>
                                  <m:r>
                                    <a:rPr lang="en-US" sz="4000" b="0" i="1" smtClean="0">
                                      <a:latin typeface="Cambria Math" charset="0"/>
                                    </a:rPr>
                                    <m:t>𝑒</m:t>
                                  </m:r>
                                </m:e>
                                <m:sup>
                                  <m:sSub>
                                    <m:sSubPr>
                                      <m:ctrlPr>
                                        <a:rPr lang="en-US" sz="4000" b="0" i="1" smtClean="0">
                                          <a:latin typeface="Cambria Math" panose="02040503050406030204" pitchFamily="18" charset="0"/>
                                        </a:rPr>
                                      </m:ctrlPr>
                                    </m:sSubPr>
                                    <m:e>
                                      <m:r>
                                        <a:rPr lang="en-US" sz="4000" b="0" i="1" smtClean="0">
                                          <a:latin typeface="Cambria Math" charset="0"/>
                                        </a:rPr>
                                        <m:t>𝑧</m:t>
                                      </m:r>
                                    </m:e>
                                    <m:sub>
                                      <m:r>
                                        <a:rPr lang="en-US" sz="4000" b="0" i="1" smtClean="0">
                                          <a:latin typeface="Cambria Math" charset="0"/>
                                        </a:rPr>
                                        <m:t>𝑘</m:t>
                                      </m:r>
                                    </m:sub>
                                  </m:sSub>
                                </m:sup>
                              </m:sSup>
                            </m:e>
                          </m:nary>
                        </m:den>
                      </m:f>
                    </m:oMath>
                  </m:oMathPara>
                </a14:m>
                <a:endParaRPr lang="en-US" sz="4000" dirty="0"/>
              </a:p>
            </p:txBody>
          </p:sp>
        </mc:Choice>
        <mc:Fallback xmlns="">
          <p:sp>
            <p:nvSpPr>
              <p:cNvPr id="5" name="TextBox 4"/>
              <p:cNvSpPr txBox="1">
                <a:spLocks noRot="1" noChangeAspect="1" noMove="1" noResize="1" noEditPoints="1" noAdjustHandles="1" noChangeArrowheads="1" noChangeShapeType="1" noTextEdit="1"/>
              </p:cNvSpPr>
              <p:nvPr/>
            </p:nvSpPr>
            <p:spPr>
              <a:xfrm>
                <a:off x="3046412" y="1817212"/>
                <a:ext cx="5640198" cy="1339213"/>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763362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Loss function: Cross entropy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3436" y="3810000"/>
                <a:ext cx="9782801" cy="2362200"/>
              </a:xfrm>
            </p:spPr>
            <p:txBody>
              <a:bodyPr>
                <a:normAutofit/>
              </a:bodyPr>
              <a:lstStyle/>
              <a:p>
                <a:r>
                  <a:rPr lang="en-US" dirty="0" smtClean="0"/>
                  <a:t>Taken from information theory</a:t>
                </a:r>
              </a:p>
              <a:p>
                <a:pPr marL="457200" indent="-457200">
                  <a:buFont typeface="Arial" charset="0"/>
                  <a:buChar char="•"/>
                </a:pPr>
                <a:r>
                  <a:rPr lang="en-US" dirty="0" smtClean="0"/>
                  <a:t>Is high when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rPr>
                              <m:t>𝑦</m:t>
                            </m:r>
                          </m:e>
                        </m:acc>
                      </m:e>
                      <m:sub>
                        <m:r>
                          <a:rPr lang="en-US" i="1">
                            <a:latin typeface="Cambria Math" charset="0"/>
                          </a:rPr>
                          <m:t>𝑖</m:t>
                        </m:r>
                      </m:sub>
                    </m:sSub>
                  </m:oMath>
                </a14:m>
                <a:r>
                  <a:rPr lang="en-US" dirty="0" smtClean="0"/>
                  <a:t> and </a:t>
                </a:r>
                <a14:m>
                  <m:oMath xmlns:m="http://schemas.openxmlformats.org/officeDocument/2006/math">
                    <m:sSub>
                      <m:sSubPr>
                        <m:ctrlPr>
                          <a:rPr lang="en-US" i="1">
                            <a:latin typeface="Cambria Math" panose="02040503050406030204" pitchFamily="18" charset="0"/>
                          </a:rPr>
                        </m:ctrlPr>
                      </m:sSubPr>
                      <m:e>
                        <m:r>
                          <a:rPr lang="en-US" i="1">
                            <a:latin typeface="Cambria Math" charset="0"/>
                          </a:rPr>
                          <m:t>𝑦</m:t>
                        </m:r>
                      </m:e>
                      <m:sub>
                        <m:r>
                          <a:rPr lang="en-US" i="1">
                            <a:latin typeface="Cambria Math" charset="0"/>
                          </a:rPr>
                          <m:t>𝑖</m:t>
                        </m:r>
                      </m:sub>
                    </m:sSub>
                  </m:oMath>
                </a14:m>
                <a:r>
                  <a:rPr lang="en-US" dirty="0" smtClean="0"/>
                  <a:t> are different</a:t>
                </a:r>
              </a:p>
              <a:p>
                <a:pPr marL="457200" indent="-457200">
                  <a:buFont typeface="Arial" charset="0"/>
                  <a:buChar char="•"/>
                </a:pPr>
                <a:r>
                  <a:rPr lang="en-US" dirty="0" smtClean="0"/>
                  <a:t>Is low when they are similar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3436" y="3810000"/>
                <a:ext cx="9782801" cy="2362200"/>
              </a:xfrm>
              <a:blipFill rotWithShape="0">
                <a:blip r:embed="rId3"/>
                <a:stretch>
                  <a:fillRect l="-1246" t="-4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741612" y="1828800"/>
                <a:ext cx="5235151" cy="16802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charset="0"/>
                        </a:rPr>
                        <m:t>𝐶</m:t>
                      </m:r>
                      <m:r>
                        <a:rPr lang="en-US" sz="4000" b="0" i="1" smtClean="0">
                          <a:latin typeface="Cambria Math" charset="0"/>
                        </a:rPr>
                        <m:t>.</m:t>
                      </m:r>
                      <m:r>
                        <a:rPr lang="en-US" sz="4000" b="0" i="1" smtClean="0">
                          <a:latin typeface="Cambria Math" charset="0"/>
                        </a:rPr>
                        <m:t>𝐸</m:t>
                      </m:r>
                      <m:r>
                        <a:rPr lang="en-US" sz="4000" b="0" i="1" smtClean="0">
                          <a:latin typeface="Cambria Math" charset="0"/>
                        </a:rPr>
                        <m:t>.=−</m:t>
                      </m:r>
                      <m:nary>
                        <m:naryPr>
                          <m:chr m:val="∑"/>
                          <m:ctrlPr>
                            <a:rPr lang="is-IS" sz="4000" b="0" i="1" smtClean="0">
                              <a:latin typeface="Cambria Math" panose="02040503050406030204" pitchFamily="18" charset="0"/>
                            </a:rPr>
                          </m:ctrlPr>
                        </m:naryPr>
                        <m:sub>
                          <m:r>
                            <m:rPr>
                              <m:brk m:alnAt="23"/>
                            </m:rPr>
                            <a:rPr lang="en-US" sz="4000" b="0" i="1" smtClean="0">
                              <a:latin typeface="Cambria Math" charset="0"/>
                            </a:rPr>
                            <m:t>𝑖</m:t>
                          </m:r>
                          <m:r>
                            <a:rPr lang="en-US" sz="4000" b="0" i="1" smtClean="0">
                              <a:latin typeface="Cambria Math" charset="0"/>
                            </a:rPr>
                            <m:t>=1</m:t>
                          </m:r>
                        </m:sub>
                        <m:sup>
                          <m:r>
                            <a:rPr lang="en-US" sz="4000" b="0" i="1" smtClean="0">
                              <a:latin typeface="Cambria Math" charset="0"/>
                            </a:rPr>
                            <m:t>𝑛</m:t>
                          </m:r>
                        </m:sup>
                        <m:e>
                          <m:sSub>
                            <m:sSubPr>
                              <m:ctrlPr>
                                <a:rPr lang="en-US" sz="4000" i="1">
                                  <a:latin typeface="Cambria Math" panose="02040503050406030204" pitchFamily="18" charset="0"/>
                                </a:rPr>
                              </m:ctrlPr>
                            </m:sSubPr>
                            <m:e>
                              <m:r>
                                <a:rPr lang="en-US" sz="4000" b="0" i="1" smtClean="0">
                                  <a:latin typeface="Cambria Math" charset="0"/>
                                </a:rPr>
                                <m:t>𝑦</m:t>
                              </m:r>
                            </m:e>
                            <m:sub>
                              <m:r>
                                <a:rPr lang="en-US" sz="4000" i="1">
                                  <a:latin typeface="Cambria Math" charset="0"/>
                                </a:rPr>
                                <m:t>𝑖</m:t>
                              </m:r>
                            </m:sub>
                          </m:sSub>
                          <m:r>
                            <m:rPr>
                              <m:sty m:val="p"/>
                            </m:rPr>
                            <a:rPr lang="en-US" sz="4000" b="0" i="0" smtClean="0">
                              <a:latin typeface="Cambria Math" charset="0"/>
                            </a:rPr>
                            <m:t>log</m:t>
                          </m:r>
                          <m:r>
                            <a:rPr lang="en-US" sz="4000" b="0" i="1" smtClean="0">
                              <a:latin typeface="Cambria Math" charset="0"/>
                            </a:rPr>
                            <m:t>⁡(</m:t>
                          </m:r>
                          <m:sSub>
                            <m:sSubPr>
                              <m:ctrlPr>
                                <a:rPr lang="en-US" sz="4000" b="0" i="1" smtClean="0">
                                  <a:latin typeface="Cambria Math" panose="02040503050406030204" pitchFamily="18" charset="0"/>
                                </a:rPr>
                              </m:ctrlPr>
                            </m:sSubPr>
                            <m:e>
                              <m:acc>
                                <m:accPr>
                                  <m:chr m:val="̂"/>
                                  <m:ctrlPr>
                                    <a:rPr lang="en-US" sz="4000" b="0" i="1" smtClean="0">
                                      <a:latin typeface="Cambria Math" panose="02040503050406030204" pitchFamily="18" charset="0"/>
                                    </a:rPr>
                                  </m:ctrlPr>
                                </m:accPr>
                                <m:e>
                                  <m:r>
                                    <a:rPr lang="en-US" sz="4000" b="0" i="1" smtClean="0">
                                      <a:latin typeface="Cambria Math" charset="0"/>
                                    </a:rPr>
                                    <m:t>𝑦</m:t>
                                  </m:r>
                                </m:e>
                              </m:acc>
                            </m:e>
                            <m:sub>
                              <m:r>
                                <a:rPr lang="en-US" sz="4000" b="0" i="1" smtClean="0">
                                  <a:latin typeface="Cambria Math" charset="0"/>
                                </a:rPr>
                                <m:t>𝑖</m:t>
                              </m:r>
                            </m:sub>
                          </m:sSub>
                          <m:r>
                            <a:rPr lang="en-US" sz="4000" b="0" i="1" smtClean="0">
                              <a:latin typeface="Cambria Math" charset="0"/>
                            </a:rPr>
                            <m:t>)</m:t>
                          </m:r>
                        </m:e>
                      </m:nary>
                    </m:oMath>
                  </m:oMathPara>
                </a14:m>
                <a:endParaRPr lang="en-US" sz="4000" dirty="0"/>
              </a:p>
            </p:txBody>
          </p:sp>
        </mc:Choice>
        <mc:Fallback xmlns="">
          <p:sp>
            <p:nvSpPr>
              <p:cNvPr id="4" name="TextBox 3"/>
              <p:cNvSpPr txBox="1">
                <a:spLocks noRot="1" noChangeAspect="1" noMove="1" noResize="1" noEditPoints="1" noAdjustHandles="1" noChangeArrowheads="1" noChangeShapeType="1" noTextEdit="1"/>
              </p:cNvSpPr>
              <p:nvPr/>
            </p:nvSpPr>
            <p:spPr>
              <a:xfrm>
                <a:off x="2741612" y="1828800"/>
                <a:ext cx="5235151" cy="1680268"/>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231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Derivative of cross-entropy with </a:t>
            </a:r>
            <a:r>
              <a:rPr lang="en-US" dirty="0" err="1" smtClean="0"/>
              <a:t>softmax</a:t>
            </a:r>
            <a:r>
              <a:rPr lang="en-US" dirty="0" smtClean="0"/>
              <a:t> input</a:t>
            </a:r>
            <a:endParaRPr lang="en-US" dirty="0"/>
          </a:p>
        </p:txBody>
      </p:sp>
      <p:sp>
        <p:nvSpPr>
          <p:cNvPr id="3" name="Content Placeholder 2"/>
          <p:cNvSpPr>
            <a:spLocks noGrp="1"/>
          </p:cNvSpPr>
          <p:nvPr>
            <p:ph idx="1"/>
          </p:nvPr>
        </p:nvSpPr>
        <p:spPr>
          <a:xfrm>
            <a:off x="1593436" y="4267200"/>
            <a:ext cx="9782801" cy="2133600"/>
          </a:xfrm>
        </p:spPr>
        <p:txBody>
          <a:bodyPr>
            <a:normAutofit/>
          </a:bodyPr>
          <a:lstStyle/>
          <a:p>
            <a:r>
              <a:rPr lang="en-US" i="1" dirty="0" smtClean="0"/>
              <a:t>Super easy to compute!</a:t>
            </a:r>
            <a:r>
              <a:rPr lang="en-US" dirty="0" smtClean="0"/>
              <a:t> </a:t>
            </a:r>
          </a:p>
          <a:p>
            <a:endParaRPr lang="en-US" i="1" dirty="0" smtClean="0"/>
          </a:p>
        </p:txBody>
      </p:sp>
      <mc:AlternateContent xmlns:mc="http://schemas.openxmlformats.org/markup-compatibility/2006" xmlns:a14="http://schemas.microsoft.com/office/drawing/2010/main">
        <mc:Choice Requires="a14">
          <p:sp>
            <p:nvSpPr>
              <p:cNvPr id="4" name="TextBox 3"/>
              <p:cNvSpPr txBox="1"/>
              <p:nvPr/>
            </p:nvSpPr>
            <p:spPr>
              <a:xfrm>
                <a:off x="2741612" y="2286000"/>
                <a:ext cx="7575535" cy="12784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4000" b="0" i="1" smtClean="0">
                              <a:latin typeface="Cambria Math" panose="02040503050406030204" pitchFamily="18" charset="0"/>
                            </a:rPr>
                          </m:ctrlPr>
                        </m:fPr>
                        <m:num>
                          <m:r>
                            <a:rPr lang="mr-IN" sz="4000" b="0" i="1" smtClean="0">
                              <a:latin typeface="Cambria Math" charset="0"/>
                            </a:rPr>
                            <m:t>𝜕</m:t>
                          </m:r>
                          <m:r>
                            <a:rPr lang="en-US" sz="4000" i="1">
                              <a:latin typeface="Cambria Math" charset="0"/>
                            </a:rPr>
                            <m:t>𝐶</m:t>
                          </m:r>
                          <m:r>
                            <a:rPr lang="en-US" sz="4000" i="1">
                              <a:latin typeface="Cambria Math" charset="0"/>
                            </a:rPr>
                            <m:t>.</m:t>
                          </m:r>
                          <m:r>
                            <a:rPr lang="en-US" sz="4000" i="1">
                              <a:latin typeface="Cambria Math" charset="0"/>
                            </a:rPr>
                            <m:t>𝐸</m:t>
                          </m:r>
                          <m:r>
                            <a:rPr lang="en-US" sz="4000" i="1">
                              <a:latin typeface="Cambria Math" charset="0"/>
                            </a:rPr>
                            <m:t>.</m:t>
                          </m:r>
                        </m:num>
                        <m:den>
                          <m:r>
                            <a:rPr lang="mr-IN" sz="4000" b="0" i="1" smtClean="0">
                              <a:latin typeface="Cambria Math" charset="0"/>
                            </a:rPr>
                            <m:t>𝜕</m:t>
                          </m:r>
                          <m:r>
                            <a:rPr lang="en-US" sz="4000" b="0" i="1" smtClean="0">
                              <a:latin typeface="Cambria Math" charset="0"/>
                            </a:rPr>
                            <m:t>𝑠𝑜𝑓𝑡𝑚𝑎𝑥</m:t>
                          </m:r>
                        </m:den>
                      </m:f>
                      <m:r>
                        <a:rPr lang="en-US" sz="4000" b="0" i="1" smtClean="0">
                          <a:latin typeface="Cambria Math" charset="0"/>
                        </a:rPr>
                        <m:t>⋅</m:t>
                      </m:r>
                      <m:f>
                        <m:fPr>
                          <m:ctrlPr>
                            <a:rPr lang="mr-IN" sz="4000" b="0" i="1" smtClean="0">
                              <a:latin typeface="Cambria Math" panose="02040503050406030204" pitchFamily="18" charset="0"/>
                            </a:rPr>
                          </m:ctrlPr>
                        </m:fPr>
                        <m:num>
                          <m:r>
                            <a:rPr lang="mr-IN" sz="4000" b="0" i="1" smtClean="0">
                              <a:latin typeface="Cambria Math" charset="0"/>
                            </a:rPr>
                            <m:t>𝜕</m:t>
                          </m:r>
                          <m:r>
                            <a:rPr lang="en-US" sz="4000" b="0" i="1" smtClean="0">
                              <a:latin typeface="Cambria Math" charset="0"/>
                            </a:rPr>
                            <m:t>𝑠𝑜𝑓𝑡𝑚𝑎𝑥</m:t>
                          </m:r>
                        </m:num>
                        <m:den>
                          <m:r>
                            <a:rPr lang="mr-IN" sz="4000" b="0" i="1" smtClean="0">
                              <a:latin typeface="Cambria Math" charset="0"/>
                            </a:rPr>
                            <m:t>𝜕</m:t>
                          </m:r>
                          <m:sSub>
                            <m:sSubPr>
                              <m:ctrlPr>
                                <a:rPr lang="en-US" sz="4000" b="0" i="1" smtClean="0">
                                  <a:latin typeface="Cambria Math" panose="02040503050406030204" pitchFamily="18" charset="0"/>
                                </a:rPr>
                              </m:ctrlPr>
                            </m:sSubPr>
                            <m:e>
                              <m:r>
                                <a:rPr lang="en-US" sz="4000" b="0" i="1" smtClean="0">
                                  <a:latin typeface="Cambria Math" charset="0"/>
                                </a:rPr>
                                <m:t>𝑧</m:t>
                              </m:r>
                            </m:e>
                            <m:sub>
                              <m:r>
                                <a:rPr lang="en-US" sz="4000" b="0" i="1" smtClean="0">
                                  <a:latin typeface="Cambria Math" charset="0"/>
                                </a:rPr>
                                <m:t>𝑖</m:t>
                              </m:r>
                            </m:sub>
                          </m:sSub>
                        </m:den>
                      </m:f>
                      <m:r>
                        <a:rPr lang="en-US" sz="4000" b="0" i="1" smtClean="0">
                          <a:latin typeface="Cambria Math" charset="0"/>
                        </a:rPr>
                        <m:t>=</m:t>
                      </m:r>
                      <m:sSub>
                        <m:sSubPr>
                          <m:ctrlPr>
                            <a:rPr lang="en-US" sz="4000" b="0" i="1" smtClean="0">
                              <a:latin typeface="Cambria Math" panose="02040503050406030204" pitchFamily="18" charset="0"/>
                            </a:rPr>
                          </m:ctrlPr>
                        </m:sSubPr>
                        <m:e>
                          <m:acc>
                            <m:accPr>
                              <m:chr m:val="̂"/>
                              <m:ctrlPr>
                                <a:rPr lang="en-US" sz="4000" b="0" i="1" smtClean="0">
                                  <a:latin typeface="Cambria Math" panose="02040503050406030204" pitchFamily="18" charset="0"/>
                                </a:rPr>
                              </m:ctrlPr>
                            </m:accPr>
                            <m:e>
                              <m:r>
                                <a:rPr lang="en-US" sz="4000" b="0" i="1" smtClean="0">
                                  <a:latin typeface="Cambria Math" charset="0"/>
                                </a:rPr>
                                <m:t>𝑦</m:t>
                              </m:r>
                            </m:e>
                          </m:acc>
                        </m:e>
                        <m:sub>
                          <m:r>
                            <a:rPr lang="en-US" sz="4000" b="0" i="1" smtClean="0">
                              <a:latin typeface="Cambria Math" charset="0"/>
                            </a:rPr>
                            <m:t>𝑖</m:t>
                          </m:r>
                        </m:sub>
                      </m:sSub>
                      <m:r>
                        <a:rPr lang="en-US" sz="4000" b="0" i="1" smtClean="0">
                          <a:latin typeface="Cambria Math" charset="0"/>
                        </a:rPr>
                        <m:t>−</m:t>
                      </m:r>
                      <m:sSub>
                        <m:sSubPr>
                          <m:ctrlPr>
                            <a:rPr lang="en-US" sz="4000" b="0" i="1" smtClean="0">
                              <a:latin typeface="Cambria Math" panose="02040503050406030204" pitchFamily="18" charset="0"/>
                            </a:rPr>
                          </m:ctrlPr>
                        </m:sSubPr>
                        <m:e>
                          <m:r>
                            <a:rPr lang="en-US" sz="4000" b="0" i="1" smtClean="0">
                              <a:latin typeface="Cambria Math" charset="0"/>
                            </a:rPr>
                            <m:t>𝑦</m:t>
                          </m:r>
                        </m:e>
                        <m:sub>
                          <m:r>
                            <a:rPr lang="en-US" sz="4000" b="0" i="1" smtClean="0">
                              <a:latin typeface="Cambria Math" charset="0"/>
                            </a:rPr>
                            <m:t>𝑖</m:t>
                          </m:r>
                        </m:sub>
                      </m:sSub>
                    </m:oMath>
                  </m:oMathPara>
                </a14:m>
                <a:endParaRPr lang="en-US" sz="4000" dirty="0"/>
              </a:p>
            </p:txBody>
          </p:sp>
        </mc:Choice>
        <mc:Fallback xmlns="">
          <p:sp>
            <p:nvSpPr>
              <p:cNvPr id="4" name="TextBox 3"/>
              <p:cNvSpPr txBox="1">
                <a:spLocks noRot="1" noChangeAspect="1" noMove="1" noResize="1" noEditPoints="1" noAdjustHandles="1" noChangeArrowheads="1" noChangeShapeType="1" noTextEdit="1"/>
              </p:cNvSpPr>
              <p:nvPr/>
            </p:nvSpPr>
            <p:spPr>
              <a:xfrm>
                <a:off x="2741612" y="2286000"/>
                <a:ext cx="7575535" cy="1278427"/>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389426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Backpropagation</a:t>
            </a:r>
            <a:endParaRPr lang="en-US" dirty="0"/>
          </a:p>
        </p:txBody>
      </p:sp>
    </p:spTree>
    <p:extLst>
      <p:ext uri="{BB962C8B-B14F-4D97-AF65-F5344CB8AC3E}">
        <p14:creationId xmlns:p14="http://schemas.microsoft.com/office/powerpoint/2010/main" val="8204973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Backpropagation</a:t>
            </a:r>
            <a:endParaRPr lang="en-US" dirty="0"/>
          </a:p>
        </p:txBody>
      </p:sp>
      <p:sp>
        <p:nvSpPr>
          <p:cNvPr id="3" name="Content Placeholder 2"/>
          <p:cNvSpPr>
            <a:spLocks noGrp="1"/>
          </p:cNvSpPr>
          <p:nvPr>
            <p:ph idx="1"/>
          </p:nvPr>
        </p:nvSpPr>
        <p:spPr/>
        <p:txBody>
          <a:bodyPr>
            <a:normAutofit/>
          </a:bodyPr>
          <a:lstStyle/>
          <a:p>
            <a:r>
              <a:rPr lang="en-US" sz="3200" dirty="0" smtClean="0"/>
              <a:t>Idea: use the chain rule to find derivative of cost function with respect to each set of weights</a:t>
            </a:r>
          </a:p>
          <a:p>
            <a:endParaRPr lang="en-US" sz="3200" dirty="0" smtClean="0"/>
          </a:p>
          <a:p>
            <a:r>
              <a:rPr lang="en-US" sz="3200" dirty="0" smtClean="0"/>
              <a:t>Works basically the same as the automatic differentiation example we went over last week</a:t>
            </a:r>
          </a:p>
        </p:txBody>
      </p:sp>
    </p:spTree>
    <p:extLst>
      <p:ext uri="{BB962C8B-B14F-4D97-AF65-F5344CB8AC3E}">
        <p14:creationId xmlns:p14="http://schemas.microsoft.com/office/powerpoint/2010/main" val="12155549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Oval 4"/>
              <p:cNvSpPr/>
              <p:nvPr/>
            </p:nvSpPr>
            <p:spPr>
              <a:xfrm>
                <a:off x="3104577" y="2404022"/>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104577" y="2404022"/>
                <a:ext cx="925221" cy="925221"/>
              </a:xfrm>
              <a:prstGeom prst="ellipse">
                <a:avLst/>
              </a:prstGeom>
              <a:blipFill rotWithShape="0">
                <a:blip r:embed="rId3"/>
                <a:stretch>
                  <a:fillRect l="-64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104577" y="3602311"/>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4"/>
                <a:stretch>
                  <a:fillRect l="-454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104577" y="4800600"/>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104577" y="4800600"/>
                <a:ext cx="925221" cy="925221"/>
              </a:xfrm>
              <a:prstGeom prst="ellipse">
                <a:avLst/>
              </a:prstGeom>
              <a:blipFill rotWithShape="0">
                <a:blip r:embed="rId5"/>
                <a:stretch>
                  <a:fillRect l="-4545"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646612"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646612" y="5263211"/>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646612"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646612" y="4123816"/>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646612"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646612" y="2984424"/>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646612"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646612" y="1845032"/>
                <a:ext cx="925221" cy="925221"/>
              </a:xfrm>
              <a:prstGeom prst="ellipse">
                <a:avLst/>
              </a:prstGeom>
              <a:blipFill rotWithShape="0">
                <a:blip r:embed="rId8"/>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6188648"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6188648" y="5263211"/>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6188648"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6188648" y="4123816"/>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6188648"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6188648" y="2984424"/>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188648"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6188648" y="1845032"/>
                <a:ext cx="925221" cy="925221"/>
              </a:xfrm>
              <a:prstGeom prst="ellipse">
                <a:avLst/>
              </a:prstGeom>
              <a:blipFill rotWithShape="0">
                <a:blip r:embed="rId8"/>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7797942" y="2404022"/>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7797942" y="2404022"/>
                <a:ext cx="925221" cy="925221"/>
              </a:xfrm>
              <a:prstGeom prst="ellipse">
                <a:avLst/>
              </a:prstGeom>
              <a:blipFill rotWithShape="0">
                <a:blip r:embed="rId9"/>
                <a:stretch>
                  <a:fillRect t="-12338" r="-649" b="-266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7797942" y="3602311"/>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7797942" y="3602311"/>
                <a:ext cx="925221" cy="925221"/>
              </a:xfrm>
              <a:prstGeom prst="ellipse">
                <a:avLst/>
              </a:prstGeom>
              <a:blipFill rotWithShape="0">
                <a:blip r:embed="rId10"/>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7797942" y="4800600"/>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7797942" y="4800600"/>
                <a:ext cx="925221" cy="925221"/>
              </a:xfrm>
              <a:prstGeom prst="ellipse">
                <a:avLst/>
              </a:prstGeom>
              <a:blipFill rotWithShape="0">
                <a:blip r:embed="rId11"/>
                <a:stretch>
                  <a:fillRect t="-12418" b="-26797"/>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029798" y="2307643"/>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029798" y="2866633"/>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029798" y="2866633"/>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029798" y="2866633"/>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029798" y="2307643"/>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029798" y="3447035"/>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029798" y="4064922"/>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029798" y="4064922"/>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029798" y="2307643"/>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029798" y="3447035"/>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029798" y="4586427"/>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029798" y="5263211"/>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5571834" y="230764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5571834" y="344703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5571834" y="4586427"/>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5571834" y="4586427"/>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5436339" y="4586427"/>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5571834" y="572582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7113869" y="2307643"/>
            <a:ext cx="684073"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7113869" y="2307643"/>
            <a:ext cx="684073"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7113869" y="2307643"/>
            <a:ext cx="684073"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7113869" y="2866633"/>
            <a:ext cx="684073"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7113869" y="3447035"/>
            <a:ext cx="684073"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7113869" y="3447035"/>
            <a:ext cx="684073"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7113869" y="4586427"/>
            <a:ext cx="684073"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7113869" y="2866633"/>
            <a:ext cx="684073"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7113869" y="4064922"/>
            <a:ext cx="684073"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7113869" y="2866633"/>
            <a:ext cx="684073"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7113869" y="4064922"/>
            <a:ext cx="684073"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7113869" y="5263211"/>
            <a:ext cx="684073"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8723163"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8723163"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8723163"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2214980"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2214980"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2214980"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179068" y="189245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(1)</m:t>
                          </m:r>
                        </m:sup>
                      </m:sSup>
                    </m:oMath>
                  </m:oMathPara>
                </a14:m>
                <a:endParaRPr lang="en-US" dirty="0">
                  <a:solidFill>
                    <a:schemeClr val="tx2"/>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179068" y="1892459"/>
                <a:ext cx="847732" cy="47699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4762355" y="135047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(2)</m:t>
                          </m:r>
                        </m:sup>
                      </m:sSup>
                    </m:oMath>
                  </m:oMathPara>
                </a14:m>
                <a:endParaRPr lang="en-US" dirty="0">
                  <a:solidFill>
                    <a:schemeClr val="tx2"/>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4762355" y="1350479"/>
                <a:ext cx="847732" cy="47699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266137" y="135047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(3)</m:t>
                          </m:r>
                        </m:sup>
                      </m:sSup>
                    </m:oMath>
                  </m:oMathPara>
                </a14:m>
                <a:endParaRPr lang="en-US" dirty="0">
                  <a:solidFill>
                    <a:schemeClr val="tx2"/>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266137" y="1350479"/>
                <a:ext cx="847733" cy="47699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7892958" y="189245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(4)</m:t>
                          </m:r>
                        </m:sup>
                      </m:sSup>
                    </m:oMath>
                  </m:oMathPara>
                </a14:m>
                <a:endParaRPr lang="en-US" dirty="0">
                  <a:solidFill>
                    <a:schemeClr val="tx2"/>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7892958" y="1892459"/>
                <a:ext cx="847733" cy="47699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3808412" y="5711442"/>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(1)</m:t>
                          </m:r>
                        </m:sup>
                      </m:sSup>
                    </m:oMath>
                  </m:oMathPara>
                </a14:m>
                <a:endParaRPr lang="en-US" dirty="0">
                  <a:solidFill>
                    <a:schemeClr val="accent5">
                      <a:lumMod val="50000"/>
                    </a:schemeClr>
                  </a:solidFill>
                </a:endParaRPr>
              </a:p>
            </p:txBody>
          </p:sp>
        </mc:Choice>
        <mc:Fallback xmlns="">
          <p:sp>
            <p:nvSpPr>
              <p:cNvPr id="84" name="Rectangle 83"/>
              <p:cNvSpPr>
                <a:spLocks noRot="1" noChangeAspect="1" noMove="1" noResize="1" noEditPoints="1" noAdjustHandles="1" noChangeArrowheads="1" noChangeShapeType="1" noTextEdit="1"/>
              </p:cNvSpPr>
              <p:nvPr/>
            </p:nvSpPr>
            <p:spPr>
              <a:xfrm>
                <a:off x="3808412" y="5711442"/>
                <a:ext cx="979755" cy="47699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5445464" y="5711442"/>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(2)</m:t>
                          </m:r>
                        </m:sup>
                      </m:sSup>
                    </m:oMath>
                  </m:oMathPara>
                </a14:m>
                <a:endParaRPr lang="en-US" dirty="0">
                  <a:solidFill>
                    <a:schemeClr val="accent5">
                      <a:lumMod val="50000"/>
                    </a:schemeClr>
                  </a:solidFill>
                </a:endParaRPr>
              </a:p>
            </p:txBody>
          </p:sp>
        </mc:Choice>
        <mc:Fallback xmlns="">
          <p:sp>
            <p:nvSpPr>
              <p:cNvPr id="85" name="Rectangle 84"/>
              <p:cNvSpPr>
                <a:spLocks noRot="1" noChangeAspect="1" noMove="1" noResize="1" noEditPoints="1" noAdjustHandles="1" noChangeArrowheads="1" noChangeShapeType="1" noTextEdit="1"/>
              </p:cNvSpPr>
              <p:nvPr/>
            </p:nvSpPr>
            <p:spPr>
              <a:xfrm>
                <a:off x="5445464" y="5711442"/>
                <a:ext cx="979755" cy="47699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p:cNvSpPr/>
              <p:nvPr/>
            </p:nvSpPr>
            <p:spPr>
              <a:xfrm>
                <a:off x="7054758" y="5711442"/>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(3)</m:t>
                          </m:r>
                        </m:sup>
                      </m:sSup>
                    </m:oMath>
                  </m:oMathPara>
                </a14:m>
                <a:endParaRPr lang="en-US" dirty="0">
                  <a:solidFill>
                    <a:schemeClr val="accent5">
                      <a:lumMod val="50000"/>
                    </a:schemeClr>
                  </a:solidFill>
                </a:endParaRPr>
              </a:p>
            </p:txBody>
          </p:sp>
        </mc:Choice>
        <mc:Fallback xmlns="">
          <p:sp>
            <p:nvSpPr>
              <p:cNvPr id="86" name="Rectangle 85"/>
              <p:cNvSpPr>
                <a:spLocks noRot="1" noChangeAspect="1" noMove="1" noResize="1" noEditPoints="1" noAdjustHandles="1" noChangeArrowheads="1" noChangeShapeType="1" noTextEdit="1"/>
              </p:cNvSpPr>
              <p:nvPr/>
            </p:nvSpPr>
            <p:spPr>
              <a:xfrm>
                <a:off x="7054758" y="5711442"/>
                <a:ext cx="979755" cy="476990"/>
              </a:xfrm>
              <a:prstGeom prst="rect">
                <a:avLst/>
              </a:prstGeom>
              <a:blipFill rotWithShape="0">
                <a:blip r:embed="rId18"/>
                <a:stretch>
                  <a:fillRect/>
                </a:stretch>
              </a:blipFill>
            </p:spPr>
            <p:txBody>
              <a:bodyPr/>
              <a:lstStyle/>
              <a:p>
                <a:r>
                  <a:rPr lang="en-US">
                    <a:noFill/>
                  </a:rPr>
                  <a:t> </a:t>
                </a:r>
              </a:p>
            </p:txBody>
          </p:sp>
        </mc:Fallback>
      </mc:AlternateContent>
      <p:sp>
        <p:nvSpPr>
          <p:cNvPr id="87" name="Rounded Rectangle 86"/>
          <p:cNvSpPr/>
          <p:nvPr/>
        </p:nvSpPr>
        <p:spPr>
          <a:xfrm>
            <a:off x="9828212" y="2404022"/>
            <a:ext cx="990600" cy="3479610"/>
          </a:xfrm>
          <a:prstGeom prst="roundRect">
            <a:avLst/>
          </a:prstGeom>
          <a:solidFill>
            <a:srgbClr val="C00000"/>
          </a:solidFill>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3200" dirty="0" smtClean="0"/>
              <a:t>Cost</a:t>
            </a:r>
          </a:p>
          <a:p>
            <a:pPr algn="ctr"/>
            <a:r>
              <a:rPr lang="en-US" sz="3200" dirty="0" smtClean="0"/>
              <a:t>(J)</a:t>
            </a:r>
            <a:endParaRPr lang="en-US" sz="3200" dirty="0"/>
          </a:p>
        </p:txBody>
      </p:sp>
      <mc:AlternateContent xmlns:mc="http://schemas.openxmlformats.org/markup-compatibility/2006" xmlns:a14="http://schemas.microsoft.com/office/drawing/2010/main">
        <mc:Choice Requires="a14">
          <p:sp>
            <p:nvSpPr>
              <p:cNvPr id="88" name="TextBox 87"/>
              <p:cNvSpPr txBox="1"/>
              <p:nvPr/>
            </p:nvSpPr>
            <p:spPr>
              <a:xfrm>
                <a:off x="3346321" y="367311"/>
                <a:ext cx="1300291" cy="944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i="1" smtClean="0">
                              <a:solidFill>
                                <a:srgbClr val="FF0000"/>
                              </a:solidFill>
                              <a:latin typeface="Cambria Math" panose="02040503050406030204" pitchFamily="18" charset="0"/>
                            </a:rPr>
                          </m:ctrlPr>
                        </m:fPr>
                        <m:num>
                          <m:r>
                            <a:rPr lang="mr-IN" sz="3200" i="1" smtClean="0">
                              <a:solidFill>
                                <a:srgbClr val="FF0000"/>
                              </a:solidFill>
                              <a:latin typeface="Cambria Math" charset="0"/>
                            </a:rPr>
                            <m:t>𝜕</m:t>
                          </m:r>
                          <m:r>
                            <a:rPr lang="en-US" sz="3200" b="0" i="1" smtClean="0">
                              <a:solidFill>
                                <a:srgbClr val="FF0000"/>
                              </a:solidFill>
                              <a:latin typeface="Cambria Math" charset="0"/>
                            </a:rPr>
                            <m:t>𝐽</m:t>
                          </m:r>
                        </m:num>
                        <m:den>
                          <m:r>
                            <a:rPr lang="mr-IN" sz="3200" i="1" smtClean="0">
                              <a:solidFill>
                                <a:srgbClr val="FF0000"/>
                              </a:solidFill>
                              <a:latin typeface="Cambria Math" charset="0"/>
                            </a:rPr>
                            <m:t>𝜕</m:t>
                          </m:r>
                          <m:sSup>
                            <m:sSupPr>
                              <m:ctrlPr>
                                <a:rPr lang="en-US" sz="3200" b="0" i="1" smtClean="0">
                                  <a:solidFill>
                                    <a:srgbClr val="FF0000"/>
                                  </a:solidFill>
                                  <a:latin typeface="Cambria Math" panose="02040503050406030204" pitchFamily="18" charset="0"/>
                                </a:rPr>
                              </m:ctrlPr>
                            </m:sSupPr>
                            <m:e>
                              <m:r>
                                <a:rPr lang="en-US" sz="3200" b="0" i="1" smtClean="0">
                                  <a:solidFill>
                                    <a:srgbClr val="FF0000"/>
                                  </a:solidFill>
                                  <a:latin typeface="Cambria Math" charset="0"/>
                                </a:rPr>
                                <m:t>𝑊</m:t>
                              </m:r>
                            </m:e>
                            <m:sup>
                              <m:r>
                                <a:rPr lang="en-US" sz="3200" b="0" i="1" smtClean="0">
                                  <a:solidFill>
                                    <a:srgbClr val="FF0000"/>
                                  </a:solidFill>
                                  <a:latin typeface="Cambria Math" charset="0"/>
                                </a:rPr>
                                <m:t>(1)</m:t>
                              </m:r>
                            </m:sup>
                          </m:sSup>
                        </m:den>
                      </m:f>
                    </m:oMath>
                  </m:oMathPara>
                </a14:m>
                <a:endParaRPr lang="en-US" dirty="0">
                  <a:solidFill>
                    <a:srgbClr val="FF0000"/>
                  </a:solidFill>
                </a:endParaRPr>
              </a:p>
            </p:txBody>
          </p:sp>
        </mc:Choice>
        <mc:Fallback xmlns="">
          <p:sp>
            <p:nvSpPr>
              <p:cNvPr id="88" name="TextBox 87"/>
              <p:cNvSpPr txBox="1">
                <a:spLocks noRot="1" noChangeAspect="1" noMove="1" noResize="1" noEditPoints="1" noAdjustHandles="1" noChangeArrowheads="1" noChangeShapeType="1" noTextEdit="1"/>
              </p:cNvSpPr>
              <p:nvPr/>
            </p:nvSpPr>
            <p:spPr>
              <a:xfrm>
                <a:off x="3346321" y="367311"/>
                <a:ext cx="1300291" cy="944746"/>
              </a:xfrm>
              <a:prstGeom prst="rect">
                <a:avLst/>
              </a:prstGeom>
              <a:blipFill rotWithShape="0">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p:cNvSpPr txBox="1"/>
              <p:nvPr/>
            </p:nvSpPr>
            <p:spPr>
              <a:xfrm>
                <a:off x="5350967" y="358270"/>
                <a:ext cx="1300292" cy="944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i="1" smtClean="0">
                              <a:solidFill>
                                <a:srgbClr val="FF0000"/>
                              </a:solidFill>
                              <a:latin typeface="Cambria Math" panose="02040503050406030204" pitchFamily="18" charset="0"/>
                            </a:rPr>
                          </m:ctrlPr>
                        </m:fPr>
                        <m:num>
                          <m:r>
                            <a:rPr lang="mr-IN" sz="3200" i="1" smtClean="0">
                              <a:solidFill>
                                <a:srgbClr val="FF0000"/>
                              </a:solidFill>
                              <a:latin typeface="Cambria Math" charset="0"/>
                            </a:rPr>
                            <m:t>𝜕</m:t>
                          </m:r>
                          <m:r>
                            <a:rPr lang="en-US" sz="3200" b="0" i="1" smtClean="0">
                              <a:solidFill>
                                <a:srgbClr val="FF0000"/>
                              </a:solidFill>
                              <a:latin typeface="Cambria Math" charset="0"/>
                            </a:rPr>
                            <m:t>𝐽</m:t>
                          </m:r>
                        </m:num>
                        <m:den>
                          <m:r>
                            <a:rPr lang="mr-IN" sz="3200" i="1" smtClean="0">
                              <a:solidFill>
                                <a:srgbClr val="FF0000"/>
                              </a:solidFill>
                              <a:latin typeface="Cambria Math" charset="0"/>
                            </a:rPr>
                            <m:t>𝜕</m:t>
                          </m:r>
                          <m:sSup>
                            <m:sSupPr>
                              <m:ctrlPr>
                                <a:rPr lang="en-US" sz="3200" b="0" i="1" smtClean="0">
                                  <a:solidFill>
                                    <a:srgbClr val="FF0000"/>
                                  </a:solidFill>
                                  <a:latin typeface="Cambria Math" panose="02040503050406030204" pitchFamily="18" charset="0"/>
                                </a:rPr>
                              </m:ctrlPr>
                            </m:sSupPr>
                            <m:e>
                              <m:r>
                                <a:rPr lang="en-US" sz="3200" b="0" i="1" smtClean="0">
                                  <a:solidFill>
                                    <a:srgbClr val="FF0000"/>
                                  </a:solidFill>
                                  <a:latin typeface="Cambria Math" charset="0"/>
                                </a:rPr>
                                <m:t>𝑊</m:t>
                              </m:r>
                            </m:e>
                            <m:sup>
                              <m:r>
                                <a:rPr lang="en-US" sz="3200" b="0" i="1" smtClean="0">
                                  <a:solidFill>
                                    <a:srgbClr val="FF0000"/>
                                  </a:solidFill>
                                  <a:latin typeface="Cambria Math" charset="0"/>
                                </a:rPr>
                                <m:t>(2)</m:t>
                              </m:r>
                            </m:sup>
                          </m:sSup>
                        </m:den>
                      </m:f>
                    </m:oMath>
                  </m:oMathPara>
                </a14:m>
                <a:endParaRPr lang="en-US" dirty="0">
                  <a:solidFill>
                    <a:srgbClr val="FF0000"/>
                  </a:solidFill>
                </a:endParaRPr>
              </a:p>
            </p:txBody>
          </p:sp>
        </mc:Choice>
        <mc:Fallback xmlns="">
          <p:sp>
            <p:nvSpPr>
              <p:cNvPr id="89" name="TextBox 88"/>
              <p:cNvSpPr txBox="1">
                <a:spLocks noRot="1" noChangeAspect="1" noMove="1" noResize="1" noEditPoints="1" noAdjustHandles="1" noChangeArrowheads="1" noChangeShapeType="1" noTextEdit="1"/>
              </p:cNvSpPr>
              <p:nvPr/>
            </p:nvSpPr>
            <p:spPr>
              <a:xfrm>
                <a:off x="5350967" y="358270"/>
                <a:ext cx="1300292" cy="944746"/>
              </a:xfrm>
              <a:prstGeom prst="rect">
                <a:avLst/>
              </a:prstGeom>
              <a:blipFill rotWithShape="0">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p:cNvSpPr txBox="1"/>
              <p:nvPr/>
            </p:nvSpPr>
            <p:spPr>
              <a:xfrm>
                <a:off x="7242812" y="358270"/>
                <a:ext cx="1300292" cy="944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i="1" smtClean="0">
                              <a:solidFill>
                                <a:srgbClr val="FF0000"/>
                              </a:solidFill>
                              <a:latin typeface="Cambria Math" panose="02040503050406030204" pitchFamily="18" charset="0"/>
                            </a:rPr>
                          </m:ctrlPr>
                        </m:fPr>
                        <m:num>
                          <m:r>
                            <a:rPr lang="mr-IN" sz="3200" i="1" smtClean="0">
                              <a:solidFill>
                                <a:srgbClr val="FF0000"/>
                              </a:solidFill>
                              <a:latin typeface="Cambria Math" charset="0"/>
                            </a:rPr>
                            <m:t>𝜕</m:t>
                          </m:r>
                          <m:r>
                            <a:rPr lang="en-US" sz="3200" b="0" i="1" smtClean="0">
                              <a:solidFill>
                                <a:srgbClr val="FF0000"/>
                              </a:solidFill>
                              <a:latin typeface="Cambria Math" charset="0"/>
                            </a:rPr>
                            <m:t>𝐽</m:t>
                          </m:r>
                        </m:num>
                        <m:den>
                          <m:r>
                            <a:rPr lang="mr-IN" sz="3200" i="1" smtClean="0">
                              <a:solidFill>
                                <a:srgbClr val="FF0000"/>
                              </a:solidFill>
                              <a:latin typeface="Cambria Math" charset="0"/>
                            </a:rPr>
                            <m:t>𝜕</m:t>
                          </m:r>
                          <m:sSup>
                            <m:sSupPr>
                              <m:ctrlPr>
                                <a:rPr lang="en-US" sz="3200" b="0" i="1" smtClean="0">
                                  <a:solidFill>
                                    <a:srgbClr val="FF0000"/>
                                  </a:solidFill>
                                  <a:latin typeface="Cambria Math" panose="02040503050406030204" pitchFamily="18" charset="0"/>
                                </a:rPr>
                              </m:ctrlPr>
                            </m:sSupPr>
                            <m:e>
                              <m:r>
                                <a:rPr lang="en-US" sz="3200" b="0" i="1" smtClean="0">
                                  <a:solidFill>
                                    <a:srgbClr val="FF0000"/>
                                  </a:solidFill>
                                  <a:latin typeface="Cambria Math" charset="0"/>
                                </a:rPr>
                                <m:t>𝑊</m:t>
                              </m:r>
                            </m:e>
                            <m:sup>
                              <m:r>
                                <a:rPr lang="en-US" sz="3200" b="0" i="1" smtClean="0">
                                  <a:solidFill>
                                    <a:srgbClr val="FF0000"/>
                                  </a:solidFill>
                                  <a:latin typeface="Cambria Math" charset="0"/>
                                </a:rPr>
                                <m:t>(3)</m:t>
                              </m:r>
                            </m:sup>
                          </m:sSup>
                        </m:den>
                      </m:f>
                    </m:oMath>
                  </m:oMathPara>
                </a14:m>
                <a:endParaRPr lang="en-US" dirty="0">
                  <a:solidFill>
                    <a:srgbClr val="FF0000"/>
                  </a:solidFill>
                </a:endParaRPr>
              </a:p>
            </p:txBody>
          </p:sp>
        </mc:Choice>
        <mc:Fallback xmlns="">
          <p:sp>
            <p:nvSpPr>
              <p:cNvPr id="90" name="TextBox 89"/>
              <p:cNvSpPr txBox="1">
                <a:spLocks noRot="1" noChangeAspect="1" noMove="1" noResize="1" noEditPoints="1" noAdjustHandles="1" noChangeArrowheads="1" noChangeShapeType="1" noTextEdit="1"/>
              </p:cNvSpPr>
              <p:nvPr/>
            </p:nvSpPr>
            <p:spPr>
              <a:xfrm>
                <a:off x="7242812" y="358270"/>
                <a:ext cx="1300292" cy="944746"/>
              </a:xfrm>
              <a:prstGeom prst="rect">
                <a:avLst/>
              </a:prstGeom>
              <a:blipFill rotWithShape="0">
                <a:blip r:embed="rId21"/>
                <a:stretch>
                  <a:fillRect/>
                </a:stretch>
              </a:blipFill>
            </p:spPr>
            <p:txBody>
              <a:bodyPr/>
              <a:lstStyle/>
              <a:p>
                <a:r>
                  <a:rPr lang="en-US">
                    <a:noFill/>
                  </a:rPr>
                  <a:t> </a:t>
                </a:r>
              </a:p>
            </p:txBody>
          </p:sp>
        </mc:Fallback>
      </mc:AlternateContent>
      <p:sp>
        <p:nvSpPr>
          <p:cNvPr id="91" name="TextBox 90"/>
          <p:cNvSpPr txBox="1"/>
          <p:nvPr/>
        </p:nvSpPr>
        <p:spPr>
          <a:xfrm>
            <a:off x="1655371" y="578074"/>
            <a:ext cx="1119217" cy="523220"/>
          </a:xfrm>
          <a:prstGeom prst="rect">
            <a:avLst/>
          </a:prstGeom>
          <a:noFill/>
        </p:spPr>
        <p:txBody>
          <a:bodyPr wrap="none" rtlCol="0">
            <a:spAutoFit/>
          </a:bodyPr>
          <a:lstStyle/>
          <a:p>
            <a:r>
              <a:rPr lang="en-US" sz="2800" dirty="0" smtClean="0">
                <a:solidFill>
                  <a:srgbClr val="FF0000"/>
                </a:solidFill>
              </a:rPr>
              <a:t>Want:</a:t>
            </a:r>
            <a:endParaRPr lang="en-US" sz="2800" dirty="0">
              <a:solidFill>
                <a:srgbClr val="FF0000"/>
              </a:solidFill>
            </a:endParaRPr>
          </a:p>
        </p:txBody>
      </p:sp>
      <p:cxnSp>
        <p:nvCxnSpPr>
          <p:cNvPr id="93" name="Straight Arrow Connector 92"/>
          <p:cNvCxnSpPr/>
          <p:nvPr/>
        </p:nvCxnSpPr>
        <p:spPr>
          <a:xfrm>
            <a:off x="4158378" y="1609918"/>
            <a:ext cx="139911" cy="79410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flipH="1">
            <a:off x="5913869" y="1408277"/>
            <a:ext cx="15807" cy="78699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flipH="1">
            <a:off x="7495510" y="1489920"/>
            <a:ext cx="235174" cy="91410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TextBox 99"/>
              <p:cNvSpPr txBox="1"/>
              <p:nvPr/>
            </p:nvSpPr>
            <p:spPr>
              <a:xfrm>
                <a:off x="8723163" y="865084"/>
                <a:ext cx="3029501" cy="369332"/>
              </a:xfrm>
              <a:prstGeom prst="rect">
                <a:avLst/>
              </a:prstGeom>
              <a:noFill/>
            </p:spPr>
            <p:txBody>
              <a:bodyPr wrap="square" rtlCol="0">
                <a:spAutoFit/>
              </a:bodyPr>
              <a:lstStyle/>
              <a:p>
                <a:r>
                  <a:rPr lang="en-US" dirty="0" smtClean="0">
                    <a:solidFill>
                      <a:srgbClr val="FF0000"/>
                    </a:solidFill>
                  </a:rPr>
                  <a:t>(Biases included in </a:t>
                </a:r>
                <a14:m>
                  <m:oMath xmlns:m="http://schemas.openxmlformats.org/officeDocument/2006/math">
                    <m:r>
                      <a:rPr lang="en-US" i="1">
                        <a:solidFill>
                          <a:srgbClr val="FF0000"/>
                        </a:solidFill>
                        <a:latin typeface="Cambria Math" charset="0"/>
                      </a:rPr>
                      <m:t>𝑊</m:t>
                    </m:r>
                  </m:oMath>
                </a14:m>
                <a:r>
                  <a:rPr lang="en-US" dirty="0" smtClean="0">
                    <a:solidFill>
                      <a:srgbClr val="FF0000"/>
                    </a:solidFill>
                  </a:rPr>
                  <a:t>)</a:t>
                </a:r>
                <a:endParaRPr lang="en-US" dirty="0">
                  <a:solidFill>
                    <a:srgbClr val="FF0000"/>
                  </a:solidFill>
                </a:endParaRPr>
              </a:p>
            </p:txBody>
          </p:sp>
        </mc:Choice>
        <mc:Fallback xmlns="">
          <p:sp>
            <p:nvSpPr>
              <p:cNvPr id="100" name="TextBox 99"/>
              <p:cNvSpPr txBox="1">
                <a:spLocks noRot="1" noChangeAspect="1" noMove="1" noResize="1" noEditPoints="1" noAdjustHandles="1" noChangeArrowheads="1" noChangeShapeType="1" noTextEdit="1"/>
              </p:cNvSpPr>
              <p:nvPr/>
            </p:nvSpPr>
            <p:spPr>
              <a:xfrm>
                <a:off x="8723163" y="865084"/>
                <a:ext cx="3029501" cy="369332"/>
              </a:xfrm>
              <a:prstGeom prst="rect">
                <a:avLst/>
              </a:prstGeom>
              <a:blipFill rotWithShape="0">
                <a:blip r:embed="rId22"/>
                <a:stretch>
                  <a:fillRect l="-1811" t="-10000" b="-26667"/>
                </a:stretch>
              </a:blipFill>
            </p:spPr>
            <p:txBody>
              <a:bodyPr/>
              <a:lstStyle/>
              <a:p>
                <a:r>
                  <a:rPr lang="en-US">
                    <a:noFill/>
                  </a:rPr>
                  <a:t> </a:t>
                </a:r>
              </a:p>
            </p:txBody>
          </p:sp>
        </mc:Fallback>
      </mc:AlternateContent>
    </p:spTree>
    <p:extLst>
      <p:ext uri="{BB962C8B-B14F-4D97-AF65-F5344CB8AC3E}">
        <p14:creationId xmlns:p14="http://schemas.microsoft.com/office/powerpoint/2010/main" val="477029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89" grpId="0"/>
      <p:bldP spid="90" grpId="0"/>
      <p:bldP spid="91" grpId="0"/>
      <p:bldP spid="10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Equations for the model</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2334469" y="2837428"/>
                <a:ext cx="2843791"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𝑋</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(1)</m:t>
                          </m:r>
                        </m:sup>
                      </m:sSup>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2334469" y="2837428"/>
                <a:ext cx="2843791" cy="57708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516069" y="2822937"/>
                <a:ext cx="3000117" cy="5915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2</m:t>
                              </m:r>
                            </m:e>
                          </m:d>
                        </m:sup>
                      </m:sSup>
                      <m:r>
                        <a:rPr lang="en-US" sz="3600" b="0" i="1" smtClean="0">
                          <a:latin typeface="Cambria Math" charset="0"/>
                        </a:rPr>
                        <m:t>)</m:t>
                      </m:r>
                    </m:oMath>
                  </m:oMathPara>
                </a14:m>
                <a:endParaRPr lang="en-US"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7516069" y="2822937"/>
                <a:ext cx="3000117" cy="591572"/>
              </a:xfrm>
              <a:prstGeom prst="rect">
                <a:avLst/>
              </a:prstGeom>
              <a:blipFill rotWithShape="0">
                <a:blip r:embed="rId4"/>
                <a:stretch>
                  <a:fillRect/>
                </a:stretch>
              </a:blipFill>
            </p:spPr>
            <p:txBody>
              <a:bodyPr/>
              <a:lstStyle/>
              <a:p>
                <a:r>
                  <a:rPr lang="en-US">
                    <a:noFill/>
                  </a:rPr>
                  <a:t> </a:t>
                </a:r>
              </a:p>
            </p:txBody>
          </p:sp>
        </mc:Fallback>
      </mc:AlternateContent>
      <p:sp>
        <p:nvSpPr>
          <p:cNvPr id="6" name="TextBox 5"/>
          <p:cNvSpPr txBox="1"/>
          <p:nvPr/>
        </p:nvSpPr>
        <p:spPr>
          <a:xfrm>
            <a:off x="1276248" y="2286000"/>
            <a:ext cx="3770199" cy="461665"/>
          </a:xfrm>
          <a:prstGeom prst="rect">
            <a:avLst/>
          </a:prstGeom>
          <a:noFill/>
        </p:spPr>
        <p:txBody>
          <a:bodyPr wrap="none" rtlCol="0">
            <a:spAutoFit/>
          </a:bodyPr>
          <a:lstStyle/>
          <a:p>
            <a:r>
              <a:rPr lang="en-US" sz="2400" dirty="0" smtClean="0"/>
              <a:t>Layer 2: first hidden layer</a:t>
            </a:r>
            <a:endParaRPr lang="en-US" sz="2400" dirty="0"/>
          </a:p>
        </p:txBody>
      </p:sp>
      <mc:AlternateContent xmlns:mc="http://schemas.openxmlformats.org/markup-compatibility/2006" xmlns:a14="http://schemas.microsoft.com/office/drawing/2010/main">
        <mc:Choice Requires="a14">
          <p:sp>
            <p:nvSpPr>
              <p:cNvPr id="7" name="TextBox 6"/>
              <p:cNvSpPr txBox="1"/>
              <p:nvPr/>
            </p:nvSpPr>
            <p:spPr>
              <a:xfrm>
                <a:off x="1276248" y="1600200"/>
                <a:ext cx="2626040" cy="461665"/>
              </a:xfrm>
              <a:prstGeom prst="rect">
                <a:avLst/>
              </a:prstGeom>
              <a:noFill/>
            </p:spPr>
            <p:txBody>
              <a:bodyPr wrap="none" rtlCol="0">
                <a:spAutoFit/>
              </a:bodyPr>
              <a:lstStyle/>
              <a:p>
                <a:r>
                  <a:rPr lang="en-US" sz="2400" dirty="0" smtClean="0"/>
                  <a:t>Layer 1: inputs, </a:t>
                </a:r>
                <a14:m>
                  <m:oMath xmlns:m="http://schemas.openxmlformats.org/officeDocument/2006/math">
                    <m:r>
                      <a:rPr lang="en-US" sz="2400" i="1">
                        <a:latin typeface="Cambria Math" charset="0"/>
                      </a:rPr>
                      <m:t>𝑋</m:t>
                    </m:r>
                  </m:oMath>
                </a14:m>
                <a:endParaRPr lang="en-US" sz="2400" dirty="0" smtClean="0"/>
              </a:p>
            </p:txBody>
          </p:sp>
        </mc:Choice>
        <mc:Fallback xmlns="">
          <p:sp>
            <p:nvSpPr>
              <p:cNvPr id="7" name="TextBox 6"/>
              <p:cNvSpPr txBox="1">
                <a:spLocks noRot="1" noChangeAspect="1" noMove="1" noResize="1" noEditPoints="1" noAdjustHandles="1" noChangeArrowheads="1" noChangeShapeType="1" noTextEdit="1"/>
              </p:cNvSpPr>
              <p:nvPr/>
            </p:nvSpPr>
            <p:spPr>
              <a:xfrm>
                <a:off x="1276248" y="1600200"/>
                <a:ext cx="2626040" cy="461665"/>
              </a:xfrm>
              <a:prstGeom prst="rect">
                <a:avLst/>
              </a:prstGeom>
              <a:blipFill rotWithShape="0">
                <a:blip r:embed="rId5"/>
                <a:stretch>
                  <a:fillRect l="-3480" t="-12000" b="-2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334469" y="4273942"/>
                <a:ext cx="3295774"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(2)</m:t>
                          </m:r>
                        </m:sup>
                      </m:sSup>
                    </m:oMath>
                  </m:oMathPara>
                </a14:m>
                <a:endParaRPr lang="en-US" sz="3600" dirty="0"/>
              </a:p>
            </p:txBody>
          </p:sp>
        </mc:Choice>
        <mc:Fallback xmlns="">
          <p:sp>
            <p:nvSpPr>
              <p:cNvPr id="9" name="TextBox 8"/>
              <p:cNvSpPr txBox="1">
                <a:spLocks noRot="1" noChangeAspect="1" noMove="1" noResize="1" noEditPoints="1" noAdjustHandles="1" noChangeArrowheads="1" noChangeShapeType="1" noTextEdit="1"/>
              </p:cNvSpPr>
              <p:nvPr/>
            </p:nvSpPr>
            <p:spPr>
              <a:xfrm>
                <a:off x="2334469" y="4273942"/>
                <a:ext cx="3295774" cy="577081"/>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516069" y="4259451"/>
                <a:ext cx="3113929" cy="601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3</m:t>
                              </m:r>
                            </m:e>
                          </m:d>
                        </m:sup>
                      </m:sSup>
                      <m:r>
                        <a:rPr lang="en-US" sz="3600" b="0" i="1" smtClean="0">
                          <a:latin typeface="Cambria Math" charset="0"/>
                        </a:rPr>
                        <m:t>)</m:t>
                      </m:r>
                    </m:oMath>
                  </m:oMathPara>
                </a14:m>
                <a:endParaRPr lang="en-US" sz="3600" dirty="0"/>
              </a:p>
            </p:txBody>
          </p:sp>
        </mc:Choice>
        <mc:Fallback xmlns="">
          <p:sp>
            <p:nvSpPr>
              <p:cNvPr id="10" name="TextBox 9"/>
              <p:cNvSpPr txBox="1">
                <a:spLocks noRot="1" noChangeAspect="1" noMove="1" noResize="1" noEditPoints="1" noAdjustHandles="1" noChangeArrowheads="1" noChangeShapeType="1" noTextEdit="1"/>
              </p:cNvSpPr>
              <p:nvPr/>
            </p:nvSpPr>
            <p:spPr>
              <a:xfrm>
                <a:off x="7516069" y="4259451"/>
                <a:ext cx="3113929" cy="601447"/>
              </a:xfrm>
              <a:prstGeom prst="rect">
                <a:avLst/>
              </a:prstGeom>
              <a:blipFill rotWithShape="0">
                <a:blip r:embed="rId7"/>
                <a:stretch>
                  <a:fillRect/>
                </a:stretch>
              </a:blipFill>
            </p:spPr>
            <p:txBody>
              <a:bodyPr/>
              <a:lstStyle/>
              <a:p>
                <a:r>
                  <a:rPr lang="en-US">
                    <a:noFill/>
                  </a:rPr>
                  <a:t> </a:t>
                </a:r>
              </a:p>
            </p:txBody>
          </p:sp>
        </mc:Fallback>
      </mc:AlternateContent>
      <p:sp>
        <p:nvSpPr>
          <p:cNvPr id="11" name="TextBox 10"/>
          <p:cNvSpPr txBox="1"/>
          <p:nvPr/>
        </p:nvSpPr>
        <p:spPr>
          <a:xfrm>
            <a:off x="1276248" y="3722514"/>
            <a:ext cx="4262321" cy="461665"/>
          </a:xfrm>
          <a:prstGeom prst="rect">
            <a:avLst/>
          </a:prstGeom>
          <a:noFill/>
        </p:spPr>
        <p:txBody>
          <a:bodyPr wrap="none" rtlCol="0">
            <a:spAutoFit/>
          </a:bodyPr>
          <a:lstStyle/>
          <a:p>
            <a:r>
              <a:rPr lang="en-US" sz="2400" dirty="0" smtClean="0"/>
              <a:t>Layer 3: second hidden layer</a:t>
            </a:r>
            <a:endParaRPr lang="en-US" sz="2400" dirty="0"/>
          </a:p>
        </p:txBody>
      </p:sp>
      <mc:AlternateContent xmlns:mc="http://schemas.openxmlformats.org/markup-compatibility/2006" xmlns:a14="http://schemas.microsoft.com/office/drawing/2010/main">
        <mc:Choice Requires="a14">
          <p:sp>
            <p:nvSpPr>
              <p:cNvPr id="12" name="TextBox 11"/>
              <p:cNvSpPr txBox="1"/>
              <p:nvPr/>
            </p:nvSpPr>
            <p:spPr>
              <a:xfrm>
                <a:off x="2334469" y="5776709"/>
                <a:ext cx="3295774"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(4)</m:t>
                          </m:r>
                        </m:sup>
                      </m:sSup>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(3)</m:t>
                          </m:r>
                        </m:sup>
                      </m:sSup>
                    </m:oMath>
                  </m:oMathPara>
                </a14:m>
                <a:endParaRPr lang="en-US" sz="3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334469" y="5776709"/>
                <a:ext cx="3295774" cy="577081"/>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7516069" y="5776709"/>
                <a:ext cx="4020588" cy="5915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600" b="0" i="1" smtClean="0">
                              <a:latin typeface="Cambria Math" panose="02040503050406030204" pitchFamily="18" charset="0"/>
                            </a:rPr>
                          </m:ctrlPr>
                        </m:accPr>
                        <m:e>
                          <m:r>
                            <a:rPr lang="en-US" sz="3600" b="0" i="1" smtClean="0">
                              <a:latin typeface="Cambria Math" charset="0"/>
                            </a:rPr>
                            <m:t>𝑦</m:t>
                          </m:r>
                        </m:e>
                      </m:acc>
                      <m:r>
                        <a:rPr lang="en-US" sz="3600" b="0" i="1" smtClean="0">
                          <a:latin typeface="Cambria Math" charset="0"/>
                        </a:rPr>
                        <m:t>=</m:t>
                      </m:r>
                      <m:r>
                        <a:rPr lang="en-US" sz="3600" b="0" i="1" smtClean="0">
                          <a:latin typeface="Cambria Math" charset="0"/>
                        </a:rPr>
                        <m:t>𝑠𝑜𝑓𝑡𝑚𝑎𝑥</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4</m:t>
                              </m:r>
                            </m:e>
                          </m:d>
                        </m:sup>
                      </m:sSup>
                      <m:r>
                        <a:rPr lang="en-US" sz="3600" b="0" i="1" smtClean="0">
                          <a:latin typeface="Cambria Math" charset="0"/>
                        </a:rPr>
                        <m:t>)</m:t>
                      </m:r>
                    </m:oMath>
                  </m:oMathPara>
                </a14:m>
                <a:endParaRPr lang="en-US" sz="3600" dirty="0"/>
              </a:p>
            </p:txBody>
          </p:sp>
        </mc:Choice>
        <mc:Fallback xmlns="">
          <p:sp>
            <p:nvSpPr>
              <p:cNvPr id="13" name="TextBox 12"/>
              <p:cNvSpPr txBox="1">
                <a:spLocks noRot="1" noChangeAspect="1" noMove="1" noResize="1" noEditPoints="1" noAdjustHandles="1" noChangeArrowheads="1" noChangeShapeType="1" noTextEdit="1"/>
              </p:cNvSpPr>
              <p:nvPr/>
            </p:nvSpPr>
            <p:spPr>
              <a:xfrm>
                <a:off x="7516069" y="5776709"/>
                <a:ext cx="4020588" cy="591572"/>
              </a:xfrm>
              <a:prstGeom prst="rect">
                <a:avLst/>
              </a:prstGeom>
              <a:blipFill rotWithShape="0">
                <a:blip r:embed="rId9"/>
                <a:stretch>
                  <a:fillRect/>
                </a:stretch>
              </a:blipFill>
            </p:spPr>
            <p:txBody>
              <a:bodyPr/>
              <a:lstStyle/>
              <a:p>
                <a:r>
                  <a:rPr lang="en-US">
                    <a:noFill/>
                  </a:rPr>
                  <a:t> </a:t>
                </a:r>
              </a:p>
            </p:txBody>
          </p:sp>
        </mc:Fallback>
      </mc:AlternateContent>
      <p:sp>
        <p:nvSpPr>
          <p:cNvPr id="14" name="TextBox 13"/>
          <p:cNvSpPr txBox="1"/>
          <p:nvPr/>
        </p:nvSpPr>
        <p:spPr>
          <a:xfrm>
            <a:off x="1276248" y="5225281"/>
            <a:ext cx="2319674" cy="461665"/>
          </a:xfrm>
          <a:prstGeom prst="rect">
            <a:avLst/>
          </a:prstGeom>
          <a:noFill/>
        </p:spPr>
        <p:txBody>
          <a:bodyPr wrap="none" rtlCol="0">
            <a:spAutoFit/>
          </a:bodyPr>
          <a:lstStyle/>
          <a:p>
            <a:r>
              <a:rPr lang="en-US" sz="2400" dirty="0" smtClean="0"/>
              <a:t>Layer 4: output</a:t>
            </a:r>
            <a:endParaRPr lang="en-US" sz="2400" dirty="0"/>
          </a:p>
        </p:txBody>
      </p:sp>
      <mc:AlternateContent xmlns:mc="http://schemas.openxmlformats.org/markup-compatibility/2006" xmlns:a14="http://schemas.microsoft.com/office/drawing/2010/main">
        <mc:Choice Requires="a14">
          <p:sp>
            <p:nvSpPr>
              <p:cNvPr id="15" name="TextBox 14"/>
              <p:cNvSpPr txBox="1"/>
              <p:nvPr/>
            </p:nvSpPr>
            <p:spPr>
              <a:xfrm>
                <a:off x="7829969" y="786477"/>
                <a:ext cx="3392788"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charset="0"/>
                        </a:rPr>
                        <m:t>𝐽</m:t>
                      </m:r>
                      <m:r>
                        <a:rPr lang="en-US" sz="4000" b="0" i="1" smtClean="0">
                          <a:latin typeface="Cambria Math" charset="0"/>
                        </a:rPr>
                        <m:t>=</m:t>
                      </m:r>
                      <m:r>
                        <a:rPr lang="en-US" sz="4000" b="0" i="1" smtClean="0">
                          <a:latin typeface="Cambria Math" charset="0"/>
                        </a:rPr>
                        <m:t>𝐶</m:t>
                      </m:r>
                      <m:r>
                        <a:rPr lang="en-US" sz="4000" b="0" i="1" smtClean="0">
                          <a:latin typeface="Cambria Math" charset="0"/>
                        </a:rPr>
                        <m:t>.</m:t>
                      </m:r>
                      <m:r>
                        <a:rPr lang="en-US" sz="4000" b="0" i="1" smtClean="0">
                          <a:latin typeface="Cambria Math" charset="0"/>
                        </a:rPr>
                        <m:t>𝐸</m:t>
                      </m:r>
                      <m:r>
                        <a:rPr lang="en-US" sz="4000" b="0" i="1" smtClean="0">
                          <a:latin typeface="Cambria Math" charset="0"/>
                        </a:rPr>
                        <m:t>.(</m:t>
                      </m:r>
                      <m:acc>
                        <m:accPr>
                          <m:chr m:val="̂"/>
                          <m:ctrlPr>
                            <a:rPr lang="en-US" sz="4000" b="0" i="1" smtClean="0">
                              <a:latin typeface="Cambria Math" panose="02040503050406030204" pitchFamily="18" charset="0"/>
                            </a:rPr>
                          </m:ctrlPr>
                        </m:accPr>
                        <m:e>
                          <m:r>
                            <a:rPr lang="en-US" sz="4000" b="0" i="1" smtClean="0">
                              <a:latin typeface="Cambria Math" charset="0"/>
                            </a:rPr>
                            <m:t>𝑦</m:t>
                          </m:r>
                        </m:e>
                      </m:acc>
                      <m:r>
                        <a:rPr lang="en-US" sz="4000" b="0" i="1" smtClean="0">
                          <a:latin typeface="Cambria Math" charset="0"/>
                        </a:rPr>
                        <m:t>, </m:t>
                      </m:r>
                      <m:r>
                        <a:rPr lang="en-US" sz="4000" b="0" i="1" smtClean="0">
                          <a:latin typeface="Cambria Math" charset="0"/>
                        </a:rPr>
                        <m:t>𝑦</m:t>
                      </m:r>
                      <m:r>
                        <a:rPr lang="en-US" sz="4000" b="0" i="1" smtClean="0">
                          <a:latin typeface="Cambria Math" charset="0"/>
                        </a:rPr>
                        <m:t>)</m:t>
                      </m:r>
                    </m:oMath>
                  </m:oMathPara>
                </a14:m>
                <a:endParaRPr lang="en-US" sz="4000" dirty="0"/>
              </a:p>
            </p:txBody>
          </p:sp>
        </mc:Choice>
        <mc:Fallback xmlns="">
          <p:sp>
            <p:nvSpPr>
              <p:cNvPr id="15" name="TextBox 14"/>
              <p:cNvSpPr txBox="1">
                <a:spLocks noRot="1" noChangeAspect="1" noMove="1" noResize="1" noEditPoints="1" noAdjustHandles="1" noChangeArrowheads="1" noChangeShapeType="1" noTextEdit="1"/>
              </p:cNvSpPr>
              <p:nvPr/>
            </p:nvSpPr>
            <p:spPr>
              <a:xfrm>
                <a:off x="7829969" y="786477"/>
                <a:ext cx="3392788" cy="615553"/>
              </a:xfrm>
              <a:prstGeom prst="rect">
                <a:avLst/>
              </a:prstGeom>
              <a:blipFill rotWithShape="0">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951791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P spid="11" grpId="0"/>
      <p:bldP spid="12" grpId="0"/>
      <p:bldP spid="13" grpId="0"/>
      <p:bldP spid="14" grpId="0"/>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partial derivatives</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2334469" y="2332414"/>
                <a:ext cx="2843791"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𝑋</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(1)</m:t>
                          </m:r>
                        </m:sup>
                      </m:sSup>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2334469" y="2332414"/>
                <a:ext cx="2843791" cy="57708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516069" y="2317923"/>
                <a:ext cx="3000117" cy="5915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2</m:t>
                              </m:r>
                            </m:e>
                          </m:d>
                        </m:sup>
                      </m:sSup>
                      <m:r>
                        <a:rPr lang="en-US" sz="3600" b="0" i="1" smtClean="0">
                          <a:latin typeface="Cambria Math" charset="0"/>
                        </a:rPr>
                        <m:t>)</m:t>
                      </m:r>
                    </m:oMath>
                  </m:oMathPara>
                </a14:m>
                <a:endParaRPr lang="en-US"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7516069" y="2317923"/>
                <a:ext cx="3000117" cy="59157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334469" y="3999259"/>
                <a:ext cx="3295774"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(2)</m:t>
                          </m:r>
                        </m:sup>
                      </m:sSup>
                    </m:oMath>
                  </m:oMathPara>
                </a14:m>
                <a:endParaRPr lang="en-US" sz="3600" dirty="0"/>
              </a:p>
            </p:txBody>
          </p:sp>
        </mc:Choice>
        <mc:Fallback xmlns="">
          <p:sp>
            <p:nvSpPr>
              <p:cNvPr id="9" name="TextBox 8"/>
              <p:cNvSpPr txBox="1">
                <a:spLocks noRot="1" noChangeAspect="1" noMove="1" noResize="1" noEditPoints="1" noAdjustHandles="1" noChangeArrowheads="1" noChangeShapeType="1" noTextEdit="1"/>
              </p:cNvSpPr>
              <p:nvPr/>
            </p:nvSpPr>
            <p:spPr>
              <a:xfrm>
                <a:off x="2334469" y="3999259"/>
                <a:ext cx="3295774" cy="577081"/>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516069" y="3984768"/>
                <a:ext cx="3113929" cy="601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3</m:t>
                              </m:r>
                            </m:e>
                          </m:d>
                        </m:sup>
                      </m:sSup>
                      <m:r>
                        <a:rPr lang="en-US" sz="3600" b="0" i="1" smtClean="0">
                          <a:latin typeface="Cambria Math" charset="0"/>
                        </a:rPr>
                        <m:t>)</m:t>
                      </m:r>
                    </m:oMath>
                  </m:oMathPara>
                </a14:m>
                <a:endParaRPr lang="en-US" sz="3600" dirty="0"/>
              </a:p>
            </p:txBody>
          </p:sp>
        </mc:Choice>
        <mc:Fallback xmlns="">
          <p:sp>
            <p:nvSpPr>
              <p:cNvPr id="10" name="TextBox 9"/>
              <p:cNvSpPr txBox="1">
                <a:spLocks noRot="1" noChangeAspect="1" noMove="1" noResize="1" noEditPoints="1" noAdjustHandles="1" noChangeArrowheads="1" noChangeShapeType="1" noTextEdit="1"/>
              </p:cNvSpPr>
              <p:nvPr/>
            </p:nvSpPr>
            <p:spPr>
              <a:xfrm>
                <a:off x="7516069" y="3984768"/>
                <a:ext cx="3113929" cy="601447"/>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334469" y="5776709"/>
                <a:ext cx="3295774"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(4)</m:t>
                          </m:r>
                        </m:sup>
                      </m:sSup>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(3)</m:t>
                          </m:r>
                        </m:sup>
                      </m:sSup>
                    </m:oMath>
                  </m:oMathPara>
                </a14:m>
                <a:endParaRPr lang="en-US" sz="3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334469" y="5776709"/>
                <a:ext cx="3295774" cy="57708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7983449" y="762000"/>
                <a:ext cx="3392788"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charset="0"/>
                        </a:rPr>
                        <m:t>𝐽</m:t>
                      </m:r>
                      <m:r>
                        <a:rPr lang="en-US" sz="4000" b="0" i="1" smtClean="0">
                          <a:latin typeface="Cambria Math" charset="0"/>
                        </a:rPr>
                        <m:t>=</m:t>
                      </m:r>
                      <m:r>
                        <a:rPr lang="en-US" sz="4000" b="0" i="1" smtClean="0">
                          <a:latin typeface="Cambria Math" charset="0"/>
                        </a:rPr>
                        <m:t>𝐶</m:t>
                      </m:r>
                      <m:r>
                        <a:rPr lang="en-US" sz="4000" b="0" i="1" smtClean="0">
                          <a:latin typeface="Cambria Math" charset="0"/>
                        </a:rPr>
                        <m:t>.</m:t>
                      </m:r>
                      <m:r>
                        <a:rPr lang="en-US" sz="4000" b="0" i="1" smtClean="0">
                          <a:latin typeface="Cambria Math" charset="0"/>
                        </a:rPr>
                        <m:t>𝐸</m:t>
                      </m:r>
                      <m:r>
                        <a:rPr lang="en-US" sz="4000" b="0" i="1" smtClean="0">
                          <a:latin typeface="Cambria Math" charset="0"/>
                        </a:rPr>
                        <m:t>.(</m:t>
                      </m:r>
                      <m:acc>
                        <m:accPr>
                          <m:chr m:val="̂"/>
                          <m:ctrlPr>
                            <a:rPr lang="en-US" sz="4000" b="0" i="1" smtClean="0">
                              <a:latin typeface="Cambria Math" panose="02040503050406030204" pitchFamily="18" charset="0"/>
                            </a:rPr>
                          </m:ctrlPr>
                        </m:accPr>
                        <m:e>
                          <m:r>
                            <a:rPr lang="en-US" sz="4000" b="0" i="1" smtClean="0">
                              <a:latin typeface="Cambria Math" charset="0"/>
                            </a:rPr>
                            <m:t>𝑦</m:t>
                          </m:r>
                        </m:e>
                      </m:acc>
                      <m:r>
                        <a:rPr lang="en-US" sz="4000" b="0" i="1" smtClean="0">
                          <a:latin typeface="Cambria Math" charset="0"/>
                        </a:rPr>
                        <m:t>, </m:t>
                      </m:r>
                      <m:r>
                        <a:rPr lang="en-US" sz="4000" b="0" i="1" smtClean="0">
                          <a:latin typeface="Cambria Math" charset="0"/>
                        </a:rPr>
                        <m:t>𝑦</m:t>
                      </m:r>
                      <m:r>
                        <a:rPr lang="en-US" sz="4000" b="0" i="1" smtClean="0">
                          <a:latin typeface="Cambria Math" charset="0"/>
                        </a:rPr>
                        <m:t>)</m:t>
                      </m:r>
                    </m:oMath>
                  </m:oMathPara>
                </a14:m>
                <a:endParaRPr lang="en-US" sz="4000" dirty="0"/>
              </a:p>
            </p:txBody>
          </p:sp>
        </mc:Choice>
        <mc:Fallback xmlns="">
          <p:sp>
            <p:nvSpPr>
              <p:cNvPr id="15" name="TextBox 14"/>
              <p:cNvSpPr txBox="1">
                <a:spLocks noRot="1" noChangeAspect="1" noMove="1" noResize="1" noEditPoints="1" noAdjustHandles="1" noChangeArrowheads="1" noChangeShapeType="1" noTextEdit="1"/>
              </p:cNvSpPr>
              <p:nvPr/>
            </p:nvSpPr>
            <p:spPr>
              <a:xfrm>
                <a:off x="7983449" y="762000"/>
                <a:ext cx="3392788" cy="615553"/>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7516069" y="5776709"/>
                <a:ext cx="4020588" cy="5915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3600" b="0" i="1" smtClean="0">
                              <a:latin typeface="Cambria Math" panose="02040503050406030204" pitchFamily="18" charset="0"/>
                            </a:rPr>
                          </m:ctrlPr>
                        </m:accPr>
                        <m:e>
                          <m:r>
                            <a:rPr lang="en-US" sz="3600" b="0" i="1" smtClean="0">
                              <a:latin typeface="Cambria Math" charset="0"/>
                            </a:rPr>
                            <m:t>𝑦</m:t>
                          </m:r>
                        </m:e>
                      </m:acc>
                      <m:r>
                        <a:rPr lang="en-US" sz="3600" b="0" i="1" smtClean="0">
                          <a:latin typeface="Cambria Math" charset="0"/>
                        </a:rPr>
                        <m:t>=</m:t>
                      </m:r>
                      <m:r>
                        <a:rPr lang="en-US" sz="3600" b="0" i="1" smtClean="0">
                          <a:latin typeface="Cambria Math" charset="0"/>
                        </a:rPr>
                        <m:t>𝑠𝑜𝑓𝑡𝑚𝑎𝑥</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4</m:t>
                              </m:r>
                            </m:e>
                          </m:d>
                        </m:sup>
                      </m:sSup>
                      <m:r>
                        <a:rPr lang="en-US" sz="3600" b="0" i="1" smtClean="0">
                          <a:latin typeface="Cambria Math" charset="0"/>
                        </a:rPr>
                        <m:t>)</m:t>
                      </m:r>
                    </m:oMath>
                  </m:oMathPara>
                </a14:m>
                <a:endParaRPr lang="en-US" sz="3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7516069" y="5776709"/>
                <a:ext cx="4020588" cy="591572"/>
              </a:xfrm>
              <a:prstGeom prst="rect">
                <a:avLst/>
              </a:prstGeom>
              <a:blipFill rotWithShape="0">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08320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partial derivatives</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2334469" y="2332414"/>
                <a:ext cx="2843791"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𝑋</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(1)</m:t>
                          </m:r>
                        </m:sup>
                      </m:sSup>
                    </m:oMath>
                  </m:oMathPara>
                </a14:m>
                <a:endParaRPr lang="en-US" sz="3600" dirty="0"/>
              </a:p>
            </p:txBody>
          </p:sp>
        </mc:Choice>
        <mc:Fallback xmlns="">
          <p:sp>
            <p:nvSpPr>
              <p:cNvPr id="4" name="TextBox 3"/>
              <p:cNvSpPr txBox="1">
                <a:spLocks noRot="1" noChangeAspect="1" noMove="1" noResize="1" noEditPoints="1" noAdjustHandles="1" noChangeArrowheads="1" noChangeShapeType="1" noTextEdit="1"/>
              </p:cNvSpPr>
              <p:nvPr/>
            </p:nvSpPr>
            <p:spPr>
              <a:xfrm>
                <a:off x="2334469" y="2332414"/>
                <a:ext cx="2843791" cy="57708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516069" y="2317923"/>
                <a:ext cx="3000117" cy="5915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2</m:t>
                              </m:r>
                            </m:e>
                          </m:d>
                        </m:sup>
                      </m:sSup>
                      <m:r>
                        <a:rPr lang="en-US" sz="3600" b="0" i="1" smtClean="0">
                          <a:latin typeface="Cambria Math" charset="0"/>
                        </a:rPr>
                        <m:t>)</m:t>
                      </m:r>
                    </m:oMath>
                  </m:oMathPara>
                </a14:m>
                <a:endParaRPr lang="en-US" sz="3600" dirty="0"/>
              </a:p>
            </p:txBody>
          </p:sp>
        </mc:Choice>
        <mc:Fallback xmlns="">
          <p:sp>
            <p:nvSpPr>
              <p:cNvPr id="5" name="TextBox 4"/>
              <p:cNvSpPr txBox="1">
                <a:spLocks noRot="1" noChangeAspect="1" noMove="1" noResize="1" noEditPoints="1" noAdjustHandles="1" noChangeArrowheads="1" noChangeShapeType="1" noTextEdit="1"/>
              </p:cNvSpPr>
              <p:nvPr/>
            </p:nvSpPr>
            <p:spPr>
              <a:xfrm>
                <a:off x="7516069" y="2317923"/>
                <a:ext cx="3000117" cy="59157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334469" y="3999259"/>
                <a:ext cx="3295774"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(2)</m:t>
                          </m:r>
                        </m:sup>
                      </m:sSup>
                    </m:oMath>
                  </m:oMathPara>
                </a14:m>
                <a:endParaRPr lang="en-US" sz="3600" dirty="0"/>
              </a:p>
            </p:txBody>
          </p:sp>
        </mc:Choice>
        <mc:Fallback xmlns="">
          <p:sp>
            <p:nvSpPr>
              <p:cNvPr id="9" name="TextBox 8"/>
              <p:cNvSpPr txBox="1">
                <a:spLocks noRot="1" noChangeAspect="1" noMove="1" noResize="1" noEditPoints="1" noAdjustHandles="1" noChangeArrowheads="1" noChangeShapeType="1" noTextEdit="1"/>
              </p:cNvSpPr>
              <p:nvPr/>
            </p:nvSpPr>
            <p:spPr>
              <a:xfrm>
                <a:off x="2334469" y="3999259"/>
                <a:ext cx="3295774" cy="577081"/>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516069" y="3984768"/>
                <a:ext cx="3113929" cy="601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3</m:t>
                              </m:r>
                            </m:e>
                          </m:d>
                        </m:sup>
                      </m:sSup>
                      <m:r>
                        <a:rPr lang="en-US" sz="3600" b="0" i="1" smtClean="0">
                          <a:latin typeface="Cambria Math" charset="0"/>
                        </a:rPr>
                        <m:t>)</m:t>
                      </m:r>
                    </m:oMath>
                  </m:oMathPara>
                </a14:m>
                <a:endParaRPr lang="en-US" sz="3600" dirty="0"/>
              </a:p>
            </p:txBody>
          </p:sp>
        </mc:Choice>
        <mc:Fallback xmlns="">
          <p:sp>
            <p:nvSpPr>
              <p:cNvPr id="10" name="TextBox 9"/>
              <p:cNvSpPr txBox="1">
                <a:spLocks noRot="1" noChangeAspect="1" noMove="1" noResize="1" noEditPoints="1" noAdjustHandles="1" noChangeArrowheads="1" noChangeShapeType="1" noTextEdit="1"/>
              </p:cNvSpPr>
              <p:nvPr/>
            </p:nvSpPr>
            <p:spPr>
              <a:xfrm>
                <a:off x="7516069" y="3984768"/>
                <a:ext cx="3113929" cy="601447"/>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2334469" y="5776709"/>
                <a:ext cx="3295774" cy="577081"/>
              </a:xfrm>
              <a:prstGeom prst="rect">
                <a:avLst/>
              </a:prstGeom>
              <a:noFill/>
            </p:spPr>
            <p:txBody>
              <a:bodyPr wrap="none" lIns="0" tIns="0" rIns="0" bIns="0" rtlCol="0">
                <a:spAutoFit/>
              </a:bodyPr>
              <a:lstStyle/>
              <a:p>
                <a:endParaRPr lang="en-US" sz="3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2334469" y="5776709"/>
                <a:ext cx="3295774" cy="57708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8532812" y="5476626"/>
                <a:ext cx="2743700" cy="944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b="0" i="1" smtClean="0">
                              <a:solidFill>
                                <a:srgbClr val="FF0000"/>
                              </a:solidFill>
                              <a:latin typeface="Cambria Math" panose="02040503050406030204" pitchFamily="18" charset="0"/>
                            </a:rPr>
                          </m:ctrlPr>
                        </m:fPr>
                        <m:num>
                          <m:r>
                            <a:rPr lang="mr-IN" sz="3200" b="0" i="1" smtClean="0">
                              <a:solidFill>
                                <a:srgbClr val="FF0000"/>
                              </a:solidFill>
                              <a:latin typeface="Cambria Math" charset="0"/>
                            </a:rPr>
                            <m:t>𝜕</m:t>
                          </m:r>
                          <m:r>
                            <a:rPr lang="en-US" sz="3200" b="0" i="1" smtClean="0">
                              <a:solidFill>
                                <a:srgbClr val="FF0000"/>
                              </a:solidFill>
                              <a:latin typeface="Cambria Math" charset="0"/>
                            </a:rPr>
                            <m:t>𝐽</m:t>
                          </m:r>
                        </m:num>
                        <m:den>
                          <m:r>
                            <a:rPr lang="mr-IN" sz="3200" b="0" i="1" smtClean="0">
                              <a:solidFill>
                                <a:srgbClr val="FF0000"/>
                              </a:solidFill>
                              <a:latin typeface="Cambria Math" charset="0"/>
                            </a:rPr>
                            <m:t>𝜕</m:t>
                          </m:r>
                          <m:sSup>
                            <m:sSupPr>
                              <m:ctrlPr>
                                <a:rPr lang="en-US" sz="3200" b="0" i="1" smtClean="0">
                                  <a:solidFill>
                                    <a:srgbClr val="FF0000"/>
                                  </a:solidFill>
                                  <a:latin typeface="Cambria Math" panose="02040503050406030204" pitchFamily="18" charset="0"/>
                                </a:rPr>
                              </m:ctrlPr>
                            </m:sSupPr>
                            <m:e>
                              <m:r>
                                <a:rPr lang="en-US" sz="3200" b="0" i="1" smtClean="0">
                                  <a:solidFill>
                                    <a:srgbClr val="FF0000"/>
                                  </a:solidFill>
                                  <a:latin typeface="Cambria Math" charset="0"/>
                                </a:rPr>
                                <m:t>𝑧</m:t>
                              </m:r>
                            </m:e>
                            <m:sup>
                              <m:r>
                                <a:rPr lang="en-US" sz="3200" b="0" i="1" smtClean="0">
                                  <a:solidFill>
                                    <a:srgbClr val="FF0000"/>
                                  </a:solidFill>
                                  <a:latin typeface="Cambria Math" charset="0"/>
                                </a:rPr>
                                <m:t>(4)</m:t>
                              </m:r>
                            </m:sup>
                          </m:sSup>
                        </m:den>
                      </m:f>
                      <m:r>
                        <a:rPr lang="en-US" sz="3200" b="0" i="1" smtClean="0">
                          <a:solidFill>
                            <a:srgbClr val="FF0000"/>
                          </a:solidFill>
                          <a:latin typeface="Cambria Math" charset="0"/>
                        </a:rPr>
                        <m:t>=</m:t>
                      </m:r>
                      <m:acc>
                        <m:accPr>
                          <m:chr m:val="̂"/>
                          <m:ctrlPr>
                            <a:rPr lang="en-US" sz="3600" i="1">
                              <a:solidFill>
                                <a:srgbClr val="FF0000"/>
                              </a:solidFill>
                              <a:latin typeface="Cambria Math" panose="02040503050406030204" pitchFamily="18" charset="0"/>
                            </a:rPr>
                          </m:ctrlPr>
                        </m:accPr>
                        <m:e>
                          <m:r>
                            <a:rPr lang="en-US" sz="3600" i="1">
                              <a:solidFill>
                                <a:srgbClr val="FF0000"/>
                              </a:solidFill>
                              <a:latin typeface="Cambria Math" charset="0"/>
                            </a:rPr>
                            <m:t>𝑦</m:t>
                          </m:r>
                        </m:e>
                      </m:acc>
                      <m:r>
                        <a:rPr lang="en-US" sz="3600" b="0" i="1" smtClean="0">
                          <a:solidFill>
                            <a:srgbClr val="FF0000"/>
                          </a:solidFill>
                          <a:latin typeface="Cambria Math" charset="0"/>
                        </a:rPr>
                        <m:t>−</m:t>
                      </m:r>
                      <m:r>
                        <a:rPr lang="en-US" sz="3600" b="0" i="1" smtClean="0">
                          <a:solidFill>
                            <a:srgbClr val="FF0000"/>
                          </a:solidFill>
                          <a:latin typeface="Cambria Math" charset="0"/>
                        </a:rPr>
                        <m:t>𝑦</m:t>
                      </m:r>
                    </m:oMath>
                  </m:oMathPara>
                </a14:m>
                <a:endParaRPr lang="en-US" sz="3600" dirty="0">
                  <a:solidFill>
                    <a:srgbClr val="FF0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8532812" y="5476626"/>
                <a:ext cx="2743700" cy="944746"/>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7983449" y="957879"/>
                <a:ext cx="3392788"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charset="0"/>
                        </a:rPr>
                        <m:t>𝐽</m:t>
                      </m:r>
                      <m:r>
                        <a:rPr lang="en-US" sz="4000" b="0" i="1" smtClean="0">
                          <a:latin typeface="Cambria Math" charset="0"/>
                        </a:rPr>
                        <m:t>=</m:t>
                      </m:r>
                      <m:r>
                        <a:rPr lang="en-US" sz="4000" b="0" i="1" smtClean="0">
                          <a:latin typeface="Cambria Math" charset="0"/>
                        </a:rPr>
                        <m:t>𝐶</m:t>
                      </m:r>
                      <m:r>
                        <a:rPr lang="en-US" sz="4000" b="0" i="1" smtClean="0">
                          <a:latin typeface="Cambria Math" charset="0"/>
                        </a:rPr>
                        <m:t>.</m:t>
                      </m:r>
                      <m:r>
                        <a:rPr lang="en-US" sz="4000" b="0" i="1" smtClean="0">
                          <a:latin typeface="Cambria Math" charset="0"/>
                        </a:rPr>
                        <m:t>𝐸</m:t>
                      </m:r>
                      <m:r>
                        <a:rPr lang="en-US" sz="4000" b="0" i="1" smtClean="0">
                          <a:latin typeface="Cambria Math" charset="0"/>
                        </a:rPr>
                        <m:t>.(</m:t>
                      </m:r>
                      <m:acc>
                        <m:accPr>
                          <m:chr m:val="̂"/>
                          <m:ctrlPr>
                            <a:rPr lang="en-US" sz="4000" b="0" i="1" smtClean="0">
                              <a:latin typeface="Cambria Math" panose="02040503050406030204" pitchFamily="18" charset="0"/>
                            </a:rPr>
                          </m:ctrlPr>
                        </m:accPr>
                        <m:e>
                          <m:r>
                            <a:rPr lang="en-US" sz="4000" b="0" i="1" smtClean="0">
                              <a:latin typeface="Cambria Math" charset="0"/>
                            </a:rPr>
                            <m:t>𝑦</m:t>
                          </m:r>
                        </m:e>
                      </m:acc>
                      <m:r>
                        <a:rPr lang="en-US" sz="4000" b="0" i="1" smtClean="0">
                          <a:latin typeface="Cambria Math" charset="0"/>
                        </a:rPr>
                        <m:t>, </m:t>
                      </m:r>
                      <m:r>
                        <a:rPr lang="en-US" sz="4000" b="0" i="1" smtClean="0">
                          <a:latin typeface="Cambria Math" charset="0"/>
                        </a:rPr>
                        <m:t>𝑦</m:t>
                      </m:r>
                      <m:r>
                        <a:rPr lang="en-US" sz="4000" b="0" i="1" smtClean="0">
                          <a:latin typeface="Cambria Math" charset="0"/>
                        </a:rPr>
                        <m:t>)</m:t>
                      </m:r>
                    </m:oMath>
                  </m:oMathPara>
                </a14:m>
                <a:endParaRPr lang="en-US" sz="4000" dirty="0"/>
              </a:p>
            </p:txBody>
          </p:sp>
        </mc:Choice>
        <mc:Fallback xmlns="">
          <p:sp>
            <p:nvSpPr>
              <p:cNvPr id="15" name="TextBox 14"/>
              <p:cNvSpPr txBox="1">
                <a:spLocks noRot="1" noChangeAspect="1" noMove="1" noResize="1" noEditPoints="1" noAdjustHandles="1" noChangeArrowheads="1" noChangeShapeType="1" noTextEdit="1"/>
              </p:cNvSpPr>
              <p:nvPr/>
            </p:nvSpPr>
            <p:spPr>
              <a:xfrm>
                <a:off x="7983449" y="957879"/>
                <a:ext cx="3392788" cy="615553"/>
              </a:xfrm>
              <a:prstGeom prst="rect">
                <a:avLst/>
              </a:prstGeom>
              <a:blipFill rotWithShape="0">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379538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partial derivatives</a:t>
            </a:r>
            <a:endParaRPr lang="en-US" dirty="0"/>
          </a:p>
        </p:txBody>
      </p:sp>
      <mc:AlternateContent xmlns:mc="http://schemas.openxmlformats.org/markup-compatibility/2006" xmlns:a14="http://schemas.microsoft.com/office/drawing/2010/main">
        <mc:Choice Requires="a14">
          <p:sp>
            <p:nvSpPr>
              <p:cNvPr id="12" name="TextBox 11"/>
              <p:cNvSpPr txBox="1"/>
              <p:nvPr/>
            </p:nvSpPr>
            <p:spPr>
              <a:xfrm>
                <a:off x="1492083" y="5376214"/>
                <a:ext cx="3047757" cy="1145570"/>
              </a:xfrm>
              <a:prstGeom prst="rect">
                <a:avLst/>
              </a:prstGeom>
              <a:noFill/>
            </p:spPr>
            <p:txBody>
              <a:bodyPr wrap="none" lIns="0" tIns="0" rIns="0" bIns="0" rtlCol="0">
                <a:spAutoFit/>
              </a:bodyPr>
              <a:lstStyle/>
              <a:p>
                <a:endParaRPr lang="en-US" sz="3600" dirty="0">
                  <a:solidFill>
                    <a:srgbClr val="FF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492083" y="5376214"/>
                <a:ext cx="3047757" cy="114557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418012" y="5376214"/>
                <a:ext cx="2925929" cy="1145570"/>
              </a:xfrm>
              <a:prstGeom prst="rect">
                <a:avLst/>
              </a:prstGeom>
              <a:noFill/>
            </p:spPr>
            <p:txBody>
              <a:bodyPr wrap="none" lIns="0" tIns="0" rIns="0" bIns="0" rtlCol="0">
                <a:spAutoFit/>
              </a:bodyPr>
              <a:lstStyle/>
              <a:p>
                <a:endParaRPr lang="en-US" sz="3600" dirty="0">
                  <a:solidFill>
                    <a:srgbClr val="FF0000"/>
                  </a:solidFill>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4418012" y="5376214"/>
                <a:ext cx="2925929" cy="114557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8532812" y="5476626"/>
                <a:ext cx="2743700" cy="944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b="0" i="1" smtClean="0">
                              <a:latin typeface="Cambria Math" panose="02040503050406030204" pitchFamily="18" charset="0"/>
                            </a:rPr>
                          </m:ctrlPr>
                        </m:fPr>
                        <m:num>
                          <m:r>
                            <a:rPr lang="mr-IN" sz="3200" b="0" i="1" smtClean="0">
                              <a:latin typeface="Cambria Math" charset="0"/>
                            </a:rPr>
                            <m:t>𝜕</m:t>
                          </m:r>
                          <m:r>
                            <a:rPr lang="en-US" sz="3200" b="0" i="1" smtClean="0">
                              <a:latin typeface="Cambria Math" charset="0"/>
                            </a:rPr>
                            <m:t>𝐽</m:t>
                          </m:r>
                        </m:num>
                        <m:den>
                          <m:r>
                            <a:rPr lang="mr-IN" sz="3200" b="0" i="1" smtClean="0">
                              <a:latin typeface="Cambria Math" charset="0"/>
                            </a:rPr>
                            <m:t>𝜕</m:t>
                          </m:r>
                          <m:sSup>
                            <m:sSupPr>
                              <m:ctrlPr>
                                <a:rPr lang="en-US" sz="3200" b="0" i="1" smtClean="0">
                                  <a:latin typeface="Cambria Math" panose="02040503050406030204" pitchFamily="18" charset="0"/>
                                </a:rPr>
                              </m:ctrlPr>
                            </m:sSupPr>
                            <m:e>
                              <m:r>
                                <a:rPr lang="en-US" sz="3200" b="0" i="1" smtClean="0">
                                  <a:latin typeface="Cambria Math" charset="0"/>
                                </a:rPr>
                                <m:t>𝑧</m:t>
                              </m:r>
                            </m:e>
                            <m:sup>
                              <m:r>
                                <a:rPr lang="en-US" sz="3200" b="0" i="1" smtClean="0">
                                  <a:latin typeface="Cambria Math" charset="0"/>
                                </a:rPr>
                                <m:t>(4)</m:t>
                              </m:r>
                            </m:sup>
                          </m:sSup>
                        </m:den>
                      </m:f>
                      <m:r>
                        <a:rPr lang="en-US" sz="3200" b="0" i="1" smtClean="0">
                          <a:latin typeface="Cambria Math" charset="0"/>
                        </a:rPr>
                        <m:t>=</m:t>
                      </m:r>
                      <m:acc>
                        <m:accPr>
                          <m:chr m:val="̂"/>
                          <m:ctrlPr>
                            <a:rPr lang="en-US" sz="3600" i="1">
                              <a:latin typeface="Cambria Math" panose="02040503050406030204" pitchFamily="18" charset="0"/>
                            </a:rPr>
                          </m:ctrlPr>
                        </m:accPr>
                        <m:e>
                          <m:r>
                            <a:rPr lang="en-US" sz="3600" i="1">
                              <a:latin typeface="Cambria Math" charset="0"/>
                            </a:rPr>
                            <m:t>𝑦</m:t>
                          </m:r>
                        </m:e>
                      </m:acc>
                      <m:r>
                        <a:rPr lang="en-US" sz="3600" b="0" i="1" smtClean="0">
                          <a:latin typeface="Cambria Math" charset="0"/>
                        </a:rPr>
                        <m:t>−</m:t>
                      </m:r>
                      <m:r>
                        <a:rPr lang="en-US" sz="3600" b="0" i="1" smtClean="0">
                          <a:latin typeface="Cambria Math" charset="0"/>
                        </a:rPr>
                        <m:t>𝑦</m:t>
                      </m:r>
                    </m:oMath>
                  </m:oMathPara>
                </a14:m>
                <a:endParaRPr lang="en-US" sz="3600" dirty="0"/>
              </a:p>
            </p:txBody>
          </p:sp>
        </mc:Choice>
        <mc:Fallback xmlns="">
          <p:sp>
            <p:nvSpPr>
              <p:cNvPr id="17" name="TextBox 16"/>
              <p:cNvSpPr txBox="1">
                <a:spLocks noRot="1" noChangeAspect="1" noMove="1" noResize="1" noEditPoints="1" noAdjustHandles="1" noChangeArrowheads="1" noChangeShapeType="1" noTextEdit="1"/>
              </p:cNvSpPr>
              <p:nvPr/>
            </p:nvSpPr>
            <p:spPr>
              <a:xfrm>
                <a:off x="8532812" y="5476626"/>
                <a:ext cx="2743700" cy="944746"/>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334469" y="2332414"/>
                <a:ext cx="2843791"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𝑋</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(1)</m:t>
                          </m:r>
                        </m:sup>
                      </m:sSup>
                    </m:oMath>
                  </m:oMathPara>
                </a14:m>
                <a:endParaRPr lang="en-US" sz="3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2334469" y="2332414"/>
                <a:ext cx="2843791" cy="577081"/>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7516069" y="2317923"/>
                <a:ext cx="3000117" cy="5915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2</m:t>
                              </m:r>
                            </m:e>
                          </m:d>
                        </m:sup>
                      </m:sSup>
                      <m:r>
                        <a:rPr lang="en-US" sz="3600" b="0" i="1" smtClean="0">
                          <a:latin typeface="Cambria Math" charset="0"/>
                        </a:rPr>
                        <m:t>)</m:t>
                      </m:r>
                    </m:oMath>
                  </m:oMathPara>
                </a14:m>
                <a:endParaRPr lang="en-US" sz="3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7516069" y="2317923"/>
                <a:ext cx="3000117" cy="591572"/>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2334469" y="3999259"/>
                <a:ext cx="3295774"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(2)</m:t>
                          </m:r>
                        </m:sup>
                      </m:sSup>
                    </m:oMath>
                  </m:oMathPara>
                </a14:m>
                <a:endParaRPr lang="en-US" sz="3600" dirty="0"/>
              </a:p>
            </p:txBody>
          </p:sp>
        </mc:Choice>
        <mc:Fallback xmlns="">
          <p:sp>
            <p:nvSpPr>
              <p:cNvPr id="20" name="TextBox 19"/>
              <p:cNvSpPr txBox="1">
                <a:spLocks noRot="1" noChangeAspect="1" noMove="1" noResize="1" noEditPoints="1" noAdjustHandles="1" noChangeArrowheads="1" noChangeShapeType="1" noTextEdit="1"/>
              </p:cNvSpPr>
              <p:nvPr/>
            </p:nvSpPr>
            <p:spPr>
              <a:xfrm>
                <a:off x="2334469" y="3999259"/>
                <a:ext cx="3295774" cy="577081"/>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516069" y="3984768"/>
                <a:ext cx="3113929" cy="601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3</m:t>
                              </m:r>
                            </m:e>
                          </m:d>
                        </m:sup>
                      </m:sSup>
                      <m:r>
                        <a:rPr lang="en-US" sz="3600" b="0" i="1" smtClean="0">
                          <a:latin typeface="Cambria Math" charset="0"/>
                        </a:rPr>
                        <m:t>)</m:t>
                      </m:r>
                    </m:oMath>
                  </m:oMathPara>
                </a14:m>
                <a:endParaRPr lang="en-US" sz="3600" dirty="0"/>
              </a:p>
            </p:txBody>
          </p:sp>
        </mc:Choice>
        <mc:Fallback xmlns="">
          <p:sp>
            <p:nvSpPr>
              <p:cNvPr id="21" name="TextBox 20"/>
              <p:cNvSpPr txBox="1">
                <a:spLocks noRot="1" noChangeAspect="1" noMove="1" noResize="1" noEditPoints="1" noAdjustHandles="1" noChangeArrowheads="1" noChangeShapeType="1" noTextEdit="1"/>
              </p:cNvSpPr>
              <p:nvPr/>
            </p:nvSpPr>
            <p:spPr>
              <a:xfrm>
                <a:off x="7516069" y="3984768"/>
                <a:ext cx="3113929" cy="601447"/>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593073" y="5376214"/>
                <a:ext cx="5361532" cy="991362"/>
              </a:xfrm>
              <a:prstGeom prst="rect">
                <a:avLst/>
              </a:prstGeom>
              <a:noFill/>
            </p:spPr>
            <p:txBody>
              <a:bodyPr wrap="none" lIns="0" tIns="0" rIns="0" bIns="0" rtlCol="0">
                <a:spAutoFit/>
              </a:bodyPr>
              <a:lstStyle/>
              <a:p>
                <a14:m>
                  <m:oMath xmlns:m="http://schemas.openxmlformats.org/officeDocument/2006/math">
                    <m:f>
                      <m:fPr>
                        <m:ctrlPr>
                          <a:rPr lang="mr-IN" sz="3600" i="1" smtClean="0">
                            <a:solidFill>
                              <a:srgbClr val="FF0000"/>
                            </a:solidFill>
                            <a:latin typeface="Cambria Math" panose="02040503050406030204" pitchFamily="18" charset="0"/>
                          </a:rPr>
                        </m:ctrlPr>
                      </m:fPr>
                      <m:num>
                        <m:r>
                          <a:rPr lang="mr-IN" sz="3600" i="1">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𝑧</m:t>
                            </m:r>
                          </m:e>
                          <m:sup>
                            <m:r>
                              <a:rPr lang="en-US" sz="3600" b="0" i="1" smtClean="0">
                                <a:solidFill>
                                  <a:srgbClr val="FF0000"/>
                                </a:solidFill>
                                <a:latin typeface="Cambria Math" charset="0"/>
                              </a:rPr>
                              <m:t>(4)</m:t>
                            </m:r>
                          </m:sup>
                        </m:sSup>
                      </m:num>
                      <m:den>
                        <m:r>
                          <a:rPr lang="mr-IN" sz="3600" i="1">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𝑊</m:t>
                            </m:r>
                          </m:e>
                          <m:sup>
                            <m:r>
                              <a:rPr lang="en-US" sz="3600" b="0" i="1" smtClean="0">
                                <a:solidFill>
                                  <a:srgbClr val="FF0000"/>
                                </a:solidFill>
                                <a:latin typeface="Cambria Math" charset="0"/>
                              </a:rPr>
                              <m:t>(3)</m:t>
                            </m:r>
                          </m:sup>
                        </m:sSup>
                      </m:den>
                    </m:f>
                    <m:r>
                      <a:rPr lang="en-US" sz="3600" i="1">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𝑎</m:t>
                        </m:r>
                      </m:e>
                      <m:sup>
                        <m:r>
                          <a:rPr lang="en-US" sz="3600" b="0" i="1" smtClean="0">
                            <a:solidFill>
                              <a:srgbClr val="FF0000"/>
                            </a:solidFill>
                            <a:latin typeface="Cambria Math" charset="0"/>
                          </a:rPr>
                          <m:t>(3)</m:t>
                        </m:r>
                      </m:sup>
                    </m:sSup>
                    <m:r>
                      <a:rPr lang="en-US" sz="3600" b="0" i="1" smtClean="0">
                        <a:solidFill>
                          <a:srgbClr val="FF0000"/>
                        </a:solidFill>
                        <a:latin typeface="Cambria Math" charset="0"/>
                      </a:rPr>
                      <m:t>;</m:t>
                    </m:r>
                  </m:oMath>
                </a14:m>
                <a:r>
                  <a:rPr lang="mr-IN" sz="4000" dirty="0">
                    <a:solidFill>
                      <a:srgbClr val="FF0000"/>
                    </a:solidFill>
                  </a:rPr>
                  <a:t> </a:t>
                </a:r>
                <a14:m>
                  <m:oMath xmlns:m="http://schemas.openxmlformats.org/officeDocument/2006/math">
                    <m:f>
                      <m:fPr>
                        <m:ctrlPr>
                          <a:rPr lang="mr-IN" sz="4000" i="1">
                            <a:solidFill>
                              <a:srgbClr val="FF0000"/>
                            </a:solidFill>
                            <a:latin typeface="Cambria Math" panose="02040503050406030204" pitchFamily="18" charset="0"/>
                          </a:rPr>
                        </m:ctrlPr>
                      </m:fPr>
                      <m:num>
                        <m:r>
                          <a:rPr lang="mr-IN" sz="4000" i="1">
                            <a:solidFill>
                              <a:srgbClr val="FF0000"/>
                            </a:solidFill>
                            <a:latin typeface="Cambria Math" charset="0"/>
                          </a:rPr>
                          <m:t>𝜕</m:t>
                        </m:r>
                        <m:sSup>
                          <m:sSupPr>
                            <m:ctrlPr>
                              <a:rPr lang="en-US" sz="4000" i="1">
                                <a:solidFill>
                                  <a:srgbClr val="FF0000"/>
                                </a:solidFill>
                                <a:latin typeface="Cambria Math" panose="02040503050406030204" pitchFamily="18" charset="0"/>
                              </a:rPr>
                            </m:ctrlPr>
                          </m:sSupPr>
                          <m:e>
                            <m:r>
                              <a:rPr lang="en-US" sz="4000" i="1">
                                <a:solidFill>
                                  <a:srgbClr val="FF0000"/>
                                </a:solidFill>
                                <a:latin typeface="Cambria Math" charset="0"/>
                              </a:rPr>
                              <m:t>𝑧</m:t>
                            </m:r>
                          </m:e>
                          <m:sup>
                            <m:r>
                              <a:rPr lang="en-US" sz="4000" i="1">
                                <a:solidFill>
                                  <a:srgbClr val="FF0000"/>
                                </a:solidFill>
                                <a:latin typeface="Cambria Math" charset="0"/>
                              </a:rPr>
                              <m:t>(4)</m:t>
                            </m:r>
                          </m:sup>
                        </m:sSup>
                      </m:num>
                      <m:den>
                        <m:r>
                          <a:rPr lang="mr-IN" sz="4000" i="1">
                            <a:solidFill>
                              <a:srgbClr val="FF0000"/>
                            </a:solidFill>
                            <a:latin typeface="Cambria Math" charset="0"/>
                          </a:rPr>
                          <m:t>𝜕</m:t>
                        </m:r>
                        <m:sSup>
                          <m:sSupPr>
                            <m:ctrlPr>
                              <a:rPr lang="en-US" sz="4000" i="1">
                                <a:solidFill>
                                  <a:srgbClr val="FF0000"/>
                                </a:solidFill>
                                <a:latin typeface="Cambria Math" panose="02040503050406030204" pitchFamily="18" charset="0"/>
                              </a:rPr>
                            </m:ctrlPr>
                          </m:sSupPr>
                          <m:e>
                            <m:r>
                              <a:rPr lang="en-US" sz="4000" b="0" i="1" smtClean="0">
                                <a:solidFill>
                                  <a:srgbClr val="FF0000"/>
                                </a:solidFill>
                                <a:latin typeface="Cambria Math" charset="0"/>
                              </a:rPr>
                              <m:t>𝑎</m:t>
                            </m:r>
                          </m:e>
                          <m:sup>
                            <m:r>
                              <a:rPr lang="en-US" sz="4000" i="1">
                                <a:solidFill>
                                  <a:srgbClr val="FF0000"/>
                                </a:solidFill>
                                <a:latin typeface="Cambria Math" charset="0"/>
                              </a:rPr>
                              <m:t>(3)</m:t>
                            </m:r>
                          </m:sup>
                        </m:sSup>
                      </m:den>
                    </m:f>
                    <m:r>
                      <a:rPr lang="en-US" sz="4000" i="1">
                        <a:solidFill>
                          <a:srgbClr val="FF0000"/>
                        </a:solidFill>
                        <a:latin typeface="Cambria Math" charset="0"/>
                      </a:rPr>
                      <m:t>=</m:t>
                    </m:r>
                    <m:sSup>
                      <m:sSupPr>
                        <m:ctrlPr>
                          <a:rPr lang="en-US" sz="4000" i="1">
                            <a:solidFill>
                              <a:srgbClr val="FF0000"/>
                            </a:solidFill>
                            <a:latin typeface="Cambria Math" panose="02040503050406030204" pitchFamily="18" charset="0"/>
                          </a:rPr>
                        </m:ctrlPr>
                      </m:sSupPr>
                      <m:e>
                        <m:r>
                          <a:rPr lang="en-US" sz="4000" b="0" i="1" smtClean="0">
                            <a:solidFill>
                              <a:srgbClr val="FF0000"/>
                            </a:solidFill>
                            <a:latin typeface="Cambria Math" charset="0"/>
                          </a:rPr>
                          <m:t>𝑊</m:t>
                        </m:r>
                      </m:e>
                      <m:sup>
                        <m:r>
                          <a:rPr lang="en-US" sz="4000" i="1">
                            <a:solidFill>
                              <a:srgbClr val="FF0000"/>
                            </a:solidFill>
                            <a:latin typeface="Cambria Math" charset="0"/>
                          </a:rPr>
                          <m:t>(3)</m:t>
                        </m:r>
                      </m:sup>
                    </m:sSup>
                  </m:oMath>
                </a14:m>
                <a:endParaRPr lang="en-US" sz="4400" dirty="0">
                  <a:solidFill>
                    <a:srgbClr val="FF00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593073" y="5376214"/>
                <a:ext cx="5361532" cy="991362"/>
              </a:xfrm>
              <a:prstGeom prst="rect">
                <a:avLst/>
              </a:prstGeom>
              <a:blipFill rotWithShape="0">
                <a:blip r:embed="rId10"/>
                <a:stretch>
                  <a:fillRect b="-15337"/>
                </a:stretch>
              </a:blipFill>
            </p:spPr>
            <p:txBody>
              <a:bodyPr/>
              <a:lstStyle/>
              <a:p>
                <a:r>
                  <a:rPr lang="en-US">
                    <a:noFill/>
                  </a:rPr>
                  <a:t> </a:t>
                </a:r>
              </a:p>
            </p:txBody>
          </p:sp>
        </mc:Fallback>
      </mc:AlternateContent>
    </p:spTree>
    <p:extLst>
      <p:ext uri="{BB962C8B-B14F-4D97-AF65-F5344CB8AC3E}">
        <p14:creationId xmlns:p14="http://schemas.microsoft.com/office/powerpoint/2010/main" val="5482601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partial derivatives</a:t>
            </a:r>
            <a:endParaRPr lang="en-US" dirty="0"/>
          </a:p>
        </p:txBody>
      </p:sp>
      <mc:AlternateContent xmlns:mc="http://schemas.openxmlformats.org/markup-compatibility/2006" xmlns:a14="http://schemas.microsoft.com/office/drawing/2010/main">
        <mc:Choice Requires="a14">
          <p:sp>
            <p:nvSpPr>
              <p:cNvPr id="10" name="TextBox 9"/>
              <p:cNvSpPr txBox="1"/>
              <p:nvPr/>
            </p:nvSpPr>
            <p:spPr>
              <a:xfrm>
                <a:off x="8380412" y="3567778"/>
                <a:ext cx="3375668" cy="1145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solidFill>
                                <a:srgbClr val="FF0000"/>
                              </a:solidFill>
                              <a:latin typeface="Cambria Math" panose="02040503050406030204" pitchFamily="18" charset="0"/>
                            </a:rPr>
                          </m:ctrlPr>
                        </m:fPr>
                        <m:num>
                          <m:r>
                            <a:rPr lang="mr-IN" sz="3600" b="0" i="1" smtClean="0">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𝑎</m:t>
                              </m:r>
                            </m:e>
                            <m:sup>
                              <m:r>
                                <a:rPr lang="en-US" sz="3600" b="0" i="1" smtClean="0">
                                  <a:solidFill>
                                    <a:srgbClr val="FF0000"/>
                                  </a:solidFill>
                                  <a:latin typeface="Cambria Math" charset="0"/>
                                </a:rPr>
                                <m:t>(3)</m:t>
                              </m:r>
                            </m:sup>
                          </m:sSup>
                        </m:num>
                        <m:den>
                          <m:r>
                            <a:rPr lang="mr-IN" sz="3600" b="0" i="1" smtClean="0">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𝑧</m:t>
                              </m:r>
                            </m:e>
                            <m:sup>
                              <m:r>
                                <a:rPr lang="en-US" sz="3600" b="0" i="1" smtClean="0">
                                  <a:solidFill>
                                    <a:srgbClr val="FF0000"/>
                                  </a:solidFill>
                                  <a:latin typeface="Cambria Math" charset="0"/>
                                </a:rPr>
                                <m:t>(3)</m:t>
                              </m:r>
                            </m:sup>
                          </m:sSup>
                        </m:den>
                      </m:f>
                      <m:r>
                        <a:rPr lang="en-US" sz="3600" b="0" i="1" smtClean="0">
                          <a:solidFill>
                            <a:srgbClr val="FF0000"/>
                          </a:solidFill>
                          <a:latin typeface="Cambria Math" charset="0"/>
                        </a:rPr>
                        <m:t>=</m:t>
                      </m:r>
                      <m:r>
                        <a:rPr lang="en-US" sz="3600" b="0" i="1" smtClean="0">
                          <a:solidFill>
                            <a:srgbClr val="FF0000"/>
                          </a:solidFill>
                          <a:latin typeface="Cambria Math" charset="0"/>
                        </a:rPr>
                        <m:t>𝜎</m:t>
                      </m:r>
                      <m:r>
                        <a:rPr lang="en-US" sz="3600" b="0" i="1" smtClean="0">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𝑧</m:t>
                          </m:r>
                        </m:e>
                        <m:sup>
                          <m:d>
                            <m:dPr>
                              <m:ctrlPr>
                                <a:rPr lang="en-US" sz="3600" b="0" i="1" smtClean="0">
                                  <a:solidFill>
                                    <a:srgbClr val="FF0000"/>
                                  </a:solidFill>
                                  <a:latin typeface="Cambria Math" panose="02040503050406030204" pitchFamily="18" charset="0"/>
                                </a:rPr>
                              </m:ctrlPr>
                            </m:dPr>
                            <m:e>
                              <m:r>
                                <a:rPr lang="en-US" sz="3600" b="0" i="1" smtClean="0">
                                  <a:solidFill>
                                    <a:srgbClr val="FF0000"/>
                                  </a:solidFill>
                                  <a:latin typeface="Cambria Math" charset="0"/>
                                </a:rPr>
                                <m:t>3</m:t>
                              </m:r>
                            </m:e>
                          </m:d>
                        </m:sup>
                      </m:sSup>
                      <m:r>
                        <a:rPr lang="en-US" sz="3600" b="0" i="1" smtClean="0">
                          <a:solidFill>
                            <a:srgbClr val="FF0000"/>
                          </a:solidFill>
                          <a:latin typeface="Cambria Math" charset="0"/>
                        </a:rPr>
                        <m:t>)</m:t>
                      </m:r>
                    </m:oMath>
                  </m:oMathPara>
                </a14:m>
                <a:endParaRPr lang="en-US" sz="3600" dirty="0">
                  <a:solidFill>
                    <a:srgbClr val="FF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8380412" y="3567778"/>
                <a:ext cx="3375668" cy="114557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492083" y="5376214"/>
                <a:ext cx="3047757" cy="1145570"/>
              </a:xfrm>
              <a:prstGeom prst="rect">
                <a:avLst/>
              </a:prstGeom>
              <a:noFill/>
            </p:spPr>
            <p:txBody>
              <a:bodyPr wrap="none" lIns="0" tIns="0" rIns="0" bIns="0" rtlCol="0">
                <a:spAutoFit/>
              </a:bodyPr>
              <a:lstStyle/>
              <a:p>
                <a:endParaRPr lang="en-US" sz="3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492083" y="5376214"/>
                <a:ext cx="3047757" cy="114557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418012" y="5376214"/>
                <a:ext cx="2925929" cy="1145570"/>
              </a:xfrm>
              <a:prstGeom prst="rect">
                <a:avLst/>
              </a:prstGeom>
              <a:noFill/>
            </p:spPr>
            <p:txBody>
              <a:bodyPr wrap="none" lIns="0" tIns="0" rIns="0" bIns="0" rtlCol="0">
                <a:spAutoFit/>
              </a:bodyPr>
              <a:lstStyle/>
              <a:p>
                <a:endParaRPr lang="en-US" sz="3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418012" y="5376214"/>
                <a:ext cx="2925929" cy="114557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8532812" y="5476626"/>
                <a:ext cx="2743700" cy="944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b="0" i="1" smtClean="0">
                              <a:latin typeface="Cambria Math" panose="02040503050406030204" pitchFamily="18" charset="0"/>
                            </a:rPr>
                          </m:ctrlPr>
                        </m:fPr>
                        <m:num>
                          <m:r>
                            <a:rPr lang="mr-IN" sz="3200" b="0" i="1" smtClean="0">
                              <a:latin typeface="Cambria Math" charset="0"/>
                            </a:rPr>
                            <m:t>𝜕</m:t>
                          </m:r>
                          <m:r>
                            <a:rPr lang="en-US" sz="3200" b="0" i="1" smtClean="0">
                              <a:latin typeface="Cambria Math" charset="0"/>
                            </a:rPr>
                            <m:t>𝐽</m:t>
                          </m:r>
                        </m:num>
                        <m:den>
                          <m:r>
                            <a:rPr lang="mr-IN" sz="3200" b="0" i="1" smtClean="0">
                              <a:latin typeface="Cambria Math" charset="0"/>
                            </a:rPr>
                            <m:t>𝜕</m:t>
                          </m:r>
                          <m:sSup>
                            <m:sSupPr>
                              <m:ctrlPr>
                                <a:rPr lang="en-US" sz="3200" b="0" i="1" smtClean="0">
                                  <a:latin typeface="Cambria Math" panose="02040503050406030204" pitchFamily="18" charset="0"/>
                                </a:rPr>
                              </m:ctrlPr>
                            </m:sSupPr>
                            <m:e>
                              <m:r>
                                <a:rPr lang="en-US" sz="3200" b="0" i="1" smtClean="0">
                                  <a:latin typeface="Cambria Math" charset="0"/>
                                </a:rPr>
                                <m:t>𝑧</m:t>
                              </m:r>
                            </m:e>
                            <m:sup>
                              <m:r>
                                <a:rPr lang="en-US" sz="3200" b="0" i="1" smtClean="0">
                                  <a:latin typeface="Cambria Math" charset="0"/>
                                </a:rPr>
                                <m:t>(4)</m:t>
                              </m:r>
                            </m:sup>
                          </m:sSup>
                        </m:den>
                      </m:f>
                      <m:r>
                        <a:rPr lang="en-US" sz="3200" b="0" i="1" smtClean="0">
                          <a:latin typeface="Cambria Math" charset="0"/>
                        </a:rPr>
                        <m:t>=</m:t>
                      </m:r>
                      <m:acc>
                        <m:accPr>
                          <m:chr m:val="̂"/>
                          <m:ctrlPr>
                            <a:rPr lang="en-US" sz="3600" i="1">
                              <a:latin typeface="Cambria Math" panose="02040503050406030204" pitchFamily="18" charset="0"/>
                            </a:rPr>
                          </m:ctrlPr>
                        </m:accPr>
                        <m:e>
                          <m:r>
                            <a:rPr lang="en-US" sz="3600" i="1">
                              <a:latin typeface="Cambria Math" charset="0"/>
                            </a:rPr>
                            <m:t>𝑦</m:t>
                          </m:r>
                        </m:e>
                      </m:acc>
                      <m:r>
                        <a:rPr lang="en-US" sz="3600" b="0" i="1" smtClean="0">
                          <a:latin typeface="Cambria Math" charset="0"/>
                        </a:rPr>
                        <m:t>−</m:t>
                      </m:r>
                      <m:r>
                        <a:rPr lang="en-US" sz="3600" b="0" i="1" smtClean="0">
                          <a:latin typeface="Cambria Math" charset="0"/>
                        </a:rPr>
                        <m:t>𝑦</m:t>
                      </m:r>
                    </m:oMath>
                  </m:oMathPara>
                </a14:m>
                <a:endParaRPr lang="en-US" sz="3600" dirty="0"/>
              </a:p>
            </p:txBody>
          </p:sp>
        </mc:Choice>
        <mc:Fallback xmlns="">
          <p:sp>
            <p:nvSpPr>
              <p:cNvPr id="17" name="TextBox 16"/>
              <p:cNvSpPr txBox="1">
                <a:spLocks noRot="1" noChangeAspect="1" noMove="1" noResize="1" noEditPoints="1" noAdjustHandles="1" noChangeArrowheads="1" noChangeShapeType="1" noTextEdit="1"/>
              </p:cNvSpPr>
              <p:nvPr/>
            </p:nvSpPr>
            <p:spPr>
              <a:xfrm>
                <a:off x="8532812" y="5476626"/>
                <a:ext cx="2743700" cy="944746"/>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334469" y="2332414"/>
                <a:ext cx="2843791"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𝑋</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(1)</m:t>
                          </m:r>
                        </m:sup>
                      </m:sSup>
                    </m:oMath>
                  </m:oMathPara>
                </a14:m>
                <a:endParaRPr lang="en-US" sz="3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2334469" y="2332414"/>
                <a:ext cx="2843791" cy="577081"/>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7516069" y="2317923"/>
                <a:ext cx="3000117" cy="5915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2</m:t>
                              </m:r>
                            </m:e>
                          </m:d>
                        </m:sup>
                      </m:sSup>
                      <m:r>
                        <a:rPr lang="en-US" sz="3600" b="0" i="1" smtClean="0">
                          <a:latin typeface="Cambria Math" charset="0"/>
                        </a:rPr>
                        <m:t>)</m:t>
                      </m:r>
                    </m:oMath>
                  </m:oMathPara>
                </a14:m>
                <a:endParaRPr lang="en-US" sz="3600" dirty="0"/>
              </a:p>
            </p:txBody>
          </p:sp>
        </mc:Choice>
        <mc:Fallback xmlns="">
          <p:sp>
            <p:nvSpPr>
              <p:cNvPr id="13" name="TextBox 12"/>
              <p:cNvSpPr txBox="1">
                <a:spLocks noRot="1" noChangeAspect="1" noMove="1" noResize="1" noEditPoints="1" noAdjustHandles="1" noChangeArrowheads="1" noChangeShapeType="1" noTextEdit="1"/>
              </p:cNvSpPr>
              <p:nvPr/>
            </p:nvSpPr>
            <p:spPr>
              <a:xfrm>
                <a:off x="7516069" y="2317923"/>
                <a:ext cx="3000117" cy="591572"/>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334469" y="3999259"/>
                <a:ext cx="3295774"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(2)</m:t>
                          </m:r>
                        </m:sup>
                      </m:sSup>
                    </m:oMath>
                  </m:oMathPara>
                </a14:m>
                <a:endParaRPr lang="en-US" sz="3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2334469" y="3999259"/>
                <a:ext cx="3295774" cy="577081"/>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593073" y="5376214"/>
                <a:ext cx="5361532" cy="991362"/>
              </a:xfrm>
              <a:prstGeom prst="rect">
                <a:avLst/>
              </a:prstGeom>
              <a:noFill/>
            </p:spPr>
            <p:txBody>
              <a:bodyPr wrap="none" lIns="0" tIns="0" rIns="0" bIns="0" rtlCol="0">
                <a:spAutoFit/>
              </a:bodyPr>
              <a:lstStyle/>
              <a:p>
                <a14:m>
                  <m:oMath xmlns:m="http://schemas.openxmlformats.org/officeDocument/2006/math">
                    <m:f>
                      <m:fPr>
                        <m:ctrlPr>
                          <a:rPr lang="mr-IN" sz="3600" i="1" smtClean="0">
                            <a:latin typeface="Cambria Math" panose="02040503050406030204" pitchFamily="18" charset="0"/>
                          </a:rPr>
                        </m:ctrlPr>
                      </m:fPr>
                      <m:num>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(4)</m:t>
                            </m:r>
                          </m:sup>
                        </m:sSup>
                      </m:num>
                      <m:den>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(3)</m:t>
                            </m:r>
                          </m:sup>
                        </m:sSup>
                      </m:den>
                    </m:f>
                    <m:r>
                      <a:rPr lang="en-US"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r>
                      <a:rPr lang="en-US" sz="3600" b="0" i="1" smtClean="0">
                        <a:latin typeface="Cambria Math" charset="0"/>
                      </a:rPr>
                      <m:t>;</m:t>
                    </m:r>
                  </m:oMath>
                </a14:m>
                <a:r>
                  <a:rPr lang="mr-IN" sz="4000" dirty="0"/>
                  <a:t> </a:t>
                </a:r>
                <a14:m>
                  <m:oMath xmlns:m="http://schemas.openxmlformats.org/officeDocument/2006/math">
                    <m:f>
                      <m:fPr>
                        <m:ctrlPr>
                          <a:rPr lang="mr-IN" sz="4000" i="1">
                            <a:latin typeface="Cambria Math" panose="02040503050406030204" pitchFamily="18" charset="0"/>
                          </a:rPr>
                        </m:ctrlPr>
                      </m:fPr>
                      <m:num>
                        <m:r>
                          <a:rPr lang="mr-IN" sz="4000" i="1">
                            <a:latin typeface="Cambria Math" charset="0"/>
                          </a:rPr>
                          <m:t>𝜕</m:t>
                        </m:r>
                        <m:sSup>
                          <m:sSupPr>
                            <m:ctrlPr>
                              <a:rPr lang="en-US" sz="4000" i="1">
                                <a:latin typeface="Cambria Math" panose="02040503050406030204" pitchFamily="18" charset="0"/>
                              </a:rPr>
                            </m:ctrlPr>
                          </m:sSupPr>
                          <m:e>
                            <m:r>
                              <a:rPr lang="en-US" sz="4000" i="1">
                                <a:latin typeface="Cambria Math" charset="0"/>
                              </a:rPr>
                              <m:t>𝑧</m:t>
                            </m:r>
                          </m:e>
                          <m:sup>
                            <m:r>
                              <a:rPr lang="en-US" sz="4000" i="1">
                                <a:latin typeface="Cambria Math" charset="0"/>
                              </a:rPr>
                              <m:t>(4)</m:t>
                            </m:r>
                          </m:sup>
                        </m:sSup>
                      </m:num>
                      <m:den>
                        <m:r>
                          <a:rPr lang="mr-IN"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𝑎</m:t>
                            </m:r>
                          </m:e>
                          <m:sup>
                            <m:r>
                              <a:rPr lang="en-US" sz="4000" i="1">
                                <a:latin typeface="Cambria Math" charset="0"/>
                              </a:rPr>
                              <m:t>(3)</m:t>
                            </m:r>
                          </m:sup>
                        </m:sSup>
                      </m:den>
                    </m:f>
                    <m:r>
                      <a:rPr lang="en-US"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𝑊</m:t>
                        </m:r>
                      </m:e>
                      <m:sup>
                        <m:r>
                          <a:rPr lang="en-US" sz="4000" i="1">
                            <a:latin typeface="Cambria Math" charset="0"/>
                          </a:rPr>
                          <m:t>(3)</m:t>
                        </m:r>
                      </m:sup>
                    </m:sSup>
                  </m:oMath>
                </a14:m>
                <a:endParaRPr lang="en-US" sz="4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1593073" y="5376214"/>
                <a:ext cx="5361532" cy="991362"/>
              </a:xfrm>
              <a:prstGeom prst="rect">
                <a:avLst/>
              </a:prstGeom>
              <a:blipFill rotWithShape="0">
                <a:blip r:embed="rId10"/>
                <a:stretch>
                  <a:fillRect b="-15337"/>
                </a:stretch>
              </a:blipFill>
            </p:spPr>
            <p:txBody>
              <a:bodyPr/>
              <a:lstStyle/>
              <a:p>
                <a:r>
                  <a:rPr lang="en-US">
                    <a:noFill/>
                  </a:rPr>
                  <a:t> </a:t>
                </a:r>
              </a:p>
            </p:txBody>
          </p:sp>
        </mc:Fallback>
      </mc:AlternateContent>
    </p:spTree>
    <p:extLst>
      <p:ext uri="{BB962C8B-B14F-4D97-AF65-F5344CB8AC3E}">
        <p14:creationId xmlns:p14="http://schemas.microsoft.com/office/powerpoint/2010/main" val="6180338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partial derivatives</a:t>
            </a:r>
            <a:endParaRPr lang="en-US" dirty="0"/>
          </a:p>
        </p:txBody>
      </p:sp>
      <mc:AlternateContent xmlns:mc="http://schemas.openxmlformats.org/markup-compatibility/2006" xmlns:a14="http://schemas.microsoft.com/office/drawing/2010/main">
        <mc:Choice Requires="a14">
          <p:sp>
            <p:nvSpPr>
              <p:cNvPr id="12" name="TextBox 11"/>
              <p:cNvSpPr txBox="1"/>
              <p:nvPr/>
            </p:nvSpPr>
            <p:spPr>
              <a:xfrm>
                <a:off x="1593073" y="5376214"/>
                <a:ext cx="5361532" cy="991362"/>
              </a:xfrm>
              <a:prstGeom prst="rect">
                <a:avLst/>
              </a:prstGeom>
              <a:noFill/>
            </p:spPr>
            <p:txBody>
              <a:bodyPr wrap="none" lIns="0" tIns="0" rIns="0" bIns="0" rtlCol="0">
                <a:spAutoFit/>
              </a:bodyPr>
              <a:lstStyle/>
              <a:p>
                <a14:m>
                  <m:oMath xmlns:m="http://schemas.openxmlformats.org/officeDocument/2006/math">
                    <m:f>
                      <m:fPr>
                        <m:ctrlPr>
                          <a:rPr lang="mr-IN" sz="3600" i="1" smtClean="0">
                            <a:latin typeface="Cambria Math" panose="02040503050406030204" pitchFamily="18" charset="0"/>
                          </a:rPr>
                        </m:ctrlPr>
                      </m:fPr>
                      <m:num>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(4)</m:t>
                            </m:r>
                          </m:sup>
                        </m:sSup>
                      </m:num>
                      <m:den>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(3)</m:t>
                            </m:r>
                          </m:sup>
                        </m:sSup>
                      </m:den>
                    </m:f>
                    <m:r>
                      <a:rPr lang="en-US"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r>
                      <a:rPr lang="en-US" sz="3600" b="0" i="1" smtClean="0">
                        <a:latin typeface="Cambria Math" charset="0"/>
                      </a:rPr>
                      <m:t>;</m:t>
                    </m:r>
                  </m:oMath>
                </a14:m>
                <a:r>
                  <a:rPr lang="mr-IN" sz="4000" dirty="0"/>
                  <a:t> </a:t>
                </a:r>
                <a14:m>
                  <m:oMath xmlns:m="http://schemas.openxmlformats.org/officeDocument/2006/math">
                    <m:f>
                      <m:fPr>
                        <m:ctrlPr>
                          <a:rPr lang="mr-IN" sz="4000" i="1">
                            <a:latin typeface="Cambria Math" panose="02040503050406030204" pitchFamily="18" charset="0"/>
                          </a:rPr>
                        </m:ctrlPr>
                      </m:fPr>
                      <m:num>
                        <m:r>
                          <a:rPr lang="mr-IN" sz="4000" i="1">
                            <a:latin typeface="Cambria Math" charset="0"/>
                          </a:rPr>
                          <m:t>𝜕</m:t>
                        </m:r>
                        <m:sSup>
                          <m:sSupPr>
                            <m:ctrlPr>
                              <a:rPr lang="en-US" sz="4000" i="1">
                                <a:latin typeface="Cambria Math" panose="02040503050406030204" pitchFamily="18" charset="0"/>
                              </a:rPr>
                            </m:ctrlPr>
                          </m:sSupPr>
                          <m:e>
                            <m:r>
                              <a:rPr lang="en-US" sz="4000" i="1">
                                <a:latin typeface="Cambria Math" charset="0"/>
                              </a:rPr>
                              <m:t>𝑧</m:t>
                            </m:r>
                          </m:e>
                          <m:sup>
                            <m:r>
                              <a:rPr lang="en-US" sz="4000" i="1">
                                <a:latin typeface="Cambria Math" charset="0"/>
                              </a:rPr>
                              <m:t>(4)</m:t>
                            </m:r>
                          </m:sup>
                        </m:sSup>
                      </m:num>
                      <m:den>
                        <m:r>
                          <a:rPr lang="mr-IN"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𝑎</m:t>
                            </m:r>
                          </m:e>
                          <m:sup>
                            <m:r>
                              <a:rPr lang="en-US" sz="4000" i="1">
                                <a:latin typeface="Cambria Math" charset="0"/>
                              </a:rPr>
                              <m:t>(3)</m:t>
                            </m:r>
                          </m:sup>
                        </m:sSup>
                      </m:den>
                    </m:f>
                    <m:r>
                      <a:rPr lang="en-US"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𝑊</m:t>
                        </m:r>
                      </m:e>
                      <m:sup>
                        <m:r>
                          <a:rPr lang="en-US" sz="4000" i="1">
                            <a:latin typeface="Cambria Math" charset="0"/>
                          </a:rPr>
                          <m:t>(3)</m:t>
                        </m:r>
                      </m:sup>
                    </m:sSup>
                  </m:oMath>
                </a14:m>
                <a:endParaRPr lang="en-US" sz="44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593073" y="5376214"/>
                <a:ext cx="5361532" cy="991362"/>
              </a:xfrm>
              <a:prstGeom prst="rect">
                <a:avLst/>
              </a:prstGeom>
              <a:blipFill rotWithShape="0">
                <a:blip r:embed="rId2"/>
                <a:stretch>
                  <a:fillRect b="-153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8532812" y="5476626"/>
                <a:ext cx="2743700" cy="944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b="0" i="1" smtClean="0">
                              <a:latin typeface="Cambria Math" panose="02040503050406030204" pitchFamily="18" charset="0"/>
                            </a:rPr>
                          </m:ctrlPr>
                        </m:fPr>
                        <m:num>
                          <m:r>
                            <a:rPr lang="mr-IN" sz="3200" b="0" i="1" smtClean="0">
                              <a:latin typeface="Cambria Math" charset="0"/>
                            </a:rPr>
                            <m:t>𝜕</m:t>
                          </m:r>
                          <m:r>
                            <a:rPr lang="en-US" sz="3200" b="0" i="1" smtClean="0">
                              <a:latin typeface="Cambria Math" charset="0"/>
                            </a:rPr>
                            <m:t>𝐽</m:t>
                          </m:r>
                        </m:num>
                        <m:den>
                          <m:r>
                            <a:rPr lang="mr-IN" sz="3200" b="0" i="1" smtClean="0">
                              <a:latin typeface="Cambria Math" charset="0"/>
                            </a:rPr>
                            <m:t>𝜕</m:t>
                          </m:r>
                          <m:sSup>
                            <m:sSupPr>
                              <m:ctrlPr>
                                <a:rPr lang="en-US" sz="3200" b="0" i="1" smtClean="0">
                                  <a:latin typeface="Cambria Math" panose="02040503050406030204" pitchFamily="18" charset="0"/>
                                </a:rPr>
                              </m:ctrlPr>
                            </m:sSupPr>
                            <m:e>
                              <m:r>
                                <a:rPr lang="en-US" sz="3200" b="0" i="1" smtClean="0">
                                  <a:latin typeface="Cambria Math" charset="0"/>
                                </a:rPr>
                                <m:t>𝑧</m:t>
                              </m:r>
                            </m:e>
                            <m:sup>
                              <m:r>
                                <a:rPr lang="en-US" sz="3200" b="0" i="1" smtClean="0">
                                  <a:latin typeface="Cambria Math" charset="0"/>
                                </a:rPr>
                                <m:t>(4)</m:t>
                              </m:r>
                            </m:sup>
                          </m:sSup>
                        </m:den>
                      </m:f>
                      <m:r>
                        <a:rPr lang="en-US" sz="3200" b="0" i="1" smtClean="0">
                          <a:latin typeface="Cambria Math" charset="0"/>
                        </a:rPr>
                        <m:t>=</m:t>
                      </m:r>
                      <m:acc>
                        <m:accPr>
                          <m:chr m:val="̂"/>
                          <m:ctrlPr>
                            <a:rPr lang="en-US" sz="3600" i="1">
                              <a:latin typeface="Cambria Math" panose="02040503050406030204" pitchFamily="18" charset="0"/>
                            </a:rPr>
                          </m:ctrlPr>
                        </m:accPr>
                        <m:e>
                          <m:r>
                            <a:rPr lang="en-US" sz="3600" i="1">
                              <a:latin typeface="Cambria Math" charset="0"/>
                            </a:rPr>
                            <m:t>𝑦</m:t>
                          </m:r>
                        </m:e>
                      </m:acc>
                      <m:r>
                        <a:rPr lang="en-US" sz="3600" b="0" i="1" smtClean="0">
                          <a:latin typeface="Cambria Math" charset="0"/>
                        </a:rPr>
                        <m:t>−</m:t>
                      </m:r>
                      <m:r>
                        <a:rPr lang="en-US" sz="3600" b="0" i="1" smtClean="0">
                          <a:latin typeface="Cambria Math" charset="0"/>
                        </a:rPr>
                        <m:t>𝑦</m:t>
                      </m:r>
                    </m:oMath>
                  </m:oMathPara>
                </a14:m>
                <a:endParaRPr lang="en-US" sz="3600" dirty="0"/>
              </a:p>
            </p:txBody>
          </p:sp>
        </mc:Choice>
        <mc:Fallback xmlns="">
          <p:sp>
            <p:nvSpPr>
              <p:cNvPr id="17" name="TextBox 16"/>
              <p:cNvSpPr txBox="1">
                <a:spLocks noRot="1" noChangeAspect="1" noMove="1" noResize="1" noEditPoints="1" noAdjustHandles="1" noChangeArrowheads="1" noChangeShapeType="1" noTextEdit="1"/>
              </p:cNvSpPr>
              <p:nvPr/>
            </p:nvSpPr>
            <p:spPr>
              <a:xfrm>
                <a:off x="8532812" y="5476626"/>
                <a:ext cx="2743700" cy="944746"/>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492083" y="3580478"/>
                <a:ext cx="3047757" cy="1145570"/>
              </a:xfrm>
              <a:prstGeom prst="rect">
                <a:avLst/>
              </a:prstGeom>
              <a:noFill/>
            </p:spPr>
            <p:txBody>
              <a:bodyPr wrap="none" lIns="0" tIns="0" rIns="0" bIns="0" rtlCol="0">
                <a:spAutoFit/>
              </a:bodyPr>
              <a:lstStyle/>
              <a:p>
                <a:endParaRPr lang="en-US" sz="3600" dirty="0">
                  <a:solidFill>
                    <a:srgbClr val="FF00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492083" y="3580478"/>
                <a:ext cx="3047757" cy="114557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418012" y="3580478"/>
                <a:ext cx="2925929" cy="1145570"/>
              </a:xfrm>
              <a:prstGeom prst="rect">
                <a:avLst/>
              </a:prstGeom>
              <a:noFill/>
            </p:spPr>
            <p:txBody>
              <a:bodyPr wrap="none" lIns="0" tIns="0" rIns="0" bIns="0" rtlCol="0">
                <a:spAutoFit/>
              </a:bodyPr>
              <a:lstStyle/>
              <a:p>
                <a:endParaRPr lang="en-US" sz="3600" dirty="0">
                  <a:solidFill>
                    <a:srgbClr val="FF0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4418012" y="3580478"/>
                <a:ext cx="2925929" cy="114557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334469" y="2332414"/>
                <a:ext cx="2843791"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𝑋</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(1)</m:t>
                          </m:r>
                        </m:sup>
                      </m:sSup>
                    </m:oMath>
                  </m:oMathPara>
                </a14:m>
                <a:endParaRPr lang="en-US" sz="3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2334469" y="2332414"/>
                <a:ext cx="2843791" cy="577081"/>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7516069" y="2317923"/>
                <a:ext cx="3000117" cy="5915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2</m:t>
                              </m:r>
                            </m:e>
                          </m:d>
                        </m:sup>
                      </m:sSup>
                      <m:r>
                        <a:rPr lang="en-US" sz="3600" b="0" i="1" smtClean="0">
                          <a:latin typeface="Cambria Math" charset="0"/>
                        </a:rPr>
                        <m:t>)</m:t>
                      </m:r>
                    </m:oMath>
                  </m:oMathPara>
                </a14:m>
                <a:endParaRPr lang="en-US" sz="3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7516069" y="2317923"/>
                <a:ext cx="3000117" cy="591572"/>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8380412" y="3567778"/>
                <a:ext cx="3375668" cy="1145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latin typeface="Cambria Math" panose="02040503050406030204" pitchFamily="18" charset="0"/>
                            </a:rPr>
                          </m:ctrlPr>
                        </m:fPr>
                        <m:num>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num>
                        <m:den>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den>
                      </m:f>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3</m:t>
                              </m:r>
                            </m:e>
                          </m:d>
                        </m:sup>
                      </m:sSup>
                      <m:r>
                        <a:rPr lang="en-US" sz="3600" b="0" i="1" smtClean="0">
                          <a:latin typeface="Cambria Math" charset="0"/>
                        </a:rPr>
                        <m:t>)</m:t>
                      </m:r>
                    </m:oMath>
                  </m:oMathPara>
                </a14:m>
                <a:endParaRPr lang="en-US" sz="3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8380412" y="3567778"/>
                <a:ext cx="3375668" cy="114557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593073" y="3747386"/>
                <a:ext cx="5275034" cy="991362"/>
              </a:xfrm>
              <a:prstGeom prst="rect">
                <a:avLst/>
              </a:prstGeom>
              <a:noFill/>
            </p:spPr>
            <p:txBody>
              <a:bodyPr wrap="none" lIns="0" tIns="0" rIns="0" bIns="0" rtlCol="0">
                <a:spAutoFit/>
              </a:bodyPr>
              <a:lstStyle/>
              <a:p>
                <a14:m>
                  <m:oMath xmlns:m="http://schemas.openxmlformats.org/officeDocument/2006/math">
                    <m:f>
                      <m:fPr>
                        <m:ctrlPr>
                          <a:rPr lang="mr-IN" sz="3600" i="1" smtClean="0">
                            <a:solidFill>
                              <a:srgbClr val="FF0000"/>
                            </a:solidFill>
                            <a:latin typeface="Cambria Math" panose="02040503050406030204" pitchFamily="18" charset="0"/>
                          </a:rPr>
                        </m:ctrlPr>
                      </m:fPr>
                      <m:num>
                        <m:r>
                          <a:rPr lang="mr-IN" sz="3600" i="1">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𝑧</m:t>
                            </m:r>
                          </m:e>
                          <m:sup>
                            <m:r>
                              <a:rPr lang="en-US" sz="3600" b="0" i="1" smtClean="0">
                                <a:solidFill>
                                  <a:srgbClr val="FF0000"/>
                                </a:solidFill>
                                <a:latin typeface="Cambria Math" charset="0"/>
                              </a:rPr>
                              <m:t>(3)</m:t>
                            </m:r>
                          </m:sup>
                        </m:sSup>
                      </m:num>
                      <m:den>
                        <m:r>
                          <a:rPr lang="mr-IN" sz="3600" i="1">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𝑊</m:t>
                            </m:r>
                          </m:e>
                          <m:sup>
                            <m:r>
                              <a:rPr lang="en-US" sz="3600" b="0" i="1" smtClean="0">
                                <a:solidFill>
                                  <a:srgbClr val="FF0000"/>
                                </a:solidFill>
                                <a:latin typeface="Cambria Math" charset="0"/>
                              </a:rPr>
                              <m:t>(2)</m:t>
                            </m:r>
                          </m:sup>
                        </m:sSup>
                      </m:den>
                    </m:f>
                    <m:r>
                      <a:rPr lang="en-US" sz="3600" i="1">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𝑎</m:t>
                        </m:r>
                      </m:e>
                      <m:sup>
                        <m:r>
                          <a:rPr lang="en-US" sz="3600" b="0" i="1" smtClean="0">
                            <a:solidFill>
                              <a:srgbClr val="FF0000"/>
                            </a:solidFill>
                            <a:latin typeface="Cambria Math" charset="0"/>
                          </a:rPr>
                          <m:t>(2)</m:t>
                        </m:r>
                      </m:sup>
                    </m:sSup>
                    <m:r>
                      <a:rPr lang="en-US" sz="3600" b="0" i="1" smtClean="0">
                        <a:solidFill>
                          <a:srgbClr val="FF0000"/>
                        </a:solidFill>
                        <a:latin typeface="Cambria Math" charset="0"/>
                      </a:rPr>
                      <m:t>;</m:t>
                    </m:r>
                  </m:oMath>
                </a14:m>
                <a:r>
                  <a:rPr lang="mr-IN" sz="4000" dirty="0" smtClean="0">
                    <a:solidFill>
                      <a:srgbClr val="FF0000"/>
                    </a:solidFill>
                  </a:rPr>
                  <a:t> </a:t>
                </a:r>
                <a14:m>
                  <m:oMath xmlns:m="http://schemas.openxmlformats.org/officeDocument/2006/math">
                    <m:f>
                      <m:fPr>
                        <m:ctrlPr>
                          <a:rPr lang="mr-IN" sz="4000" i="1">
                            <a:solidFill>
                              <a:srgbClr val="FF0000"/>
                            </a:solidFill>
                            <a:latin typeface="Cambria Math" panose="02040503050406030204" pitchFamily="18" charset="0"/>
                          </a:rPr>
                        </m:ctrlPr>
                      </m:fPr>
                      <m:num>
                        <m:r>
                          <a:rPr lang="mr-IN" sz="4000" i="1">
                            <a:solidFill>
                              <a:srgbClr val="FF0000"/>
                            </a:solidFill>
                            <a:latin typeface="Cambria Math" charset="0"/>
                          </a:rPr>
                          <m:t>𝜕</m:t>
                        </m:r>
                        <m:sSup>
                          <m:sSupPr>
                            <m:ctrlPr>
                              <a:rPr lang="en-US" sz="4000" i="1">
                                <a:solidFill>
                                  <a:srgbClr val="FF0000"/>
                                </a:solidFill>
                                <a:latin typeface="Cambria Math" panose="02040503050406030204" pitchFamily="18" charset="0"/>
                              </a:rPr>
                            </m:ctrlPr>
                          </m:sSupPr>
                          <m:e>
                            <m:r>
                              <a:rPr lang="en-US" sz="4000" i="1">
                                <a:solidFill>
                                  <a:srgbClr val="FF0000"/>
                                </a:solidFill>
                                <a:latin typeface="Cambria Math" charset="0"/>
                              </a:rPr>
                              <m:t>𝑧</m:t>
                            </m:r>
                          </m:e>
                          <m:sup>
                            <m:r>
                              <a:rPr lang="en-US" sz="4000" i="1">
                                <a:solidFill>
                                  <a:srgbClr val="FF0000"/>
                                </a:solidFill>
                                <a:latin typeface="Cambria Math" charset="0"/>
                              </a:rPr>
                              <m:t>(</m:t>
                            </m:r>
                            <m:r>
                              <a:rPr lang="en-US" sz="4000" b="0" i="1" smtClean="0">
                                <a:solidFill>
                                  <a:srgbClr val="FF0000"/>
                                </a:solidFill>
                                <a:latin typeface="Cambria Math" charset="0"/>
                              </a:rPr>
                              <m:t>3</m:t>
                            </m:r>
                            <m:r>
                              <a:rPr lang="en-US" sz="4000" i="1">
                                <a:solidFill>
                                  <a:srgbClr val="FF0000"/>
                                </a:solidFill>
                                <a:latin typeface="Cambria Math" charset="0"/>
                              </a:rPr>
                              <m:t>)</m:t>
                            </m:r>
                          </m:sup>
                        </m:sSup>
                      </m:num>
                      <m:den>
                        <m:r>
                          <a:rPr lang="mr-IN" sz="4000" i="1">
                            <a:solidFill>
                              <a:srgbClr val="FF0000"/>
                            </a:solidFill>
                            <a:latin typeface="Cambria Math" charset="0"/>
                          </a:rPr>
                          <m:t>𝜕</m:t>
                        </m:r>
                        <m:sSup>
                          <m:sSupPr>
                            <m:ctrlPr>
                              <a:rPr lang="en-US" sz="4000" i="1">
                                <a:solidFill>
                                  <a:srgbClr val="FF0000"/>
                                </a:solidFill>
                                <a:latin typeface="Cambria Math" panose="02040503050406030204" pitchFamily="18" charset="0"/>
                              </a:rPr>
                            </m:ctrlPr>
                          </m:sSupPr>
                          <m:e>
                            <m:r>
                              <a:rPr lang="en-US" sz="4000" b="0" i="1" smtClean="0">
                                <a:solidFill>
                                  <a:srgbClr val="FF0000"/>
                                </a:solidFill>
                                <a:latin typeface="Cambria Math" charset="0"/>
                              </a:rPr>
                              <m:t>𝑎</m:t>
                            </m:r>
                          </m:e>
                          <m:sup>
                            <m:r>
                              <a:rPr lang="en-US" sz="4000" i="1">
                                <a:solidFill>
                                  <a:srgbClr val="FF0000"/>
                                </a:solidFill>
                                <a:latin typeface="Cambria Math" charset="0"/>
                              </a:rPr>
                              <m:t>(</m:t>
                            </m:r>
                            <m:r>
                              <a:rPr lang="en-US" sz="4000" b="0" i="1" smtClean="0">
                                <a:solidFill>
                                  <a:srgbClr val="FF0000"/>
                                </a:solidFill>
                                <a:latin typeface="Cambria Math" charset="0"/>
                              </a:rPr>
                              <m:t>2</m:t>
                            </m:r>
                            <m:r>
                              <a:rPr lang="en-US" sz="4000" i="1">
                                <a:solidFill>
                                  <a:srgbClr val="FF0000"/>
                                </a:solidFill>
                                <a:latin typeface="Cambria Math" charset="0"/>
                              </a:rPr>
                              <m:t>)</m:t>
                            </m:r>
                          </m:sup>
                        </m:sSup>
                      </m:den>
                    </m:f>
                    <m:r>
                      <a:rPr lang="en-US" sz="4000" i="1">
                        <a:solidFill>
                          <a:srgbClr val="FF0000"/>
                        </a:solidFill>
                        <a:latin typeface="Cambria Math" charset="0"/>
                      </a:rPr>
                      <m:t>=</m:t>
                    </m:r>
                    <m:sSup>
                      <m:sSupPr>
                        <m:ctrlPr>
                          <a:rPr lang="en-US" sz="4000" i="1">
                            <a:solidFill>
                              <a:srgbClr val="FF0000"/>
                            </a:solidFill>
                            <a:latin typeface="Cambria Math" panose="02040503050406030204" pitchFamily="18" charset="0"/>
                          </a:rPr>
                        </m:ctrlPr>
                      </m:sSupPr>
                      <m:e>
                        <m:r>
                          <a:rPr lang="en-US" sz="4000" b="0" i="1" smtClean="0">
                            <a:solidFill>
                              <a:srgbClr val="FF0000"/>
                            </a:solidFill>
                            <a:latin typeface="Cambria Math" charset="0"/>
                          </a:rPr>
                          <m:t>𝑊</m:t>
                        </m:r>
                      </m:e>
                      <m:sup>
                        <m:r>
                          <a:rPr lang="en-US" sz="4000" i="1">
                            <a:solidFill>
                              <a:srgbClr val="FF0000"/>
                            </a:solidFill>
                            <a:latin typeface="Cambria Math" charset="0"/>
                          </a:rPr>
                          <m:t>(</m:t>
                        </m:r>
                        <m:r>
                          <a:rPr lang="en-US" sz="4000" b="0" i="1" smtClean="0">
                            <a:solidFill>
                              <a:srgbClr val="FF0000"/>
                            </a:solidFill>
                            <a:latin typeface="Cambria Math" charset="0"/>
                          </a:rPr>
                          <m:t>2</m:t>
                        </m:r>
                        <m:r>
                          <a:rPr lang="en-US" sz="4000" i="1">
                            <a:solidFill>
                              <a:srgbClr val="FF0000"/>
                            </a:solidFill>
                            <a:latin typeface="Cambria Math" charset="0"/>
                          </a:rPr>
                          <m:t>)</m:t>
                        </m:r>
                      </m:sup>
                    </m:sSup>
                  </m:oMath>
                </a14:m>
                <a:endParaRPr lang="en-US" sz="4400" dirty="0">
                  <a:solidFill>
                    <a:srgbClr val="FF0000"/>
                  </a:solidFill>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1593073" y="3747386"/>
                <a:ext cx="5275034" cy="991362"/>
              </a:xfrm>
              <a:prstGeom prst="rect">
                <a:avLst/>
              </a:prstGeom>
              <a:blipFill rotWithShape="0">
                <a:blip r:embed="rId11"/>
                <a:stretch>
                  <a:fillRect b="-16049"/>
                </a:stretch>
              </a:blipFill>
            </p:spPr>
            <p:txBody>
              <a:bodyPr/>
              <a:lstStyle/>
              <a:p>
                <a:r>
                  <a:rPr lang="en-US">
                    <a:noFill/>
                  </a:rPr>
                  <a:t> </a:t>
                </a:r>
              </a:p>
            </p:txBody>
          </p:sp>
        </mc:Fallback>
      </mc:AlternateContent>
    </p:spTree>
    <p:extLst>
      <p:ext uri="{BB962C8B-B14F-4D97-AF65-F5344CB8AC3E}">
        <p14:creationId xmlns:p14="http://schemas.microsoft.com/office/powerpoint/2010/main" val="4863152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partial derivatives</a:t>
            </a:r>
            <a:endParaRPr lang="en-US" dirty="0"/>
          </a:p>
        </p:txBody>
      </p:sp>
      <mc:AlternateContent xmlns:mc="http://schemas.openxmlformats.org/markup-compatibility/2006" xmlns:a14="http://schemas.microsoft.com/office/drawing/2010/main">
        <mc:Choice Requires="a14">
          <p:sp>
            <p:nvSpPr>
              <p:cNvPr id="12" name="TextBox 11"/>
              <p:cNvSpPr txBox="1"/>
              <p:nvPr/>
            </p:nvSpPr>
            <p:spPr>
              <a:xfrm>
                <a:off x="1492083" y="5376214"/>
                <a:ext cx="3047757" cy="1145570"/>
              </a:xfrm>
              <a:prstGeom prst="rect">
                <a:avLst/>
              </a:prstGeom>
              <a:noFill/>
            </p:spPr>
            <p:txBody>
              <a:bodyPr wrap="none" lIns="0" tIns="0" rIns="0" bIns="0" rtlCol="0">
                <a:spAutoFit/>
              </a:bodyPr>
              <a:lstStyle/>
              <a:p>
                <a:endParaRPr lang="en-US" sz="3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492083" y="5376214"/>
                <a:ext cx="3047757" cy="114557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418012" y="5376214"/>
                <a:ext cx="2925929" cy="1145570"/>
              </a:xfrm>
              <a:prstGeom prst="rect">
                <a:avLst/>
              </a:prstGeom>
              <a:noFill/>
            </p:spPr>
            <p:txBody>
              <a:bodyPr wrap="none" lIns="0" tIns="0" rIns="0" bIns="0" rtlCol="0">
                <a:spAutoFit/>
              </a:bodyPr>
              <a:lstStyle/>
              <a:p>
                <a:endParaRPr lang="en-US" sz="3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418012" y="5376214"/>
                <a:ext cx="2925929" cy="114557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8532812" y="5476626"/>
                <a:ext cx="2743700" cy="944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b="0" i="1" smtClean="0">
                              <a:latin typeface="Cambria Math" panose="02040503050406030204" pitchFamily="18" charset="0"/>
                            </a:rPr>
                          </m:ctrlPr>
                        </m:fPr>
                        <m:num>
                          <m:r>
                            <a:rPr lang="mr-IN" sz="3200" b="0" i="1" smtClean="0">
                              <a:latin typeface="Cambria Math" charset="0"/>
                            </a:rPr>
                            <m:t>𝜕</m:t>
                          </m:r>
                          <m:r>
                            <a:rPr lang="en-US" sz="3200" b="0" i="1" smtClean="0">
                              <a:latin typeface="Cambria Math" charset="0"/>
                            </a:rPr>
                            <m:t>𝐽</m:t>
                          </m:r>
                        </m:num>
                        <m:den>
                          <m:r>
                            <a:rPr lang="mr-IN" sz="3200" b="0" i="1" smtClean="0">
                              <a:latin typeface="Cambria Math" charset="0"/>
                            </a:rPr>
                            <m:t>𝜕</m:t>
                          </m:r>
                          <m:sSup>
                            <m:sSupPr>
                              <m:ctrlPr>
                                <a:rPr lang="en-US" sz="3200" b="0" i="1" smtClean="0">
                                  <a:latin typeface="Cambria Math" panose="02040503050406030204" pitchFamily="18" charset="0"/>
                                </a:rPr>
                              </m:ctrlPr>
                            </m:sSupPr>
                            <m:e>
                              <m:r>
                                <a:rPr lang="en-US" sz="3200" b="0" i="1" smtClean="0">
                                  <a:latin typeface="Cambria Math" charset="0"/>
                                </a:rPr>
                                <m:t>𝑧</m:t>
                              </m:r>
                            </m:e>
                            <m:sup>
                              <m:r>
                                <a:rPr lang="en-US" sz="3200" b="0" i="1" smtClean="0">
                                  <a:latin typeface="Cambria Math" charset="0"/>
                                </a:rPr>
                                <m:t>(4)</m:t>
                              </m:r>
                            </m:sup>
                          </m:sSup>
                        </m:den>
                      </m:f>
                      <m:r>
                        <a:rPr lang="en-US" sz="3200" b="0" i="1" smtClean="0">
                          <a:latin typeface="Cambria Math" charset="0"/>
                        </a:rPr>
                        <m:t>=</m:t>
                      </m:r>
                      <m:acc>
                        <m:accPr>
                          <m:chr m:val="̂"/>
                          <m:ctrlPr>
                            <a:rPr lang="en-US" sz="3600" i="1">
                              <a:latin typeface="Cambria Math" panose="02040503050406030204" pitchFamily="18" charset="0"/>
                            </a:rPr>
                          </m:ctrlPr>
                        </m:accPr>
                        <m:e>
                          <m:r>
                            <a:rPr lang="en-US" sz="3600" i="1">
                              <a:latin typeface="Cambria Math" charset="0"/>
                            </a:rPr>
                            <m:t>𝑦</m:t>
                          </m:r>
                        </m:e>
                      </m:acc>
                      <m:r>
                        <a:rPr lang="en-US" sz="3600" b="0" i="1" smtClean="0">
                          <a:latin typeface="Cambria Math" charset="0"/>
                        </a:rPr>
                        <m:t>−</m:t>
                      </m:r>
                      <m:r>
                        <a:rPr lang="en-US" sz="3600" b="0" i="1" smtClean="0">
                          <a:latin typeface="Cambria Math" charset="0"/>
                        </a:rPr>
                        <m:t>𝑦</m:t>
                      </m:r>
                    </m:oMath>
                  </m:oMathPara>
                </a14:m>
                <a:endParaRPr lang="en-US" sz="3600" dirty="0"/>
              </a:p>
            </p:txBody>
          </p:sp>
        </mc:Choice>
        <mc:Fallback xmlns="">
          <p:sp>
            <p:nvSpPr>
              <p:cNvPr id="17" name="TextBox 16"/>
              <p:cNvSpPr txBox="1">
                <a:spLocks noRot="1" noChangeAspect="1" noMove="1" noResize="1" noEditPoints="1" noAdjustHandles="1" noChangeArrowheads="1" noChangeShapeType="1" noTextEdit="1"/>
              </p:cNvSpPr>
              <p:nvPr/>
            </p:nvSpPr>
            <p:spPr>
              <a:xfrm>
                <a:off x="8532812" y="5476626"/>
                <a:ext cx="2743700" cy="944746"/>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492083" y="3580478"/>
                <a:ext cx="3047757" cy="1145570"/>
              </a:xfrm>
              <a:prstGeom prst="rect">
                <a:avLst/>
              </a:prstGeom>
              <a:noFill/>
            </p:spPr>
            <p:txBody>
              <a:bodyPr wrap="none" lIns="0" tIns="0" rIns="0" bIns="0" rtlCol="0">
                <a:spAutoFit/>
              </a:bodyPr>
              <a:lstStyle/>
              <a:p>
                <a:endParaRPr lang="en-US" sz="3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492083" y="3580478"/>
                <a:ext cx="3047757" cy="114557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418012" y="3580478"/>
                <a:ext cx="2925929" cy="1145570"/>
              </a:xfrm>
              <a:prstGeom prst="rect">
                <a:avLst/>
              </a:prstGeom>
              <a:noFill/>
            </p:spPr>
            <p:txBody>
              <a:bodyPr wrap="none" lIns="0" tIns="0" rIns="0" bIns="0" rtlCol="0">
                <a:spAutoFit/>
              </a:bodyPr>
              <a:lstStyle/>
              <a:p>
                <a:endParaRPr lang="en-US" sz="36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418012" y="3580478"/>
                <a:ext cx="2925929" cy="114557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334469" y="2332414"/>
                <a:ext cx="2843791" cy="5770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(2)</m:t>
                          </m:r>
                        </m:sup>
                      </m:sSup>
                      <m:r>
                        <a:rPr lang="en-US" sz="3600" b="0" i="1" smtClean="0">
                          <a:latin typeface="Cambria Math" charset="0"/>
                        </a:rPr>
                        <m:t>=</m:t>
                      </m:r>
                      <m:r>
                        <a:rPr lang="en-US" sz="3600" b="0" i="1" smtClean="0">
                          <a:latin typeface="Cambria Math" charset="0"/>
                        </a:rPr>
                        <m:t>𝑋</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(1)</m:t>
                          </m:r>
                        </m:sup>
                      </m:sSup>
                    </m:oMath>
                  </m:oMathPara>
                </a14:m>
                <a:endParaRPr lang="en-US" sz="3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2334469" y="2332414"/>
                <a:ext cx="2843791" cy="577081"/>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8380412" y="3567778"/>
                <a:ext cx="3375668" cy="1145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latin typeface="Cambria Math" panose="02040503050406030204" pitchFamily="18" charset="0"/>
                            </a:rPr>
                          </m:ctrlPr>
                        </m:fPr>
                        <m:num>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num>
                        <m:den>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den>
                      </m:f>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3</m:t>
                              </m:r>
                            </m:e>
                          </m:d>
                        </m:sup>
                      </m:sSup>
                      <m:r>
                        <a:rPr lang="en-US" sz="3600" b="0" i="1" smtClean="0">
                          <a:latin typeface="Cambria Math" charset="0"/>
                        </a:rPr>
                        <m:t>)</m:t>
                      </m:r>
                    </m:oMath>
                  </m:oMathPara>
                </a14:m>
                <a:endParaRPr lang="en-US" sz="3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8380412" y="3567778"/>
                <a:ext cx="3375668" cy="114557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8380412" y="1981200"/>
                <a:ext cx="3489480" cy="1145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solidFill>
                                <a:srgbClr val="FF0000"/>
                              </a:solidFill>
                              <a:latin typeface="Cambria Math" panose="02040503050406030204" pitchFamily="18" charset="0"/>
                            </a:rPr>
                          </m:ctrlPr>
                        </m:fPr>
                        <m:num>
                          <m:r>
                            <a:rPr lang="mr-IN" sz="3600" b="0" i="1" smtClean="0">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𝑎</m:t>
                              </m:r>
                            </m:e>
                            <m:sup>
                              <m:r>
                                <a:rPr lang="en-US" sz="3600" b="0" i="1" smtClean="0">
                                  <a:solidFill>
                                    <a:srgbClr val="FF0000"/>
                                  </a:solidFill>
                                  <a:latin typeface="Cambria Math" charset="0"/>
                                </a:rPr>
                                <m:t>(2)</m:t>
                              </m:r>
                            </m:sup>
                          </m:sSup>
                        </m:num>
                        <m:den>
                          <m:r>
                            <a:rPr lang="mr-IN" sz="3600" b="0" i="1" smtClean="0">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𝑧</m:t>
                              </m:r>
                            </m:e>
                            <m:sup>
                              <m:r>
                                <a:rPr lang="en-US" sz="3600" b="0" i="1" smtClean="0">
                                  <a:solidFill>
                                    <a:srgbClr val="FF0000"/>
                                  </a:solidFill>
                                  <a:latin typeface="Cambria Math" charset="0"/>
                                </a:rPr>
                                <m:t>(2)</m:t>
                              </m:r>
                            </m:sup>
                          </m:sSup>
                        </m:den>
                      </m:f>
                      <m:r>
                        <a:rPr lang="en-US" sz="3600" b="0" i="1" smtClean="0">
                          <a:solidFill>
                            <a:srgbClr val="FF0000"/>
                          </a:solidFill>
                          <a:latin typeface="Cambria Math" charset="0"/>
                        </a:rPr>
                        <m:t>=</m:t>
                      </m:r>
                      <m:r>
                        <a:rPr lang="en-US" sz="3600" b="0" i="1" smtClean="0">
                          <a:solidFill>
                            <a:srgbClr val="FF0000"/>
                          </a:solidFill>
                          <a:latin typeface="Cambria Math" charset="0"/>
                        </a:rPr>
                        <m:t>𝜎</m:t>
                      </m:r>
                      <m:r>
                        <a:rPr lang="en-US" sz="3600" b="0" i="1" smtClean="0">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𝑧</m:t>
                          </m:r>
                        </m:e>
                        <m:sup>
                          <m:d>
                            <m:dPr>
                              <m:ctrlPr>
                                <a:rPr lang="en-US" sz="3600" b="0" i="1" smtClean="0">
                                  <a:solidFill>
                                    <a:srgbClr val="FF0000"/>
                                  </a:solidFill>
                                  <a:latin typeface="Cambria Math" panose="02040503050406030204" pitchFamily="18" charset="0"/>
                                </a:rPr>
                              </m:ctrlPr>
                            </m:dPr>
                            <m:e>
                              <m:r>
                                <a:rPr lang="en-US" sz="3600" b="0" i="1" smtClean="0">
                                  <a:solidFill>
                                    <a:srgbClr val="FF0000"/>
                                  </a:solidFill>
                                  <a:latin typeface="Cambria Math" charset="0"/>
                                </a:rPr>
                                <m:t>2</m:t>
                              </m:r>
                            </m:e>
                          </m:d>
                        </m:sup>
                      </m:sSup>
                      <m:r>
                        <a:rPr lang="en-US" sz="3600" b="0" i="1" smtClean="0">
                          <a:solidFill>
                            <a:srgbClr val="FF0000"/>
                          </a:solidFill>
                          <a:latin typeface="Cambria Math" charset="0"/>
                        </a:rPr>
                        <m:t>)</m:t>
                      </m:r>
                    </m:oMath>
                  </m:oMathPara>
                </a14:m>
                <a:endParaRPr lang="en-US" sz="3600" dirty="0">
                  <a:solidFill>
                    <a:srgbClr val="FF0000"/>
                  </a:solidFill>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8380412" y="1981200"/>
                <a:ext cx="3489480" cy="114557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1593073" y="5376214"/>
                <a:ext cx="5361532" cy="991362"/>
              </a:xfrm>
              <a:prstGeom prst="rect">
                <a:avLst/>
              </a:prstGeom>
              <a:noFill/>
            </p:spPr>
            <p:txBody>
              <a:bodyPr wrap="none" lIns="0" tIns="0" rIns="0" bIns="0" rtlCol="0">
                <a:spAutoFit/>
              </a:bodyPr>
              <a:lstStyle/>
              <a:p>
                <a14:m>
                  <m:oMath xmlns:m="http://schemas.openxmlformats.org/officeDocument/2006/math">
                    <m:f>
                      <m:fPr>
                        <m:ctrlPr>
                          <a:rPr lang="mr-IN" sz="3600" i="1" smtClean="0">
                            <a:latin typeface="Cambria Math" panose="02040503050406030204" pitchFamily="18" charset="0"/>
                          </a:rPr>
                        </m:ctrlPr>
                      </m:fPr>
                      <m:num>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(4)</m:t>
                            </m:r>
                          </m:sup>
                        </m:sSup>
                      </m:num>
                      <m:den>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(3)</m:t>
                            </m:r>
                          </m:sup>
                        </m:sSup>
                      </m:den>
                    </m:f>
                    <m:r>
                      <a:rPr lang="en-US"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r>
                      <a:rPr lang="en-US" sz="3600" b="0" i="1" smtClean="0">
                        <a:latin typeface="Cambria Math" charset="0"/>
                      </a:rPr>
                      <m:t>;</m:t>
                    </m:r>
                  </m:oMath>
                </a14:m>
                <a:r>
                  <a:rPr lang="mr-IN" sz="4000" dirty="0"/>
                  <a:t> </a:t>
                </a:r>
                <a14:m>
                  <m:oMath xmlns:m="http://schemas.openxmlformats.org/officeDocument/2006/math">
                    <m:f>
                      <m:fPr>
                        <m:ctrlPr>
                          <a:rPr lang="mr-IN" sz="4000" i="1">
                            <a:latin typeface="Cambria Math" panose="02040503050406030204" pitchFamily="18" charset="0"/>
                          </a:rPr>
                        </m:ctrlPr>
                      </m:fPr>
                      <m:num>
                        <m:r>
                          <a:rPr lang="mr-IN" sz="4000" i="1">
                            <a:latin typeface="Cambria Math" charset="0"/>
                          </a:rPr>
                          <m:t>𝜕</m:t>
                        </m:r>
                        <m:sSup>
                          <m:sSupPr>
                            <m:ctrlPr>
                              <a:rPr lang="en-US" sz="4000" i="1">
                                <a:latin typeface="Cambria Math" panose="02040503050406030204" pitchFamily="18" charset="0"/>
                              </a:rPr>
                            </m:ctrlPr>
                          </m:sSupPr>
                          <m:e>
                            <m:r>
                              <a:rPr lang="en-US" sz="4000" i="1">
                                <a:latin typeface="Cambria Math" charset="0"/>
                              </a:rPr>
                              <m:t>𝑧</m:t>
                            </m:r>
                          </m:e>
                          <m:sup>
                            <m:r>
                              <a:rPr lang="en-US" sz="4000" i="1">
                                <a:latin typeface="Cambria Math" charset="0"/>
                              </a:rPr>
                              <m:t>(4)</m:t>
                            </m:r>
                          </m:sup>
                        </m:sSup>
                      </m:num>
                      <m:den>
                        <m:r>
                          <a:rPr lang="mr-IN"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𝑎</m:t>
                            </m:r>
                          </m:e>
                          <m:sup>
                            <m:r>
                              <a:rPr lang="en-US" sz="4000" i="1">
                                <a:latin typeface="Cambria Math" charset="0"/>
                              </a:rPr>
                              <m:t>(3)</m:t>
                            </m:r>
                          </m:sup>
                        </m:sSup>
                      </m:den>
                    </m:f>
                    <m:r>
                      <a:rPr lang="en-US"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𝑊</m:t>
                        </m:r>
                      </m:e>
                      <m:sup>
                        <m:r>
                          <a:rPr lang="en-US" sz="4000" i="1">
                            <a:latin typeface="Cambria Math" charset="0"/>
                          </a:rPr>
                          <m:t>(3)</m:t>
                        </m:r>
                      </m:sup>
                    </m:sSup>
                    <m:r>
                      <a:rPr lang="en-US" sz="4000" i="1">
                        <a:latin typeface="Cambria Math" charset="0"/>
                      </a:rPr>
                      <m:t>;</m:t>
                    </m:r>
                  </m:oMath>
                </a14:m>
                <a:endParaRPr lang="en-US" sz="4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1593073" y="5376214"/>
                <a:ext cx="5361532" cy="991362"/>
              </a:xfrm>
              <a:prstGeom prst="rect">
                <a:avLst/>
              </a:prstGeom>
              <a:blipFill rotWithShape="0">
                <a:blip r:embed="rId11"/>
                <a:stretch>
                  <a:fillRect b="-153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593073" y="3747386"/>
                <a:ext cx="5275034" cy="991362"/>
              </a:xfrm>
              <a:prstGeom prst="rect">
                <a:avLst/>
              </a:prstGeom>
              <a:noFill/>
            </p:spPr>
            <p:txBody>
              <a:bodyPr wrap="none" lIns="0" tIns="0" rIns="0" bIns="0" rtlCol="0">
                <a:spAutoFit/>
              </a:bodyPr>
              <a:lstStyle/>
              <a:p>
                <a14:m>
                  <m:oMath xmlns:m="http://schemas.openxmlformats.org/officeDocument/2006/math">
                    <m:f>
                      <m:fPr>
                        <m:ctrlPr>
                          <a:rPr lang="mr-IN" sz="3600" i="1" smtClean="0">
                            <a:latin typeface="Cambria Math" panose="02040503050406030204" pitchFamily="18" charset="0"/>
                          </a:rPr>
                        </m:ctrlPr>
                      </m:fPr>
                      <m:num>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num>
                      <m:den>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(2)</m:t>
                            </m:r>
                          </m:sup>
                        </m:sSup>
                      </m:den>
                    </m:f>
                    <m:r>
                      <a:rPr lang="en-US"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r>
                      <a:rPr lang="en-US" sz="3600" b="0" i="1" smtClean="0">
                        <a:latin typeface="Cambria Math" charset="0"/>
                      </a:rPr>
                      <m:t>;</m:t>
                    </m:r>
                  </m:oMath>
                </a14:m>
                <a:r>
                  <a:rPr lang="mr-IN" sz="4000" dirty="0" smtClean="0"/>
                  <a:t> </a:t>
                </a:r>
                <a14:m>
                  <m:oMath xmlns:m="http://schemas.openxmlformats.org/officeDocument/2006/math">
                    <m:f>
                      <m:fPr>
                        <m:ctrlPr>
                          <a:rPr lang="mr-IN" sz="4000" i="1">
                            <a:latin typeface="Cambria Math" panose="02040503050406030204" pitchFamily="18" charset="0"/>
                          </a:rPr>
                        </m:ctrlPr>
                      </m:fPr>
                      <m:num>
                        <m:r>
                          <a:rPr lang="mr-IN" sz="4000" i="1">
                            <a:latin typeface="Cambria Math" charset="0"/>
                          </a:rPr>
                          <m:t>𝜕</m:t>
                        </m:r>
                        <m:sSup>
                          <m:sSupPr>
                            <m:ctrlPr>
                              <a:rPr lang="en-US" sz="4000" i="1">
                                <a:latin typeface="Cambria Math" panose="02040503050406030204" pitchFamily="18" charset="0"/>
                              </a:rPr>
                            </m:ctrlPr>
                          </m:sSupPr>
                          <m:e>
                            <m:r>
                              <a:rPr lang="en-US" sz="4000" i="1">
                                <a:latin typeface="Cambria Math" charset="0"/>
                              </a:rPr>
                              <m:t>𝑧</m:t>
                            </m:r>
                          </m:e>
                          <m:sup>
                            <m:r>
                              <a:rPr lang="en-US" sz="4000" i="1">
                                <a:latin typeface="Cambria Math" charset="0"/>
                              </a:rPr>
                              <m:t>(</m:t>
                            </m:r>
                            <m:r>
                              <a:rPr lang="en-US" sz="4000" b="0" i="1" smtClean="0">
                                <a:latin typeface="Cambria Math" charset="0"/>
                              </a:rPr>
                              <m:t>3</m:t>
                            </m:r>
                            <m:r>
                              <a:rPr lang="en-US" sz="4000" i="1">
                                <a:latin typeface="Cambria Math" charset="0"/>
                              </a:rPr>
                              <m:t>)</m:t>
                            </m:r>
                          </m:sup>
                        </m:sSup>
                      </m:num>
                      <m:den>
                        <m:r>
                          <a:rPr lang="mr-IN"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𝑎</m:t>
                            </m:r>
                          </m:e>
                          <m:sup>
                            <m:r>
                              <a:rPr lang="en-US" sz="4000" i="1">
                                <a:latin typeface="Cambria Math" charset="0"/>
                              </a:rPr>
                              <m:t>(</m:t>
                            </m:r>
                            <m:r>
                              <a:rPr lang="en-US" sz="4000" b="0" i="1" smtClean="0">
                                <a:latin typeface="Cambria Math" charset="0"/>
                              </a:rPr>
                              <m:t>2</m:t>
                            </m:r>
                            <m:r>
                              <a:rPr lang="en-US" sz="4000" i="1">
                                <a:latin typeface="Cambria Math" charset="0"/>
                              </a:rPr>
                              <m:t>)</m:t>
                            </m:r>
                          </m:sup>
                        </m:sSup>
                      </m:den>
                    </m:f>
                    <m:r>
                      <a:rPr lang="en-US"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𝑊</m:t>
                        </m:r>
                      </m:e>
                      <m:sup>
                        <m:r>
                          <a:rPr lang="en-US" sz="4000" i="1">
                            <a:latin typeface="Cambria Math" charset="0"/>
                          </a:rPr>
                          <m:t>(</m:t>
                        </m:r>
                        <m:r>
                          <a:rPr lang="en-US" sz="4000" b="0" i="1" smtClean="0">
                            <a:latin typeface="Cambria Math" charset="0"/>
                          </a:rPr>
                          <m:t>2</m:t>
                        </m:r>
                        <m:r>
                          <a:rPr lang="en-US" sz="4000" i="1">
                            <a:latin typeface="Cambria Math" charset="0"/>
                          </a:rPr>
                          <m:t>)</m:t>
                        </m:r>
                      </m:sup>
                    </m:sSup>
                  </m:oMath>
                </a14:m>
                <a:endParaRPr lang="en-US" sz="4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1593073" y="3747386"/>
                <a:ext cx="5275034" cy="991362"/>
              </a:xfrm>
              <a:prstGeom prst="rect">
                <a:avLst/>
              </a:prstGeom>
              <a:blipFill rotWithShape="0">
                <a:blip r:embed="rId12"/>
                <a:stretch>
                  <a:fillRect b="-16049"/>
                </a:stretch>
              </a:blipFill>
            </p:spPr>
            <p:txBody>
              <a:bodyPr/>
              <a:lstStyle/>
              <a:p>
                <a:r>
                  <a:rPr lang="en-US">
                    <a:noFill/>
                  </a:rPr>
                  <a:t> </a:t>
                </a:r>
              </a:p>
            </p:txBody>
          </p:sp>
        </mc:Fallback>
      </mc:AlternateContent>
    </p:spTree>
    <p:extLst>
      <p:ext uri="{BB962C8B-B14F-4D97-AF65-F5344CB8AC3E}">
        <p14:creationId xmlns:p14="http://schemas.microsoft.com/office/powerpoint/2010/main" val="8857877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partial derivatives</a:t>
            </a:r>
            <a:endParaRPr lang="en-US" dirty="0"/>
          </a:p>
        </p:txBody>
      </p:sp>
      <mc:AlternateContent xmlns:mc="http://schemas.openxmlformats.org/markup-compatibility/2006" xmlns:a14="http://schemas.microsoft.com/office/drawing/2010/main">
        <mc:Choice Requires="a14">
          <p:sp>
            <p:nvSpPr>
              <p:cNvPr id="12" name="TextBox 11"/>
              <p:cNvSpPr txBox="1"/>
              <p:nvPr/>
            </p:nvSpPr>
            <p:spPr>
              <a:xfrm>
                <a:off x="1492083" y="5376214"/>
                <a:ext cx="3047757" cy="1145570"/>
              </a:xfrm>
              <a:prstGeom prst="rect">
                <a:avLst/>
              </a:prstGeom>
              <a:noFill/>
            </p:spPr>
            <p:txBody>
              <a:bodyPr wrap="none" lIns="0" tIns="0" rIns="0" bIns="0" rtlCol="0">
                <a:spAutoFit/>
              </a:bodyPr>
              <a:lstStyle/>
              <a:p>
                <a:endParaRPr lang="en-US" sz="3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492083" y="5376214"/>
                <a:ext cx="3047757" cy="114557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418012" y="5376214"/>
                <a:ext cx="2925929" cy="1145570"/>
              </a:xfrm>
              <a:prstGeom prst="rect">
                <a:avLst/>
              </a:prstGeom>
              <a:noFill/>
            </p:spPr>
            <p:txBody>
              <a:bodyPr wrap="none" lIns="0" tIns="0" rIns="0" bIns="0" rtlCol="0">
                <a:spAutoFit/>
              </a:bodyPr>
              <a:lstStyle/>
              <a:p>
                <a:endParaRPr lang="en-US" sz="3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418012" y="5376214"/>
                <a:ext cx="2925929" cy="114557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8532812" y="5476626"/>
                <a:ext cx="2743700" cy="944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b="0" i="1" smtClean="0">
                              <a:latin typeface="Cambria Math" panose="02040503050406030204" pitchFamily="18" charset="0"/>
                            </a:rPr>
                          </m:ctrlPr>
                        </m:fPr>
                        <m:num>
                          <m:r>
                            <a:rPr lang="mr-IN" sz="3200" b="0" i="1" smtClean="0">
                              <a:latin typeface="Cambria Math" charset="0"/>
                            </a:rPr>
                            <m:t>𝜕</m:t>
                          </m:r>
                          <m:r>
                            <a:rPr lang="en-US" sz="3200" b="0" i="1" smtClean="0">
                              <a:latin typeface="Cambria Math" charset="0"/>
                            </a:rPr>
                            <m:t>𝐽</m:t>
                          </m:r>
                        </m:num>
                        <m:den>
                          <m:r>
                            <a:rPr lang="mr-IN" sz="3200" b="0" i="1" smtClean="0">
                              <a:latin typeface="Cambria Math" charset="0"/>
                            </a:rPr>
                            <m:t>𝜕</m:t>
                          </m:r>
                          <m:sSup>
                            <m:sSupPr>
                              <m:ctrlPr>
                                <a:rPr lang="en-US" sz="3200" b="0" i="1" smtClean="0">
                                  <a:latin typeface="Cambria Math" panose="02040503050406030204" pitchFamily="18" charset="0"/>
                                </a:rPr>
                              </m:ctrlPr>
                            </m:sSupPr>
                            <m:e>
                              <m:r>
                                <a:rPr lang="en-US" sz="3200" b="0" i="1" smtClean="0">
                                  <a:latin typeface="Cambria Math" charset="0"/>
                                </a:rPr>
                                <m:t>𝑧</m:t>
                              </m:r>
                            </m:e>
                            <m:sup>
                              <m:r>
                                <a:rPr lang="en-US" sz="3200" b="0" i="1" smtClean="0">
                                  <a:latin typeface="Cambria Math" charset="0"/>
                                </a:rPr>
                                <m:t>(4)</m:t>
                              </m:r>
                            </m:sup>
                          </m:sSup>
                        </m:den>
                      </m:f>
                      <m:r>
                        <a:rPr lang="en-US" sz="3200" b="0" i="1" smtClean="0">
                          <a:latin typeface="Cambria Math" charset="0"/>
                        </a:rPr>
                        <m:t>=</m:t>
                      </m:r>
                      <m:acc>
                        <m:accPr>
                          <m:chr m:val="̂"/>
                          <m:ctrlPr>
                            <a:rPr lang="en-US" sz="3600" i="1">
                              <a:latin typeface="Cambria Math" panose="02040503050406030204" pitchFamily="18" charset="0"/>
                            </a:rPr>
                          </m:ctrlPr>
                        </m:accPr>
                        <m:e>
                          <m:r>
                            <a:rPr lang="en-US" sz="3600" i="1">
                              <a:latin typeface="Cambria Math" charset="0"/>
                            </a:rPr>
                            <m:t>𝑦</m:t>
                          </m:r>
                        </m:e>
                      </m:acc>
                      <m:r>
                        <a:rPr lang="en-US" sz="3600" b="0" i="1" smtClean="0">
                          <a:latin typeface="Cambria Math" charset="0"/>
                        </a:rPr>
                        <m:t>−</m:t>
                      </m:r>
                      <m:r>
                        <a:rPr lang="en-US" sz="3600" b="0" i="1" smtClean="0">
                          <a:latin typeface="Cambria Math" charset="0"/>
                        </a:rPr>
                        <m:t>𝑦</m:t>
                      </m:r>
                    </m:oMath>
                  </m:oMathPara>
                </a14:m>
                <a:endParaRPr lang="en-US" sz="3600" dirty="0"/>
              </a:p>
            </p:txBody>
          </p:sp>
        </mc:Choice>
        <mc:Fallback xmlns="">
          <p:sp>
            <p:nvSpPr>
              <p:cNvPr id="17" name="TextBox 16"/>
              <p:cNvSpPr txBox="1">
                <a:spLocks noRot="1" noChangeAspect="1" noMove="1" noResize="1" noEditPoints="1" noAdjustHandles="1" noChangeArrowheads="1" noChangeShapeType="1" noTextEdit="1"/>
              </p:cNvSpPr>
              <p:nvPr/>
            </p:nvSpPr>
            <p:spPr>
              <a:xfrm>
                <a:off x="8532812" y="5476626"/>
                <a:ext cx="2743700" cy="944746"/>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492083" y="3580478"/>
                <a:ext cx="3047757" cy="1145570"/>
              </a:xfrm>
              <a:prstGeom prst="rect">
                <a:avLst/>
              </a:prstGeom>
              <a:noFill/>
            </p:spPr>
            <p:txBody>
              <a:bodyPr wrap="none" lIns="0" tIns="0" rIns="0" bIns="0" rtlCol="0">
                <a:spAutoFit/>
              </a:bodyPr>
              <a:lstStyle/>
              <a:p>
                <a:endParaRPr lang="en-US" sz="3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492083" y="3580478"/>
                <a:ext cx="3047757" cy="114557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418012" y="3580478"/>
                <a:ext cx="2925929" cy="1145570"/>
              </a:xfrm>
              <a:prstGeom prst="rect">
                <a:avLst/>
              </a:prstGeom>
              <a:noFill/>
            </p:spPr>
            <p:txBody>
              <a:bodyPr wrap="none" lIns="0" tIns="0" rIns="0" bIns="0" rtlCol="0">
                <a:spAutoFit/>
              </a:bodyPr>
              <a:lstStyle/>
              <a:p>
                <a:endParaRPr lang="en-US" sz="36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418012" y="3580478"/>
                <a:ext cx="2925929" cy="114557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8380412" y="3567778"/>
                <a:ext cx="3375668" cy="1145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latin typeface="Cambria Math" panose="02040503050406030204" pitchFamily="18" charset="0"/>
                            </a:rPr>
                          </m:ctrlPr>
                        </m:fPr>
                        <m:num>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num>
                        <m:den>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den>
                      </m:f>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3</m:t>
                              </m:r>
                            </m:e>
                          </m:d>
                        </m:sup>
                      </m:sSup>
                      <m:r>
                        <a:rPr lang="en-US" sz="3600" b="0" i="1" smtClean="0">
                          <a:latin typeface="Cambria Math" charset="0"/>
                        </a:rPr>
                        <m:t>)</m:t>
                      </m:r>
                    </m:oMath>
                  </m:oMathPara>
                </a14:m>
                <a:endParaRPr lang="en-US" sz="3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8380412" y="3567778"/>
                <a:ext cx="3375668" cy="114557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8380412" y="1981200"/>
                <a:ext cx="3489480" cy="1145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latin typeface="Cambria Math" panose="02040503050406030204" pitchFamily="18" charset="0"/>
                            </a:rPr>
                          </m:ctrlPr>
                        </m:fPr>
                        <m:num>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num>
                        <m:den>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(2)</m:t>
                              </m:r>
                            </m:sup>
                          </m:sSup>
                        </m:den>
                      </m:f>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2</m:t>
                              </m:r>
                            </m:e>
                          </m:d>
                        </m:sup>
                      </m:sSup>
                      <m:r>
                        <a:rPr lang="en-US" sz="3600" b="0" i="1" smtClean="0">
                          <a:latin typeface="Cambria Math" charset="0"/>
                        </a:rPr>
                        <m:t>)</m:t>
                      </m:r>
                    </m:oMath>
                  </m:oMathPara>
                </a14:m>
                <a:endParaRPr lang="en-US" sz="3600" dirty="0"/>
              </a:p>
            </p:txBody>
          </p:sp>
        </mc:Choice>
        <mc:Fallback xmlns="">
          <p:sp>
            <p:nvSpPr>
              <p:cNvPr id="21" name="TextBox 20"/>
              <p:cNvSpPr txBox="1">
                <a:spLocks noRot="1" noChangeAspect="1" noMove="1" noResize="1" noEditPoints="1" noAdjustHandles="1" noChangeArrowheads="1" noChangeShapeType="1" noTextEdit="1"/>
              </p:cNvSpPr>
              <p:nvPr/>
            </p:nvSpPr>
            <p:spPr>
              <a:xfrm>
                <a:off x="8380412" y="1981200"/>
                <a:ext cx="3489480" cy="114557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076875" y="2067803"/>
                <a:ext cx="2473947" cy="1145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solidFill>
                                <a:srgbClr val="FF0000"/>
                              </a:solidFill>
                              <a:latin typeface="Cambria Math" panose="02040503050406030204" pitchFamily="18" charset="0"/>
                            </a:rPr>
                          </m:ctrlPr>
                        </m:fPr>
                        <m:num>
                          <m:r>
                            <a:rPr lang="mr-IN" sz="3600" b="0" i="1" smtClean="0">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𝑧</m:t>
                              </m:r>
                            </m:e>
                            <m:sup>
                              <m:r>
                                <a:rPr lang="en-US" sz="3600" b="0" i="1" smtClean="0">
                                  <a:solidFill>
                                    <a:srgbClr val="FF0000"/>
                                  </a:solidFill>
                                  <a:latin typeface="Cambria Math" charset="0"/>
                                </a:rPr>
                                <m:t>(2)</m:t>
                              </m:r>
                            </m:sup>
                          </m:sSup>
                        </m:num>
                        <m:den>
                          <m:r>
                            <a:rPr lang="mr-IN" sz="3600" b="0" i="1" smtClean="0">
                              <a:solidFill>
                                <a:srgbClr val="FF0000"/>
                              </a:solidFill>
                              <a:latin typeface="Cambria Math" charset="0"/>
                            </a:rPr>
                            <m:t>𝜕</m:t>
                          </m:r>
                          <m:sSup>
                            <m:sSupPr>
                              <m:ctrlPr>
                                <a:rPr lang="en-US" sz="3600" b="0" i="1" smtClean="0">
                                  <a:solidFill>
                                    <a:srgbClr val="FF0000"/>
                                  </a:solidFill>
                                  <a:latin typeface="Cambria Math" panose="02040503050406030204" pitchFamily="18" charset="0"/>
                                </a:rPr>
                              </m:ctrlPr>
                            </m:sSupPr>
                            <m:e>
                              <m:r>
                                <a:rPr lang="en-US" sz="3600" b="0" i="1" smtClean="0">
                                  <a:solidFill>
                                    <a:srgbClr val="FF0000"/>
                                  </a:solidFill>
                                  <a:latin typeface="Cambria Math" charset="0"/>
                                </a:rPr>
                                <m:t>𝑊</m:t>
                              </m:r>
                            </m:e>
                            <m:sup>
                              <m:r>
                                <a:rPr lang="en-US" sz="3600" b="0" i="1" smtClean="0">
                                  <a:solidFill>
                                    <a:srgbClr val="FF0000"/>
                                  </a:solidFill>
                                  <a:latin typeface="Cambria Math" charset="0"/>
                                </a:rPr>
                                <m:t>(1)</m:t>
                              </m:r>
                            </m:sup>
                          </m:sSup>
                        </m:den>
                      </m:f>
                      <m:r>
                        <a:rPr lang="en-US" sz="3600" b="0" i="1" smtClean="0">
                          <a:solidFill>
                            <a:srgbClr val="FF0000"/>
                          </a:solidFill>
                          <a:latin typeface="Cambria Math" charset="0"/>
                        </a:rPr>
                        <m:t>= </m:t>
                      </m:r>
                      <m:r>
                        <a:rPr lang="en-US" sz="3600" b="0" i="1" smtClean="0">
                          <a:solidFill>
                            <a:srgbClr val="FF0000"/>
                          </a:solidFill>
                          <a:latin typeface="Cambria Math" charset="0"/>
                        </a:rPr>
                        <m:t>𝑋</m:t>
                      </m:r>
                    </m:oMath>
                  </m:oMathPara>
                </a14:m>
                <a:endParaRPr lang="en-US" sz="3600" dirty="0">
                  <a:solidFill>
                    <a:srgbClr val="FF0000"/>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3076875" y="2067803"/>
                <a:ext cx="2473947" cy="114557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593073" y="5376214"/>
                <a:ext cx="5361532" cy="991362"/>
              </a:xfrm>
              <a:prstGeom prst="rect">
                <a:avLst/>
              </a:prstGeom>
              <a:noFill/>
            </p:spPr>
            <p:txBody>
              <a:bodyPr wrap="none" lIns="0" tIns="0" rIns="0" bIns="0" rtlCol="0">
                <a:spAutoFit/>
              </a:bodyPr>
              <a:lstStyle/>
              <a:p>
                <a14:m>
                  <m:oMath xmlns:m="http://schemas.openxmlformats.org/officeDocument/2006/math">
                    <m:f>
                      <m:fPr>
                        <m:ctrlPr>
                          <a:rPr lang="mr-IN" sz="3600" i="1" smtClean="0">
                            <a:latin typeface="Cambria Math" panose="02040503050406030204" pitchFamily="18" charset="0"/>
                          </a:rPr>
                        </m:ctrlPr>
                      </m:fPr>
                      <m:num>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(4)</m:t>
                            </m:r>
                          </m:sup>
                        </m:sSup>
                      </m:num>
                      <m:den>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(3)</m:t>
                            </m:r>
                          </m:sup>
                        </m:sSup>
                      </m:den>
                    </m:f>
                    <m:r>
                      <a:rPr lang="en-US"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r>
                      <a:rPr lang="en-US" sz="3600" b="0" i="1" smtClean="0">
                        <a:latin typeface="Cambria Math" charset="0"/>
                      </a:rPr>
                      <m:t>;</m:t>
                    </m:r>
                  </m:oMath>
                </a14:m>
                <a:r>
                  <a:rPr lang="mr-IN" sz="4000" dirty="0"/>
                  <a:t> </a:t>
                </a:r>
                <a14:m>
                  <m:oMath xmlns:m="http://schemas.openxmlformats.org/officeDocument/2006/math">
                    <m:f>
                      <m:fPr>
                        <m:ctrlPr>
                          <a:rPr lang="mr-IN" sz="4000" i="1">
                            <a:latin typeface="Cambria Math" panose="02040503050406030204" pitchFamily="18" charset="0"/>
                          </a:rPr>
                        </m:ctrlPr>
                      </m:fPr>
                      <m:num>
                        <m:r>
                          <a:rPr lang="mr-IN" sz="4000" i="1">
                            <a:latin typeface="Cambria Math" charset="0"/>
                          </a:rPr>
                          <m:t>𝜕</m:t>
                        </m:r>
                        <m:sSup>
                          <m:sSupPr>
                            <m:ctrlPr>
                              <a:rPr lang="en-US" sz="4000" i="1">
                                <a:latin typeface="Cambria Math" panose="02040503050406030204" pitchFamily="18" charset="0"/>
                              </a:rPr>
                            </m:ctrlPr>
                          </m:sSupPr>
                          <m:e>
                            <m:r>
                              <a:rPr lang="en-US" sz="4000" i="1">
                                <a:latin typeface="Cambria Math" charset="0"/>
                              </a:rPr>
                              <m:t>𝑧</m:t>
                            </m:r>
                          </m:e>
                          <m:sup>
                            <m:r>
                              <a:rPr lang="en-US" sz="4000" i="1">
                                <a:latin typeface="Cambria Math" charset="0"/>
                              </a:rPr>
                              <m:t>(4)</m:t>
                            </m:r>
                          </m:sup>
                        </m:sSup>
                      </m:num>
                      <m:den>
                        <m:r>
                          <a:rPr lang="mr-IN"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𝑎</m:t>
                            </m:r>
                          </m:e>
                          <m:sup>
                            <m:r>
                              <a:rPr lang="en-US" sz="4000" i="1">
                                <a:latin typeface="Cambria Math" charset="0"/>
                              </a:rPr>
                              <m:t>(3)</m:t>
                            </m:r>
                          </m:sup>
                        </m:sSup>
                      </m:den>
                    </m:f>
                    <m:r>
                      <a:rPr lang="en-US"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𝑊</m:t>
                        </m:r>
                      </m:e>
                      <m:sup>
                        <m:r>
                          <a:rPr lang="en-US" sz="4000" i="1">
                            <a:latin typeface="Cambria Math" charset="0"/>
                          </a:rPr>
                          <m:t>(3)</m:t>
                        </m:r>
                      </m:sup>
                    </m:sSup>
                    <m:r>
                      <a:rPr lang="en-US" sz="4000" i="1">
                        <a:latin typeface="Cambria Math" charset="0"/>
                      </a:rPr>
                      <m:t>;</m:t>
                    </m:r>
                  </m:oMath>
                </a14:m>
                <a:endParaRPr lang="en-US" sz="4400" dirty="0"/>
              </a:p>
            </p:txBody>
          </p:sp>
        </mc:Choice>
        <mc:Fallback xmlns="">
          <p:sp>
            <p:nvSpPr>
              <p:cNvPr id="14" name="TextBox 13"/>
              <p:cNvSpPr txBox="1">
                <a:spLocks noRot="1" noChangeAspect="1" noMove="1" noResize="1" noEditPoints="1" noAdjustHandles="1" noChangeArrowheads="1" noChangeShapeType="1" noTextEdit="1"/>
              </p:cNvSpPr>
              <p:nvPr/>
            </p:nvSpPr>
            <p:spPr>
              <a:xfrm>
                <a:off x="1593073" y="5376214"/>
                <a:ext cx="5361532" cy="991362"/>
              </a:xfrm>
              <a:prstGeom prst="rect">
                <a:avLst/>
              </a:prstGeom>
              <a:blipFill rotWithShape="0">
                <a:blip r:embed="rId9"/>
                <a:stretch>
                  <a:fillRect b="-153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593073" y="3747386"/>
                <a:ext cx="5275034" cy="991362"/>
              </a:xfrm>
              <a:prstGeom prst="rect">
                <a:avLst/>
              </a:prstGeom>
              <a:noFill/>
            </p:spPr>
            <p:txBody>
              <a:bodyPr wrap="none" lIns="0" tIns="0" rIns="0" bIns="0" rtlCol="0">
                <a:spAutoFit/>
              </a:bodyPr>
              <a:lstStyle/>
              <a:p>
                <a14:m>
                  <m:oMath xmlns:m="http://schemas.openxmlformats.org/officeDocument/2006/math">
                    <m:f>
                      <m:fPr>
                        <m:ctrlPr>
                          <a:rPr lang="mr-IN" sz="3600" i="1" smtClean="0">
                            <a:latin typeface="Cambria Math" panose="02040503050406030204" pitchFamily="18" charset="0"/>
                          </a:rPr>
                        </m:ctrlPr>
                      </m:fPr>
                      <m:num>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num>
                      <m:den>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(2)</m:t>
                            </m:r>
                          </m:sup>
                        </m:sSup>
                      </m:den>
                    </m:f>
                    <m:r>
                      <a:rPr lang="en-US"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r>
                      <a:rPr lang="en-US" sz="3600" b="0" i="1" smtClean="0">
                        <a:latin typeface="Cambria Math" charset="0"/>
                      </a:rPr>
                      <m:t>;</m:t>
                    </m:r>
                  </m:oMath>
                </a14:m>
                <a:r>
                  <a:rPr lang="mr-IN" sz="4000" dirty="0" smtClean="0"/>
                  <a:t> </a:t>
                </a:r>
                <a14:m>
                  <m:oMath xmlns:m="http://schemas.openxmlformats.org/officeDocument/2006/math">
                    <m:f>
                      <m:fPr>
                        <m:ctrlPr>
                          <a:rPr lang="mr-IN" sz="4000" i="1">
                            <a:latin typeface="Cambria Math" panose="02040503050406030204" pitchFamily="18" charset="0"/>
                          </a:rPr>
                        </m:ctrlPr>
                      </m:fPr>
                      <m:num>
                        <m:r>
                          <a:rPr lang="mr-IN" sz="4000" i="1">
                            <a:latin typeface="Cambria Math" charset="0"/>
                          </a:rPr>
                          <m:t>𝜕</m:t>
                        </m:r>
                        <m:sSup>
                          <m:sSupPr>
                            <m:ctrlPr>
                              <a:rPr lang="en-US" sz="4000" i="1">
                                <a:latin typeface="Cambria Math" panose="02040503050406030204" pitchFamily="18" charset="0"/>
                              </a:rPr>
                            </m:ctrlPr>
                          </m:sSupPr>
                          <m:e>
                            <m:r>
                              <a:rPr lang="en-US" sz="4000" i="1">
                                <a:latin typeface="Cambria Math" charset="0"/>
                              </a:rPr>
                              <m:t>𝑧</m:t>
                            </m:r>
                          </m:e>
                          <m:sup>
                            <m:r>
                              <a:rPr lang="en-US" sz="4000" i="1">
                                <a:latin typeface="Cambria Math" charset="0"/>
                              </a:rPr>
                              <m:t>(</m:t>
                            </m:r>
                            <m:r>
                              <a:rPr lang="en-US" sz="4000" b="0" i="1" smtClean="0">
                                <a:latin typeface="Cambria Math" charset="0"/>
                              </a:rPr>
                              <m:t>3</m:t>
                            </m:r>
                            <m:r>
                              <a:rPr lang="en-US" sz="4000" i="1">
                                <a:latin typeface="Cambria Math" charset="0"/>
                              </a:rPr>
                              <m:t>)</m:t>
                            </m:r>
                          </m:sup>
                        </m:sSup>
                      </m:num>
                      <m:den>
                        <m:r>
                          <a:rPr lang="mr-IN"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𝑎</m:t>
                            </m:r>
                          </m:e>
                          <m:sup>
                            <m:r>
                              <a:rPr lang="en-US" sz="4000" i="1">
                                <a:latin typeface="Cambria Math" charset="0"/>
                              </a:rPr>
                              <m:t>(</m:t>
                            </m:r>
                            <m:r>
                              <a:rPr lang="en-US" sz="4000" b="0" i="1" smtClean="0">
                                <a:latin typeface="Cambria Math" charset="0"/>
                              </a:rPr>
                              <m:t>2</m:t>
                            </m:r>
                            <m:r>
                              <a:rPr lang="en-US" sz="4000" i="1">
                                <a:latin typeface="Cambria Math" charset="0"/>
                              </a:rPr>
                              <m:t>)</m:t>
                            </m:r>
                          </m:sup>
                        </m:sSup>
                      </m:den>
                    </m:f>
                    <m:r>
                      <a:rPr lang="en-US"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𝑊</m:t>
                        </m:r>
                      </m:e>
                      <m:sup>
                        <m:r>
                          <a:rPr lang="en-US" sz="4000" i="1">
                            <a:latin typeface="Cambria Math" charset="0"/>
                          </a:rPr>
                          <m:t>(</m:t>
                        </m:r>
                        <m:r>
                          <a:rPr lang="en-US" sz="4000" b="0" i="1" smtClean="0">
                            <a:latin typeface="Cambria Math" charset="0"/>
                          </a:rPr>
                          <m:t>2</m:t>
                        </m:r>
                        <m:r>
                          <a:rPr lang="en-US" sz="4000" i="1">
                            <a:latin typeface="Cambria Math" charset="0"/>
                          </a:rPr>
                          <m:t>)</m:t>
                        </m:r>
                      </m:sup>
                    </m:sSup>
                  </m:oMath>
                </a14:m>
                <a:endParaRPr lang="en-US" sz="4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1593073" y="3747386"/>
                <a:ext cx="5275034" cy="991362"/>
              </a:xfrm>
              <a:prstGeom prst="rect">
                <a:avLst/>
              </a:prstGeom>
              <a:blipFill rotWithShape="0">
                <a:blip r:embed="rId10"/>
                <a:stretch>
                  <a:fillRect b="-16049"/>
                </a:stretch>
              </a:blipFill>
            </p:spPr>
            <p:txBody>
              <a:bodyPr/>
              <a:lstStyle/>
              <a:p>
                <a:r>
                  <a:rPr lang="en-US">
                    <a:noFill/>
                  </a:rPr>
                  <a:t> </a:t>
                </a:r>
              </a:p>
            </p:txBody>
          </p:sp>
        </mc:Fallback>
      </mc:AlternateContent>
    </p:spTree>
    <p:extLst>
      <p:ext uri="{BB962C8B-B14F-4D97-AF65-F5344CB8AC3E}">
        <p14:creationId xmlns:p14="http://schemas.microsoft.com/office/powerpoint/2010/main" val="12363154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 now use the chain rule!</a:t>
            </a:r>
            <a:endParaRPr lang="en-US" dirty="0"/>
          </a:p>
        </p:txBody>
      </p:sp>
      <mc:AlternateContent xmlns:mc="http://schemas.openxmlformats.org/markup-compatibility/2006" xmlns:a14="http://schemas.microsoft.com/office/drawing/2010/main">
        <mc:Choice Requires="a14">
          <p:sp>
            <p:nvSpPr>
              <p:cNvPr id="12" name="TextBox 11"/>
              <p:cNvSpPr txBox="1"/>
              <p:nvPr/>
            </p:nvSpPr>
            <p:spPr>
              <a:xfrm>
                <a:off x="1492083" y="5376214"/>
                <a:ext cx="3047757" cy="1145570"/>
              </a:xfrm>
              <a:prstGeom prst="rect">
                <a:avLst/>
              </a:prstGeom>
              <a:noFill/>
            </p:spPr>
            <p:txBody>
              <a:bodyPr wrap="none" lIns="0" tIns="0" rIns="0" bIns="0" rtlCol="0">
                <a:spAutoFit/>
              </a:bodyPr>
              <a:lstStyle/>
              <a:p>
                <a:endParaRPr lang="en-US" sz="3600" dirty="0"/>
              </a:p>
            </p:txBody>
          </p:sp>
        </mc:Choice>
        <mc:Fallback xmlns="">
          <p:sp>
            <p:nvSpPr>
              <p:cNvPr id="12" name="TextBox 11"/>
              <p:cNvSpPr txBox="1">
                <a:spLocks noRot="1" noChangeAspect="1" noMove="1" noResize="1" noEditPoints="1" noAdjustHandles="1" noChangeArrowheads="1" noChangeShapeType="1" noTextEdit="1"/>
              </p:cNvSpPr>
              <p:nvPr/>
            </p:nvSpPr>
            <p:spPr>
              <a:xfrm>
                <a:off x="1492083" y="5376214"/>
                <a:ext cx="3047757" cy="114557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4418012" y="5376214"/>
                <a:ext cx="2925929" cy="1145570"/>
              </a:xfrm>
              <a:prstGeom prst="rect">
                <a:avLst/>
              </a:prstGeom>
              <a:noFill/>
            </p:spPr>
            <p:txBody>
              <a:bodyPr wrap="none" lIns="0" tIns="0" rIns="0" bIns="0" rtlCol="0">
                <a:spAutoFit/>
              </a:bodyPr>
              <a:lstStyle/>
              <a:p>
                <a:endParaRPr lang="en-US" sz="3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4418012" y="5376214"/>
                <a:ext cx="2925929" cy="114557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8532812" y="5476626"/>
                <a:ext cx="2743700" cy="9447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200" b="0" i="1" smtClean="0">
                              <a:latin typeface="Cambria Math" panose="02040503050406030204" pitchFamily="18" charset="0"/>
                            </a:rPr>
                          </m:ctrlPr>
                        </m:fPr>
                        <m:num>
                          <m:r>
                            <a:rPr lang="mr-IN" sz="3200" b="0" i="1" smtClean="0">
                              <a:latin typeface="Cambria Math" charset="0"/>
                            </a:rPr>
                            <m:t>𝜕</m:t>
                          </m:r>
                          <m:r>
                            <a:rPr lang="en-US" sz="3200" b="0" i="1" smtClean="0">
                              <a:latin typeface="Cambria Math" charset="0"/>
                            </a:rPr>
                            <m:t>𝐽</m:t>
                          </m:r>
                        </m:num>
                        <m:den>
                          <m:r>
                            <a:rPr lang="mr-IN" sz="3200" b="0" i="1" smtClean="0">
                              <a:latin typeface="Cambria Math" charset="0"/>
                            </a:rPr>
                            <m:t>𝜕</m:t>
                          </m:r>
                          <m:sSup>
                            <m:sSupPr>
                              <m:ctrlPr>
                                <a:rPr lang="en-US" sz="3200" b="0" i="1" smtClean="0">
                                  <a:latin typeface="Cambria Math" panose="02040503050406030204" pitchFamily="18" charset="0"/>
                                </a:rPr>
                              </m:ctrlPr>
                            </m:sSupPr>
                            <m:e>
                              <m:r>
                                <a:rPr lang="en-US" sz="3200" b="0" i="1" smtClean="0">
                                  <a:latin typeface="Cambria Math" charset="0"/>
                                </a:rPr>
                                <m:t>𝑧</m:t>
                              </m:r>
                            </m:e>
                            <m:sup>
                              <m:r>
                                <a:rPr lang="en-US" sz="3200" b="0" i="1" smtClean="0">
                                  <a:latin typeface="Cambria Math" charset="0"/>
                                </a:rPr>
                                <m:t>(4)</m:t>
                              </m:r>
                            </m:sup>
                          </m:sSup>
                        </m:den>
                      </m:f>
                      <m:r>
                        <a:rPr lang="en-US" sz="3200" b="0" i="1" smtClean="0">
                          <a:latin typeface="Cambria Math" charset="0"/>
                        </a:rPr>
                        <m:t>=</m:t>
                      </m:r>
                      <m:acc>
                        <m:accPr>
                          <m:chr m:val="̂"/>
                          <m:ctrlPr>
                            <a:rPr lang="en-US" sz="3600" i="1">
                              <a:latin typeface="Cambria Math" panose="02040503050406030204" pitchFamily="18" charset="0"/>
                            </a:rPr>
                          </m:ctrlPr>
                        </m:accPr>
                        <m:e>
                          <m:r>
                            <a:rPr lang="en-US" sz="3600" i="1">
                              <a:latin typeface="Cambria Math" charset="0"/>
                            </a:rPr>
                            <m:t>𝑦</m:t>
                          </m:r>
                        </m:e>
                      </m:acc>
                      <m:r>
                        <a:rPr lang="en-US" sz="3600" b="0" i="1" smtClean="0">
                          <a:latin typeface="Cambria Math" charset="0"/>
                        </a:rPr>
                        <m:t>−</m:t>
                      </m:r>
                      <m:r>
                        <a:rPr lang="en-US" sz="3600" b="0" i="1" smtClean="0">
                          <a:latin typeface="Cambria Math" charset="0"/>
                        </a:rPr>
                        <m:t>𝑦</m:t>
                      </m:r>
                    </m:oMath>
                  </m:oMathPara>
                </a14:m>
                <a:endParaRPr lang="en-US" sz="3600" dirty="0"/>
              </a:p>
            </p:txBody>
          </p:sp>
        </mc:Choice>
        <mc:Fallback xmlns="">
          <p:sp>
            <p:nvSpPr>
              <p:cNvPr id="17" name="TextBox 16"/>
              <p:cNvSpPr txBox="1">
                <a:spLocks noRot="1" noChangeAspect="1" noMove="1" noResize="1" noEditPoints="1" noAdjustHandles="1" noChangeArrowheads="1" noChangeShapeType="1" noTextEdit="1"/>
              </p:cNvSpPr>
              <p:nvPr/>
            </p:nvSpPr>
            <p:spPr>
              <a:xfrm>
                <a:off x="8532812" y="5476626"/>
                <a:ext cx="2743700" cy="944746"/>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492083" y="3580478"/>
                <a:ext cx="3047757" cy="1145570"/>
              </a:xfrm>
              <a:prstGeom prst="rect">
                <a:avLst/>
              </a:prstGeom>
              <a:noFill/>
            </p:spPr>
            <p:txBody>
              <a:bodyPr wrap="none" lIns="0" tIns="0" rIns="0" bIns="0" rtlCol="0">
                <a:spAutoFit/>
              </a:bodyPr>
              <a:lstStyle/>
              <a:p>
                <a:endParaRPr lang="en-US" sz="3600" dirty="0"/>
              </a:p>
            </p:txBody>
          </p:sp>
        </mc:Choice>
        <mc:Fallback xmlns="">
          <p:sp>
            <p:nvSpPr>
              <p:cNvPr id="11" name="TextBox 10"/>
              <p:cNvSpPr txBox="1">
                <a:spLocks noRot="1" noChangeAspect="1" noMove="1" noResize="1" noEditPoints="1" noAdjustHandles="1" noChangeArrowheads="1" noChangeShapeType="1" noTextEdit="1"/>
              </p:cNvSpPr>
              <p:nvPr/>
            </p:nvSpPr>
            <p:spPr>
              <a:xfrm>
                <a:off x="1492083" y="3580478"/>
                <a:ext cx="3047757" cy="114557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418012" y="3580478"/>
                <a:ext cx="2925929" cy="1145570"/>
              </a:xfrm>
              <a:prstGeom prst="rect">
                <a:avLst/>
              </a:prstGeom>
              <a:noFill/>
            </p:spPr>
            <p:txBody>
              <a:bodyPr wrap="none" lIns="0" tIns="0" rIns="0" bIns="0" rtlCol="0">
                <a:spAutoFit/>
              </a:bodyPr>
              <a:lstStyle/>
              <a:p>
                <a:endParaRPr lang="en-US" sz="3600" dirty="0"/>
              </a:p>
            </p:txBody>
          </p:sp>
        </mc:Choice>
        <mc:Fallback xmlns="">
          <p:sp>
            <p:nvSpPr>
              <p:cNvPr id="13" name="TextBox 12"/>
              <p:cNvSpPr txBox="1">
                <a:spLocks noRot="1" noChangeAspect="1" noMove="1" noResize="1" noEditPoints="1" noAdjustHandles="1" noChangeArrowheads="1" noChangeShapeType="1" noTextEdit="1"/>
              </p:cNvSpPr>
              <p:nvPr/>
            </p:nvSpPr>
            <p:spPr>
              <a:xfrm>
                <a:off x="4418012" y="3580478"/>
                <a:ext cx="2925929" cy="114557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8380412" y="3567778"/>
                <a:ext cx="3375668" cy="1145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latin typeface="Cambria Math" panose="02040503050406030204" pitchFamily="18" charset="0"/>
                            </a:rPr>
                          </m:ctrlPr>
                        </m:fPr>
                        <m:num>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num>
                        <m:den>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den>
                      </m:f>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3</m:t>
                              </m:r>
                            </m:e>
                          </m:d>
                        </m:sup>
                      </m:sSup>
                      <m:r>
                        <a:rPr lang="en-US" sz="3600" b="0" i="1" smtClean="0">
                          <a:latin typeface="Cambria Math" charset="0"/>
                        </a:rPr>
                        <m:t>)</m:t>
                      </m:r>
                    </m:oMath>
                  </m:oMathPara>
                </a14:m>
                <a:endParaRPr lang="en-US" sz="3600" dirty="0"/>
              </a:p>
            </p:txBody>
          </p:sp>
        </mc:Choice>
        <mc:Fallback xmlns="">
          <p:sp>
            <p:nvSpPr>
              <p:cNvPr id="19" name="TextBox 18"/>
              <p:cNvSpPr txBox="1">
                <a:spLocks noRot="1" noChangeAspect="1" noMove="1" noResize="1" noEditPoints="1" noAdjustHandles="1" noChangeArrowheads="1" noChangeShapeType="1" noTextEdit="1"/>
              </p:cNvSpPr>
              <p:nvPr/>
            </p:nvSpPr>
            <p:spPr>
              <a:xfrm>
                <a:off x="8380412" y="3567778"/>
                <a:ext cx="3375668" cy="114557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8380412" y="1981200"/>
                <a:ext cx="3489480" cy="1145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latin typeface="Cambria Math" panose="02040503050406030204" pitchFamily="18" charset="0"/>
                            </a:rPr>
                          </m:ctrlPr>
                        </m:fPr>
                        <m:num>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num>
                        <m:den>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(2)</m:t>
                              </m:r>
                            </m:sup>
                          </m:sSup>
                        </m:den>
                      </m:f>
                      <m:r>
                        <a:rPr lang="en-US" sz="3600" b="0" i="1" smtClean="0">
                          <a:latin typeface="Cambria Math" charset="0"/>
                        </a:rPr>
                        <m:t>=</m:t>
                      </m:r>
                      <m:r>
                        <a:rPr lang="en-US" sz="3600" b="0" i="1" smtClean="0">
                          <a:latin typeface="Cambria Math" charset="0"/>
                        </a:rPr>
                        <m:t>𝜎</m:t>
                      </m:r>
                      <m:r>
                        <a:rPr lang="en-US"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d>
                            <m:dPr>
                              <m:ctrlPr>
                                <a:rPr lang="en-US" sz="3600" b="0" i="1" smtClean="0">
                                  <a:latin typeface="Cambria Math" panose="02040503050406030204" pitchFamily="18" charset="0"/>
                                </a:rPr>
                              </m:ctrlPr>
                            </m:dPr>
                            <m:e>
                              <m:r>
                                <a:rPr lang="en-US" sz="3600" b="0" i="1" smtClean="0">
                                  <a:latin typeface="Cambria Math" charset="0"/>
                                </a:rPr>
                                <m:t>2</m:t>
                              </m:r>
                            </m:e>
                          </m:d>
                        </m:sup>
                      </m:sSup>
                      <m:r>
                        <a:rPr lang="en-US" sz="3600" b="0" i="1" smtClean="0">
                          <a:latin typeface="Cambria Math" charset="0"/>
                        </a:rPr>
                        <m:t>)</m:t>
                      </m:r>
                    </m:oMath>
                  </m:oMathPara>
                </a14:m>
                <a:endParaRPr lang="en-US" sz="3600" dirty="0"/>
              </a:p>
            </p:txBody>
          </p:sp>
        </mc:Choice>
        <mc:Fallback xmlns="">
          <p:sp>
            <p:nvSpPr>
              <p:cNvPr id="21" name="TextBox 20"/>
              <p:cNvSpPr txBox="1">
                <a:spLocks noRot="1" noChangeAspect="1" noMove="1" noResize="1" noEditPoints="1" noAdjustHandles="1" noChangeArrowheads="1" noChangeShapeType="1" noTextEdit="1"/>
              </p:cNvSpPr>
              <p:nvPr/>
            </p:nvSpPr>
            <p:spPr>
              <a:xfrm>
                <a:off x="8380412" y="1981200"/>
                <a:ext cx="3489480" cy="114557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076875" y="2067803"/>
                <a:ext cx="2473947" cy="11455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solidFill>
                                <a:schemeClr val="tx1"/>
                              </a:solidFill>
                              <a:latin typeface="Cambria Math" panose="02040503050406030204" pitchFamily="18" charset="0"/>
                            </a:rPr>
                          </m:ctrlPr>
                        </m:fPr>
                        <m:num>
                          <m:r>
                            <a:rPr lang="mr-IN" sz="3600" b="0" i="1" smtClean="0">
                              <a:solidFill>
                                <a:schemeClr val="tx1"/>
                              </a:solidFill>
                              <a:latin typeface="Cambria Math" charset="0"/>
                            </a:rPr>
                            <m:t>𝜕</m:t>
                          </m:r>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charset="0"/>
                                </a:rPr>
                                <m:t>𝑧</m:t>
                              </m:r>
                            </m:e>
                            <m:sup>
                              <m:r>
                                <a:rPr lang="en-US" sz="3600" b="0" i="1" smtClean="0">
                                  <a:solidFill>
                                    <a:schemeClr val="tx1"/>
                                  </a:solidFill>
                                  <a:latin typeface="Cambria Math" charset="0"/>
                                </a:rPr>
                                <m:t>(2)</m:t>
                              </m:r>
                            </m:sup>
                          </m:sSup>
                        </m:num>
                        <m:den>
                          <m:r>
                            <a:rPr lang="mr-IN" sz="3600" b="0" i="1" smtClean="0">
                              <a:solidFill>
                                <a:schemeClr val="tx1"/>
                              </a:solidFill>
                              <a:latin typeface="Cambria Math" charset="0"/>
                            </a:rPr>
                            <m:t>𝜕</m:t>
                          </m:r>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charset="0"/>
                                </a:rPr>
                                <m:t>𝑊</m:t>
                              </m:r>
                            </m:e>
                            <m:sup>
                              <m:r>
                                <a:rPr lang="en-US" sz="3600" b="0" i="1" smtClean="0">
                                  <a:solidFill>
                                    <a:schemeClr val="tx1"/>
                                  </a:solidFill>
                                  <a:latin typeface="Cambria Math" charset="0"/>
                                </a:rPr>
                                <m:t>(1)</m:t>
                              </m:r>
                            </m:sup>
                          </m:sSup>
                        </m:den>
                      </m:f>
                      <m:r>
                        <a:rPr lang="en-US" sz="3600" b="0" i="1" smtClean="0">
                          <a:solidFill>
                            <a:schemeClr val="tx1"/>
                          </a:solidFill>
                          <a:latin typeface="Cambria Math" charset="0"/>
                        </a:rPr>
                        <m:t>= </m:t>
                      </m:r>
                      <m:r>
                        <a:rPr lang="en-US" sz="3600" b="0" i="1" smtClean="0">
                          <a:solidFill>
                            <a:schemeClr val="tx1"/>
                          </a:solidFill>
                          <a:latin typeface="Cambria Math" charset="0"/>
                        </a:rPr>
                        <m:t>𝑋</m:t>
                      </m:r>
                    </m:oMath>
                  </m:oMathPara>
                </a14:m>
                <a:endParaRPr lang="en-US" sz="3600" dirty="0">
                  <a:solidFill>
                    <a:schemeClr val="tx1"/>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3076875" y="2067803"/>
                <a:ext cx="2473947" cy="114557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1593073" y="5376214"/>
                <a:ext cx="5361532" cy="991362"/>
              </a:xfrm>
              <a:prstGeom prst="rect">
                <a:avLst/>
              </a:prstGeom>
              <a:noFill/>
            </p:spPr>
            <p:txBody>
              <a:bodyPr wrap="none" lIns="0" tIns="0" rIns="0" bIns="0" rtlCol="0">
                <a:spAutoFit/>
              </a:bodyPr>
              <a:lstStyle/>
              <a:p>
                <a14:m>
                  <m:oMath xmlns:m="http://schemas.openxmlformats.org/officeDocument/2006/math">
                    <m:f>
                      <m:fPr>
                        <m:ctrlPr>
                          <a:rPr lang="mr-IN" sz="3600" i="1" smtClean="0">
                            <a:latin typeface="Cambria Math" panose="02040503050406030204" pitchFamily="18" charset="0"/>
                          </a:rPr>
                        </m:ctrlPr>
                      </m:fPr>
                      <m:num>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(4)</m:t>
                            </m:r>
                          </m:sup>
                        </m:sSup>
                      </m:num>
                      <m:den>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(3)</m:t>
                            </m:r>
                          </m:sup>
                        </m:sSup>
                      </m:den>
                    </m:f>
                    <m:r>
                      <a:rPr lang="en-US"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(3)</m:t>
                        </m:r>
                      </m:sup>
                    </m:sSup>
                    <m:r>
                      <a:rPr lang="en-US" sz="3600" b="0" i="1" smtClean="0">
                        <a:latin typeface="Cambria Math" charset="0"/>
                      </a:rPr>
                      <m:t>;</m:t>
                    </m:r>
                  </m:oMath>
                </a14:m>
                <a:r>
                  <a:rPr lang="mr-IN" sz="4000" dirty="0"/>
                  <a:t> </a:t>
                </a:r>
                <a14:m>
                  <m:oMath xmlns:m="http://schemas.openxmlformats.org/officeDocument/2006/math">
                    <m:f>
                      <m:fPr>
                        <m:ctrlPr>
                          <a:rPr lang="mr-IN" sz="4000" i="1">
                            <a:latin typeface="Cambria Math" panose="02040503050406030204" pitchFamily="18" charset="0"/>
                          </a:rPr>
                        </m:ctrlPr>
                      </m:fPr>
                      <m:num>
                        <m:r>
                          <a:rPr lang="mr-IN" sz="4000" i="1">
                            <a:latin typeface="Cambria Math" charset="0"/>
                          </a:rPr>
                          <m:t>𝜕</m:t>
                        </m:r>
                        <m:sSup>
                          <m:sSupPr>
                            <m:ctrlPr>
                              <a:rPr lang="en-US" sz="4000" i="1">
                                <a:latin typeface="Cambria Math" panose="02040503050406030204" pitchFamily="18" charset="0"/>
                              </a:rPr>
                            </m:ctrlPr>
                          </m:sSupPr>
                          <m:e>
                            <m:r>
                              <a:rPr lang="en-US" sz="4000" i="1">
                                <a:latin typeface="Cambria Math" charset="0"/>
                              </a:rPr>
                              <m:t>𝑧</m:t>
                            </m:r>
                          </m:e>
                          <m:sup>
                            <m:r>
                              <a:rPr lang="en-US" sz="4000" i="1">
                                <a:latin typeface="Cambria Math" charset="0"/>
                              </a:rPr>
                              <m:t>(4)</m:t>
                            </m:r>
                          </m:sup>
                        </m:sSup>
                      </m:num>
                      <m:den>
                        <m:r>
                          <a:rPr lang="mr-IN"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𝑎</m:t>
                            </m:r>
                          </m:e>
                          <m:sup>
                            <m:r>
                              <a:rPr lang="en-US" sz="4000" i="1">
                                <a:latin typeface="Cambria Math" charset="0"/>
                              </a:rPr>
                              <m:t>(3)</m:t>
                            </m:r>
                          </m:sup>
                        </m:sSup>
                      </m:den>
                    </m:f>
                    <m:r>
                      <a:rPr lang="en-US"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𝑊</m:t>
                        </m:r>
                      </m:e>
                      <m:sup>
                        <m:r>
                          <a:rPr lang="en-US" sz="4000" i="1">
                            <a:latin typeface="Cambria Math" charset="0"/>
                          </a:rPr>
                          <m:t>(3)</m:t>
                        </m:r>
                      </m:sup>
                    </m:sSup>
                    <m:r>
                      <a:rPr lang="en-US" sz="4000" i="1">
                        <a:latin typeface="Cambria Math" charset="0"/>
                      </a:rPr>
                      <m:t>;</m:t>
                    </m:r>
                  </m:oMath>
                </a14:m>
                <a:endParaRPr lang="en-US" sz="4400" dirty="0"/>
              </a:p>
            </p:txBody>
          </p:sp>
        </mc:Choice>
        <mc:Fallback xmlns="">
          <p:sp>
            <p:nvSpPr>
              <p:cNvPr id="14" name="TextBox 13"/>
              <p:cNvSpPr txBox="1">
                <a:spLocks noRot="1" noChangeAspect="1" noMove="1" noResize="1" noEditPoints="1" noAdjustHandles="1" noChangeArrowheads="1" noChangeShapeType="1" noTextEdit="1"/>
              </p:cNvSpPr>
              <p:nvPr/>
            </p:nvSpPr>
            <p:spPr>
              <a:xfrm>
                <a:off x="1593073" y="5376214"/>
                <a:ext cx="5361532" cy="991362"/>
              </a:xfrm>
              <a:prstGeom prst="rect">
                <a:avLst/>
              </a:prstGeom>
              <a:blipFill rotWithShape="0">
                <a:blip r:embed="rId9"/>
                <a:stretch>
                  <a:fillRect b="-153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1593073" y="3747386"/>
                <a:ext cx="5275034" cy="991362"/>
              </a:xfrm>
              <a:prstGeom prst="rect">
                <a:avLst/>
              </a:prstGeom>
              <a:noFill/>
            </p:spPr>
            <p:txBody>
              <a:bodyPr wrap="none" lIns="0" tIns="0" rIns="0" bIns="0" rtlCol="0">
                <a:spAutoFit/>
              </a:bodyPr>
              <a:lstStyle/>
              <a:p>
                <a14:m>
                  <m:oMath xmlns:m="http://schemas.openxmlformats.org/officeDocument/2006/math">
                    <m:f>
                      <m:fPr>
                        <m:ctrlPr>
                          <a:rPr lang="mr-IN" sz="3600" i="1" smtClean="0">
                            <a:latin typeface="Cambria Math" panose="02040503050406030204" pitchFamily="18" charset="0"/>
                          </a:rPr>
                        </m:ctrlPr>
                      </m:fPr>
                      <m:num>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𝑧</m:t>
                            </m:r>
                          </m:e>
                          <m:sup>
                            <m:r>
                              <a:rPr lang="en-US" sz="3600" b="0" i="1" smtClean="0">
                                <a:latin typeface="Cambria Math" charset="0"/>
                              </a:rPr>
                              <m:t>(3)</m:t>
                            </m:r>
                          </m:sup>
                        </m:sSup>
                      </m:num>
                      <m:den>
                        <m:r>
                          <a:rPr lang="mr-IN"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(2)</m:t>
                            </m:r>
                          </m:sup>
                        </m:sSup>
                      </m:den>
                    </m:f>
                    <m:r>
                      <a:rPr lang="en-US" sz="3600" i="1">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𝑎</m:t>
                        </m:r>
                      </m:e>
                      <m:sup>
                        <m:r>
                          <a:rPr lang="en-US" sz="3600" b="0" i="1" smtClean="0">
                            <a:latin typeface="Cambria Math" charset="0"/>
                          </a:rPr>
                          <m:t>(2)</m:t>
                        </m:r>
                      </m:sup>
                    </m:sSup>
                    <m:r>
                      <a:rPr lang="en-US" sz="3600" b="0" i="1" smtClean="0">
                        <a:latin typeface="Cambria Math" charset="0"/>
                      </a:rPr>
                      <m:t>;</m:t>
                    </m:r>
                  </m:oMath>
                </a14:m>
                <a:r>
                  <a:rPr lang="mr-IN" sz="4000" dirty="0" smtClean="0"/>
                  <a:t> </a:t>
                </a:r>
                <a14:m>
                  <m:oMath xmlns:m="http://schemas.openxmlformats.org/officeDocument/2006/math">
                    <m:f>
                      <m:fPr>
                        <m:ctrlPr>
                          <a:rPr lang="mr-IN" sz="4000" i="1">
                            <a:latin typeface="Cambria Math" panose="02040503050406030204" pitchFamily="18" charset="0"/>
                          </a:rPr>
                        </m:ctrlPr>
                      </m:fPr>
                      <m:num>
                        <m:r>
                          <a:rPr lang="mr-IN" sz="4000" i="1">
                            <a:latin typeface="Cambria Math" charset="0"/>
                          </a:rPr>
                          <m:t>𝜕</m:t>
                        </m:r>
                        <m:sSup>
                          <m:sSupPr>
                            <m:ctrlPr>
                              <a:rPr lang="en-US" sz="4000" i="1">
                                <a:latin typeface="Cambria Math" panose="02040503050406030204" pitchFamily="18" charset="0"/>
                              </a:rPr>
                            </m:ctrlPr>
                          </m:sSupPr>
                          <m:e>
                            <m:r>
                              <a:rPr lang="en-US" sz="4000" i="1">
                                <a:latin typeface="Cambria Math" charset="0"/>
                              </a:rPr>
                              <m:t>𝑧</m:t>
                            </m:r>
                          </m:e>
                          <m:sup>
                            <m:r>
                              <a:rPr lang="en-US" sz="4000" i="1">
                                <a:latin typeface="Cambria Math" charset="0"/>
                              </a:rPr>
                              <m:t>(</m:t>
                            </m:r>
                            <m:r>
                              <a:rPr lang="en-US" sz="4000" b="0" i="1" smtClean="0">
                                <a:latin typeface="Cambria Math" charset="0"/>
                              </a:rPr>
                              <m:t>3</m:t>
                            </m:r>
                            <m:r>
                              <a:rPr lang="en-US" sz="4000" i="1">
                                <a:latin typeface="Cambria Math" charset="0"/>
                              </a:rPr>
                              <m:t>)</m:t>
                            </m:r>
                          </m:sup>
                        </m:sSup>
                      </m:num>
                      <m:den>
                        <m:r>
                          <a:rPr lang="mr-IN"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𝑎</m:t>
                            </m:r>
                          </m:e>
                          <m:sup>
                            <m:r>
                              <a:rPr lang="en-US" sz="4000" i="1">
                                <a:latin typeface="Cambria Math" charset="0"/>
                              </a:rPr>
                              <m:t>(</m:t>
                            </m:r>
                            <m:r>
                              <a:rPr lang="en-US" sz="4000" b="0" i="1" smtClean="0">
                                <a:latin typeface="Cambria Math" charset="0"/>
                              </a:rPr>
                              <m:t>2</m:t>
                            </m:r>
                            <m:r>
                              <a:rPr lang="en-US" sz="4000" i="1">
                                <a:latin typeface="Cambria Math" charset="0"/>
                              </a:rPr>
                              <m:t>)</m:t>
                            </m:r>
                          </m:sup>
                        </m:sSup>
                      </m:den>
                    </m:f>
                    <m:r>
                      <a:rPr lang="en-US" sz="4000" i="1">
                        <a:latin typeface="Cambria Math" charset="0"/>
                      </a:rPr>
                      <m:t>=</m:t>
                    </m:r>
                    <m:sSup>
                      <m:sSupPr>
                        <m:ctrlPr>
                          <a:rPr lang="en-US" sz="4000" i="1">
                            <a:latin typeface="Cambria Math" panose="02040503050406030204" pitchFamily="18" charset="0"/>
                          </a:rPr>
                        </m:ctrlPr>
                      </m:sSupPr>
                      <m:e>
                        <m:r>
                          <a:rPr lang="en-US" sz="4000" b="0" i="1" smtClean="0">
                            <a:latin typeface="Cambria Math" charset="0"/>
                          </a:rPr>
                          <m:t>𝑊</m:t>
                        </m:r>
                      </m:e>
                      <m:sup>
                        <m:r>
                          <a:rPr lang="en-US" sz="4000" i="1">
                            <a:latin typeface="Cambria Math" charset="0"/>
                          </a:rPr>
                          <m:t>(</m:t>
                        </m:r>
                        <m:r>
                          <a:rPr lang="en-US" sz="4000" b="0" i="1" smtClean="0">
                            <a:latin typeface="Cambria Math" charset="0"/>
                          </a:rPr>
                          <m:t>2</m:t>
                        </m:r>
                        <m:r>
                          <a:rPr lang="en-US" sz="4000" i="1">
                            <a:latin typeface="Cambria Math" charset="0"/>
                          </a:rPr>
                          <m:t>)</m:t>
                        </m:r>
                      </m:sup>
                    </m:sSup>
                  </m:oMath>
                </a14:m>
                <a:endParaRPr lang="en-US" sz="4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1593073" y="3747386"/>
                <a:ext cx="5275034" cy="991362"/>
              </a:xfrm>
              <a:prstGeom prst="rect">
                <a:avLst/>
              </a:prstGeom>
              <a:blipFill rotWithShape="0">
                <a:blip r:embed="rId11"/>
                <a:stretch>
                  <a:fillRect b="-16049"/>
                </a:stretch>
              </a:blipFill>
            </p:spPr>
            <p:txBody>
              <a:bodyPr/>
              <a:lstStyle/>
              <a:p>
                <a:r>
                  <a:rPr lang="en-US">
                    <a:noFill/>
                  </a:rPr>
                  <a:t> </a:t>
                </a:r>
              </a:p>
            </p:txBody>
          </p:sp>
        </mc:Fallback>
      </mc:AlternateContent>
    </p:spTree>
    <p:extLst>
      <p:ext uri="{BB962C8B-B14F-4D97-AF65-F5344CB8AC3E}">
        <p14:creationId xmlns:p14="http://schemas.microsoft.com/office/powerpoint/2010/main" val="13858920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Can now use the chain rule!</a:t>
            </a:r>
            <a:endParaRPr lang="en-US" dirty="0"/>
          </a:p>
        </p:txBody>
      </p:sp>
      <mc:AlternateContent xmlns:mc="http://schemas.openxmlformats.org/markup-compatibility/2006" xmlns:a14="http://schemas.microsoft.com/office/drawing/2010/main">
        <mc:Choice Requires="a14">
          <p:sp>
            <p:nvSpPr>
              <p:cNvPr id="14" name="TextBox 13"/>
              <p:cNvSpPr txBox="1"/>
              <p:nvPr/>
            </p:nvSpPr>
            <p:spPr>
              <a:xfrm>
                <a:off x="2134233" y="1926272"/>
                <a:ext cx="7715400" cy="892104"/>
              </a:xfrm>
              <a:prstGeom prst="rect">
                <a:avLst/>
              </a:prstGeom>
              <a:noFill/>
            </p:spPr>
            <p:txBody>
              <a:bodyPr wrap="square" lIns="0" tIns="0" rIns="0" bIns="0" rtlCol="0">
                <a:spAutoFit/>
              </a:bodyPr>
              <a:lstStyle/>
              <a:p>
                <a14:m>
                  <m:oMath xmlns:m="http://schemas.openxmlformats.org/officeDocument/2006/math">
                    <m:f>
                      <m:fPr>
                        <m:ctrlPr>
                          <a:rPr lang="mr-IN" sz="3600" b="0" i="1" smtClean="0">
                            <a:latin typeface="Cambria Math" panose="02040503050406030204" pitchFamily="18" charset="0"/>
                          </a:rPr>
                        </m:ctrlPr>
                      </m:fPr>
                      <m:num>
                        <m:r>
                          <a:rPr lang="mr-IN" sz="3600" b="0" i="1" smtClean="0">
                            <a:latin typeface="Cambria Math" charset="0"/>
                          </a:rPr>
                          <m:t>𝜕</m:t>
                        </m:r>
                        <m:r>
                          <a:rPr lang="en-US" sz="3600" b="0" i="1" smtClean="0">
                            <a:latin typeface="Cambria Math" charset="0"/>
                          </a:rPr>
                          <m:t>𝐽</m:t>
                        </m:r>
                      </m:num>
                      <m:den>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(3)</m:t>
                            </m:r>
                          </m:sup>
                        </m:sSup>
                      </m:den>
                    </m:f>
                    <m:r>
                      <a:rPr lang="en-US" sz="3600" b="0" i="1" smtClean="0">
                        <a:latin typeface="Cambria Math" charset="0"/>
                      </a:rPr>
                      <m:t>=</m:t>
                    </m:r>
                    <m:f>
                      <m:fPr>
                        <m:ctrlPr>
                          <a:rPr lang="mr-IN" sz="3600" i="1">
                            <a:latin typeface="Cambria Math" panose="02040503050406030204" pitchFamily="18" charset="0"/>
                          </a:rPr>
                        </m:ctrlPr>
                      </m:fPr>
                      <m:num>
                        <m:r>
                          <a:rPr lang="mr-IN" sz="3600" i="1">
                            <a:latin typeface="Cambria Math" charset="0"/>
                          </a:rPr>
                          <m:t>𝜕</m:t>
                        </m:r>
                        <m:r>
                          <a:rPr lang="en-US" sz="3600" i="1">
                            <a:latin typeface="Cambria Math" charset="0"/>
                          </a:rPr>
                          <m:t>𝐽</m:t>
                        </m:r>
                      </m:num>
                      <m:den>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r>
                              <a:rPr lang="en-US" sz="3600" i="1">
                                <a:latin typeface="Cambria Math" charset="0"/>
                              </a:rPr>
                              <m:t>(4)</m:t>
                            </m:r>
                          </m:sup>
                        </m:sSup>
                      </m:den>
                    </m:f>
                    <m:r>
                      <a:rPr lang="en-US" sz="3600" b="0" i="1" smtClean="0">
                        <a:latin typeface="Cambria Math" charset="0"/>
                      </a:rPr>
                      <m:t>⋅</m:t>
                    </m:r>
                  </m:oMath>
                </a14:m>
                <a:r>
                  <a:rPr lang="mr-IN" sz="3600" dirty="0"/>
                  <a:t> </a:t>
                </a:r>
                <a14:m>
                  <m:oMath xmlns:m="http://schemas.openxmlformats.org/officeDocument/2006/math">
                    <m:f>
                      <m:fPr>
                        <m:ctrlPr>
                          <a:rPr lang="mr-IN" sz="3600" i="1">
                            <a:latin typeface="Cambria Math" panose="02040503050406030204" pitchFamily="18" charset="0"/>
                          </a:rPr>
                        </m:ctrlPr>
                      </m:fPr>
                      <m:num>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r>
                              <a:rPr lang="en-US" sz="3600" i="1">
                                <a:latin typeface="Cambria Math" charset="0"/>
                              </a:rPr>
                              <m:t>(4)</m:t>
                            </m:r>
                          </m:sup>
                        </m:sSup>
                      </m:num>
                      <m:den>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𝑊</m:t>
                            </m:r>
                          </m:e>
                          <m:sup>
                            <m:r>
                              <a:rPr lang="en-US" sz="3600" i="1">
                                <a:latin typeface="Cambria Math" charset="0"/>
                              </a:rPr>
                              <m:t>(3)</m:t>
                            </m:r>
                          </m:sup>
                        </m:sSup>
                      </m:den>
                    </m:f>
                  </m:oMath>
                </a14:m>
                <a:endParaRPr lang="en-US" sz="3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2134233" y="1926272"/>
                <a:ext cx="7715400" cy="892104"/>
              </a:xfrm>
              <a:prstGeom prst="rect">
                <a:avLst/>
              </a:prstGeom>
              <a:blipFill rotWithShape="0">
                <a:blip r:embed="rId3"/>
                <a:stretch>
                  <a:fillRect b="-157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2134233" y="3509873"/>
                <a:ext cx="7715400" cy="904030"/>
              </a:xfrm>
              <a:prstGeom prst="rect">
                <a:avLst/>
              </a:prstGeom>
              <a:noFill/>
            </p:spPr>
            <p:txBody>
              <a:bodyPr wrap="square" lIns="0" tIns="0" rIns="0" bIns="0" rtlCol="0">
                <a:spAutoFit/>
              </a:bodyPr>
              <a:lstStyle/>
              <a:p>
                <a14:m>
                  <m:oMath xmlns:m="http://schemas.openxmlformats.org/officeDocument/2006/math">
                    <m:f>
                      <m:fPr>
                        <m:ctrlPr>
                          <a:rPr lang="mr-IN" sz="3600" b="0" i="1" smtClean="0">
                            <a:latin typeface="Cambria Math" panose="02040503050406030204" pitchFamily="18" charset="0"/>
                          </a:rPr>
                        </m:ctrlPr>
                      </m:fPr>
                      <m:num>
                        <m:r>
                          <a:rPr lang="mr-IN" sz="3600" b="0" i="1" smtClean="0">
                            <a:latin typeface="Cambria Math" charset="0"/>
                          </a:rPr>
                          <m:t>𝜕</m:t>
                        </m:r>
                        <m:r>
                          <a:rPr lang="en-US" sz="3600" b="0" i="1" smtClean="0">
                            <a:latin typeface="Cambria Math" charset="0"/>
                          </a:rPr>
                          <m:t>𝐽</m:t>
                        </m:r>
                      </m:num>
                      <m:den>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(2)</m:t>
                            </m:r>
                          </m:sup>
                        </m:sSup>
                      </m:den>
                    </m:f>
                    <m:r>
                      <a:rPr lang="en-US" sz="3600" b="0" i="1" smtClean="0">
                        <a:latin typeface="Cambria Math" charset="0"/>
                      </a:rPr>
                      <m:t>=</m:t>
                    </m:r>
                    <m:f>
                      <m:fPr>
                        <m:ctrlPr>
                          <a:rPr lang="mr-IN" sz="3600" i="1">
                            <a:latin typeface="Cambria Math" panose="02040503050406030204" pitchFamily="18" charset="0"/>
                          </a:rPr>
                        </m:ctrlPr>
                      </m:fPr>
                      <m:num>
                        <m:r>
                          <a:rPr lang="mr-IN" sz="3600" i="1">
                            <a:latin typeface="Cambria Math" charset="0"/>
                          </a:rPr>
                          <m:t>𝜕</m:t>
                        </m:r>
                        <m:r>
                          <a:rPr lang="en-US" sz="3600" i="1">
                            <a:latin typeface="Cambria Math" charset="0"/>
                          </a:rPr>
                          <m:t>𝐽</m:t>
                        </m:r>
                      </m:num>
                      <m:den>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r>
                              <a:rPr lang="en-US" sz="3600" i="1">
                                <a:latin typeface="Cambria Math" charset="0"/>
                              </a:rPr>
                              <m:t>(4)</m:t>
                            </m:r>
                          </m:sup>
                        </m:sSup>
                      </m:den>
                    </m:f>
                    <m:r>
                      <a:rPr lang="en-US" sz="3600" b="0" i="1" smtClean="0">
                        <a:latin typeface="Cambria Math" charset="0"/>
                      </a:rPr>
                      <m:t>⋅</m:t>
                    </m:r>
                  </m:oMath>
                </a14:m>
                <a:r>
                  <a:rPr lang="mr-IN" sz="3600" dirty="0" smtClean="0"/>
                  <a:t> </a:t>
                </a:r>
                <a14:m>
                  <m:oMath xmlns:m="http://schemas.openxmlformats.org/officeDocument/2006/math">
                    <m:f>
                      <m:fPr>
                        <m:ctrlPr>
                          <a:rPr lang="mr-IN" sz="3600" i="1">
                            <a:latin typeface="Cambria Math" panose="02040503050406030204" pitchFamily="18" charset="0"/>
                          </a:rPr>
                        </m:ctrlPr>
                      </m:fPr>
                      <m:num>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r>
                              <a:rPr lang="en-US" sz="3600" i="1">
                                <a:latin typeface="Cambria Math" charset="0"/>
                              </a:rPr>
                              <m:t>(4)</m:t>
                            </m:r>
                          </m:sup>
                        </m:sSup>
                      </m:num>
                      <m:den>
                        <m:r>
                          <a:rPr lang="mr-IN" sz="3600" i="1">
                            <a:latin typeface="Cambria Math" charset="0"/>
                          </a:rPr>
                          <m:t>𝜕</m:t>
                        </m:r>
                        <m:sSup>
                          <m:sSupPr>
                            <m:ctrlPr>
                              <a:rPr lang="en-US" sz="3600" i="1">
                                <a:latin typeface="Cambria Math" panose="02040503050406030204" pitchFamily="18" charset="0"/>
                              </a:rPr>
                            </m:ctrlPr>
                          </m:sSupPr>
                          <m:e>
                            <m:r>
                              <a:rPr lang="en-US" sz="3600" b="0" i="1" smtClean="0">
                                <a:latin typeface="Cambria Math" charset="0"/>
                              </a:rPr>
                              <m:t>𝑎</m:t>
                            </m:r>
                          </m:e>
                          <m:sup>
                            <m:r>
                              <a:rPr lang="en-US" sz="3600" i="1">
                                <a:latin typeface="Cambria Math" charset="0"/>
                              </a:rPr>
                              <m:t>(3)</m:t>
                            </m:r>
                          </m:sup>
                        </m:sSup>
                      </m:den>
                    </m:f>
                    <m:r>
                      <a:rPr lang="en-US" sz="3600" b="0" i="1" smtClean="0">
                        <a:latin typeface="Cambria Math" charset="0"/>
                      </a:rPr>
                      <m:t>⋅</m:t>
                    </m:r>
                    <m:f>
                      <m:fPr>
                        <m:ctrlPr>
                          <a:rPr lang="mr-IN" sz="3600" i="1">
                            <a:latin typeface="Cambria Math" panose="02040503050406030204" pitchFamily="18" charset="0"/>
                          </a:rPr>
                        </m:ctrlPr>
                      </m:fPr>
                      <m:num>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𝑎</m:t>
                            </m:r>
                          </m:e>
                          <m:sup>
                            <m:d>
                              <m:dPr>
                                <m:ctrlPr>
                                  <a:rPr lang="en-US" sz="3600" i="1">
                                    <a:latin typeface="Cambria Math" panose="02040503050406030204" pitchFamily="18" charset="0"/>
                                  </a:rPr>
                                </m:ctrlPr>
                              </m:dPr>
                              <m:e>
                                <m:r>
                                  <a:rPr lang="en-US" sz="3600" i="1">
                                    <a:latin typeface="Cambria Math" charset="0"/>
                                  </a:rPr>
                                  <m:t>3</m:t>
                                </m:r>
                              </m:e>
                            </m:d>
                          </m:sup>
                        </m:sSup>
                      </m:num>
                      <m:den>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d>
                              <m:dPr>
                                <m:ctrlPr>
                                  <a:rPr lang="en-US" sz="3600" i="1">
                                    <a:latin typeface="Cambria Math" panose="02040503050406030204" pitchFamily="18" charset="0"/>
                                  </a:rPr>
                                </m:ctrlPr>
                              </m:dPr>
                              <m:e>
                                <m:r>
                                  <a:rPr lang="en-US" sz="3600" i="1">
                                    <a:latin typeface="Cambria Math" charset="0"/>
                                  </a:rPr>
                                  <m:t>3</m:t>
                                </m:r>
                              </m:e>
                            </m:d>
                          </m:sup>
                        </m:sSup>
                      </m:den>
                    </m:f>
                    <m:r>
                      <a:rPr lang="en-US" sz="3600" b="0" i="1" smtClean="0">
                        <a:latin typeface="Cambria Math" charset="0"/>
                      </a:rPr>
                      <m:t>⋅</m:t>
                    </m:r>
                    <m:f>
                      <m:fPr>
                        <m:ctrlPr>
                          <a:rPr lang="mr-IN" sz="3600" i="1">
                            <a:latin typeface="Cambria Math" panose="02040503050406030204" pitchFamily="18" charset="0"/>
                          </a:rPr>
                        </m:ctrlPr>
                      </m:fPr>
                      <m:num>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d>
                              <m:dPr>
                                <m:ctrlPr>
                                  <a:rPr lang="en-US" sz="3600" i="1">
                                    <a:latin typeface="Cambria Math" panose="02040503050406030204" pitchFamily="18" charset="0"/>
                                  </a:rPr>
                                </m:ctrlPr>
                              </m:dPr>
                              <m:e>
                                <m:r>
                                  <a:rPr lang="en-US" sz="3600" i="1">
                                    <a:latin typeface="Cambria Math" charset="0"/>
                                  </a:rPr>
                                  <m:t>3</m:t>
                                </m:r>
                              </m:e>
                            </m:d>
                          </m:sup>
                        </m:sSup>
                      </m:num>
                      <m:den>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𝑊</m:t>
                            </m:r>
                          </m:e>
                          <m:sup>
                            <m:d>
                              <m:dPr>
                                <m:ctrlPr>
                                  <a:rPr lang="en-US" sz="3600" i="1">
                                    <a:latin typeface="Cambria Math" panose="02040503050406030204" pitchFamily="18" charset="0"/>
                                  </a:rPr>
                                </m:ctrlPr>
                              </m:dPr>
                              <m:e>
                                <m:r>
                                  <a:rPr lang="en-US" sz="3600" i="1">
                                    <a:latin typeface="Cambria Math" charset="0"/>
                                  </a:rPr>
                                  <m:t>2</m:t>
                                </m:r>
                              </m:e>
                            </m:d>
                          </m:sup>
                        </m:sSup>
                      </m:den>
                    </m:f>
                  </m:oMath>
                </a14:m>
                <a:endParaRPr lang="en-US" sz="3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2134233" y="3509873"/>
                <a:ext cx="7715400" cy="904030"/>
              </a:xfrm>
              <a:prstGeom prst="rect">
                <a:avLst/>
              </a:prstGeom>
              <a:blipFill rotWithShape="0">
                <a:blip r:embed="rId4"/>
                <a:stretch>
                  <a:fillRect b="-155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2134232" y="5105400"/>
                <a:ext cx="8836979" cy="904030"/>
              </a:xfrm>
              <a:prstGeom prst="rect">
                <a:avLst/>
              </a:prstGeom>
              <a:noFill/>
            </p:spPr>
            <p:txBody>
              <a:bodyPr wrap="square" lIns="0" tIns="0" rIns="0" bIns="0" rtlCol="0">
                <a:spAutoFit/>
              </a:bodyPr>
              <a:lstStyle/>
              <a:p>
                <a14:m>
                  <m:oMath xmlns:m="http://schemas.openxmlformats.org/officeDocument/2006/math">
                    <m:f>
                      <m:fPr>
                        <m:ctrlPr>
                          <a:rPr lang="mr-IN" sz="3600" b="0" i="1" smtClean="0">
                            <a:latin typeface="Cambria Math" panose="02040503050406030204" pitchFamily="18" charset="0"/>
                          </a:rPr>
                        </m:ctrlPr>
                      </m:fPr>
                      <m:num>
                        <m:r>
                          <a:rPr lang="mr-IN" sz="3600" b="0" i="1" smtClean="0">
                            <a:latin typeface="Cambria Math" charset="0"/>
                          </a:rPr>
                          <m:t>𝜕</m:t>
                        </m:r>
                        <m:r>
                          <a:rPr lang="en-US" sz="3600" b="0" i="1" smtClean="0">
                            <a:latin typeface="Cambria Math" charset="0"/>
                          </a:rPr>
                          <m:t>𝐽</m:t>
                        </m:r>
                      </m:num>
                      <m:den>
                        <m:r>
                          <a:rPr lang="mr-IN" sz="3600" b="0" i="1" smtClean="0">
                            <a:latin typeface="Cambria Math" charset="0"/>
                          </a:rPr>
                          <m:t>𝜕</m:t>
                        </m:r>
                        <m:sSup>
                          <m:sSupPr>
                            <m:ctrlPr>
                              <a:rPr lang="en-US" sz="3600" b="0" i="1" smtClean="0">
                                <a:latin typeface="Cambria Math" panose="02040503050406030204" pitchFamily="18" charset="0"/>
                              </a:rPr>
                            </m:ctrlPr>
                          </m:sSupPr>
                          <m:e>
                            <m:r>
                              <a:rPr lang="en-US" sz="3600" b="0" i="1" smtClean="0">
                                <a:latin typeface="Cambria Math" charset="0"/>
                              </a:rPr>
                              <m:t>𝑊</m:t>
                            </m:r>
                          </m:e>
                          <m:sup>
                            <m:r>
                              <a:rPr lang="en-US" sz="3600" b="0" i="1" smtClean="0">
                                <a:latin typeface="Cambria Math" charset="0"/>
                              </a:rPr>
                              <m:t>(1)</m:t>
                            </m:r>
                          </m:sup>
                        </m:sSup>
                      </m:den>
                    </m:f>
                    <m:r>
                      <a:rPr lang="en-US" sz="3600" b="0" i="1" smtClean="0">
                        <a:latin typeface="Cambria Math" charset="0"/>
                      </a:rPr>
                      <m:t>=</m:t>
                    </m:r>
                    <m:f>
                      <m:fPr>
                        <m:ctrlPr>
                          <a:rPr lang="mr-IN" sz="3600" i="1">
                            <a:latin typeface="Cambria Math" panose="02040503050406030204" pitchFamily="18" charset="0"/>
                          </a:rPr>
                        </m:ctrlPr>
                      </m:fPr>
                      <m:num>
                        <m:r>
                          <a:rPr lang="mr-IN" sz="3600" i="1">
                            <a:latin typeface="Cambria Math" charset="0"/>
                          </a:rPr>
                          <m:t>𝜕</m:t>
                        </m:r>
                        <m:r>
                          <a:rPr lang="en-US" sz="3600" i="1">
                            <a:latin typeface="Cambria Math" charset="0"/>
                          </a:rPr>
                          <m:t>𝐽</m:t>
                        </m:r>
                      </m:num>
                      <m:den>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r>
                              <a:rPr lang="en-US" sz="3600" i="1">
                                <a:latin typeface="Cambria Math" charset="0"/>
                              </a:rPr>
                              <m:t>(4)</m:t>
                            </m:r>
                          </m:sup>
                        </m:sSup>
                      </m:den>
                    </m:f>
                    <m:r>
                      <a:rPr lang="en-US" sz="3600" b="0" i="1" smtClean="0">
                        <a:latin typeface="Cambria Math" charset="0"/>
                      </a:rPr>
                      <m:t>⋅</m:t>
                    </m:r>
                  </m:oMath>
                </a14:m>
                <a:r>
                  <a:rPr lang="mr-IN" sz="3600" dirty="0" smtClean="0"/>
                  <a:t> </a:t>
                </a:r>
                <a14:m>
                  <m:oMath xmlns:m="http://schemas.openxmlformats.org/officeDocument/2006/math">
                    <m:f>
                      <m:fPr>
                        <m:ctrlPr>
                          <a:rPr lang="mr-IN" sz="3600" i="1">
                            <a:latin typeface="Cambria Math" panose="02040503050406030204" pitchFamily="18" charset="0"/>
                          </a:rPr>
                        </m:ctrlPr>
                      </m:fPr>
                      <m:num>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r>
                              <a:rPr lang="en-US" sz="3600" i="1">
                                <a:latin typeface="Cambria Math" charset="0"/>
                              </a:rPr>
                              <m:t>(4)</m:t>
                            </m:r>
                          </m:sup>
                        </m:sSup>
                      </m:num>
                      <m:den>
                        <m:r>
                          <a:rPr lang="mr-IN" sz="3600" i="1">
                            <a:latin typeface="Cambria Math" charset="0"/>
                          </a:rPr>
                          <m:t>𝜕</m:t>
                        </m:r>
                        <m:sSup>
                          <m:sSupPr>
                            <m:ctrlPr>
                              <a:rPr lang="en-US" sz="3600" i="1">
                                <a:latin typeface="Cambria Math" panose="02040503050406030204" pitchFamily="18" charset="0"/>
                              </a:rPr>
                            </m:ctrlPr>
                          </m:sSupPr>
                          <m:e>
                            <m:r>
                              <a:rPr lang="en-US" sz="3600" b="0" i="1" smtClean="0">
                                <a:latin typeface="Cambria Math" charset="0"/>
                              </a:rPr>
                              <m:t>𝑎</m:t>
                            </m:r>
                          </m:e>
                          <m:sup>
                            <m:r>
                              <a:rPr lang="en-US" sz="3600" i="1">
                                <a:latin typeface="Cambria Math" charset="0"/>
                              </a:rPr>
                              <m:t>(3)</m:t>
                            </m:r>
                          </m:sup>
                        </m:sSup>
                      </m:den>
                    </m:f>
                    <m:r>
                      <a:rPr lang="en-US" sz="3600" b="0" i="1" smtClean="0">
                        <a:latin typeface="Cambria Math" charset="0"/>
                      </a:rPr>
                      <m:t>⋅</m:t>
                    </m:r>
                    <m:f>
                      <m:fPr>
                        <m:ctrlPr>
                          <a:rPr lang="mr-IN" sz="3600" i="1">
                            <a:latin typeface="Cambria Math" panose="02040503050406030204" pitchFamily="18" charset="0"/>
                          </a:rPr>
                        </m:ctrlPr>
                      </m:fPr>
                      <m:num>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𝑎</m:t>
                            </m:r>
                          </m:e>
                          <m:sup>
                            <m:d>
                              <m:dPr>
                                <m:ctrlPr>
                                  <a:rPr lang="en-US" sz="3600" i="1">
                                    <a:latin typeface="Cambria Math" panose="02040503050406030204" pitchFamily="18" charset="0"/>
                                  </a:rPr>
                                </m:ctrlPr>
                              </m:dPr>
                              <m:e>
                                <m:r>
                                  <a:rPr lang="en-US" sz="3600" i="1">
                                    <a:latin typeface="Cambria Math" charset="0"/>
                                  </a:rPr>
                                  <m:t>3</m:t>
                                </m:r>
                              </m:e>
                            </m:d>
                          </m:sup>
                        </m:sSup>
                      </m:num>
                      <m:den>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d>
                              <m:dPr>
                                <m:ctrlPr>
                                  <a:rPr lang="en-US" sz="3600" i="1">
                                    <a:latin typeface="Cambria Math" panose="02040503050406030204" pitchFamily="18" charset="0"/>
                                  </a:rPr>
                                </m:ctrlPr>
                              </m:dPr>
                              <m:e>
                                <m:r>
                                  <a:rPr lang="en-US" sz="3600" i="1">
                                    <a:latin typeface="Cambria Math" charset="0"/>
                                  </a:rPr>
                                  <m:t>3</m:t>
                                </m:r>
                              </m:e>
                            </m:d>
                          </m:sup>
                        </m:sSup>
                      </m:den>
                    </m:f>
                    <m:r>
                      <a:rPr lang="en-US" sz="3600" b="0" i="1" smtClean="0">
                        <a:latin typeface="Cambria Math" charset="0"/>
                      </a:rPr>
                      <m:t>⋅</m:t>
                    </m:r>
                    <m:f>
                      <m:fPr>
                        <m:ctrlPr>
                          <a:rPr lang="mr-IN" sz="3600" i="1">
                            <a:latin typeface="Cambria Math" panose="02040503050406030204" pitchFamily="18" charset="0"/>
                          </a:rPr>
                        </m:ctrlPr>
                      </m:fPr>
                      <m:num>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d>
                              <m:dPr>
                                <m:ctrlPr>
                                  <a:rPr lang="en-US" sz="3600" i="1">
                                    <a:latin typeface="Cambria Math" panose="02040503050406030204" pitchFamily="18" charset="0"/>
                                  </a:rPr>
                                </m:ctrlPr>
                              </m:dPr>
                              <m:e>
                                <m:r>
                                  <a:rPr lang="en-US" sz="3600" i="1">
                                    <a:latin typeface="Cambria Math" charset="0"/>
                                  </a:rPr>
                                  <m:t>3</m:t>
                                </m:r>
                              </m:e>
                            </m:d>
                          </m:sup>
                        </m:sSup>
                      </m:num>
                      <m:den>
                        <m:r>
                          <a:rPr lang="mr-IN" sz="3600" i="1">
                            <a:latin typeface="Cambria Math" charset="0"/>
                          </a:rPr>
                          <m:t>𝜕</m:t>
                        </m:r>
                        <m:sSup>
                          <m:sSupPr>
                            <m:ctrlPr>
                              <a:rPr lang="en-US" sz="3600" i="1">
                                <a:latin typeface="Cambria Math" panose="02040503050406030204" pitchFamily="18" charset="0"/>
                              </a:rPr>
                            </m:ctrlPr>
                          </m:sSupPr>
                          <m:e>
                            <m:r>
                              <a:rPr lang="en-US" sz="3600" b="0" i="1" smtClean="0">
                                <a:latin typeface="Cambria Math" charset="0"/>
                              </a:rPr>
                              <m:t>𝑎</m:t>
                            </m:r>
                          </m:e>
                          <m:sup>
                            <m:d>
                              <m:dPr>
                                <m:ctrlPr>
                                  <a:rPr lang="en-US" sz="3600" i="1">
                                    <a:latin typeface="Cambria Math" panose="02040503050406030204" pitchFamily="18" charset="0"/>
                                  </a:rPr>
                                </m:ctrlPr>
                              </m:dPr>
                              <m:e>
                                <m:r>
                                  <a:rPr lang="en-US" sz="3600" i="1">
                                    <a:latin typeface="Cambria Math" charset="0"/>
                                  </a:rPr>
                                  <m:t>2</m:t>
                                </m:r>
                              </m:e>
                            </m:d>
                          </m:sup>
                        </m:sSup>
                      </m:den>
                    </m:f>
                    <m:r>
                      <a:rPr lang="en-US" sz="3600" b="0" i="1" smtClean="0">
                        <a:latin typeface="Cambria Math" charset="0"/>
                      </a:rPr>
                      <m:t>⋅</m:t>
                    </m:r>
                    <m:f>
                      <m:fPr>
                        <m:ctrlPr>
                          <a:rPr lang="mr-IN" sz="3600" i="1">
                            <a:latin typeface="Cambria Math" panose="02040503050406030204" pitchFamily="18" charset="0"/>
                          </a:rPr>
                        </m:ctrlPr>
                      </m:fPr>
                      <m:num>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𝑎</m:t>
                            </m:r>
                          </m:e>
                          <m:sup>
                            <m:d>
                              <m:dPr>
                                <m:ctrlPr>
                                  <a:rPr lang="en-US" sz="3600" i="1">
                                    <a:latin typeface="Cambria Math" panose="02040503050406030204" pitchFamily="18" charset="0"/>
                                  </a:rPr>
                                </m:ctrlPr>
                              </m:dPr>
                              <m:e>
                                <m:r>
                                  <a:rPr lang="en-US" sz="3600" i="1">
                                    <a:latin typeface="Cambria Math" charset="0"/>
                                  </a:rPr>
                                  <m:t>2</m:t>
                                </m:r>
                              </m:e>
                            </m:d>
                          </m:sup>
                        </m:sSup>
                      </m:num>
                      <m:den>
                        <m:r>
                          <a:rPr lang="mr-IN" sz="3600" i="1">
                            <a:latin typeface="Cambria Math" charset="0"/>
                          </a:rPr>
                          <m:t>𝜕</m:t>
                        </m:r>
                        <m:sSup>
                          <m:sSupPr>
                            <m:ctrlPr>
                              <a:rPr lang="en-US" sz="3600" i="1">
                                <a:latin typeface="Cambria Math" panose="02040503050406030204" pitchFamily="18" charset="0"/>
                              </a:rPr>
                            </m:ctrlPr>
                          </m:sSupPr>
                          <m:e>
                            <m:r>
                              <a:rPr lang="en-US" sz="3600" i="1">
                                <a:latin typeface="Cambria Math" charset="0"/>
                              </a:rPr>
                              <m:t>𝑧</m:t>
                            </m:r>
                          </m:e>
                          <m:sup>
                            <m:d>
                              <m:dPr>
                                <m:ctrlPr>
                                  <a:rPr lang="en-US" sz="3600" i="1">
                                    <a:latin typeface="Cambria Math" panose="02040503050406030204" pitchFamily="18" charset="0"/>
                                  </a:rPr>
                                </m:ctrlPr>
                              </m:dPr>
                              <m:e>
                                <m:r>
                                  <a:rPr lang="en-US" sz="3600" i="1">
                                    <a:latin typeface="Cambria Math" charset="0"/>
                                  </a:rPr>
                                  <m:t>2</m:t>
                                </m:r>
                              </m:e>
                            </m:d>
                          </m:sup>
                        </m:sSup>
                      </m:den>
                    </m:f>
                    <m:r>
                      <a:rPr lang="en-US" sz="3600" b="0" i="1" smtClean="0">
                        <a:latin typeface="Cambria Math" charset="0"/>
                      </a:rPr>
                      <m:t>⋅</m:t>
                    </m:r>
                    <m:f>
                      <m:fPr>
                        <m:ctrlPr>
                          <a:rPr lang="mr-IN" sz="3600" i="1">
                            <a:latin typeface="Cambria Math" panose="02040503050406030204" pitchFamily="18" charset="0"/>
                            <a:ea typeface="Euphemia" charset="0"/>
                            <a:cs typeface="Euphemia" charset="0"/>
                          </a:rPr>
                        </m:ctrlPr>
                      </m:fPr>
                      <m:num>
                        <m:r>
                          <a:rPr lang="mr-IN" sz="3600" i="1">
                            <a:latin typeface="Cambria Math" charset="0"/>
                            <a:ea typeface="Euphemia" charset="0"/>
                            <a:cs typeface="Euphemia" charset="0"/>
                          </a:rPr>
                          <m:t>𝜕</m:t>
                        </m:r>
                        <m:sSup>
                          <m:sSupPr>
                            <m:ctrlPr>
                              <a:rPr lang="en-US" sz="3600" i="1">
                                <a:latin typeface="Cambria Math" panose="02040503050406030204" pitchFamily="18" charset="0"/>
                                <a:ea typeface="Euphemia" charset="0"/>
                                <a:cs typeface="Euphemia" charset="0"/>
                              </a:rPr>
                            </m:ctrlPr>
                          </m:sSupPr>
                          <m:e>
                            <m:r>
                              <a:rPr lang="en-US" sz="3600" i="1">
                                <a:latin typeface="Cambria Math" charset="0"/>
                                <a:ea typeface="Euphemia" charset="0"/>
                                <a:cs typeface="Euphemia" charset="0"/>
                              </a:rPr>
                              <m:t>𝑧</m:t>
                            </m:r>
                          </m:e>
                          <m:sup>
                            <m:r>
                              <a:rPr lang="en-US" sz="3600" i="1">
                                <a:latin typeface="Cambria Math" charset="0"/>
                                <a:ea typeface="Euphemia" charset="0"/>
                                <a:cs typeface="Euphemia" charset="0"/>
                              </a:rPr>
                              <m:t>(2)</m:t>
                            </m:r>
                          </m:sup>
                        </m:sSup>
                      </m:num>
                      <m:den>
                        <m:r>
                          <a:rPr lang="mr-IN" sz="3600" i="1">
                            <a:latin typeface="Cambria Math" charset="0"/>
                            <a:ea typeface="Euphemia" charset="0"/>
                            <a:cs typeface="Euphemia" charset="0"/>
                          </a:rPr>
                          <m:t>𝜕</m:t>
                        </m:r>
                        <m:sSup>
                          <m:sSupPr>
                            <m:ctrlPr>
                              <a:rPr lang="en-US" sz="3600" i="1">
                                <a:latin typeface="Cambria Math" panose="02040503050406030204" pitchFamily="18" charset="0"/>
                                <a:ea typeface="Euphemia" charset="0"/>
                                <a:cs typeface="Euphemia" charset="0"/>
                              </a:rPr>
                            </m:ctrlPr>
                          </m:sSupPr>
                          <m:e>
                            <m:r>
                              <a:rPr lang="en-US" sz="3600" i="1">
                                <a:latin typeface="Cambria Math" charset="0"/>
                                <a:ea typeface="Euphemia" charset="0"/>
                                <a:cs typeface="Euphemia" charset="0"/>
                              </a:rPr>
                              <m:t>𝑊</m:t>
                            </m:r>
                          </m:e>
                          <m:sup>
                            <m:r>
                              <a:rPr lang="en-US" sz="3600" i="1">
                                <a:latin typeface="Cambria Math" charset="0"/>
                                <a:ea typeface="Euphemia" charset="0"/>
                                <a:cs typeface="Euphemia" charset="0"/>
                              </a:rPr>
                              <m:t>(1)</m:t>
                            </m:r>
                          </m:sup>
                        </m:sSup>
                      </m:den>
                    </m:f>
                  </m:oMath>
                </a14:m>
                <a:endParaRPr lang="en-US" sz="3600" dirty="0"/>
              </a:p>
            </p:txBody>
          </p:sp>
        </mc:Choice>
        <mc:Fallback xmlns="">
          <p:sp>
            <p:nvSpPr>
              <p:cNvPr id="24" name="TextBox 23"/>
              <p:cNvSpPr txBox="1">
                <a:spLocks noRot="1" noChangeAspect="1" noMove="1" noResize="1" noEditPoints="1" noAdjustHandles="1" noChangeArrowheads="1" noChangeShapeType="1" noTextEdit="1"/>
              </p:cNvSpPr>
              <p:nvPr/>
            </p:nvSpPr>
            <p:spPr>
              <a:xfrm>
                <a:off x="2134232" y="5105400"/>
                <a:ext cx="8836979" cy="904030"/>
              </a:xfrm>
              <a:prstGeom prst="rect">
                <a:avLst/>
              </a:prstGeom>
              <a:blipFill rotWithShape="0">
                <a:blip r:embed="rId5"/>
                <a:stretch>
                  <a:fillRect b="-15541"/>
                </a:stretch>
              </a:blipFill>
            </p:spPr>
            <p:txBody>
              <a:bodyPr/>
              <a:lstStyle/>
              <a:p>
                <a:r>
                  <a:rPr lang="en-US">
                    <a:noFill/>
                  </a:rPr>
                  <a:t> </a:t>
                </a:r>
              </a:p>
            </p:txBody>
          </p:sp>
        </mc:Fallback>
      </mc:AlternateContent>
    </p:spTree>
    <p:extLst>
      <p:ext uri="{BB962C8B-B14F-4D97-AF65-F5344CB8AC3E}">
        <p14:creationId xmlns:p14="http://schemas.microsoft.com/office/powerpoint/2010/main" val="209456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Fill in for specific values</a:t>
            </a:r>
            <a:endParaRPr lang="en-US" dirty="0"/>
          </a:p>
        </p:txBody>
      </p:sp>
      <mc:AlternateContent xmlns:mc="http://schemas.openxmlformats.org/markup-compatibility/2006" xmlns:a14="http://schemas.microsoft.com/office/drawing/2010/main">
        <mc:Choice Requires="a14">
          <p:sp>
            <p:nvSpPr>
              <p:cNvPr id="23" name="TextBox 22"/>
              <p:cNvSpPr txBox="1"/>
              <p:nvPr/>
            </p:nvSpPr>
            <p:spPr>
              <a:xfrm>
                <a:off x="1390861" y="3455295"/>
                <a:ext cx="7715400" cy="10626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latin typeface="Cambria Math" panose="02040503050406030204" pitchFamily="18" charset="0"/>
                              <a:ea typeface="Euphemia" charset="0"/>
                              <a:cs typeface="Euphemia" charset="0"/>
                            </a:rPr>
                          </m:ctrlPr>
                        </m:fPr>
                        <m:num>
                          <m:r>
                            <a:rPr lang="mr-IN" sz="3600" b="0" i="1" smtClean="0">
                              <a:latin typeface="Cambria Math" charset="0"/>
                              <a:ea typeface="Euphemia" charset="0"/>
                              <a:cs typeface="Euphemia" charset="0"/>
                            </a:rPr>
                            <m:t>𝜕</m:t>
                          </m:r>
                          <m:r>
                            <a:rPr lang="en-US" sz="3600" b="0" i="1" smtClean="0">
                              <a:latin typeface="Cambria Math" charset="0"/>
                              <a:ea typeface="Euphemia" charset="0"/>
                              <a:cs typeface="Euphemia" charset="0"/>
                            </a:rPr>
                            <m:t>𝐽</m:t>
                          </m:r>
                        </m:num>
                        <m:den>
                          <m:r>
                            <a:rPr lang="mr-IN" sz="3600" b="0" i="1" smtClean="0">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𝑊</m:t>
                              </m:r>
                            </m:e>
                            <m:sup>
                              <m:r>
                                <a:rPr lang="en-US" sz="3600" b="0" i="1" smtClean="0">
                                  <a:latin typeface="Cambria Math" charset="0"/>
                                  <a:ea typeface="Euphemia" charset="0"/>
                                  <a:cs typeface="Euphemia" charset="0"/>
                                </a:rPr>
                                <m:t>(2)</m:t>
                              </m:r>
                            </m:sup>
                          </m:sSup>
                        </m:den>
                      </m:f>
                      <m:r>
                        <a:rPr lang="en-US" sz="3600" b="0" i="1" smtClean="0">
                          <a:latin typeface="Cambria Math" charset="0"/>
                          <a:ea typeface="Euphemia" charset="0"/>
                          <a:cs typeface="Euphemia" charset="0"/>
                        </a:rPr>
                        <m:t>=</m:t>
                      </m:r>
                      <m:r>
                        <a:rPr lang="en-US" sz="3600" i="1">
                          <a:latin typeface="Cambria Math" charset="0"/>
                          <a:ea typeface="Euphemia" charset="0"/>
                          <a:cs typeface="Euphemia" charset="0"/>
                        </a:rPr>
                        <m:t>(</m:t>
                      </m:r>
                      <m:acc>
                        <m:accPr>
                          <m:chr m:val="̂"/>
                          <m:ctrlPr>
                            <a:rPr lang="en-US" sz="3600" i="1">
                              <a:latin typeface="Cambria Math" panose="02040503050406030204" pitchFamily="18" charset="0"/>
                              <a:ea typeface="Euphemia" charset="0"/>
                              <a:cs typeface="Euphemia" charset="0"/>
                            </a:rPr>
                          </m:ctrlPr>
                        </m:accPr>
                        <m:e>
                          <m:r>
                            <a:rPr lang="en-US" sz="3600" i="1">
                              <a:latin typeface="Cambria Math" charset="0"/>
                              <a:ea typeface="Euphemia" charset="0"/>
                              <a:cs typeface="Euphemia" charset="0"/>
                            </a:rPr>
                            <m:t>𝑦</m:t>
                          </m:r>
                        </m:e>
                      </m:acc>
                      <m:r>
                        <a:rPr lang="en-US" sz="3600" i="1">
                          <a:latin typeface="Cambria Math" charset="0"/>
                          <a:ea typeface="Euphemia" charset="0"/>
                          <a:cs typeface="Euphemia" charset="0"/>
                        </a:rPr>
                        <m:t>−</m:t>
                      </m:r>
                      <m:r>
                        <a:rPr lang="en-US" sz="3600" i="1">
                          <a:latin typeface="Cambria Math" charset="0"/>
                          <a:ea typeface="Euphemia" charset="0"/>
                          <a:cs typeface="Euphemia" charset="0"/>
                        </a:rPr>
                        <m:t>𝑦</m:t>
                      </m:r>
                      <m:r>
                        <a:rPr lang="en-US" sz="3600" i="1">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𝑊</m:t>
                          </m:r>
                        </m:e>
                        <m:sup>
                          <m:d>
                            <m:dPr>
                              <m:ctrlPr>
                                <a:rPr lang="en-US" sz="3600" b="0" i="1" smtClean="0">
                                  <a:latin typeface="Cambria Math" panose="02040503050406030204" pitchFamily="18" charset="0"/>
                                  <a:ea typeface="Euphemia" charset="0"/>
                                  <a:cs typeface="Euphemia" charset="0"/>
                                </a:rPr>
                              </m:ctrlPr>
                            </m:dPr>
                            <m:e>
                              <m:r>
                                <a:rPr lang="en-US" sz="3600" b="0" i="1" smtClean="0">
                                  <a:latin typeface="Cambria Math" charset="0"/>
                                  <a:ea typeface="Euphemia" charset="0"/>
                                  <a:cs typeface="Euphemia" charset="0"/>
                                </a:rPr>
                                <m:t>3</m:t>
                              </m:r>
                            </m:e>
                          </m:d>
                        </m:sup>
                      </m:sSup>
                      <m:r>
                        <a:rPr lang="en-US" sz="3600" b="0" i="1" smtClean="0">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𝜎</m:t>
                          </m:r>
                        </m:e>
                        <m:sup>
                          <m:r>
                            <a:rPr lang="en-US" sz="3600" b="0" i="1" smtClean="0">
                              <a:latin typeface="Cambria Math" charset="0"/>
                              <a:ea typeface="Euphemia" charset="0"/>
                              <a:cs typeface="Euphemia" charset="0"/>
                            </a:rPr>
                            <m:t>′</m:t>
                          </m:r>
                        </m:sup>
                      </m:sSup>
                      <m:d>
                        <m:dPr>
                          <m:ctrlPr>
                            <a:rPr lang="en-US" sz="3600" b="0" i="1" smtClean="0">
                              <a:latin typeface="Cambria Math" panose="02040503050406030204" pitchFamily="18" charset="0"/>
                              <a:ea typeface="Euphemia" charset="0"/>
                              <a:cs typeface="Euphemia" charset="0"/>
                            </a:rPr>
                          </m:ctrlPr>
                        </m:dPr>
                        <m:e>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𝑧</m:t>
                              </m:r>
                            </m:e>
                            <m:sup>
                              <m:r>
                                <a:rPr lang="en-US" sz="3600" b="0" i="1" smtClean="0">
                                  <a:latin typeface="Cambria Math" charset="0"/>
                                  <a:ea typeface="Euphemia" charset="0"/>
                                  <a:cs typeface="Euphemia" charset="0"/>
                                </a:rPr>
                                <m:t>3</m:t>
                              </m:r>
                            </m:sup>
                          </m:sSup>
                        </m:e>
                      </m:d>
                      <m:r>
                        <a:rPr lang="en-US" sz="3600" b="0" i="1" smtClean="0">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𝑎</m:t>
                          </m:r>
                        </m:e>
                        <m:sup>
                          <m:r>
                            <a:rPr lang="en-US" sz="3600" b="0" i="1" smtClean="0">
                              <a:latin typeface="Cambria Math" charset="0"/>
                              <a:ea typeface="Euphemia" charset="0"/>
                              <a:cs typeface="Euphemia" charset="0"/>
                            </a:rPr>
                            <m:t>(2)</m:t>
                          </m:r>
                        </m:sup>
                      </m:sSup>
                    </m:oMath>
                  </m:oMathPara>
                </a14:m>
                <a:endParaRPr lang="en-US" sz="3600" dirty="0">
                  <a:latin typeface="Euphemia" charset="0"/>
                  <a:ea typeface="Euphemia" charset="0"/>
                  <a:cs typeface="Euphemia" charset="0"/>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1390861" y="3455295"/>
                <a:ext cx="7715400" cy="106266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509712" y="5105400"/>
                <a:ext cx="10134600" cy="10626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latin typeface="Cambria Math" panose="02040503050406030204" pitchFamily="18" charset="0"/>
                              <a:ea typeface="Euphemia" charset="0"/>
                              <a:cs typeface="Euphemia" charset="0"/>
                            </a:rPr>
                          </m:ctrlPr>
                        </m:fPr>
                        <m:num>
                          <m:r>
                            <a:rPr lang="mr-IN" sz="3600" b="0" i="1" smtClean="0">
                              <a:latin typeface="Cambria Math" charset="0"/>
                              <a:ea typeface="Euphemia" charset="0"/>
                              <a:cs typeface="Euphemia" charset="0"/>
                            </a:rPr>
                            <m:t>𝜕</m:t>
                          </m:r>
                          <m:r>
                            <a:rPr lang="en-US" sz="3600" b="0" i="1" smtClean="0">
                              <a:latin typeface="Cambria Math" charset="0"/>
                              <a:ea typeface="Euphemia" charset="0"/>
                              <a:cs typeface="Euphemia" charset="0"/>
                            </a:rPr>
                            <m:t>𝐽</m:t>
                          </m:r>
                        </m:num>
                        <m:den>
                          <m:r>
                            <a:rPr lang="mr-IN" sz="3600" b="0" i="1" smtClean="0">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𝑊</m:t>
                              </m:r>
                            </m:e>
                            <m:sup>
                              <m:r>
                                <a:rPr lang="en-US" sz="3600" b="0" i="1" smtClean="0">
                                  <a:latin typeface="Cambria Math" charset="0"/>
                                  <a:ea typeface="Euphemia" charset="0"/>
                                  <a:cs typeface="Euphemia" charset="0"/>
                                </a:rPr>
                                <m:t>(1)</m:t>
                              </m:r>
                            </m:sup>
                          </m:sSup>
                        </m:den>
                      </m:f>
                      <m:r>
                        <a:rPr lang="en-US" sz="3600" b="0" i="1" smtClean="0">
                          <a:latin typeface="Cambria Math" charset="0"/>
                          <a:ea typeface="Euphemia" charset="0"/>
                          <a:cs typeface="Euphemia" charset="0"/>
                        </a:rPr>
                        <m:t>=</m:t>
                      </m:r>
                      <m:d>
                        <m:dPr>
                          <m:ctrlPr>
                            <a:rPr lang="en-US" sz="3600" i="1">
                              <a:latin typeface="Cambria Math" panose="02040503050406030204" pitchFamily="18" charset="0"/>
                              <a:ea typeface="Euphemia" charset="0"/>
                              <a:cs typeface="Euphemia" charset="0"/>
                            </a:rPr>
                          </m:ctrlPr>
                        </m:dPr>
                        <m:e>
                          <m:acc>
                            <m:accPr>
                              <m:chr m:val="̂"/>
                              <m:ctrlPr>
                                <a:rPr lang="en-US" sz="3600" i="1">
                                  <a:latin typeface="Cambria Math" panose="02040503050406030204" pitchFamily="18" charset="0"/>
                                  <a:ea typeface="Euphemia" charset="0"/>
                                  <a:cs typeface="Euphemia" charset="0"/>
                                </a:rPr>
                              </m:ctrlPr>
                            </m:accPr>
                            <m:e>
                              <m:r>
                                <a:rPr lang="en-US" sz="3600" i="1">
                                  <a:latin typeface="Cambria Math" charset="0"/>
                                  <a:ea typeface="Euphemia" charset="0"/>
                                  <a:cs typeface="Euphemia" charset="0"/>
                                </a:rPr>
                                <m:t>𝑦</m:t>
                              </m:r>
                            </m:e>
                          </m:acc>
                          <m:r>
                            <a:rPr lang="en-US" sz="3600" i="1">
                              <a:latin typeface="Cambria Math" charset="0"/>
                              <a:ea typeface="Euphemia" charset="0"/>
                              <a:cs typeface="Euphemia" charset="0"/>
                            </a:rPr>
                            <m:t>−</m:t>
                          </m:r>
                          <m:r>
                            <a:rPr lang="en-US" sz="3600" i="1">
                              <a:latin typeface="Cambria Math" charset="0"/>
                              <a:ea typeface="Euphemia" charset="0"/>
                              <a:cs typeface="Euphemia" charset="0"/>
                            </a:rPr>
                            <m:t>𝑦</m:t>
                          </m:r>
                        </m:e>
                      </m:d>
                      <m:r>
                        <a:rPr lang="en-US" sz="3600" b="0" i="1" smtClean="0">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𝑊</m:t>
                          </m:r>
                        </m:e>
                        <m:sup>
                          <m:d>
                            <m:dPr>
                              <m:ctrlPr>
                                <a:rPr lang="en-US" sz="3600" b="0" i="1" smtClean="0">
                                  <a:latin typeface="Cambria Math" panose="02040503050406030204" pitchFamily="18" charset="0"/>
                                  <a:ea typeface="Euphemia" charset="0"/>
                                  <a:cs typeface="Euphemia" charset="0"/>
                                </a:rPr>
                              </m:ctrlPr>
                            </m:dPr>
                            <m:e>
                              <m:r>
                                <a:rPr lang="en-US" sz="3600" b="0" i="1" smtClean="0">
                                  <a:latin typeface="Cambria Math" charset="0"/>
                                  <a:ea typeface="Euphemia" charset="0"/>
                                  <a:cs typeface="Euphemia" charset="0"/>
                                </a:rPr>
                                <m:t>3</m:t>
                              </m:r>
                            </m:e>
                          </m:d>
                        </m:sup>
                      </m:sSup>
                      <m:r>
                        <a:rPr lang="en-US" sz="3600" b="0" i="1" smtClean="0">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𝜎</m:t>
                          </m:r>
                        </m:e>
                        <m:sup>
                          <m:r>
                            <a:rPr lang="en-US" sz="3600" b="0" i="1" smtClean="0">
                              <a:latin typeface="Cambria Math" charset="0"/>
                              <a:ea typeface="Euphemia" charset="0"/>
                              <a:cs typeface="Euphemia" charset="0"/>
                            </a:rPr>
                            <m:t>′</m:t>
                          </m:r>
                        </m:sup>
                      </m:sSup>
                      <m:d>
                        <m:dPr>
                          <m:ctrlPr>
                            <a:rPr lang="en-US" sz="3600" b="0" i="1" smtClean="0">
                              <a:latin typeface="Cambria Math" panose="02040503050406030204" pitchFamily="18" charset="0"/>
                              <a:ea typeface="Euphemia" charset="0"/>
                              <a:cs typeface="Euphemia" charset="0"/>
                            </a:rPr>
                          </m:ctrlPr>
                        </m:dPr>
                        <m:e>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𝑧</m:t>
                              </m:r>
                            </m:e>
                            <m:sup>
                              <m:r>
                                <a:rPr lang="en-US" sz="3600" b="0" i="1" smtClean="0">
                                  <a:latin typeface="Cambria Math" charset="0"/>
                                  <a:ea typeface="Euphemia" charset="0"/>
                                  <a:cs typeface="Euphemia" charset="0"/>
                                </a:rPr>
                                <m:t>3</m:t>
                              </m:r>
                            </m:sup>
                          </m:sSup>
                        </m:e>
                      </m:d>
                      <m:r>
                        <a:rPr lang="en-US" sz="3600" b="0" i="1" smtClean="0">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𝑊</m:t>
                          </m:r>
                        </m:e>
                        <m:sup>
                          <m:d>
                            <m:dPr>
                              <m:ctrlPr>
                                <a:rPr lang="en-US" sz="3600" b="0" i="1" smtClean="0">
                                  <a:latin typeface="Cambria Math" panose="02040503050406030204" pitchFamily="18" charset="0"/>
                                  <a:ea typeface="Euphemia" charset="0"/>
                                  <a:cs typeface="Euphemia" charset="0"/>
                                </a:rPr>
                              </m:ctrlPr>
                            </m:dPr>
                            <m:e>
                              <m:r>
                                <a:rPr lang="en-US" sz="3600" b="0" i="1" smtClean="0">
                                  <a:latin typeface="Cambria Math" charset="0"/>
                                  <a:ea typeface="Euphemia" charset="0"/>
                                  <a:cs typeface="Euphemia" charset="0"/>
                                </a:rPr>
                                <m:t>2</m:t>
                              </m:r>
                            </m:e>
                          </m:d>
                        </m:sup>
                      </m:sSup>
                      <m:r>
                        <a:rPr lang="en-US" sz="3600" b="0" i="1" smtClean="0">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𝜎</m:t>
                          </m:r>
                        </m:e>
                        <m:sup>
                          <m:r>
                            <a:rPr lang="en-US" sz="3600" b="0" i="1" smtClean="0">
                              <a:latin typeface="Cambria Math" charset="0"/>
                              <a:ea typeface="Euphemia" charset="0"/>
                              <a:cs typeface="Euphemia" charset="0"/>
                            </a:rPr>
                            <m:t>′</m:t>
                          </m:r>
                        </m:sup>
                      </m:sSup>
                      <m:d>
                        <m:dPr>
                          <m:ctrlPr>
                            <a:rPr lang="en-US" sz="3600" b="0" i="1" smtClean="0">
                              <a:latin typeface="Cambria Math" panose="02040503050406030204" pitchFamily="18" charset="0"/>
                              <a:ea typeface="Euphemia" charset="0"/>
                              <a:cs typeface="Euphemia" charset="0"/>
                            </a:rPr>
                          </m:ctrlPr>
                        </m:dPr>
                        <m:e>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𝑧</m:t>
                              </m:r>
                            </m:e>
                            <m:sup>
                              <m:d>
                                <m:dPr>
                                  <m:ctrlPr>
                                    <a:rPr lang="en-US" sz="3600" b="0" i="1" smtClean="0">
                                      <a:latin typeface="Cambria Math" panose="02040503050406030204" pitchFamily="18" charset="0"/>
                                      <a:ea typeface="Euphemia" charset="0"/>
                                      <a:cs typeface="Euphemia" charset="0"/>
                                    </a:rPr>
                                  </m:ctrlPr>
                                </m:dPr>
                                <m:e>
                                  <m:r>
                                    <a:rPr lang="en-US" sz="3600" b="0" i="1" smtClean="0">
                                      <a:latin typeface="Cambria Math" charset="0"/>
                                      <a:ea typeface="Euphemia" charset="0"/>
                                      <a:cs typeface="Euphemia" charset="0"/>
                                    </a:rPr>
                                    <m:t>2</m:t>
                                  </m:r>
                                </m:e>
                              </m:d>
                            </m:sup>
                          </m:sSup>
                        </m:e>
                      </m:d>
                      <m:r>
                        <a:rPr lang="en-US" sz="3600" b="0" i="1" smtClean="0">
                          <a:latin typeface="Cambria Math" charset="0"/>
                          <a:ea typeface="Euphemia" charset="0"/>
                          <a:cs typeface="Euphemia" charset="0"/>
                        </a:rPr>
                        <m:t>⋅</m:t>
                      </m:r>
                      <m:r>
                        <a:rPr lang="en-US" sz="3600" b="0" i="1" smtClean="0">
                          <a:latin typeface="Cambria Math" charset="0"/>
                          <a:ea typeface="Euphemia" charset="0"/>
                          <a:cs typeface="Euphemia" charset="0"/>
                        </a:rPr>
                        <m:t>𝑋</m:t>
                      </m:r>
                    </m:oMath>
                  </m:oMathPara>
                </a14:m>
                <a:endParaRPr lang="en-US" sz="3600" dirty="0">
                  <a:latin typeface="Euphemia" charset="0"/>
                  <a:ea typeface="Euphemia" charset="0"/>
                  <a:cs typeface="Euphemia"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509712" y="5105400"/>
                <a:ext cx="10134600" cy="1062663"/>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4288" y="1805190"/>
                <a:ext cx="7715400" cy="10626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600" b="0" i="1" smtClean="0">
                              <a:latin typeface="Cambria Math" panose="02040503050406030204" pitchFamily="18" charset="0"/>
                              <a:ea typeface="Euphemia" charset="0"/>
                              <a:cs typeface="Euphemia" charset="0"/>
                            </a:rPr>
                          </m:ctrlPr>
                        </m:fPr>
                        <m:num>
                          <m:r>
                            <a:rPr lang="mr-IN" sz="3600" b="0" i="1" smtClean="0">
                              <a:latin typeface="Cambria Math" charset="0"/>
                              <a:ea typeface="Euphemia" charset="0"/>
                              <a:cs typeface="Euphemia" charset="0"/>
                            </a:rPr>
                            <m:t>𝜕</m:t>
                          </m:r>
                          <m:r>
                            <a:rPr lang="en-US" sz="3600" b="0" i="1" smtClean="0">
                              <a:latin typeface="Cambria Math" charset="0"/>
                              <a:ea typeface="Euphemia" charset="0"/>
                              <a:cs typeface="Euphemia" charset="0"/>
                            </a:rPr>
                            <m:t>𝐽</m:t>
                          </m:r>
                        </m:num>
                        <m:den>
                          <m:r>
                            <a:rPr lang="mr-IN" sz="3600" b="0" i="1" smtClean="0">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𝑊</m:t>
                              </m:r>
                            </m:e>
                            <m:sup>
                              <m:r>
                                <a:rPr lang="en-US" sz="3600" b="0" i="1" smtClean="0">
                                  <a:latin typeface="Cambria Math" charset="0"/>
                                  <a:ea typeface="Euphemia" charset="0"/>
                                  <a:cs typeface="Euphemia" charset="0"/>
                                </a:rPr>
                                <m:t>(3)</m:t>
                              </m:r>
                            </m:sup>
                          </m:sSup>
                        </m:den>
                      </m:f>
                      <m:r>
                        <a:rPr lang="en-US" sz="3600" b="0" i="1" smtClean="0">
                          <a:latin typeface="Cambria Math" charset="0"/>
                          <a:ea typeface="Euphemia" charset="0"/>
                          <a:cs typeface="Euphemia" charset="0"/>
                        </a:rPr>
                        <m:t>=</m:t>
                      </m:r>
                      <m:r>
                        <a:rPr lang="en-US" sz="3600" i="1">
                          <a:latin typeface="Cambria Math" charset="0"/>
                          <a:ea typeface="Euphemia" charset="0"/>
                          <a:cs typeface="Euphemia" charset="0"/>
                        </a:rPr>
                        <m:t>(</m:t>
                      </m:r>
                      <m:acc>
                        <m:accPr>
                          <m:chr m:val="̂"/>
                          <m:ctrlPr>
                            <a:rPr lang="en-US" sz="3600" i="1">
                              <a:latin typeface="Cambria Math" panose="02040503050406030204" pitchFamily="18" charset="0"/>
                              <a:ea typeface="Euphemia" charset="0"/>
                              <a:cs typeface="Euphemia" charset="0"/>
                            </a:rPr>
                          </m:ctrlPr>
                        </m:accPr>
                        <m:e>
                          <m:r>
                            <a:rPr lang="en-US" sz="3600" i="1">
                              <a:latin typeface="Cambria Math" charset="0"/>
                              <a:ea typeface="Euphemia" charset="0"/>
                              <a:cs typeface="Euphemia" charset="0"/>
                            </a:rPr>
                            <m:t>𝑦</m:t>
                          </m:r>
                        </m:e>
                      </m:acc>
                      <m:r>
                        <a:rPr lang="en-US" sz="3600" i="1">
                          <a:latin typeface="Cambria Math" charset="0"/>
                          <a:ea typeface="Euphemia" charset="0"/>
                          <a:cs typeface="Euphemia" charset="0"/>
                        </a:rPr>
                        <m:t>−</m:t>
                      </m:r>
                      <m:r>
                        <a:rPr lang="en-US" sz="3600" i="1">
                          <a:latin typeface="Cambria Math" charset="0"/>
                          <a:ea typeface="Euphemia" charset="0"/>
                          <a:cs typeface="Euphemia" charset="0"/>
                        </a:rPr>
                        <m:t>𝑦</m:t>
                      </m:r>
                      <m:r>
                        <a:rPr lang="en-US" sz="3600" i="1">
                          <a:latin typeface="Cambria Math" charset="0"/>
                          <a:ea typeface="Euphemia" charset="0"/>
                          <a:cs typeface="Euphemia" charset="0"/>
                        </a:rPr>
                        <m:t>)⋅</m:t>
                      </m:r>
                      <m:sSup>
                        <m:sSupPr>
                          <m:ctrlPr>
                            <a:rPr lang="en-US" sz="3600" b="0" i="1" smtClean="0">
                              <a:latin typeface="Cambria Math" panose="02040503050406030204" pitchFamily="18" charset="0"/>
                              <a:ea typeface="Euphemia" charset="0"/>
                              <a:cs typeface="Euphemia" charset="0"/>
                            </a:rPr>
                          </m:ctrlPr>
                        </m:sSupPr>
                        <m:e>
                          <m:r>
                            <a:rPr lang="en-US" sz="3600" b="0" i="1" smtClean="0">
                              <a:latin typeface="Cambria Math" charset="0"/>
                              <a:ea typeface="Euphemia" charset="0"/>
                              <a:cs typeface="Euphemia" charset="0"/>
                            </a:rPr>
                            <m:t>𝑎</m:t>
                          </m:r>
                        </m:e>
                        <m:sup>
                          <m:r>
                            <a:rPr lang="en-US" sz="3600" b="0" i="1" smtClean="0">
                              <a:latin typeface="Cambria Math" charset="0"/>
                              <a:ea typeface="Euphemia" charset="0"/>
                              <a:cs typeface="Euphemia" charset="0"/>
                            </a:rPr>
                            <m:t>(3)</m:t>
                          </m:r>
                        </m:sup>
                      </m:sSup>
                    </m:oMath>
                  </m:oMathPara>
                </a14:m>
                <a:endParaRPr lang="en-US" sz="3600" dirty="0">
                  <a:latin typeface="Euphemia" charset="0"/>
                  <a:ea typeface="Euphemia" charset="0"/>
                  <a:cs typeface="Euphemia"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4288" y="1805190"/>
                <a:ext cx="7715400" cy="1062663"/>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20591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Visual intuition</a:t>
            </a:r>
            <a:endParaRPr lang="en-US" dirty="0"/>
          </a:p>
        </p:txBody>
      </p:sp>
    </p:spTree>
    <p:extLst>
      <p:ext uri="{BB962C8B-B14F-4D97-AF65-F5344CB8AC3E}">
        <p14:creationId xmlns:p14="http://schemas.microsoft.com/office/powerpoint/2010/main" val="21324445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Oval 4"/>
              <p:cNvSpPr/>
              <p:nvPr/>
            </p:nvSpPr>
            <p:spPr>
              <a:xfrm>
                <a:off x="3104577" y="2404022"/>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104577" y="2404022"/>
                <a:ext cx="925221" cy="925221"/>
              </a:xfrm>
              <a:prstGeom prst="ellipse">
                <a:avLst/>
              </a:prstGeom>
              <a:blipFill rotWithShape="0">
                <a:blip r:embed="rId3"/>
                <a:stretch>
                  <a:fillRect l="-64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104577" y="3602311"/>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4"/>
                <a:stretch>
                  <a:fillRect l="-454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104577" y="4800600"/>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104577" y="4800600"/>
                <a:ext cx="925221" cy="925221"/>
              </a:xfrm>
              <a:prstGeom prst="ellipse">
                <a:avLst/>
              </a:prstGeom>
              <a:blipFill rotWithShape="0">
                <a:blip r:embed="rId5"/>
                <a:stretch>
                  <a:fillRect l="-4545"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646612"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646612" y="5263211"/>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646612"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646612" y="4123816"/>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646612"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646612" y="2984424"/>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646612"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646612" y="1845032"/>
                <a:ext cx="925221" cy="925221"/>
              </a:xfrm>
              <a:prstGeom prst="ellipse">
                <a:avLst/>
              </a:prstGeom>
              <a:blipFill rotWithShape="0">
                <a:blip r:embed="rId8"/>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6188648"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6188648" y="5263211"/>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6188648"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6188648" y="4123816"/>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6188648"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6188648" y="2984424"/>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188648"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6188648" y="1845032"/>
                <a:ext cx="925221" cy="925221"/>
              </a:xfrm>
              <a:prstGeom prst="ellipse">
                <a:avLst/>
              </a:prstGeom>
              <a:blipFill rotWithShape="0">
                <a:blip r:embed="rId8"/>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7797942" y="2404022"/>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7797942" y="2404022"/>
                <a:ext cx="925221" cy="925221"/>
              </a:xfrm>
              <a:prstGeom prst="ellipse">
                <a:avLst/>
              </a:prstGeom>
              <a:blipFill rotWithShape="0">
                <a:blip r:embed="rId9"/>
                <a:stretch>
                  <a:fillRect t="-12338" r="-649" b="-266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7797942" y="3602311"/>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7797942" y="3602311"/>
                <a:ext cx="925221" cy="925221"/>
              </a:xfrm>
              <a:prstGeom prst="ellipse">
                <a:avLst/>
              </a:prstGeom>
              <a:blipFill rotWithShape="0">
                <a:blip r:embed="rId10"/>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7797942" y="4800600"/>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7797942" y="4800600"/>
                <a:ext cx="925221" cy="925221"/>
              </a:xfrm>
              <a:prstGeom prst="ellipse">
                <a:avLst/>
              </a:prstGeom>
              <a:blipFill rotWithShape="0">
                <a:blip r:embed="rId11"/>
                <a:stretch>
                  <a:fillRect t="-12418" b="-26797"/>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029798" y="2307643"/>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029798" y="2866633"/>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029798" y="2866633"/>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029798" y="2866633"/>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029798" y="2307643"/>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029798" y="3447035"/>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029798" y="4064922"/>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029798" y="4064922"/>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029798" y="2307643"/>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029798" y="3447035"/>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029798" y="4586427"/>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029798" y="5263211"/>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5571834" y="230764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5571834" y="344703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5571834" y="4586427"/>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5571834" y="4586427"/>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5436339" y="4586427"/>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5571834" y="572582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7113869" y="2307643"/>
            <a:ext cx="684073"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7113869" y="2307643"/>
            <a:ext cx="684073"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7113869" y="2307643"/>
            <a:ext cx="684073"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7113869" y="2866633"/>
            <a:ext cx="684073"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7113869" y="3447035"/>
            <a:ext cx="684073"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7113869" y="3447035"/>
            <a:ext cx="684073"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7113869" y="4586427"/>
            <a:ext cx="684073"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7113869" y="2866633"/>
            <a:ext cx="684073"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7113869" y="4064922"/>
            <a:ext cx="684073"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7113869" y="2866633"/>
            <a:ext cx="684073"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7113869" y="4064922"/>
            <a:ext cx="684073"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7113869" y="5263211"/>
            <a:ext cx="684073"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8723163"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8723163"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8723163"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2214980"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2214980"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2214980"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179068" y="189245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(1)</m:t>
                          </m:r>
                        </m:sup>
                      </m:sSup>
                    </m:oMath>
                  </m:oMathPara>
                </a14:m>
                <a:endParaRPr lang="en-US" dirty="0">
                  <a:solidFill>
                    <a:schemeClr val="tx2"/>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179068" y="1892459"/>
                <a:ext cx="847732" cy="47699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4762355" y="135047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(2)</m:t>
                          </m:r>
                        </m:sup>
                      </m:sSup>
                    </m:oMath>
                  </m:oMathPara>
                </a14:m>
                <a:endParaRPr lang="en-US" dirty="0">
                  <a:solidFill>
                    <a:schemeClr val="tx2"/>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4762355" y="1350479"/>
                <a:ext cx="847732" cy="47699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266137" y="135047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(3)</m:t>
                          </m:r>
                        </m:sup>
                      </m:sSup>
                    </m:oMath>
                  </m:oMathPara>
                </a14:m>
                <a:endParaRPr lang="en-US" dirty="0">
                  <a:solidFill>
                    <a:schemeClr val="tx2"/>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266137" y="1350479"/>
                <a:ext cx="847733" cy="47699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7892958" y="189245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(4)</m:t>
                          </m:r>
                        </m:sup>
                      </m:sSup>
                    </m:oMath>
                  </m:oMathPara>
                </a14:m>
                <a:endParaRPr lang="en-US" dirty="0">
                  <a:solidFill>
                    <a:schemeClr val="tx2"/>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7892958" y="1892459"/>
                <a:ext cx="847733" cy="47699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3808412" y="5711442"/>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(1)</m:t>
                          </m:r>
                        </m:sup>
                      </m:sSup>
                    </m:oMath>
                  </m:oMathPara>
                </a14:m>
                <a:endParaRPr lang="en-US" dirty="0">
                  <a:solidFill>
                    <a:schemeClr val="accent5">
                      <a:lumMod val="50000"/>
                    </a:schemeClr>
                  </a:solidFill>
                </a:endParaRPr>
              </a:p>
            </p:txBody>
          </p:sp>
        </mc:Choice>
        <mc:Fallback xmlns="">
          <p:sp>
            <p:nvSpPr>
              <p:cNvPr id="84" name="Rectangle 83"/>
              <p:cNvSpPr>
                <a:spLocks noRot="1" noChangeAspect="1" noMove="1" noResize="1" noEditPoints="1" noAdjustHandles="1" noChangeArrowheads="1" noChangeShapeType="1" noTextEdit="1"/>
              </p:cNvSpPr>
              <p:nvPr/>
            </p:nvSpPr>
            <p:spPr>
              <a:xfrm>
                <a:off x="3808412" y="5711442"/>
                <a:ext cx="979755" cy="47699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5445464" y="5711442"/>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(2)</m:t>
                          </m:r>
                        </m:sup>
                      </m:sSup>
                    </m:oMath>
                  </m:oMathPara>
                </a14:m>
                <a:endParaRPr lang="en-US" dirty="0">
                  <a:solidFill>
                    <a:schemeClr val="accent5">
                      <a:lumMod val="50000"/>
                    </a:schemeClr>
                  </a:solidFill>
                </a:endParaRPr>
              </a:p>
            </p:txBody>
          </p:sp>
        </mc:Choice>
        <mc:Fallback xmlns="">
          <p:sp>
            <p:nvSpPr>
              <p:cNvPr id="85" name="Rectangle 84"/>
              <p:cNvSpPr>
                <a:spLocks noRot="1" noChangeAspect="1" noMove="1" noResize="1" noEditPoints="1" noAdjustHandles="1" noChangeArrowheads="1" noChangeShapeType="1" noTextEdit="1"/>
              </p:cNvSpPr>
              <p:nvPr/>
            </p:nvSpPr>
            <p:spPr>
              <a:xfrm>
                <a:off x="5445464" y="5711442"/>
                <a:ext cx="979755" cy="47699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p:cNvSpPr/>
              <p:nvPr/>
            </p:nvSpPr>
            <p:spPr>
              <a:xfrm>
                <a:off x="7054758" y="5711442"/>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(3)</m:t>
                          </m:r>
                        </m:sup>
                      </m:sSup>
                    </m:oMath>
                  </m:oMathPara>
                </a14:m>
                <a:endParaRPr lang="en-US" dirty="0">
                  <a:solidFill>
                    <a:schemeClr val="accent5">
                      <a:lumMod val="50000"/>
                    </a:schemeClr>
                  </a:solidFill>
                </a:endParaRPr>
              </a:p>
            </p:txBody>
          </p:sp>
        </mc:Choice>
        <mc:Fallback xmlns="">
          <p:sp>
            <p:nvSpPr>
              <p:cNvPr id="86" name="Rectangle 85"/>
              <p:cNvSpPr>
                <a:spLocks noRot="1" noChangeAspect="1" noMove="1" noResize="1" noEditPoints="1" noAdjustHandles="1" noChangeArrowheads="1" noChangeShapeType="1" noTextEdit="1"/>
              </p:cNvSpPr>
              <p:nvPr/>
            </p:nvSpPr>
            <p:spPr>
              <a:xfrm>
                <a:off x="7054758" y="5711442"/>
                <a:ext cx="979755" cy="476990"/>
              </a:xfrm>
              <a:prstGeom prst="rect">
                <a:avLst/>
              </a:prstGeom>
              <a:blipFill rotWithShape="0">
                <a:blip r:embed="rId18"/>
                <a:stretch>
                  <a:fillRect/>
                </a:stretch>
              </a:blipFill>
            </p:spPr>
            <p:txBody>
              <a:bodyPr/>
              <a:lstStyle/>
              <a:p>
                <a:r>
                  <a:rPr lang="en-US">
                    <a:noFill/>
                  </a:rPr>
                  <a:t> </a:t>
                </a:r>
              </a:p>
            </p:txBody>
          </p:sp>
        </mc:Fallback>
      </mc:AlternateContent>
      <p:sp>
        <p:nvSpPr>
          <p:cNvPr id="87" name="Rounded Rectangle 86"/>
          <p:cNvSpPr/>
          <p:nvPr/>
        </p:nvSpPr>
        <p:spPr>
          <a:xfrm>
            <a:off x="9828212" y="2404022"/>
            <a:ext cx="990600" cy="3479610"/>
          </a:xfrm>
          <a:prstGeom prst="roundRect">
            <a:avLst/>
          </a:prstGeom>
          <a:solidFill>
            <a:srgbClr val="C00000"/>
          </a:solidFill>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3200" dirty="0" smtClean="0"/>
              <a:t>Cost</a:t>
            </a:r>
          </a:p>
          <a:p>
            <a:pPr algn="ctr"/>
            <a:r>
              <a:rPr lang="en-US" sz="3200" dirty="0" smtClean="0"/>
              <a:t>(J)</a:t>
            </a:r>
            <a:endParaRPr lang="en-US" sz="3200" dirty="0"/>
          </a:p>
        </p:txBody>
      </p:sp>
      <p:sp>
        <p:nvSpPr>
          <p:cNvPr id="4" name="TextBox 3"/>
          <p:cNvSpPr txBox="1"/>
          <p:nvPr/>
        </p:nvSpPr>
        <p:spPr>
          <a:xfrm>
            <a:off x="1446212" y="228600"/>
            <a:ext cx="10210800" cy="830997"/>
          </a:xfrm>
          <a:prstGeom prst="rect">
            <a:avLst/>
          </a:prstGeom>
          <a:noFill/>
        </p:spPr>
        <p:txBody>
          <a:bodyPr wrap="square" rtlCol="0">
            <a:spAutoFit/>
          </a:bodyPr>
          <a:lstStyle/>
          <a:p>
            <a:r>
              <a:rPr lang="en-US" sz="2400" dirty="0"/>
              <a:t>Visually, what we are doing is </a:t>
            </a:r>
            <a:r>
              <a:rPr lang="en-US" sz="2400" dirty="0" smtClean="0"/>
              <a:t>attributing error </a:t>
            </a:r>
            <a:r>
              <a:rPr lang="en-US" sz="2400" dirty="0"/>
              <a:t>to specific </a:t>
            </a:r>
            <a:r>
              <a:rPr lang="en-US" sz="2400" dirty="0" smtClean="0"/>
              <a:t>weights</a:t>
            </a:r>
            <a:endParaRPr lang="en-US" sz="2400" dirty="0"/>
          </a:p>
          <a:p>
            <a:endParaRPr lang="en-US" sz="2400" dirty="0"/>
          </a:p>
        </p:txBody>
      </p:sp>
    </p:spTree>
    <p:extLst>
      <p:ext uri="{BB962C8B-B14F-4D97-AF65-F5344CB8AC3E}">
        <p14:creationId xmlns:p14="http://schemas.microsoft.com/office/powerpoint/2010/main" val="9097310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Oval 4"/>
              <p:cNvSpPr/>
              <p:nvPr/>
            </p:nvSpPr>
            <p:spPr>
              <a:xfrm>
                <a:off x="3104577" y="2404022"/>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104577" y="2404022"/>
                <a:ext cx="925221" cy="925221"/>
              </a:xfrm>
              <a:prstGeom prst="ellipse">
                <a:avLst/>
              </a:prstGeom>
              <a:blipFill rotWithShape="0">
                <a:blip r:embed="rId3"/>
                <a:stretch>
                  <a:fillRect l="-64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104577" y="3602311"/>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4"/>
                <a:stretch>
                  <a:fillRect l="-454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104577" y="4800600"/>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104577" y="4800600"/>
                <a:ext cx="925221" cy="925221"/>
              </a:xfrm>
              <a:prstGeom prst="ellipse">
                <a:avLst/>
              </a:prstGeom>
              <a:blipFill rotWithShape="0">
                <a:blip r:embed="rId5"/>
                <a:stretch>
                  <a:fillRect l="-4545"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646612"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646612" y="5263211"/>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646612"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646612" y="4123816"/>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646612"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646612" y="2984424"/>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646612"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646612" y="1845032"/>
                <a:ext cx="925221" cy="925221"/>
              </a:xfrm>
              <a:prstGeom prst="ellipse">
                <a:avLst/>
              </a:prstGeom>
              <a:blipFill rotWithShape="0">
                <a:blip r:embed="rId8"/>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6188648"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6188648" y="5263211"/>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6188648"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6188648" y="4123816"/>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6188648"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6188648" y="2984424"/>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188648"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6188648" y="1845032"/>
                <a:ext cx="925221" cy="925221"/>
              </a:xfrm>
              <a:prstGeom prst="ellipse">
                <a:avLst/>
              </a:prstGeom>
              <a:blipFill rotWithShape="0">
                <a:blip r:embed="rId8"/>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7797942" y="2404022"/>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7797942" y="2404022"/>
                <a:ext cx="925221" cy="925221"/>
              </a:xfrm>
              <a:prstGeom prst="ellipse">
                <a:avLst/>
              </a:prstGeom>
              <a:blipFill rotWithShape="0">
                <a:blip r:embed="rId9"/>
                <a:stretch>
                  <a:fillRect t="-12338" r="-649" b="-266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7797942" y="3602311"/>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7797942" y="3602311"/>
                <a:ext cx="925221" cy="925221"/>
              </a:xfrm>
              <a:prstGeom prst="ellipse">
                <a:avLst/>
              </a:prstGeom>
              <a:blipFill rotWithShape="0">
                <a:blip r:embed="rId10"/>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7797942" y="4800600"/>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7797942" y="4800600"/>
                <a:ext cx="925221" cy="925221"/>
              </a:xfrm>
              <a:prstGeom prst="ellipse">
                <a:avLst/>
              </a:prstGeom>
              <a:blipFill rotWithShape="0">
                <a:blip r:embed="rId11"/>
                <a:stretch>
                  <a:fillRect t="-12418" b="-26797"/>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029798" y="2307643"/>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029798" y="2866633"/>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029798" y="2866633"/>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029798" y="2866633"/>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029798" y="2307643"/>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029798" y="3447035"/>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029798" y="4064922"/>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029798" y="4064922"/>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029798" y="2307643"/>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029798" y="3447035"/>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029798" y="4586427"/>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029798" y="5263211"/>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5571834" y="230764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5571834" y="344703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5571834" y="4586427"/>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5571834" y="4586427"/>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5436339" y="4586427"/>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5571834" y="572582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7113869" y="2307643"/>
            <a:ext cx="684073"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7113869" y="2307643"/>
            <a:ext cx="684073"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7113869" y="2307643"/>
            <a:ext cx="684073"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7113869" y="2866633"/>
            <a:ext cx="684073"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7113869" y="3447035"/>
            <a:ext cx="684073"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7113869" y="3447035"/>
            <a:ext cx="684073"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7113869" y="4586427"/>
            <a:ext cx="684073"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7113869" y="2866633"/>
            <a:ext cx="684073"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7113869" y="4064922"/>
            <a:ext cx="684073"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7113869" y="2866633"/>
            <a:ext cx="684073"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7113869" y="4064922"/>
            <a:ext cx="684073"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7113869" y="5263211"/>
            <a:ext cx="684073"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8723163"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8723163"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8723163"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2214980" y="2866633"/>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2214980" y="4064922"/>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2214980" y="5263211"/>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179068" y="189245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(1)</m:t>
                          </m:r>
                        </m:sup>
                      </m:sSup>
                    </m:oMath>
                  </m:oMathPara>
                </a14:m>
                <a:endParaRPr lang="en-US" dirty="0">
                  <a:solidFill>
                    <a:schemeClr val="tx2"/>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179068" y="1892459"/>
                <a:ext cx="847732" cy="47699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4762355" y="135047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(2)</m:t>
                          </m:r>
                        </m:sup>
                      </m:sSup>
                    </m:oMath>
                  </m:oMathPara>
                </a14:m>
                <a:endParaRPr lang="en-US" dirty="0">
                  <a:solidFill>
                    <a:schemeClr val="tx2"/>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4762355" y="1350479"/>
                <a:ext cx="847732" cy="47699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266137" y="135047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(3)</m:t>
                          </m:r>
                        </m:sup>
                      </m:sSup>
                    </m:oMath>
                  </m:oMathPara>
                </a14:m>
                <a:endParaRPr lang="en-US" dirty="0">
                  <a:solidFill>
                    <a:schemeClr val="tx2"/>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266137" y="1350479"/>
                <a:ext cx="847733" cy="47699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7892958" y="189245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(4)</m:t>
                          </m:r>
                        </m:sup>
                      </m:sSup>
                    </m:oMath>
                  </m:oMathPara>
                </a14:m>
                <a:endParaRPr lang="en-US" dirty="0">
                  <a:solidFill>
                    <a:schemeClr val="tx2"/>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7892958" y="1892459"/>
                <a:ext cx="847733" cy="47699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3808412"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(1)</m:t>
                          </m:r>
                        </m:sup>
                      </m:sSup>
                    </m:oMath>
                  </m:oMathPara>
                </a14:m>
                <a:endParaRPr lang="en-US" dirty="0">
                  <a:solidFill>
                    <a:schemeClr val="accent5">
                      <a:lumMod val="50000"/>
                    </a:schemeClr>
                  </a:solidFill>
                </a:endParaRPr>
              </a:p>
            </p:txBody>
          </p:sp>
        </mc:Choice>
        <mc:Fallback xmlns="">
          <p:sp>
            <p:nvSpPr>
              <p:cNvPr id="84" name="Rectangle 83"/>
              <p:cNvSpPr>
                <a:spLocks noRot="1" noChangeAspect="1" noMove="1" noResize="1" noEditPoints="1" noAdjustHandles="1" noChangeArrowheads="1" noChangeShapeType="1" noTextEdit="1"/>
              </p:cNvSpPr>
              <p:nvPr/>
            </p:nvSpPr>
            <p:spPr>
              <a:xfrm>
                <a:off x="3808412" y="6076210"/>
                <a:ext cx="979755" cy="47699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5445464"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(2)</m:t>
                          </m:r>
                        </m:sup>
                      </m:sSup>
                    </m:oMath>
                  </m:oMathPara>
                </a14:m>
                <a:endParaRPr lang="en-US" dirty="0">
                  <a:solidFill>
                    <a:schemeClr val="accent5">
                      <a:lumMod val="50000"/>
                    </a:schemeClr>
                  </a:solidFill>
                </a:endParaRPr>
              </a:p>
            </p:txBody>
          </p:sp>
        </mc:Choice>
        <mc:Fallback xmlns="">
          <p:sp>
            <p:nvSpPr>
              <p:cNvPr id="85" name="Rectangle 84"/>
              <p:cNvSpPr>
                <a:spLocks noRot="1" noChangeAspect="1" noMove="1" noResize="1" noEditPoints="1" noAdjustHandles="1" noChangeArrowheads="1" noChangeShapeType="1" noTextEdit="1"/>
              </p:cNvSpPr>
              <p:nvPr/>
            </p:nvSpPr>
            <p:spPr>
              <a:xfrm>
                <a:off x="5445464" y="6076210"/>
                <a:ext cx="979755" cy="47699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p:cNvSpPr/>
              <p:nvPr/>
            </p:nvSpPr>
            <p:spPr>
              <a:xfrm>
                <a:off x="7054758"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(3)</m:t>
                          </m:r>
                        </m:sup>
                      </m:sSup>
                    </m:oMath>
                  </m:oMathPara>
                </a14:m>
                <a:endParaRPr lang="en-US" dirty="0">
                  <a:solidFill>
                    <a:schemeClr val="accent5">
                      <a:lumMod val="50000"/>
                    </a:schemeClr>
                  </a:solidFill>
                </a:endParaRPr>
              </a:p>
            </p:txBody>
          </p:sp>
        </mc:Choice>
        <mc:Fallback xmlns="">
          <p:sp>
            <p:nvSpPr>
              <p:cNvPr id="86" name="Rectangle 85"/>
              <p:cNvSpPr>
                <a:spLocks noRot="1" noChangeAspect="1" noMove="1" noResize="1" noEditPoints="1" noAdjustHandles="1" noChangeArrowheads="1" noChangeShapeType="1" noTextEdit="1"/>
              </p:cNvSpPr>
              <p:nvPr/>
            </p:nvSpPr>
            <p:spPr>
              <a:xfrm>
                <a:off x="7054758" y="6076210"/>
                <a:ext cx="979755" cy="476990"/>
              </a:xfrm>
              <a:prstGeom prst="rect">
                <a:avLst/>
              </a:prstGeom>
              <a:blipFill rotWithShape="0">
                <a:blip r:embed="rId18"/>
                <a:stretch>
                  <a:fillRect/>
                </a:stretch>
              </a:blipFill>
            </p:spPr>
            <p:txBody>
              <a:bodyPr/>
              <a:lstStyle/>
              <a:p>
                <a:r>
                  <a:rPr lang="en-US">
                    <a:noFill/>
                  </a:rPr>
                  <a:t> </a:t>
                </a:r>
              </a:p>
            </p:txBody>
          </p:sp>
        </mc:Fallback>
      </mc:AlternateContent>
      <p:sp>
        <p:nvSpPr>
          <p:cNvPr id="87" name="Rounded Rectangle 86"/>
          <p:cNvSpPr/>
          <p:nvPr/>
        </p:nvSpPr>
        <p:spPr>
          <a:xfrm>
            <a:off x="9828212" y="2404022"/>
            <a:ext cx="990600" cy="3479610"/>
          </a:xfrm>
          <a:prstGeom prst="roundRect">
            <a:avLst/>
          </a:prstGeom>
          <a:solidFill>
            <a:srgbClr val="C00000"/>
          </a:solidFill>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3200" dirty="0" smtClean="0"/>
              <a:t>Cost</a:t>
            </a:r>
          </a:p>
          <a:p>
            <a:pPr algn="ctr"/>
            <a:r>
              <a:rPr lang="en-US" sz="3200" dirty="0" smtClean="0"/>
              <a:t>(J)</a:t>
            </a:r>
            <a:endParaRPr lang="en-US" sz="3200" dirty="0"/>
          </a:p>
        </p:txBody>
      </p:sp>
      <p:sp>
        <p:nvSpPr>
          <p:cNvPr id="4" name="TextBox 3"/>
          <p:cNvSpPr txBox="1"/>
          <p:nvPr/>
        </p:nvSpPr>
        <p:spPr>
          <a:xfrm>
            <a:off x="1446212" y="228600"/>
            <a:ext cx="10210800" cy="1077218"/>
          </a:xfrm>
          <a:prstGeom prst="rect">
            <a:avLst/>
          </a:prstGeom>
          <a:noFill/>
        </p:spPr>
        <p:txBody>
          <a:bodyPr wrap="square" rtlCol="0">
            <a:spAutoFit/>
          </a:bodyPr>
          <a:lstStyle/>
          <a:p>
            <a:r>
              <a:rPr lang="en-US" sz="3200" dirty="0" smtClean="0"/>
              <a:t>First, we pass data into the model to get a prediction.</a:t>
            </a:r>
            <a:endParaRPr lang="en-US" sz="3200" dirty="0"/>
          </a:p>
          <a:p>
            <a:endParaRPr lang="en-US" sz="3200" dirty="0"/>
          </a:p>
        </p:txBody>
      </p:sp>
      <p:cxnSp>
        <p:nvCxnSpPr>
          <p:cNvPr id="66" name="Straight Arrow Connector 65"/>
          <p:cNvCxnSpPr/>
          <p:nvPr/>
        </p:nvCxnSpPr>
        <p:spPr>
          <a:xfrm>
            <a:off x="2665412" y="1371600"/>
            <a:ext cx="694734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35134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Oval 4"/>
              <p:cNvSpPr/>
              <p:nvPr/>
            </p:nvSpPr>
            <p:spPr>
              <a:xfrm>
                <a:off x="3104577" y="2404022"/>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104577" y="2404022"/>
                <a:ext cx="925221" cy="925221"/>
              </a:xfrm>
              <a:prstGeom prst="ellipse">
                <a:avLst/>
              </a:prstGeom>
              <a:blipFill rotWithShape="0">
                <a:blip r:embed="rId3"/>
                <a:stretch>
                  <a:fillRect l="-64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104577" y="3602311"/>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6" name="Oval 5"/>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4"/>
                <a:stretch>
                  <a:fillRect l="-454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104577" y="4800600"/>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 name="Oval 6"/>
              <p:cNvSpPr>
                <a:spLocks noRot="1" noChangeAspect="1" noMove="1" noResize="1" noEditPoints="1" noAdjustHandles="1" noChangeArrowheads="1" noChangeShapeType="1" noTextEdit="1"/>
              </p:cNvSpPr>
              <p:nvPr/>
            </p:nvSpPr>
            <p:spPr>
              <a:xfrm>
                <a:off x="3104577" y="4800600"/>
                <a:ext cx="925221" cy="925221"/>
              </a:xfrm>
              <a:prstGeom prst="ellipse">
                <a:avLst/>
              </a:prstGeom>
              <a:blipFill rotWithShape="0">
                <a:blip r:embed="rId5"/>
                <a:stretch>
                  <a:fillRect l="-4545"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646612"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4646612" y="5263211"/>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646612"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9" name="Oval 8"/>
              <p:cNvSpPr>
                <a:spLocks noRot="1" noChangeAspect="1" noMove="1" noResize="1" noEditPoints="1" noAdjustHandles="1" noChangeArrowheads="1" noChangeShapeType="1" noTextEdit="1"/>
              </p:cNvSpPr>
              <p:nvPr/>
            </p:nvSpPr>
            <p:spPr>
              <a:xfrm>
                <a:off x="4646612" y="4123816"/>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646612"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0" name="Oval 9"/>
              <p:cNvSpPr>
                <a:spLocks noRot="1" noChangeAspect="1" noMove="1" noResize="1" noEditPoints="1" noAdjustHandles="1" noChangeArrowheads="1" noChangeShapeType="1" noTextEdit="1"/>
              </p:cNvSpPr>
              <p:nvPr/>
            </p:nvSpPr>
            <p:spPr>
              <a:xfrm>
                <a:off x="4646612" y="2984424"/>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646612"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1" name="Oval 10"/>
              <p:cNvSpPr>
                <a:spLocks noRot="1" noChangeAspect="1" noMove="1" noResize="1" noEditPoints="1" noAdjustHandles="1" noChangeArrowheads="1" noChangeShapeType="1" noTextEdit="1"/>
              </p:cNvSpPr>
              <p:nvPr/>
            </p:nvSpPr>
            <p:spPr>
              <a:xfrm>
                <a:off x="4646612" y="1845032"/>
                <a:ext cx="925221" cy="925221"/>
              </a:xfrm>
              <a:prstGeom prst="ellipse">
                <a:avLst/>
              </a:prstGeom>
              <a:blipFill rotWithShape="0">
                <a:blip r:embed="rId8"/>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6188648"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6188648" y="5263211"/>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6188648"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6188648" y="4123816"/>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6188648"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6188648" y="2984424"/>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188648"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6188648" y="1845032"/>
                <a:ext cx="925221" cy="925221"/>
              </a:xfrm>
              <a:prstGeom prst="ellipse">
                <a:avLst/>
              </a:prstGeom>
              <a:blipFill rotWithShape="0">
                <a:blip r:embed="rId8"/>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7797942" y="2404022"/>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7797942" y="2404022"/>
                <a:ext cx="925221" cy="925221"/>
              </a:xfrm>
              <a:prstGeom prst="ellipse">
                <a:avLst/>
              </a:prstGeom>
              <a:blipFill rotWithShape="0">
                <a:blip r:embed="rId9"/>
                <a:stretch>
                  <a:fillRect t="-12338" r="-649" b="-266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7797942" y="3602311"/>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7797942" y="3602311"/>
                <a:ext cx="925221" cy="925221"/>
              </a:xfrm>
              <a:prstGeom prst="ellipse">
                <a:avLst/>
              </a:prstGeom>
              <a:blipFill rotWithShape="0">
                <a:blip r:embed="rId10"/>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7797942" y="4800600"/>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7797942" y="4800600"/>
                <a:ext cx="925221" cy="925221"/>
              </a:xfrm>
              <a:prstGeom prst="ellipse">
                <a:avLst/>
              </a:prstGeom>
              <a:blipFill rotWithShape="0">
                <a:blip r:embed="rId11"/>
                <a:stretch>
                  <a:fillRect t="-12418" b="-26797"/>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029798" y="2307643"/>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029798" y="2866633"/>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029798" y="2866633"/>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029798" y="2866633"/>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029798" y="2307643"/>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029798" y="3447035"/>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029798" y="4064922"/>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029798" y="4064922"/>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029798" y="2307643"/>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029798" y="3447035"/>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029798" y="4586427"/>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029798" y="5263211"/>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5571834" y="230764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5571834" y="344703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5571834" y="4586427"/>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5571834" y="4586427"/>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5436339" y="4586427"/>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5571834" y="572582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7113869" y="2307643"/>
            <a:ext cx="684073"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7113869" y="2307643"/>
            <a:ext cx="684073"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7113869" y="2307643"/>
            <a:ext cx="684073"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7113869" y="2866633"/>
            <a:ext cx="684073"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7113869" y="3447035"/>
            <a:ext cx="684073"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7113869" y="3447035"/>
            <a:ext cx="684073"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7113869" y="4586427"/>
            <a:ext cx="684073"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7113869" y="2866633"/>
            <a:ext cx="684073"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7113869" y="4064922"/>
            <a:ext cx="684073"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7113869" y="2866633"/>
            <a:ext cx="684073"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7113869" y="4064922"/>
            <a:ext cx="684073"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7113869" y="5263211"/>
            <a:ext cx="684073"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8723163"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8723163"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8723163"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2214980" y="2866633"/>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2214980" y="4064922"/>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2214980" y="5263211"/>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179068" y="189245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(1)</m:t>
                          </m:r>
                        </m:sup>
                      </m:sSup>
                    </m:oMath>
                  </m:oMathPara>
                </a14:m>
                <a:endParaRPr lang="en-US" dirty="0">
                  <a:solidFill>
                    <a:schemeClr val="tx2"/>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179068" y="1892459"/>
                <a:ext cx="847732" cy="47699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4762355" y="135047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(2)</m:t>
                          </m:r>
                        </m:sup>
                      </m:sSup>
                    </m:oMath>
                  </m:oMathPara>
                </a14:m>
                <a:endParaRPr lang="en-US" dirty="0">
                  <a:solidFill>
                    <a:schemeClr val="tx2"/>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4762355" y="1350479"/>
                <a:ext cx="847732" cy="47699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266137" y="135047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(3)</m:t>
                          </m:r>
                        </m:sup>
                      </m:sSup>
                    </m:oMath>
                  </m:oMathPara>
                </a14:m>
                <a:endParaRPr lang="en-US" dirty="0">
                  <a:solidFill>
                    <a:schemeClr val="tx2"/>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266137" y="1350479"/>
                <a:ext cx="847733" cy="47699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7892958" y="189245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(4)</m:t>
                          </m:r>
                        </m:sup>
                      </m:sSup>
                    </m:oMath>
                  </m:oMathPara>
                </a14:m>
                <a:endParaRPr lang="en-US" dirty="0">
                  <a:solidFill>
                    <a:schemeClr val="tx2"/>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7892958" y="1892459"/>
                <a:ext cx="847733" cy="47699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3808412" y="60000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(1)</m:t>
                          </m:r>
                        </m:sup>
                      </m:sSup>
                    </m:oMath>
                  </m:oMathPara>
                </a14:m>
                <a:endParaRPr lang="en-US" dirty="0">
                  <a:solidFill>
                    <a:schemeClr val="accent5">
                      <a:lumMod val="50000"/>
                    </a:schemeClr>
                  </a:solidFill>
                </a:endParaRPr>
              </a:p>
            </p:txBody>
          </p:sp>
        </mc:Choice>
        <mc:Fallback xmlns="">
          <p:sp>
            <p:nvSpPr>
              <p:cNvPr id="84" name="Rectangle 83"/>
              <p:cNvSpPr>
                <a:spLocks noRot="1" noChangeAspect="1" noMove="1" noResize="1" noEditPoints="1" noAdjustHandles="1" noChangeArrowheads="1" noChangeShapeType="1" noTextEdit="1"/>
              </p:cNvSpPr>
              <p:nvPr/>
            </p:nvSpPr>
            <p:spPr>
              <a:xfrm>
                <a:off x="3808412" y="6000010"/>
                <a:ext cx="979755" cy="47699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5445464" y="60000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(2)</m:t>
                          </m:r>
                        </m:sup>
                      </m:sSup>
                    </m:oMath>
                  </m:oMathPara>
                </a14:m>
                <a:endParaRPr lang="en-US" dirty="0">
                  <a:solidFill>
                    <a:schemeClr val="accent5">
                      <a:lumMod val="50000"/>
                    </a:schemeClr>
                  </a:solidFill>
                </a:endParaRPr>
              </a:p>
            </p:txBody>
          </p:sp>
        </mc:Choice>
        <mc:Fallback xmlns="">
          <p:sp>
            <p:nvSpPr>
              <p:cNvPr id="85" name="Rectangle 84"/>
              <p:cNvSpPr>
                <a:spLocks noRot="1" noChangeAspect="1" noMove="1" noResize="1" noEditPoints="1" noAdjustHandles="1" noChangeArrowheads="1" noChangeShapeType="1" noTextEdit="1"/>
              </p:cNvSpPr>
              <p:nvPr/>
            </p:nvSpPr>
            <p:spPr>
              <a:xfrm>
                <a:off x="5445464" y="6000010"/>
                <a:ext cx="979755" cy="47699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p:cNvSpPr/>
              <p:nvPr/>
            </p:nvSpPr>
            <p:spPr>
              <a:xfrm>
                <a:off x="7054758" y="60000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(3)</m:t>
                          </m:r>
                        </m:sup>
                      </m:sSup>
                    </m:oMath>
                  </m:oMathPara>
                </a14:m>
                <a:endParaRPr lang="en-US" dirty="0">
                  <a:solidFill>
                    <a:schemeClr val="accent5">
                      <a:lumMod val="50000"/>
                    </a:schemeClr>
                  </a:solidFill>
                </a:endParaRPr>
              </a:p>
            </p:txBody>
          </p:sp>
        </mc:Choice>
        <mc:Fallback xmlns="">
          <p:sp>
            <p:nvSpPr>
              <p:cNvPr id="86" name="Rectangle 85"/>
              <p:cNvSpPr>
                <a:spLocks noRot="1" noChangeAspect="1" noMove="1" noResize="1" noEditPoints="1" noAdjustHandles="1" noChangeArrowheads="1" noChangeShapeType="1" noTextEdit="1"/>
              </p:cNvSpPr>
              <p:nvPr/>
            </p:nvSpPr>
            <p:spPr>
              <a:xfrm>
                <a:off x="7054758" y="6000010"/>
                <a:ext cx="979755" cy="476990"/>
              </a:xfrm>
              <a:prstGeom prst="rect">
                <a:avLst/>
              </a:prstGeom>
              <a:blipFill rotWithShape="0">
                <a:blip r:embed="rId18"/>
                <a:stretch>
                  <a:fillRect/>
                </a:stretch>
              </a:blipFill>
            </p:spPr>
            <p:txBody>
              <a:bodyPr/>
              <a:lstStyle/>
              <a:p>
                <a:r>
                  <a:rPr lang="en-US">
                    <a:noFill/>
                  </a:rPr>
                  <a:t> </a:t>
                </a:r>
              </a:p>
            </p:txBody>
          </p:sp>
        </mc:Fallback>
      </mc:AlternateContent>
      <p:sp>
        <p:nvSpPr>
          <p:cNvPr id="87" name="Rounded Rectangle 86"/>
          <p:cNvSpPr/>
          <p:nvPr/>
        </p:nvSpPr>
        <p:spPr>
          <a:xfrm>
            <a:off x="9828212" y="2404022"/>
            <a:ext cx="990600" cy="3479610"/>
          </a:xfrm>
          <a:prstGeom prst="roundRect">
            <a:avLst/>
          </a:prstGeom>
          <a:solidFill>
            <a:srgbClr val="C00000"/>
          </a:solidFill>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3200" dirty="0" smtClean="0"/>
              <a:t>Cost</a:t>
            </a:r>
          </a:p>
          <a:p>
            <a:pPr algn="ctr"/>
            <a:r>
              <a:rPr lang="en-US" sz="3200" dirty="0" smtClean="0"/>
              <a:t>(J)</a:t>
            </a:r>
            <a:endParaRPr lang="en-US" sz="3200" dirty="0"/>
          </a:p>
        </p:txBody>
      </p:sp>
      <p:sp>
        <p:nvSpPr>
          <p:cNvPr id="4" name="TextBox 3"/>
          <p:cNvSpPr txBox="1"/>
          <p:nvPr/>
        </p:nvSpPr>
        <p:spPr>
          <a:xfrm>
            <a:off x="1446212" y="228600"/>
            <a:ext cx="10210800" cy="584775"/>
          </a:xfrm>
          <a:prstGeom prst="rect">
            <a:avLst/>
          </a:prstGeom>
          <a:noFill/>
        </p:spPr>
        <p:txBody>
          <a:bodyPr wrap="square" rtlCol="0">
            <a:spAutoFit/>
          </a:bodyPr>
          <a:lstStyle/>
          <a:p>
            <a:r>
              <a:rPr lang="en-US" sz="3200" dirty="0" smtClean="0"/>
              <a:t>This is known as forward propagation, or forward-prop</a:t>
            </a:r>
            <a:endParaRPr lang="en-US" sz="3200" dirty="0"/>
          </a:p>
        </p:txBody>
      </p:sp>
      <p:cxnSp>
        <p:nvCxnSpPr>
          <p:cNvPr id="66" name="Straight Arrow Connector 65"/>
          <p:cNvCxnSpPr/>
          <p:nvPr/>
        </p:nvCxnSpPr>
        <p:spPr>
          <a:xfrm>
            <a:off x="2665412" y="1143000"/>
            <a:ext cx="694734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00803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3104577" y="2404022"/>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dirty="0">
              <a:solidFill>
                <a:schemeClr val="tx2"/>
              </a:solidFill>
            </a:endParaRPr>
          </a:p>
        </p:txBody>
      </p:sp>
      <p:sp>
        <p:nvSpPr>
          <p:cNvPr id="6" name="Oval 5"/>
          <p:cNvSpPr/>
          <p:nvPr/>
        </p:nvSpPr>
        <p:spPr>
          <a:xfrm>
            <a:off x="3104577" y="3602311"/>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dirty="0"/>
          </a:p>
        </p:txBody>
      </p:sp>
      <p:sp>
        <p:nvSpPr>
          <p:cNvPr id="7" name="Oval 6"/>
          <p:cNvSpPr/>
          <p:nvPr/>
        </p:nvSpPr>
        <p:spPr>
          <a:xfrm>
            <a:off x="3104577" y="4800600"/>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dirty="0"/>
          </a:p>
        </p:txBody>
      </p:sp>
      <p:sp>
        <p:nvSpPr>
          <p:cNvPr id="8" name="Oval 7"/>
          <p:cNvSpPr/>
          <p:nvPr/>
        </p:nvSpPr>
        <p:spPr>
          <a:xfrm>
            <a:off x="4646612" y="5263211"/>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9" name="Oval 8"/>
          <p:cNvSpPr/>
          <p:nvPr/>
        </p:nvSpPr>
        <p:spPr>
          <a:xfrm>
            <a:off x="4646612" y="4123816"/>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0" name="Oval 9"/>
          <p:cNvSpPr/>
          <p:nvPr/>
        </p:nvSpPr>
        <p:spPr>
          <a:xfrm>
            <a:off x="4646612" y="2984424"/>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1" name="Oval 10"/>
          <p:cNvSpPr/>
          <p:nvPr/>
        </p:nvSpPr>
        <p:spPr>
          <a:xfrm>
            <a:off x="4646612" y="1845032"/>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2" name="Oval 11"/>
          <p:cNvSpPr/>
          <p:nvPr/>
        </p:nvSpPr>
        <p:spPr>
          <a:xfrm>
            <a:off x="6188648" y="5263211"/>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3" name="Oval 12"/>
          <p:cNvSpPr/>
          <p:nvPr/>
        </p:nvSpPr>
        <p:spPr>
          <a:xfrm>
            <a:off x="6188648" y="4123816"/>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4" name="Oval 13"/>
          <p:cNvSpPr/>
          <p:nvPr/>
        </p:nvSpPr>
        <p:spPr>
          <a:xfrm>
            <a:off x="6188648" y="2984424"/>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5" name="Oval 14"/>
          <p:cNvSpPr/>
          <p:nvPr/>
        </p:nvSpPr>
        <p:spPr>
          <a:xfrm>
            <a:off x="6188648" y="1845032"/>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6" name="Oval 15"/>
          <p:cNvSpPr/>
          <p:nvPr/>
        </p:nvSpPr>
        <p:spPr>
          <a:xfrm>
            <a:off x="7797942" y="2404022"/>
            <a:ext cx="925221" cy="925221"/>
          </a:xfrm>
          <a:prstGeom prst="ellipse">
            <a:avLst/>
          </a:prstGeom>
          <a:solidFill>
            <a:schemeClr val="bg1">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dirty="0">
              <a:solidFill>
                <a:schemeClr val="tx2"/>
              </a:solidFill>
            </a:endParaRPr>
          </a:p>
        </p:txBody>
      </p:sp>
      <p:sp>
        <p:nvSpPr>
          <p:cNvPr id="17" name="Oval 16"/>
          <p:cNvSpPr/>
          <p:nvPr/>
        </p:nvSpPr>
        <p:spPr>
          <a:xfrm>
            <a:off x="7797942" y="3602311"/>
            <a:ext cx="925221" cy="925221"/>
          </a:xfrm>
          <a:prstGeom prst="ellipse">
            <a:avLst/>
          </a:prstGeom>
          <a:solidFill>
            <a:schemeClr val="bg1">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dirty="0">
              <a:solidFill>
                <a:schemeClr val="tx2"/>
              </a:solidFill>
            </a:endParaRPr>
          </a:p>
        </p:txBody>
      </p:sp>
      <p:sp>
        <p:nvSpPr>
          <p:cNvPr id="18" name="Oval 17"/>
          <p:cNvSpPr/>
          <p:nvPr/>
        </p:nvSpPr>
        <p:spPr>
          <a:xfrm>
            <a:off x="7797942" y="4800600"/>
            <a:ext cx="925221" cy="925221"/>
          </a:xfrm>
          <a:prstGeom prst="ellipse">
            <a:avLst/>
          </a:prstGeom>
          <a:solidFill>
            <a:schemeClr val="bg1">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dirty="0">
              <a:solidFill>
                <a:schemeClr val="tx2"/>
              </a:solidFill>
            </a:endParaRPr>
          </a:p>
        </p:txBody>
      </p:sp>
      <p:cxnSp>
        <p:nvCxnSpPr>
          <p:cNvPr id="19" name="Straight Arrow Connector 18"/>
          <p:cNvCxnSpPr>
            <a:stCxn id="6" idx="6"/>
            <a:endCxn id="12" idx="2"/>
          </p:cNvCxnSpPr>
          <p:nvPr/>
        </p:nvCxnSpPr>
        <p:spPr>
          <a:xfrm flipV="1">
            <a:off x="4029798" y="2307643"/>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029798" y="2866633"/>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029798" y="2866633"/>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029798" y="2866633"/>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029798" y="2307643"/>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029798" y="3447035"/>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029798" y="4064922"/>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029798" y="4064922"/>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029798" y="2307643"/>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029798" y="3447035"/>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029798" y="4586427"/>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029798" y="5263211"/>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5571834" y="230764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5571834" y="344703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5571834" y="4586427"/>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5571834" y="4586427"/>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5436339" y="4586427"/>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5571834" y="572582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7113869" y="2307643"/>
            <a:ext cx="684073"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7113869" y="2307643"/>
            <a:ext cx="684073"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7113869" y="2307643"/>
            <a:ext cx="684073"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7113869" y="2866633"/>
            <a:ext cx="684073"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7113869" y="3447035"/>
            <a:ext cx="684073"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7113869" y="3447035"/>
            <a:ext cx="684073"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7113869" y="4586427"/>
            <a:ext cx="684073"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7113869" y="2866633"/>
            <a:ext cx="684073"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7113869" y="4064922"/>
            <a:ext cx="684073"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7113869" y="2866633"/>
            <a:ext cx="684073"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7113869" y="4064922"/>
            <a:ext cx="684073"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7113869" y="5263211"/>
            <a:ext cx="684073"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8723163"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8723163"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8723163"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2214980"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2214980"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2214980"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179068" y="189245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(1)</m:t>
                          </m:r>
                        </m:sup>
                      </m:sSup>
                    </m:oMath>
                  </m:oMathPara>
                </a14:m>
                <a:endParaRPr lang="en-US" dirty="0">
                  <a:solidFill>
                    <a:schemeClr val="tx2"/>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179068" y="1892459"/>
                <a:ext cx="847732" cy="47699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4762355" y="135047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(2)</m:t>
                          </m:r>
                        </m:sup>
                      </m:sSup>
                    </m:oMath>
                  </m:oMathPara>
                </a14:m>
                <a:endParaRPr lang="en-US" dirty="0">
                  <a:solidFill>
                    <a:schemeClr val="tx2"/>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4762355" y="1350479"/>
                <a:ext cx="847732" cy="47699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266137" y="135047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(3)</m:t>
                          </m:r>
                        </m:sup>
                      </m:sSup>
                    </m:oMath>
                  </m:oMathPara>
                </a14:m>
                <a:endParaRPr lang="en-US" dirty="0">
                  <a:solidFill>
                    <a:schemeClr val="tx2"/>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266137" y="1350479"/>
                <a:ext cx="847733" cy="47699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7892958" y="189245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(4)</m:t>
                          </m:r>
                        </m:sup>
                      </m:sSup>
                    </m:oMath>
                  </m:oMathPara>
                </a14:m>
                <a:endParaRPr lang="en-US" dirty="0">
                  <a:solidFill>
                    <a:schemeClr val="tx2"/>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7892958" y="1892459"/>
                <a:ext cx="847733" cy="47699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3808412" y="60000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(1)</m:t>
                          </m:r>
                        </m:sup>
                      </m:sSup>
                    </m:oMath>
                  </m:oMathPara>
                </a14:m>
                <a:endParaRPr lang="en-US" dirty="0">
                  <a:solidFill>
                    <a:schemeClr val="accent5">
                      <a:lumMod val="50000"/>
                    </a:schemeClr>
                  </a:solidFill>
                </a:endParaRPr>
              </a:p>
            </p:txBody>
          </p:sp>
        </mc:Choice>
        <mc:Fallback xmlns="">
          <p:sp>
            <p:nvSpPr>
              <p:cNvPr id="84" name="Rectangle 83"/>
              <p:cNvSpPr>
                <a:spLocks noRot="1" noChangeAspect="1" noMove="1" noResize="1" noEditPoints="1" noAdjustHandles="1" noChangeArrowheads="1" noChangeShapeType="1" noTextEdit="1"/>
              </p:cNvSpPr>
              <p:nvPr/>
            </p:nvSpPr>
            <p:spPr>
              <a:xfrm>
                <a:off x="3808412" y="6000010"/>
                <a:ext cx="979755" cy="47699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5445464" y="60000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(2)</m:t>
                          </m:r>
                        </m:sup>
                      </m:sSup>
                    </m:oMath>
                  </m:oMathPara>
                </a14:m>
                <a:endParaRPr lang="en-US" dirty="0">
                  <a:solidFill>
                    <a:schemeClr val="accent5">
                      <a:lumMod val="50000"/>
                    </a:schemeClr>
                  </a:solidFill>
                </a:endParaRPr>
              </a:p>
            </p:txBody>
          </p:sp>
        </mc:Choice>
        <mc:Fallback xmlns="">
          <p:sp>
            <p:nvSpPr>
              <p:cNvPr id="85" name="Rectangle 84"/>
              <p:cNvSpPr>
                <a:spLocks noRot="1" noChangeAspect="1" noMove="1" noResize="1" noEditPoints="1" noAdjustHandles="1" noChangeArrowheads="1" noChangeShapeType="1" noTextEdit="1"/>
              </p:cNvSpPr>
              <p:nvPr/>
            </p:nvSpPr>
            <p:spPr>
              <a:xfrm>
                <a:off x="5445464" y="6000010"/>
                <a:ext cx="979755" cy="47699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p:cNvSpPr/>
              <p:nvPr/>
            </p:nvSpPr>
            <p:spPr>
              <a:xfrm>
                <a:off x="7054758" y="60000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(3)</m:t>
                          </m:r>
                        </m:sup>
                      </m:sSup>
                    </m:oMath>
                  </m:oMathPara>
                </a14:m>
                <a:endParaRPr lang="en-US" dirty="0">
                  <a:solidFill>
                    <a:schemeClr val="accent5">
                      <a:lumMod val="50000"/>
                    </a:schemeClr>
                  </a:solidFill>
                </a:endParaRPr>
              </a:p>
            </p:txBody>
          </p:sp>
        </mc:Choice>
        <mc:Fallback xmlns="">
          <p:sp>
            <p:nvSpPr>
              <p:cNvPr id="86" name="Rectangle 85"/>
              <p:cNvSpPr>
                <a:spLocks noRot="1" noChangeAspect="1" noMove="1" noResize="1" noEditPoints="1" noAdjustHandles="1" noChangeArrowheads="1" noChangeShapeType="1" noTextEdit="1"/>
              </p:cNvSpPr>
              <p:nvPr/>
            </p:nvSpPr>
            <p:spPr>
              <a:xfrm>
                <a:off x="7054758" y="6000010"/>
                <a:ext cx="979755" cy="476990"/>
              </a:xfrm>
              <a:prstGeom prst="rect">
                <a:avLst/>
              </a:prstGeom>
              <a:blipFill rotWithShape="0">
                <a:blip r:embed="rId9"/>
                <a:stretch>
                  <a:fillRect/>
                </a:stretch>
              </a:blipFill>
            </p:spPr>
            <p:txBody>
              <a:bodyPr/>
              <a:lstStyle/>
              <a:p>
                <a:r>
                  <a:rPr lang="en-US">
                    <a:noFill/>
                  </a:rPr>
                  <a:t> </a:t>
                </a:r>
              </a:p>
            </p:txBody>
          </p:sp>
        </mc:Fallback>
      </mc:AlternateContent>
      <p:sp>
        <p:nvSpPr>
          <p:cNvPr id="87" name="Rounded Rectangle 86"/>
          <p:cNvSpPr/>
          <p:nvPr/>
        </p:nvSpPr>
        <p:spPr>
          <a:xfrm>
            <a:off x="9828212" y="2404022"/>
            <a:ext cx="990600" cy="3479610"/>
          </a:xfrm>
          <a:prstGeom prst="roundRect">
            <a:avLst/>
          </a:prstGeom>
          <a:solidFill>
            <a:srgbClr val="C00000"/>
          </a:solidFill>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3200" dirty="0" smtClean="0"/>
              <a:t>Cost</a:t>
            </a:r>
          </a:p>
          <a:p>
            <a:pPr algn="ctr"/>
            <a:r>
              <a:rPr lang="en-US" sz="3200" dirty="0" smtClean="0"/>
              <a:t>(J)</a:t>
            </a:r>
            <a:endParaRPr lang="en-US" sz="3200" dirty="0"/>
          </a:p>
        </p:txBody>
      </p:sp>
      <p:sp>
        <p:nvSpPr>
          <p:cNvPr id="4" name="TextBox 3"/>
          <p:cNvSpPr txBox="1"/>
          <p:nvPr/>
        </p:nvSpPr>
        <p:spPr>
          <a:xfrm>
            <a:off x="1446212" y="228600"/>
            <a:ext cx="10210800" cy="584775"/>
          </a:xfrm>
          <a:prstGeom prst="rect">
            <a:avLst/>
          </a:prstGeom>
          <a:noFill/>
        </p:spPr>
        <p:txBody>
          <a:bodyPr wrap="square" rtlCol="0">
            <a:spAutoFit/>
          </a:bodyPr>
          <a:lstStyle/>
          <a:p>
            <a:r>
              <a:rPr lang="en-US" sz="3200" dirty="0" smtClean="0"/>
              <a:t>This leaves us with the cost function</a:t>
            </a:r>
            <a:endParaRPr lang="en-US" sz="3200" dirty="0"/>
          </a:p>
        </p:txBody>
      </p:sp>
    </p:spTree>
    <p:extLst>
      <p:ext uri="{BB962C8B-B14F-4D97-AF65-F5344CB8AC3E}">
        <p14:creationId xmlns:p14="http://schemas.microsoft.com/office/powerpoint/2010/main" val="1119766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3104577" y="2404022"/>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dirty="0">
              <a:solidFill>
                <a:schemeClr val="tx2"/>
              </a:solidFill>
            </a:endParaRPr>
          </a:p>
        </p:txBody>
      </p:sp>
      <p:sp>
        <p:nvSpPr>
          <p:cNvPr id="6" name="Oval 5"/>
          <p:cNvSpPr/>
          <p:nvPr/>
        </p:nvSpPr>
        <p:spPr>
          <a:xfrm>
            <a:off x="3104577" y="3602311"/>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dirty="0"/>
          </a:p>
        </p:txBody>
      </p:sp>
      <p:sp>
        <p:nvSpPr>
          <p:cNvPr id="7" name="Oval 6"/>
          <p:cNvSpPr/>
          <p:nvPr/>
        </p:nvSpPr>
        <p:spPr>
          <a:xfrm>
            <a:off x="3104577" y="4800600"/>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dirty="0"/>
          </a:p>
        </p:txBody>
      </p:sp>
      <p:sp>
        <p:nvSpPr>
          <p:cNvPr id="8" name="Oval 7"/>
          <p:cNvSpPr/>
          <p:nvPr/>
        </p:nvSpPr>
        <p:spPr>
          <a:xfrm>
            <a:off x="4646612" y="5263211"/>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9" name="Oval 8"/>
          <p:cNvSpPr/>
          <p:nvPr/>
        </p:nvSpPr>
        <p:spPr>
          <a:xfrm>
            <a:off x="4646612" y="4123816"/>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0" name="Oval 9"/>
          <p:cNvSpPr/>
          <p:nvPr/>
        </p:nvSpPr>
        <p:spPr>
          <a:xfrm>
            <a:off x="4646612" y="2984424"/>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1" name="Oval 10"/>
          <p:cNvSpPr/>
          <p:nvPr/>
        </p:nvSpPr>
        <p:spPr>
          <a:xfrm>
            <a:off x="4646612" y="1845032"/>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2" name="Oval 11"/>
          <p:cNvSpPr/>
          <p:nvPr/>
        </p:nvSpPr>
        <p:spPr>
          <a:xfrm>
            <a:off x="6188648" y="5263211"/>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3" name="Oval 12"/>
          <p:cNvSpPr/>
          <p:nvPr/>
        </p:nvSpPr>
        <p:spPr>
          <a:xfrm>
            <a:off x="6188648" y="4123816"/>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4" name="Oval 13"/>
          <p:cNvSpPr/>
          <p:nvPr/>
        </p:nvSpPr>
        <p:spPr>
          <a:xfrm>
            <a:off x="6188648" y="2984424"/>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sp>
        <p:nvSpPr>
          <p:cNvPr id="15" name="Oval 14"/>
          <p:cNvSpPr/>
          <p:nvPr/>
        </p:nvSpPr>
        <p:spPr>
          <a:xfrm>
            <a:off x="6188648" y="1845032"/>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sz="2400" dirty="0"/>
          </a:p>
        </p:txBody>
      </p:sp>
      <p:cxnSp>
        <p:nvCxnSpPr>
          <p:cNvPr id="19" name="Straight Arrow Connector 18"/>
          <p:cNvCxnSpPr>
            <a:stCxn id="6" idx="6"/>
            <a:endCxn id="12" idx="2"/>
          </p:cNvCxnSpPr>
          <p:nvPr/>
        </p:nvCxnSpPr>
        <p:spPr>
          <a:xfrm flipV="1">
            <a:off x="4029798" y="2307643"/>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029798" y="2866633"/>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029798" y="2866633"/>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029798" y="2866633"/>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029798" y="2307643"/>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029798" y="3447035"/>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029798" y="4064922"/>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029798" y="4064922"/>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029798" y="2307643"/>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029798" y="3447035"/>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029798" y="4586427"/>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029798" y="5263211"/>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p:cNvCxnSpPr>
          <p:nvPr/>
        </p:nvCxnSpPr>
        <p:spPr>
          <a:xfrm>
            <a:off x="5571834" y="230764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p:cNvCxnSpPr>
          <p:nvPr/>
        </p:nvCxnSpPr>
        <p:spPr>
          <a:xfrm flipV="1">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5571834" y="344703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p:cNvCxnSpPr>
          <p:nvPr/>
        </p:nvCxnSpPr>
        <p:spPr>
          <a:xfrm flipV="1">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5571834" y="4586427"/>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5571834" y="4586427"/>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p:cNvCxnSpPr>
          <p:nvPr/>
        </p:nvCxnSpPr>
        <p:spPr>
          <a:xfrm flipV="1">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5436339" y="4586427"/>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5571834" y="572582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endCxn id="21" idx="2"/>
          </p:cNvCxnSpPr>
          <p:nvPr/>
        </p:nvCxnSpPr>
        <p:spPr>
          <a:xfrm>
            <a:off x="7113869" y="2307643"/>
            <a:ext cx="684073"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endCxn id="22" idx="2"/>
          </p:cNvCxnSpPr>
          <p:nvPr/>
        </p:nvCxnSpPr>
        <p:spPr>
          <a:xfrm>
            <a:off x="7113869" y="2307643"/>
            <a:ext cx="684073"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endCxn id="23" idx="2"/>
          </p:cNvCxnSpPr>
          <p:nvPr/>
        </p:nvCxnSpPr>
        <p:spPr>
          <a:xfrm>
            <a:off x="7113869" y="2307643"/>
            <a:ext cx="684073"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7113869" y="2866633"/>
            <a:ext cx="684073"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7113869" y="3447035"/>
            <a:ext cx="684073"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7113869" y="3447035"/>
            <a:ext cx="684073"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7113869" y="4586427"/>
            <a:ext cx="684073"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7113869" y="2866633"/>
            <a:ext cx="684073"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7113869" y="4064922"/>
            <a:ext cx="684073"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7113869" y="2866633"/>
            <a:ext cx="684073"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7113869" y="4064922"/>
            <a:ext cx="684073"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7113869" y="5263211"/>
            <a:ext cx="684073"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8723163"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8723163"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8723163"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2214980"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2214980"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2214980"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179068" y="189245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(1)</m:t>
                          </m:r>
                        </m:sup>
                      </m:sSup>
                    </m:oMath>
                  </m:oMathPara>
                </a14:m>
                <a:endParaRPr lang="en-US" dirty="0">
                  <a:solidFill>
                    <a:schemeClr val="tx2"/>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179068" y="1892459"/>
                <a:ext cx="847732" cy="47699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4762355" y="135047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(2)</m:t>
                          </m:r>
                        </m:sup>
                      </m:sSup>
                    </m:oMath>
                  </m:oMathPara>
                </a14:m>
                <a:endParaRPr lang="en-US" dirty="0">
                  <a:solidFill>
                    <a:schemeClr val="tx2"/>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4762355" y="1350479"/>
                <a:ext cx="847732" cy="47699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266137" y="135047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(3)</m:t>
                          </m:r>
                        </m:sup>
                      </m:sSup>
                    </m:oMath>
                  </m:oMathPara>
                </a14:m>
                <a:endParaRPr lang="en-US" dirty="0">
                  <a:solidFill>
                    <a:schemeClr val="tx2"/>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266137" y="1350479"/>
                <a:ext cx="847733" cy="47699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7892958" y="189245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(4)</m:t>
                          </m:r>
                        </m:sup>
                      </m:sSup>
                    </m:oMath>
                  </m:oMathPara>
                </a14:m>
                <a:endParaRPr lang="en-US" dirty="0">
                  <a:solidFill>
                    <a:schemeClr val="tx2"/>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7892958" y="1892459"/>
                <a:ext cx="847733" cy="47699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3808412"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(1)</m:t>
                          </m:r>
                        </m:sup>
                      </m:sSup>
                    </m:oMath>
                  </m:oMathPara>
                </a14:m>
                <a:endParaRPr lang="en-US" dirty="0">
                  <a:solidFill>
                    <a:schemeClr val="accent5">
                      <a:lumMod val="50000"/>
                    </a:schemeClr>
                  </a:solidFill>
                </a:endParaRPr>
              </a:p>
            </p:txBody>
          </p:sp>
        </mc:Choice>
        <mc:Fallback xmlns="">
          <p:sp>
            <p:nvSpPr>
              <p:cNvPr id="84" name="Rectangle 83"/>
              <p:cNvSpPr>
                <a:spLocks noRot="1" noChangeAspect="1" noMove="1" noResize="1" noEditPoints="1" noAdjustHandles="1" noChangeArrowheads="1" noChangeShapeType="1" noTextEdit="1"/>
              </p:cNvSpPr>
              <p:nvPr/>
            </p:nvSpPr>
            <p:spPr>
              <a:xfrm>
                <a:off x="3808412" y="6076210"/>
                <a:ext cx="979755" cy="47699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5445464"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(2)</m:t>
                          </m:r>
                        </m:sup>
                      </m:sSup>
                    </m:oMath>
                  </m:oMathPara>
                </a14:m>
                <a:endParaRPr lang="en-US" dirty="0">
                  <a:solidFill>
                    <a:schemeClr val="accent5">
                      <a:lumMod val="50000"/>
                    </a:schemeClr>
                  </a:solidFill>
                </a:endParaRPr>
              </a:p>
            </p:txBody>
          </p:sp>
        </mc:Choice>
        <mc:Fallback xmlns="">
          <p:sp>
            <p:nvSpPr>
              <p:cNvPr id="85" name="Rectangle 84"/>
              <p:cNvSpPr>
                <a:spLocks noRot="1" noChangeAspect="1" noMove="1" noResize="1" noEditPoints="1" noAdjustHandles="1" noChangeArrowheads="1" noChangeShapeType="1" noTextEdit="1"/>
              </p:cNvSpPr>
              <p:nvPr/>
            </p:nvSpPr>
            <p:spPr>
              <a:xfrm>
                <a:off x="5445464" y="6076210"/>
                <a:ext cx="979755" cy="47699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p:cNvSpPr/>
              <p:nvPr/>
            </p:nvSpPr>
            <p:spPr>
              <a:xfrm>
                <a:off x="7054758"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(3)</m:t>
                          </m:r>
                        </m:sup>
                      </m:sSup>
                    </m:oMath>
                  </m:oMathPara>
                </a14:m>
                <a:endParaRPr lang="en-US" dirty="0">
                  <a:solidFill>
                    <a:schemeClr val="accent5">
                      <a:lumMod val="50000"/>
                    </a:schemeClr>
                  </a:solidFill>
                </a:endParaRPr>
              </a:p>
            </p:txBody>
          </p:sp>
        </mc:Choice>
        <mc:Fallback xmlns="">
          <p:sp>
            <p:nvSpPr>
              <p:cNvPr id="86" name="Rectangle 85"/>
              <p:cNvSpPr>
                <a:spLocks noRot="1" noChangeAspect="1" noMove="1" noResize="1" noEditPoints="1" noAdjustHandles="1" noChangeArrowheads="1" noChangeShapeType="1" noTextEdit="1"/>
              </p:cNvSpPr>
              <p:nvPr/>
            </p:nvSpPr>
            <p:spPr>
              <a:xfrm>
                <a:off x="7054758" y="6076210"/>
                <a:ext cx="979755" cy="476990"/>
              </a:xfrm>
              <a:prstGeom prst="rect">
                <a:avLst/>
              </a:prstGeom>
              <a:blipFill rotWithShape="0">
                <a:blip r:embed="rId9"/>
                <a:stretch>
                  <a:fillRect/>
                </a:stretch>
              </a:blipFill>
            </p:spPr>
            <p:txBody>
              <a:bodyPr/>
              <a:lstStyle/>
              <a:p>
                <a:r>
                  <a:rPr lang="en-US">
                    <a:noFill/>
                  </a:rPr>
                  <a:t> </a:t>
                </a:r>
              </a:p>
            </p:txBody>
          </p:sp>
        </mc:Fallback>
      </mc:AlternateContent>
      <p:sp>
        <p:nvSpPr>
          <p:cNvPr id="87" name="Rounded Rectangle 86"/>
          <p:cNvSpPr/>
          <p:nvPr/>
        </p:nvSpPr>
        <p:spPr>
          <a:xfrm>
            <a:off x="9828212" y="2404022"/>
            <a:ext cx="990600" cy="3479610"/>
          </a:xfrm>
          <a:prstGeom prst="roundRect">
            <a:avLst/>
          </a:prstGeom>
          <a:solidFill>
            <a:srgbClr val="C00000"/>
          </a:solidFill>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3200" dirty="0" smtClean="0"/>
              <a:t>Cost</a:t>
            </a:r>
          </a:p>
          <a:p>
            <a:pPr algn="ctr"/>
            <a:r>
              <a:rPr lang="en-US" sz="3200" dirty="0" smtClean="0"/>
              <a:t>(J)</a:t>
            </a:r>
            <a:endParaRPr lang="en-US" sz="3200" dirty="0"/>
          </a:p>
        </p:txBody>
      </p:sp>
      <p:sp>
        <p:nvSpPr>
          <p:cNvPr id="4" name="TextBox 3"/>
          <p:cNvSpPr txBox="1"/>
          <p:nvPr/>
        </p:nvSpPr>
        <p:spPr>
          <a:xfrm>
            <a:off x="1446212" y="228600"/>
            <a:ext cx="10210800" cy="1077218"/>
          </a:xfrm>
          <a:prstGeom prst="rect">
            <a:avLst/>
          </a:prstGeom>
          <a:noFill/>
        </p:spPr>
        <p:txBody>
          <a:bodyPr wrap="square" rtlCol="0">
            <a:spAutoFit/>
          </a:bodyPr>
          <a:lstStyle/>
          <a:p>
            <a:r>
              <a:rPr lang="en-US" sz="3200" dirty="0" smtClean="0"/>
              <a:t>Use the chain rule, work our way back, apply local derivatives at each layer</a:t>
            </a:r>
            <a:endParaRPr lang="en-US" sz="3200" dirty="0"/>
          </a:p>
        </p:txBody>
      </p:sp>
      <p:cxnSp>
        <p:nvCxnSpPr>
          <p:cNvPr id="71" name="Straight Arrow Connector 70"/>
          <p:cNvCxnSpPr/>
          <p:nvPr/>
        </p:nvCxnSpPr>
        <p:spPr>
          <a:xfrm flipH="1">
            <a:off x="8723163" y="1892459"/>
            <a:ext cx="91878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Oval 74"/>
              <p:cNvSpPr/>
              <p:nvPr/>
            </p:nvSpPr>
            <p:spPr>
              <a:xfrm>
                <a:off x="7797942" y="2404022"/>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75" name="Oval 74"/>
              <p:cNvSpPr>
                <a:spLocks noRot="1" noChangeAspect="1" noMove="1" noResize="1" noEditPoints="1" noAdjustHandles="1" noChangeArrowheads="1" noChangeShapeType="1" noTextEdit="1"/>
              </p:cNvSpPr>
              <p:nvPr/>
            </p:nvSpPr>
            <p:spPr>
              <a:xfrm>
                <a:off x="7797942" y="2404022"/>
                <a:ext cx="925221" cy="925221"/>
              </a:xfrm>
              <a:prstGeom prst="ellipse">
                <a:avLst/>
              </a:prstGeom>
              <a:blipFill rotWithShape="0">
                <a:blip r:embed="rId10"/>
                <a:stretch>
                  <a:fillRect t="-12338" r="-649" b="-266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Oval 75"/>
              <p:cNvSpPr/>
              <p:nvPr/>
            </p:nvSpPr>
            <p:spPr>
              <a:xfrm>
                <a:off x="7797942" y="3602311"/>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76" name="Oval 75"/>
              <p:cNvSpPr>
                <a:spLocks noRot="1" noChangeAspect="1" noMove="1" noResize="1" noEditPoints="1" noAdjustHandles="1" noChangeArrowheads="1" noChangeShapeType="1" noTextEdit="1"/>
              </p:cNvSpPr>
              <p:nvPr/>
            </p:nvSpPr>
            <p:spPr>
              <a:xfrm>
                <a:off x="7797942" y="3602311"/>
                <a:ext cx="925221" cy="925221"/>
              </a:xfrm>
              <a:prstGeom prst="ellipse">
                <a:avLst/>
              </a:prstGeom>
              <a:blipFill rotWithShape="0">
                <a:blip r:embed="rId11"/>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Oval 76"/>
              <p:cNvSpPr/>
              <p:nvPr/>
            </p:nvSpPr>
            <p:spPr>
              <a:xfrm>
                <a:off x="7797942" y="4800600"/>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77" name="Oval 76"/>
              <p:cNvSpPr>
                <a:spLocks noRot="1" noChangeAspect="1" noMove="1" noResize="1" noEditPoints="1" noAdjustHandles="1" noChangeArrowheads="1" noChangeShapeType="1" noTextEdit="1"/>
              </p:cNvSpPr>
              <p:nvPr/>
            </p:nvSpPr>
            <p:spPr>
              <a:xfrm>
                <a:off x="7797942" y="4800600"/>
                <a:ext cx="925221" cy="925221"/>
              </a:xfrm>
              <a:prstGeom prst="ellipse">
                <a:avLst/>
              </a:prstGeom>
              <a:blipFill rotWithShape="0">
                <a:blip r:embed="rId12"/>
                <a:stretch>
                  <a:fillRect t="-12418" b="-26797"/>
                </a:stretch>
              </a:blipFill>
            </p:spPr>
            <p:txBody>
              <a:bodyPr/>
              <a:lstStyle/>
              <a:p>
                <a:r>
                  <a:rPr lang="en-US">
                    <a:noFill/>
                  </a:rPr>
                  <a:t> </a:t>
                </a:r>
              </a:p>
            </p:txBody>
          </p:sp>
        </mc:Fallback>
      </mc:AlternateContent>
    </p:spTree>
    <p:extLst>
      <p:ext uri="{BB962C8B-B14F-4D97-AF65-F5344CB8AC3E}">
        <p14:creationId xmlns:p14="http://schemas.microsoft.com/office/powerpoint/2010/main" val="803809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Oval 4"/>
              <p:cNvSpPr/>
              <p:nvPr/>
            </p:nvSpPr>
            <p:spPr>
              <a:xfrm>
                <a:off x="3104577" y="2404022"/>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bg1">
                              <a:lumMod val="75000"/>
                            </a:schemeClr>
                          </a:solidFill>
                          <a:latin typeface="Cambria Math" charset="0"/>
                        </a:rPr>
                        <m:t>   </m:t>
                      </m:r>
                      <m:sSub>
                        <m:sSubPr>
                          <m:ctrlPr>
                            <a:rPr lang="en-US" sz="2400" b="0" i="1" smtClean="0">
                              <a:solidFill>
                                <a:schemeClr val="bg1">
                                  <a:lumMod val="75000"/>
                                </a:schemeClr>
                              </a:solidFill>
                              <a:latin typeface="Cambria Math" panose="02040503050406030204" pitchFamily="18" charset="0"/>
                            </a:rPr>
                          </m:ctrlPr>
                        </m:sSubPr>
                        <m:e>
                          <m:r>
                            <a:rPr lang="en-US" sz="2400" b="0" i="1" smtClean="0">
                              <a:solidFill>
                                <a:schemeClr val="bg1">
                                  <a:lumMod val="75000"/>
                                </a:schemeClr>
                              </a:solidFill>
                              <a:latin typeface="Cambria Math" charset="0"/>
                            </a:rPr>
                            <m:t>𝑥</m:t>
                          </m:r>
                        </m:e>
                        <m:sub>
                          <m:r>
                            <a:rPr lang="en-US" sz="2400" b="0" i="1" smtClean="0">
                              <a:solidFill>
                                <a:schemeClr val="bg1">
                                  <a:lumMod val="75000"/>
                                </a:schemeClr>
                              </a:solidFill>
                              <a:latin typeface="Cambria Math" charset="0"/>
                            </a:rPr>
                            <m:t>1</m:t>
                          </m:r>
                        </m:sub>
                      </m:sSub>
                    </m:oMath>
                  </m:oMathPara>
                </a14:m>
                <a:endParaRPr lang="en-US" sz="2400" dirty="0">
                  <a:solidFill>
                    <a:schemeClr val="bg1">
                      <a:lumMod val="75000"/>
                    </a:schemeClr>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104577" y="2404022"/>
                <a:ext cx="925221" cy="925221"/>
              </a:xfrm>
              <a:prstGeom prst="ellipse">
                <a:avLst/>
              </a:prstGeom>
              <a:blipFill rotWithShape="0">
                <a:blip r:embed="rId3"/>
                <a:stretch>
                  <a:fillRect l="-1316" t="-25000" b="-42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104577" y="3602311"/>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rPr>
                        <m:t> </m:t>
                      </m:r>
                      <m:sSub>
                        <m:sSubPr>
                          <m:ctrlPr>
                            <a:rPr lang="en-US" sz="2400" i="1">
                              <a:solidFill>
                                <a:schemeClr val="bg1">
                                  <a:lumMod val="75000"/>
                                </a:schemeClr>
                              </a:solidFill>
                              <a:latin typeface="Cambria Math" panose="02040503050406030204" pitchFamily="18" charset="0"/>
                            </a:rPr>
                          </m:ctrlPr>
                        </m:sSubPr>
                        <m:e>
                          <m:r>
                            <a:rPr lang="en-US" sz="2400" b="0" i="1" smtClean="0">
                              <a:solidFill>
                                <a:schemeClr val="bg1">
                                  <a:lumMod val="75000"/>
                                </a:schemeClr>
                              </a:solidFill>
                              <a:latin typeface="Cambria Math" charset="0"/>
                            </a:rPr>
                            <m:t>   </m:t>
                          </m:r>
                          <m:r>
                            <a:rPr lang="en-US" sz="2400" i="1">
                              <a:solidFill>
                                <a:schemeClr val="bg1">
                                  <a:lumMod val="75000"/>
                                </a:schemeClr>
                              </a:solidFill>
                              <a:latin typeface="Cambria Math" charset="0"/>
                            </a:rPr>
                            <m:t>𝑥</m:t>
                          </m:r>
                        </m:e>
                        <m:sub>
                          <m:r>
                            <a:rPr lang="en-US" sz="2400" b="0" i="1" smtClean="0">
                              <a:solidFill>
                                <a:schemeClr val="bg1">
                                  <a:lumMod val="75000"/>
                                </a:schemeClr>
                              </a:solidFill>
                              <a:latin typeface="Cambria Math" charset="0"/>
                            </a:rPr>
                            <m:t>2</m:t>
                          </m:r>
                        </m:sub>
                      </m:sSub>
                    </m:oMath>
                  </m:oMathPara>
                </a14:m>
                <a:endParaRPr lang="en-US" sz="2400" dirty="0">
                  <a:solidFill>
                    <a:schemeClr val="bg1">
                      <a:lumMod val="75000"/>
                    </a:schemeClr>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4"/>
                <a:stretch>
                  <a:fillRect l="-5263" t="-25000" b="-4144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104577" y="4800600"/>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rPr>
                        <m:t> </m:t>
                      </m:r>
                      <m:sSub>
                        <m:sSubPr>
                          <m:ctrlPr>
                            <a:rPr lang="en-US" sz="2400" i="1">
                              <a:solidFill>
                                <a:schemeClr val="bg1">
                                  <a:lumMod val="75000"/>
                                </a:schemeClr>
                              </a:solidFill>
                              <a:latin typeface="Cambria Math" panose="02040503050406030204" pitchFamily="18" charset="0"/>
                            </a:rPr>
                          </m:ctrlPr>
                        </m:sSubPr>
                        <m:e>
                          <m:r>
                            <a:rPr lang="en-US" sz="2400" b="0" i="1" smtClean="0">
                              <a:solidFill>
                                <a:schemeClr val="bg1">
                                  <a:lumMod val="75000"/>
                                </a:schemeClr>
                              </a:solidFill>
                              <a:latin typeface="Cambria Math" charset="0"/>
                            </a:rPr>
                            <m:t>   </m:t>
                          </m:r>
                          <m:r>
                            <a:rPr lang="en-US" sz="2400" i="1">
                              <a:solidFill>
                                <a:schemeClr val="bg1">
                                  <a:lumMod val="75000"/>
                                </a:schemeClr>
                              </a:solidFill>
                              <a:latin typeface="Cambria Math" charset="0"/>
                            </a:rPr>
                            <m:t>𝑥</m:t>
                          </m:r>
                        </m:e>
                        <m:sub>
                          <m:r>
                            <a:rPr lang="en-US" sz="2400" b="0" i="1" smtClean="0">
                              <a:solidFill>
                                <a:schemeClr val="bg1">
                                  <a:lumMod val="75000"/>
                                </a:schemeClr>
                              </a:solidFill>
                              <a:latin typeface="Cambria Math" charset="0"/>
                            </a:rPr>
                            <m:t>3</m:t>
                          </m:r>
                        </m:sub>
                      </m:sSub>
                    </m:oMath>
                  </m:oMathPara>
                </a14:m>
                <a:endParaRPr lang="en-US" sz="2400" dirty="0">
                  <a:solidFill>
                    <a:schemeClr val="bg1">
                      <a:lumMod val="75000"/>
                    </a:schemeClr>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3104577" y="4800600"/>
                <a:ext cx="925221" cy="925221"/>
              </a:xfrm>
              <a:prstGeom prst="ellipse">
                <a:avLst/>
              </a:prstGeom>
              <a:blipFill rotWithShape="0">
                <a:blip r:embed="rId5"/>
                <a:stretch>
                  <a:fillRect l="-5263" t="-25828" b="-4238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646612" y="5263211"/>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4646612" y="5263211"/>
                <a:ext cx="925221" cy="925221"/>
              </a:xfrm>
              <a:prstGeom prst="ellipse">
                <a:avLst/>
              </a:prstGeom>
              <a:blipFill rotWithShape="0">
                <a:blip r:embed="rId6"/>
                <a:stretch>
                  <a:fillRect t="-25000" b="-42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646612" y="4123816"/>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9" name="Oval 8"/>
              <p:cNvSpPr>
                <a:spLocks noRot="1" noChangeAspect="1" noMove="1" noResize="1" noEditPoints="1" noAdjustHandles="1" noChangeArrowheads="1" noChangeShapeType="1" noTextEdit="1"/>
              </p:cNvSpPr>
              <p:nvPr/>
            </p:nvSpPr>
            <p:spPr>
              <a:xfrm>
                <a:off x="4646612" y="4123816"/>
                <a:ext cx="925221" cy="925221"/>
              </a:xfrm>
              <a:prstGeom prst="ellipse">
                <a:avLst/>
              </a:prstGeom>
              <a:blipFill rotWithShape="0">
                <a:blip r:embed="rId6"/>
                <a:stretch>
                  <a:fillRect t="-25000" b="-42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646612" y="2984424"/>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646612" y="2984424"/>
                <a:ext cx="925221" cy="925221"/>
              </a:xfrm>
              <a:prstGeom prst="ellipse">
                <a:avLst/>
              </a:prstGeom>
              <a:blipFill rotWithShape="0">
                <a:blip r:embed="rId7"/>
                <a:stretch>
                  <a:fillRect t="-25828" b="-4238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646612" y="1845032"/>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4646612" y="1845032"/>
                <a:ext cx="925221" cy="925221"/>
              </a:xfrm>
              <a:prstGeom prst="ellipse">
                <a:avLst/>
              </a:prstGeom>
              <a:blipFill rotWithShape="0">
                <a:blip r:embed="rId8"/>
                <a:stretch>
                  <a:fillRect t="-25166" b="-4238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6188648" y="5263211"/>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12" name="Oval 11"/>
              <p:cNvSpPr>
                <a:spLocks noRot="1" noChangeAspect="1" noMove="1" noResize="1" noEditPoints="1" noAdjustHandles="1" noChangeArrowheads="1" noChangeShapeType="1" noTextEdit="1"/>
              </p:cNvSpPr>
              <p:nvPr/>
            </p:nvSpPr>
            <p:spPr>
              <a:xfrm>
                <a:off x="6188648" y="5263211"/>
                <a:ext cx="925221" cy="925221"/>
              </a:xfrm>
              <a:prstGeom prst="ellipse">
                <a:avLst/>
              </a:prstGeom>
              <a:blipFill rotWithShape="0">
                <a:blip r:embed="rId6"/>
                <a:stretch>
                  <a:fillRect t="-25000" b="-42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6188648" y="4123816"/>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13" name="Oval 12"/>
              <p:cNvSpPr>
                <a:spLocks noRot="1" noChangeAspect="1" noMove="1" noResize="1" noEditPoints="1" noAdjustHandles="1" noChangeArrowheads="1" noChangeShapeType="1" noTextEdit="1"/>
              </p:cNvSpPr>
              <p:nvPr/>
            </p:nvSpPr>
            <p:spPr>
              <a:xfrm>
                <a:off x="6188648" y="4123816"/>
                <a:ext cx="925221" cy="925221"/>
              </a:xfrm>
              <a:prstGeom prst="ellipse">
                <a:avLst/>
              </a:prstGeom>
              <a:blipFill rotWithShape="0">
                <a:blip r:embed="rId6"/>
                <a:stretch>
                  <a:fillRect t="-25000" b="-42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6188648" y="2984424"/>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14" name="Oval 13"/>
              <p:cNvSpPr>
                <a:spLocks noRot="1" noChangeAspect="1" noMove="1" noResize="1" noEditPoints="1" noAdjustHandles="1" noChangeArrowheads="1" noChangeShapeType="1" noTextEdit="1"/>
              </p:cNvSpPr>
              <p:nvPr/>
            </p:nvSpPr>
            <p:spPr>
              <a:xfrm>
                <a:off x="6188648" y="2984424"/>
                <a:ext cx="925221" cy="925221"/>
              </a:xfrm>
              <a:prstGeom prst="ellipse">
                <a:avLst/>
              </a:prstGeom>
              <a:blipFill rotWithShape="0">
                <a:blip r:embed="rId7"/>
                <a:stretch>
                  <a:fillRect t="-25828" b="-4238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188648" y="1845032"/>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15" name="Oval 14"/>
              <p:cNvSpPr>
                <a:spLocks noRot="1" noChangeAspect="1" noMove="1" noResize="1" noEditPoints="1" noAdjustHandles="1" noChangeArrowheads="1" noChangeShapeType="1" noTextEdit="1"/>
              </p:cNvSpPr>
              <p:nvPr/>
            </p:nvSpPr>
            <p:spPr>
              <a:xfrm>
                <a:off x="6188648" y="1845032"/>
                <a:ext cx="925221" cy="925221"/>
              </a:xfrm>
              <a:prstGeom prst="ellipse">
                <a:avLst/>
              </a:prstGeom>
              <a:blipFill rotWithShape="0">
                <a:blip r:embed="rId8"/>
                <a:stretch>
                  <a:fillRect t="-25166" b="-4238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7797942" y="2404022"/>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7797942" y="2404022"/>
                <a:ext cx="925221" cy="925221"/>
              </a:xfrm>
              <a:prstGeom prst="ellipse">
                <a:avLst/>
              </a:prstGeom>
              <a:blipFill rotWithShape="0">
                <a:blip r:embed="rId9"/>
                <a:stretch>
                  <a:fillRect t="-12338" r="-649" b="-266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7797942" y="3602311"/>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7797942" y="3602311"/>
                <a:ext cx="925221" cy="925221"/>
              </a:xfrm>
              <a:prstGeom prst="ellipse">
                <a:avLst/>
              </a:prstGeom>
              <a:blipFill rotWithShape="0">
                <a:blip r:embed="rId10"/>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7797942" y="4800600"/>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7797942" y="4800600"/>
                <a:ext cx="925221" cy="925221"/>
              </a:xfrm>
              <a:prstGeom prst="ellipse">
                <a:avLst/>
              </a:prstGeom>
              <a:blipFill rotWithShape="0">
                <a:blip r:embed="rId11"/>
                <a:stretch>
                  <a:fillRect t="-12418" b="-26797"/>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029798" y="2307643"/>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029798" y="2866633"/>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029798" y="2866633"/>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029798" y="2866633"/>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029798" y="2307643"/>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029798" y="3447035"/>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029798" y="4064922"/>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029798" y="4064922"/>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029798" y="2307643"/>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029798" y="3447035"/>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029798" y="4586427"/>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029798" y="5263211"/>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5571834" y="230764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5571834" y="344703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5571834" y="4586427"/>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5571834" y="4586427"/>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5436339" y="4586427"/>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5571834" y="572582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7113869" y="2307643"/>
            <a:ext cx="684073"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7113869" y="2307643"/>
            <a:ext cx="684073"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7113869" y="2307643"/>
            <a:ext cx="684073"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7113869" y="2866633"/>
            <a:ext cx="684073"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7113869" y="3447035"/>
            <a:ext cx="684073"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7113869" y="3447035"/>
            <a:ext cx="684073"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7113869" y="4586427"/>
            <a:ext cx="684073"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7113869" y="2866633"/>
            <a:ext cx="684073"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7113869" y="4064922"/>
            <a:ext cx="684073"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7113869" y="2866633"/>
            <a:ext cx="684073"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7113869" y="4064922"/>
            <a:ext cx="684073"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7113869" y="5263211"/>
            <a:ext cx="684073"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8723163"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8723163"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8723163"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2214980" y="2866633"/>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2214980" y="4064922"/>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2214980" y="5263211"/>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179068" y="189245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(1)</m:t>
                          </m:r>
                        </m:sup>
                      </m:sSup>
                    </m:oMath>
                  </m:oMathPara>
                </a14:m>
                <a:endParaRPr lang="en-US" dirty="0">
                  <a:solidFill>
                    <a:schemeClr val="tx2"/>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179068" y="1892459"/>
                <a:ext cx="847732" cy="47699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4762355" y="135047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(2)</m:t>
                          </m:r>
                        </m:sup>
                      </m:sSup>
                    </m:oMath>
                  </m:oMathPara>
                </a14:m>
                <a:endParaRPr lang="en-US" dirty="0">
                  <a:solidFill>
                    <a:schemeClr val="tx2"/>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4762355" y="1350479"/>
                <a:ext cx="847732" cy="47699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266137" y="135047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(3)</m:t>
                          </m:r>
                        </m:sup>
                      </m:sSup>
                    </m:oMath>
                  </m:oMathPara>
                </a14:m>
                <a:endParaRPr lang="en-US" dirty="0">
                  <a:solidFill>
                    <a:schemeClr val="tx2"/>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266137" y="1350479"/>
                <a:ext cx="847733" cy="47699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7892958" y="189245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(4)</m:t>
                          </m:r>
                        </m:sup>
                      </m:sSup>
                    </m:oMath>
                  </m:oMathPara>
                </a14:m>
                <a:endParaRPr lang="en-US" dirty="0">
                  <a:solidFill>
                    <a:schemeClr val="tx2"/>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7892958" y="1892459"/>
                <a:ext cx="847733" cy="47699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3808412"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(1)</m:t>
                          </m:r>
                        </m:sup>
                      </m:sSup>
                    </m:oMath>
                  </m:oMathPara>
                </a14:m>
                <a:endParaRPr lang="en-US" dirty="0">
                  <a:solidFill>
                    <a:schemeClr val="accent5">
                      <a:lumMod val="50000"/>
                    </a:schemeClr>
                  </a:solidFill>
                </a:endParaRPr>
              </a:p>
            </p:txBody>
          </p:sp>
        </mc:Choice>
        <mc:Fallback xmlns="">
          <p:sp>
            <p:nvSpPr>
              <p:cNvPr id="84" name="Rectangle 83"/>
              <p:cNvSpPr>
                <a:spLocks noRot="1" noChangeAspect="1" noMove="1" noResize="1" noEditPoints="1" noAdjustHandles="1" noChangeArrowheads="1" noChangeShapeType="1" noTextEdit="1"/>
              </p:cNvSpPr>
              <p:nvPr/>
            </p:nvSpPr>
            <p:spPr>
              <a:xfrm>
                <a:off x="3808412" y="6076210"/>
                <a:ext cx="979755" cy="47699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5445464"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(2)</m:t>
                          </m:r>
                        </m:sup>
                      </m:sSup>
                    </m:oMath>
                  </m:oMathPara>
                </a14:m>
                <a:endParaRPr lang="en-US" dirty="0">
                  <a:solidFill>
                    <a:schemeClr val="accent5">
                      <a:lumMod val="50000"/>
                    </a:schemeClr>
                  </a:solidFill>
                </a:endParaRPr>
              </a:p>
            </p:txBody>
          </p:sp>
        </mc:Choice>
        <mc:Fallback xmlns="">
          <p:sp>
            <p:nvSpPr>
              <p:cNvPr id="85" name="Rectangle 84"/>
              <p:cNvSpPr>
                <a:spLocks noRot="1" noChangeAspect="1" noMove="1" noResize="1" noEditPoints="1" noAdjustHandles="1" noChangeArrowheads="1" noChangeShapeType="1" noTextEdit="1"/>
              </p:cNvSpPr>
              <p:nvPr/>
            </p:nvSpPr>
            <p:spPr>
              <a:xfrm>
                <a:off x="5445464" y="6076210"/>
                <a:ext cx="979755" cy="47699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p:cNvSpPr/>
              <p:nvPr/>
            </p:nvSpPr>
            <p:spPr>
              <a:xfrm>
                <a:off x="7054758"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charset="0"/>
                            </a:rPr>
                            <m:t>𝑊</m:t>
                          </m:r>
                        </m:e>
                        <m:sup>
                          <m:r>
                            <a:rPr lang="en-US" sz="2400" b="0" i="1" smtClean="0">
                              <a:solidFill>
                                <a:srgbClr val="FF0000"/>
                              </a:solidFill>
                              <a:latin typeface="Cambria Math" charset="0"/>
                            </a:rPr>
                            <m:t>(3)</m:t>
                          </m:r>
                        </m:sup>
                      </m:sSup>
                    </m:oMath>
                  </m:oMathPara>
                </a14:m>
                <a:endParaRPr lang="en-US" dirty="0">
                  <a:solidFill>
                    <a:srgbClr val="FF0000"/>
                  </a:solidFill>
                </a:endParaRPr>
              </a:p>
            </p:txBody>
          </p:sp>
        </mc:Choice>
        <mc:Fallback xmlns="">
          <p:sp>
            <p:nvSpPr>
              <p:cNvPr id="86" name="Rectangle 85"/>
              <p:cNvSpPr>
                <a:spLocks noRot="1" noChangeAspect="1" noMove="1" noResize="1" noEditPoints="1" noAdjustHandles="1" noChangeArrowheads="1" noChangeShapeType="1" noTextEdit="1"/>
              </p:cNvSpPr>
              <p:nvPr/>
            </p:nvSpPr>
            <p:spPr>
              <a:xfrm>
                <a:off x="7054758" y="6076210"/>
                <a:ext cx="979755" cy="476990"/>
              </a:xfrm>
              <a:prstGeom prst="rect">
                <a:avLst/>
              </a:prstGeom>
              <a:blipFill rotWithShape="0">
                <a:blip r:embed="rId16"/>
                <a:stretch>
                  <a:fillRect/>
                </a:stretch>
              </a:blipFill>
            </p:spPr>
            <p:txBody>
              <a:bodyPr/>
              <a:lstStyle/>
              <a:p>
                <a:r>
                  <a:rPr lang="en-US">
                    <a:noFill/>
                  </a:rPr>
                  <a:t> </a:t>
                </a:r>
              </a:p>
            </p:txBody>
          </p:sp>
        </mc:Fallback>
      </mc:AlternateContent>
      <p:sp>
        <p:nvSpPr>
          <p:cNvPr id="87" name="Rounded Rectangle 86"/>
          <p:cNvSpPr/>
          <p:nvPr/>
        </p:nvSpPr>
        <p:spPr>
          <a:xfrm>
            <a:off x="9828212" y="2404022"/>
            <a:ext cx="990600" cy="3479610"/>
          </a:xfrm>
          <a:prstGeom prst="roundRect">
            <a:avLst/>
          </a:prstGeom>
          <a:solidFill>
            <a:srgbClr val="C00000"/>
          </a:solidFill>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3200" dirty="0" smtClean="0"/>
              <a:t>Cost</a:t>
            </a:r>
          </a:p>
          <a:p>
            <a:pPr algn="ctr"/>
            <a:r>
              <a:rPr lang="en-US" sz="3200" dirty="0" smtClean="0"/>
              <a:t>(J)</a:t>
            </a:r>
            <a:endParaRPr lang="en-US" sz="3200" dirty="0"/>
          </a:p>
        </p:txBody>
      </p:sp>
      <mc:AlternateContent xmlns:mc="http://schemas.openxmlformats.org/markup-compatibility/2006" xmlns:a14="http://schemas.microsoft.com/office/drawing/2010/main">
        <mc:Choice Requires="a14">
          <p:sp>
            <p:nvSpPr>
              <p:cNvPr id="78" name="TextBox 77"/>
              <p:cNvSpPr txBox="1"/>
              <p:nvPr/>
            </p:nvSpPr>
            <p:spPr>
              <a:xfrm>
                <a:off x="1446212" y="228600"/>
                <a:ext cx="10210800" cy="605294"/>
              </a:xfrm>
              <a:prstGeom prst="rect">
                <a:avLst/>
              </a:prstGeom>
              <a:noFill/>
            </p:spPr>
            <p:txBody>
              <a:bodyPr wrap="square" rtlCol="0">
                <a:spAutoFit/>
              </a:bodyPr>
              <a:lstStyle/>
              <a:p>
                <a:r>
                  <a:rPr lang="en-US" sz="3200" dirty="0" smtClean="0"/>
                  <a:t>At this point we can take the derivative </a:t>
                </a:r>
                <a:r>
                  <a:rPr lang="en-US" sz="3200" dirty="0" err="1" smtClean="0"/>
                  <a:t>w.r.t</a:t>
                </a:r>
                <a:r>
                  <a:rPr lang="en-US" sz="3200" dirty="0" smtClean="0"/>
                  <a:t> </a:t>
                </a:r>
                <a14:m>
                  <m:oMath xmlns:m="http://schemas.openxmlformats.org/officeDocument/2006/math">
                    <m:sSup>
                      <m:sSupPr>
                        <m:ctrlPr>
                          <a:rPr lang="en-US" sz="3200" i="1" smtClean="0">
                            <a:solidFill>
                              <a:schemeClr val="tx1"/>
                            </a:solidFill>
                            <a:latin typeface="Cambria Math" panose="02040503050406030204" pitchFamily="18" charset="0"/>
                          </a:rPr>
                        </m:ctrlPr>
                      </m:sSupPr>
                      <m:e>
                        <m:r>
                          <a:rPr lang="en-US" sz="3200" i="1">
                            <a:solidFill>
                              <a:schemeClr val="tx1"/>
                            </a:solidFill>
                            <a:latin typeface="Cambria Math" charset="0"/>
                          </a:rPr>
                          <m:t>𝑊</m:t>
                        </m:r>
                      </m:e>
                      <m:sup>
                        <m:r>
                          <a:rPr lang="en-US" sz="3200" i="1">
                            <a:solidFill>
                              <a:schemeClr val="tx1"/>
                            </a:solidFill>
                            <a:latin typeface="Cambria Math" charset="0"/>
                          </a:rPr>
                          <m:t>(3)</m:t>
                        </m:r>
                      </m:sup>
                    </m:sSup>
                  </m:oMath>
                </a14:m>
                <a:endParaRPr lang="en-US" sz="3200" dirty="0">
                  <a:solidFill>
                    <a:schemeClr val="tx1"/>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1446212" y="228600"/>
                <a:ext cx="10210800" cy="605294"/>
              </a:xfrm>
              <a:prstGeom prst="rect">
                <a:avLst/>
              </a:prstGeom>
              <a:blipFill rotWithShape="0">
                <a:blip r:embed="rId19"/>
                <a:stretch>
                  <a:fillRect l="-1493" t="-10101" b="-31313"/>
                </a:stretch>
              </a:blipFill>
            </p:spPr>
            <p:txBody>
              <a:bodyPr/>
              <a:lstStyle/>
              <a:p>
                <a:r>
                  <a:rPr lang="en-US">
                    <a:noFill/>
                  </a:rPr>
                  <a:t> </a:t>
                </a:r>
              </a:p>
            </p:txBody>
          </p:sp>
        </mc:Fallback>
      </mc:AlternateContent>
      <p:cxnSp>
        <p:nvCxnSpPr>
          <p:cNvPr id="81" name="Straight Arrow Connector 80"/>
          <p:cNvCxnSpPr/>
          <p:nvPr/>
        </p:nvCxnSpPr>
        <p:spPr>
          <a:xfrm flipH="1">
            <a:off x="8034513" y="1350479"/>
            <a:ext cx="1607431"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65609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Oval 4"/>
              <p:cNvSpPr/>
              <p:nvPr/>
            </p:nvSpPr>
            <p:spPr>
              <a:xfrm>
                <a:off x="3104577" y="2404022"/>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bg1">
                              <a:lumMod val="75000"/>
                            </a:schemeClr>
                          </a:solidFill>
                          <a:latin typeface="Cambria Math" charset="0"/>
                        </a:rPr>
                        <m:t>   </m:t>
                      </m:r>
                      <m:sSub>
                        <m:sSubPr>
                          <m:ctrlPr>
                            <a:rPr lang="en-US" sz="2400" b="0" i="1" smtClean="0">
                              <a:solidFill>
                                <a:schemeClr val="bg1">
                                  <a:lumMod val="75000"/>
                                </a:schemeClr>
                              </a:solidFill>
                              <a:latin typeface="Cambria Math" panose="02040503050406030204" pitchFamily="18" charset="0"/>
                            </a:rPr>
                          </m:ctrlPr>
                        </m:sSubPr>
                        <m:e>
                          <m:r>
                            <a:rPr lang="en-US" sz="2400" b="0" i="1" smtClean="0">
                              <a:solidFill>
                                <a:schemeClr val="bg1">
                                  <a:lumMod val="75000"/>
                                </a:schemeClr>
                              </a:solidFill>
                              <a:latin typeface="Cambria Math" charset="0"/>
                            </a:rPr>
                            <m:t>𝑥</m:t>
                          </m:r>
                        </m:e>
                        <m:sub>
                          <m:r>
                            <a:rPr lang="en-US" sz="2400" b="0" i="1" smtClean="0">
                              <a:solidFill>
                                <a:schemeClr val="bg1">
                                  <a:lumMod val="75000"/>
                                </a:schemeClr>
                              </a:solidFill>
                              <a:latin typeface="Cambria Math" charset="0"/>
                            </a:rPr>
                            <m:t>1</m:t>
                          </m:r>
                        </m:sub>
                      </m:sSub>
                    </m:oMath>
                  </m:oMathPara>
                </a14:m>
                <a:endParaRPr lang="en-US" sz="2400" dirty="0">
                  <a:solidFill>
                    <a:schemeClr val="bg1">
                      <a:lumMod val="75000"/>
                    </a:schemeClr>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104577" y="2404022"/>
                <a:ext cx="925221" cy="925221"/>
              </a:xfrm>
              <a:prstGeom prst="ellipse">
                <a:avLst/>
              </a:prstGeom>
              <a:blipFill rotWithShape="0">
                <a:blip r:embed="rId3"/>
                <a:stretch>
                  <a:fillRect l="-1316" t="-25000" b="-42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104577" y="3602311"/>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rPr>
                        <m:t> </m:t>
                      </m:r>
                      <m:sSub>
                        <m:sSubPr>
                          <m:ctrlPr>
                            <a:rPr lang="en-US" sz="2400" i="1">
                              <a:solidFill>
                                <a:schemeClr val="bg1">
                                  <a:lumMod val="75000"/>
                                </a:schemeClr>
                              </a:solidFill>
                              <a:latin typeface="Cambria Math" panose="02040503050406030204" pitchFamily="18" charset="0"/>
                            </a:rPr>
                          </m:ctrlPr>
                        </m:sSubPr>
                        <m:e>
                          <m:r>
                            <a:rPr lang="en-US" sz="2400" b="0" i="1" smtClean="0">
                              <a:solidFill>
                                <a:schemeClr val="bg1">
                                  <a:lumMod val="75000"/>
                                </a:schemeClr>
                              </a:solidFill>
                              <a:latin typeface="Cambria Math" charset="0"/>
                            </a:rPr>
                            <m:t>   </m:t>
                          </m:r>
                          <m:r>
                            <a:rPr lang="en-US" sz="2400" i="1">
                              <a:solidFill>
                                <a:schemeClr val="bg1">
                                  <a:lumMod val="75000"/>
                                </a:schemeClr>
                              </a:solidFill>
                              <a:latin typeface="Cambria Math" charset="0"/>
                            </a:rPr>
                            <m:t>𝑥</m:t>
                          </m:r>
                        </m:e>
                        <m:sub>
                          <m:r>
                            <a:rPr lang="en-US" sz="2400" b="0" i="1" smtClean="0">
                              <a:solidFill>
                                <a:schemeClr val="bg1">
                                  <a:lumMod val="75000"/>
                                </a:schemeClr>
                              </a:solidFill>
                              <a:latin typeface="Cambria Math" charset="0"/>
                            </a:rPr>
                            <m:t>2</m:t>
                          </m:r>
                        </m:sub>
                      </m:sSub>
                    </m:oMath>
                  </m:oMathPara>
                </a14:m>
                <a:endParaRPr lang="en-US" sz="2400" dirty="0">
                  <a:solidFill>
                    <a:schemeClr val="bg1">
                      <a:lumMod val="75000"/>
                    </a:schemeClr>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4"/>
                <a:stretch>
                  <a:fillRect l="-5263" t="-25000" b="-4144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104577" y="4800600"/>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rPr>
                        <m:t> </m:t>
                      </m:r>
                      <m:sSub>
                        <m:sSubPr>
                          <m:ctrlPr>
                            <a:rPr lang="en-US" sz="2400" i="1">
                              <a:solidFill>
                                <a:schemeClr val="bg1">
                                  <a:lumMod val="75000"/>
                                </a:schemeClr>
                              </a:solidFill>
                              <a:latin typeface="Cambria Math" panose="02040503050406030204" pitchFamily="18" charset="0"/>
                            </a:rPr>
                          </m:ctrlPr>
                        </m:sSubPr>
                        <m:e>
                          <m:r>
                            <a:rPr lang="en-US" sz="2400" b="0" i="1" smtClean="0">
                              <a:solidFill>
                                <a:schemeClr val="bg1">
                                  <a:lumMod val="75000"/>
                                </a:schemeClr>
                              </a:solidFill>
                              <a:latin typeface="Cambria Math" charset="0"/>
                            </a:rPr>
                            <m:t>   </m:t>
                          </m:r>
                          <m:r>
                            <a:rPr lang="en-US" sz="2400" i="1">
                              <a:solidFill>
                                <a:schemeClr val="bg1">
                                  <a:lumMod val="75000"/>
                                </a:schemeClr>
                              </a:solidFill>
                              <a:latin typeface="Cambria Math" charset="0"/>
                            </a:rPr>
                            <m:t>𝑥</m:t>
                          </m:r>
                        </m:e>
                        <m:sub>
                          <m:r>
                            <a:rPr lang="en-US" sz="2400" b="0" i="1" smtClean="0">
                              <a:solidFill>
                                <a:schemeClr val="bg1">
                                  <a:lumMod val="75000"/>
                                </a:schemeClr>
                              </a:solidFill>
                              <a:latin typeface="Cambria Math" charset="0"/>
                            </a:rPr>
                            <m:t>3</m:t>
                          </m:r>
                        </m:sub>
                      </m:sSub>
                    </m:oMath>
                  </m:oMathPara>
                </a14:m>
                <a:endParaRPr lang="en-US" sz="2400" dirty="0">
                  <a:solidFill>
                    <a:schemeClr val="bg1">
                      <a:lumMod val="75000"/>
                    </a:schemeClr>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3104577" y="4800600"/>
                <a:ext cx="925221" cy="925221"/>
              </a:xfrm>
              <a:prstGeom prst="ellipse">
                <a:avLst/>
              </a:prstGeom>
              <a:blipFill rotWithShape="0">
                <a:blip r:embed="rId5"/>
                <a:stretch>
                  <a:fillRect l="-5263" t="-25828" b="-4238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646612" y="5263211"/>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4646612" y="5263211"/>
                <a:ext cx="925221" cy="925221"/>
              </a:xfrm>
              <a:prstGeom prst="ellipse">
                <a:avLst/>
              </a:prstGeom>
              <a:blipFill rotWithShape="0">
                <a:blip r:embed="rId6"/>
                <a:stretch>
                  <a:fillRect t="-25000" b="-42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4646612" y="4123816"/>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9" name="Oval 8"/>
              <p:cNvSpPr>
                <a:spLocks noRot="1" noChangeAspect="1" noMove="1" noResize="1" noEditPoints="1" noAdjustHandles="1" noChangeArrowheads="1" noChangeShapeType="1" noTextEdit="1"/>
              </p:cNvSpPr>
              <p:nvPr/>
            </p:nvSpPr>
            <p:spPr>
              <a:xfrm>
                <a:off x="4646612" y="4123816"/>
                <a:ext cx="925221" cy="925221"/>
              </a:xfrm>
              <a:prstGeom prst="ellipse">
                <a:avLst/>
              </a:prstGeom>
              <a:blipFill rotWithShape="0">
                <a:blip r:embed="rId6"/>
                <a:stretch>
                  <a:fillRect t="-25000" b="-42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646612" y="2984424"/>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646612" y="2984424"/>
                <a:ext cx="925221" cy="925221"/>
              </a:xfrm>
              <a:prstGeom prst="ellipse">
                <a:avLst/>
              </a:prstGeom>
              <a:blipFill rotWithShape="0">
                <a:blip r:embed="rId7"/>
                <a:stretch>
                  <a:fillRect t="-25828" b="-4238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4646612" y="1845032"/>
                <a:ext cx="925221" cy="925221"/>
              </a:xfrm>
              <a:prstGeom prst="ellipse">
                <a:avLst/>
              </a:prstGeom>
              <a:solidFill>
                <a:schemeClr val="bg1">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bg1">
                              <a:lumMod val="75000"/>
                            </a:schemeClr>
                          </a:solidFill>
                          <a:latin typeface="Cambria Math" charset="0"/>
                          <a:ea typeface="Cambria Math" charset="0"/>
                          <a:cs typeface="Cambria Math" charset="0"/>
                        </a:rPr>
                        <m:t> </m:t>
                      </m:r>
                      <m:r>
                        <a:rPr lang="en-US" sz="2400" b="0" i="1" smtClean="0">
                          <a:solidFill>
                            <a:schemeClr val="bg1">
                              <a:lumMod val="75000"/>
                            </a:schemeClr>
                          </a:solidFill>
                          <a:latin typeface="Cambria Math" charset="0"/>
                          <a:ea typeface="Cambria Math" charset="0"/>
                          <a:cs typeface="Cambria Math" charset="0"/>
                        </a:rPr>
                        <m:t>  </m:t>
                      </m:r>
                      <m:r>
                        <a:rPr lang="en-US" sz="2400" i="1">
                          <a:solidFill>
                            <a:schemeClr val="bg1">
                              <a:lumMod val="75000"/>
                            </a:schemeClr>
                          </a:solidFill>
                          <a:latin typeface="Cambria Math" charset="0"/>
                          <a:ea typeface="Cambria Math" charset="0"/>
                          <a:cs typeface="Cambria Math" charset="0"/>
                        </a:rPr>
                        <m:t>𝜎</m:t>
                      </m:r>
                    </m:oMath>
                  </m:oMathPara>
                </a14:m>
                <a:endParaRPr lang="en-US" sz="2400" dirty="0">
                  <a:solidFill>
                    <a:schemeClr val="bg1">
                      <a:lumMod val="75000"/>
                    </a:schemeClr>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4646612" y="1845032"/>
                <a:ext cx="925221" cy="925221"/>
              </a:xfrm>
              <a:prstGeom prst="ellipse">
                <a:avLst/>
              </a:prstGeom>
              <a:blipFill rotWithShape="0">
                <a:blip r:embed="rId8"/>
                <a:stretch>
                  <a:fillRect t="-25166" b="-4238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6188648"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6188648" y="5263211"/>
                <a:ext cx="925221" cy="925221"/>
              </a:xfrm>
              <a:prstGeom prst="ellipse">
                <a:avLst/>
              </a:prstGeom>
              <a:blipFill rotWithShape="0">
                <a:blip r:embed="rId9"/>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6188648"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6188648" y="4123816"/>
                <a:ext cx="925221" cy="925221"/>
              </a:xfrm>
              <a:prstGeom prst="ellipse">
                <a:avLst/>
              </a:prstGeom>
              <a:blipFill rotWithShape="0">
                <a:blip r:embed="rId9"/>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6188648"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6188648" y="2984424"/>
                <a:ext cx="925221" cy="925221"/>
              </a:xfrm>
              <a:prstGeom prst="ellipse">
                <a:avLst/>
              </a:prstGeom>
              <a:blipFill rotWithShape="0">
                <a:blip r:embed="rId10"/>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188648"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6188648" y="1845032"/>
                <a:ext cx="925221" cy="925221"/>
              </a:xfrm>
              <a:prstGeom prst="ellipse">
                <a:avLst/>
              </a:prstGeom>
              <a:blipFill rotWithShape="0">
                <a:blip r:embed="rId11"/>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7797942" y="2404022"/>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7797942" y="2404022"/>
                <a:ext cx="925221" cy="925221"/>
              </a:xfrm>
              <a:prstGeom prst="ellipse">
                <a:avLst/>
              </a:prstGeom>
              <a:blipFill rotWithShape="0">
                <a:blip r:embed="rId12"/>
                <a:stretch>
                  <a:fillRect t="-12338" r="-649" b="-266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7797942" y="3602311"/>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7797942" y="3602311"/>
                <a:ext cx="925221" cy="925221"/>
              </a:xfrm>
              <a:prstGeom prst="ellipse">
                <a:avLst/>
              </a:prstGeom>
              <a:blipFill rotWithShape="0">
                <a:blip r:embed="rId13"/>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7797942" y="4800600"/>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7797942" y="4800600"/>
                <a:ext cx="925221" cy="925221"/>
              </a:xfrm>
              <a:prstGeom prst="ellipse">
                <a:avLst/>
              </a:prstGeom>
              <a:blipFill rotWithShape="0">
                <a:blip r:embed="rId14"/>
                <a:stretch>
                  <a:fillRect t="-12418" b="-26797"/>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029798" y="2307643"/>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a:endCxn id="11" idx="2"/>
          </p:cNvCxnSpPr>
          <p:nvPr/>
        </p:nvCxnSpPr>
        <p:spPr>
          <a:xfrm>
            <a:off x="4029798" y="2866633"/>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a:endCxn id="10" idx="2"/>
          </p:cNvCxnSpPr>
          <p:nvPr/>
        </p:nvCxnSpPr>
        <p:spPr>
          <a:xfrm>
            <a:off x="4029798" y="2866633"/>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a:endCxn id="9" idx="2"/>
          </p:cNvCxnSpPr>
          <p:nvPr/>
        </p:nvCxnSpPr>
        <p:spPr>
          <a:xfrm>
            <a:off x="4029798" y="2866633"/>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029798" y="2307643"/>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a:endCxn id="11" idx="2"/>
          </p:cNvCxnSpPr>
          <p:nvPr/>
        </p:nvCxnSpPr>
        <p:spPr>
          <a:xfrm flipV="1">
            <a:off x="4029798" y="3447035"/>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a:endCxn id="10" idx="2"/>
          </p:cNvCxnSpPr>
          <p:nvPr/>
        </p:nvCxnSpPr>
        <p:spPr>
          <a:xfrm>
            <a:off x="4029798" y="4064922"/>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a:endCxn id="9" idx="2"/>
          </p:cNvCxnSpPr>
          <p:nvPr/>
        </p:nvCxnSpPr>
        <p:spPr>
          <a:xfrm>
            <a:off x="4029798" y="4064922"/>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flipV="1">
            <a:off x="4029798" y="2307643"/>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6"/>
            <a:endCxn id="11" idx="2"/>
          </p:cNvCxnSpPr>
          <p:nvPr/>
        </p:nvCxnSpPr>
        <p:spPr>
          <a:xfrm flipV="1">
            <a:off x="4029798" y="3447035"/>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0" idx="2"/>
          </p:cNvCxnSpPr>
          <p:nvPr/>
        </p:nvCxnSpPr>
        <p:spPr>
          <a:xfrm flipV="1">
            <a:off x="4029798" y="4586427"/>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6"/>
            <a:endCxn id="9" idx="2"/>
          </p:cNvCxnSpPr>
          <p:nvPr/>
        </p:nvCxnSpPr>
        <p:spPr>
          <a:xfrm>
            <a:off x="4029798" y="5263211"/>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5571834" y="230764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1" idx="6"/>
            <a:endCxn id="16" idx="2"/>
          </p:cNvCxnSpPr>
          <p:nvPr/>
        </p:nvCxnSpPr>
        <p:spPr>
          <a:xfrm flipV="1">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1" idx="6"/>
            <a:endCxn id="15" idx="2"/>
          </p:cNvCxnSpPr>
          <p:nvPr/>
        </p:nvCxnSpPr>
        <p:spPr>
          <a:xfrm>
            <a:off x="5571834" y="344703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1" idx="6"/>
            <a:endCxn id="14" idx="2"/>
          </p:cNvCxnSpPr>
          <p:nvPr/>
        </p:nvCxnSpPr>
        <p:spPr>
          <a:xfrm>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6"/>
            <a:endCxn id="13" idx="2"/>
          </p:cNvCxnSpPr>
          <p:nvPr/>
        </p:nvCxnSpPr>
        <p:spPr>
          <a:xfrm>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0" idx="6"/>
            <a:endCxn id="16" idx="2"/>
          </p:cNvCxnSpPr>
          <p:nvPr/>
        </p:nvCxnSpPr>
        <p:spPr>
          <a:xfrm flipV="1">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0" idx="6"/>
            <a:endCxn id="15" idx="2"/>
          </p:cNvCxnSpPr>
          <p:nvPr/>
        </p:nvCxnSpPr>
        <p:spPr>
          <a:xfrm flipV="1">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0" idx="6"/>
            <a:endCxn id="14" idx="2"/>
          </p:cNvCxnSpPr>
          <p:nvPr/>
        </p:nvCxnSpPr>
        <p:spPr>
          <a:xfrm>
            <a:off x="5571834" y="4586427"/>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0" idx="6"/>
            <a:endCxn id="13" idx="2"/>
          </p:cNvCxnSpPr>
          <p:nvPr/>
        </p:nvCxnSpPr>
        <p:spPr>
          <a:xfrm>
            <a:off x="5571834" y="4586427"/>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9" idx="6"/>
            <a:endCxn id="16" idx="2"/>
          </p:cNvCxnSpPr>
          <p:nvPr/>
        </p:nvCxnSpPr>
        <p:spPr>
          <a:xfrm flipV="1">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9" idx="6"/>
            <a:endCxn id="15" idx="2"/>
          </p:cNvCxnSpPr>
          <p:nvPr/>
        </p:nvCxnSpPr>
        <p:spPr>
          <a:xfrm flipV="1">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9" idx="7"/>
            <a:endCxn id="14" idx="2"/>
          </p:cNvCxnSpPr>
          <p:nvPr/>
        </p:nvCxnSpPr>
        <p:spPr>
          <a:xfrm flipV="1">
            <a:off x="5436339" y="4586427"/>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9" idx="6"/>
            <a:endCxn id="13" idx="2"/>
          </p:cNvCxnSpPr>
          <p:nvPr/>
        </p:nvCxnSpPr>
        <p:spPr>
          <a:xfrm>
            <a:off x="5571834" y="572582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7113869" y="2307643"/>
            <a:ext cx="684073"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7113869" y="2307643"/>
            <a:ext cx="684073"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7113869" y="2307643"/>
            <a:ext cx="684073"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7113869" y="2866633"/>
            <a:ext cx="684073"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7113869" y="3447035"/>
            <a:ext cx="684073"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7113869" y="3447035"/>
            <a:ext cx="684073"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7113869" y="4586427"/>
            <a:ext cx="684073"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7113869" y="2866633"/>
            <a:ext cx="684073"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7113869" y="4064922"/>
            <a:ext cx="684073"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7113869" y="2866633"/>
            <a:ext cx="684073"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7113869" y="4064922"/>
            <a:ext cx="684073"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7113869" y="5263211"/>
            <a:ext cx="684073"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8723163"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8723163"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8723163"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2214980" y="2866633"/>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2214980" y="4064922"/>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a:endCxn id="8" idx="2"/>
          </p:cNvCxnSpPr>
          <p:nvPr/>
        </p:nvCxnSpPr>
        <p:spPr>
          <a:xfrm>
            <a:off x="2214980" y="5263211"/>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179068" y="189245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(1)</m:t>
                          </m:r>
                        </m:sup>
                      </m:sSup>
                    </m:oMath>
                  </m:oMathPara>
                </a14:m>
                <a:endParaRPr lang="en-US" dirty="0">
                  <a:solidFill>
                    <a:schemeClr val="tx2"/>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179068" y="1892459"/>
                <a:ext cx="847732" cy="47699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4762355" y="135047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(2)</m:t>
                          </m:r>
                        </m:sup>
                      </m:sSup>
                    </m:oMath>
                  </m:oMathPara>
                </a14:m>
                <a:endParaRPr lang="en-US" dirty="0">
                  <a:solidFill>
                    <a:schemeClr val="tx2"/>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4762355" y="1350479"/>
                <a:ext cx="847732" cy="476990"/>
              </a:xfrm>
              <a:prstGeom prst="rect">
                <a:avLst/>
              </a:prstGeom>
              <a:blipFill rotWithShape="0">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266137" y="135047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(3)</m:t>
                          </m:r>
                        </m:sup>
                      </m:sSup>
                    </m:oMath>
                  </m:oMathPara>
                </a14:m>
                <a:endParaRPr lang="en-US" dirty="0">
                  <a:solidFill>
                    <a:schemeClr val="tx2"/>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266137" y="1350479"/>
                <a:ext cx="847733" cy="476990"/>
              </a:xfrm>
              <a:prstGeom prst="rect">
                <a:avLst/>
              </a:prstGeom>
              <a:blipFill rotWithShape="0">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7892958" y="189245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(4)</m:t>
                          </m:r>
                        </m:sup>
                      </m:sSup>
                    </m:oMath>
                  </m:oMathPara>
                </a14:m>
                <a:endParaRPr lang="en-US" dirty="0">
                  <a:solidFill>
                    <a:schemeClr val="tx2"/>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7892958" y="1892459"/>
                <a:ext cx="847733" cy="476990"/>
              </a:xfrm>
              <a:prstGeom prst="rect">
                <a:avLst/>
              </a:prstGeom>
              <a:blipFill rotWithShape="0">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3808412"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(1)</m:t>
                          </m:r>
                        </m:sup>
                      </m:sSup>
                    </m:oMath>
                  </m:oMathPara>
                </a14:m>
                <a:endParaRPr lang="en-US" dirty="0">
                  <a:solidFill>
                    <a:schemeClr val="accent5">
                      <a:lumMod val="50000"/>
                    </a:schemeClr>
                  </a:solidFill>
                </a:endParaRPr>
              </a:p>
            </p:txBody>
          </p:sp>
        </mc:Choice>
        <mc:Fallback xmlns="">
          <p:sp>
            <p:nvSpPr>
              <p:cNvPr id="84" name="Rectangle 83"/>
              <p:cNvSpPr>
                <a:spLocks noRot="1" noChangeAspect="1" noMove="1" noResize="1" noEditPoints="1" noAdjustHandles="1" noChangeArrowheads="1" noChangeShapeType="1" noTextEdit="1"/>
              </p:cNvSpPr>
              <p:nvPr/>
            </p:nvSpPr>
            <p:spPr>
              <a:xfrm>
                <a:off x="3808412" y="6076210"/>
                <a:ext cx="979755" cy="47699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5445464"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(2)</m:t>
                          </m:r>
                        </m:sup>
                      </m:sSup>
                    </m:oMath>
                  </m:oMathPara>
                </a14:m>
                <a:endParaRPr lang="en-US" dirty="0">
                  <a:solidFill>
                    <a:schemeClr val="accent5">
                      <a:lumMod val="50000"/>
                    </a:schemeClr>
                  </a:solidFill>
                </a:endParaRPr>
              </a:p>
            </p:txBody>
          </p:sp>
        </mc:Choice>
        <mc:Fallback xmlns="">
          <p:sp>
            <p:nvSpPr>
              <p:cNvPr id="85" name="Rectangle 84"/>
              <p:cNvSpPr>
                <a:spLocks noRot="1" noChangeAspect="1" noMove="1" noResize="1" noEditPoints="1" noAdjustHandles="1" noChangeArrowheads="1" noChangeShapeType="1" noTextEdit="1"/>
              </p:cNvSpPr>
              <p:nvPr/>
            </p:nvSpPr>
            <p:spPr>
              <a:xfrm>
                <a:off x="5445464" y="6076210"/>
                <a:ext cx="979755" cy="47699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p:cNvSpPr/>
              <p:nvPr/>
            </p:nvSpPr>
            <p:spPr>
              <a:xfrm>
                <a:off x="7054758"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(3)</m:t>
                          </m:r>
                        </m:sup>
                      </m:sSup>
                    </m:oMath>
                  </m:oMathPara>
                </a14:m>
                <a:endParaRPr lang="en-US" dirty="0">
                  <a:solidFill>
                    <a:schemeClr val="accent5">
                      <a:lumMod val="50000"/>
                    </a:schemeClr>
                  </a:solidFill>
                </a:endParaRPr>
              </a:p>
            </p:txBody>
          </p:sp>
        </mc:Choice>
        <mc:Fallback xmlns="">
          <p:sp>
            <p:nvSpPr>
              <p:cNvPr id="86" name="Rectangle 85"/>
              <p:cNvSpPr>
                <a:spLocks noRot="1" noChangeAspect="1" noMove="1" noResize="1" noEditPoints="1" noAdjustHandles="1" noChangeArrowheads="1" noChangeShapeType="1" noTextEdit="1"/>
              </p:cNvSpPr>
              <p:nvPr/>
            </p:nvSpPr>
            <p:spPr>
              <a:xfrm>
                <a:off x="7054758" y="6076210"/>
                <a:ext cx="979755" cy="476990"/>
              </a:xfrm>
              <a:prstGeom prst="rect">
                <a:avLst/>
              </a:prstGeom>
              <a:blipFill rotWithShape="0">
                <a:blip r:embed="rId5"/>
                <a:stretch>
                  <a:fillRect/>
                </a:stretch>
              </a:blipFill>
            </p:spPr>
            <p:txBody>
              <a:bodyPr/>
              <a:lstStyle/>
              <a:p>
                <a:r>
                  <a:rPr lang="en-US">
                    <a:noFill/>
                  </a:rPr>
                  <a:t> </a:t>
                </a:r>
              </a:p>
            </p:txBody>
          </p:sp>
        </mc:Fallback>
      </mc:AlternateContent>
      <p:sp>
        <p:nvSpPr>
          <p:cNvPr id="87" name="Rounded Rectangle 86"/>
          <p:cNvSpPr/>
          <p:nvPr/>
        </p:nvSpPr>
        <p:spPr>
          <a:xfrm>
            <a:off x="9828212" y="2404022"/>
            <a:ext cx="990600" cy="3479610"/>
          </a:xfrm>
          <a:prstGeom prst="roundRect">
            <a:avLst/>
          </a:prstGeom>
          <a:solidFill>
            <a:srgbClr val="C00000"/>
          </a:solidFill>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3200" dirty="0" smtClean="0"/>
              <a:t>Cost</a:t>
            </a:r>
          </a:p>
          <a:p>
            <a:pPr algn="ctr"/>
            <a:r>
              <a:rPr lang="en-US" sz="3200" dirty="0" smtClean="0"/>
              <a:t>(J)</a:t>
            </a:r>
            <a:endParaRPr lang="en-US" sz="3200" dirty="0"/>
          </a:p>
        </p:txBody>
      </p:sp>
      <mc:AlternateContent xmlns:mc="http://schemas.openxmlformats.org/markup-compatibility/2006" xmlns:a14="http://schemas.microsoft.com/office/drawing/2010/main">
        <mc:Choice Requires="a14">
          <p:sp>
            <p:nvSpPr>
              <p:cNvPr id="4" name="TextBox 3"/>
              <p:cNvSpPr txBox="1"/>
              <p:nvPr/>
            </p:nvSpPr>
            <p:spPr>
              <a:xfrm>
                <a:off x="1446212" y="228600"/>
                <a:ext cx="10210800" cy="605294"/>
              </a:xfrm>
              <a:prstGeom prst="rect">
                <a:avLst/>
              </a:prstGeom>
              <a:noFill/>
            </p:spPr>
            <p:txBody>
              <a:bodyPr wrap="square" rtlCol="0">
                <a:spAutoFit/>
              </a:bodyPr>
              <a:lstStyle/>
              <a:p>
                <a:r>
                  <a:rPr lang="en-US" sz="3200" dirty="0" smtClean="0"/>
                  <a:t>Then </a:t>
                </a:r>
                <a:r>
                  <a:rPr lang="en-US" sz="3200" dirty="0" err="1" smtClean="0"/>
                  <a:t>w.r.t</a:t>
                </a:r>
                <a:r>
                  <a:rPr lang="en-US" sz="3200" dirty="0" smtClean="0"/>
                  <a:t> </a:t>
                </a:r>
                <a14:m>
                  <m:oMath xmlns:m="http://schemas.openxmlformats.org/officeDocument/2006/math">
                    <m:sSup>
                      <m:sSupPr>
                        <m:ctrlPr>
                          <a:rPr lang="en-US" sz="3200" i="1">
                            <a:solidFill>
                              <a:schemeClr val="tx2"/>
                            </a:solidFill>
                            <a:latin typeface="Cambria Math" panose="02040503050406030204" pitchFamily="18" charset="0"/>
                          </a:rPr>
                        </m:ctrlPr>
                      </m:sSupPr>
                      <m:e>
                        <m:r>
                          <a:rPr lang="en-US" sz="3200" i="1">
                            <a:solidFill>
                              <a:schemeClr val="tx2"/>
                            </a:solidFill>
                            <a:latin typeface="Cambria Math" charset="0"/>
                          </a:rPr>
                          <m:t>𝑎</m:t>
                        </m:r>
                      </m:e>
                      <m:sup>
                        <m:r>
                          <a:rPr lang="en-US" sz="3200" i="1">
                            <a:solidFill>
                              <a:schemeClr val="tx2"/>
                            </a:solidFill>
                            <a:latin typeface="Cambria Math" charset="0"/>
                          </a:rPr>
                          <m:t>(3)</m:t>
                        </m:r>
                      </m:sup>
                    </m:sSup>
                  </m:oMath>
                </a14:m>
                <a:r>
                  <a:rPr lang="en-US" sz="3200" dirty="0" smtClean="0"/>
                  <a:t> to continue the chain</a:t>
                </a:r>
                <a:endParaRPr lang="en-US" sz="3200" dirty="0"/>
              </a:p>
            </p:txBody>
          </p:sp>
        </mc:Choice>
        <mc:Fallback xmlns="">
          <p:sp>
            <p:nvSpPr>
              <p:cNvPr id="4" name="TextBox 3"/>
              <p:cNvSpPr txBox="1">
                <a:spLocks noRot="1" noChangeAspect="1" noMove="1" noResize="1" noEditPoints="1" noAdjustHandles="1" noChangeArrowheads="1" noChangeShapeType="1" noTextEdit="1"/>
              </p:cNvSpPr>
              <p:nvPr/>
            </p:nvSpPr>
            <p:spPr>
              <a:xfrm>
                <a:off x="1446212" y="228600"/>
                <a:ext cx="10210800" cy="605294"/>
              </a:xfrm>
              <a:prstGeom prst="rect">
                <a:avLst/>
              </a:prstGeom>
              <a:blipFill rotWithShape="0">
                <a:blip r:embed="rId19"/>
                <a:stretch>
                  <a:fillRect l="-1493" t="-10101" b="-31313"/>
                </a:stretch>
              </a:blipFill>
            </p:spPr>
            <p:txBody>
              <a:bodyPr/>
              <a:lstStyle/>
              <a:p>
                <a:r>
                  <a:rPr lang="en-US">
                    <a:noFill/>
                  </a:rPr>
                  <a:t> </a:t>
                </a:r>
              </a:p>
            </p:txBody>
          </p:sp>
        </mc:Fallback>
      </mc:AlternateContent>
      <p:cxnSp>
        <p:nvCxnSpPr>
          <p:cNvPr id="74" name="Straight Arrow Connector 73"/>
          <p:cNvCxnSpPr/>
          <p:nvPr/>
        </p:nvCxnSpPr>
        <p:spPr>
          <a:xfrm flipH="1">
            <a:off x="7113869" y="1350479"/>
            <a:ext cx="2528076"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229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Oval 4"/>
              <p:cNvSpPr/>
              <p:nvPr/>
            </p:nvSpPr>
            <p:spPr>
              <a:xfrm>
                <a:off x="3104577" y="2404022"/>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bg1">
                              <a:lumMod val="75000"/>
                            </a:schemeClr>
                          </a:solidFill>
                          <a:latin typeface="Cambria Math" charset="0"/>
                        </a:rPr>
                        <m:t>   </m:t>
                      </m:r>
                      <m:sSub>
                        <m:sSubPr>
                          <m:ctrlPr>
                            <a:rPr lang="en-US" sz="2400" b="0" i="1" smtClean="0">
                              <a:solidFill>
                                <a:schemeClr val="bg1">
                                  <a:lumMod val="75000"/>
                                </a:schemeClr>
                              </a:solidFill>
                              <a:latin typeface="Cambria Math" panose="02040503050406030204" pitchFamily="18" charset="0"/>
                            </a:rPr>
                          </m:ctrlPr>
                        </m:sSubPr>
                        <m:e>
                          <m:r>
                            <a:rPr lang="en-US" sz="2400" b="0" i="1" smtClean="0">
                              <a:solidFill>
                                <a:schemeClr val="bg1">
                                  <a:lumMod val="75000"/>
                                </a:schemeClr>
                              </a:solidFill>
                              <a:latin typeface="Cambria Math" charset="0"/>
                            </a:rPr>
                            <m:t>𝑥</m:t>
                          </m:r>
                        </m:e>
                        <m:sub>
                          <m:r>
                            <a:rPr lang="en-US" sz="2400" b="0" i="1" smtClean="0">
                              <a:solidFill>
                                <a:schemeClr val="bg1">
                                  <a:lumMod val="75000"/>
                                </a:schemeClr>
                              </a:solidFill>
                              <a:latin typeface="Cambria Math" charset="0"/>
                            </a:rPr>
                            <m:t>1</m:t>
                          </m:r>
                        </m:sub>
                      </m:sSub>
                    </m:oMath>
                  </m:oMathPara>
                </a14:m>
                <a:endParaRPr lang="en-US" sz="2400" dirty="0">
                  <a:solidFill>
                    <a:schemeClr val="bg1">
                      <a:lumMod val="75000"/>
                    </a:schemeClr>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104577" y="2404022"/>
                <a:ext cx="925221" cy="925221"/>
              </a:xfrm>
              <a:prstGeom prst="ellipse">
                <a:avLst/>
              </a:prstGeom>
              <a:blipFill rotWithShape="0">
                <a:blip r:embed="rId3"/>
                <a:stretch>
                  <a:fillRect l="-1316" t="-25000" b="-421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104577" y="3602311"/>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rPr>
                        <m:t> </m:t>
                      </m:r>
                      <m:sSub>
                        <m:sSubPr>
                          <m:ctrlPr>
                            <a:rPr lang="en-US" sz="2400" i="1">
                              <a:solidFill>
                                <a:schemeClr val="bg1">
                                  <a:lumMod val="75000"/>
                                </a:schemeClr>
                              </a:solidFill>
                              <a:latin typeface="Cambria Math" panose="02040503050406030204" pitchFamily="18" charset="0"/>
                            </a:rPr>
                          </m:ctrlPr>
                        </m:sSubPr>
                        <m:e>
                          <m:r>
                            <a:rPr lang="en-US" sz="2400" b="0" i="1" smtClean="0">
                              <a:solidFill>
                                <a:schemeClr val="bg1">
                                  <a:lumMod val="75000"/>
                                </a:schemeClr>
                              </a:solidFill>
                              <a:latin typeface="Cambria Math" charset="0"/>
                            </a:rPr>
                            <m:t>   </m:t>
                          </m:r>
                          <m:r>
                            <a:rPr lang="en-US" sz="2400" i="1">
                              <a:solidFill>
                                <a:schemeClr val="bg1">
                                  <a:lumMod val="75000"/>
                                </a:schemeClr>
                              </a:solidFill>
                              <a:latin typeface="Cambria Math" charset="0"/>
                            </a:rPr>
                            <m:t>𝑥</m:t>
                          </m:r>
                        </m:e>
                        <m:sub>
                          <m:r>
                            <a:rPr lang="en-US" sz="2400" b="0" i="1" smtClean="0">
                              <a:solidFill>
                                <a:schemeClr val="bg1">
                                  <a:lumMod val="75000"/>
                                </a:schemeClr>
                              </a:solidFill>
                              <a:latin typeface="Cambria Math" charset="0"/>
                            </a:rPr>
                            <m:t>2</m:t>
                          </m:r>
                        </m:sub>
                      </m:sSub>
                    </m:oMath>
                  </m:oMathPara>
                </a14:m>
                <a:endParaRPr lang="en-US" sz="2400" dirty="0">
                  <a:solidFill>
                    <a:schemeClr val="bg1">
                      <a:lumMod val="75000"/>
                    </a:schemeClr>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4"/>
                <a:stretch>
                  <a:fillRect l="-5263" t="-25000" b="-4144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3104577" y="4800600"/>
                <a:ext cx="925221" cy="925221"/>
              </a:xfrm>
              <a:prstGeom prst="ellipse">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bg1">
                              <a:lumMod val="75000"/>
                            </a:schemeClr>
                          </a:solidFill>
                          <a:latin typeface="Cambria Math" charset="0"/>
                        </a:rPr>
                        <m:t> </m:t>
                      </m:r>
                      <m:sSub>
                        <m:sSubPr>
                          <m:ctrlPr>
                            <a:rPr lang="en-US" sz="2400" i="1">
                              <a:solidFill>
                                <a:schemeClr val="bg1">
                                  <a:lumMod val="75000"/>
                                </a:schemeClr>
                              </a:solidFill>
                              <a:latin typeface="Cambria Math" panose="02040503050406030204" pitchFamily="18" charset="0"/>
                            </a:rPr>
                          </m:ctrlPr>
                        </m:sSubPr>
                        <m:e>
                          <m:r>
                            <a:rPr lang="en-US" sz="2400" b="0" i="1" smtClean="0">
                              <a:solidFill>
                                <a:schemeClr val="bg1">
                                  <a:lumMod val="75000"/>
                                </a:schemeClr>
                              </a:solidFill>
                              <a:latin typeface="Cambria Math" charset="0"/>
                            </a:rPr>
                            <m:t>   </m:t>
                          </m:r>
                          <m:r>
                            <a:rPr lang="en-US" sz="2400" i="1">
                              <a:solidFill>
                                <a:schemeClr val="bg1">
                                  <a:lumMod val="75000"/>
                                </a:schemeClr>
                              </a:solidFill>
                              <a:latin typeface="Cambria Math" charset="0"/>
                            </a:rPr>
                            <m:t>𝑥</m:t>
                          </m:r>
                        </m:e>
                        <m:sub>
                          <m:r>
                            <a:rPr lang="en-US" sz="2400" b="0" i="1" smtClean="0">
                              <a:solidFill>
                                <a:schemeClr val="bg1">
                                  <a:lumMod val="75000"/>
                                </a:schemeClr>
                              </a:solidFill>
                              <a:latin typeface="Cambria Math" charset="0"/>
                            </a:rPr>
                            <m:t>3</m:t>
                          </m:r>
                        </m:sub>
                      </m:sSub>
                    </m:oMath>
                  </m:oMathPara>
                </a14:m>
                <a:endParaRPr lang="en-US" sz="2400" dirty="0">
                  <a:solidFill>
                    <a:schemeClr val="bg1">
                      <a:lumMod val="75000"/>
                    </a:schemeClr>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3104577" y="4800600"/>
                <a:ext cx="925221" cy="925221"/>
              </a:xfrm>
              <a:prstGeom prst="ellipse">
                <a:avLst/>
              </a:prstGeom>
              <a:blipFill rotWithShape="0">
                <a:blip r:embed="rId5"/>
                <a:stretch>
                  <a:fillRect l="-5263" t="-25828" b="-4238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6188648"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6188648" y="5263211"/>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6188648"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6188648" y="4123816"/>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6188648"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6188648" y="2984424"/>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188648"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6188648" y="1845032"/>
                <a:ext cx="925221" cy="925221"/>
              </a:xfrm>
              <a:prstGeom prst="ellipse">
                <a:avLst/>
              </a:prstGeom>
              <a:blipFill rotWithShape="0">
                <a:blip r:embed="rId8"/>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7797942" y="2404022"/>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7797942" y="2404022"/>
                <a:ext cx="925221" cy="925221"/>
              </a:xfrm>
              <a:prstGeom prst="ellipse">
                <a:avLst/>
              </a:prstGeom>
              <a:blipFill rotWithShape="0">
                <a:blip r:embed="rId9"/>
                <a:stretch>
                  <a:fillRect t="-12338" r="-649" b="-266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7797942" y="3602311"/>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7797942" y="3602311"/>
                <a:ext cx="925221" cy="925221"/>
              </a:xfrm>
              <a:prstGeom prst="ellipse">
                <a:avLst/>
              </a:prstGeom>
              <a:blipFill rotWithShape="0">
                <a:blip r:embed="rId10"/>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7797942" y="4800600"/>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7797942" y="4800600"/>
                <a:ext cx="925221" cy="925221"/>
              </a:xfrm>
              <a:prstGeom prst="ellipse">
                <a:avLst/>
              </a:prstGeom>
              <a:blipFill rotWithShape="0">
                <a:blip r:embed="rId11"/>
                <a:stretch>
                  <a:fillRect t="-12418" b="-26797"/>
                </a:stretch>
              </a:blipFill>
            </p:spPr>
            <p:txBody>
              <a:bodyPr/>
              <a:lstStyle/>
              <a:p>
                <a:r>
                  <a:rPr lang="en-US">
                    <a:noFill/>
                  </a:rPr>
                  <a:t> </a:t>
                </a:r>
              </a:p>
            </p:txBody>
          </p:sp>
        </mc:Fallback>
      </mc:AlternateContent>
      <p:cxnSp>
        <p:nvCxnSpPr>
          <p:cNvPr id="19" name="Straight Arrow Connector 18"/>
          <p:cNvCxnSpPr>
            <a:stCxn id="6" idx="6"/>
            <a:endCxn id="12" idx="2"/>
          </p:cNvCxnSpPr>
          <p:nvPr/>
        </p:nvCxnSpPr>
        <p:spPr>
          <a:xfrm flipV="1">
            <a:off x="4029798" y="2307643"/>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6" idx="6"/>
          </p:cNvCxnSpPr>
          <p:nvPr/>
        </p:nvCxnSpPr>
        <p:spPr>
          <a:xfrm>
            <a:off x="4029798" y="2866633"/>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6" idx="6"/>
          </p:cNvCxnSpPr>
          <p:nvPr/>
        </p:nvCxnSpPr>
        <p:spPr>
          <a:xfrm>
            <a:off x="4029798" y="2866633"/>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6"/>
          </p:cNvCxnSpPr>
          <p:nvPr/>
        </p:nvCxnSpPr>
        <p:spPr>
          <a:xfrm>
            <a:off x="4029798" y="2866633"/>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7" idx="6"/>
            <a:endCxn id="12" idx="2"/>
          </p:cNvCxnSpPr>
          <p:nvPr/>
        </p:nvCxnSpPr>
        <p:spPr>
          <a:xfrm flipV="1">
            <a:off x="4029798" y="2307643"/>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6"/>
          </p:cNvCxnSpPr>
          <p:nvPr/>
        </p:nvCxnSpPr>
        <p:spPr>
          <a:xfrm flipV="1">
            <a:off x="4029798" y="3447035"/>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7" idx="6"/>
          </p:cNvCxnSpPr>
          <p:nvPr/>
        </p:nvCxnSpPr>
        <p:spPr>
          <a:xfrm>
            <a:off x="4029798" y="4064922"/>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7" idx="6"/>
          </p:cNvCxnSpPr>
          <p:nvPr/>
        </p:nvCxnSpPr>
        <p:spPr>
          <a:xfrm>
            <a:off x="4029798" y="4064922"/>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2" idx="2"/>
          </p:cNvCxnSpPr>
          <p:nvPr/>
        </p:nvCxnSpPr>
        <p:spPr>
          <a:xfrm flipV="1">
            <a:off x="4029798" y="2307643"/>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4029798" y="3447035"/>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029798" y="4586427"/>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029798" y="5263211"/>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5571834" y="230764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16" idx="2"/>
          </p:cNvCxnSpPr>
          <p:nvPr/>
        </p:nvCxnSpPr>
        <p:spPr>
          <a:xfrm flipV="1">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15" idx="2"/>
          </p:cNvCxnSpPr>
          <p:nvPr/>
        </p:nvCxnSpPr>
        <p:spPr>
          <a:xfrm>
            <a:off x="5571834" y="344703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endCxn id="14" idx="2"/>
          </p:cNvCxnSpPr>
          <p:nvPr/>
        </p:nvCxnSpPr>
        <p:spPr>
          <a:xfrm>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endCxn id="13" idx="2"/>
          </p:cNvCxnSpPr>
          <p:nvPr/>
        </p:nvCxnSpPr>
        <p:spPr>
          <a:xfrm>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16" idx="2"/>
          </p:cNvCxnSpPr>
          <p:nvPr/>
        </p:nvCxnSpPr>
        <p:spPr>
          <a:xfrm flipV="1">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15" idx="2"/>
          </p:cNvCxnSpPr>
          <p:nvPr/>
        </p:nvCxnSpPr>
        <p:spPr>
          <a:xfrm flipV="1">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endCxn id="14" idx="2"/>
          </p:cNvCxnSpPr>
          <p:nvPr/>
        </p:nvCxnSpPr>
        <p:spPr>
          <a:xfrm>
            <a:off x="5571834" y="4586427"/>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13" idx="2"/>
          </p:cNvCxnSpPr>
          <p:nvPr/>
        </p:nvCxnSpPr>
        <p:spPr>
          <a:xfrm>
            <a:off x="5571834" y="4586427"/>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endCxn id="16" idx="2"/>
          </p:cNvCxnSpPr>
          <p:nvPr/>
        </p:nvCxnSpPr>
        <p:spPr>
          <a:xfrm flipV="1">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endCxn id="15" idx="2"/>
          </p:cNvCxnSpPr>
          <p:nvPr/>
        </p:nvCxnSpPr>
        <p:spPr>
          <a:xfrm flipV="1">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endCxn id="14" idx="2"/>
          </p:cNvCxnSpPr>
          <p:nvPr/>
        </p:nvCxnSpPr>
        <p:spPr>
          <a:xfrm flipV="1">
            <a:off x="5436339" y="4586427"/>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endCxn id="13" idx="2"/>
          </p:cNvCxnSpPr>
          <p:nvPr/>
        </p:nvCxnSpPr>
        <p:spPr>
          <a:xfrm>
            <a:off x="5571834" y="572582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7113869" y="2307643"/>
            <a:ext cx="684073"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7113869" y="2307643"/>
            <a:ext cx="684073"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7113869" y="2307643"/>
            <a:ext cx="684073"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7113869" y="2866633"/>
            <a:ext cx="684073"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7113869" y="3447035"/>
            <a:ext cx="684073"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7113869" y="3447035"/>
            <a:ext cx="684073"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7113869" y="4586427"/>
            <a:ext cx="684073"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7113869" y="2866633"/>
            <a:ext cx="684073"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7113869" y="4064922"/>
            <a:ext cx="684073"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7113869" y="2866633"/>
            <a:ext cx="684073"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7113869" y="4064922"/>
            <a:ext cx="684073"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7113869" y="5263211"/>
            <a:ext cx="684073"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8723163"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8723163"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8723163"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endCxn id="6" idx="2"/>
          </p:cNvCxnSpPr>
          <p:nvPr/>
        </p:nvCxnSpPr>
        <p:spPr>
          <a:xfrm>
            <a:off x="2214980" y="2866633"/>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7" idx="2"/>
          </p:cNvCxnSpPr>
          <p:nvPr/>
        </p:nvCxnSpPr>
        <p:spPr>
          <a:xfrm>
            <a:off x="2214980" y="4064922"/>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2214980" y="5263211"/>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179068" y="189245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(1)</m:t>
                          </m:r>
                        </m:sup>
                      </m:sSup>
                    </m:oMath>
                  </m:oMathPara>
                </a14:m>
                <a:endParaRPr lang="en-US" dirty="0">
                  <a:solidFill>
                    <a:schemeClr val="tx2"/>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179068" y="1892459"/>
                <a:ext cx="847732" cy="47699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4762355" y="135047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(2)</m:t>
                          </m:r>
                        </m:sup>
                      </m:sSup>
                    </m:oMath>
                  </m:oMathPara>
                </a14:m>
                <a:endParaRPr lang="en-US" dirty="0">
                  <a:solidFill>
                    <a:schemeClr val="tx2"/>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4762355" y="1350479"/>
                <a:ext cx="847732" cy="47699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266137" y="135047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(3)</m:t>
                          </m:r>
                        </m:sup>
                      </m:sSup>
                    </m:oMath>
                  </m:oMathPara>
                </a14:m>
                <a:endParaRPr lang="en-US" dirty="0">
                  <a:solidFill>
                    <a:schemeClr val="tx2"/>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266137" y="1350479"/>
                <a:ext cx="847733" cy="47699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7892958" y="189245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(4)</m:t>
                          </m:r>
                        </m:sup>
                      </m:sSup>
                    </m:oMath>
                  </m:oMathPara>
                </a14:m>
                <a:endParaRPr lang="en-US" dirty="0">
                  <a:solidFill>
                    <a:schemeClr val="tx2"/>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7892958" y="1892459"/>
                <a:ext cx="847733" cy="476990"/>
              </a:xfrm>
              <a:prstGeom prst="rect">
                <a:avLst/>
              </a:prstGeom>
              <a:blipFill rotWithShape="0">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3808412"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(1)</m:t>
                          </m:r>
                        </m:sup>
                      </m:sSup>
                    </m:oMath>
                  </m:oMathPara>
                </a14:m>
                <a:endParaRPr lang="en-US" dirty="0">
                  <a:solidFill>
                    <a:schemeClr val="accent5">
                      <a:lumMod val="50000"/>
                    </a:schemeClr>
                  </a:solidFill>
                </a:endParaRPr>
              </a:p>
            </p:txBody>
          </p:sp>
        </mc:Choice>
        <mc:Fallback xmlns="">
          <p:sp>
            <p:nvSpPr>
              <p:cNvPr id="84" name="Rectangle 83"/>
              <p:cNvSpPr>
                <a:spLocks noRot="1" noChangeAspect="1" noMove="1" noResize="1" noEditPoints="1" noAdjustHandles="1" noChangeArrowheads="1" noChangeShapeType="1" noTextEdit="1"/>
              </p:cNvSpPr>
              <p:nvPr/>
            </p:nvSpPr>
            <p:spPr>
              <a:xfrm>
                <a:off x="3808412" y="6076210"/>
                <a:ext cx="979755" cy="47699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5445464"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(2)</m:t>
                          </m:r>
                        </m:sup>
                      </m:sSup>
                    </m:oMath>
                  </m:oMathPara>
                </a14:m>
                <a:endParaRPr lang="en-US" dirty="0">
                  <a:solidFill>
                    <a:schemeClr val="accent5">
                      <a:lumMod val="50000"/>
                    </a:schemeClr>
                  </a:solidFill>
                </a:endParaRPr>
              </a:p>
            </p:txBody>
          </p:sp>
        </mc:Choice>
        <mc:Fallback xmlns="">
          <p:sp>
            <p:nvSpPr>
              <p:cNvPr id="85" name="Rectangle 84"/>
              <p:cNvSpPr>
                <a:spLocks noRot="1" noChangeAspect="1" noMove="1" noResize="1" noEditPoints="1" noAdjustHandles="1" noChangeArrowheads="1" noChangeShapeType="1" noTextEdit="1"/>
              </p:cNvSpPr>
              <p:nvPr/>
            </p:nvSpPr>
            <p:spPr>
              <a:xfrm>
                <a:off x="5445464" y="6076210"/>
                <a:ext cx="979755" cy="47699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p:cNvSpPr/>
              <p:nvPr/>
            </p:nvSpPr>
            <p:spPr>
              <a:xfrm>
                <a:off x="7054758" y="6076210"/>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(3)</m:t>
                          </m:r>
                        </m:sup>
                      </m:sSup>
                    </m:oMath>
                  </m:oMathPara>
                </a14:m>
                <a:endParaRPr lang="en-US" dirty="0">
                  <a:solidFill>
                    <a:schemeClr val="accent5">
                      <a:lumMod val="50000"/>
                    </a:schemeClr>
                  </a:solidFill>
                </a:endParaRPr>
              </a:p>
            </p:txBody>
          </p:sp>
        </mc:Choice>
        <mc:Fallback xmlns="">
          <p:sp>
            <p:nvSpPr>
              <p:cNvPr id="86" name="Rectangle 85"/>
              <p:cNvSpPr>
                <a:spLocks noRot="1" noChangeAspect="1" noMove="1" noResize="1" noEditPoints="1" noAdjustHandles="1" noChangeArrowheads="1" noChangeShapeType="1" noTextEdit="1"/>
              </p:cNvSpPr>
              <p:nvPr/>
            </p:nvSpPr>
            <p:spPr>
              <a:xfrm>
                <a:off x="7054758" y="6076210"/>
                <a:ext cx="979755" cy="476990"/>
              </a:xfrm>
              <a:prstGeom prst="rect">
                <a:avLst/>
              </a:prstGeom>
              <a:blipFill rotWithShape="0">
                <a:blip r:embed="rId5"/>
                <a:stretch>
                  <a:fillRect/>
                </a:stretch>
              </a:blipFill>
            </p:spPr>
            <p:txBody>
              <a:bodyPr/>
              <a:lstStyle/>
              <a:p>
                <a:r>
                  <a:rPr lang="en-US">
                    <a:noFill/>
                  </a:rPr>
                  <a:t> </a:t>
                </a:r>
              </a:p>
            </p:txBody>
          </p:sp>
        </mc:Fallback>
      </mc:AlternateContent>
      <p:sp>
        <p:nvSpPr>
          <p:cNvPr id="87" name="Rounded Rectangle 86"/>
          <p:cNvSpPr/>
          <p:nvPr/>
        </p:nvSpPr>
        <p:spPr>
          <a:xfrm>
            <a:off x="9828212" y="2404022"/>
            <a:ext cx="990600" cy="3479610"/>
          </a:xfrm>
          <a:prstGeom prst="roundRect">
            <a:avLst/>
          </a:prstGeom>
          <a:solidFill>
            <a:srgbClr val="C00000"/>
          </a:solidFill>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3200" dirty="0" smtClean="0"/>
              <a:t>Cost</a:t>
            </a:r>
          </a:p>
          <a:p>
            <a:pPr algn="ctr"/>
            <a:r>
              <a:rPr lang="en-US" sz="3200" dirty="0" smtClean="0"/>
              <a:t>(J)</a:t>
            </a:r>
            <a:endParaRPr lang="en-US" sz="3200" dirty="0"/>
          </a:p>
        </p:txBody>
      </p:sp>
      <p:sp>
        <p:nvSpPr>
          <p:cNvPr id="4" name="TextBox 3"/>
          <p:cNvSpPr txBox="1"/>
          <p:nvPr/>
        </p:nvSpPr>
        <p:spPr>
          <a:xfrm>
            <a:off x="1446212" y="228600"/>
            <a:ext cx="10210800" cy="1077218"/>
          </a:xfrm>
          <a:prstGeom prst="rect">
            <a:avLst/>
          </a:prstGeom>
          <a:noFill/>
        </p:spPr>
        <p:txBody>
          <a:bodyPr wrap="square" rtlCol="0">
            <a:spAutoFit/>
          </a:bodyPr>
          <a:lstStyle/>
          <a:p>
            <a:r>
              <a:rPr lang="en-US" sz="3200" dirty="0" smtClean="0"/>
              <a:t>This process continues as we attempt to get the derivative for each weight.</a:t>
            </a:r>
            <a:endParaRPr lang="en-US" sz="3200" dirty="0"/>
          </a:p>
        </p:txBody>
      </p:sp>
      <p:cxnSp>
        <p:nvCxnSpPr>
          <p:cNvPr id="74" name="Straight Arrow Connector 73"/>
          <p:cNvCxnSpPr/>
          <p:nvPr/>
        </p:nvCxnSpPr>
        <p:spPr>
          <a:xfrm flipH="1">
            <a:off x="5571833" y="1350479"/>
            <a:ext cx="407011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Oval 71"/>
              <p:cNvSpPr/>
              <p:nvPr/>
            </p:nvSpPr>
            <p:spPr>
              <a:xfrm>
                <a:off x="4646612"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72" name="Oval 71"/>
              <p:cNvSpPr>
                <a:spLocks noRot="1" noChangeAspect="1" noMove="1" noResize="1" noEditPoints="1" noAdjustHandles="1" noChangeArrowheads="1" noChangeShapeType="1" noTextEdit="1"/>
              </p:cNvSpPr>
              <p:nvPr/>
            </p:nvSpPr>
            <p:spPr>
              <a:xfrm>
                <a:off x="4646612" y="5263211"/>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Oval 72"/>
              <p:cNvSpPr/>
              <p:nvPr/>
            </p:nvSpPr>
            <p:spPr>
              <a:xfrm>
                <a:off x="4646612"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73" name="Oval 72"/>
              <p:cNvSpPr>
                <a:spLocks noRot="1" noChangeAspect="1" noMove="1" noResize="1" noEditPoints="1" noAdjustHandles="1" noChangeArrowheads="1" noChangeShapeType="1" noTextEdit="1"/>
              </p:cNvSpPr>
              <p:nvPr/>
            </p:nvSpPr>
            <p:spPr>
              <a:xfrm>
                <a:off x="4646612" y="4123816"/>
                <a:ext cx="925221" cy="925221"/>
              </a:xfrm>
              <a:prstGeom prst="ellipse">
                <a:avLst/>
              </a:prstGeom>
              <a:blipFill rotWithShape="0">
                <a:blip r:embed="rId6"/>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Oval 74"/>
              <p:cNvSpPr/>
              <p:nvPr/>
            </p:nvSpPr>
            <p:spPr>
              <a:xfrm>
                <a:off x="4646612"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75" name="Oval 74"/>
              <p:cNvSpPr>
                <a:spLocks noRot="1" noChangeAspect="1" noMove="1" noResize="1" noEditPoints="1" noAdjustHandles="1" noChangeArrowheads="1" noChangeShapeType="1" noTextEdit="1"/>
              </p:cNvSpPr>
              <p:nvPr/>
            </p:nvSpPr>
            <p:spPr>
              <a:xfrm>
                <a:off x="4646612" y="2984424"/>
                <a:ext cx="925221" cy="925221"/>
              </a:xfrm>
              <a:prstGeom prst="ellipse">
                <a:avLst/>
              </a:prstGeom>
              <a:blipFill rotWithShape="0">
                <a:blip r:embed="rId7"/>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Oval 75"/>
              <p:cNvSpPr/>
              <p:nvPr/>
            </p:nvSpPr>
            <p:spPr>
              <a:xfrm>
                <a:off x="4646612"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76" name="Oval 75"/>
              <p:cNvSpPr>
                <a:spLocks noRot="1" noChangeAspect="1" noMove="1" noResize="1" noEditPoints="1" noAdjustHandles="1" noChangeArrowheads="1" noChangeShapeType="1" noTextEdit="1"/>
              </p:cNvSpPr>
              <p:nvPr/>
            </p:nvSpPr>
            <p:spPr>
              <a:xfrm>
                <a:off x="4646612" y="1845032"/>
                <a:ext cx="925221" cy="925221"/>
              </a:xfrm>
              <a:prstGeom prst="ellipse">
                <a:avLst/>
              </a:prstGeom>
              <a:blipFill rotWithShape="0">
                <a:blip r:embed="rId8"/>
                <a:stretch>
                  <a:fillRect t="-24183" b="-41176"/>
                </a:stretch>
              </a:blipFill>
            </p:spPr>
            <p:txBody>
              <a:bodyPr/>
              <a:lstStyle/>
              <a:p>
                <a:r>
                  <a:rPr lang="en-US">
                    <a:noFill/>
                  </a:rPr>
                  <a:t> </a:t>
                </a:r>
              </a:p>
            </p:txBody>
          </p:sp>
        </mc:Fallback>
      </mc:AlternateContent>
    </p:spTree>
    <p:extLst>
      <p:ext uri="{BB962C8B-B14F-4D97-AF65-F5344CB8AC3E}">
        <p14:creationId xmlns:p14="http://schemas.microsoft.com/office/powerpoint/2010/main" val="17139658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Oval 11"/>
              <p:cNvSpPr/>
              <p:nvPr/>
            </p:nvSpPr>
            <p:spPr>
              <a:xfrm>
                <a:off x="6188648"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2" name="Oval 11"/>
              <p:cNvSpPr>
                <a:spLocks noRot="1" noChangeAspect="1" noMove="1" noResize="1" noEditPoints="1" noAdjustHandles="1" noChangeArrowheads="1" noChangeShapeType="1" noTextEdit="1"/>
              </p:cNvSpPr>
              <p:nvPr/>
            </p:nvSpPr>
            <p:spPr>
              <a:xfrm>
                <a:off x="6188648" y="5263211"/>
                <a:ext cx="925221" cy="925221"/>
              </a:xfrm>
              <a:prstGeom prst="ellipse">
                <a:avLst/>
              </a:prstGeom>
              <a:blipFill rotWithShape="0">
                <a:blip r:embed="rId3"/>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6188648"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3" name="Oval 12"/>
              <p:cNvSpPr>
                <a:spLocks noRot="1" noChangeAspect="1" noMove="1" noResize="1" noEditPoints="1" noAdjustHandles="1" noChangeArrowheads="1" noChangeShapeType="1" noTextEdit="1"/>
              </p:cNvSpPr>
              <p:nvPr/>
            </p:nvSpPr>
            <p:spPr>
              <a:xfrm>
                <a:off x="6188648" y="4123816"/>
                <a:ext cx="925221" cy="925221"/>
              </a:xfrm>
              <a:prstGeom prst="ellipse">
                <a:avLst/>
              </a:prstGeom>
              <a:blipFill rotWithShape="0">
                <a:blip r:embed="rId3"/>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p:cNvSpPr/>
              <p:nvPr/>
            </p:nvSpPr>
            <p:spPr>
              <a:xfrm>
                <a:off x="6188648"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4" name="Oval 13"/>
              <p:cNvSpPr>
                <a:spLocks noRot="1" noChangeAspect="1" noMove="1" noResize="1" noEditPoints="1" noAdjustHandles="1" noChangeArrowheads="1" noChangeShapeType="1" noTextEdit="1"/>
              </p:cNvSpPr>
              <p:nvPr/>
            </p:nvSpPr>
            <p:spPr>
              <a:xfrm>
                <a:off x="6188648" y="2984424"/>
                <a:ext cx="925221" cy="925221"/>
              </a:xfrm>
              <a:prstGeom prst="ellipse">
                <a:avLst/>
              </a:prstGeom>
              <a:blipFill rotWithShape="0">
                <a:blip r:embed="rId4"/>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6188648"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15" name="Oval 14"/>
              <p:cNvSpPr>
                <a:spLocks noRot="1" noChangeAspect="1" noMove="1" noResize="1" noEditPoints="1" noAdjustHandles="1" noChangeArrowheads="1" noChangeShapeType="1" noTextEdit="1"/>
              </p:cNvSpPr>
              <p:nvPr/>
            </p:nvSpPr>
            <p:spPr>
              <a:xfrm>
                <a:off x="6188648" y="1845032"/>
                <a:ext cx="925221" cy="925221"/>
              </a:xfrm>
              <a:prstGeom prst="ellipse">
                <a:avLst/>
              </a:prstGeom>
              <a:blipFill rotWithShape="0">
                <a:blip r:embed="rId5"/>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7797942" y="2404022"/>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smtClean="0">
                          <a:solidFill>
                            <a:schemeClr val="tx2"/>
                          </a:solidFill>
                          <a:latin typeface="Cambria Math" charset="0"/>
                        </a:rPr>
                        <m:t> </m:t>
                      </m:r>
                      <m:sSub>
                        <m:sSubPr>
                          <m:ctrlPr>
                            <a:rPr lang="en-US" sz="2000" i="1">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smtClean="0">
                                  <a:solidFill>
                                    <a:schemeClr val="tx2"/>
                                  </a:solidFill>
                                  <a:latin typeface="Cambria Math" panose="02040503050406030204" pitchFamily="18" charset="0"/>
                                </a:rPr>
                              </m:ctrlPr>
                            </m:accPr>
                            <m:e>
                              <m:r>
                                <a:rPr lang="en-US" sz="2000" b="0" i="1" smtClean="0">
                                  <a:solidFill>
                                    <a:schemeClr val="tx2"/>
                                  </a:solidFill>
                                  <a:latin typeface="Cambria Math" charset="0"/>
                                </a:rPr>
                                <m:t>𝑦</m:t>
                              </m:r>
                            </m:e>
                          </m:acc>
                        </m:e>
                        <m:sub>
                          <m:r>
                            <a:rPr lang="en-US" sz="2000" i="1">
                              <a:solidFill>
                                <a:schemeClr val="tx2"/>
                              </a:solidFill>
                              <a:latin typeface="Cambria Math" charset="0"/>
                            </a:rPr>
                            <m:t>1</m:t>
                          </m:r>
                        </m:sub>
                      </m:sSub>
                    </m:oMath>
                  </m:oMathPara>
                </a14:m>
                <a:endParaRPr lang="en-US" sz="2000" dirty="0">
                  <a:solidFill>
                    <a:schemeClr val="tx2"/>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7797942" y="2404022"/>
                <a:ext cx="925221" cy="925221"/>
              </a:xfrm>
              <a:prstGeom prst="ellipse">
                <a:avLst/>
              </a:prstGeom>
              <a:blipFill rotWithShape="0">
                <a:blip r:embed="rId6"/>
                <a:stretch>
                  <a:fillRect t="-12338" r="-649" b="-266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Oval 16"/>
              <p:cNvSpPr/>
              <p:nvPr/>
            </p:nvSpPr>
            <p:spPr>
              <a:xfrm>
                <a:off x="7797942" y="3602311"/>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2</m:t>
                          </m:r>
                        </m:sub>
                      </m:sSub>
                    </m:oMath>
                  </m:oMathPara>
                </a14:m>
                <a:endParaRPr lang="en-US" sz="2000" dirty="0">
                  <a:solidFill>
                    <a:schemeClr val="tx2"/>
                  </a:solidFill>
                </a:endParaRPr>
              </a:p>
            </p:txBody>
          </p:sp>
        </mc:Choice>
        <mc:Fallback xmlns="">
          <p:sp>
            <p:nvSpPr>
              <p:cNvPr id="17" name="Oval 16"/>
              <p:cNvSpPr>
                <a:spLocks noRot="1" noChangeAspect="1" noMove="1" noResize="1" noEditPoints="1" noAdjustHandles="1" noChangeArrowheads="1" noChangeShapeType="1" noTextEdit="1"/>
              </p:cNvSpPr>
              <p:nvPr/>
            </p:nvSpPr>
            <p:spPr>
              <a:xfrm>
                <a:off x="7797942" y="3602311"/>
                <a:ext cx="925221" cy="925221"/>
              </a:xfrm>
              <a:prstGeom prst="ellipse">
                <a:avLst/>
              </a:prstGeom>
              <a:blipFill rotWithShape="0">
                <a:blip r:embed="rId7"/>
                <a:stretch>
                  <a:fillRect t="-12338" b="-259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Oval 17"/>
              <p:cNvSpPr/>
              <p:nvPr/>
            </p:nvSpPr>
            <p:spPr>
              <a:xfrm>
                <a:off x="7797942" y="4800600"/>
                <a:ext cx="925221" cy="92522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000" i="1" smtClean="0">
                              <a:solidFill>
                                <a:schemeClr val="tx2"/>
                              </a:solidFill>
                              <a:latin typeface="Cambria Math" panose="02040503050406030204" pitchFamily="18" charset="0"/>
                            </a:rPr>
                          </m:ctrlPr>
                        </m:sSubPr>
                        <m:e>
                          <m:r>
                            <a:rPr lang="en-US" sz="2000" b="0" i="1" smtClean="0">
                              <a:solidFill>
                                <a:schemeClr val="tx2"/>
                              </a:solidFill>
                              <a:latin typeface="Cambria Math" charset="0"/>
                            </a:rPr>
                            <m:t>   </m:t>
                          </m:r>
                          <m:acc>
                            <m:accPr>
                              <m:chr m:val="̂"/>
                              <m:ctrlPr>
                                <a:rPr lang="en-US" sz="2000" i="1">
                                  <a:solidFill>
                                    <a:schemeClr val="tx2"/>
                                  </a:solidFill>
                                  <a:latin typeface="Cambria Math" panose="02040503050406030204" pitchFamily="18" charset="0"/>
                                </a:rPr>
                              </m:ctrlPr>
                            </m:accPr>
                            <m:e>
                              <m:r>
                                <a:rPr lang="en-US" sz="2000" i="1">
                                  <a:solidFill>
                                    <a:schemeClr val="tx2"/>
                                  </a:solidFill>
                                  <a:latin typeface="Cambria Math" charset="0"/>
                                </a:rPr>
                                <m:t>𝑦</m:t>
                              </m:r>
                            </m:e>
                          </m:acc>
                        </m:e>
                        <m:sub>
                          <m:r>
                            <a:rPr lang="en-US" sz="2000" b="0" i="1" smtClean="0">
                              <a:solidFill>
                                <a:schemeClr val="tx2"/>
                              </a:solidFill>
                              <a:latin typeface="Cambria Math" charset="0"/>
                            </a:rPr>
                            <m:t>3</m:t>
                          </m:r>
                        </m:sub>
                      </m:sSub>
                    </m:oMath>
                  </m:oMathPara>
                </a14:m>
                <a:endParaRPr lang="en-US" sz="2000" dirty="0">
                  <a:solidFill>
                    <a:schemeClr val="tx2"/>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7797942" y="4800600"/>
                <a:ext cx="925221" cy="925221"/>
              </a:xfrm>
              <a:prstGeom prst="ellipse">
                <a:avLst/>
              </a:prstGeom>
              <a:blipFill rotWithShape="0">
                <a:blip r:embed="rId8"/>
                <a:stretch>
                  <a:fillRect t="-12418" b="-26797"/>
                </a:stretch>
              </a:blipFill>
            </p:spPr>
            <p:txBody>
              <a:bodyPr/>
              <a:lstStyle/>
              <a:p>
                <a:r>
                  <a:rPr lang="en-US">
                    <a:noFill/>
                  </a:rPr>
                  <a:t> </a:t>
                </a:r>
              </a:p>
            </p:txBody>
          </p:sp>
        </mc:Fallback>
      </mc:AlternateContent>
      <p:cxnSp>
        <p:nvCxnSpPr>
          <p:cNvPr id="19" name="Straight Arrow Connector 18"/>
          <p:cNvCxnSpPr>
            <a:endCxn id="12" idx="2"/>
          </p:cNvCxnSpPr>
          <p:nvPr/>
        </p:nvCxnSpPr>
        <p:spPr>
          <a:xfrm flipV="1">
            <a:off x="4029798" y="2307643"/>
            <a:ext cx="616814"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029798" y="2866633"/>
            <a:ext cx="616814"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029798" y="2866633"/>
            <a:ext cx="616814"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4029798" y="2866633"/>
            <a:ext cx="616814"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12" idx="2"/>
          </p:cNvCxnSpPr>
          <p:nvPr/>
        </p:nvCxnSpPr>
        <p:spPr>
          <a:xfrm flipV="1">
            <a:off x="4029798" y="2307643"/>
            <a:ext cx="616814"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4029798" y="3447035"/>
            <a:ext cx="616814"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4029798" y="4064922"/>
            <a:ext cx="616814"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4029798" y="4064922"/>
            <a:ext cx="616814"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2" idx="2"/>
          </p:cNvCxnSpPr>
          <p:nvPr/>
        </p:nvCxnSpPr>
        <p:spPr>
          <a:xfrm flipV="1">
            <a:off x="4029798" y="2307643"/>
            <a:ext cx="616814"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4029798" y="3447035"/>
            <a:ext cx="616814"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4029798" y="4586427"/>
            <a:ext cx="616814"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029798" y="5263211"/>
            <a:ext cx="616814"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2" idx="6"/>
            <a:endCxn id="16" idx="2"/>
          </p:cNvCxnSpPr>
          <p:nvPr/>
        </p:nvCxnSpPr>
        <p:spPr>
          <a:xfrm>
            <a:off x="5571834" y="2307643"/>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2" idx="6"/>
            <a:endCxn id="15" idx="2"/>
          </p:cNvCxnSpPr>
          <p:nvPr/>
        </p:nvCxnSpPr>
        <p:spPr>
          <a:xfrm>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6"/>
            <a:endCxn id="14" idx="2"/>
          </p:cNvCxnSpPr>
          <p:nvPr/>
        </p:nvCxnSpPr>
        <p:spPr>
          <a:xfrm>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2" idx="6"/>
            <a:endCxn id="13" idx="2"/>
          </p:cNvCxnSpPr>
          <p:nvPr/>
        </p:nvCxnSpPr>
        <p:spPr>
          <a:xfrm>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16" idx="2"/>
          </p:cNvCxnSpPr>
          <p:nvPr/>
        </p:nvCxnSpPr>
        <p:spPr>
          <a:xfrm flipV="1">
            <a:off x="5571834" y="2307643"/>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15" idx="2"/>
          </p:cNvCxnSpPr>
          <p:nvPr/>
        </p:nvCxnSpPr>
        <p:spPr>
          <a:xfrm>
            <a:off x="5571834" y="3447035"/>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endCxn id="14" idx="2"/>
          </p:cNvCxnSpPr>
          <p:nvPr/>
        </p:nvCxnSpPr>
        <p:spPr>
          <a:xfrm>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endCxn id="13" idx="2"/>
          </p:cNvCxnSpPr>
          <p:nvPr/>
        </p:nvCxnSpPr>
        <p:spPr>
          <a:xfrm>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16" idx="2"/>
          </p:cNvCxnSpPr>
          <p:nvPr/>
        </p:nvCxnSpPr>
        <p:spPr>
          <a:xfrm flipV="1">
            <a:off x="5571834" y="2307643"/>
            <a:ext cx="616814" cy="2278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15" idx="2"/>
          </p:cNvCxnSpPr>
          <p:nvPr/>
        </p:nvCxnSpPr>
        <p:spPr>
          <a:xfrm flipV="1">
            <a:off x="5571834" y="3447035"/>
            <a:ext cx="616814" cy="11393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endCxn id="14" idx="2"/>
          </p:cNvCxnSpPr>
          <p:nvPr/>
        </p:nvCxnSpPr>
        <p:spPr>
          <a:xfrm>
            <a:off x="5571834" y="4586427"/>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13" idx="2"/>
          </p:cNvCxnSpPr>
          <p:nvPr/>
        </p:nvCxnSpPr>
        <p:spPr>
          <a:xfrm>
            <a:off x="5571834" y="4586427"/>
            <a:ext cx="616814" cy="113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endCxn id="16" idx="2"/>
          </p:cNvCxnSpPr>
          <p:nvPr/>
        </p:nvCxnSpPr>
        <p:spPr>
          <a:xfrm flipV="1">
            <a:off x="5571834" y="2307643"/>
            <a:ext cx="616814" cy="3418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endCxn id="15" idx="2"/>
          </p:cNvCxnSpPr>
          <p:nvPr/>
        </p:nvCxnSpPr>
        <p:spPr>
          <a:xfrm flipV="1">
            <a:off x="5571834" y="3447035"/>
            <a:ext cx="616814" cy="2278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endCxn id="14" idx="2"/>
          </p:cNvCxnSpPr>
          <p:nvPr/>
        </p:nvCxnSpPr>
        <p:spPr>
          <a:xfrm flipV="1">
            <a:off x="5436339" y="4586427"/>
            <a:ext cx="752309" cy="8122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endCxn id="13" idx="2"/>
          </p:cNvCxnSpPr>
          <p:nvPr/>
        </p:nvCxnSpPr>
        <p:spPr>
          <a:xfrm>
            <a:off x="5571834" y="5725821"/>
            <a:ext cx="61681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6" idx="6"/>
            <a:endCxn id="21" idx="2"/>
          </p:cNvCxnSpPr>
          <p:nvPr/>
        </p:nvCxnSpPr>
        <p:spPr>
          <a:xfrm>
            <a:off x="7113869" y="2307643"/>
            <a:ext cx="684073" cy="558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6" idx="6"/>
            <a:endCxn id="22" idx="2"/>
          </p:cNvCxnSpPr>
          <p:nvPr/>
        </p:nvCxnSpPr>
        <p:spPr>
          <a:xfrm>
            <a:off x="7113869" y="2307643"/>
            <a:ext cx="684073" cy="1757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6" idx="6"/>
            <a:endCxn id="23" idx="2"/>
          </p:cNvCxnSpPr>
          <p:nvPr/>
        </p:nvCxnSpPr>
        <p:spPr>
          <a:xfrm>
            <a:off x="7113869" y="2307643"/>
            <a:ext cx="684073" cy="295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5" idx="6"/>
            <a:endCxn id="21" idx="2"/>
          </p:cNvCxnSpPr>
          <p:nvPr/>
        </p:nvCxnSpPr>
        <p:spPr>
          <a:xfrm flipV="1">
            <a:off x="7113869" y="2866633"/>
            <a:ext cx="684073" cy="580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5" idx="6"/>
            <a:endCxn id="22" idx="2"/>
          </p:cNvCxnSpPr>
          <p:nvPr/>
        </p:nvCxnSpPr>
        <p:spPr>
          <a:xfrm>
            <a:off x="7113869" y="3447035"/>
            <a:ext cx="684073" cy="617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5" idx="6"/>
            <a:endCxn id="23" idx="2"/>
          </p:cNvCxnSpPr>
          <p:nvPr/>
        </p:nvCxnSpPr>
        <p:spPr>
          <a:xfrm>
            <a:off x="7113869" y="3447035"/>
            <a:ext cx="684073" cy="1816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4" idx="6"/>
            <a:endCxn id="23" idx="2"/>
          </p:cNvCxnSpPr>
          <p:nvPr/>
        </p:nvCxnSpPr>
        <p:spPr>
          <a:xfrm>
            <a:off x="7113869" y="4586427"/>
            <a:ext cx="684073" cy="676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14" idx="6"/>
            <a:endCxn id="21" idx="2"/>
          </p:cNvCxnSpPr>
          <p:nvPr/>
        </p:nvCxnSpPr>
        <p:spPr>
          <a:xfrm flipV="1">
            <a:off x="7113869" y="2866633"/>
            <a:ext cx="684073" cy="1719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4" idx="6"/>
            <a:endCxn id="22" idx="2"/>
          </p:cNvCxnSpPr>
          <p:nvPr/>
        </p:nvCxnSpPr>
        <p:spPr>
          <a:xfrm flipV="1">
            <a:off x="7113869" y="4064922"/>
            <a:ext cx="684073" cy="5215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13" idx="6"/>
            <a:endCxn id="21" idx="2"/>
          </p:cNvCxnSpPr>
          <p:nvPr/>
        </p:nvCxnSpPr>
        <p:spPr>
          <a:xfrm flipV="1">
            <a:off x="7113869" y="2866633"/>
            <a:ext cx="684073" cy="2859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3" idx="6"/>
            <a:endCxn id="22" idx="2"/>
          </p:cNvCxnSpPr>
          <p:nvPr/>
        </p:nvCxnSpPr>
        <p:spPr>
          <a:xfrm flipV="1">
            <a:off x="7113869" y="4064922"/>
            <a:ext cx="684073" cy="1660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13" idx="6"/>
            <a:endCxn id="23" idx="2"/>
          </p:cNvCxnSpPr>
          <p:nvPr/>
        </p:nvCxnSpPr>
        <p:spPr>
          <a:xfrm flipV="1">
            <a:off x="7113869" y="5263211"/>
            <a:ext cx="684073" cy="462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21" idx="6"/>
          </p:cNvCxnSpPr>
          <p:nvPr/>
        </p:nvCxnSpPr>
        <p:spPr>
          <a:xfrm>
            <a:off x="8723163" y="2866633"/>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2" idx="6"/>
          </p:cNvCxnSpPr>
          <p:nvPr/>
        </p:nvCxnSpPr>
        <p:spPr>
          <a:xfrm>
            <a:off x="8723163" y="4064922"/>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3" idx="6"/>
          </p:cNvCxnSpPr>
          <p:nvPr/>
        </p:nvCxnSpPr>
        <p:spPr>
          <a:xfrm>
            <a:off x="8723163" y="5263211"/>
            <a:ext cx="8895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2214980" y="2866633"/>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2214980" y="4064922"/>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2214980" y="5263211"/>
            <a:ext cx="889597"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Rectangle 2"/>
              <p:cNvSpPr/>
              <p:nvPr/>
            </p:nvSpPr>
            <p:spPr>
              <a:xfrm>
                <a:off x="3179068" y="189245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(1)</m:t>
                          </m:r>
                        </m:sup>
                      </m:sSup>
                    </m:oMath>
                  </m:oMathPara>
                </a14:m>
                <a:endParaRPr lang="en-US" dirty="0">
                  <a:solidFill>
                    <a:schemeClr val="tx2"/>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3179068" y="1892459"/>
                <a:ext cx="847732" cy="47699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4762355" y="1350479"/>
                <a:ext cx="847732"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(2)</m:t>
                          </m:r>
                        </m:sup>
                      </m:sSup>
                    </m:oMath>
                  </m:oMathPara>
                </a14:m>
                <a:endParaRPr lang="en-US" dirty="0">
                  <a:solidFill>
                    <a:schemeClr val="tx2"/>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4762355" y="1350479"/>
                <a:ext cx="847732" cy="47699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p:cNvSpPr/>
              <p:nvPr/>
            </p:nvSpPr>
            <p:spPr>
              <a:xfrm>
                <a:off x="6266137" y="135047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(3)</m:t>
                          </m:r>
                        </m:sup>
                      </m:sSup>
                    </m:oMath>
                  </m:oMathPara>
                </a14:m>
                <a:endParaRPr lang="en-US" dirty="0">
                  <a:solidFill>
                    <a:schemeClr val="tx2"/>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6266137" y="1350479"/>
                <a:ext cx="847733" cy="47699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Rectangle 68"/>
              <p:cNvSpPr/>
              <p:nvPr/>
            </p:nvSpPr>
            <p:spPr>
              <a:xfrm>
                <a:off x="7892958" y="1892459"/>
                <a:ext cx="847733"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tx2"/>
                              </a:solidFill>
                              <a:latin typeface="Cambria Math" panose="02040503050406030204" pitchFamily="18" charset="0"/>
                            </a:rPr>
                          </m:ctrlPr>
                        </m:sSupPr>
                        <m:e>
                          <m:r>
                            <a:rPr lang="en-US" sz="2400" b="0" i="1" smtClean="0">
                              <a:solidFill>
                                <a:schemeClr val="tx2"/>
                              </a:solidFill>
                              <a:latin typeface="Cambria Math" charset="0"/>
                            </a:rPr>
                            <m:t>𝑎</m:t>
                          </m:r>
                        </m:e>
                        <m:sup>
                          <m:r>
                            <a:rPr lang="en-US" sz="2400" b="0" i="1" smtClean="0">
                              <a:solidFill>
                                <a:schemeClr val="tx2"/>
                              </a:solidFill>
                              <a:latin typeface="Cambria Math" charset="0"/>
                            </a:rPr>
                            <m:t>(4)</m:t>
                          </m:r>
                        </m:sup>
                      </m:sSup>
                    </m:oMath>
                  </m:oMathPara>
                </a14:m>
                <a:endParaRPr lang="en-US" dirty="0">
                  <a:solidFill>
                    <a:schemeClr val="tx2"/>
                  </a:solidFill>
                </a:endParaRPr>
              </a:p>
            </p:txBody>
          </p:sp>
        </mc:Choice>
        <mc:Fallback xmlns="">
          <p:sp>
            <p:nvSpPr>
              <p:cNvPr id="69" name="Rectangle 68"/>
              <p:cNvSpPr>
                <a:spLocks noRot="1" noChangeAspect="1" noMove="1" noResize="1" noEditPoints="1" noAdjustHandles="1" noChangeArrowheads="1" noChangeShapeType="1" noTextEdit="1"/>
              </p:cNvSpPr>
              <p:nvPr/>
            </p:nvSpPr>
            <p:spPr>
              <a:xfrm>
                <a:off x="7892958" y="1892459"/>
                <a:ext cx="847733" cy="476990"/>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Rectangle 83"/>
              <p:cNvSpPr/>
              <p:nvPr/>
            </p:nvSpPr>
            <p:spPr>
              <a:xfrm>
                <a:off x="3808412" y="5711442"/>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(1)</m:t>
                          </m:r>
                        </m:sup>
                      </m:sSup>
                    </m:oMath>
                  </m:oMathPara>
                </a14:m>
                <a:endParaRPr lang="en-US" dirty="0">
                  <a:solidFill>
                    <a:schemeClr val="accent5">
                      <a:lumMod val="50000"/>
                    </a:schemeClr>
                  </a:solidFill>
                </a:endParaRPr>
              </a:p>
            </p:txBody>
          </p:sp>
        </mc:Choice>
        <mc:Fallback xmlns="">
          <p:sp>
            <p:nvSpPr>
              <p:cNvPr id="84" name="Rectangle 83"/>
              <p:cNvSpPr>
                <a:spLocks noRot="1" noChangeAspect="1" noMove="1" noResize="1" noEditPoints="1" noAdjustHandles="1" noChangeArrowheads="1" noChangeShapeType="1" noTextEdit="1"/>
              </p:cNvSpPr>
              <p:nvPr/>
            </p:nvSpPr>
            <p:spPr>
              <a:xfrm>
                <a:off x="3808412" y="5711442"/>
                <a:ext cx="979755" cy="476990"/>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Rectangle 84"/>
              <p:cNvSpPr/>
              <p:nvPr/>
            </p:nvSpPr>
            <p:spPr>
              <a:xfrm>
                <a:off x="5445464" y="5711442"/>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(2)</m:t>
                          </m:r>
                        </m:sup>
                      </m:sSup>
                    </m:oMath>
                  </m:oMathPara>
                </a14:m>
                <a:endParaRPr lang="en-US" dirty="0">
                  <a:solidFill>
                    <a:schemeClr val="accent5">
                      <a:lumMod val="50000"/>
                    </a:schemeClr>
                  </a:solidFill>
                </a:endParaRPr>
              </a:p>
            </p:txBody>
          </p:sp>
        </mc:Choice>
        <mc:Fallback xmlns="">
          <p:sp>
            <p:nvSpPr>
              <p:cNvPr id="85" name="Rectangle 84"/>
              <p:cNvSpPr>
                <a:spLocks noRot="1" noChangeAspect="1" noMove="1" noResize="1" noEditPoints="1" noAdjustHandles="1" noChangeArrowheads="1" noChangeShapeType="1" noTextEdit="1"/>
              </p:cNvSpPr>
              <p:nvPr/>
            </p:nvSpPr>
            <p:spPr>
              <a:xfrm>
                <a:off x="5445464" y="5711442"/>
                <a:ext cx="979755" cy="476990"/>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Rectangle 85"/>
              <p:cNvSpPr/>
              <p:nvPr/>
            </p:nvSpPr>
            <p:spPr>
              <a:xfrm>
                <a:off x="7054758" y="5711442"/>
                <a:ext cx="9797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chemeClr val="accent5">
                                  <a:lumMod val="50000"/>
                                </a:schemeClr>
                              </a:solidFill>
                              <a:latin typeface="Cambria Math" panose="02040503050406030204" pitchFamily="18" charset="0"/>
                            </a:rPr>
                          </m:ctrlPr>
                        </m:sSupPr>
                        <m:e>
                          <m:r>
                            <a:rPr lang="en-US" sz="2400" b="0" i="1" smtClean="0">
                              <a:solidFill>
                                <a:schemeClr val="accent5">
                                  <a:lumMod val="50000"/>
                                </a:schemeClr>
                              </a:solidFill>
                              <a:latin typeface="Cambria Math" charset="0"/>
                            </a:rPr>
                            <m:t>𝑊</m:t>
                          </m:r>
                        </m:e>
                        <m:sup>
                          <m:r>
                            <a:rPr lang="en-US" sz="2400" b="0" i="1" smtClean="0">
                              <a:solidFill>
                                <a:schemeClr val="accent5">
                                  <a:lumMod val="50000"/>
                                </a:schemeClr>
                              </a:solidFill>
                              <a:latin typeface="Cambria Math" charset="0"/>
                            </a:rPr>
                            <m:t>(3)</m:t>
                          </m:r>
                        </m:sup>
                      </m:sSup>
                    </m:oMath>
                  </m:oMathPara>
                </a14:m>
                <a:endParaRPr lang="en-US" dirty="0">
                  <a:solidFill>
                    <a:schemeClr val="accent5">
                      <a:lumMod val="50000"/>
                    </a:schemeClr>
                  </a:solidFill>
                </a:endParaRPr>
              </a:p>
            </p:txBody>
          </p:sp>
        </mc:Choice>
        <mc:Fallback xmlns="">
          <p:sp>
            <p:nvSpPr>
              <p:cNvPr id="86" name="Rectangle 85"/>
              <p:cNvSpPr>
                <a:spLocks noRot="1" noChangeAspect="1" noMove="1" noResize="1" noEditPoints="1" noAdjustHandles="1" noChangeArrowheads="1" noChangeShapeType="1" noTextEdit="1"/>
              </p:cNvSpPr>
              <p:nvPr/>
            </p:nvSpPr>
            <p:spPr>
              <a:xfrm>
                <a:off x="7054758" y="5711442"/>
                <a:ext cx="979755" cy="476990"/>
              </a:xfrm>
              <a:prstGeom prst="rect">
                <a:avLst/>
              </a:prstGeom>
              <a:blipFill rotWithShape="0">
                <a:blip r:embed="rId15"/>
                <a:stretch>
                  <a:fillRect/>
                </a:stretch>
              </a:blipFill>
            </p:spPr>
            <p:txBody>
              <a:bodyPr/>
              <a:lstStyle/>
              <a:p>
                <a:r>
                  <a:rPr lang="en-US">
                    <a:noFill/>
                  </a:rPr>
                  <a:t> </a:t>
                </a:r>
              </a:p>
            </p:txBody>
          </p:sp>
        </mc:Fallback>
      </mc:AlternateContent>
      <p:sp>
        <p:nvSpPr>
          <p:cNvPr id="87" name="Rounded Rectangle 86"/>
          <p:cNvSpPr/>
          <p:nvPr/>
        </p:nvSpPr>
        <p:spPr>
          <a:xfrm>
            <a:off x="9828212" y="2404022"/>
            <a:ext cx="990600" cy="3479610"/>
          </a:xfrm>
          <a:prstGeom prst="roundRect">
            <a:avLst/>
          </a:prstGeom>
          <a:solidFill>
            <a:srgbClr val="C00000"/>
          </a:solidFill>
        </p:spPr>
        <p:style>
          <a:lnRef idx="2">
            <a:schemeClr val="accent4">
              <a:shade val="50000"/>
            </a:schemeClr>
          </a:lnRef>
          <a:fillRef idx="1">
            <a:schemeClr val="accent4"/>
          </a:fillRef>
          <a:effectRef idx="0">
            <a:schemeClr val="accent4"/>
          </a:effectRef>
          <a:fontRef idx="minor">
            <a:schemeClr val="lt1"/>
          </a:fontRef>
        </p:style>
        <p:txBody>
          <a:bodyPr wrap="none" rtlCol="0" anchor="ctr"/>
          <a:lstStyle/>
          <a:p>
            <a:pPr algn="ctr"/>
            <a:r>
              <a:rPr lang="en-US" sz="3200" dirty="0" smtClean="0"/>
              <a:t>Cost</a:t>
            </a:r>
          </a:p>
          <a:p>
            <a:pPr algn="ctr"/>
            <a:r>
              <a:rPr lang="en-US" sz="3200" dirty="0" smtClean="0"/>
              <a:t>(J)</a:t>
            </a:r>
            <a:endParaRPr lang="en-US" sz="3200" dirty="0"/>
          </a:p>
        </p:txBody>
      </p:sp>
      <p:sp>
        <p:nvSpPr>
          <p:cNvPr id="4" name="TextBox 3"/>
          <p:cNvSpPr txBox="1"/>
          <p:nvPr/>
        </p:nvSpPr>
        <p:spPr>
          <a:xfrm>
            <a:off x="1446212" y="228600"/>
            <a:ext cx="10210800" cy="584775"/>
          </a:xfrm>
          <a:prstGeom prst="rect">
            <a:avLst/>
          </a:prstGeom>
          <a:noFill/>
        </p:spPr>
        <p:txBody>
          <a:bodyPr wrap="square" rtlCol="0">
            <a:spAutoFit/>
          </a:bodyPr>
          <a:lstStyle/>
          <a:p>
            <a:r>
              <a:rPr lang="en-US" sz="3200" dirty="0" smtClean="0"/>
              <a:t>Until we have found all the derivatives we need</a:t>
            </a:r>
            <a:endParaRPr lang="en-US" sz="3200" dirty="0"/>
          </a:p>
        </p:txBody>
      </p:sp>
      <p:cxnSp>
        <p:nvCxnSpPr>
          <p:cNvPr id="74" name="Straight Arrow Connector 73"/>
          <p:cNvCxnSpPr/>
          <p:nvPr/>
        </p:nvCxnSpPr>
        <p:spPr>
          <a:xfrm flipH="1">
            <a:off x="4026800" y="1350479"/>
            <a:ext cx="5615145"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Oval 71"/>
              <p:cNvSpPr/>
              <p:nvPr/>
            </p:nvSpPr>
            <p:spPr>
              <a:xfrm>
                <a:off x="4646612" y="5263211"/>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72" name="Oval 71"/>
              <p:cNvSpPr>
                <a:spLocks noRot="1" noChangeAspect="1" noMove="1" noResize="1" noEditPoints="1" noAdjustHandles="1" noChangeArrowheads="1" noChangeShapeType="1" noTextEdit="1"/>
              </p:cNvSpPr>
              <p:nvPr/>
            </p:nvSpPr>
            <p:spPr>
              <a:xfrm>
                <a:off x="4646612" y="5263211"/>
                <a:ext cx="925221" cy="925221"/>
              </a:xfrm>
              <a:prstGeom prst="ellipse">
                <a:avLst/>
              </a:prstGeom>
              <a:blipFill rotWithShape="0">
                <a:blip r:embed="rId3"/>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Oval 72"/>
              <p:cNvSpPr/>
              <p:nvPr/>
            </p:nvSpPr>
            <p:spPr>
              <a:xfrm>
                <a:off x="4646612" y="4123816"/>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73" name="Oval 72"/>
              <p:cNvSpPr>
                <a:spLocks noRot="1" noChangeAspect="1" noMove="1" noResize="1" noEditPoints="1" noAdjustHandles="1" noChangeArrowheads="1" noChangeShapeType="1" noTextEdit="1"/>
              </p:cNvSpPr>
              <p:nvPr/>
            </p:nvSpPr>
            <p:spPr>
              <a:xfrm>
                <a:off x="4646612" y="4123816"/>
                <a:ext cx="925221" cy="925221"/>
              </a:xfrm>
              <a:prstGeom prst="ellipse">
                <a:avLst/>
              </a:prstGeom>
              <a:blipFill rotWithShape="0">
                <a:blip r:embed="rId3"/>
                <a:stretch>
                  <a:fillRect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Oval 74"/>
              <p:cNvSpPr/>
              <p:nvPr/>
            </p:nvSpPr>
            <p:spPr>
              <a:xfrm>
                <a:off x="4646612" y="2984424"/>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75" name="Oval 74"/>
              <p:cNvSpPr>
                <a:spLocks noRot="1" noChangeAspect="1" noMove="1" noResize="1" noEditPoints="1" noAdjustHandles="1" noChangeArrowheads="1" noChangeShapeType="1" noTextEdit="1"/>
              </p:cNvSpPr>
              <p:nvPr/>
            </p:nvSpPr>
            <p:spPr>
              <a:xfrm>
                <a:off x="4646612" y="2984424"/>
                <a:ext cx="925221" cy="925221"/>
              </a:xfrm>
              <a:prstGeom prst="ellipse">
                <a:avLst/>
              </a:prstGeom>
              <a:blipFill rotWithShape="0">
                <a:blip r:embed="rId4"/>
                <a:stretch>
                  <a:fillRect t="-24837"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Oval 75"/>
              <p:cNvSpPr/>
              <p:nvPr/>
            </p:nvSpPr>
            <p:spPr>
              <a:xfrm>
                <a:off x="4646612" y="1845032"/>
                <a:ext cx="925221" cy="92522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smtClean="0">
                          <a:solidFill>
                            <a:schemeClr val="tx2"/>
                          </a:solidFill>
                          <a:latin typeface="Cambria Math" charset="0"/>
                          <a:ea typeface="Cambria Math" charset="0"/>
                          <a:cs typeface="Cambria Math" charset="0"/>
                        </a:rPr>
                        <m:t> </m:t>
                      </m:r>
                      <m:r>
                        <a:rPr lang="en-US" sz="2400" b="0" i="1" smtClean="0">
                          <a:solidFill>
                            <a:schemeClr val="tx2"/>
                          </a:solidFill>
                          <a:latin typeface="Cambria Math" charset="0"/>
                          <a:ea typeface="Cambria Math" charset="0"/>
                          <a:cs typeface="Cambria Math" charset="0"/>
                        </a:rPr>
                        <m:t>  </m:t>
                      </m:r>
                      <m:r>
                        <a:rPr lang="en-US" sz="2400" i="1">
                          <a:solidFill>
                            <a:schemeClr val="tx2"/>
                          </a:solidFill>
                          <a:latin typeface="Cambria Math" charset="0"/>
                          <a:ea typeface="Cambria Math" charset="0"/>
                          <a:cs typeface="Cambria Math" charset="0"/>
                        </a:rPr>
                        <m:t>𝜎</m:t>
                      </m:r>
                    </m:oMath>
                  </m:oMathPara>
                </a14:m>
                <a:endParaRPr lang="en-US" sz="2400" dirty="0"/>
              </a:p>
            </p:txBody>
          </p:sp>
        </mc:Choice>
        <mc:Fallback xmlns="">
          <p:sp>
            <p:nvSpPr>
              <p:cNvPr id="76" name="Oval 75"/>
              <p:cNvSpPr>
                <a:spLocks noRot="1" noChangeAspect="1" noMove="1" noResize="1" noEditPoints="1" noAdjustHandles="1" noChangeArrowheads="1" noChangeShapeType="1" noTextEdit="1"/>
              </p:cNvSpPr>
              <p:nvPr/>
            </p:nvSpPr>
            <p:spPr>
              <a:xfrm>
                <a:off x="4646612" y="1845032"/>
                <a:ext cx="925221" cy="925221"/>
              </a:xfrm>
              <a:prstGeom prst="ellipse">
                <a:avLst/>
              </a:prstGeom>
              <a:blipFill rotWithShape="0">
                <a:blip r:embed="rId5"/>
                <a:stretch>
                  <a:fillRect t="-2418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Oval 76"/>
              <p:cNvSpPr/>
              <p:nvPr/>
            </p:nvSpPr>
            <p:spPr>
              <a:xfrm>
                <a:off x="3104577" y="2404022"/>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tx2"/>
                          </a:solidFill>
                          <a:latin typeface="Cambria Math" charset="0"/>
                        </a:rPr>
                        <m:t>   </m:t>
                      </m:r>
                      <m:sSub>
                        <m:sSubPr>
                          <m:ctrlPr>
                            <a:rPr lang="en-US" sz="2400" b="0" i="1" smtClean="0">
                              <a:solidFill>
                                <a:schemeClr val="tx2"/>
                              </a:solidFill>
                              <a:latin typeface="Cambria Math" panose="02040503050406030204" pitchFamily="18" charset="0"/>
                            </a:rPr>
                          </m:ctrlPr>
                        </m:sSubPr>
                        <m:e>
                          <m:r>
                            <a:rPr lang="en-US" sz="2400" b="0" i="1" smtClean="0">
                              <a:solidFill>
                                <a:schemeClr val="tx2"/>
                              </a:solidFill>
                              <a:latin typeface="Cambria Math" charset="0"/>
                            </a:rPr>
                            <m:t>𝑥</m:t>
                          </m:r>
                        </m:e>
                        <m:sub>
                          <m:r>
                            <a:rPr lang="en-US" sz="2400" b="0" i="1" smtClean="0">
                              <a:solidFill>
                                <a:schemeClr val="tx2"/>
                              </a:solidFill>
                              <a:latin typeface="Cambria Math" charset="0"/>
                            </a:rPr>
                            <m:t>1</m:t>
                          </m:r>
                        </m:sub>
                      </m:sSub>
                    </m:oMath>
                  </m:oMathPara>
                </a14:m>
                <a:endParaRPr lang="en-US" sz="2400" dirty="0">
                  <a:solidFill>
                    <a:schemeClr val="tx2"/>
                  </a:solidFill>
                </a:endParaRPr>
              </a:p>
            </p:txBody>
          </p:sp>
        </mc:Choice>
        <mc:Fallback xmlns="">
          <p:sp>
            <p:nvSpPr>
              <p:cNvPr id="77" name="Oval 76"/>
              <p:cNvSpPr>
                <a:spLocks noRot="1" noChangeAspect="1" noMove="1" noResize="1" noEditPoints="1" noAdjustHandles="1" noChangeArrowheads="1" noChangeShapeType="1" noTextEdit="1"/>
              </p:cNvSpPr>
              <p:nvPr/>
            </p:nvSpPr>
            <p:spPr>
              <a:xfrm>
                <a:off x="3104577" y="2404022"/>
                <a:ext cx="925221" cy="925221"/>
              </a:xfrm>
              <a:prstGeom prst="ellipse">
                <a:avLst/>
              </a:prstGeom>
              <a:blipFill rotWithShape="0">
                <a:blip r:embed="rId16"/>
                <a:stretch>
                  <a:fillRect l="-649" t="-24026" b="-4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Oval 77"/>
              <p:cNvSpPr/>
              <p:nvPr/>
            </p:nvSpPr>
            <p:spPr>
              <a:xfrm>
                <a:off x="3104577" y="3602311"/>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2</m:t>
                          </m:r>
                        </m:sub>
                      </m:sSub>
                    </m:oMath>
                  </m:oMathPara>
                </a14:m>
                <a:endParaRPr lang="en-US" sz="2400" dirty="0"/>
              </a:p>
            </p:txBody>
          </p:sp>
        </mc:Choice>
        <mc:Fallback xmlns="">
          <p:sp>
            <p:nvSpPr>
              <p:cNvPr id="78" name="Oval 77"/>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17"/>
                <a:stretch>
                  <a:fillRect l="-4545" t="-24026" b="-40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Oval 78"/>
              <p:cNvSpPr/>
              <p:nvPr/>
            </p:nvSpPr>
            <p:spPr>
              <a:xfrm>
                <a:off x="3104577" y="4800600"/>
                <a:ext cx="925221" cy="92522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sSub>
                        <m:sSubPr>
                          <m:ctrlPr>
                            <a:rPr lang="en-US" sz="2400" i="1">
                              <a:solidFill>
                                <a:schemeClr val="tx2"/>
                              </a:solidFill>
                              <a:latin typeface="Cambria Math" panose="02040503050406030204" pitchFamily="18" charset="0"/>
                            </a:rPr>
                          </m:ctrlPr>
                        </m:sSubPr>
                        <m:e>
                          <m:r>
                            <a:rPr lang="en-US" sz="2400" b="0" i="1" smtClean="0">
                              <a:solidFill>
                                <a:schemeClr val="tx2"/>
                              </a:solidFill>
                              <a:latin typeface="Cambria Math" charset="0"/>
                            </a:rPr>
                            <m:t>   </m:t>
                          </m:r>
                          <m:r>
                            <a:rPr lang="en-US" sz="2400" i="1">
                              <a:solidFill>
                                <a:schemeClr val="tx2"/>
                              </a:solidFill>
                              <a:latin typeface="Cambria Math" charset="0"/>
                            </a:rPr>
                            <m:t>𝑥</m:t>
                          </m:r>
                        </m:e>
                        <m:sub>
                          <m:r>
                            <a:rPr lang="en-US" sz="2400" b="0" i="1" smtClean="0">
                              <a:solidFill>
                                <a:schemeClr val="tx2"/>
                              </a:solidFill>
                              <a:latin typeface="Cambria Math" charset="0"/>
                            </a:rPr>
                            <m:t>3</m:t>
                          </m:r>
                        </m:sub>
                      </m:sSub>
                    </m:oMath>
                  </m:oMathPara>
                </a14:m>
                <a:endParaRPr lang="en-US" sz="2400" dirty="0"/>
              </a:p>
            </p:txBody>
          </p:sp>
        </mc:Choice>
        <mc:Fallback xmlns="">
          <p:sp>
            <p:nvSpPr>
              <p:cNvPr id="79" name="Oval 78"/>
              <p:cNvSpPr>
                <a:spLocks noRot="1" noChangeAspect="1" noMove="1" noResize="1" noEditPoints="1" noAdjustHandles="1" noChangeArrowheads="1" noChangeShapeType="1" noTextEdit="1"/>
              </p:cNvSpPr>
              <p:nvPr/>
            </p:nvSpPr>
            <p:spPr>
              <a:xfrm>
                <a:off x="3104577" y="4800600"/>
                <a:ext cx="925221" cy="925221"/>
              </a:xfrm>
              <a:prstGeom prst="ellipse">
                <a:avLst/>
              </a:prstGeom>
              <a:blipFill rotWithShape="0">
                <a:blip r:embed="rId18"/>
                <a:stretch>
                  <a:fillRect l="-4545" t="-24837" b="-41176"/>
                </a:stretch>
              </a:blipFill>
            </p:spPr>
            <p:txBody>
              <a:bodyPr/>
              <a:lstStyle/>
              <a:p>
                <a:r>
                  <a:rPr lang="en-US">
                    <a:noFill/>
                  </a:rPr>
                  <a:t> </a:t>
                </a:r>
              </a:p>
            </p:txBody>
          </p:sp>
        </mc:Fallback>
      </mc:AlternateContent>
    </p:spTree>
    <p:extLst>
      <p:ext uri="{BB962C8B-B14F-4D97-AF65-F5344CB8AC3E}">
        <p14:creationId xmlns:p14="http://schemas.microsoft.com/office/powerpoint/2010/main" val="15101393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smtClean="0"/>
                  <a:t>The </a:t>
                </a:r>
                <a:r>
                  <a:rPr lang="en-US" i="1" dirty="0" smtClean="0"/>
                  <a:t>error signal:</a:t>
                </a:r>
                <a:r>
                  <a:rPr lang="en-US" dirty="0" smtClean="0"/>
                  <a:t> </a:t>
                </a:r>
                <a14:m>
                  <m:oMath xmlns:m="http://schemas.openxmlformats.org/officeDocument/2006/math">
                    <m:r>
                      <a:rPr lang="en-US" i="1" smtClean="0">
                        <a:latin typeface="Cambria Math" charset="0"/>
                        <a:ea typeface="Cambria Math" charset="0"/>
                        <a:cs typeface="Cambria Math" charset="0"/>
                      </a:rPr>
                      <m:t>𝛿</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3"/>
                <a:stretch>
                  <a:fillRect l="-1869" b="-18137"/>
                </a:stretch>
              </a:blipFill>
            </p:spPr>
            <p:txBody>
              <a:bodyPr/>
              <a:lstStyle/>
              <a:p>
                <a:r>
                  <a:rPr lang="en-US">
                    <a:noFill/>
                  </a:rPr>
                  <a:t> </a:t>
                </a:r>
              </a:p>
            </p:txBody>
          </p:sp>
        </mc:Fallback>
      </mc:AlternateContent>
      <p:sp>
        <p:nvSpPr>
          <p:cNvPr id="3" name="Content Placeholder 2"/>
          <p:cNvSpPr>
            <a:spLocks noGrp="1"/>
          </p:cNvSpPr>
          <p:nvPr>
            <p:ph idx="1"/>
          </p:nvPr>
        </p:nvSpPr>
        <p:spPr>
          <a:xfrm>
            <a:off x="1593436" y="1600200"/>
            <a:ext cx="9782801" cy="914400"/>
          </a:xfrm>
        </p:spPr>
        <p:txBody>
          <a:bodyPr/>
          <a:lstStyle/>
          <a:p>
            <a:r>
              <a:rPr lang="en-US" dirty="0" smtClean="0"/>
              <a:t>Looking at these equations, we may notice a pattern:</a:t>
            </a:r>
            <a:endParaRPr lang="en-US" dirty="0"/>
          </a:p>
        </p:txBody>
      </p:sp>
      <mc:AlternateContent xmlns:mc="http://schemas.openxmlformats.org/markup-compatibility/2006" xmlns:a14="http://schemas.microsoft.com/office/drawing/2010/main">
        <mc:Choice Requires="a14">
          <p:sp>
            <p:nvSpPr>
              <p:cNvPr id="5" name="TextBox 4"/>
              <p:cNvSpPr txBox="1"/>
              <p:nvPr/>
            </p:nvSpPr>
            <p:spPr>
              <a:xfrm>
                <a:off x="1903412" y="3556447"/>
                <a:ext cx="7715400" cy="82650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mr-IN" sz="2800" b="0" i="1" smtClean="0">
                              <a:latin typeface="Cambria Math" panose="02040503050406030204" pitchFamily="18" charset="0"/>
                              <a:ea typeface="Euphemia" charset="0"/>
                              <a:cs typeface="Euphemia" charset="0"/>
                            </a:rPr>
                          </m:ctrlPr>
                        </m:fPr>
                        <m:num>
                          <m:r>
                            <a:rPr lang="mr-IN" sz="2800" b="0" i="1" smtClean="0">
                              <a:latin typeface="Cambria Math" charset="0"/>
                              <a:ea typeface="Euphemia" charset="0"/>
                              <a:cs typeface="Euphemia" charset="0"/>
                            </a:rPr>
                            <m:t>𝜕</m:t>
                          </m:r>
                          <m:r>
                            <a:rPr lang="en-US" sz="2800" b="0" i="1" smtClean="0">
                              <a:latin typeface="Cambria Math" charset="0"/>
                              <a:ea typeface="Euphemia" charset="0"/>
                              <a:cs typeface="Euphemia" charset="0"/>
                            </a:rPr>
                            <m:t>𝐽</m:t>
                          </m:r>
                        </m:num>
                        <m:den>
                          <m:r>
                            <a:rPr lang="mr-IN"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r>
                                <a:rPr lang="en-US" sz="2800" b="0" i="1" smtClean="0">
                                  <a:latin typeface="Cambria Math" charset="0"/>
                                  <a:ea typeface="Euphemia" charset="0"/>
                                  <a:cs typeface="Euphemia" charset="0"/>
                                </a:rPr>
                                <m:t>(2)</m:t>
                              </m:r>
                            </m:sup>
                          </m:sSup>
                        </m:den>
                      </m:f>
                      <m:r>
                        <a:rPr lang="en-US" sz="2800" b="0" i="1" smtClean="0">
                          <a:latin typeface="Cambria Math" charset="0"/>
                          <a:ea typeface="Euphemia" charset="0"/>
                          <a:cs typeface="Euphemia" charset="0"/>
                        </a:rPr>
                        <m:t>=</m:t>
                      </m:r>
                      <m:r>
                        <a:rPr lang="en-US" sz="2800" i="1">
                          <a:latin typeface="Cambria Math" charset="0"/>
                          <a:ea typeface="Euphemia" charset="0"/>
                          <a:cs typeface="Euphemia" charset="0"/>
                        </a:rPr>
                        <m:t>(</m:t>
                      </m:r>
                      <m:acc>
                        <m:accPr>
                          <m:chr m:val="̂"/>
                          <m:ctrlPr>
                            <a:rPr lang="en-US" sz="2800" i="1">
                              <a:latin typeface="Cambria Math" panose="02040503050406030204" pitchFamily="18" charset="0"/>
                              <a:ea typeface="Euphemia" charset="0"/>
                              <a:cs typeface="Euphemia" charset="0"/>
                            </a:rPr>
                          </m:ctrlPr>
                        </m:accPr>
                        <m:e>
                          <m:r>
                            <a:rPr lang="en-US" sz="2800" i="1">
                              <a:latin typeface="Cambria Math" charset="0"/>
                              <a:ea typeface="Euphemia" charset="0"/>
                              <a:cs typeface="Euphemia" charset="0"/>
                            </a:rPr>
                            <m:t>𝑦</m:t>
                          </m:r>
                        </m:e>
                      </m:acc>
                      <m:r>
                        <a:rPr lang="en-US" sz="2800" i="1">
                          <a:latin typeface="Cambria Math" charset="0"/>
                          <a:ea typeface="Euphemia" charset="0"/>
                          <a:cs typeface="Euphemia" charset="0"/>
                        </a:rPr>
                        <m:t>−</m:t>
                      </m:r>
                      <m:r>
                        <a:rPr lang="en-US" sz="2800" i="1">
                          <a:latin typeface="Cambria Math" charset="0"/>
                          <a:ea typeface="Euphemia" charset="0"/>
                          <a:cs typeface="Euphemia" charset="0"/>
                        </a:rPr>
                        <m:t>𝑦</m:t>
                      </m:r>
                      <m:r>
                        <a:rPr lang="en-US" sz="2800" i="1">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3</m:t>
                              </m:r>
                            </m:e>
                          </m:d>
                        </m:sup>
                      </m:sSup>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𝜎</m:t>
                          </m:r>
                        </m:e>
                        <m:sup>
                          <m:r>
                            <a:rPr lang="en-US" sz="2800" b="0" i="1" smtClean="0">
                              <a:latin typeface="Cambria Math" charset="0"/>
                              <a:ea typeface="Euphemia" charset="0"/>
                              <a:cs typeface="Euphemia" charset="0"/>
                            </a:rPr>
                            <m:t>′</m:t>
                          </m:r>
                        </m:sup>
                      </m:sSup>
                      <m:d>
                        <m:dPr>
                          <m:ctrlPr>
                            <a:rPr lang="en-US" sz="2800" b="0" i="1" smtClean="0">
                              <a:latin typeface="Cambria Math" panose="02040503050406030204" pitchFamily="18" charset="0"/>
                              <a:ea typeface="Euphemia" charset="0"/>
                              <a:cs typeface="Euphemia" charset="0"/>
                            </a:rPr>
                          </m:ctrlPr>
                        </m:dPr>
                        <m:e>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𝑧</m:t>
                              </m:r>
                            </m:e>
                            <m:sup>
                              <m:r>
                                <a:rPr lang="en-US" sz="2800" b="0" i="1" smtClean="0">
                                  <a:latin typeface="Cambria Math" charset="0"/>
                                  <a:ea typeface="Euphemia" charset="0"/>
                                  <a:cs typeface="Euphemia" charset="0"/>
                                </a:rPr>
                                <m:t>3</m:t>
                              </m:r>
                            </m:sup>
                          </m:sSup>
                        </m:e>
                      </m:d>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𝑎</m:t>
                          </m:r>
                        </m:e>
                        <m:sup>
                          <m:r>
                            <a:rPr lang="en-US" sz="2800" b="0" i="1" smtClean="0">
                              <a:latin typeface="Cambria Math" charset="0"/>
                              <a:ea typeface="Euphemia" charset="0"/>
                              <a:cs typeface="Euphemia" charset="0"/>
                            </a:rPr>
                            <m:t>(2)</m:t>
                          </m:r>
                        </m:sup>
                      </m:sSup>
                    </m:oMath>
                  </m:oMathPara>
                </a14:m>
                <a:endParaRPr lang="en-US" sz="2800" dirty="0">
                  <a:latin typeface="Euphemia" charset="0"/>
                  <a:ea typeface="Euphemia" charset="0"/>
                  <a:cs typeface="Euphemia"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903412" y="3556447"/>
                <a:ext cx="7715400" cy="82650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903412" y="4559776"/>
                <a:ext cx="10134600" cy="82650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mr-IN" sz="2800" b="0" i="1" smtClean="0">
                              <a:latin typeface="Cambria Math" panose="02040503050406030204" pitchFamily="18" charset="0"/>
                              <a:ea typeface="Euphemia" charset="0"/>
                              <a:cs typeface="Euphemia" charset="0"/>
                            </a:rPr>
                          </m:ctrlPr>
                        </m:fPr>
                        <m:num>
                          <m:r>
                            <a:rPr lang="mr-IN" sz="2800" b="0" i="1" smtClean="0">
                              <a:latin typeface="Cambria Math" charset="0"/>
                              <a:ea typeface="Euphemia" charset="0"/>
                              <a:cs typeface="Euphemia" charset="0"/>
                            </a:rPr>
                            <m:t>𝜕</m:t>
                          </m:r>
                          <m:r>
                            <a:rPr lang="en-US" sz="2800" b="0" i="1" smtClean="0">
                              <a:latin typeface="Cambria Math" charset="0"/>
                              <a:ea typeface="Euphemia" charset="0"/>
                              <a:cs typeface="Euphemia" charset="0"/>
                            </a:rPr>
                            <m:t>𝐽</m:t>
                          </m:r>
                        </m:num>
                        <m:den>
                          <m:r>
                            <a:rPr lang="mr-IN"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r>
                                <a:rPr lang="en-US" sz="2800" b="0" i="1" smtClean="0">
                                  <a:latin typeface="Cambria Math" charset="0"/>
                                  <a:ea typeface="Euphemia" charset="0"/>
                                  <a:cs typeface="Euphemia" charset="0"/>
                                </a:rPr>
                                <m:t>(1)</m:t>
                              </m:r>
                            </m:sup>
                          </m:sSup>
                        </m:den>
                      </m:f>
                      <m:r>
                        <a:rPr lang="en-US" sz="2800" b="0" i="1" smtClean="0">
                          <a:latin typeface="Cambria Math" charset="0"/>
                          <a:ea typeface="Euphemia" charset="0"/>
                          <a:cs typeface="Euphemia" charset="0"/>
                        </a:rPr>
                        <m:t>=</m:t>
                      </m:r>
                      <m:d>
                        <m:dPr>
                          <m:ctrlPr>
                            <a:rPr lang="en-US" sz="2800" i="1">
                              <a:latin typeface="Cambria Math" panose="02040503050406030204" pitchFamily="18" charset="0"/>
                              <a:ea typeface="Euphemia" charset="0"/>
                              <a:cs typeface="Euphemia" charset="0"/>
                            </a:rPr>
                          </m:ctrlPr>
                        </m:dPr>
                        <m:e>
                          <m:acc>
                            <m:accPr>
                              <m:chr m:val="̂"/>
                              <m:ctrlPr>
                                <a:rPr lang="en-US" sz="2800" i="1">
                                  <a:latin typeface="Cambria Math" panose="02040503050406030204" pitchFamily="18" charset="0"/>
                                  <a:ea typeface="Euphemia" charset="0"/>
                                  <a:cs typeface="Euphemia" charset="0"/>
                                </a:rPr>
                              </m:ctrlPr>
                            </m:accPr>
                            <m:e>
                              <m:r>
                                <a:rPr lang="en-US" sz="2800" i="1">
                                  <a:latin typeface="Cambria Math" charset="0"/>
                                  <a:ea typeface="Euphemia" charset="0"/>
                                  <a:cs typeface="Euphemia" charset="0"/>
                                </a:rPr>
                                <m:t>𝑦</m:t>
                              </m:r>
                            </m:e>
                          </m:acc>
                          <m:r>
                            <a:rPr lang="en-US" sz="2800" i="1">
                              <a:latin typeface="Cambria Math" charset="0"/>
                              <a:ea typeface="Euphemia" charset="0"/>
                              <a:cs typeface="Euphemia" charset="0"/>
                            </a:rPr>
                            <m:t>−</m:t>
                          </m:r>
                          <m:r>
                            <a:rPr lang="en-US" sz="2800" i="1">
                              <a:latin typeface="Cambria Math" charset="0"/>
                              <a:ea typeface="Euphemia" charset="0"/>
                              <a:cs typeface="Euphemia" charset="0"/>
                            </a:rPr>
                            <m:t>𝑦</m:t>
                          </m:r>
                        </m:e>
                      </m:d>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3</m:t>
                              </m:r>
                            </m:e>
                          </m:d>
                        </m:sup>
                      </m:sSup>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𝜎</m:t>
                          </m:r>
                        </m:e>
                        <m:sup>
                          <m:r>
                            <a:rPr lang="en-US" sz="2800" b="0" i="1" smtClean="0">
                              <a:latin typeface="Cambria Math" charset="0"/>
                              <a:ea typeface="Euphemia" charset="0"/>
                              <a:cs typeface="Euphemia" charset="0"/>
                            </a:rPr>
                            <m:t>′</m:t>
                          </m:r>
                        </m:sup>
                      </m:sSup>
                      <m:d>
                        <m:dPr>
                          <m:ctrlPr>
                            <a:rPr lang="en-US" sz="2800" b="0" i="1" smtClean="0">
                              <a:latin typeface="Cambria Math" panose="02040503050406030204" pitchFamily="18" charset="0"/>
                              <a:ea typeface="Euphemia" charset="0"/>
                              <a:cs typeface="Euphemia" charset="0"/>
                            </a:rPr>
                          </m:ctrlPr>
                        </m:dPr>
                        <m:e>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𝑧</m:t>
                              </m:r>
                            </m:e>
                            <m:sup>
                              <m:r>
                                <a:rPr lang="en-US" sz="2800" b="0" i="1" smtClean="0">
                                  <a:latin typeface="Cambria Math" charset="0"/>
                                  <a:ea typeface="Euphemia" charset="0"/>
                                  <a:cs typeface="Euphemia" charset="0"/>
                                </a:rPr>
                                <m:t>3</m:t>
                              </m:r>
                            </m:sup>
                          </m:sSup>
                        </m:e>
                      </m:d>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2</m:t>
                              </m:r>
                            </m:e>
                          </m:d>
                        </m:sup>
                      </m:sSup>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𝜎</m:t>
                          </m:r>
                        </m:e>
                        <m:sup>
                          <m:r>
                            <a:rPr lang="en-US" sz="2800" b="0" i="1" smtClean="0">
                              <a:latin typeface="Cambria Math" charset="0"/>
                              <a:ea typeface="Euphemia" charset="0"/>
                              <a:cs typeface="Euphemia" charset="0"/>
                            </a:rPr>
                            <m:t>′</m:t>
                          </m:r>
                        </m:sup>
                      </m:sSup>
                      <m:d>
                        <m:dPr>
                          <m:ctrlPr>
                            <a:rPr lang="en-US" sz="2800" b="0" i="1" smtClean="0">
                              <a:latin typeface="Cambria Math" panose="02040503050406030204" pitchFamily="18" charset="0"/>
                              <a:ea typeface="Euphemia" charset="0"/>
                              <a:cs typeface="Euphemia" charset="0"/>
                            </a:rPr>
                          </m:ctrlPr>
                        </m:dPr>
                        <m:e>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𝑧</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2</m:t>
                                  </m:r>
                                </m:e>
                              </m:d>
                            </m:sup>
                          </m:sSup>
                        </m:e>
                      </m:d>
                      <m:r>
                        <a:rPr lang="en-US" sz="2800" b="0" i="1" smtClean="0">
                          <a:latin typeface="Cambria Math" charset="0"/>
                          <a:ea typeface="Euphemia" charset="0"/>
                          <a:cs typeface="Euphemia" charset="0"/>
                        </a:rPr>
                        <m:t>⋅</m:t>
                      </m:r>
                      <m:r>
                        <a:rPr lang="en-US" sz="2800" b="0" i="1" smtClean="0">
                          <a:latin typeface="Cambria Math" charset="0"/>
                          <a:ea typeface="Euphemia" charset="0"/>
                          <a:cs typeface="Euphemia" charset="0"/>
                        </a:rPr>
                        <m:t>𝑋</m:t>
                      </m:r>
                    </m:oMath>
                  </m:oMathPara>
                </a14:m>
                <a:endParaRPr lang="en-US" sz="2800" dirty="0">
                  <a:latin typeface="Euphemia" charset="0"/>
                  <a:ea typeface="Euphemia" charset="0"/>
                  <a:cs typeface="Euphemia"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903412" y="4559776"/>
                <a:ext cx="10134600" cy="826508"/>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903412" y="2553119"/>
                <a:ext cx="7715400" cy="82650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mr-IN" sz="2800" b="0" i="1" smtClean="0">
                              <a:latin typeface="Cambria Math" panose="02040503050406030204" pitchFamily="18" charset="0"/>
                              <a:ea typeface="Euphemia" charset="0"/>
                              <a:cs typeface="Euphemia" charset="0"/>
                            </a:rPr>
                          </m:ctrlPr>
                        </m:fPr>
                        <m:num>
                          <m:r>
                            <a:rPr lang="mr-IN" sz="2800" b="0" i="1" smtClean="0">
                              <a:latin typeface="Cambria Math" charset="0"/>
                              <a:ea typeface="Euphemia" charset="0"/>
                              <a:cs typeface="Euphemia" charset="0"/>
                            </a:rPr>
                            <m:t>𝜕</m:t>
                          </m:r>
                          <m:r>
                            <a:rPr lang="en-US" sz="2800" b="0" i="1" smtClean="0">
                              <a:latin typeface="Cambria Math" charset="0"/>
                              <a:ea typeface="Euphemia" charset="0"/>
                              <a:cs typeface="Euphemia" charset="0"/>
                            </a:rPr>
                            <m:t>𝐽</m:t>
                          </m:r>
                        </m:num>
                        <m:den>
                          <m:r>
                            <a:rPr lang="mr-IN"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r>
                                <a:rPr lang="en-US" sz="2800" b="0" i="1" smtClean="0">
                                  <a:latin typeface="Cambria Math" charset="0"/>
                                  <a:ea typeface="Euphemia" charset="0"/>
                                  <a:cs typeface="Euphemia" charset="0"/>
                                </a:rPr>
                                <m:t>(3)</m:t>
                              </m:r>
                            </m:sup>
                          </m:sSup>
                        </m:den>
                      </m:f>
                      <m:r>
                        <a:rPr lang="en-US" sz="2800" b="0" i="1" smtClean="0">
                          <a:latin typeface="Cambria Math" charset="0"/>
                          <a:ea typeface="Euphemia" charset="0"/>
                          <a:cs typeface="Euphemia" charset="0"/>
                        </a:rPr>
                        <m:t>=</m:t>
                      </m:r>
                      <m:r>
                        <a:rPr lang="en-US" sz="2800" i="1">
                          <a:latin typeface="Cambria Math" charset="0"/>
                          <a:ea typeface="Euphemia" charset="0"/>
                          <a:cs typeface="Euphemia" charset="0"/>
                        </a:rPr>
                        <m:t>(</m:t>
                      </m:r>
                      <m:acc>
                        <m:accPr>
                          <m:chr m:val="̂"/>
                          <m:ctrlPr>
                            <a:rPr lang="en-US" sz="2800" i="1">
                              <a:latin typeface="Cambria Math" panose="02040503050406030204" pitchFamily="18" charset="0"/>
                              <a:ea typeface="Euphemia" charset="0"/>
                              <a:cs typeface="Euphemia" charset="0"/>
                            </a:rPr>
                          </m:ctrlPr>
                        </m:accPr>
                        <m:e>
                          <m:r>
                            <a:rPr lang="en-US" sz="2800" i="1">
                              <a:latin typeface="Cambria Math" charset="0"/>
                              <a:ea typeface="Euphemia" charset="0"/>
                              <a:cs typeface="Euphemia" charset="0"/>
                            </a:rPr>
                            <m:t>𝑦</m:t>
                          </m:r>
                        </m:e>
                      </m:acc>
                      <m:r>
                        <a:rPr lang="en-US" sz="2800" i="1">
                          <a:latin typeface="Cambria Math" charset="0"/>
                          <a:ea typeface="Euphemia" charset="0"/>
                          <a:cs typeface="Euphemia" charset="0"/>
                        </a:rPr>
                        <m:t>−</m:t>
                      </m:r>
                      <m:r>
                        <a:rPr lang="en-US" sz="2800" i="1">
                          <a:latin typeface="Cambria Math" charset="0"/>
                          <a:ea typeface="Euphemia" charset="0"/>
                          <a:cs typeface="Euphemia" charset="0"/>
                        </a:rPr>
                        <m:t>𝑦</m:t>
                      </m:r>
                      <m:r>
                        <a:rPr lang="en-US" sz="2800" i="1">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𝑎</m:t>
                          </m:r>
                        </m:e>
                        <m:sup>
                          <m:r>
                            <a:rPr lang="en-US" sz="2800" b="0" i="1" smtClean="0">
                              <a:latin typeface="Cambria Math" charset="0"/>
                              <a:ea typeface="Euphemia" charset="0"/>
                              <a:cs typeface="Euphemia" charset="0"/>
                            </a:rPr>
                            <m:t>(3)</m:t>
                          </m:r>
                        </m:sup>
                      </m:sSup>
                    </m:oMath>
                  </m:oMathPara>
                </a14:m>
                <a:endParaRPr lang="en-US" sz="2800" dirty="0">
                  <a:latin typeface="Euphemia" charset="0"/>
                  <a:ea typeface="Euphemia" charset="0"/>
                  <a:cs typeface="Euphemia"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903412" y="2553119"/>
                <a:ext cx="7715400" cy="826508"/>
              </a:xfrm>
              <a:prstGeom prst="rect">
                <a:avLst/>
              </a:prstGeom>
              <a:blipFill rotWithShape="0">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57843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p:cNvSpPr>
                <a:spLocks noGrp="1"/>
              </p:cNvSpPr>
              <p:nvPr>
                <p:ph type="title"/>
              </p:nvPr>
            </p:nvSpPr>
            <p:spPr/>
            <p:txBody>
              <a:bodyPr/>
              <a:lstStyle/>
              <a:p>
                <a:r>
                  <a:rPr lang="en-US" dirty="0"/>
                  <a:t>The </a:t>
                </a:r>
                <a:r>
                  <a:rPr lang="en-US" i="1" dirty="0"/>
                  <a:t>error signal:</a:t>
                </a:r>
                <a:r>
                  <a:rPr lang="en-US" dirty="0"/>
                  <a:t> </a:t>
                </a:r>
                <a14:m>
                  <m:oMath xmlns:m="http://schemas.openxmlformats.org/officeDocument/2006/math">
                    <m:r>
                      <a:rPr lang="en-US" i="1">
                        <a:latin typeface="Cambria Math" charset="0"/>
                        <a:ea typeface="Cambria Math" charset="0"/>
                        <a:cs typeface="Cambria Math" charset="0"/>
                      </a:rPr>
                      <m:t>𝛿</m:t>
                    </m:r>
                  </m:oMath>
                </a14:m>
                <a:endParaRPr lang="en-US" dirty="0"/>
              </a:p>
            </p:txBody>
          </p:sp>
        </mc:Choice>
        <mc:Fallback xmlns="">
          <p:sp>
            <p:nvSpPr>
              <p:cNvPr id="5" name="Title 4"/>
              <p:cNvSpPr>
                <a:spLocks noGrp="1" noRot="1" noChangeAspect="1" noMove="1" noResize="1" noEditPoints="1" noAdjustHandles="1" noChangeArrowheads="1" noChangeShapeType="1" noTextEdit="1"/>
              </p:cNvSpPr>
              <p:nvPr>
                <p:ph type="title"/>
              </p:nvPr>
            </p:nvSpPr>
            <p:spPr>
              <a:blipFill rotWithShape="0">
                <a:blip r:embed="rId7"/>
                <a:stretch>
                  <a:fillRect l="-1869" b="-181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3436" y="1600200"/>
                <a:ext cx="9782801" cy="914400"/>
              </a:xfrm>
            </p:spPr>
            <p:txBody>
              <a:bodyPr/>
              <a:lstStyle/>
              <a:p>
                <a:r>
                  <a:rPr lang="en-US" dirty="0" smtClean="0"/>
                  <a:t>Let’s call the error signal to a layer, </a:t>
                </a:r>
                <a14:m>
                  <m:oMath xmlns:m="http://schemas.openxmlformats.org/officeDocument/2006/math">
                    <m:sSup>
                      <m:sSupPr>
                        <m:ctrlPr>
                          <a:rPr lang="en-US" b="0" i="1" smtClean="0">
                            <a:latin typeface="Cambria Math" panose="02040503050406030204" pitchFamily="18" charset="0"/>
                            <a:ea typeface="Cambria Math" charset="0"/>
                            <a:cs typeface="Cambria Math" charset="0"/>
                          </a:rPr>
                        </m:ctrlPr>
                      </m:sSupPr>
                      <m:e>
                        <m:r>
                          <a:rPr lang="en-US" i="1">
                            <a:latin typeface="Cambria Math" charset="0"/>
                            <a:ea typeface="Cambria Math" charset="0"/>
                            <a:cs typeface="Cambria Math" charset="0"/>
                          </a:rPr>
                          <m:t>𝛿</m:t>
                        </m:r>
                      </m:e>
                      <m:sup>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𝑙</m:t>
                        </m:r>
                        <m:r>
                          <a:rPr lang="en-US" b="0" i="1" smtClean="0">
                            <a:latin typeface="Cambria Math" charset="0"/>
                            <a:ea typeface="Cambria Math" charset="0"/>
                            <a:cs typeface="Cambria Math" charset="0"/>
                          </a:rPr>
                          <m:t>)</m:t>
                        </m:r>
                      </m:sup>
                    </m:sSup>
                  </m:oMath>
                </a14:m>
                <a:r>
                  <a:rPr lang="en-US" dirty="0" smtClean="0"/>
                  <a:t>, the derivative of the cost function </a:t>
                </a:r>
                <a:r>
                  <a:rPr lang="en-US" dirty="0" err="1" smtClean="0"/>
                  <a:t>w.r.t</a:t>
                </a:r>
                <a:r>
                  <a:rPr lang="en-US" dirty="0" smtClean="0"/>
                  <a:t>. net inputs </a:t>
                </a:r>
                <a14:m>
                  <m:oMath xmlns:m="http://schemas.openxmlformats.org/officeDocument/2006/math">
                    <m:sSup>
                      <m:sSupPr>
                        <m:ctrlPr>
                          <a:rPr lang="en-US" i="1">
                            <a:latin typeface="Cambria Math" panose="02040503050406030204" pitchFamily="18" charset="0"/>
                            <a:ea typeface="Euphemia" charset="0"/>
                            <a:cs typeface="Euphemia" charset="0"/>
                          </a:rPr>
                        </m:ctrlPr>
                      </m:sSupPr>
                      <m:e>
                        <m:r>
                          <a:rPr lang="en-US" i="1">
                            <a:latin typeface="Cambria Math" charset="0"/>
                            <a:ea typeface="Euphemia" charset="0"/>
                            <a:cs typeface="Euphemia" charset="0"/>
                          </a:rPr>
                          <m:t>𝑧</m:t>
                        </m:r>
                      </m:e>
                      <m:sup>
                        <m:r>
                          <a:rPr lang="en-US" b="0" i="1" smtClean="0">
                            <a:latin typeface="Cambria Math" charset="0"/>
                            <a:ea typeface="Euphemia" charset="0"/>
                            <a:cs typeface="Euphemia" charset="0"/>
                          </a:rPr>
                          <m:t>(</m:t>
                        </m:r>
                        <m:r>
                          <a:rPr lang="en-US" b="0" i="1" smtClean="0">
                            <a:latin typeface="Cambria Math" charset="0"/>
                            <a:ea typeface="Euphemia" charset="0"/>
                            <a:cs typeface="Euphemia" charset="0"/>
                          </a:rPr>
                          <m:t>𝑙</m:t>
                        </m:r>
                        <m:r>
                          <a:rPr lang="en-US" b="0" i="1" smtClean="0">
                            <a:latin typeface="Cambria Math" charset="0"/>
                            <a:ea typeface="Euphemia" charset="0"/>
                            <a:cs typeface="Euphemia" charset="0"/>
                          </a:rPr>
                          <m:t>)</m:t>
                        </m:r>
                      </m:sup>
                    </m:sSup>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3436" y="1600200"/>
                <a:ext cx="9782801" cy="914400"/>
              </a:xfrm>
              <a:blipFill rotWithShape="0">
                <a:blip r:embed="rId3"/>
                <a:stretch>
                  <a:fillRect l="-1433" t="-14667" r="-748" b="-14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903412" y="2819400"/>
                <a:ext cx="7715400" cy="82650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p>
                        <m:sSupPr>
                          <m:ctrlPr>
                            <a:rPr lang="en-US" sz="2800" i="1">
                              <a:latin typeface="Cambria Math" panose="02040503050406030204" pitchFamily="18" charset="0"/>
                              <a:ea typeface="Cambria Math" charset="0"/>
                              <a:cs typeface="Cambria Math" charset="0"/>
                            </a:rPr>
                          </m:ctrlPr>
                        </m:sSupPr>
                        <m:e>
                          <m:r>
                            <a:rPr lang="en-US" sz="2800" i="1">
                              <a:latin typeface="Cambria Math" charset="0"/>
                              <a:ea typeface="Cambria Math" charset="0"/>
                              <a:cs typeface="Cambria Math" charset="0"/>
                            </a:rPr>
                            <m:t>𝛿</m:t>
                          </m:r>
                        </m:e>
                        <m:sup>
                          <m:r>
                            <a:rPr lang="en-US" sz="2800" i="1">
                              <a:latin typeface="Cambria Math" charset="0"/>
                              <a:ea typeface="Cambria Math" charset="0"/>
                              <a:cs typeface="Cambria Math" charset="0"/>
                            </a:rPr>
                            <m:t>(4)</m:t>
                          </m:r>
                        </m:sup>
                      </m:sSup>
                      <m:r>
                        <a:rPr lang="en-US" sz="2800" i="1">
                          <a:latin typeface="Cambria Math" charset="0"/>
                          <a:ea typeface="Cambria Math" charset="0"/>
                          <a:cs typeface="Cambria Math" charset="0"/>
                        </a:rPr>
                        <m:t>=</m:t>
                      </m:r>
                      <m:f>
                        <m:fPr>
                          <m:ctrlPr>
                            <a:rPr lang="mr-IN" sz="2800" i="1">
                              <a:latin typeface="Cambria Math" panose="02040503050406030204" pitchFamily="18" charset="0"/>
                              <a:ea typeface="Euphemia" charset="0"/>
                              <a:cs typeface="Euphemia" charset="0"/>
                            </a:rPr>
                          </m:ctrlPr>
                        </m:fPr>
                        <m:num>
                          <m:r>
                            <a:rPr lang="mr-IN" sz="2800" i="1">
                              <a:latin typeface="Cambria Math" charset="0"/>
                              <a:ea typeface="Euphemia" charset="0"/>
                              <a:cs typeface="Euphemia" charset="0"/>
                            </a:rPr>
                            <m:t>𝜕</m:t>
                          </m:r>
                          <m:r>
                            <a:rPr lang="en-US" sz="2800" i="1">
                              <a:latin typeface="Cambria Math" charset="0"/>
                              <a:ea typeface="Euphemia" charset="0"/>
                              <a:cs typeface="Euphemia" charset="0"/>
                            </a:rPr>
                            <m:t>𝐽</m:t>
                          </m:r>
                        </m:num>
                        <m:den>
                          <m:r>
                            <a:rPr lang="mr-IN" sz="2800" i="1">
                              <a:latin typeface="Cambria Math" charset="0"/>
                              <a:ea typeface="Euphemia" charset="0"/>
                              <a:cs typeface="Euphemia" charset="0"/>
                            </a:rPr>
                            <m:t>𝜕</m:t>
                          </m:r>
                          <m:sSup>
                            <m:sSupPr>
                              <m:ctrlPr>
                                <a:rPr lang="en-US" sz="2800" i="1">
                                  <a:latin typeface="Cambria Math" panose="02040503050406030204" pitchFamily="18" charset="0"/>
                                  <a:ea typeface="Euphemia" charset="0"/>
                                  <a:cs typeface="Euphemia" charset="0"/>
                                </a:rPr>
                              </m:ctrlPr>
                            </m:sSupPr>
                            <m:e>
                              <m:r>
                                <a:rPr lang="en-US" sz="2800" i="1">
                                  <a:latin typeface="Cambria Math" charset="0"/>
                                  <a:ea typeface="Euphemia" charset="0"/>
                                  <a:cs typeface="Euphemia" charset="0"/>
                                </a:rPr>
                                <m:t>𝑧</m:t>
                              </m:r>
                            </m:e>
                            <m:sup>
                              <m:r>
                                <a:rPr lang="en-US" sz="2800" i="1">
                                  <a:latin typeface="Cambria Math" charset="0"/>
                                  <a:ea typeface="Euphemia" charset="0"/>
                                  <a:cs typeface="Euphemia" charset="0"/>
                                </a:rPr>
                                <m:t>(4)</m:t>
                              </m:r>
                            </m:sup>
                          </m:sSup>
                        </m:den>
                      </m:f>
                      <m:r>
                        <a:rPr lang="en-US" sz="2800" i="1">
                          <a:latin typeface="Cambria Math" charset="0"/>
                          <a:ea typeface="Euphemia" charset="0"/>
                          <a:cs typeface="Euphemia" charset="0"/>
                        </a:rPr>
                        <m:t>=(</m:t>
                      </m:r>
                      <m:acc>
                        <m:accPr>
                          <m:chr m:val="̂"/>
                          <m:ctrlPr>
                            <a:rPr lang="en-US" sz="2800" i="1">
                              <a:latin typeface="Cambria Math" panose="02040503050406030204" pitchFamily="18" charset="0"/>
                              <a:ea typeface="Euphemia" charset="0"/>
                              <a:cs typeface="Euphemia" charset="0"/>
                            </a:rPr>
                          </m:ctrlPr>
                        </m:accPr>
                        <m:e>
                          <m:r>
                            <a:rPr lang="en-US" sz="2800" i="1">
                              <a:latin typeface="Cambria Math" charset="0"/>
                              <a:ea typeface="Euphemia" charset="0"/>
                              <a:cs typeface="Euphemia" charset="0"/>
                            </a:rPr>
                            <m:t>𝑦</m:t>
                          </m:r>
                        </m:e>
                      </m:acc>
                      <m:r>
                        <a:rPr lang="en-US" sz="2800" i="1">
                          <a:latin typeface="Cambria Math" charset="0"/>
                          <a:ea typeface="Euphemia" charset="0"/>
                          <a:cs typeface="Euphemia" charset="0"/>
                        </a:rPr>
                        <m:t>−</m:t>
                      </m:r>
                      <m:r>
                        <a:rPr lang="en-US" sz="2800" i="1">
                          <a:latin typeface="Cambria Math" charset="0"/>
                          <a:ea typeface="Euphemia" charset="0"/>
                          <a:cs typeface="Euphemia" charset="0"/>
                        </a:rPr>
                        <m:t>𝑦</m:t>
                      </m:r>
                      <m:r>
                        <a:rPr lang="en-US" sz="2800" i="1">
                          <a:latin typeface="Cambria Math" charset="0"/>
                          <a:ea typeface="Euphemia" charset="0"/>
                          <a:cs typeface="Euphemia" charset="0"/>
                        </a:rPr>
                        <m:t>)</m:t>
                      </m:r>
                    </m:oMath>
                  </m:oMathPara>
                </a14:m>
                <a:endParaRPr lang="en-US" sz="2800" dirty="0">
                  <a:latin typeface="Euphemia" charset="0"/>
                  <a:ea typeface="Euphemia" charset="0"/>
                  <a:cs typeface="Euphemia"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903412" y="2819400"/>
                <a:ext cx="7715400" cy="826508"/>
              </a:xfrm>
              <a:prstGeom prst="rect">
                <a:avLst/>
              </a:prstGeom>
              <a:blipFill rotWithShape="0">
                <a:blip r:embed="rId4"/>
                <a:stretch>
                  <a:fillRect/>
                </a:stretch>
              </a:blipFill>
            </p:spPr>
            <p:txBody>
              <a:bodyPr/>
              <a:lstStyle/>
              <a:p>
                <a:r>
                  <a:rPr lang="en-US">
                    <a:noFill/>
                  </a:rPr>
                  <a:t> </a:t>
                </a:r>
              </a:p>
            </p:txBody>
          </p:sp>
        </mc:Fallback>
      </mc:AlternateContent>
      <p:sp>
        <p:nvSpPr>
          <p:cNvPr id="8" name="Content Placeholder 2"/>
          <p:cNvSpPr txBox="1">
            <a:spLocks/>
          </p:cNvSpPr>
          <p:nvPr/>
        </p:nvSpPr>
        <p:spPr>
          <a:xfrm>
            <a:off x="1593436" y="4114800"/>
            <a:ext cx="9782801" cy="9144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n-US" dirty="0" smtClean="0"/>
              <a:t>We can use the error signal to compute the derivative </a:t>
            </a:r>
            <a:r>
              <a:rPr lang="en-US" dirty="0" err="1" smtClean="0"/>
              <a:t>w.r.t</a:t>
            </a:r>
            <a:r>
              <a:rPr lang="en-US" dirty="0" smtClean="0"/>
              <a:t> the previous layer’s weight and error signal</a:t>
            </a:r>
            <a:endParaRPr lang="en-US" dirty="0"/>
          </a:p>
        </p:txBody>
      </p:sp>
      <mc:AlternateContent xmlns:mc="http://schemas.openxmlformats.org/markup-compatibility/2006" xmlns:a14="http://schemas.microsoft.com/office/drawing/2010/main">
        <mc:Choice Requires="a14">
          <p:sp>
            <p:nvSpPr>
              <p:cNvPr id="4" name="Rectangle 3"/>
              <p:cNvSpPr/>
              <p:nvPr/>
            </p:nvSpPr>
            <p:spPr>
              <a:xfrm>
                <a:off x="2055812" y="5410200"/>
                <a:ext cx="3436838" cy="91884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p>
                        <m:sSupPr>
                          <m:ctrlPr>
                            <a:rPr lang="en-US" sz="2800" i="1" smtClean="0">
                              <a:latin typeface="Cambria Math" panose="02040503050406030204" pitchFamily="18" charset="0"/>
                              <a:ea typeface="Cambria Math" charset="0"/>
                              <a:cs typeface="Cambria Math" charset="0"/>
                            </a:rPr>
                          </m:ctrlPr>
                        </m:sSupPr>
                        <m:e>
                          <m:f>
                            <m:fPr>
                              <m:ctrlPr>
                                <a:rPr lang="mr-IN" sz="2800" i="1" smtClean="0">
                                  <a:latin typeface="Cambria Math" panose="02040503050406030204" pitchFamily="18" charset="0"/>
                                  <a:ea typeface="Euphemia" charset="0"/>
                                  <a:cs typeface="Euphemia" charset="0"/>
                                </a:rPr>
                              </m:ctrlPr>
                            </m:fPr>
                            <m:num>
                              <m:r>
                                <a:rPr lang="mr-IN" sz="2800" i="1">
                                  <a:latin typeface="Cambria Math" charset="0"/>
                                  <a:ea typeface="Euphemia" charset="0"/>
                                  <a:cs typeface="Euphemia" charset="0"/>
                                </a:rPr>
                                <m:t>𝜕</m:t>
                              </m:r>
                              <m:r>
                                <a:rPr lang="en-US" sz="2800" i="1">
                                  <a:latin typeface="Cambria Math" charset="0"/>
                                  <a:ea typeface="Euphemia" charset="0"/>
                                  <a:cs typeface="Euphemia" charset="0"/>
                                </a:rPr>
                                <m:t>𝐽</m:t>
                              </m:r>
                            </m:num>
                            <m:den>
                              <m:r>
                                <a:rPr lang="mr-IN" sz="2800" i="1">
                                  <a:latin typeface="Cambria Math" charset="0"/>
                                  <a:ea typeface="Euphemia" charset="0"/>
                                  <a:cs typeface="Euphemia" charset="0"/>
                                </a:rPr>
                                <m:t>𝜕</m:t>
                              </m:r>
                              <m:sSup>
                                <m:sSupPr>
                                  <m:ctrlPr>
                                    <a:rPr lang="en-US" sz="2800" i="1">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r>
                                    <a:rPr lang="en-US" sz="2800" i="1">
                                      <a:latin typeface="Cambria Math" charset="0"/>
                                      <a:ea typeface="Euphemia" charset="0"/>
                                      <a:cs typeface="Euphemia" charset="0"/>
                                    </a:rPr>
                                    <m:t>(</m:t>
                                  </m:r>
                                  <m:r>
                                    <a:rPr lang="en-US" sz="2800" b="0" i="1" smtClean="0">
                                      <a:latin typeface="Cambria Math" charset="0"/>
                                      <a:ea typeface="Euphemia" charset="0"/>
                                      <a:cs typeface="Euphemia" charset="0"/>
                                    </a:rPr>
                                    <m:t>𝑙</m:t>
                                  </m:r>
                                  <m:r>
                                    <a:rPr lang="en-US" sz="2800" i="1">
                                      <a:latin typeface="Cambria Math" charset="0"/>
                                      <a:ea typeface="Euphemia" charset="0"/>
                                      <a:cs typeface="Euphemia" charset="0"/>
                                    </a:rPr>
                                    <m:t>)</m:t>
                                  </m:r>
                                </m:sup>
                              </m:sSup>
                            </m:den>
                          </m:f>
                          <m:r>
                            <a:rPr lang="en-US" sz="2800" b="0" i="1" smtClean="0">
                              <a:latin typeface="Cambria Math" charset="0"/>
                              <a:ea typeface="Euphemia" charset="0"/>
                              <a:cs typeface="Euphemia" charset="0"/>
                            </a:rPr>
                            <m:t>=</m:t>
                          </m:r>
                          <m:r>
                            <a:rPr lang="en-US" sz="2800" i="1">
                              <a:latin typeface="Cambria Math" charset="0"/>
                              <a:ea typeface="Cambria Math" charset="0"/>
                              <a:cs typeface="Cambria Math" charset="0"/>
                            </a:rPr>
                            <m:t>𝛿</m:t>
                          </m:r>
                        </m:e>
                        <m:sup>
                          <m:r>
                            <a:rPr lang="en-US" sz="2800" i="1">
                              <a:latin typeface="Cambria Math" charset="0"/>
                              <a:ea typeface="Cambria Math" charset="0"/>
                              <a:cs typeface="Cambria Math" charset="0"/>
                            </a:rPr>
                            <m:t>(</m:t>
                          </m:r>
                          <m:r>
                            <a:rPr lang="en-US" sz="2800" b="0" i="1" smtClean="0">
                              <a:latin typeface="Cambria Math" charset="0"/>
                              <a:ea typeface="Cambria Math" charset="0"/>
                              <a:cs typeface="Cambria Math" charset="0"/>
                            </a:rPr>
                            <m:t>𝑙</m:t>
                          </m:r>
                          <m:r>
                            <a:rPr lang="en-US" sz="2800" b="0" i="1" smtClean="0">
                              <a:latin typeface="Cambria Math" charset="0"/>
                              <a:ea typeface="Cambria Math" charset="0"/>
                              <a:cs typeface="Cambria Math" charset="0"/>
                            </a:rPr>
                            <m:t>+1)</m:t>
                          </m:r>
                        </m:sup>
                      </m:sSup>
                      <m:r>
                        <a:rPr lang="en-US" sz="2800" b="0" i="1" smtClean="0">
                          <a:latin typeface="Cambria Math" charset="0"/>
                          <a:ea typeface="Cambria Math" charset="0"/>
                          <a:cs typeface="Cambria Math" charset="0"/>
                        </a:rPr>
                        <m:t>⋅</m:t>
                      </m:r>
                      <m:sSup>
                        <m:sSupPr>
                          <m:ctrlPr>
                            <a:rPr lang="en-US" sz="2800" b="0" i="1" smtClean="0">
                              <a:latin typeface="Cambria Math" panose="02040503050406030204" pitchFamily="18" charset="0"/>
                              <a:ea typeface="Cambria Math" charset="0"/>
                              <a:cs typeface="Cambria Math" charset="0"/>
                            </a:rPr>
                          </m:ctrlPr>
                        </m:sSupPr>
                        <m:e>
                          <m:r>
                            <a:rPr lang="en-US" sz="2800" b="0" i="1" smtClean="0">
                              <a:latin typeface="Cambria Math" charset="0"/>
                              <a:ea typeface="Cambria Math" charset="0"/>
                              <a:cs typeface="Cambria Math" charset="0"/>
                            </a:rPr>
                            <m:t>𝑎</m:t>
                          </m:r>
                        </m:e>
                        <m:sup>
                          <m:r>
                            <a:rPr lang="en-US" sz="2800" b="0" i="1" smtClean="0">
                              <a:latin typeface="Cambria Math" charset="0"/>
                              <a:ea typeface="Cambria Math" charset="0"/>
                              <a:cs typeface="Cambria Math" charset="0"/>
                            </a:rPr>
                            <m:t>(</m:t>
                          </m:r>
                          <m:r>
                            <a:rPr lang="en-US" sz="2800" b="0" i="1" smtClean="0">
                              <a:latin typeface="Cambria Math" charset="0"/>
                              <a:ea typeface="Cambria Math" charset="0"/>
                              <a:cs typeface="Cambria Math" charset="0"/>
                            </a:rPr>
                            <m:t>𝑙</m:t>
                          </m:r>
                          <m:r>
                            <a:rPr lang="en-US" sz="2800" b="0" i="1" smtClean="0">
                              <a:latin typeface="Cambria Math" charset="0"/>
                              <a:ea typeface="Cambria Math" charset="0"/>
                              <a:cs typeface="Cambria Math" charset="0"/>
                            </a:rPr>
                            <m:t>)</m:t>
                          </m:r>
                        </m:sup>
                      </m:sSup>
                    </m:oMath>
                  </m:oMathPara>
                </a14:m>
                <a:endParaRPr lang="en-US" sz="2800" dirty="0">
                  <a:latin typeface="Euphemia" charset="0"/>
                  <a:ea typeface="Euphemia" charset="0"/>
                  <a:cs typeface="Euphemia"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055812" y="5410200"/>
                <a:ext cx="3436838" cy="918841"/>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246812" y="5593486"/>
                <a:ext cx="4756495" cy="56009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p>
                        <m:sSupPr>
                          <m:ctrlPr>
                            <a:rPr lang="en-US" sz="2800" i="1" smtClean="0">
                              <a:latin typeface="Cambria Math" panose="02040503050406030204" pitchFamily="18" charset="0"/>
                              <a:ea typeface="Cambria Math" charset="0"/>
                              <a:cs typeface="Cambria Math" charset="0"/>
                            </a:rPr>
                          </m:ctrlPr>
                        </m:sSupPr>
                        <m:e>
                          <m:r>
                            <a:rPr lang="en-US" sz="2800" i="1">
                              <a:latin typeface="Cambria Math" charset="0"/>
                              <a:ea typeface="Cambria Math" charset="0"/>
                              <a:cs typeface="Cambria Math" charset="0"/>
                            </a:rPr>
                            <m:t>𝛿</m:t>
                          </m:r>
                        </m:e>
                        <m:sup>
                          <m:r>
                            <a:rPr lang="en-US" sz="2800" i="1">
                              <a:latin typeface="Cambria Math" charset="0"/>
                              <a:ea typeface="Cambria Math" charset="0"/>
                              <a:cs typeface="Cambria Math" charset="0"/>
                            </a:rPr>
                            <m:t>(</m:t>
                          </m:r>
                          <m:r>
                            <a:rPr lang="en-US" sz="2800" b="0" i="1" smtClean="0">
                              <a:latin typeface="Cambria Math" charset="0"/>
                              <a:ea typeface="Cambria Math" charset="0"/>
                              <a:cs typeface="Cambria Math" charset="0"/>
                            </a:rPr>
                            <m:t>𝑙</m:t>
                          </m:r>
                          <m:r>
                            <a:rPr lang="en-US" sz="2800" i="1">
                              <a:latin typeface="Cambria Math" charset="0"/>
                              <a:ea typeface="Cambria Math" charset="0"/>
                              <a:cs typeface="Cambria Math" charset="0"/>
                            </a:rPr>
                            <m:t>)</m:t>
                          </m:r>
                        </m:sup>
                      </m:sSup>
                      <m:r>
                        <a:rPr lang="en-US" sz="2800" b="0" i="1" smtClean="0">
                          <a:latin typeface="Cambria Math" charset="0"/>
                          <a:ea typeface="Cambria Math" charset="0"/>
                          <a:cs typeface="Cambria Math" charset="0"/>
                        </a:rPr>
                        <m:t>=</m:t>
                      </m:r>
                      <m:sSup>
                        <m:sSupPr>
                          <m:ctrlPr>
                            <a:rPr lang="en-US" sz="2800" i="1">
                              <a:latin typeface="Cambria Math" panose="02040503050406030204" pitchFamily="18" charset="0"/>
                              <a:ea typeface="Cambria Math" charset="0"/>
                              <a:cs typeface="Cambria Math" charset="0"/>
                            </a:rPr>
                          </m:ctrlPr>
                        </m:sSupPr>
                        <m:e>
                          <m:r>
                            <a:rPr lang="en-US" sz="2800" i="1">
                              <a:latin typeface="Cambria Math" charset="0"/>
                              <a:ea typeface="Cambria Math" charset="0"/>
                              <a:cs typeface="Cambria Math" charset="0"/>
                            </a:rPr>
                            <m:t>𝛿</m:t>
                          </m:r>
                        </m:e>
                        <m:sup>
                          <m:r>
                            <a:rPr lang="en-US" sz="2800" i="1">
                              <a:latin typeface="Cambria Math" charset="0"/>
                              <a:ea typeface="Cambria Math" charset="0"/>
                              <a:cs typeface="Cambria Math" charset="0"/>
                            </a:rPr>
                            <m:t>(</m:t>
                          </m:r>
                          <m:r>
                            <a:rPr lang="en-US" sz="2800" i="1">
                              <a:latin typeface="Cambria Math" charset="0"/>
                              <a:ea typeface="Cambria Math" charset="0"/>
                              <a:cs typeface="Cambria Math" charset="0"/>
                            </a:rPr>
                            <m:t>𝑙</m:t>
                          </m:r>
                          <m:r>
                            <a:rPr lang="en-US" sz="2800" b="0" i="1" smtClean="0">
                              <a:latin typeface="Cambria Math" charset="0"/>
                              <a:ea typeface="Cambria Math" charset="0"/>
                              <a:cs typeface="Cambria Math" charset="0"/>
                            </a:rPr>
                            <m:t>+1</m:t>
                          </m:r>
                          <m:r>
                            <a:rPr lang="en-US" sz="2800" i="1">
                              <a:latin typeface="Cambria Math" charset="0"/>
                              <a:ea typeface="Cambria Math" charset="0"/>
                              <a:cs typeface="Cambria Math" charset="0"/>
                            </a:rPr>
                            <m:t>)</m:t>
                          </m:r>
                        </m:sup>
                      </m:sSup>
                      <m:r>
                        <a:rPr lang="en-US" sz="2800" b="0" i="1" smtClean="0">
                          <a:latin typeface="Cambria Math" charset="0"/>
                          <a:ea typeface="Cambria Math" charset="0"/>
                          <a:cs typeface="Cambria Math" charset="0"/>
                        </a:rPr>
                        <m:t>⋅</m:t>
                      </m:r>
                      <m:sSup>
                        <m:sSupPr>
                          <m:ctrlPr>
                            <a:rPr lang="en-US" sz="2800" b="0" i="1" smtClean="0">
                              <a:latin typeface="Cambria Math" panose="02040503050406030204" pitchFamily="18" charset="0"/>
                              <a:ea typeface="Cambria Math" charset="0"/>
                              <a:cs typeface="Cambria Math" charset="0"/>
                            </a:rPr>
                          </m:ctrlPr>
                        </m:sSupPr>
                        <m:e>
                          <m:r>
                            <a:rPr lang="en-US" sz="2800" b="0" i="1" smtClean="0">
                              <a:latin typeface="Cambria Math" charset="0"/>
                              <a:ea typeface="Cambria Math" charset="0"/>
                              <a:cs typeface="Cambria Math" charset="0"/>
                            </a:rPr>
                            <m:t>𝑊</m:t>
                          </m:r>
                        </m:e>
                        <m:sup>
                          <m:d>
                            <m:dPr>
                              <m:ctrlPr>
                                <a:rPr lang="en-US" sz="2800" b="0" i="1" smtClean="0">
                                  <a:latin typeface="Cambria Math" panose="02040503050406030204" pitchFamily="18" charset="0"/>
                                  <a:ea typeface="Cambria Math" charset="0"/>
                                  <a:cs typeface="Cambria Math" charset="0"/>
                                </a:rPr>
                              </m:ctrlPr>
                            </m:dPr>
                            <m:e>
                              <m:r>
                                <a:rPr lang="en-US" sz="2800" b="0" i="1" smtClean="0">
                                  <a:latin typeface="Cambria Math" charset="0"/>
                                  <a:ea typeface="Cambria Math" charset="0"/>
                                  <a:cs typeface="Cambria Math" charset="0"/>
                                </a:rPr>
                                <m:t>𝑙</m:t>
                              </m:r>
                            </m:e>
                          </m:d>
                        </m:sup>
                      </m:sSup>
                      <m:r>
                        <a:rPr lang="en-US" sz="2800" b="0" i="1" smtClean="0">
                          <a:latin typeface="Cambria Math" charset="0"/>
                          <a:ea typeface="Cambria Math" charset="0"/>
                          <a:cs typeface="Cambria Math" charset="0"/>
                        </a:rPr>
                        <m:t>⋅</m:t>
                      </m:r>
                      <m:r>
                        <a:rPr lang="en-US" sz="2800" b="0" i="1" smtClean="0">
                          <a:latin typeface="Cambria Math" charset="0"/>
                          <a:ea typeface="Cambria Math" charset="0"/>
                          <a:cs typeface="Cambria Math" charset="0"/>
                        </a:rPr>
                        <m:t>𝜎</m:t>
                      </m:r>
                      <m:r>
                        <a:rPr lang="en-US" sz="2800" b="0" i="1" smtClean="0">
                          <a:latin typeface="Cambria Math" charset="0"/>
                          <a:ea typeface="Cambria Math" charset="0"/>
                          <a:cs typeface="Cambria Math" charset="0"/>
                        </a:rPr>
                        <m:t>′(</m:t>
                      </m:r>
                      <m:sSup>
                        <m:sSupPr>
                          <m:ctrlPr>
                            <a:rPr lang="en-US" sz="2800" b="0" i="1" smtClean="0">
                              <a:latin typeface="Cambria Math" panose="02040503050406030204" pitchFamily="18" charset="0"/>
                              <a:ea typeface="Cambria Math" charset="0"/>
                              <a:cs typeface="Cambria Math" charset="0"/>
                            </a:rPr>
                          </m:ctrlPr>
                        </m:sSupPr>
                        <m:e>
                          <m:r>
                            <a:rPr lang="en-US" sz="2800" b="0" i="1" smtClean="0">
                              <a:latin typeface="Cambria Math" charset="0"/>
                              <a:ea typeface="Cambria Math" charset="0"/>
                              <a:cs typeface="Cambria Math" charset="0"/>
                            </a:rPr>
                            <m:t>𝑧</m:t>
                          </m:r>
                        </m:e>
                        <m:sup>
                          <m:d>
                            <m:dPr>
                              <m:ctrlPr>
                                <a:rPr lang="en-US" sz="2800" b="0" i="1" smtClean="0">
                                  <a:latin typeface="Cambria Math" panose="02040503050406030204" pitchFamily="18" charset="0"/>
                                  <a:ea typeface="Cambria Math" charset="0"/>
                                  <a:cs typeface="Cambria Math" charset="0"/>
                                </a:rPr>
                              </m:ctrlPr>
                            </m:dPr>
                            <m:e>
                              <m:r>
                                <a:rPr lang="en-US" sz="2800" b="0" i="1" smtClean="0">
                                  <a:latin typeface="Cambria Math" charset="0"/>
                                  <a:ea typeface="Cambria Math" charset="0"/>
                                  <a:cs typeface="Cambria Math" charset="0"/>
                                </a:rPr>
                                <m:t>𝑙</m:t>
                              </m:r>
                            </m:e>
                          </m:d>
                        </m:sup>
                      </m:sSup>
                      <m:r>
                        <a:rPr lang="en-US" sz="2800" b="0" i="1" smtClean="0">
                          <a:latin typeface="Cambria Math" charset="0"/>
                          <a:ea typeface="Cambria Math" charset="0"/>
                          <a:cs typeface="Cambria Math" charset="0"/>
                        </a:rPr>
                        <m:t>)</m:t>
                      </m:r>
                    </m:oMath>
                  </m:oMathPara>
                </a14:m>
                <a:endParaRPr lang="en-US" sz="2800" dirty="0">
                  <a:latin typeface="Euphemia" charset="0"/>
                  <a:ea typeface="Euphemia" charset="0"/>
                  <a:cs typeface="Euphemia"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6246812" y="5593486"/>
                <a:ext cx="4756495" cy="560090"/>
              </a:xfrm>
              <a:prstGeom prst="rect">
                <a:avLst/>
              </a:prstGeom>
              <a:blipFill rotWithShape="0">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789280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8"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p:cNvSpPr txBox="1"/>
              <p:nvPr/>
            </p:nvSpPr>
            <p:spPr>
              <a:xfrm>
                <a:off x="1903412" y="3556447"/>
                <a:ext cx="7715400" cy="82650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mr-IN" sz="2800" b="0" i="1" smtClean="0">
                              <a:latin typeface="Cambria Math" panose="02040503050406030204" pitchFamily="18" charset="0"/>
                              <a:ea typeface="Euphemia" charset="0"/>
                              <a:cs typeface="Euphemia" charset="0"/>
                            </a:rPr>
                          </m:ctrlPr>
                        </m:fPr>
                        <m:num>
                          <m:r>
                            <a:rPr lang="mr-IN" sz="2800" b="0" i="1" smtClean="0">
                              <a:latin typeface="Cambria Math" charset="0"/>
                              <a:ea typeface="Euphemia" charset="0"/>
                              <a:cs typeface="Euphemia" charset="0"/>
                            </a:rPr>
                            <m:t>𝜕</m:t>
                          </m:r>
                          <m:r>
                            <a:rPr lang="en-US" sz="2800" b="0" i="1" smtClean="0">
                              <a:latin typeface="Cambria Math" charset="0"/>
                              <a:ea typeface="Euphemia" charset="0"/>
                              <a:cs typeface="Euphemia" charset="0"/>
                            </a:rPr>
                            <m:t>𝐽</m:t>
                          </m:r>
                        </m:num>
                        <m:den>
                          <m:r>
                            <a:rPr lang="mr-IN"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r>
                                <a:rPr lang="en-US" sz="2800" b="0" i="1" smtClean="0">
                                  <a:latin typeface="Cambria Math" charset="0"/>
                                  <a:ea typeface="Euphemia" charset="0"/>
                                  <a:cs typeface="Euphemia" charset="0"/>
                                </a:rPr>
                                <m:t>(2)</m:t>
                              </m:r>
                            </m:sup>
                          </m:sSup>
                        </m:den>
                      </m:f>
                      <m:r>
                        <a:rPr lang="en-US" sz="2800" b="0" i="1" smtClean="0">
                          <a:latin typeface="Cambria Math" charset="0"/>
                          <a:ea typeface="Euphemia" charset="0"/>
                          <a:cs typeface="Euphemia" charset="0"/>
                        </a:rPr>
                        <m:t>=</m:t>
                      </m:r>
                      <m:r>
                        <a:rPr lang="en-US" sz="2800" i="1">
                          <a:latin typeface="Cambria Math" charset="0"/>
                          <a:ea typeface="Euphemia" charset="0"/>
                          <a:cs typeface="Euphemia" charset="0"/>
                        </a:rPr>
                        <m:t>(</m:t>
                      </m:r>
                      <m:acc>
                        <m:accPr>
                          <m:chr m:val="̂"/>
                          <m:ctrlPr>
                            <a:rPr lang="en-US" sz="2800" i="1">
                              <a:latin typeface="Cambria Math" panose="02040503050406030204" pitchFamily="18" charset="0"/>
                              <a:ea typeface="Euphemia" charset="0"/>
                              <a:cs typeface="Euphemia" charset="0"/>
                            </a:rPr>
                          </m:ctrlPr>
                        </m:accPr>
                        <m:e>
                          <m:r>
                            <a:rPr lang="en-US" sz="2800" i="1">
                              <a:latin typeface="Cambria Math" charset="0"/>
                              <a:ea typeface="Euphemia" charset="0"/>
                              <a:cs typeface="Euphemia" charset="0"/>
                            </a:rPr>
                            <m:t>𝑦</m:t>
                          </m:r>
                        </m:e>
                      </m:acc>
                      <m:r>
                        <a:rPr lang="en-US" sz="2800" i="1">
                          <a:latin typeface="Cambria Math" charset="0"/>
                          <a:ea typeface="Euphemia" charset="0"/>
                          <a:cs typeface="Euphemia" charset="0"/>
                        </a:rPr>
                        <m:t>−</m:t>
                      </m:r>
                      <m:r>
                        <a:rPr lang="en-US" sz="2800" i="1">
                          <a:latin typeface="Cambria Math" charset="0"/>
                          <a:ea typeface="Euphemia" charset="0"/>
                          <a:cs typeface="Euphemia" charset="0"/>
                        </a:rPr>
                        <m:t>𝑦</m:t>
                      </m:r>
                      <m:r>
                        <a:rPr lang="en-US" sz="2800" i="1">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3</m:t>
                              </m:r>
                            </m:e>
                          </m:d>
                        </m:sup>
                      </m:sSup>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𝜎</m:t>
                          </m:r>
                        </m:e>
                        <m:sup>
                          <m:r>
                            <a:rPr lang="en-US" sz="2800" b="0" i="1" smtClean="0">
                              <a:latin typeface="Cambria Math" charset="0"/>
                              <a:ea typeface="Euphemia" charset="0"/>
                              <a:cs typeface="Euphemia" charset="0"/>
                            </a:rPr>
                            <m:t>′</m:t>
                          </m:r>
                        </m:sup>
                      </m:sSup>
                      <m:d>
                        <m:dPr>
                          <m:ctrlPr>
                            <a:rPr lang="en-US" sz="2800" b="0" i="1" smtClean="0">
                              <a:latin typeface="Cambria Math" panose="02040503050406030204" pitchFamily="18" charset="0"/>
                              <a:ea typeface="Euphemia" charset="0"/>
                              <a:cs typeface="Euphemia" charset="0"/>
                            </a:rPr>
                          </m:ctrlPr>
                        </m:dPr>
                        <m:e>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𝑧</m:t>
                              </m:r>
                            </m:e>
                            <m:sup>
                              <m:r>
                                <a:rPr lang="en-US" sz="2800" b="0" i="1" smtClean="0">
                                  <a:latin typeface="Cambria Math" charset="0"/>
                                  <a:ea typeface="Euphemia" charset="0"/>
                                  <a:cs typeface="Euphemia" charset="0"/>
                                </a:rPr>
                                <m:t>3</m:t>
                              </m:r>
                            </m:sup>
                          </m:sSup>
                        </m:e>
                      </m:d>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𝑎</m:t>
                          </m:r>
                        </m:e>
                        <m:sup>
                          <m:r>
                            <a:rPr lang="en-US" sz="2800" b="0" i="1" smtClean="0">
                              <a:latin typeface="Cambria Math" charset="0"/>
                              <a:ea typeface="Euphemia" charset="0"/>
                              <a:cs typeface="Euphemia" charset="0"/>
                            </a:rPr>
                            <m:t>(2)</m:t>
                          </m:r>
                        </m:sup>
                      </m:sSup>
                    </m:oMath>
                  </m:oMathPara>
                </a14:m>
                <a:endParaRPr lang="en-US" sz="2800" dirty="0">
                  <a:latin typeface="Euphemia" charset="0"/>
                  <a:ea typeface="Euphemia" charset="0"/>
                  <a:cs typeface="Euphemia"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903412" y="3556447"/>
                <a:ext cx="7715400" cy="826508"/>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903412" y="4559776"/>
                <a:ext cx="10134600" cy="82650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mr-IN" sz="2800" b="0" i="1" smtClean="0">
                              <a:latin typeface="Cambria Math" panose="02040503050406030204" pitchFamily="18" charset="0"/>
                              <a:ea typeface="Euphemia" charset="0"/>
                              <a:cs typeface="Euphemia" charset="0"/>
                            </a:rPr>
                          </m:ctrlPr>
                        </m:fPr>
                        <m:num>
                          <m:r>
                            <a:rPr lang="mr-IN" sz="2800" b="0" i="1" smtClean="0">
                              <a:latin typeface="Cambria Math" charset="0"/>
                              <a:ea typeface="Euphemia" charset="0"/>
                              <a:cs typeface="Euphemia" charset="0"/>
                            </a:rPr>
                            <m:t>𝜕</m:t>
                          </m:r>
                          <m:r>
                            <a:rPr lang="en-US" sz="2800" b="0" i="1" smtClean="0">
                              <a:latin typeface="Cambria Math" charset="0"/>
                              <a:ea typeface="Euphemia" charset="0"/>
                              <a:cs typeface="Euphemia" charset="0"/>
                            </a:rPr>
                            <m:t>𝐽</m:t>
                          </m:r>
                        </m:num>
                        <m:den>
                          <m:r>
                            <a:rPr lang="mr-IN"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r>
                                <a:rPr lang="en-US" sz="2800" b="0" i="1" smtClean="0">
                                  <a:latin typeface="Cambria Math" charset="0"/>
                                  <a:ea typeface="Euphemia" charset="0"/>
                                  <a:cs typeface="Euphemia" charset="0"/>
                                </a:rPr>
                                <m:t>(1)</m:t>
                              </m:r>
                            </m:sup>
                          </m:sSup>
                        </m:den>
                      </m:f>
                      <m:r>
                        <a:rPr lang="en-US" sz="2800" b="0" i="1" smtClean="0">
                          <a:latin typeface="Cambria Math" charset="0"/>
                          <a:ea typeface="Euphemia" charset="0"/>
                          <a:cs typeface="Euphemia" charset="0"/>
                        </a:rPr>
                        <m:t>=</m:t>
                      </m:r>
                      <m:d>
                        <m:dPr>
                          <m:ctrlPr>
                            <a:rPr lang="en-US" sz="2800" i="1">
                              <a:latin typeface="Cambria Math" panose="02040503050406030204" pitchFamily="18" charset="0"/>
                              <a:ea typeface="Euphemia" charset="0"/>
                              <a:cs typeface="Euphemia" charset="0"/>
                            </a:rPr>
                          </m:ctrlPr>
                        </m:dPr>
                        <m:e>
                          <m:acc>
                            <m:accPr>
                              <m:chr m:val="̂"/>
                              <m:ctrlPr>
                                <a:rPr lang="en-US" sz="2800" i="1">
                                  <a:latin typeface="Cambria Math" panose="02040503050406030204" pitchFamily="18" charset="0"/>
                                  <a:ea typeface="Euphemia" charset="0"/>
                                  <a:cs typeface="Euphemia" charset="0"/>
                                </a:rPr>
                              </m:ctrlPr>
                            </m:accPr>
                            <m:e>
                              <m:r>
                                <a:rPr lang="en-US" sz="2800" i="1">
                                  <a:latin typeface="Cambria Math" charset="0"/>
                                  <a:ea typeface="Euphemia" charset="0"/>
                                  <a:cs typeface="Euphemia" charset="0"/>
                                </a:rPr>
                                <m:t>𝑦</m:t>
                              </m:r>
                            </m:e>
                          </m:acc>
                          <m:r>
                            <a:rPr lang="en-US" sz="2800" i="1">
                              <a:latin typeface="Cambria Math" charset="0"/>
                              <a:ea typeface="Euphemia" charset="0"/>
                              <a:cs typeface="Euphemia" charset="0"/>
                            </a:rPr>
                            <m:t>−</m:t>
                          </m:r>
                          <m:r>
                            <a:rPr lang="en-US" sz="2800" i="1">
                              <a:latin typeface="Cambria Math" charset="0"/>
                              <a:ea typeface="Euphemia" charset="0"/>
                              <a:cs typeface="Euphemia" charset="0"/>
                            </a:rPr>
                            <m:t>𝑦</m:t>
                          </m:r>
                        </m:e>
                      </m:d>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3</m:t>
                              </m:r>
                            </m:e>
                          </m:d>
                        </m:sup>
                      </m:sSup>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𝜎</m:t>
                          </m:r>
                        </m:e>
                        <m:sup>
                          <m:r>
                            <a:rPr lang="en-US" sz="2800" b="0" i="1" smtClean="0">
                              <a:latin typeface="Cambria Math" charset="0"/>
                              <a:ea typeface="Euphemia" charset="0"/>
                              <a:cs typeface="Euphemia" charset="0"/>
                            </a:rPr>
                            <m:t>′</m:t>
                          </m:r>
                        </m:sup>
                      </m:sSup>
                      <m:d>
                        <m:dPr>
                          <m:ctrlPr>
                            <a:rPr lang="en-US" sz="2800" b="0" i="1" smtClean="0">
                              <a:latin typeface="Cambria Math" panose="02040503050406030204" pitchFamily="18" charset="0"/>
                              <a:ea typeface="Euphemia" charset="0"/>
                              <a:cs typeface="Euphemia" charset="0"/>
                            </a:rPr>
                          </m:ctrlPr>
                        </m:dPr>
                        <m:e>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𝑧</m:t>
                              </m:r>
                            </m:e>
                            <m:sup>
                              <m:r>
                                <a:rPr lang="en-US" sz="2800" b="0" i="1" smtClean="0">
                                  <a:latin typeface="Cambria Math" charset="0"/>
                                  <a:ea typeface="Euphemia" charset="0"/>
                                  <a:cs typeface="Euphemia" charset="0"/>
                                </a:rPr>
                                <m:t>3</m:t>
                              </m:r>
                            </m:sup>
                          </m:sSup>
                        </m:e>
                      </m:d>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2</m:t>
                              </m:r>
                            </m:e>
                          </m:d>
                        </m:sup>
                      </m:sSup>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𝜎</m:t>
                          </m:r>
                        </m:e>
                        <m:sup>
                          <m:r>
                            <a:rPr lang="en-US" sz="2800" b="0" i="1" smtClean="0">
                              <a:latin typeface="Cambria Math" charset="0"/>
                              <a:ea typeface="Euphemia" charset="0"/>
                              <a:cs typeface="Euphemia" charset="0"/>
                            </a:rPr>
                            <m:t>′</m:t>
                          </m:r>
                        </m:sup>
                      </m:sSup>
                      <m:d>
                        <m:dPr>
                          <m:ctrlPr>
                            <a:rPr lang="en-US" sz="2800" b="0" i="1" smtClean="0">
                              <a:latin typeface="Cambria Math" panose="02040503050406030204" pitchFamily="18" charset="0"/>
                              <a:ea typeface="Euphemia" charset="0"/>
                              <a:cs typeface="Euphemia" charset="0"/>
                            </a:rPr>
                          </m:ctrlPr>
                        </m:dPr>
                        <m:e>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𝑧</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2</m:t>
                                  </m:r>
                                </m:e>
                              </m:d>
                            </m:sup>
                          </m:sSup>
                        </m:e>
                      </m:d>
                      <m:r>
                        <a:rPr lang="en-US" sz="2800" b="0" i="1" smtClean="0">
                          <a:latin typeface="Cambria Math" charset="0"/>
                          <a:ea typeface="Euphemia" charset="0"/>
                          <a:cs typeface="Euphemia" charset="0"/>
                        </a:rPr>
                        <m:t>⋅</m:t>
                      </m:r>
                      <m:r>
                        <a:rPr lang="en-US" sz="2800" b="0" i="1" smtClean="0">
                          <a:latin typeface="Cambria Math" charset="0"/>
                          <a:ea typeface="Euphemia" charset="0"/>
                          <a:cs typeface="Euphemia" charset="0"/>
                        </a:rPr>
                        <m:t>𝑋</m:t>
                      </m:r>
                    </m:oMath>
                  </m:oMathPara>
                </a14:m>
                <a:endParaRPr lang="en-US" sz="2800" dirty="0">
                  <a:latin typeface="Euphemia" charset="0"/>
                  <a:ea typeface="Euphemia" charset="0"/>
                  <a:cs typeface="Euphemia"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903412" y="4559776"/>
                <a:ext cx="10134600" cy="826508"/>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903412" y="2553119"/>
                <a:ext cx="7715400" cy="82650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mr-IN" sz="2800" b="0" i="1" smtClean="0">
                              <a:latin typeface="Cambria Math" panose="02040503050406030204" pitchFamily="18" charset="0"/>
                              <a:ea typeface="Euphemia" charset="0"/>
                              <a:cs typeface="Euphemia" charset="0"/>
                            </a:rPr>
                          </m:ctrlPr>
                        </m:fPr>
                        <m:num>
                          <m:r>
                            <a:rPr lang="mr-IN" sz="2800" b="0" i="1" smtClean="0">
                              <a:latin typeface="Cambria Math" charset="0"/>
                              <a:ea typeface="Euphemia" charset="0"/>
                              <a:cs typeface="Euphemia" charset="0"/>
                            </a:rPr>
                            <m:t>𝜕</m:t>
                          </m:r>
                          <m:r>
                            <a:rPr lang="en-US" sz="2800" b="0" i="1" smtClean="0">
                              <a:latin typeface="Cambria Math" charset="0"/>
                              <a:ea typeface="Euphemia" charset="0"/>
                              <a:cs typeface="Euphemia" charset="0"/>
                            </a:rPr>
                            <m:t>𝐽</m:t>
                          </m:r>
                        </m:num>
                        <m:den>
                          <m:r>
                            <a:rPr lang="mr-IN"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r>
                                <a:rPr lang="en-US" sz="2800" b="0" i="1" smtClean="0">
                                  <a:latin typeface="Cambria Math" charset="0"/>
                                  <a:ea typeface="Euphemia" charset="0"/>
                                  <a:cs typeface="Euphemia" charset="0"/>
                                </a:rPr>
                                <m:t>(3)</m:t>
                              </m:r>
                            </m:sup>
                          </m:sSup>
                        </m:den>
                      </m:f>
                      <m:r>
                        <a:rPr lang="en-US" sz="2800" b="0" i="1" smtClean="0">
                          <a:latin typeface="Cambria Math" charset="0"/>
                          <a:ea typeface="Euphemia" charset="0"/>
                          <a:cs typeface="Euphemia" charset="0"/>
                        </a:rPr>
                        <m:t>=</m:t>
                      </m:r>
                      <m:r>
                        <a:rPr lang="en-US" sz="2800" i="1">
                          <a:latin typeface="Cambria Math" charset="0"/>
                          <a:ea typeface="Euphemia" charset="0"/>
                          <a:cs typeface="Euphemia" charset="0"/>
                        </a:rPr>
                        <m:t>(</m:t>
                      </m:r>
                      <m:acc>
                        <m:accPr>
                          <m:chr m:val="̂"/>
                          <m:ctrlPr>
                            <a:rPr lang="en-US" sz="2800" i="1">
                              <a:latin typeface="Cambria Math" panose="02040503050406030204" pitchFamily="18" charset="0"/>
                              <a:ea typeface="Euphemia" charset="0"/>
                              <a:cs typeface="Euphemia" charset="0"/>
                            </a:rPr>
                          </m:ctrlPr>
                        </m:accPr>
                        <m:e>
                          <m:r>
                            <a:rPr lang="en-US" sz="2800" i="1">
                              <a:latin typeface="Cambria Math" charset="0"/>
                              <a:ea typeface="Euphemia" charset="0"/>
                              <a:cs typeface="Euphemia" charset="0"/>
                            </a:rPr>
                            <m:t>𝑦</m:t>
                          </m:r>
                        </m:e>
                      </m:acc>
                      <m:r>
                        <a:rPr lang="en-US" sz="2800" i="1">
                          <a:latin typeface="Cambria Math" charset="0"/>
                          <a:ea typeface="Euphemia" charset="0"/>
                          <a:cs typeface="Euphemia" charset="0"/>
                        </a:rPr>
                        <m:t>−</m:t>
                      </m:r>
                      <m:r>
                        <a:rPr lang="en-US" sz="2800" i="1">
                          <a:latin typeface="Cambria Math" charset="0"/>
                          <a:ea typeface="Euphemia" charset="0"/>
                          <a:cs typeface="Euphemia" charset="0"/>
                        </a:rPr>
                        <m:t>𝑦</m:t>
                      </m:r>
                      <m:r>
                        <a:rPr lang="en-US" sz="2800" i="1">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𝑎</m:t>
                          </m:r>
                        </m:e>
                        <m:sup>
                          <m:r>
                            <a:rPr lang="en-US" sz="2800" b="0" i="1" smtClean="0">
                              <a:latin typeface="Cambria Math" charset="0"/>
                              <a:ea typeface="Euphemia" charset="0"/>
                              <a:cs typeface="Euphemia" charset="0"/>
                            </a:rPr>
                            <m:t>(3)</m:t>
                          </m:r>
                        </m:sup>
                      </m:sSup>
                    </m:oMath>
                  </m:oMathPara>
                </a14:m>
                <a:endParaRPr lang="en-US" sz="2800" dirty="0">
                  <a:latin typeface="Euphemia" charset="0"/>
                  <a:ea typeface="Euphemia" charset="0"/>
                  <a:cs typeface="Euphemia"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903412" y="2553119"/>
                <a:ext cx="7715400" cy="826508"/>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055812" y="629335"/>
                <a:ext cx="3436838" cy="91884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p>
                        <m:sSupPr>
                          <m:ctrlPr>
                            <a:rPr lang="en-US" sz="2800" i="1" smtClean="0">
                              <a:latin typeface="Cambria Math" panose="02040503050406030204" pitchFamily="18" charset="0"/>
                              <a:ea typeface="Cambria Math" charset="0"/>
                              <a:cs typeface="Cambria Math" charset="0"/>
                            </a:rPr>
                          </m:ctrlPr>
                        </m:sSupPr>
                        <m:e>
                          <m:f>
                            <m:fPr>
                              <m:ctrlPr>
                                <a:rPr lang="mr-IN" sz="2800" i="1" smtClean="0">
                                  <a:latin typeface="Cambria Math" panose="02040503050406030204" pitchFamily="18" charset="0"/>
                                  <a:ea typeface="Euphemia" charset="0"/>
                                  <a:cs typeface="Euphemia" charset="0"/>
                                </a:rPr>
                              </m:ctrlPr>
                            </m:fPr>
                            <m:num>
                              <m:r>
                                <a:rPr lang="mr-IN" sz="2800" i="1">
                                  <a:latin typeface="Cambria Math" charset="0"/>
                                  <a:ea typeface="Euphemia" charset="0"/>
                                  <a:cs typeface="Euphemia" charset="0"/>
                                </a:rPr>
                                <m:t>𝜕</m:t>
                              </m:r>
                              <m:r>
                                <a:rPr lang="en-US" sz="2800" i="1">
                                  <a:latin typeface="Cambria Math" charset="0"/>
                                  <a:ea typeface="Euphemia" charset="0"/>
                                  <a:cs typeface="Euphemia" charset="0"/>
                                </a:rPr>
                                <m:t>𝐽</m:t>
                              </m:r>
                            </m:num>
                            <m:den>
                              <m:r>
                                <a:rPr lang="mr-IN" sz="2800" i="1">
                                  <a:latin typeface="Cambria Math" charset="0"/>
                                  <a:ea typeface="Euphemia" charset="0"/>
                                  <a:cs typeface="Euphemia" charset="0"/>
                                </a:rPr>
                                <m:t>𝜕</m:t>
                              </m:r>
                              <m:sSup>
                                <m:sSupPr>
                                  <m:ctrlPr>
                                    <a:rPr lang="en-US" sz="2800" i="1">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r>
                                    <a:rPr lang="en-US" sz="2800" i="1">
                                      <a:latin typeface="Cambria Math" charset="0"/>
                                      <a:ea typeface="Euphemia" charset="0"/>
                                      <a:cs typeface="Euphemia" charset="0"/>
                                    </a:rPr>
                                    <m:t>(</m:t>
                                  </m:r>
                                  <m:r>
                                    <a:rPr lang="en-US" sz="2800" b="0" i="1" smtClean="0">
                                      <a:latin typeface="Cambria Math" charset="0"/>
                                      <a:ea typeface="Euphemia" charset="0"/>
                                      <a:cs typeface="Euphemia" charset="0"/>
                                    </a:rPr>
                                    <m:t>𝑙</m:t>
                                  </m:r>
                                  <m:r>
                                    <a:rPr lang="en-US" sz="2800" i="1">
                                      <a:latin typeface="Cambria Math" charset="0"/>
                                      <a:ea typeface="Euphemia" charset="0"/>
                                      <a:cs typeface="Euphemia" charset="0"/>
                                    </a:rPr>
                                    <m:t>)</m:t>
                                  </m:r>
                                </m:sup>
                              </m:sSup>
                            </m:den>
                          </m:f>
                          <m:r>
                            <a:rPr lang="en-US" sz="2800" b="0" i="1" smtClean="0">
                              <a:latin typeface="Cambria Math" charset="0"/>
                              <a:ea typeface="Euphemia" charset="0"/>
                              <a:cs typeface="Euphemia" charset="0"/>
                            </a:rPr>
                            <m:t>=</m:t>
                          </m:r>
                          <m:r>
                            <a:rPr lang="en-US" sz="2800" i="1">
                              <a:latin typeface="Cambria Math" charset="0"/>
                              <a:ea typeface="Cambria Math" charset="0"/>
                              <a:cs typeface="Cambria Math" charset="0"/>
                            </a:rPr>
                            <m:t>𝛿</m:t>
                          </m:r>
                        </m:e>
                        <m:sup>
                          <m:r>
                            <a:rPr lang="en-US" sz="2800" i="1">
                              <a:latin typeface="Cambria Math" charset="0"/>
                              <a:ea typeface="Cambria Math" charset="0"/>
                              <a:cs typeface="Cambria Math" charset="0"/>
                            </a:rPr>
                            <m:t>(</m:t>
                          </m:r>
                          <m:r>
                            <a:rPr lang="en-US" sz="2800" b="0" i="1" smtClean="0">
                              <a:latin typeface="Cambria Math" charset="0"/>
                              <a:ea typeface="Cambria Math" charset="0"/>
                              <a:cs typeface="Cambria Math" charset="0"/>
                            </a:rPr>
                            <m:t>𝑙</m:t>
                          </m:r>
                          <m:r>
                            <a:rPr lang="en-US" sz="2800" b="0" i="1" smtClean="0">
                              <a:latin typeface="Cambria Math" charset="0"/>
                              <a:ea typeface="Cambria Math" charset="0"/>
                              <a:cs typeface="Cambria Math" charset="0"/>
                            </a:rPr>
                            <m:t>+1)</m:t>
                          </m:r>
                        </m:sup>
                      </m:sSup>
                      <m:r>
                        <a:rPr lang="en-US" sz="2800" b="0" i="1" smtClean="0">
                          <a:latin typeface="Cambria Math" charset="0"/>
                          <a:ea typeface="Cambria Math" charset="0"/>
                          <a:cs typeface="Cambria Math" charset="0"/>
                        </a:rPr>
                        <m:t>⋅</m:t>
                      </m:r>
                      <m:sSup>
                        <m:sSupPr>
                          <m:ctrlPr>
                            <a:rPr lang="en-US" sz="2800" b="0" i="1" smtClean="0">
                              <a:latin typeface="Cambria Math" panose="02040503050406030204" pitchFamily="18" charset="0"/>
                              <a:ea typeface="Cambria Math" charset="0"/>
                              <a:cs typeface="Cambria Math" charset="0"/>
                            </a:rPr>
                          </m:ctrlPr>
                        </m:sSupPr>
                        <m:e>
                          <m:r>
                            <a:rPr lang="en-US" sz="2800" b="0" i="1" smtClean="0">
                              <a:latin typeface="Cambria Math" charset="0"/>
                              <a:ea typeface="Cambria Math" charset="0"/>
                              <a:cs typeface="Cambria Math" charset="0"/>
                            </a:rPr>
                            <m:t>𝑎</m:t>
                          </m:r>
                        </m:e>
                        <m:sup>
                          <m:r>
                            <a:rPr lang="en-US" sz="2800" b="0" i="1" smtClean="0">
                              <a:latin typeface="Cambria Math" charset="0"/>
                              <a:ea typeface="Cambria Math" charset="0"/>
                              <a:cs typeface="Cambria Math" charset="0"/>
                            </a:rPr>
                            <m:t>(</m:t>
                          </m:r>
                          <m:r>
                            <a:rPr lang="en-US" sz="2800" b="0" i="1" smtClean="0">
                              <a:latin typeface="Cambria Math" charset="0"/>
                              <a:ea typeface="Cambria Math" charset="0"/>
                              <a:cs typeface="Cambria Math" charset="0"/>
                            </a:rPr>
                            <m:t>𝑙</m:t>
                          </m:r>
                          <m:r>
                            <a:rPr lang="en-US" sz="2800" b="0" i="1" smtClean="0">
                              <a:latin typeface="Cambria Math" charset="0"/>
                              <a:ea typeface="Cambria Math" charset="0"/>
                              <a:cs typeface="Cambria Math" charset="0"/>
                            </a:rPr>
                            <m:t>)</m:t>
                          </m:r>
                        </m:sup>
                      </m:sSup>
                    </m:oMath>
                  </m:oMathPara>
                </a14:m>
                <a:endParaRPr lang="en-US" sz="2800" dirty="0">
                  <a:latin typeface="Euphemia" charset="0"/>
                  <a:ea typeface="Euphemia" charset="0"/>
                  <a:cs typeface="Euphemia"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2055812" y="629335"/>
                <a:ext cx="3436838" cy="918841"/>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6246812" y="812621"/>
                <a:ext cx="4756495" cy="560090"/>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p>
                        <m:sSupPr>
                          <m:ctrlPr>
                            <a:rPr lang="en-US" sz="2800" i="1" smtClean="0">
                              <a:latin typeface="Cambria Math" panose="02040503050406030204" pitchFamily="18" charset="0"/>
                              <a:ea typeface="Cambria Math" charset="0"/>
                              <a:cs typeface="Cambria Math" charset="0"/>
                            </a:rPr>
                          </m:ctrlPr>
                        </m:sSupPr>
                        <m:e>
                          <m:r>
                            <a:rPr lang="en-US" sz="2800" i="1">
                              <a:latin typeface="Cambria Math" charset="0"/>
                              <a:ea typeface="Cambria Math" charset="0"/>
                              <a:cs typeface="Cambria Math" charset="0"/>
                            </a:rPr>
                            <m:t>𝛿</m:t>
                          </m:r>
                        </m:e>
                        <m:sup>
                          <m:r>
                            <a:rPr lang="en-US" sz="2800" i="1">
                              <a:latin typeface="Cambria Math" charset="0"/>
                              <a:ea typeface="Cambria Math" charset="0"/>
                              <a:cs typeface="Cambria Math" charset="0"/>
                            </a:rPr>
                            <m:t>(</m:t>
                          </m:r>
                          <m:r>
                            <a:rPr lang="en-US" sz="2800" b="0" i="1" smtClean="0">
                              <a:latin typeface="Cambria Math" charset="0"/>
                              <a:ea typeface="Cambria Math" charset="0"/>
                              <a:cs typeface="Cambria Math" charset="0"/>
                            </a:rPr>
                            <m:t>𝑙</m:t>
                          </m:r>
                          <m:r>
                            <a:rPr lang="en-US" sz="2800" i="1">
                              <a:latin typeface="Cambria Math" charset="0"/>
                              <a:ea typeface="Cambria Math" charset="0"/>
                              <a:cs typeface="Cambria Math" charset="0"/>
                            </a:rPr>
                            <m:t>)</m:t>
                          </m:r>
                        </m:sup>
                      </m:sSup>
                      <m:r>
                        <a:rPr lang="en-US" sz="2800" b="0" i="1" smtClean="0">
                          <a:latin typeface="Cambria Math" charset="0"/>
                          <a:ea typeface="Cambria Math" charset="0"/>
                          <a:cs typeface="Cambria Math" charset="0"/>
                        </a:rPr>
                        <m:t>=</m:t>
                      </m:r>
                      <m:sSup>
                        <m:sSupPr>
                          <m:ctrlPr>
                            <a:rPr lang="en-US" sz="2800" i="1">
                              <a:latin typeface="Cambria Math" panose="02040503050406030204" pitchFamily="18" charset="0"/>
                              <a:ea typeface="Cambria Math" charset="0"/>
                              <a:cs typeface="Cambria Math" charset="0"/>
                            </a:rPr>
                          </m:ctrlPr>
                        </m:sSupPr>
                        <m:e>
                          <m:r>
                            <a:rPr lang="en-US" sz="2800" i="1">
                              <a:latin typeface="Cambria Math" charset="0"/>
                              <a:ea typeface="Cambria Math" charset="0"/>
                              <a:cs typeface="Cambria Math" charset="0"/>
                            </a:rPr>
                            <m:t>𝛿</m:t>
                          </m:r>
                        </m:e>
                        <m:sup>
                          <m:r>
                            <a:rPr lang="en-US" sz="2800" i="1">
                              <a:latin typeface="Cambria Math" charset="0"/>
                              <a:ea typeface="Cambria Math" charset="0"/>
                              <a:cs typeface="Cambria Math" charset="0"/>
                            </a:rPr>
                            <m:t>(</m:t>
                          </m:r>
                          <m:r>
                            <a:rPr lang="en-US" sz="2800" i="1">
                              <a:latin typeface="Cambria Math" charset="0"/>
                              <a:ea typeface="Cambria Math" charset="0"/>
                              <a:cs typeface="Cambria Math" charset="0"/>
                            </a:rPr>
                            <m:t>𝑙</m:t>
                          </m:r>
                          <m:r>
                            <a:rPr lang="en-US" sz="2800" b="0" i="1" smtClean="0">
                              <a:latin typeface="Cambria Math" charset="0"/>
                              <a:ea typeface="Cambria Math" charset="0"/>
                              <a:cs typeface="Cambria Math" charset="0"/>
                            </a:rPr>
                            <m:t>+1</m:t>
                          </m:r>
                          <m:r>
                            <a:rPr lang="en-US" sz="2800" i="1">
                              <a:latin typeface="Cambria Math" charset="0"/>
                              <a:ea typeface="Cambria Math" charset="0"/>
                              <a:cs typeface="Cambria Math" charset="0"/>
                            </a:rPr>
                            <m:t>)</m:t>
                          </m:r>
                        </m:sup>
                      </m:sSup>
                      <m:r>
                        <a:rPr lang="en-US" sz="2800" b="0" i="1" smtClean="0">
                          <a:latin typeface="Cambria Math" charset="0"/>
                          <a:ea typeface="Cambria Math" charset="0"/>
                          <a:cs typeface="Cambria Math" charset="0"/>
                        </a:rPr>
                        <m:t>⋅</m:t>
                      </m:r>
                      <m:sSup>
                        <m:sSupPr>
                          <m:ctrlPr>
                            <a:rPr lang="en-US" sz="2800" b="0" i="1" smtClean="0">
                              <a:latin typeface="Cambria Math" panose="02040503050406030204" pitchFamily="18" charset="0"/>
                              <a:ea typeface="Cambria Math" charset="0"/>
                              <a:cs typeface="Cambria Math" charset="0"/>
                            </a:rPr>
                          </m:ctrlPr>
                        </m:sSupPr>
                        <m:e>
                          <m:r>
                            <a:rPr lang="en-US" sz="2800" b="0" i="1" smtClean="0">
                              <a:latin typeface="Cambria Math" charset="0"/>
                              <a:ea typeface="Cambria Math" charset="0"/>
                              <a:cs typeface="Cambria Math" charset="0"/>
                            </a:rPr>
                            <m:t>𝑊</m:t>
                          </m:r>
                        </m:e>
                        <m:sup>
                          <m:d>
                            <m:dPr>
                              <m:ctrlPr>
                                <a:rPr lang="en-US" sz="2800" b="0" i="1" smtClean="0">
                                  <a:latin typeface="Cambria Math" panose="02040503050406030204" pitchFamily="18" charset="0"/>
                                  <a:ea typeface="Cambria Math" charset="0"/>
                                  <a:cs typeface="Cambria Math" charset="0"/>
                                </a:rPr>
                              </m:ctrlPr>
                            </m:dPr>
                            <m:e>
                              <m:r>
                                <a:rPr lang="en-US" sz="2800" b="0" i="1" smtClean="0">
                                  <a:latin typeface="Cambria Math" charset="0"/>
                                  <a:ea typeface="Cambria Math" charset="0"/>
                                  <a:cs typeface="Cambria Math" charset="0"/>
                                </a:rPr>
                                <m:t>𝑙</m:t>
                              </m:r>
                            </m:e>
                          </m:d>
                        </m:sup>
                      </m:sSup>
                      <m:r>
                        <a:rPr lang="en-US" sz="2800" b="0" i="1" smtClean="0">
                          <a:latin typeface="Cambria Math" charset="0"/>
                          <a:ea typeface="Cambria Math" charset="0"/>
                          <a:cs typeface="Cambria Math" charset="0"/>
                        </a:rPr>
                        <m:t>⋅</m:t>
                      </m:r>
                      <m:r>
                        <a:rPr lang="en-US" sz="2800" b="0" i="1" smtClean="0">
                          <a:latin typeface="Cambria Math" charset="0"/>
                          <a:ea typeface="Cambria Math" charset="0"/>
                          <a:cs typeface="Cambria Math" charset="0"/>
                        </a:rPr>
                        <m:t>𝜎</m:t>
                      </m:r>
                      <m:r>
                        <a:rPr lang="en-US" sz="2800" b="0" i="1" smtClean="0">
                          <a:latin typeface="Cambria Math" charset="0"/>
                          <a:ea typeface="Cambria Math" charset="0"/>
                          <a:cs typeface="Cambria Math" charset="0"/>
                        </a:rPr>
                        <m:t>′(</m:t>
                      </m:r>
                      <m:sSup>
                        <m:sSupPr>
                          <m:ctrlPr>
                            <a:rPr lang="en-US" sz="2800" b="0" i="1" smtClean="0">
                              <a:latin typeface="Cambria Math" panose="02040503050406030204" pitchFamily="18" charset="0"/>
                              <a:ea typeface="Cambria Math" charset="0"/>
                              <a:cs typeface="Cambria Math" charset="0"/>
                            </a:rPr>
                          </m:ctrlPr>
                        </m:sSupPr>
                        <m:e>
                          <m:r>
                            <a:rPr lang="en-US" sz="2800" b="0" i="1" smtClean="0">
                              <a:latin typeface="Cambria Math" charset="0"/>
                              <a:ea typeface="Cambria Math" charset="0"/>
                              <a:cs typeface="Cambria Math" charset="0"/>
                            </a:rPr>
                            <m:t>𝑧</m:t>
                          </m:r>
                        </m:e>
                        <m:sup>
                          <m:d>
                            <m:dPr>
                              <m:ctrlPr>
                                <a:rPr lang="en-US" sz="2800" b="0" i="1" smtClean="0">
                                  <a:latin typeface="Cambria Math" panose="02040503050406030204" pitchFamily="18" charset="0"/>
                                  <a:ea typeface="Cambria Math" charset="0"/>
                                  <a:cs typeface="Cambria Math" charset="0"/>
                                </a:rPr>
                              </m:ctrlPr>
                            </m:dPr>
                            <m:e>
                              <m:r>
                                <a:rPr lang="en-US" sz="2800" b="0" i="1" smtClean="0">
                                  <a:latin typeface="Cambria Math" charset="0"/>
                                  <a:ea typeface="Cambria Math" charset="0"/>
                                  <a:cs typeface="Cambria Math" charset="0"/>
                                </a:rPr>
                                <m:t>𝑙</m:t>
                              </m:r>
                            </m:e>
                          </m:d>
                        </m:sup>
                      </m:sSup>
                      <m:r>
                        <a:rPr lang="en-US" sz="2800" b="0" i="1" smtClean="0">
                          <a:latin typeface="Cambria Math" charset="0"/>
                          <a:ea typeface="Cambria Math" charset="0"/>
                          <a:cs typeface="Cambria Math" charset="0"/>
                        </a:rPr>
                        <m:t>)</m:t>
                      </m:r>
                    </m:oMath>
                  </m:oMathPara>
                </a14:m>
                <a:endParaRPr lang="en-US" sz="2800" dirty="0">
                  <a:latin typeface="Euphemia" charset="0"/>
                  <a:ea typeface="Euphemia" charset="0"/>
                  <a:cs typeface="Euphemia" charset="0"/>
                </a:endParaRPr>
              </a:p>
            </p:txBody>
          </p:sp>
        </mc:Choice>
        <mc:Fallback xmlns="">
          <p:sp>
            <p:nvSpPr>
              <p:cNvPr id="11" name="Rectangle 10"/>
              <p:cNvSpPr>
                <a:spLocks noRot="1" noChangeAspect="1" noMove="1" noResize="1" noEditPoints="1" noAdjustHandles="1" noChangeArrowheads="1" noChangeShapeType="1" noTextEdit="1"/>
              </p:cNvSpPr>
              <p:nvPr/>
            </p:nvSpPr>
            <p:spPr>
              <a:xfrm>
                <a:off x="6246812" y="812621"/>
                <a:ext cx="4756495" cy="56009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3489912" y="1981200"/>
                <a:ext cx="851900"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ea typeface="Cambria Math" charset="0"/>
                              <a:cs typeface="Cambria Math" charset="0"/>
                            </a:rPr>
                          </m:ctrlPr>
                        </m:sSupPr>
                        <m:e>
                          <m:r>
                            <a:rPr lang="en-US" sz="2400" i="1" smtClean="0">
                              <a:solidFill>
                                <a:srgbClr val="FF0000"/>
                              </a:solidFill>
                              <a:latin typeface="Cambria Math" charset="0"/>
                              <a:ea typeface="Cambria Math" charset="0"/>
                              <a:cs typeface="Cambria Math" charset="0"/>
                            </a:rPr>
                            <m:t>𝛿</m:t>
                          </m:r>
                        </m:e>
                        <m:sup>
                          <m:r>
                            <a:rPr lang="en-US" sz="2400" b="0" i="1" smtClean="0">
                              <a:solidFill>
                                <a:srgbClr val="FF0000"/>
                              </a:solidFill>
                              <a:latin typeface="Cambria Math" charset="0"/>
                              <a:ea typeface="Cambria Math" charset="0"/>
                              <a:cs typeface="Cambria Math" charset="0"/>
                            </a:rPr>
                            <m:t>(4)</m:t>
                          </m:r>
                        </m:sup>
                      </m:sSup>
                    </m:oMath>
                  </m:oMathPara>
                </a14:m>
                <a:endParaRPr lang="en-US" sz="2400" dirty="0">
                  <a:solidFill>
                    <a:srgbClr val="FF0000"/>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3489912" y="1981200"/>
                <a:ext cx="851900" cy="476990"/>
              </a:xfrm>
              <a:prstGeom prst="rect">
                <a:avLst/>
              </a:prstGeom>
              <a:blipFill rotWithShape="0">
                <a:blip r:embed="rId7"/>
                <a:stretch>
                  <a:fillRect/>
                </a:stretch>
              </a:blipFill>
            </p:spPr>
            <p:txBody>
              <a:bodyPr/>
              <a:lstStyle/>
              <a:p>
                <a:r>
                  <a:rPr lang="en-US">
                    <a:noFill/>
                  </a:rPr>
                  <a:t> </a:t>
                </a:r>
              </a:p>
            </p:txBody>
          </p:sp>
        </mc:Fallback>
      </mc:AlternateContent>
      <p:sp>
        <p:nvSpPr>
          <p:cNvPr id="13" name="Left Brace 12"/>
          <p:cNvSpPr/>
          <p:nvPr/>
        </p:nvSpPr>
        <p:spPr>
          <a:xfrm rot="5400000">
            <a:off x="3723256" y="2025126"/>
            <a:ext cx="281481" cy="955630"/>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Rectangle 13"/>
              <p:cNvSpPr/>
              <p:nvPr/>
            </p:nvSpPr>
            <p:spPr>
              <a:xfrm>
                <a:off x="4640750" y="3079457"/>
                <a:ext cx="851900"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ea typeface="Cambria Math" charset="0"/>
                              <a:cs typeface="Cambria Math" charset="0"/>
                            </a:rPr>
                          </m:ctrlPr>
                        </m:sSupPr>
                        <m:e>
                          <m:r>
                            <a:rPr lang="en-US" sz="2400" i="1" smtClean="0">
                              <a:solidFill>
                                <a:srgbClr val="FF0000"/>
                              </a:solidFill>
                              <a:latin typeface="Cambria Math" charset="0"/>
                              <a:ea typeface="Cambria Math" charset="0"/>
                              <a:cs typeface="Cambria Math" charset="0"/>
                            </a:rPr>
                            <m:t>𝛿</m:t>
                          </m:r>
                        </m:e>
                        <m:sup>
                          <m:r>
                            <a:rPr lang="en-US" sz="2400" b="0" i="1" smtClean="0">
                              <a:solidFill>
                                <a:srgbClr val="FF0000"/>
                              </a:solidFill>
                              <a:latin typeface="Cambria Math" charset="0"/>
                              <a:ea typeface="Cambria Math" charset="0"/>
                              <a:cs typeface="Cambria Math" charset="0"/>
                            </a:rPr>
                            <m:t>(3)</m:t>
                          </m:r>
                        </m:sup>
                      </m:sSup>
                    </m:oMath>
                  </m:oMathPara>
                </a14:m>
                <a:endParaRPr lang="en-US" sz="2400" dirty="0">
                  <a:solidFill>
                    <a:srgbClr val="FF0000"/>
                  </a:solidFill>
                </a:endParaRPr>
              </a:p>
            </p:txBody>
          </p:sp>
        </mc:Choice>
        <mc:Fallback xmlns="">
          <p:sp>
            <p:nvSpPr>
              <p:cNvPr id="14" name="Rectangle 13"/>
              <p:cNvSpPr>
                <a:spLocks noRot="1" noChangeAspect="1" noMove="1" noResize="1" noEditPoints="1" noAdjustHandles="1" noChangeArrowheads="1" noChangeShapeType="1" noTextEdit="1"/>
              </p:cNvSpPr>
              <p:nvPr/>
            </p:nvSpPr>
            <p:spPr>
              <a:xfrm>
                <a:off x="4640750" y="3079457"/>
                <a:ext cx="851900" cy="476990"/>
              </a:xfrm>
              <a:prstGeom prst="rect">
                <a:avLst/>
              </a:prstGeom>
              <a:blipFill rotWithShape="0">
                <a:blip r:embed="rId8"/>
                <a:stretch>
                  <a:fillRect/>
                </a:stretch>
              </a:blipFill>
            </p:spPr>
            <p:txBody>
              <a:bodyPr/>
              <a:lstStyle/>
              <a:p>
                <a:r>
                  <a:rPr lang="en-US">
                    <a:noFill/>
                  </a:rPr>
                  <a:t> </a:t>
                </a:r>
              </a:p>
            </p:txBody>
          </p:sp>
        </mc:Fallback>
      </mc:AlternateContent>
      <p:sp>
        <p:nvSpPr>
          <p:cNvPr id="15" name="Left Brace 14"/>
          <p:cNvSpPr/>
          <p:nvPr/>
        </p:nvSpPr>
        <p:spPr>
          <a:xfrm rot="5400000">
            <a:off x="4870591" y="1976047"/>
            <a:ext cx="272809" cy="3241631"/>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Rectangle 15"/>
              <p:cNvSpPr/>
              <p:nvPr/>
            </p:nvSpPr>
            <p:spPr>
              <a:xfrm>
                <a:off x="5850523" y="4144460"/>
                <a:ext cx="851900"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solidFill>
                                <a:srgbClr val="FF0000"/>
                              </a:solidFill>
                              <a:latin typeface="Cambria Math" panose="02040503050406030204" pitchFamily="18" charset="0"/>
                              <a:ea typeface="Cambria Math" charset="0"/>
                              <a:cs typeface="Cambria Math" charset="0"/>
                            </a:rPr>
                          </m:ctrlPr>
                        </m:sSupPr>
                        <m:e>
                          <m:r>
                            <a:rPr lang="en-US" sz="2400" i="1" smtClean="0">
                              <a:solidFill>
                                <a:srgbClr val="FF0000"/>
                              </a:solidFill>
                              <a:latin typeface="Cambria Math" charset="0"/>
                              <a:ea typeface="Cambria Math" charset="0"/>
                              <a:cs typeface="Cambria Math" charset="0"/>
                            </a:rPr>
                            <m:t>𝛿</m:t>
                          </m:r>
                        </m:e>
                        <m:sup>
                          <m:r>
                            <a:rPr lang="en-US" sz="2400" b="0" i="1" smtClean="0">
                              <a:solidFill>
                                <a:srgbClr val="FF0000"/>
                              </a:solidFill>
                              <a:latin typeface="Cambria Math" charset="0"/>
                              <a:ea typeface="Cambria Math" charset="0"/>
                              <a:cs typeface="Cambria Math" charset="0"/>
                            </a:rPr>
                            <m:t>(2)</m:t>
                          </m:r>
                        </m:sup>
                      </m:sSup>
                    </m:oMath>
                  </m:oMathPara>
                </a14:m>
                <a:endParaRPr lang="en-US" sz="2400" dirty="0">
                  <a:solidFill>
                    <a:srgbClr val="FF000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5850523" y="4144460"/>
                <a:ext cx="851900" cy="476990"/>
              </a:xfrm>
              <a:prstGeom prst="rect">
                <a:avLst/>
              </a:prstGeom>
              <a:blipFill rotWithShape="0">
                <a:blip r:embed="rId9"/>
                <a:stretch>
                  <a:fillRect/>
                </a:stretch>
              </a:blipFill>
            </p:spPr>
            <p:txBody>
              <a:bodyPr/>
              <a:lstStyle/>
              <a:p>
                <a:r>
                  <a:rPr lang="en-US">
                    <a:noFill/>
                  </a:rPr>
                  <a:t> </a:t>
                </a:r>
              </a:p>
            </p:txBody>
          </p:sp>
        </mc:Fallback>
      </mc:AlternateContent>
      <p:sp>
        <p:nvSpPr>
          <p:cNvPr id="17" name="Left Brace 16"/>
          <p:cNvSpPr/>
          <p:nvPr/>
        </p:nvSpPr>
        <p:spPr>
          <a:xfrm rot="5400000">
            <a:off x="6091851" y="1795612"/>
            <a:ext cx="268687" cy="5680032"/>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1286358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animBg="1"/>
      <p:bldP spid="14" grpId="0"/>
      <p:bldP spid="15" grpId="0" animBg="1"/>
      <p:bldP spid="16" grpId="0"/>
      <p:bldP spid="1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 signal in practices</a:t>
            </a:r>
            <a:endParaRPr lang="en-US" dirty="0"/>
          </a:p>
        </p:txBody>
      </p:sp>
      <p:sp>
        <p:nvSpPr>
          <p:cNvPr id="3" name="Content Placeholder 2"/>
          <p:cNvSpPr>
            <a:spLocks noGrp="1"/>
          </p:cNvSpPr>
          <p:nvPr>
            <p:ph idx="1"/>
          </p:nvPr>
        </p:nvSpPr>
        <p:spPr/>
        <p:txBody>
          <a:bodyPr/>
          <a:lstStyle/>
          <a:p>
            <a:r>
              <a:rPr lang="en-US" dirty="0" smtClean="0"/>
              <a:t>Allows you to easily code a repeatable pattern when implementing backpropagation by hand</a:t>
            </a:r>
            <a:br>
              <a:rPr lang="en-US" dirty="0" smtClean="0"/>
            </a:br>
            <a:endParaRPr lang="en-US" dirty="0" smtClean="0"/>
          </a:p>
          <a:p>
            <a:r>
              <a:rPr lang="en-US" dirty="0" smtClean="0"/>
              <a:t>That said, you probably won’t be thinking about the error signal when you use </a:t>
            </a:r>
            <a:r>
              <a:rPr lang="en-US" dirty="0" err="1" smtClean="0"/>
              <a:t>TensorFlow</a:t>
            </a:r>
            <a:r>
              <a:rPr lang="en-US" dirty="0" smtClean="0"/>
              <a:t/>
            </a:r>
            <a:br>
              <a:rPr lang="en-US" dirty="0" smtClean="0"/>
            </a:br>
            <a:endParaRPr lang="en-US" dirty="0" smtClean="0"/>
          </a:p>
          <a:p>
            <a:r>
              <a:rPr lang="en-US" dirty="0" smtClean="0"/>
              <a:t>May come up in papers you read or other resources you learn from in the future</a:t>
            </a:r>
            <a:endParaRPr lang="en-US" dirty="0"/>
          </a:p>
        </p:txBody>
      </p:sp>
    </p:spTree>
    <p:extLst>
      <p:ext uri="{BB962C8B-B14F-4D97-AF65-F5344CB8AC3E}">
        <p14:creationId xmlns:p14="http://schemas.microsoft.com/office/powerpoint/2010/main" val="440729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Mental break</a:t>
            </a:r>
            <a:endParaRPr lang="en-US" dirty="0"/>
          </a:p>
        </p:txBody>
      </p:sp>
    </p:spTree>
    <p:extLst>
      <p:ext uri="{BB962C8B-B14F-4D97-AF65-F5344CB8AC3E}">
        <p14:creationId xmlns:p14="http://schemas.microsoft.com/office/powerpoint/2010/main" val="7628452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potential problem.</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93436" y="1600200"/>
                <a:ext cx="9782801" cy="685800"/>
              </a:xfrm>
            </p:spPr>
            <p:txBody>
              <a:bodyPr/>
              <a:lstStyle/>
              <a:p>
                <a:r>
                  <a:rPr lang="en-US" dirty="0" smtClean="0"/>
                  <a:t>Take a look at this formula for the gradient </a:t>
                </a:r>
                <a:r>
                  <a:rPr lang="en-US" dirty="0" err="1" smtClean="0"/>
                  <a:t>w.r.t</a:t>
                </a:r>
                <a:r>
                  <a:rPr lang="en-US" dirty="0" smtClean="0"/>
                  <a:t>. </a:t>
                </a:r>
                <a14:m>
                  <m:oMath xmlns:m="http://schemas.openxmlformats.org/officeDocument/2006/math">
                    <m:sSup>
                      <m:sSupPr>
                        <m:ctrlPr>
                          <a:rPr lang="en-US" i="1">
                            <a:latin typeface="Cambria Math" panose="02040503050406030204" pitchFamily="18" charset="0"/>
                            <a:ea typeface="Euphemia" charset="0"/>
                            <a:cs typeface="Euphemia" charset="0"/>
                          </a:rPr>
                        </m:ctrlPr>
                      </m:sSupPr>
                      <m:e>
                        <m:r>
                          <a:rPr lang="en-US" i="1">
                            <a:latin typeface="Cambria Math" charset="0"/>
                            <a:ea typeface="Euphemia" charset="0"/>
                            <a:cs typeface="Euphemia" charset="0"/>
                          </a:rPr>
                          <m:t>𝑊</m:t>
                        </m:r>
                      </m:e>
                      <m:sup>
                        <m:r>
                          <a:rPr lang="en-US" i="1">
                            <a:latin typeface="Cambria Math" charset="0"/>
                            <a:ea typeface="Euphemia" charset="0"/>
                            <a:cs typeface="Euphemia" charset="0"/>
                          </a:rPr>
                          <m:t>(1)</m:t>
                        </m:r>
                      </m:sup>
                    </m:sSup>
                  </m:oMath>
                </a14:m>
                <a:r>
                  <a:rPr lang="en-US" dirty="0" smtClean="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93436" y="1600200"/>
                <a:ext cx="9782801" cy="685800"/>
              </a:xfrm>
              <a:blipFill rotWithShape="0">
                <a:blip r:embed="rId3"/>
                <a:stretch>
                  <a:fillRect l="-1433" t="-19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360612" y="2481263"/>
                <a:ext cx="10134600" cy="826508"/>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f>
                        <m:fPr>
                          <m:ctrlPr>
                            <a:rPr lang="mr-IN" sz="2800" b="0" i="1" smtClean="0">
                              <a:latin typeface="Cambria Math" panose="02040503050406030204" pitchFamily="18" charset="0"/>
                              <a:ea typeface="Euphemia" charset="0"/>
                              <a:cs typeface="Euphemia" charset="0"/>
                            </a:rPr>
                          </m:ctrlPr>
                        </m:fPr>
                        <m:num>
                          <m:r>
                            <a:rPr lang="mr-IN" sz="2800" b="0" i="1" smtClean="0">
                              <a:latin typeface="Cambria Math" charset="0"/>
                              <a:ea typeface="Euphemia" charset="0"/>
                              <a:cs typeface="Euphemia" charset="0"/>
                            </a:rPr>
                            <m:t>𝜕</m:t>
                          </m:r>
                          <m:r>
                            <a:rPr lang="en-US" sz="2800" b="0" i="1" smtClean="0">
                              <a:latin typeface="Cambria Math" charset="0"/>
                              <a:ea typeface="Euphemia" charset="0"/>
                              <a:cs typeface="Euphemia" charset="0"/>
                            </a:rPr>
                            <m:t>𝐽</m:t>
                          </m:r>
                        </m:num>
                        <m:den>
                          <m:r>
                            <a:rPr lang="mr-IN"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r>
                                <a:rPr lang="en-US" sz="2800" b="0" i="1" smtClean="0">
                                  <a:latin typeface="Cambria Math" charset="0"/>
                                  <a:ea typeface="Euphemia" charset="0"/>
                                  <a:cs typeface="Euphemia" charset="0"/>
                                </a:rPr>
                                <m:t>(1)</m:t>
                              </m:r>
                            </m:sup>
                          </m:sSup>
                        </m:den>
                      </m:f>
                      <m:r>
                        <a:rPr lang="en-US" sz="2800" b="0" i="1" smtClean="0">
                          <a:latin typeface="Cambria Math" charset="0"/>
                          <a:ea typeface="Euphemia" charset="0"/>
                          <a:cs typeface="Euphemia" charset="0"/>
                        </a:rPr>
                        <m:t>=</m:t>
                      </m:r>
                      <m:d>
                        <m:dPr>
                          <m:ctrlPr>
                            <a:rPr lang="en-US" sz="2800" i="1">
                              <a:latin typeface="Cambria Math" panose="02040503050406030204" pitchFamily="18" charset="0"/>
                              <a:ea typeface="Euphemia" charset="0"/>
                              <a:cs typeface="Euphemia" charset="0"/>
                            </a:rPr>
                          </m:ctrlPr>
                        </m:dPr>
                        <m:e>
                          <m:acc>
                            <m:accPr>
                              <m:chr m:val="̂"/>
                              <m:ctrlPr>
                                <a:rPr lang="en-US" sz="2800" i="1">
                                  <a:latin typeface="Cambria Math" panose="02040503050406030204" pitchFamily="18" charset="0"/>
                                  <a:ea typeface="Euphemia" charset="0"/>
                                  <a:cs typeface="Euphemia" charset="0"/>
                                </a:rPr>
                              </m:ctrlPr>
                            </m:accPr>
                            <m:e>
                              <m:r>
                                <a:rPr lang="en-US" sz="2800" i="1">
                                  <a:latin typeface="Cambria Math" charset="0"/>
                                  <a:ea typeface="Euphemia" charset="0"/>
                                  <a:cs typeface="Euphemia" charset="0"/>
                                </a:rPr>
                                <m:t>𝑦</m:t>
                              </m:r>
                            </m:e>
                          </m:acc>
                          <m:r>
                            <a:rPr lang="en-US" sz="2800" i="1">
                              <a:latin typeface="Cambria Math" charset="0"/>
                              <a:ea typeface="Euphemia" charset="0"/>
                              <a:cs typeface="Euphemia" charset="0"/>
                            </a:rPr>
                            <m:t>−</m:t>
                          </m:r>
                          <m:r>
                            <a:rPr lang="en-US" sz="2800" i="1">
                              <a:latin typeface="Cambria Math" charset="0"/>
                              <a:ea typeface="Euphemia" charset="0"/>
                              <a:cs typeface="Euphemia" charset="0"/>
                            </a:rPr>
                            <m:t>𝑦</m:t>
                          </m:r>
                        </m:e>
                      </m:d>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3</m:t>
                              </m:r>
                            </m:e>
                          </m:d>
                        </m:sup>
                      </m:sSup>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𝜎</m:t>
                          </m:r>
                        </m:e>
                        <m:sup>
                          <m:r>
                            <a:rPr lang="en-US" sz="2800" b="0" i="1" smtClean="0">
                              <a:latin typeface="Cambria Math" charset="0"/>
                              <a:ea typeface="Euphemia" charset="0"/>
                              <a:cs typeface="Euphemia" charset="0"/>
                            </a:rPr>
                            <m:t>′</m:t>
                          </m:r>
                        </m:sup>
                      </m:sSup>
                      <m:d>
                        <m:dPr>
                          <m:ctrlPr>
                            <a:rPr lang="en-US" sz="2800" b="0" i="1" smtClean="0">
                              <a:latin typeface="Cambria Math" panose="02040503050406030204" pitchFamily="18" charset="0"/>
                              <a:ea typeface="Euphemia" charset="0"/>
                              <a:cs typeface="Euphemia" charset="0"/>
                            </a:rPr>
                          </m:ctrlPr>
                        </m:dPr>
                        <m:e>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𝑧</m:t>
                              </m:r>
                            </m:e>
                            <m:sup>
                              <m:r>
                                <a:rPr lang="en-US" sz="2800" b="0" i="1" smtClean="0">
                                  <a:latin typeface="Cambria Math" charset="0"/>
                                  <a:ea typeface="Euphemia" charset="0"/>
                                  <a:cs typeface="Euphemia" charset="0"/>
                                </a:rPr>
                                <m:t>3</m:t>
                              </m:r>
                            </m:sup>
                          </m:sSup>
                        </m:e>
                      </m:d>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𝑊</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2</m:t>
                              </m:r>
                            </m:e>
                          </m:d>
                        </m:sup>
                      </m:sSup>
                      <m:r>
                        <a:rPr lang="en-US" sz="2800" b="0" i="1" smtClean="0">
                          <a:latin typeface="Cambria Math" charset="0"/>
                          <a:ea typeface="Euphemia" charset="0"/>
                          <a:cs typeface="Euphemia" charset="0"/>
                        </a:rPr>
                        <m:t>⋅</m:t>
                      </m:r>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𝜎</m:t>
                          </m:r>
                        </m:e>
                        <m:sup>
                          <m:r>
                            <a:rPr lang="en-US" sz="2800" b="0" i="1" smtClean="0">
                              <a:latin typeface="Cambria Math" charset="0"/>
                              <a:ea typeface="Euphemia" charset="0"/>
                              <a:cs typeface="Euphemia" charset="0"/>
                            </a:rPr>
                            <m:t>′</m:t>
                          </m:r>
                        </m:sup>
                      </m:sSup>
                      <m:d>
                        <m:dPr>
                          <m:ctrlPr>
                            <a:rPr lang="en-US" sz="2800" b="0" i="1" smtClean="0">
                              <a:latin typeface="Cambria Math" panose="02040503050406030204" pitchFamily="18" charset="0"/>
                              <a:ea typeface="Euphemia" charset="0"/>
                              <a:cs typeface="Euphemia" charset="0"/>
                            </a:rPr>
                          </m:ctrlPr>
                        </m:dPr>
                        <m:e>
                          <m:sSup>
                            <m:sSupPr>
                              <m:ctrlPr>
                                <a:rPr lang="en-US" sz="2800" b="0" i="1" smtClean="0">
                                  <a:latin typeface="Cambria Math" panose="02040503050406030204" pitchFamily="18" charset="0"/>
                                  <a:ea typeface="Euphemia" charset="0"/>
                                  <a:cs typeface="Euphemia" charset="0"/>
                                </a:rPr>
                              </m:ctrlPr>
                            </m:sSupPr>
                            <m:e>
                              <m:r>
                                <a:rPr lang="en-US" sz="2800" b="0" i="1" smtClean="0">
                                  <a:latin typeface="Cambria Math" charset="0"/>
                                  <a:ea typeface="Euphemia" charset="0"/>
                                  <a:cs typeface="Euphemia" charset="0"/>
                                </a:rPr>
                                <m:t>𝑧</m:t>
                              </m:r>
                            </m:e>
                            <m:sup>
                              <m:d>
                                <m:dPr>
                                  <m:ctrlPr>
                                    <a:rPr lang="en-US" sz="2800" b="0" i="1" smtClean="0">
                                      <a:latin typeface="Cambria Math" panose="02040503050406030204" pitchFamily="18" charset="0"/>
                                      <a:ea typeface="Euphemia" charset="0"/>
                                      <a:cs typeface="Euphemia" charset="0"/>
                                    </a:rPr>
                                  </m:ctrlPr>
                                </m:dPr>
                                <m:e>
                                  <m:r>
                                    <a:rPr lang="en-US" sz="2800" b="0" i="1" smtClean="0">
                                      <a:latin typeface="Cambria Math" charset="0"/>
                                      <a:ea typeface="Euphemia" charset="0"/>
                                      <a:cs typeface="Euphemia" charset="0"/>
                                    </a:rPr>
                                    <m:t>2</m:t>
                                  </m:r>
                                </m:e>
                              </m:d>
                            </m:sup>
                          </m:sSup>
                        </m:e>
                      </m:d>
                      <m:r>
                        <a:rPr lang="en-US" sz="2800" b="0" i="1" smtClean="0">
                          <a:latin typeface="Cambria Math" charset="0"/>
                          <a:ea typeface="Euphemia" charset="0"/>
                          <a:cs typeface="Euphemia" charset="0"/>
                        </a:rPr>
                        <m:t>⋅</m:t>
                      </m:r>
                      <m:r>
                        <a:rPr lang="en-US" sz="2800" b="0" i="1" smtClean="0">
                          <a:latin typeface="Cambria Math" charset="0"/>
                          <a:ea typeface="Euphemia" charset="0"/>
                          <a:cs typeface="Euphemia" charset="0"/>
                        </a:rPr>
                        <m:t>𝑋</m:t>
                      </m:r>
                    </m:oMath>
                  </m:oMathPara>
                </a14:m>
                <a:endParaRPr lang="en-US" sz="2800" dirty="0">
                  <a:latin typeface="Euphemia" charset="0"/>
                  <a:ea typeface="Euphemia" charset="0"/>
                  <a:cs typeface="Euphemia"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360612" y="2481263"/>
                <a:ext cx="10134600" cy="826508"/>
              </a:xfrm>
              <a:prstGeom prst="rect">
                <a:avLst/>
              </a:prstGeom>
              <a:blipFill rotWithShape="0">
                <a:blip r:embed="rId4"/>
                <a:stretch>
                  <a:fillRect/>
                </a:stretch>
              </a:blipFill>
            </p:spPr>
            <p:txBody>
              <a:bodyPr/>
              <a:lstStyle/>
              <a:p>
                <a:r>
                  <a:rPr lang="en-US">
                    <a:noFill/>
                  </a:rPr>
                  <a:t> </a:t>
                </a:r>
              </a:p>
            </p:txBody>
          </p:sp>
        </mc:Fallback>
      </mc:AlternateContent>
      <p:sp>
        <p:nvSpPr>
          <p:cNvPr id="5" name="Content Placeholder 2"/>
          <p:cNvSpPr txBox="1">
            <a:spLocks/>
          </p:cNvSpPr>
          <p:nvPr/>
        </p:nvSpPr>
        <p:spPr>
          <a:xfrm>
            <a:off x="1593436" y="3904670"/>
            <a:ext cx="9782801" cy="257233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n-US" dirty="0" smtClean="0"/>
              <a:t>We’re going to want a deep network!</a:t>
            </a:r>
          </a:p>
          <a:p>
            <a:pPr lvl="1">
              <a:buFont typeface="Arial" charset="0"/>
              <a:buChar char="•"/>
            </a:pPr>
            <a:r>
              <a:rPr lang="en-US" dirty="0" smtClean="0"/>
              <a:t>More layers allows more complex representations</a:t>
            </a:r>
          </a:p>
          <a:p>
            <a:pPr marL="0" indent="0">
              <a:buNone/>
            </a:pPr>
            <a:endParaRPr lang="en-US" dirty="0" smtClean="0"/>
          </a:p>
          <a:p>
            <a:pPr marL="0" indent="0">
              <a:buNone/>
            </a:pPr>
            <a:r>
              <a:rPr lang="en-US" dirty="0" smtClean="0"/>
              <a:t>Is there something that might get screwy due to the functions we’re using?</a:t>
            </a:r>
            <a:endParaRPr lang="en-US" dirty="0"/>
          </a:p>
        </p:txBody>
      </p:sp>
    </p:spTree>
    <p:extLst>
      <p:ext uri="{BB962C8B-B14F-4D97-AF65-F5344CB8AC3E}">
        <p14:creationId xmlns:p14="http://schemas.microsoft.com/office/powerpoint/2010/main" val="10907631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smtClean="0"/>
                  <a:t>Range of </a:t>
                </a:r>
                <a14:m>
                  <m:oMath xmlns:m="http://schemas.openxmlformats.org/officeDocument/2006/math">
                    <m:sSup>
                      <m:sSupPr>
                        <m:ctrlPr>
                          <a:rPr lang="en-US" i="1">
                            <a:latin typeface="Cambria Math" panose="02040503050406030204" pitchFamily="18" charset="0"/>
                            <a:ea typeface="Euphemia" charset="0"/>
                            <a:cs typeface="Euphemia" charset="0"/>
                          </a:rPr>
                        </m:ctrlPr>
                      </m:sSupPr>
                      <m:e>
                        <m:r>
                          <a:rPr lang="en-US" i="1">
                            <a:latin typeface="Cambria Math" charset="0"/>
                            <a:ea typeface="Euphemia" charset="0"/>
                            <a:cs typeface="Euphemia" charset="0"/>
                          </a:rPr>
                          <m:t>𝜎</m:t>
                        </m:r>
                      </m:e>
                      <m:sup>
                        <m:r>
                          <a:rPr lang="en-US" i="1">
                            <a:latin typeface="Cambria Math" charset="0"/>
                            <a:ea typeface="Euphemia" charset="0"/>
                            <a:cs typeface="Euphemia" charset="0"/>
                          </a:rPr>
                          <m:t>′</m:t>
                        </m:r>
                      </m:sup>
                    </m:sSup>
                    <m:d>
                      <m:dPr>
                        <m:ctrlPr>
                          <a:rPr lang="en-US" i="1">
                            <a:latin typeface="Cambria Math" panose="02040503050406030204" pitchFamily="18" charset="0"/>
                            <a:ea typeface="Euphemia" charset="0"/>
                            <a:cs typeface="Euphemia" charset="0"/>
                          </a:rPr>
                        </m:ctrlPr>
                      </m:dPr>
                      <m:e>
                        <m:r>
                          <a:rPr lang="en-US" i="1">
                            <a:latin typeface="Cambria Math" charset="0"/>
                            <a:ea typeface="Euphemia" charset="0"/>
                            <a:cs typeface="Euphemia" charset="0"/>
                          </a:rPr>
                          <m:t>𝑧</m:t>
                        </m:r>
                      </m:e>
                    </m:d>
                  </m:oMath>
                </a14:m>
                <a:r>
                  <a:rPr lang="en-US" dirty="0" smtClean="0"/>
                  <a:t>?</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3"/>
                <a:stretch>
                  <a:fillRect l="-1869" b="-18137"/>
                </a:stretch>
              </a:blipFill>
            </p:spPr>
            <p:txBody>
              <a:bodyPr/>
              <a:lstStyle/>
              <a:p>
                <a:r>
                  <a:rPr lang="en-US">
                    <a:noFill/>
                  </a:rPr>
                  <a:t> </a:t>
                </a:r>
              </a:p>
            </p:txBody>
          </p:sp>
        </mc:Fallback>
      </mc:AlternateContent>
      <p:sp>
        <p:nvSpPr>
          <p:cNvPr id="3" name="Content Placeholder 2"/>
          <p:cNvSpPr>
            <a:spLocks noGrp="1"/>
          </p:cNvSpPr>
          <p:nvPr>
            <p:ph idx="1"/>
          </p:nvPr>
        </p:nvSpPr>
        <p:spPr>
          <a:xfrm>
            <a:off x="1593436" y="1600200"/>
            <a:ext cx="9782801" cy="685800"/>
          </a:xfrm>
        </p:spPr>
        <p:txBody>
          <a:bodyPr/>
          <a:lstStyle/>
          <a:p>
            <a:r>
              <a:rPr lang="en-US" dirty="0" smtClean="0"/>
              <a:t>Recall derivative of the sigmoid function:</a:t>
            </a:r>
            <a:endParaRPr lang="en-US" dirty="0"/>
          </a:p>
        </p:txBody>
      </p:sp>
      <mc:AlternateContent xmlns:mc="http://schemas.openxmlformats.org/markup-compatibility/2006" xmlns:a14="http://schemas.microsoft.com/office/drawing/2010/main">
        <mc:Choice Requires="a14">
          <p:sp>
            <p:nvSpPr>
              <p:cNvPr id="7" name="Rectangle 6"/>
              <p:cNvSpPr/>
              <p:nvPr/>
            </p:nvSpPr>
            <p:spPr>
              <a:xfrm>
                <a:off x="3960940" y="2468563"/>
                <a:ext cx="5047792"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3600" i="1" smtClean="0">
                              <a:latin typeface="Cambria Math" panose="02040503050406030204" pitchFamily="18" charset="0"/>
                              <a:ea typeface="Euphemia" charset="0"/>
                              <a:cs typeface="Euphemia" charset="0"/>
                            </a:rPr>
                          </m:ctrlPr>
                        </m:sSupPr>
                        <m:e>
                          <m:r>
                            <a:rPr lang="en-US" sz="3600" i="1">
                              <a:latin typeface="Cambria Math" charset="0"/>
                              <a:ea typeface="Euphemia" charset="0"/>
                              <a:cs typeface="Euphemia" charset="0"/>
                            </a:rPr>
                            <m:t>𝜎</m:t>
                          </m:r>
                        </m:e>
                        <m:sup>
                          <m:r>
                            <a:rPr lang="en-US" sz="3600" i="1">
                              <a:latin typeface="Cambria Math" charset="0"/>
                              <a:ea typeface="Euphemia" charset="0"/>
                              <a:cs typeface="Euphemia" charset="0"/>
                            </a:rPr>
                            <m:t>′</m:t>
                          </m:r>
                        </m:sup>
                      </m:sSup>
                      <m:d>
                        <m:dPr>
                          <m:ctrlPr>
                            <a:rPr lang="en-US" sz="3600" i="1">
                              <a:latin typeface="Cambria Math" panose="02040503050406030204" pitchFamily="18" charset="0"/>
                              <a:ea typeface="Euphemia" charset="0"/>
                              <a:cs typeface="Euphemia" charset="0"/>
                            </a:rPr>
                          </m:ctrlPr>
                        </m:dPr>
                        <m:e>
                          <m:r>
                            <a:rPr lang="en-US" sz="3600" b="0" i="1" smtClean="0">
                              <a:latin typeface="Cambria Math" charset="0"/>
                              <a:ea typeface="Euphemia" charset="0"/>
                              <a:cs typeface="Euphemia" charset="0"/>
                            </a:rPr>
                            <m:t>𝑧</m:t>
                          </m:r>
                        </m:e>
                      </m:d>
                      <m:r>
                        <a:rPr lang="en-US" sz="3600" b="0" i="1" smtClean="0">
                          <a:latin typeface="Cambria Math" charset="0"/>
                          <a:ea typeface="Euphemia" charset="0"/>
                          <a:cs typeface="Euphemia" charset="0"/>
                        </a:rPr>
                        <m:t>=</m:t>
                      </m:r>
                      <m:r>
                        <a:rPr lang="en-US" sz="3600" b="0" i="1" smtClean="0">
                          <a:latin typeface="Cambria Math" charset="0"/>
                          <a:ea typeface="Euphemia" charset="0"/>
                          <a:cs typeface="Euphemia" charset="0"/>
                        </a:rPr>
                        <m:t>𝜎</m:t>
                      </m:r>
                      <m:r>
                        <a:rPr lang="en-US" sz="3600" b="0" i="1" smtClean="0">
                          <a:latin typeface="Cambria Math" charset="0"/>
                          <a:ea typeface="Euphemia" charset="0"/>
                          <a:cs typeface="Euphemia" charset="0"/>
                        </a:rPr>
                        <m:t>(</m:t>
                      </m:r>
                      <m:r>
                        <a:rPr lang="en-US" sz="3600" b="0" i="1" smtClean="0">
                          <a:latin typeface="Cambria Math" charset="0"/>
                          <a:ea typeface="Euphemia" charset="0"/>
                          <a:cs typeface="Euphemia" charset="0"/>
                        </a:rPr>
                        <m:t>𝑧</m:t>
                      </m:r>
                      <m:r>
                        <a:rPr lang="en-US" sz="3600" b="0" i="1" smtClean="0">
                          <a:latin typeface="Cambria Math" charset="0"/>
                          <a:ea typeface="Euphemia" charset="0"/>
                          <a:cs typeface="Euphemia" charset="0"/>
                        </a:rPr>
                        <m:t>)</m:t>
                      </m:r>
                      <m:d>
                        <m:dPr>
                          <m:ctrlPr>
                            <a:rPr lang="mr-IN" sz="3600" b="0" i="1" smtClean="0">
                              <a:latin typeface="Cambria Math" panose="02040503050406030204" pitchFamily="18" charset="0"/>
                              <a:ea typeface="Euphemia" charset="0"/>
                              <a:cs typeface="Euphemia" charset="0"/>
                            </a:rPr>
                          </m:ctrlPr>
                        </m:dPr>
                        <m:e>
                          <m:r>
                            <a:rPr lang="en-US" sz="3600" b="0" i="1" smtClean="0">
                              <a:latin typeface="Cambria Math" charset="0"/>
                              <a:ea typeface="Euphemia" charset="0"/>
                              <a:cs typeface="Euphemia" charset="0"/>
                            </a:rPr>
                            <m:t>1−</m:t>
                          </m:r>
                          <m:r>
                            <a:rPr lang="en-US" sz="3600" b="0" i="1" smtClean="0">
                              <a:latin typeface="Cambria Math" charset="0"/>
                              <a:ea typeface="Euphemia" charset="0"/>
                              <a:cs typeface="Euphemia" charset="0"/>
                            </a:rPr>
                            <m:t>𝜎</m:t>
                          </m:r>
                          <m:r>
                            <a:rPr lang="en-US" sz="3600" b="0" i="1" smtClean="0">
                              <a:latin typeface="Cambria Math" charset="0"/>
                              <a:ea typeface="Euphemia" charset="0"/>
                              <a:cs typeface="Euphemia" charset="0"/>
                            </a:rPr>
                            <m:t>(</m:t>
                          </m:r>
                          <m:r>
                            <a:rPr lang="en-US" sz="3600" b="0" i="1" smtClean="0">
                              <a:latin typeface="Cambria Math" charset="0"/>
                              <a:ea typeface="Euphemia" charset="0"/>
                              <a:cs typeface="Euphemia" charset="0"/>
                            </a:rPr>
                            <m:t>𝑧</m:t>
                          </m:r>
                          <m:r>
                            <a:rPr lang="en-US" sz="3600" b="0" i="1" smtClean="0">
                              <a:latin typeface="Cambria Math" charset="0"/>
                              <a:ea typeface="Euphemia" charset="0"/>
                              <a:cs typeface="Euphemia" charset="0"/>
                            </a:rPr>
                            <m:t>)</m:t>
                          </m:r>
                        </m:e>
                      </m:d>
                    </m:oMath>
                  </m:oMathPara>
                </a14:m>
                <a:endParaRPr lang="en-US" sz="3600" dirty="0"/>
              </a:p>
            </p:txBody>
          </p:sp>
        </mc:Choice>
        <mc:Fallback xmlns="">
          <p:sp>
            <p:nvSpPr>
              <p:cNvPr id="7" name="Rectangle 6"/>
              <p:cNvSpPr>
                <a:spLocks noRot="1" noChangeAspect="1" noMove="1" noResize="1" noEditPoints="1" noAdjustHandles="1" noChangeArrowheads="1" noChangeShapeType="1" noTextEdit="1"/>
              </p:cNvSpPr>
              <p:nvPr/>
            </p:nvSpPr>
            <p:spPr>
              <a:xfrm>
                <a:off x="3960940" y="2468563"/>
                <a:ext cx="5047792" cy="646331"/>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p:cNvSpPr txBox="1">
                <a:spLocks/>
              </p:cNvSpPr>
              <p:nvPr/>
            </p:nvSpPr>
            <p:spPr>
              <a:xfrm>
                <a:off x="1593436" y="3822920"/>
                <a:ext cx="9782801" cy="265408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n-US" dirty="0" smtClean="0">
                    <a:ea typeface="Euphemia" charset="0"/>
                    <a:cs typeface="Euphemia" charset="0"/>
                  </a:rPr>
                  <a:t>Range of </a:t>
                </a:r>
                <a14:m>
                  <m:oMath xmlns:m="http://schemas.openxmlformats.org/officeDocument/2006/math">
                    <m:sSup>
                      <m:sSupPr>
                        <m:ctrlPr>
                          <a:rPr lang="en-US" i="1">
                            <a:latin typeface="Cambria Math" panose="02040503050406030204" pitchFamily="18" charset="0"/>
                            <a:ea typeface="Euphemia" charset="0"/>
                            <a:cs typeface="Euphemia" charset="0"/>
                          </a:rPr>
                        </m:ctrlPr>
                      </m:sSupPr>
                      <m:e>
                        <m:r>
                          <a:rPr lang="en-US" i="1">
                            <a:latin typeface="Cambria Math" charset="0"/>
                            <a:ea typeface="Euphemia" charset="0"/>
                            <a:cs typeface="Euphemia" charset="0"/>
                          </a:rPr>
                          <m:t>𝜎</m:t>
                        </m:r>
                      </m:e>
                      <m:sup>
                        <m:r>
                          <a:rPr lang="en-US" i="1">
                            <a:latin typeface="Cambria Math" charset="0"/>
                            <a:ea typeface="Euphemia" charset="0"/>
                            <a:cs typeface="Euphemia" charset="0"/>
                          </a:rPr>
                          <m:t>′</m:t>
                        </m:r>
                      </m:sup>
                    </m:sSup>
                    <m:d>
                      <m:dPr>
                        <m:ctrlPr>
                          <a:rPr lang="en-US" i="1">
                            <a:latin typeface="Cambria Math" panose="02040503050406030204" pitchFamily="18" charset="0"/>
                            <a:ea typeface="Euphemia" charset="0"/>
                            <a:cs typeface="Euphemia" charset="0"/>
                          </a:rPr>
                        </m:ctrlPr>
                      </m:dPr>
                      <m:e>
                        <m:r>
                          <a:rPr lang="en-US" i="1">
                            <a:latin typeface="Cambria Math" charset="0"/>
                            <a:ea typeface="Euphemia" charset="0"/>
                            <a:cs typeface="Euphemia" charset="0"/>
                          </a:rPr>
                          <m:t>𝑧</m:t>
                        </m:r>
                      </m:e>
                    </m:d>
                  </m:oMath>
                </a14:m>
                <a:r>
                  <a:rPr lang="en-US" dirty="0" smtClean="0"/>
                  <a:t> = </a:t>
                </a:r>
                <a14:m>
                  <m:oMath xmlns:m="http://schemas.openxmlformats.org/officeDocument/2006/math">
                    <m:d>
                      <m:dPr>
                        <m:endChr m:val="]"/>
                        <m:ctrlPr>
                          <a:rPr lang="en-US" b="0" i="1" smtClean="0">
                            <a:latin typeface="Cambria Math" panose="02040503050406030204" pitchFamily="18" charset="0"/>
                            <a:ea typeface="Euphemia" charset="0"/>
                            <a:cs typeface="Euphemia" charset="0"/>
                          </a:rPr>
                        </m:ctrlPr>
                      </m:dPr>
                      <m:e>
                        <m:r>
                          <a:rPr lang="en-US" b="0" i="1" smtClean="0">
                            <a:latin typeface="Cambria Math" charset="0"/>
                            <a:ea typeface="Euphemia" charset="0"/>
                            <a:cs typeface="Euphemia" charset="0"/>
                          </a:rPr>
                          <m:t>0, 0.25</m:t>
                        </m:r>
                      </m:e>
                    </m:d>
                  </m:oMath>
                </a14:m>
                <a:r>
                  <a:rPr lang="en-US" dirty="0" smtClean="0"/>
                  <a:t>.  Consequences?</a:t>
                </a:r>
                <a:endParaRPr lang="en-US" dirty="0"/>
              </a:p>
            </p:txBody>
          </p:sp>
        </mc:Choice>
        <mc:Fallback xmlns="">
          <p:sp>
            <p:nvSpPr>
              <p:cNvPr id="8" name="Content Placeholder 2"/>
              <p:cNvSpPr txBox="1">
                <a:spLocks noRot="1" noChangeAspect="1" noMove="1" noResize="1" noEditPoints="1" noAdjustHandles="1" noChangeArrowheads="1" noChangeShapeType="1" noTextEdit="1"/>
              </p:cNvSpPr>
              <p:nvPr/>
            </p:nvSpPr>
            <p:spPr>
              <a:xfrm>
                <a:off x="1593436" y="3822920"/>
                <a:ext cx="9782801" cy="2654080"/>
              </a:xfrm>
              <a:prstGeom prst="rect">
                <a:avLst/>
              </a:prstGeom>
              <a:blipFill rotWithShape="0">
                <a:blip r:embed="rId5"/>
                <a:stretch>
                  <a:fillRect l="-1246" t="-4128"/>
                </a:stretch>
              </a:blipFill>
            </p:spPr>
            <p:txBody>
              <a:bodyPr/>
              <a:lstStyle/>
              <a:p>
                <a:r>
                  <a:rPr lang="en-US">
                    <a:noFill/>
                  </a:rPr>
                  <a:t> </a:t>
                </a:r>
              </a:p>
            </p:txBody>
          </p:sp>
        </mc:Fallback>
      </mc:AlternateContent>
    </p:spTree>
    <p:extLst>
      <p:ext uri="{BB962C8B-B14F-4D97-AF65-F5344CB8AC3E}">
        <p14:creationId xmlns:p14="http://schemas.microsoft.com/office/powerpoint/2010/main" val="4680618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What happens to our gradient, as layers increase?</a:t>
            </a:r>
            <a:endParaRPr lang="en-US" sz="3200" dirty="0"/>
          </a:p>
        </p:txBody>
      </p:sp>
      <p:sp>
        <p:nvSpPr>
          <p:cNvPr id="3" name="Content Placeholder 2"/>
          <p:cNvSpPr>
            <a:spLocks noGrp="1"/>
          </p:cNvSpPr>
          <p:nvPr>
            <p:ph idx="1"/>
          </p:nvPr>
        </p:nvSpPr>
        <p:spPr>
          <a:xfrm>
            <a:off x="1593436" y="1600200"/>
            <a:ext cx="9782801" cy="685800"/>
          </a:xfrm>
        </p:spPr>
        <p:txBody>
          <a:bodyPr/>
          <a:lstStyle/>
          <a:p>
            <a:r>
              <a:rPr lang="en-US" dirty="0" smtClean="0"/>
              <a:t>Assume we have many layers</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1522412" y="2481263"/>
                <a:ext cx="10134600" cy="543034"/>
              </a:xfrm>
              <a:prstGeom prst="rect">
                <a:avLst/>
              </a:prstGeom>
              <a:noFill/>
            </p:spPr>
            <p:txBody>
              <a:bodyPr wrap="square" lIns="0" tIns="0" rIns="0" bIns="0" rtlCol="0">
                <a:spAutoFit/>
              </a:bodyPr>
              <a:lstStyle/>
              <a:p>
                <a14:m>
                  <m:oMath xmlns:m="http://schemas.openxmlformats.org/officeDocument/2006/math">
                    <m:f>
                      <m:fPr>
                        <m:ctrlPr>
                          <a:rPr lang="mr-IN" sz="2400" b="0" i="1" smtClean="0">
                            <a:latin typeface="Cambria Math" panose="02040503050406030204" pitchFamily="18" charset="0"/>
                            <a:ea typeface="Euphemia" charset="0"/>
                            <a:cs typeface="Euphemia" charset="0"/>
                          </a:rPr>
                        </m:ctrlPr>
                      </m:fPr>
                      <m:num>
                        <m:r>
                          <a:rPr lang="mr-IN" sz="2400" b="0" i="1" smtClean="0">
                            <a:latin typeface="Cambria Math" charset="0"/>
                            <a:ea typeface="Euphemia" charset="0"/>
                            <a:cs typeface="Euphemia" charset="0"/>
                          </a:rPr>
                          <m:t>𝜕</m:t>
                        </m:r>
                        <m:r>
                          <a:rPr lang="en-US" sz="2400" b="0" i="1" smtClean="0">
                            <a:latin typeface="Cambria Math" charset="0"/>
                            <a:ea typeface="Euphemia" charset="0"/>
                            <a:cs typeface="Euphemia" charset="0"/>
                          </a:rPr>
                          <m:t>𝐽</m:t>
                        </m:r>
                      </m:num>
                      <m:den>
                        <m:r>
                          <a:rPr lang="mr-IN"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r>
                              <a:rPr lang="en-US" sz="2400" b="0" i="1" smtClean="0">
                                <a:latin typeface="Cambria Math" charset="0"/>
                                <a:ea typeface="Euphemia" charset="0"/>
                                <a:cs typeface="Euphemia" charset="0"/>
                              </a:rPr>
                              <m:t>(1)</m:t>
                            </m:r>
                          </m:sup>
                        </m:sSup>
                      </m:den>
                    </m:f>
                    <m:r>
                      <a:rPr lang="en-US" sz="2400" b="0" i="1" smtClean="0">
                        <a:latin typeface="Cambria Math" charset="0"/>
                        <a:ea typeface="Euphemia" charset="0"/>
                        <a:cs typeface="Euphemia" charset="0"/>
                      </a:rPr>
                      <m:t>=</m:t>
                    </m:r>
                    <m:d>
                      <m:dPr>
                        <m:ctrlPr>
                          <a:rPr lang="en-US" sz="2400" i="1">
                            <a:latin typeface="Cambria Math" panose="02040503050406030204" pitchFamily="18" charset="0"/>
                            <a:ea typeface="Euphemia" charset="0"/>
                            <a:cs typeface="Euphemia" charset="0"/>
                          </a:rPr>
                        </m:ctrlPr>
                      </m:dPr>
                      <m:e>
                        <m:acc>
                          <m:accPr>
                            <m:chr m:val="̂"/>
                            <m:ctrlPr>
                              <a:rPr lang="en-US" sz="2400" i="1">
                                <a:latin typeface="Cambria Math" panose="02040503050406030204" pitchFamily="18" charset="0"/>
                                <a:ea typeface="Euphemia" charset="0"/>
                                <a:cs typeface="Euphemia" charset="0"/>
                              </a:rPr>
                            </m:ctrlPr>
                          </m:accPr>
                          <m:e>
                            <m:r>
                              <a:rPr lang="en-US" sz="2400" i="1">
                                <a:latin typeface="Cambria Math" charset="0"/>
                                <a:ea typeface="Euphemia" charset="0"/>
                                <a:cs typeface="Euphemia" charset="0"/>
                              </a:rPr>
                              <m:t>𝑦</m:t>
                            </m:r>
                          </m:e>
                        </m:acc>
                        <m:r>
                          <a:rPr lang="en-US" sz="2400" i="1">
                            <a:latin typeface="Cambria Math" charset="0"/>
                            <a:ea typeface="Euphemia" charset="0"/>
                            <a:cs typeface="Euphemia" charset="0"/>
                          </a:rPr>
                          <m:t>−</m:t>
                        </m:r>
                        <m:r>
                          <a:rPr lang="en-US" sz="2400" i="1">
                            <a:latin typeface="Cambria Math" charset="0"/>
                            <a:ea typeface="Euphemia" charset="0"/>
                            <a:cs typeface="Euphemia" charset="0"/>
                          </a:rPr>
                          <m:t>𝑦</m:t>
                        </m:r>
                      </m:e>
                    </m:d>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d>
                          <m:dPr>
                            <m:ctrlPr>
                              <a:rPr lang="en-US" sz="2400" b="0" i="1" smtClean="0">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𝐿</m:t>
                            </m:r>
                            <m:r>
                              <a:rPr lang="en-US" sz="2400" b="0" i="1" smtClean="0">
                                <a:latin typeface="Cambria Math" charset="0"/>
                                <a:ea typeface="Euphemia" charset="0"/>
                                <a:cs typeface="Euphemia" charset="0"/>
                              </a:rPr>
                              <m:t>−1</m:t>
                            </m:r>
                          </m:e>
                        </m:d>
                      </m:sup>
                    </m:sSup>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𝜎</m:t>
                        </m:r>
                      </m:e>
                      <m:sup>
                        <m:r>
                          <a:rPr lang="en-US" sz="2400" b="0" i="1" smtClean="0">
                            <a:latin typeface="Cambria Math" charset="0"/>
                            <a:ea typeface="Euphemia" charset="0"/>
                            <a:cs typeface="Euphemia" charset="0"/>
                          </a:rPr>
                          <m:t>′</m:t>
                        </m:r>
                      </m:sup>
                    </m:sSup>
                    <m:d>
                      <m:dPr>
                        <m:ctrlPr>
                          <a:rPr lang="en-US" sz="2400" b="0" i="1" smtClean="0">
                            <a:latin typeface="Cambria Math" panose="02040503050406030204" pitchFamily="18" charset="0"/>
                            <a:ea typeface="Euphemia" charset="0"/>
                            <a:cs typeface="Euphemia" charset="0"/>
                          </a:rPr>
                        </m:ctrlPr>
                      </m:dPr>
                      <m:e>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𝑧</m:t>
                            </m:r>
                          </m:e>
                          <m:sup>
                            <m:r>
                              <a:rPr lang="en-US" sz="2400" b="0" i="1" smtClean="0">
                                <a:latin typeface="Cambria Math" charset="0"/>
                                <a:ea typeface="Euphemia" charset="0"/>
                                <a:cs typeface="Euphemia" charset="0"/>
                              </a:rPr>
                              <m:t>𝐿</m:t>
                            </m:r>
                            <m:r>
                              <a:rPr lang="en-US" sz="2400" b="0" i="1" smtClean="0">
                                <a:latin typeface="Cambria Math" charset="0"/>
                                <a:ea typeface="Euphemia" charset="0"/>
                                <a:cs typeface="Euphemia" charset="0"/>
                              </a:rPr>
                              <m:t>−2</m:t>
                            </m:r>
                          </m:sup>
                        </m:sSup>
                      </m:e>
                    </m:d>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𝑊</m:t>
                        </m:r>
                      </m:e>
                      <m:sup>
                        <m:d>
                          <m:dPr>
                            <m:ctrlPr>
                              <a:rPr lang="en-US" sz="2400" b="0" i="1" smtClean="0">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𝐿</m:t>
                            </m:r>
                            <m:r>
                              <a:rPr lang="en-US" sz="2400" b="0" i="1" smtClean="0">
                                <a:latin typeface="Cambria Math" charset="0"/>
                                <a:ea typeface="Euphemia" charset="0"/>
                                <a:cs typeface="Euphemia" charset="0"/>
                              </a:rPr>
                              <m:t>−2</m:t>
                            </m:r>
                          </m:e>
                        </m:d>
                      </m:sup>
                    </m:sSup>
                    <m:r>
                      <a:rPr lang="en-US" sz="2400" b="0" i="1" smtClean="0">
                        <a:latin typeface="Cambria Math" charset="0"/>
                        <a:ea typeface="Euphemia" charset="0"/>
                        <a:cs typeface="Euphemia" charset="0"/>
                      </a:rPr>
                      <m:t>⋅</m:t>
                    </m:r>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𝜎</m:t>
                        </m:r>
                      </m:e>
                      <m:sup>
                        <m:r>
                          <a:rPr lang="en-US" sz="2400" b="0" i="1" smtClean="0">
                            <a:latin typeface="Cambria Math" charset="0"/>
                            <a:ea typeface="Euphemia" charset="0"/>
                            <a:cs typeface="Euphemia" charset="0"/>
                          </a:rPr>
                          <m:t>′</m:t>
                        </m:r>
                      </m:sup>
                    </m:sSup>
                    <m:d>
                      <m:dPr>
                        <m:ctrlPr>
                          <a:rPr lang="en-US" sz="2400" b="0" i="1" smtClean="0">
                            <a:latin typeface="Cambria Math" panose="02040503050406030204" pitchFamily="18" charset="0"/>
                            <a:ea typeface="Euphemia" charset="0"/>
                            <a:cs typeface="Euphemia" charset="0"/>
                          </a:rPr>
                        </m:ctrlPr>
                      </m:dPr>
                      <m:e>
                        <m:sSup>
                          <m:sSupPr>
                            <m:ctrlPr>
                              <a:rPr lang="en-US" sz="2400" b="0" i="1" smtClean="0">
                                <a:latin typeface="Cambria Math" panose="02040503050406030204" pitchFamily="18" charset="0"/>
                                <a:ea typeface="Euphemia" charset="0"/>
                                <a:cs typeface="Euphemia" charset="0"/>
                              </a:rPr>
                            </m:ctrlPr>
                          </m:sSupPr>
                          <m:e>
                            <m:r>
                              <a:rPr lang="en-US" sz="2400" b="0" i="1" smtClean="0">
                                <a:latin typeface="Cambria Math" charset="0"/>
                                <a:ea typeface="Euphemia" charset="0"/>
                                <a:cs typeface="Euphemia" charset="0"/>
                              </a:rPr>
                              <m:t>𝑧</m:t>
                            </m:r>
                          </m:e>
                          <m:sup>
                            <m:d>
                              <m:dPr>
                                <m:ctrlPr>
                                  <a:rPr lang="en-US" sz="2400" b="0" i="1" smtClean="0">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𝐿</m:t>
                                </m:r>
                                <m:r>
                                  <a:rPr lang="en-US" sz="2400" b="0" i="1" smtClean="0">
                                    <a:latin typeface="Cambria Math" charset="0"/>
                                    <a:ea typeface="Euphemia" charset="0"/>
                                    <a:cs typeface="Euphemia" charset="0"/>
                                  </a:rPr>
                                  <m:t>−2</m:t>
                                </m:r>
                              </m:e>
                            </m:d>
                          </m:sup>
                        </m:sSup>
                      </m:e>
                    </m:d>
                    <m:r>
                      <a:rPr lang="en-US" sz="2400" b="0" i="1" smtClean="0">
                        <a:latin typeface="Cambria Math" charset="0"/>
                        <a:ea typeface="Euphemia" charset="0"/>
                        <a:cs typeface="Euphemia" charset="0"/>
                      </a:rPr>
                      <m:t>⋅</m:t>
                    </m:r>
                  </m:oMath>
                </a14:m>
                <a:r>
                  <a:rPr lang="mr-IN" sz="2400" dirty="0" smtClean="0">
                    <a:latin typeface="Euphemia" charset="0"/>
                    <a:ea typeface="Euphemia" charset="0"/>
                    <a:cs typeface="Euphemia" charset="0"/>
                  </a:rPr>
                  <a:t>…</a:t>
                </a:r>
                <a:r>
                  <a:rPr lang="en-US" sz="2400" dirty="0">
                    <a:ea typeface="Euphemia" charset="0"/>
                    <a:cs typeface="Euphemia" charset="0"/>
                  </a:rPr>
                  <a:t> </a:t>
                </a:r>
                <a14:m>
                  <m:oMath xmlns:m="http://schemas.openxmlformats.org/officeDocument/2006/math">
                    <m:sSup>
                      <m:sSupPr>
                        <m:ctrlPr>
                          <a:rPr lang="en-US" sz="2400" i="1">
                            <a:latin typeface="Cambria Math" panose="02040503050406030204" pitchFamily="18" charset="0"/>
                            <a:ea typeface="Euphemia" charset="0"/>
                            <a:cs typeface="Euphemia" charset="0"/>
                          </a:rPr>
                        </m:ctrlPr>
                      </m:sSupPr>
                      <m:e>
                        <m:r>
                          <a:rPr lang="en-US" sz="2400" i="1">
                            <a:latin typeface="Cambria Math" charset="0"/>
                            <a:ea typeface="Euphemia" charset="0"/>
                            <a:cs typeface="Euphemia" charset="0"/>
                          </a:rPr>
                          <m:t>𝑊</m:t>
                        </m:r>
                      </m:e>
                      <m:sup>
                        <m:d>
                          <m:dPr>
                            <m:ctrlPr>
                              <a:rPr lang="en-US" sz="2400" i="1">
                                <a:latin typeface="Cambria Math" panose="02040503050406030204" pitchFamily="18" charset="0"/>
                                <a:ea typeface="Euphemia" charset="0"/>
                                <a:cs typeface="Euphemia" charset="0"/>
                              </a:rPr>
                            </m:ctrlPr>
                          </m:dPr>
                          <m:e>
                            <m:r>
                              <a:rPr lang="en-US" sz="2400" b="0" i="1" smtClean="0">
                                <a:latin typeface="Cambria Math" charset="0"/>
                                <a:ea typeface="Euphemia" charset="0"/>
                                <a:cs typeface="Euphemia" charset="0"/>
                              </a:rPr>
                              <m:t>2</m:t>
                            </m:r>
                          </m:e>
                        </m:d>
                      </m:sup>
                    </m:sSup>
                    <m:r>
                      <a:rPr lang="en-US" sz="2400" i="1">
                        <a:latin typeface="Cambria Math" charset="0"/>
                        <a:ea typeface="Euphemia" charset="0"/>
                        <a:cs typeface="Euphemia" charset="0"/>
                      </a:rPr>
                      <m:t>⋅</m:t>
                    </m:r>
                    <m:sSup>
                      <m:sSupPr>
                        <m:ctrlPr>
                          <a:rPr lang="en-US" sz="2400" i="1">
                            <a:latin typeface="Cambria Math" panose="02040503050406030204" pitchFamily="18" charset="0"/>
                            <a:ea typeface="Euphemia" charset="0"/>
                            <a:cs typeface="Euphemia" charset="0"/>
                          </a:rPr>
                        </m:ctrlPr>
                      </m:sSupPr>
                      <m:e>
                        <m:r>
                          <a:rPr lang="en-US" sz="2400" i="1">
                            <a:latin typeface="Cambria Math" charset="0"/>
                            <a:ea typeface="Euphemia" charset="0"/>
                            <a:cs typeface="Euphemia" charset="0"/>
                          </a:rPr>
                          <m:t>𝜎</m:t>
                        </m:r>
                      </m:e>
                      <m:sup>
                        <m:r>
                          <a:rPr lang="en-US" sz="2400" i="1">
                            <a:latin typeface="Cambria Math" charset="0"/>
                            <a:ea typeface="Euphemia" charset="0"/>
                            <a:cs typeface="Euphemia" charset="0"/>
                          </a:rPr>
                          <m:t>′</m:t>
                        </m:r>
                      </m:sup>
                    </m:sSup>
                    <m:d>
                      <m:dPr>
                        <m:ctrlPr>
                          <a:rPr lang="en-US" sz="2400" i="1">
                            <a:latin typeface="Cambria Math" panose="02040503050406030204" pitchFamily="18" charset="0"/>
                            <a:ea typeface="Euphemia" charset="0"/>
                            <a:cs typeface="Euphemia" charset="0"/>
                          </a:rPr>
                        </m:ctrlPr>
                      </m:dPr>
                      <m:e>
                        <m:sSup>
                          <m:sSupPr>
                            <m:ctrlPr>
                              <a:rPr lang="en-US" sz="2400" i="1">
                                <a:latin typeface="Cambria Math" panose="02040503050406030204" pitchFamily="18" charset="0"/>
                                <a:ea typeface="Euphemia" charset="0"/>
                                <a:cs typeface="Euphemia" charset="0"/>
                              </a:rPr>
                            </m:ctrlPr>
                          </m:sSupPr>
                          <m:e>
                            <m:r>
                              <a:rPr lang="en-US" sz="2400" i="1">
                                <a:latin typeface="Cambria Math" charset="0"/>
                                <a:ea typeface="Euphemia" charset="0"/>
                                <a:cs typeface="Euphemia" charset="0"/>
                              </a:rPr>
                              <m:t>𝑧</m:t>
                            </m:r>
                          </m:e>
                          <m:sup>
                            <m:d>
                              <m:dPr>
                                <m:ctrlPr>
                                  <a:rPr lang="en-US" sz="2400" i="1">
                                    <a:latin typeface="Cambria Math" panose="02040503050406030204" pitchFamily="18" charset="0"/>
                                    <a:ea typeface="Euphemia" charset="0"/>
                                    <a:cs typeface="Euphemia" charset="0"/>
                                  </a:rPr>
                                </m:ctrlPr>
                              </m:dPr>
                              <m:e>
                                <m:r>
                                  <a:rPr lang="en-US" sz="2400" i="1">
                                    <a:latin typeface="Cambria Math" charset="0"/>
                                    <a:ea typeface="Euphemia" charset="0"/>
                                    <a:cs typeface="Euphemia" charset="0"/>
                                  </a:rPr>
                                  <m:t>2</m:t>
                                </m:r>
                              </m:e>
                            </m:d>
                          </m:sup>
                        </m:sSup>
                      </m:e>
                    </m:d>
                    <m:r>
                      <a:rPr lang="en-US" sz="2400" b="0" i="1" smtClean="0">
                        <a:latin typeface="Cambria Math" charset="0"/>
                        <a:ea typeface="Euphemia" charset="0"/>
                        <a:cs typeface="Euphemia" charset="0"/>
                      </a:rPr>
                      <m:t>⋅</m:t>
                    </m:r>
                    <m:r>
                      <a:rPr lang="en-US" sz="2400" b="0" i="1" smtClean="0">
                        <a:latin typeface="Cambria Math" charset="0"/>
                        <a:ea typeface="Euphemia" charset="0"/>
                        <a:cs typeface="Euphemia" charset="0"/>
                      </a:rPr>
                      <m:t>𝑋</m:t>
                    </m:r>
                  </m:oMath>
                </a14:m>
                <a:endParaRPr lang="en-US" sz="2400" dirty="0">
                  <a:latin typeface="Euphemia" charset="0"/>
                  <a:ea typeface="Euphemia" charset="0"/>
                  <a:cs typeface="Euphemia"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522412" y="2481263"/>
                <a:ext cx="10134600" cy="543034"/>
              </a:xfrm>
              <a:prstGeom prst="rect">
                <a:avLst/>
              </a:prstGeom>
              <a:blipFill rotWithShape="0">
                <a:blip r:embed="rId3"/>
                <a:stretch>
                  <a:fillRect l="-60" t="-2247" b="-16854"/>
                </a:stretch>
              </a:blipFill>
            </p:spPr>
            <p:txBody>
              <a:bodyPr/>
              <a:lstStyle/>
              <a:p>
                <a:r>
                  <a:rPr lang="en-US">
                    <a:noFill/>
                  </a:rPr>
                  <a:t> </a:t>
                </a:r>
              </a:p>
            </p:txBody>
          </p:sp>
        </mc:Fallback>
      </mc:AlternateContent>
      <p:sp>
        <p:nvSpPr>
          <p:cNvPr id="5" name="Content Placeholder 2"/>
          <p:cNvSpPr txBox="1">
            <a:spLocks/>
          </p:cNvSpPr>
          <p:nvPr/>
        </p:nvSpPr>
        <p:spPr>
          <a:xfrm>
            <a:off x="1593436" y="4343400"/>
            <a:ext cx="9782801" cy="213360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endParaRPr lang="en-US" dirty="0"/>
          </a:p>
        </p:txBody>
      </p:sp>
      <p:cxnSp>
        <p:nvCxnSpPr>
          <p:cNvPr id="7" name="Straight Arrow Connector 6"/>
          <p:cNvCxnSpPr/>
          <p:nvPr/>
        </p:nvCxnSpPr>
        <p:spPr>
          <a:xfrm flipH="1" flipV="1">
            <a:off x="5561012" y="3024298"/>
            <a:ext cx="2343150" cy="5808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flipV="1">
            <a:off x="7694612" y="3024298"/>
            <a:ext cx="209550" cy="5808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7904162" y="3024298"/>
            <a:ext cx="2228850" cy="5808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7904162" y="3024298"/>
            <a:ext cx="1009650" cy="58080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Content Placeholder 2"/>
              <p:cNvSpPr txBox="1">
                <a:spLocks/>
              </p:cNvSpPr>
              <p:nvPr/>
            </p:nvSpPr>
            <p:spPr>
              <a:xfrm>
                <a:off x="1593436" y="3822920"/>
                <a:ext cx="9782801" cy="2654080"/>
              </a:xfrm>
              <a:prstGeom prst="rect">
                <a:avLst/>
              </a:prstGeom>
            </p:spPr>
            <p:txBody>
              <a:bodyPr vert="horz" lIns="91440" tIns="45720" rIns="91440" bIns="45720" rtlCol="0">
                <a:normAutofit/>
              </a:bodyPr>
              <a:lst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a:lstStyle>
              <a:p>
                <a:pPr marL="0" indent="0">
                  <a:buNone/>
                </a:pPr>
                <a:r>
                  <a:rPr lang="en-US" dirty="0" smtClean="0"/>
                  <a:t>Gradient gets multiplied by numbers strictly between </a:t>
                </a:r>
                <a14:m>
                  <m:oMath xmlns:m="http://schemas.openxmlformats.org/officeDocument/2006/math">
                    <m:r>
                      <a:rPr lang="en-US" i="1">
                        <a:latin typeface="Cambria Math" charset="0"/>
                        <a:ea typeface="Euphemia" charset="0"/>
                        <a:cs typeface="Euphemia" charset="0"/>
                      </a:rPr>
                      <m:t>(0, 0.25]</m:t>
                    </m:r>
                  </m:oMath>
                </a14:m>
                <a:r>
                  <a:rPr lang="en-US" dirty="0" smtClean="0"/>
                  <a:t> repeatedly</a:t>
                </a:r>
              </a:p>
              <a:p>
                <a:pPr marL="0" indent="0">
                  <a:buNone/>
                </a:pPr>
                <a:endParaRPr lang="en-US" dirty="0" smtClean="0"/>
              </a:p>
              <a:p>
                <a:pPr marL="0" indent="0">
                  <a:buNone/>
                </a:pPr>
                <a:r>
                  <a:rPr lang="en-US" dirty="0" smtClean="0"/>
                  <a:t>And, the gradient goes to zero! (Ugh.)</a:t>
                </a:r>
                <a:endParaRPr lang="en-US" dirty="0"/>
              </a:p>
            </p:txBody>
          </p:sp>
        </mc:Choice>
        <mc:Fallback xmlns="">
          <p:sp>
            <p:nvSpPr>
              <p:cNvPr id="20" name="Content Placeholder 2"/>
              <p:cNvSpPr txBox="1">
                <a:spLocks noRot="1" noChangeAspect="1" noMove="1" noResize="1" noEditPoints="1" noAdjustHandles="1" noChangeArrowheads="1" noChangeShapeType="1" noTextEdit="1"/>
              </p:cNvSpPr>
              <p:nvPr/>
            </p:nvSpPr>
            <p:spPr>
              <a:xfrm>
                <a:off x="1593436" y="3822920"/>
                <a:ext cx="9782801" cy="2654080"/>
              </a:xfrm>
              <a:prstGeom prst="rect">
                <a:avLst/>
              </a:prstGeom>
              <a:blipFill rotWithShape="0">
                <a:blip r:embed="rId4"/>
                <a:stretch>
                  <a:fillRect l="-1246" t="-3899"/>
                </a:stretch>
              </a:blipFill>
            </p:spPr>
            <p:txBody>
              <a:bodyPr/>
              <a:lstStyle/>
              <a:p>
                <a:r>
                  <a:rPr lang="en-US">
                    <a:noFill/>
                  </a:rPr>
                  <a:t> </a:t>
                </a:r>
              </a:p>
            </p:txBody>
          </p:sp>
        </mc:Fallback>
      </mc:AlternateContent>
    </p:spTree>
    <p:extLst>
      <p:ext uri="{BB962C8B-B14F-4D97-AF65-F5344CB8AC3E}">
        <p14:creationId xmlns:p14="http://schemas.microsoft.com/office/powerpoint/2010/main" val="11350065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nodePh="1">
                                  <p:stCondLst>
                                    <p:cond delay="0"/>
                                  </p:stCondLst>
                                  <p:endCondLst>
                                    <p:cond evt="begin" delay="0">
                                      <p:tn val="27"/>
                                    </p:cond>
                                  </p:end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2" y="177800"/>
            <a:ext cx="10082425" cy="1239837"/>
          </a:xfrm>
        </p:spPr>
        <p:txBody>
          <a:bodyPr>
            <a:normAutofit/>
          </a:bodyPr>
          <a:lstStyle/>
          <a:p>
            <a:r>
              <a:rPr lang="en-US" sz="3200" dirty="0" smtClean="0"/>
              <a:t>What happens if gradient is close to zero?</a:t>
            </a:r>
            <a:endParaRPr lang="en-US" sz="3200" dirty="0"/>
          </a:p>
        </p:txBody>
      </p:sp>
      <p:grpSp>
        <p:nvGrpSpPr>
          <p:cNvPr id="84" name="Group 83"/>
          <p:cNvGrpSpPr/>
          <p:nvPr/>
        </p:nvGrpSpPr>
        <p:grpSpPr>
          <a:xfrm>
            <a:off x="1399150" y="2209800"/>
            <a:ext cx="4191000" cy="3276600"/>
            <a:chOff x="684212" y="2590800"/>
            <a:chExt cx="4191000" cy="3276600"/>
          </a:xfrm>
        </p:grpSpPr>
        <p:grpSp>
          <p:nvGrpSpPr>
            <p:cNvPr id="85" name="Group 84"/>
            <p:cNvGrpSpPr/>
            <p:nvPr/>
          </p:nvGrpSpPr>
          <p:grpSpPr>
            <a:xfrm>
              <a:off x="684212" y="2590800"/>
              <a:ext cx="4191000" cy="3276600"/>
              <a:chOff x="1446212" y="2590800"/>
              <a:chExt cx="4191000" cy="3276600"/>
            </a:xfrm>
          </p:grpSpPr>
          <p:cxnSp>
            <p:nvCxnSpPr>
              <p:cNvPr id="92" name="Straight Connector 91"/>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86" name="Group 85"/>
            <p:cNvGrpSpPr/>
            <p:nvPr/>
          </p:nvGrpSpPr>
          <p:grpSpPr>
            <a:xfrm>
              <a:off x="1516889" y="2899501"/>
              <a:ext cx="2434499" cy="2434499"/>
              <a:chOff x="7317513" y="2899501"/>
              <a:chExt cx="2434499" cy="2434499"/>
            </a:xfrm>
          </p:grpSpPr>
          <p:sp>
            <p:nvSpPr>
              <p:cNvPr id="87" name="Oval 86"/>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88" name="Oval 87"/>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89" name="Oval 88"/>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90" name="Oval 89"/>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91" name="Oval 90"/>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94" name="Straight Arrow Connector 93"/>
          <p:cNvCxnSpPr>
            <a:endCxn id="89" idx="4"/>
          </p:cNvCxnSpPr>
          <p:nvPr/>
        </p:nvCxnSpPr>
        <p:spPr>
          <a:xfrm flipH="1" flipV="1">
            <a:off x="3449076" y="4441575"/>
            <a:ext cx="402048" cy="43501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p:cNvCxnSpPr/>
          <p:nvPr/>
        </p:nvCxnSpPr>
        <p:spPr>
          <a:xfrm flipV="1">
            <a:off x="3434693" y="4182301"/>
            <a:ext cx="182680" cy="2822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flipH="1" flipV="1">
            <a:off x="3540180" y="3920265"/>
            <a:ext cx="298672" cy="11554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flipV="1">
            <a:off x="3588821" y="4063828"/>
            <a:ext cx="272847" cy="15846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p:nvPr/>
        </p:nvCxnSpPr>
        <p:spPr>
          <a:xfrm flipH="1" flipV="1">
            <a:off x="3430488" y="3748975"/>
            <a:ext cx="126536" cy="2129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8" name="Group 57"/>
          <p:cNvGrpSpPr/>
          <p:nvPr/>
        </p:nvGrpSpPr>
        <p:grpSpPr>
          <a:xfrm>
            <a:off x="7466012" y="2209800"/>
            <a:ext cx="4191000" cy="3276600"/>
            <a:chOff x="684212" y="2590800"/>
            <a:chExt cx="4191000" cy="3276600"/>
          </a:xfrm>
        </p:grpSpPr>
        <p:grpSp>
          <p:nvGrpSpPr>
            <p:cNvPr id="59" name="Group 58"/>
            <p:cNvGrpSpPr/>
            <p:nvPr/>
          </p:nvGrpSpPr>
          <p:grpSpPr>
            <a:xfrm>
              <a:off x="684212" y="2590800"/>
              <a:ext cx="4191000" cy="3276600"/>
              <a:chOff x="1446212" y="2590800"/>
              <a:chExt cx="4191000" cy="3276600"/>
            </a:xfrm>
          </p:grpSpPr>
          <p:cxnSp>
            <p:nvCxnSpPr>
              <p:cNvPr id="73" name="Straight Connector 72"/>
              <p:cNvCxnSpPr/>
              <p:nvPr/>
            </p:nvCxnSpPr>
            <p:spPr>
              <a:xfrm>
                <a:off x="1446212" y="4150112"/>
                <a:ext cx="4191000"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503612" y="2590800"/>
                <a:ext cx="0" cy="327660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60" name="Group 59"/>
            <p:cNvGrpSpPr/>
            <p:nvPr/>
          </p:nvGrpSpPr>
          <p:grpSpPr>
            <a:xfrm>
              <a:off x="1516889" y="2899501"/>
              <a:ext cx="2434499" cy="2434499"/>
              <a:chOff x="7317513" y="2899501"/>
              <a:chExt cx="2434499" cy="2434499"/>
            </a:xfrm>
          </p:grpSpPr>
          <p:sp>
            <p:nvSpPr>
              <p:cNvPr id="61" name="Oval 60"/>
              <p:cNvSpPr/>
              <p:nvPr/>
            </p:nvSpPr>
            <p:spPr>
              <a:xfrm>
                <a:off x="7317513" y="2899501"/>
                <a:ext cx="2434499" cy="2434499"/>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62" name="Oval 61"/>
              <p:cNvSpPr/>
              <p:nvPr/>
            </p:nvSpPr>
            <p:spPr>
              <a:xfrm>
                <a:off x="7544162" y="3126150"/>
                <a:ext cx="1981200" cy="198120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63" name="Oval 62"/>
              <p:cNvSpPr/>
              <p:nvPr/>
            </p:nvSpPr>
            <p:spPr>
              <a:xfrm>
                <a:off x="7828937" y="3410925"/>
                <a:ext cx="1411650" cy="14116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69" name="Oval 68"/>
              <p:cNvSpPr/>
              <p:nvPr/>
            </p:nvSpPr>
            <p:spPr>
              <a:xfrm>
                <a:off x="8286137" y="3868125"/>
                <a:ext cx="497250" cy="497250"/>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sp>
            <p:nvSpPr>
              <p:cNvPr id="71" name="Oval 70"/>
              <p:cNvSpPr/>
              <p:nvPr/>
            </p:nvSpPr>
            <p:spPr>
              <a:xfrm>
                <a:off x="8065181" y="3647169"/>
                <a:ext cx="939163" cy="939163"/>
              </a:xfrm>
              <a:prstGeom prst="ellipse">
                <a:avLst/>
              </a:prstGeom>
              <a:no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50000"/>
                    </a:schemeClr>
                  </a:solidFill>
                </a:endParaRPr>
              </a:p>
            </p:txBody>
          </p:sp>
        </p:grpSp>
      </p:grpSp>
      <p:cxnSp>
        <p:nvCxnSpPr>
          <p:cNvPr id="77" name="Straight Arrow Connector 76"/>
          <p:cNvCxnSpPr/>
          <p:nvPr/>
        </p:nvCxnSpPr>
        <p:spPr>
          <a:xfrm flipH="1" flipV="1">
            <a:off x="9828212" y="4816009"/>
            <a:ext cx="89774" cy="605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V="1">
            <a:off x="9837190" y="4754366"/>
            <a:ext cx="102781" cy="8535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H="1">
            <a:off x="9768628" y="4724400"/>
            <a:ext cx="59584" cy="1153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flipH="1" flipV="1">
            <a:off x="9819666" y="4708760"/>
            <a:ext cx="72627" cy="7923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9855979" y="4695036"/>
            <a:ext cx="77596" cy="906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5865812" y="3748975"/>
            <a:ext cx="1371600" cy="0"/>
          </a:xfrm>
          <a:prstGeom prst="straightConnector1">
            <a:avLst/>
          </a:prstGeom>
          <a:ln w="762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Title 1"/>
          <p:cNvSpPr txBox="1">
            <a:spLocks/>
          </p:cNvSpPr>
          <p:nvPr/>
        </p:nvSpPr>
        <p:spPr>
          <a:xfrm>
            <a:off x="7237412" y="1224465"/>
            <a:ext cx="4296338" cy="86528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r>
              <a:rPr lang="en-US" sz="3200" dirty="0" smtClean="0"/>
              <a:t>The model </a:t>
            </a:r>
            <a:r>
              <a:rPr lang="en-US" sz="3200" smtClean="0"/>
              <a:t>can’t train!</a:t>
            </a:r>
            <a:endParaRPr lang="en-US" sz="3200" dirty="0"/>
          </a:p>
        </p:txBody>
      </p:sp>
      <p:sp>
        <p:nvSpPr>
          <p:cNvPr id="97" name="Title 1"/>
          <p:cNvSpPr txBox="1">
            <a:spLocks/>
          </p:cNvSpPr>
          <p:nvPr/>
        </p:nvSpPr>
        <p:spPr>
          <a:xfrm>
            <a:off x="6987778" y="5781087"/>
            <a:ext cx="4559070" cy="865281"/>
          </a:xfrm>
          <a:prstGeom prst="rect">
            <a:avLst/>
          </a:prstGeom>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a:lstStyle>
          <a:p>
            <a:pPr algn="ctr"/>
            <a:r>
              <a:rPr lang="en-US" sz="3200" dirty="0" smtClean="0"/>
              <a:t>This is called the vanishing gradient problem</a:t>
            </a:r>
            <a:endParaRPr lang="en-US" sz="3200" dirty="0"/>
          </a:p>
        </p:txBody>
      </p:sp>
    </p:spTree>
    <p:extLst>
      <p:ext uri="{BB962C8B-B14F-4D97-AF65-F5344CB8AC3E}">
        <p14:creationId xmlns:p14="http://schemas.microsoft.com/office/powerpoint/2010/main" val="484270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9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 training is bad.</a:t>
            </a:r>
            <a:endParaRPr lang="en-US" dirty="0"/>
          </a:p>
        </p:txBody>
      </p:sp>
      <p:sp>
        <p:nvSpPr>
          <p:cNvPr id="3" name="Content Placeholder 2"/>
          <p:cNvSpPr>
            <a:spLocks noGrp="1"/>
          </p:cNvSpPr>
          <p:nvPr>
            <p:ph idx="1"/>
          </p:nvPr>
        </p:nvSpPr>
        <p:spPr/>
        <p:txBody>
          <a:bodyPr/>
          <a:lstStyle/>
          <a:p>
            <a:r>
              <a:rPr lang="en-US" dirty="0" smtClean="0"/>
              <a:t>So we can’t make a model too deep right now.</a:t>
            </a:r>
          </a:p>
          <a:p>
            <a:pPr marL="457200" indent="-457200">
              <a:buFont typeface="Arial" charset="0"/>
              <a:buChar char="•"/>
            </a:pPr>
            <a:r>
              <a:rPr lang="en-US" dirty="0" smtClean="0"/>
              <a:t>But we want a deep network for better models!</a:t>
            </a:r>
          </a:p>
          <a:p>
            <a:endParaRPr lang="en-US" dirty="0"/>
          </a:p>
          <a:p>
            <a:r>
              <a:rPr lang="en-US" dirty="0" smtClean="0"/>
              <a:t>If the sigmoid is the problem, can we change it?</a:t>
            </a:r>
          </a:p>
          <a:p>
            <a:pPr marL="457200" indent="-457200">
              <a:buFont typeface="Arial" charset="0"/>
              <a:buChar char="•"/>
            </a:pPr>
            <a:r>
              <a:rPr lang="en-US" dirty="0" smtClean="0"/>
              <a:t>Alternative activation functions</a:t>
            </a:r>
          </a:p>
        </p:txBody>
      </p:sp>
    </p:spTree>
    <p:extLst>
      <p:ext uri="{BB962C8B-B14F-4D97-AF65-F5344CB8AC3E}">
        <p14:creationId xmlns:p14="http://schemas.microsoft.com/office/powerpoint/2010/main" val="16419328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Suite of activation functions</a:t>
            </a:r>
            <a:endParaRPr lang="en-US" sz="4800" dirty="0"/>
          </a:p>
        </p:txBody>
      </p:sp>
    </p:spTree>
    <p:extLst>
      <p:ext uri="{BB962C8B-B14F-4D97-AF65-F5344CB8AC3E}">
        <p14:creationId xmlns:p14="http://schemas.microsoft.com/office/powerpoint/2010/main" val="1722148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a:t>
            </a:r>
            <a:r>
              <a:rPr lang="en-US" dirty="0" err="1" smtClean="0"/>
              <a:t>linearities</a:t>
            </a:r>
            <a:r>
              <a:rPr lang="en-US" dirty="0" smtClean="0"/>
              <a:t> for deep learning</a:t>
            </a:r>
            <a:endParaRPr lang="en-US" dirty="0"/>
          </a:p>
        </p:txBody>
      </p:sp>
      <p:sp>
        <p:nvSpPr>
          <p:cNvPr id="3" name="Content Placeholder 2"/>
          <p:cNvSpPr>
            <a:spLocks noGrp="1"/>
          </p:cNvSpPr>
          <p:nvPr>
            <p:ph idx="1"/>
          </p:nvPr>
        </p:nvSpPr>
        <p:spPr/>
        <p:txBody>
          <a:bodyPr>
            <a:normAutofit/>
          </a:bodyPr>
          <a:lstStyle/>
          <a:p>
            <a:r>
              <a:rPr lang="en-US" sz="3200" dirty="0" smtClean="0"/>
              <a:t>These functions are the most commonly used in deep learning</a:t>
            </a:r>
          </a:p>
          <a:p>
            <a:endParaRPr lang="en-US" sz="3200" dirty="0" smtClean="0"/>
          </a:p>
          <a:p>
            <a:r>
              <a:rPr lang="en-US" sz="3200" dirty="0" smtClean="0"/>
              <a:t>All of them have easy derivatives</a:t>
            </a:r>
          </a:p>
          <a:p>
            <a:endParaRPr lang="en-US" sz="3200" dirty="0"/>
          </a:p>
        </p:txBody>
      </p:sp>
    </p:spTree>
    <p:extLst>
      <p:ext uri="{BB962C8B-B14F-4D97-AF65-F5344CB8AC3E}">
        <p14:creationId xmlns:p14="http://schemas.microsoft.com/office/powerpoint/2010/main" val="1400836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Sigmoid (logistic)</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4055837" y="2054895"/>
                <a:ext cx="4857997" cy="15750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5400" i="1" smtClean="0">
                          <a:latin typeface="Cambria Math" charset="0"/>
                          <a:ea typeface="Cambria Math" charset="0"/>
                          <a:cs typeface="Cambria Math" charset="0"/>
                        </a:rPr>
                        <m:t>𝜎</m:t>
                      </m:r>
                      <m:d>
                        <m:dPr>
                          <m:ctrlPr>
                            <a:rPr lang="en-US" sz="5400" b="0" i="1" smtClean="0">
                              <a:latin typeface="Cambria Math" panose="02040503050406030204" pitchFamily="18" charset="0"/>
                              <a:ea typeface="Cambria Math" charset="0"/>
                              <a:cs typeface="Cambria Math" charset="0"/>
                            </a:rPr>
                          </m:ctrlPr>
                        </m:dPr>
                        <m:e>
                          <m:r>
                            <a:rPr lang="en-US" sz="5400" b="0" i="1" smtClean="0">
                              <a:latin typeface="Cambria Math" charset="0"/>
                              <a:ea typeface="Cambria Math" charset="0"/>
                              <a:cs typeface="Cambria Math" charset="0"/>
                            </a:rPr>
                            <m:t>𝑧</m:t>
                          </m:r>
                        </m:e>
                      </m:d>
                      <m:r>
                        <a:rPr lang="en-US" sz="5400" b="0" i="1" smtClean="0">
                          <a:latin typeface="Cambria Math" charset="0"/>
                          <a:ea typeface="Cambria Math" charset="0"/>
                          <a:cs typeface="Cambria Math" charset="0"/>
                        </a:rPr>
                        <m:t>=</m:t>
                      </m:r>
                      <m:f>
                        <m:fPr>
                          <m:ctrlPr>
                            <a:rPr lang="mr-IN" sz="5400" b="0" i="1" smtClean="0">
                              <a:latin typeface="Cambria Math" panose="02040503050406030204" pitchFamily="18" charset="0"/>
                              <a:ea typeface="Cambria Math" charset="0"/>
                              <a:cs typeface="Cambria Math" charset="0"/>
                            </a:rPr>
                          </m:ctrlPr>
                        </m:fPr>
                        <m:num>
                          <m:r>
                            <a:rPr lang="en-US" sz="5400" b="0" i="1" smtClean="0">
                              <a:latin typeface="Cambria Math" charset="0"/>
                              <a:ea typeface="Cambria Math" charset="0"/>
                              <a:cs typeface="Cambria Math" charset="0"/>
                            </a:rPr>
                            <m:t>1</m:t>
                          </m:r>
                        </m:num>
                        <m:den>
                          <m:r>
                            <a:rPr lang="en-US" sz="5400" b="0" i="1" smtClean="0">
                              <a:latin typeface="Cambria Math" charset="0"/>
                              <a:ea typeface="Cambria Math" charset="0"/>
                              <a:cs typeface="Cambria Math" charset="0"/>
                            </a:rPr>
                            <m:t>1+</m:t>
                          </m:r>
                          <m:sSup>
                            <m:sSupPr>
                              <m:ctrlPr>
                                <a:rPr lang="en-US" sz="5400" b="0" i="1" smtClean="0">
                                  <a:latin typeface="Cambria Math" panose="02040503050406030204" pitchFamily="18" charset="0"/>
                                  <a:ea typeface="Cambria Math" charset="0"/>
                                  <a:cs typeface="Cambria Math" charset="0"/>
                                </a:rPr>
                              </m:ctrlPr>
                            </m:sSupPr>
                            <m:e>
                              <m:r>
                                <a:rPr lang="en-US" sz="5400" b="0" i="1" smtClean="0">
                                  <a:latin typeface="Cambria Math" charset="0"/>
                                  <a:ea typeface="Cambria Math" charset="0"/>
                                  <a:cs typeface="Cambria Math" charset="0"/>
                                </a:rPr>
                                <m:t>𝑒</m:t>
                              </m:r>
                            </m:e>
                            <m:sup>
                              <m:r>
                                <a:rPr lang="en-US" sz="5400" b="0" i="1" smtClean="0">
                                  <a:latin typeface="Cambria Math" charset="0"/>
                                  <a:ea typeface="Cambria Math" charset="0"/>
                                  <a:cs typeface="Cambria Math" charset="0"/>
                                </a:rPr>
                                <m:t>−</m:t>
                              </m:r>
                              <m:r>
                                <a:rPr lang="en-US" sz="5400" b="0" i="1" smtClean="0">
                                  <a:latin typeface="Cambria Math" charset="0"/>
                                  <a:ea typeface="Cambria Math" charset="0"/>
                                  <a:cs typeface="Cambria Math" charset="0"/>
                                </a:rPr>
                                <m:t>𝑧</m:t>
                              </m:r>
                            </m:sup>
                          </m:sSup>
                        </m:den>
                      </m:f>
                    </m:oMath>
                  </m:oMathPara>
                </a14:m>
                <a:endParaRPr lang="en-US" sz="6600" dirty="0"/>
              </a:p>
            </p:txBody>
          </p:sp>
        </mc:Choice>
        <mc:Fallback xmlns="">
          <p:sp>
            <p:nvSpPr>
              <p:cNvPr id="3" name="TextBox 2"/>
              <p:cNvSpPr txBox="1">
                <a:spLocks noRot="1" noChangeAspect="1" noMove="1" noResize="1" noEditPoints="1" noAdjustHandles="1" noChangeArrowheads="1" noChangeShapeType="1" noTextEdit="1"/>
              </p:cNvSpPr>
              <p:nvPr/>
            </p:nvSpPr>
            <p:spPr>
              <a:xfrm>
                <a:off x="4055837" y="2054895"/>
                <a:ext cx="4857997" cy="1575047"/>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888846" y="4267200"/>
                <a:ext cx="3581400" cy="1846659"/>
              </a:xfrm>
              <a:prstGeom prst="rect">
                <a:avLst/>
              </a:prstGeom>
              <a:noFill/>
            </p:spPr>
            <p:txBody>
              <a:bodyPr wrap="square" rtlCol="0">
                <a:spAutoFit/>
              </a:bodyPr>
              <a:lstStyle/>
              <a:p>
                <a:pPr marL="285750" indent="-285750">
                  <a:buFont typeface="Arial" charset="0"/>
                  <a:buChar char="•"/>
                </a:pPr>
                <a:r>
                  <a:rPr lang="en-US" sz="2400" dirty="0" smtClean="0"/>
                  <a:t>Value at  </a:t>
                </a:r>
                <a14:m>
                  <m:oMath xmlns:m="http://schemas.openxmlformats.org/officeDocument/2006/math">
                    <m:r>
                      <a:rPr lang="en-US" sz="3200" b="0" i="1" smtClean="0">
                        <a:latin typeface="Cambria Math" charset="0"/>
                      </a:rPr>
                      <m:t>𝑧</m:t>
                    </m:r>
                    <m:r>
                      <a:rPr lang="en-US" sz="3200" b="0" i="1" smtClean="0">
                        <a:latin typeface="Cambria Math" charset="0"/>
                      </a:rPr>
                      <m:t>≪0?</m:t>
                    </m:r>
                  </m:oMath>
                </a14:m>
                <a:endParaRPr lang="en-US" dirty="0" smtClean="0"/>
              </a:p>
              <a:p>
                <a:pPr marL="285750" indent="-285750">
                  <a:buFont typeface="Arial" charset="0"/>
                  <a:buChar char="•"/>
                </a:pPr>
                <a:r>
                  <a:rPr lang="en-US" sz="2400" dirty="0"/>
                  <a:t>Value at  </a:t>
                </a:r>
                <a14:m>
                  <m:oMath xmlns:m="http://schemas.openxmlformats.org/officeDocument/2006/math">
                    <m:r>
                      <a:rPr lang="en-US" sz="3200" i="1" smtClean="0">
                        <a:latin typeface="Cambria Math" charset="0"/>
                      </a:rPr>
                      <m:t>𝑧</m:t>
                    </m:r>
                    <m:r>
                      <a:rPr lang="en-US" sz="3200" b="0" i="1" smtClean="0">
                        <a:latin typeface="Cambria Math" charset="0"/>
                      </a:rPr>
                      <m:t>=</m:t>
                    </m:r>
                    <m:r>
                      <a:rPr lang="en-US" sz="3200" i="1">
                        <a:latin typeface="Cambria Math" charset="0"/>
                      </a:rPr>
                      <m:t>0?</m:t>
                    </m:r>
                  </m:oMath>
                </a14:m>
                <a:endParaRPr lang="en-US" sz="2400" dirty="0"/>
              </a:p>
              <a:p>
                <a:pPr marL="285750" indent="-285750">
                  <a:buFont typeface="Arial" charset="0"/>
                  <a:buChar char="•"/>
                </a:pPr>
                <a:r>
                  <a:rPr lang="en-US" sz="2400" dirty="0"/>
                  <a:t>Value at  </a:t>
                </a:r>
                <a14:m>
                  <m:oMath xmlns:m="http://schemas.openxmlformats.org/officeDocument/2006/math">
                    <m:r>
                      <a:rPr lang="en-US" sz="3200" i="1">
                        <a:latin typeface="Cambria Math" charset="0"/>
                      </a:rPr>
                      <m:t>𝑧</m:t>
                    </m:r>
                    <m:r>
                      <a:rPr lang="en-US" sz="3200" b="0" i="1" smtClean="0">
                        <a:latin typeface="Cambria Math" charset="0"/>
                      </a:rPr>
                      <m:t>≫</m:t>
                    </m:r>
                    <m:r>
                      <a:rPr lang="en-US" sz="3200" i="1">
                        <a:latin typeface="Cambria Math" charset="0"/>
                      </a:rPr>
                      <m:t>0?</m:t>
                    </m:r>
                  </m:oMath>
                </a14:m>
                <a:endParaRPr lang="en-US" sz="2400" dirty="0"/>
              </a:p>
              <a:p>
                <a:pPr marL="285750" indent="-285750">
                  <a:buFont typeface="Arial" charset="0"/>
                  <a:buChar char="•"/>
                </a:pPr>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2888846" y="4267200"/>
                <a:ext cx="3581400" cy="1846659"/>
              </a:xfrm>
              <a:prstGeom prst="rect">
                <a:avLst/>
              </a:prstGeom>
              <a:blipFill rotWithShape="0">
                <a:blip r:embed="rId3"/>
                <a:stretch>
                  <a:fillRect l="-2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089246" y="4270917"/>
                <a:ext cx="6092825" cy="1569660"/>
              </a:xfrm>
              <a:prstGeom prst="rect">
                <a:avLst/>
              </a:prstGeom>
            </p:spPr>
            <p:txBody>
              <a:bodyPr>
                <a:spAutoFit/>
              </a:bodyPr>
              <a:lstStyle/>
              <a:p>
                <a:pPr/>
                <a14:m>
                  <m:oMathPara xmlns:m="http://schemas.openxmlformats.org/officeDocument/2006/math">
                    <m:oMathParaPr>
                      <m:jc m:val="left"/>
                    </m:oMathParaPr>
                    <m:oMath xmlns:m="http://schemas.openxmlformats.org/officeDocument/2006/math">
                      <m:r>
                        <a:rPr lang="en-US" sz="3200" i="1" smtClean="0">
                          <a:solidFill>
                            <a:srgbClr val="FF0000"/>
                          </a:solidFill>
                          <a:latin typeface="Cambria Math" charset="0"/>
                          <a:ea typeface="Cambria Math" charset="0"/>
                          <a:cs typeface="Cambria Math" charset="0"/>
                        </a:rPr>
                        <m:t>≈</m:t>
                      </m:r>
                      <m:r>
                        <a:rPr lang="en-US" sz="3200" i="1">
                          <a:solidFill>
                            <a:srgbClr val="FF0000"/>
                          </a:solidFill>
                          <a:latin typeface="Cambria Math" charset="0"/>
                        </a:rPr>
                        <m:t>0</m:t>
                      </m:r>
                    </m:oMath>
                  </m:oMathPara>
                </a14:m>
                <a:endParaRPr lang="en-US" sz="2400" dirty="0">
                  <a:solidFill>
                    <a:srgbClr val="FF0000"/>
                  </a:solidFill>
                </a:endParaRPr>
              </a:p>
              <a:p>
                <a:pPr/>
                <a14:m>
                  <m:oMathPara xmlns:m="http://schemas.openxmlformats.org/officeDocument/2006/math">
                    <m:oMathParaPr>
                      <m:jc m:val="left"/>
                    </m:oMathParaPr>
                    <m:oMath xmlns:m="http://schemas.openxmlformats.org/officeDocument/2006/math">
                      <m:r>
                        <a:rPr lang="en-US" sz="3200" i="1" smtClean="0">
                          <a:solidFill>
                            <a:srgbClr val="FF0000"/>
                          </a:solidFill>
                          <a:latin typeface="Cambria Math" charset="0"/>
                          <a:ea typeface="Cambria Math" charset="0"/>
                          <a:cs typeface="Cambria Math" charset="0"/>
                        </a:rPr>
                        <m:t>=</m:t>
                      </m:r>
                      <m:r>
                        <a:rPr lang="en-US" sz="3200" i="1">
                          <a:solidFill>
                            <a:srgbClr val="FF0000"/>
                          </a:solidFill>
                          <a:latin typeface="Cambria Math" charset="0"/>
                        </a:rPr>
                        <m:t>0</m:t>
                      </m:r>
                      <m:r>
                        <a:rPr lang="en-US" sz="3200" b="0" i="1" smtClean="0">
                          <a:solidFill>
                            <a:srgbClr val="FF0000"/>
                          </a:solidFill>
                          <a:latin typeface="Cambria Math" charset="0"/>
                        </a:rPr>
                        <m:t>.5</m:t>
                      </m:r>
                    </m:oMath>
                  </m:oMathPara>
                </a14:m>
                <a:endParaRPr lang="en-US" sz="3200" dirty="0">
                  <a:solidFill>
                    <a:srgbClr val="FF0000"/>
                  </a:solidFill>
                </a:endParaRPr>
              </a:p>
              <a:p>
                <a:pPr/>
                <a14:m>
                  <m:oMathPara xmlns:m="http://schemas.openxmlformats.org/officeDocument/2006/math">
                    <m:oMathParaPr>
                      <m:jc m:val="left"/>
                    </m:oMathParaPr>
                    <m:oMath xmlns:m="http://schemas.openxmlformats.org/officeDocument/2006/math">
                      <m:r>
                        <a:rPr lang="en-US" sz="3200" i="1">
                          <a:solidFill>
                            <a:srgbClr val="FF0000"/>
                          </a:solidFill>
                          <a:latin typeface="Cambria Math" charset="0"/>
                          <a:ea typeface="Cambria Math" charset="0"/>
                          <a:cs typeface="Cambria Math" charset="0"/>
                        </a:rPr>
                        <m:t>≈</m:t>
                      </m:r>
                      <m:r>
                        <a:rPr lang="en-US" sz="3200" b="0" i="1" smtClean="0">
                          <a:solidFill>
                            <a:srgbClr val="FF0000"/>
                          </a:solidFill>
                          <a:latin typeface="Cambria Math" charset="0"/>
                          <a:ea typeface="Cambria Math" charset="0"/>
                          <a:cs typeface="Cambria Math" charset="0"/>
                        </a:rPr>
                        <m:t>1</m:t>
                      </m:r>
                    </m:oMath>
                  </m:oMathPara>
                </a14:m>
                <a:endParaRPr lang="en-US" sz="24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6089246" y="4270917"/>
                <a:ext cx="6092825" cy="1569660"/>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0191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Sigmoid (logistic)</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8080054" y="762000"/>
                <a:ext cx="2879956" cy="9333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charset="0"/>
                          <a:ea typeface="Cambria Math" charset="0"/>
                          <a:cs typeface="Cambria Math" charset="0"/>
                        </a:rPr>
                        <m:t>𝜎</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𝑧</m:t>
                          </m:r>
                        </m:e>
                      </m:d>
                      <m:r>
                        <a:rPr lang="en-US" sz="3200" b="0" i="1" smtClean="0">
                          <a:latin typeface="Cambria Math" charset="0"/>
                          <a:ea typeface="Cambria Math" charset="0"/>
                          <a:cs typeface="Cambria Math" charset="0"/>
                        </a:rPr>
                        <m:t>=</m:t>
                      </m:r>
                      <m:f>
                        <m:fPr>
                          <m:ctrlPr>
                            <a:rPr lang="mr-IN" sz="3200" b="0" i="1" smtClean="0">
                              <a:latin typeface="Cambria Math" panose="02040503050406030204" pitchFamily="18" charset="0"/>
                              <a:ea typeface="Cambria Math" charset="0"/>
                              <a:cs typeface="Cambria Math" charset="0"/>
                            </a:rPr>
                          </m:ctrlPr>
                        </m:fPr>
                        <m:num>
                          <m:r>
                            <a:rPr lang="en-US" sz="3200" b="0" i="1" smtClean="0">
                              <a:latin typeface="Cambria Math" charset="0"/>
                              <a:ea typeface="Cambria Math" charset="0"/>
                              <a:cs typeface="Cambria Math" charset="0"/>
                            </a:rPr>
                            <m:t>1</m:t>
                          </m:r>
                        </m:num>
                        <m:den>
                          <m:r>
                            <a:rPr lang="en-US" sz="3200" b="0" i="1" smtClean="0">
                              <a:latin typeface="Cambria Math" charset="0"/>
                              <a:ea typeface="Cambria Math" charset="0"/>
                              <a:cs typeface="Cambria Math" charset="0"/>
                            </a:rPr>
                            <m:t>1+</m:t>
                          </m:r>
                          <m:sSup>
                            <m:sSupPr>
                              <m:ctrlPr>
                                <a:rPr lang="en-US" sz="3200" b="0" i="1" smtClean="0">
                                  <a:latin typeface="Cambria Math" panose="02040503050406030204" pitchFamily="18" charset="0"/>
                                  <a:ea typeface="Cambria Math" charset="0"/>
                                  <a:cs typeface="Cambria Math" charset="0"/>
                                </a:rPr>
                              </m:ctrlPr>
                            </m:sSupPr>
                            <m:e>
                              <m:r>
                                <a:rPr lang="en-US" sz="3200" b="0" i="1" smtClean="0">
                                  <a:latin typeface="Cambria Math" charset="0"/>
                                  <a:ea typeface="Cambria Math" charset="0"/>
                                  <a:cs typeface="Cambria Math" charset="0"/>
                                </a:rPr>
                                <m:t>𝑒</m:t>
                              </m:r>
                            </m:e>
                            <m:sup>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𝑧</m:t>
                              </m:r>
                            </m:sup>
                          </m:sSup>
                        </m:den>
                      </m:f>
                    </m:oMath>
                  </m:oMathPara>
                </a14:m>
                <a:endParaRPr lang="en-US" sz="3200" dirty="0"/>
              </a:p>
            </p:txBody>
          </p:sp>
        </mc:Choice>
        <mc:Fallback xmlns="">
          <p:sp>
            <p:nvSpPr>
              <p:cNvPr id="3" name="TextBox 2"/>
              <p:cNvSpPr txBox="1">
                <a:spLocks noRot="1" noChangeAspect="1" noMove="1" noResize="1" noEditPoints="1" noAdjustHandles="1" noChangeArrowheads="1" noChangeShapeType="1" noTextEdit="1"/>
              </p:cNvSpPr>
              <p:nvPr/>
            </p:nvSpPr>
            <p:spPr>
              <a:xfrm>
                <a:off x="8080054" y="762000"/>
                <a:ext cx="2879956" cy="933397"/>
              </a:xfrm>
              <a:prstGeom prst="rect">
                <a:avLst/>
              </a:prstGeom>
              <a:blipFill rotWithShape="0">
                <a:blip r:embed="rId2"/>
                <a:stretch>
                  <a:fillRect/>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8012" y="1695397"/>
            <a:ext cx="9169400" cy="4660900"/>
          </a:xfrm>
          <a:prstGeom prst="rect">
            <a:avLst/>
          </a:prstGeom>
        </p:spPr>
      </p:pic>
    </p:spTree>
    <p:extLst>
      <p:ext uri="{BB962C8B-B14F-4D97-AF65-F5344CB8AC3E}">
        <p14:creationId xmlns:p14="http://schemas.microsoft.com/office/powerpoint/2010/main" val="8370634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Hyperbolic tangent (</a:t>
            </a:r>
            <a:r>
              <a:rPr lang="en-US" dirty="0" err="1" smtClean="0"/>
              <a:t>tanh</a:t>
            </a:r>
            <a:r>
              <a:rPr lang="en-US" dirty="0" smtClean="0"/>
              <a:t>)</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1974498" y="2054895"/>
                <a:ext cx="9020675" cy="18149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charset="0"/>
                          <a:ea typeface="Cambria Math" charset="0"/>
                          <a:cs typeface="Cambria Math" charset="0"/>
                        </a:rPr>
                        <m:t>𝑡𝑎𝑛h</m:t>
                      </m:r>
                      <m:d>
                        <m:dPr>
                          <m:ctrlPr>
                            <a:rPr lang="en-US" sz="5400" b="0" i="1" smtClean="0">
                              <a:latin typeface="Cambria Math" panose="02040503050406030204" pitchFamily="18" charset="0"/>
                              <a:ea typeface="Cambria Math" charset="0"/>
                              <a:cs typeface="Cambria Math" charset="0"/>
                            </a:rPr>
                          </m:ctrlPr>
                        </m:dPr>
                        <m:e>
                          <m:r>
                            <a:rPr lang="en-US" sz="5400" b="0" i="1" smtClean="0">
                              <a:latin typeface="Cambria Math" charset="0"/>
                              <a:ea typeface="Cambria Math" charset="0"/>
                              <a:cs typeface="Cambria Math" charset="0"/>
                            </a:rPr>
                            <m:t>𝑧</m:t>
                          </m:r>
                        </m:e>
                      </m:d>
                      <m:r>
                        <a:rPr lang="en-US" sz="5400" b="0" i="1" smtClean="0">
                          <a:latin typeface="Cambria Math" charset="0"/>
                          <a:ea typeface="Cambria Math" charset="0"/>
                          <a:cs typeface="Cambria Math" charset="0"/>
                        </a:rPr>
                        <m:t>=</m:t>
                      </m:r>
                      <m:f>
                        <m:fPr>
                          <m:ctrlPr>
                            <a:rPr lang="mr-IN" sz="5400" b="0" i="1" smtClean="0">
                              <a:latin typeface="Cambria Math" panose="02040503050406030204" pitchFamily="18" charset="0"/>
                              <a:ea typeface="Cambria Math" charset="0"/>
                              <a:cs typeface="Cambria Math" charset="0"/>
                            </a:rPr>
                          </m:ctrlPr>
                        </m:fPr>
                        <m:num>
                          <m:r>
                            <m:rPr>
                              <m:sty m:val="p"/>
                            </m:rPr>
                            <a:rPr lang="en-US" sz="5400" b="0" i="0" smtClean="0">
                              <a:latin typeface="Cambria Math" charset="0"/>
                              <a:ea typeface="Cambria Math" charset="0"/>
                              <a:cs typeface="Cambria Math" charset="0"/>
                            </a:rPr>
                            <m:t>sinh</m:t>
                          </m:r>
                          <m:r>
                            <a:rPr lang="en-US" sz="5400" b="0" i="1" smtClean="0">
                              <a:latin typeface="Cambria Math" charset="0"/>
                              <a:ea typeface="Cambria Math" charset="0"/>
                              <a:cs typeface="Cambria Math" charset="0"/>
                            </a:rPr>
                            <m:t>⁡(</m:t>
                          </m:r>
                          <m:r>
                            <a:rPr lang="en-US" sz="5400" b="0" i="1" smtClean="0">
                              <a:latin typeface="Cambria Math" charset="0"/>
                              <a:ea typeface="Cambria Math" charset="0"/>
                              <a:cs typeface="Cambria Math" charset="0"/>
                            </a:rPr>
                            <m:t>𝑧</m:t>
                          </m:r>
                          <m:r>
                            <a:rPr lang="en-US" sz="5400" b="0" i="1" smtClean="0">
                              <a:latin typeface="Cambria Math" charset="0"/>
                              <a:ea typeface="Cambria Math" charset="0"/>
                              <a:cs typeface="Cambria Math" charset="0"/>
                            </a:rPr>
                            <m:t>)</m:t>
                          </m:r>
                        </m:num>
                        <m:den>
                          <m:r>
                            <m:rPr>
                              <m:sty m:val="p"/>
                            </m:rPr>
                            <a:rPr lang="en-US" sz="5400" b="0" i="0" smtClean="0">
                              <a:latin typeface="Cambria Math" charset="0"/>
                              <a:ea typeface="Cambria Math" charset="0"/>
                              <a:cs typeface="Cambria Math" charset="0"/>
                            </a:rPr>
                            <m:t>cosh</m:t>
                          </m:r>
                          <m:r>
                            <a:rPr lang="en-US" sz="5400" b="0" i="1" smtClean="0">
                              <a:latin typeface="Cambria Math" charset="0"/>
                              <a:ea typeface="Cambria Math" charset="0"/>
                              <a:cs typeface="Cambria Math" charset="0"/>
                            </a:rPr>
                            <m:t>⁡(</m:t>
                          </m:r>
                          <m:r>
                            <a:rPr lang="en-US" sz="5400" b="0" i="1" smtClean="0">
                              <a:latin typeface="Cambria Math" charset="0"/>
                              <a:ea typeface="Cambria Math" charset="0"/>
                              <a:cs typeface="Cambria Math" charset="0"/>
                            </a:rPr>
                            <m:t>𝑧</m:t>
                          </m:r>
                          <m:r>
                            <a:rPr lang="en-US" sz="5400" b="0" i="1" smtClean="0">
                              <a:latin typeface="Cambria Math" charset="0"/>
                              <a:ea typeface="Cambria Math" charset="0"/>
                              <a:cs typeface="Cambria Math" charset="0"/>
                            </a:rPr>
                            <m:t>)</m:t>
                          </m:r>
                        </m:den>
                      </m:f>
                      <m:r>
                        <a:rPr lang="en-US" sz="5400" b="0" i="1" smtClean="0">
                          <a:latin typeface="Cambria Math" charset="0"/>
                          <a:ea typeface="Cambria Math" charset="0"/>
                          <a:cs typeface="Cambria Math" charset="0"/>
                        </a:rPr>
                        <m:t>=</m:t>
                      </m:r>
                      <m:f>
                        <m:fPr>
                          <m:ctrlPr>
                            <a:rPr lang="mr-IN" sz="5400" b="0" i="1" smtClean="0">
                              <a:latin typeface="Cambria Math" panose="02040503050406030204" pitchFamily="18" charset="0"/>
                              <a:ea typeface="Cambria Math" charset="0"/>
                              <a:cs typeface="Cambria Math" charset="0"/>
                            </a:rPr>
                          </m:ctrlPr>
                        </m:fPr>
                        <m:num>
                          <m:sSup>
                            <m:sSupPr>
                              <m:ctrlPr>
                                <a:rPr lang="en-US" sz="5400" b="0" i="1" smtClean="0">
                                  <a:latin typeface="Cambria Math" panose="02040503050406030204" pitchFamily="18" charset="0"/>
                                  <a:ea typeface="Cambria Math" charset="0"/>
                                  <a:cs typeface="Cambria Math" charset="0"/>
                                </a:rPr>
                              </m:ctrlPr>
                            </m:sSupPr>
                            <m:e>
                              <m:r>
                                <a:rPr lang="en-US" sz="5400" b="0" i="1" smtClean="0">
                                  <a:latin typeface="Cambria Math" charset="0"/>
                                  <a:ea typeface="Cambria Math" charset="0"/>
                                  <a:cs typeface="Cambria Math" charset="0"/>
                                </a:rPr>
                                <m:t>𝑒</m:t>
                              </m:r>
                            </m:e>
                            <m:sup>
                              <m:r>
                                <a:rPr lang="en-US" sz="5400" b="0" i="1" smtClean="0">
                                  <a:latin typeface="Cambria Math" charset="0"/>
                                  <a:ea typeface="Cambria Math" charset="0"/>
                                  <a:cs typeface="Cambria Math" charset="0"/>
                                </a:rPr>
                                <m:t>2</m:t>
                              </m:r>
                              <m:r>
                                <a:rPr lang="en-US" sz="5400" b="0" i="1" smtClean="0">
                                  <a:latin typeface="Cambria Math" charset="0"/>
                                  <a:ea typeface="Cambria Math" charset="0"/>
                                  <a:cs typeface="Cambria Math" charset="0"/>
                                </a:rPr>
                                <m:t>𝑥</m:t>
                              </m:r>
                            </m:sup>
                          </m:sSup>
                          <m:r>
                            <a:rPr lang="en-US" sz="5400" b="0" i="1" smtClean="0">
                              <a:latin typeface="Cambria Math" charset="0"/>
                              <a:ea typeface="Cambria Math" charset="0"/>
                              <a:cs typeface="Cambria Math" charset="0"/>
                            </a:rPr>
                            <m:t>−1</m:t>
                          </m:r>
                        </m:num>
                        <m:den>
                          <m:sSup>
                            <m:sSupPr>
                              <m:ctrlPr>
                                <a:rPr lang="en-US" sz="5400" b="0" i="1" smtClean="0">
                                  <a:latin typeface="Cambria Math" panose="02040503050406030204" pitchFamily="18" charset="0"/>
                                  <a:ea typeface="Cambria Math" charset="0"/>
                                  <a:cs typeface="Cambria Math" charset="0"/>
                                </a:rPr>
                              </m:ctrlPr>
                            </m:sSupPr>
                            <m:e>
                              <m:r>
                                <a:rPr lang="en-US" sz="5400" b="0" i="1" smtClean="0">
                                  <a:latin typeface="Cambria Math" charset="0"/>
                                  <a:ea typeface="Cambria Math" charset="0"/>
                                  <a:cs typeface="Cambria Math" charset="0"/>
                                </a:rPr>
                                <m:t>𝑒</m:t>
                              </m:r>
                            </m:e>
                            <m:sup>
                              <m:r>
                                <a:rPr lang="en-US" sz="5400" b="0" i="1" smtClean="0">
                                  <a:latin typeface="Cambria Math" charset="0"/>
                                  <a:ea typeface="Cambria Math" charset="0"/>
                                  <a:cs typeface="Cambria Math" charset="0"/>
                                </a:rPr>
                                <m:t>2</m:t>
                              </m:r>
                              <m:r>
                                <a:rPr lang="en-US" sz="5400" b="0" i="1" smtClean="0">
                                  <a:latin typeface="Cambria Math" charset="0"/>
                                  <a:ea typeface="Cambria Math" charset="0"/>
                                  <a:cs typeface="Cambria Math" charset="0"/>
                                </a:rPr>
                                <m:t>𝑥</m:t>
                              </m:r>
                            </m:sup>
                          </m:sSup>
                          <m:r>
                            <a:rPr lang="en-US" sz="5400" b="0" i="1" smtClean="0">
                              <a:latin typeface="Cambria Math" charset="0"/>
                              <a:ea typeface="Cambria Math" charset="0"/>
                              <a:cs typeface="Cambria Math" charset="0"/>
                            </a:rPr>
                            <m:t>+1</m:t>
                          </m:r>
                        </m:den>
                      </m:f>
                    </m:oMath>
                  </m:oMathPara>
                </a14:m>
                <a:endParaRPr lang="en-US" sz="6600" dirty="0"/>
              </a:p>
            </p:txBody>
          </p:sp>
        </mc:Choice>
        <mc:Fallback xmlns="">
          <p:sp>
            <p:nvSpPr>
              <p:cNvPr id="3" name="TextBox 2"/>
              <p:cNvSpPr txBox="1">
                <a:spLocks noRot="1" noChangeAspect="1" noMove="1" noResize="1" noEditPoints="1" noAdjustHandles="1" noChangeArrowheads="1" noChangeShapeType="1" noTextEdit="1"/>
              </p:cNvSpPr>
              <p:nvPr/>
            </p:nvSpPr>
            <p:spPr>
              <a:xfrm>
                <a:off x="1974498" y="2054895"/>
                <a:ext cx="9020675" cy="18149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888846" y="4267200"/>
                <a:ext cx="3581400" cy="1846659"/>
              </a:xfrm>
              <a:prstGeom prst="rect">
                <a:avLst/>
              </a:prstGeom>
              <a:noFill/>
            </p:spPr>
            <p:txBody>
              <a:bodyPr wrap="square" rtlCol="0">
                <a:spAutoFit/>
              </a:bodyPr>
              <a:lstStyle/>
              <a:p>
                <a:pPr marL="285750" indent="-285750">
                  <a:buFont typeface="Arial" charset="0"/>
                  <a:buChar char="•"/>
                </a:pPr>
                <a:r>
                  <a:rPr lang="en-US" sz="2400" dirty="0" smtClean="0"/>
                  <a:t>Value at  </a:t>
                </a:r>
                <a14:m>
                  <m:oMath xmlns:m="http://schemas.openxmlformats.org/officeDocument/2006/math">
                    <m:r>
                      <a:rPr lang="en-US" sz="3200" b="0" i="1" smtClean="0">
                        <a:latin typeface="Cambria Math" charset="0"/>
                      </a:rPr>
                      <m:t>𝑧</m:t>
                    </m:r>
                    <m:r>
                      <a:rPr lang="en-US" sz="3200" b="0" i="1" smtClean="0">
                        <a:latin typeface="Cambria Math" charset="0"/>
                      </a:rPr>
                      <m:t>≪0?</m:t>
                    </m:r>
                  </m:oMath>
                </a14:m>
                <a:endParaRPr lang="en-US" dirty="0" smtClean="0"/>
              </a:p>
              <a:p>
                <a:pPr marL="285750" indent="-285750">
                  <a:buFont typeface="Arial" charset="0"/>
                  <a:buChar char="•"/>
                </a:pPr>
                <a:r>
                  <a:rPr lang="en-US" sz="2400" dirty="0"/>
                  <a:t>Value at  </a:t>
                </a:r>
                <a14:m>
                  <m:oMath xmlns:m="http://schemas.openxmlformats.org/officeDocument/2006/math">
                    <m:r>
                      <a:rPr lang="en-US" sz="3200" i="1" smtClean="0">
                        <a:latin typeface="Cambria Math" charset="0"/>
                      </a:rPr>
                      <m:t>𝑧</m:t>
                    </m:r>
                    <m:r>
                      <a:rPr lang="en-US" sz="3200" b="0" i="1" smtClean="0">
                        <a:latin typeface="Cambria Math" charset="0"/>
                      </a:rPr>
                      <m:t>=</m:t>
                    </m:r>
                    <m:r>
                      <a:rPr lang="en-US" sz="3200" i="1">
                        <a:latin typeface="Cambria Math" charset="0"/>
                      </a:rPr>
                      <m:t>0?</m:t>
                    </m:r>
                  </m:oMath>
                </a14:m>
                <a:endParaRPr lang="en-US" sz="2400" dirty="0"/>
              </a:p>
              <a:p>
                <a:pPr marL="285750" indent="-285750">
                  <a:buFont typeface="Arial" charset="0"/>
                  <a:buChar char="•"/>
                </a:pPr>
                <a:r>
                  <a:rPr lang="en-US" sz="2400" dirty="0"/>
                  <a:t>Value at  </a:t>
                </a:r>
                <a14:m>
                  <m:oMath xmlns:m="http://schemas.openxmlformats.org/officeDocument/2006/math">
                    <m:r>
                      <a:rPr lang="en-US" sz="3200" i="1">
                        <a:latin typeface="Cambria Math" charset="0"/>
                      </a:rPr>
                      <m:t>𝑧</m:t>
                    </m:r>
                    <m:r>
                      <a:rPr lang="en-US" sz="3200" b="0" i="1" smtClean="0">
                        <a:latin typeface="Cambria Math" charset="0"/>
                      </a:rPr>
                      <m:t>≫</m:t>
                    </m:r>
                    <m:r>
                      <a:rPr lang="en-US" sz="3200" i="1">
                        <a:latin typeface="Cambria Math" charset="0"/>
                      </a:rPr>
                      <m:t>0?</m:t>
                    </m:r>
                  </m:oMath>
                </a14:m>
                <a:endParaRPr lang="en-US" sz="2400" dirty="0"/>
              </a:p>
              <a:p>
                <a:pPr marL="285750" indent="-285750">
                  <a:buFont typeface="Arial" charset="0"/>
                  <a:buChar char="•"/>
                </a:pPr>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2888846" y="4267200"/>
                <a:ext cx="3581400" cy="1846659"/>
              </a:xfrm>
              <a:prstGeom prst="rect">
                <a:avLst/>
              </a:prstGeom>
              <a:blipFill rotWithShape="0">
                <a:blip r:embed="rId3"/>
                <a:stretch>
                  <a:fillRect l="-2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089246" y="4270917"/>
                <a:ext cx="6092825" cy="1569660"/>
              </a:xfrm>
              <a:prstGeom prst="rect">
                <a:avLst/>
              </a:prstGeom>
            </p:spPr>
            <p:txBody>
              <a:bodyPr>
                <a:spAutoFit/>
              </a:bodyPr>
              <a:lstStyle/>
              <a:p>
                <a:pPr/>
                <a14:m>
                  <m:oMathPara xmlns:m="http://schemas.openxmlformats.org/officeDocument/2006/math">
                    <m:oMathParaPr>
                      <m:jc m:val="left"/>
                    </m:oMathParaPr>
                    <m:oMath xmlns:m="http://schemas.openxmlformats.org/officeDocument/2006/math">
                      <m:r>
                        <a:rPr lang="en-US" sz="3200" i="1" smtClean="0">
                          <a:solidFill>
                            <a:srgbClr val="FF0000"/>
                          </a:solidFill>
                          <a:latin typeface="Cambria Math" charset="0"/>
                          <a:ea typeface="Cambria Math" charset="0"/>
                          <a:cs typeface="Cambria Math" charset="0"/>
                        </a:rPr>
                        <m:t>≈</m:t>
                      </m:r>
                      <m:r>
                        <a:rPr lang="en-US" sz="3200" b="0" i="1" smtClean="0">
                          <a:solidFill>
                            <a:srgbClr val="FF0000"/>
                          </a:solidFill>
                          <a:latin typeface="Cambria Math" charset="0"/>
                          <a:ea typeface="Cambria Math" charset="0"/>
                          <a:cs typeface="Cambria Math" charset="0"/>
                        </a:rPr>
                        <m:t>−1</m:t>
                      </m:r>
                    </m:oMath>
                  </m:oMathPara>
                </a14:m>
                <a:endParaRPr lang="en-US" sz="2400" dirty="0">
                  <a:solidFill>
                    <a:srgbClr val="FF0000"/>
                  </a:solidFill>
                </a:endParaRPr>
              </a:p>
              <a:p>
                <a:pPr/>
                <a14:m>
                  <m:oMathPara xmlns:m="http://schemas.openxmlformats.org/officeDocument/2006/math">
                    <m:oMathParaPr>
                      <m:jc m:val="left"/>
                    </m:oMathParaPr>
                    <m:oMath xmlns:m="http://schemas.openxmlformats.org/officeDocument/2006/math">
                      <m:r>
                        <a:rPr lang="en-US" sz="3200" i="1" smtClean="0">
                          <a:solidFill>
                            <a:srgbClr val="FF0000"/>
                          </a:solidFill>
                          <a:latin typeface="Cambria Math" charset="0"/>
                          <a:ea typeface="Cambria Math" charset="0"/>
                          <a:cs typeface="Cambria Math" charset="0"/>
                        </a:rPr>
                        <m:t>=</m:t>
                      </m:r>
                      <m:r>
                        <a:rPr lang="en-US" sz="3200" i="1">
                          <a:solidFill>
                            <a:srgbClr val="FF0000"/>
                          </a:solidFill>
                          <a:latin typeface="Cambria Math" charset="0"/>
                        </a:rPr>
                        <m:t>0</m:t>
                      </m:r>
                      <m:r>
                        <a:rPr lang="en-US" sz="3200" b="0" i="1" smtClean="0">
                          <a:solidFill>
                            <a:srgbClr val="FF0000"/>
                          </a:solidFill>
                          <a:latin typeface="Cambria Math" charset="0"/>
                        </a:rPr>
                        <m:t>.</m:t>
                      </m:r>
                    </m:oMath>
                  </m:oMathPara>
                </a14:m>
                <a:endParaRPr lang="en-US" sz="3200" dirty="0">
                  <a:solidFill>
                    <a:srgbClr val="FF0000"/>
                  </a:solidFill>
                </a:endParaRPr>
              </a:p>
              <a:p>
                <a:pPr/>
                <a14:m>
                  <m:oMathPara xmlns:m="http://schemas.openxmlformats.org/officeDocument/2006/math">
                    <m:oMathParaPr>
                      <m:jc m:val="left"/>
                    </m:oMathParaPr>
                    <m:oMath xmlns:m="http://schemas.openxmlformats.org/officeDocument/2006/math">
                      <m:r>
                        <a:rPr lang="en-US" sz="3200" i="1">
                          <a:solidFill>
                            <a:srgbClr val="FF0000"/>
                          </a:solidFill>
                          <a:latin typeface="Cambria Math" charset="0"/>
                          <a:ea typeface="Cambria Math" charset="0"/>
                          <a:cs typeface="Cambria Math" charset="0"/>
                        </a:rPr>
                        <m:t>≈</m:t>
                      </m:r>
                      <m:r>
                        <a:rPr lang="en-US" sz="3200" b="0" i="1" smtClean="0">
                          <a:solidFill>
                            <a:srgbClr val="FF0000"/>
                          </a:solidFill>
                          <a:latin typeface="Cambria Math" charset="0"/>
                          <a:ea typeface="Cambria Math" charset="0"/>
                          <a:cs typeface="Cambria Math" charset="0"/>
                        </a:rPr>
                        <m:t>1</m:t>
                      </m:r>
                    </m:oMath>
                  </m:oMathPara>
                </a14:m>
                <a:endParaRPr lang="en-US" sz="24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6089246" y="4270917"/>
                <a:ext cx="6092825" cy="1569660"/>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359085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Hyperbolic Tangent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8012" y="1704723"/>
            <a:ext cx="9169400" cy="4642248"/>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6029902" y="533400"/>
                <a:ext cx="5346335" cy="10754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𝑡𝑎𝑛h</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𝑧</m:t>
                          </m:r>
                        </m:e>
                      </m:d>
                      <m:r>
                        <a:rPr lang="en-US" sz="3200" b="0" i="1" smtClean="0">
                          <a:latin typeface="Cambria Math" charset="0"/>
                          <a:ea typeface="Cambria Math" charset="0"/>
                          <a:cs typeface="Cambria Math" charset="0"/>
                        </a:rPr>
                        <m:t>=</m:t>
                      </m:r>
                      <m:f>
                        <m:fPr>
                          <m:ctrlPr>
                            <a:rPr lang="mr-IN" sz="3200" b="0" i="1" smtClean="0">
                              <a:latin typeface="Cambria Math" panose="02040503050406030204" pitchFamily="18" charset="0"/>
                              <a:ea typeface="Cambria Math" charset="0"/>
                              <a:cs typeface="Cambria Math" charset="0"/>
                            </a:rPr>
                          </m:ctrlPr>
                        </m:fPr>
                        <m:num>
                          <m:r>
                            <m:rPr>
                              <m:sty m:val="p"/>
                            </m:rPr>
                            <a:rPr lang="en-US" sz="3200" b="0" i="0" smtClean="0">
                              <a:latin typeface="Cambria Math" charset="0"/>
                              <a:ea typeface="Cambria Math" charset="0"/>
                              <a:cs typeface="Cambria Math" charset="0"/>
                            </a:rPr>
                            <m:t>sinh</m:t>
                          </m:r>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𝑧</m:t>
                          </m:r>
                          <m:r>
                            <a:rPr lang="en-US" sz="3200" b="0" i="1" smtClean="0">
                              <a:latin typeface="Cambria Math" charset="0"/>
                              <a:ea typeface="Cambria Math" charset="0"/>
                              <a:cs typeface="Cambria Math" charset="0"/>
                            </a:rPr>
                            <m:t>)</m:t>
                          </m:r>
                        </m:num>
                        <m:den>
                          <m:r>
                            <m:rPr>
                              <m:sty m:val="p"/>
                            </m:rPr>
                            <a:rPr lang="en-US" sz="3200" b="0" i="0" smtClean="0">
                              <a:latin typeface="Cambria Math" charset="0"/>
                              <a:ea typeface="Cambria Math" charset="0"/>
                              <a:cs typeface="Cambria Math" charset="0"/>
                            </a:rPr>
                            <m:t>cosh</m:t>
                          </m:r>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𝑧</m:t>
                          </m:r>
                          <m:r>
                            <a:rPr lang="en-US" sz="3200" b="0" i="1" smtClean="0">
                              <a:latin typeface="Cambria Math" charset="0"/>
                              <a:ea typeface="Cambria Math" charset="0"/>
                              <a:cs typeface="Cambria Math" charset="0"/>
                            </a:rPr>
                            <m:t>)</m:t>
                          </m:r>
                        </m:den>
                      </m:f>
                      <m:r>
                        <a:rPr lang="en-US" sz="3200" b="0" i="1" smtClean="0">
                          <a:latin typeface="Cambria Math" charset="0"/>
                          <a:ea typeface="Cambria Math" charset="0"/>
                          <a:cs typeface="Cambria Math" charset="0"/>
                        </a:rPr>
                        <m:t>=</m:t>
                      </m:r>
                      <m:f>
                        <m:fPr>
                          <m:ctrlPr>
                            <a:rPr lang="mr-IN" sz="3200" b="0" i="1" smtClean="0">
                              <a:latin typeface="Cambria Math" panose="02040503050406030204" pitchFamily="18" charset="0"/>
                              <a:ea typeface="Cambria Math" charset="0"/>
                              <a:cs typeface="Cambria Math" charset="0"/>
                            </a:rPr>
                          </m:ctrlPr>
                        </m:fPr>
                        <m:num>
                          <m:sSup>
                            <m:sSupPr>
                              <m:ctrlPr>
                                <a:rPr lang="en-US" sz="3200" b="0" i="1" smtClean="0">
                                  <a:latin typeface="Cambria Math" panose="02040503050406030204" pitchFamily="18" charset="0"/>
                                  <a:ea typeface="Cambria Math" charset="0"/>
                                  <a:cs typeface="Cambria Math" charset="0"/>
                                </a:rPr>
                              </m:ctrlPr>
                            </m:sSupPr>
                            <m:e>
                              <m:r>
                                <a:rPr lang="en-US" sz="3200" b="0" i="1" smtClean="0">
                                  <a:latin typeface="Cambria Math" charset="0"/>
                                  <a:ea typeface="Cambria Math" charset="0"/>
                                  <a:cs typeface="Cambria Math" charset="0"/>
                                </a:rPr>
                                <m:t>𝑒</m:t>
                              </m:r>
                            </m:e>
                            <m:sup>
                              <m:r>
                                <a:rPr lang="en-US" sz="3200" b="0" i="1" smtClean="0">
                                  <a:latin typeface="Cambria Math" charset="0"/>
                                  <a:ea typeface="Cambria Math" charset="0"/>
                                  <a:cs typeface="Cambria Math" charset="0"/>
                                </a:rPr>
                                <m:t>2</m:t>
                              </m:r>
                              <m:r>
                                <a:rPr lang="en-US" sz="3200" b="0" i="1" smtClean="0">
                                  <a:latin typeface="Cambria Math" charset="0"/>
                                  <a:ea typeface="Cambria Math" charset="0"/>
                                  <a:cs typeface="Cambria Math" charset="0"/>
                                </a:rPr>
                                <m:t>𝑥</m:t>
                              </m:r>
                            </m:sup>
                          </m:sSup>
                          <m:r>
                            <a:rPr lang="en-US" sz="3200" b="0" i="1" smtClean="0">
                              <a:latin typeface="Cambria Math" charset="0"/>
                              <a:ea typeface="Cambria Math" charset="0"/>
                              <a:cs typeface="Cambria Math" charset="0"/>
                            </a:rPr>
                            <m:t>−1</m:t>
                          </m:r>
                        </m:num>
                        <m:den>
                          <m:sSup>
                            <m:sSupPr>
                              <m:ctrlPr>
                                <a:rPr lang="en-US" sz="3200" b="0" i="1" smtClean="0">
                                  <a:latin typeface="Cambria Math" panose="02040503050406030204" pitchFamily="18" charset="0"/>
                                  <a:ea typeface="Cambria Math" charset="0"/>
                                  <a:cs typeface="Cambria Math" charset="0"/>
                                </a:rPr>
                              </m:ctrlPr>
                            </m:sSupPr>
                            <m:e>
                              <m:r>
                                <a:rPr lang="en-US" sz="3200" b="0" i="1" smtClean="0">
                                  <a:latin typeface="Cambria Math" charset="0"/>
                                  <a:ea typeface="Cambria Math" charset="0"/>
                                  <a:cs typeface="Cambria Math" charset="0"/>
                                </a:rPr>
                                <m:t>𝑒</m:t>
                              </m:r>
                            </m:e>
                            <m:sup>
                              <m:r>
                                <a:rPr lang="en-US" sz="3200" b="0" i="1" smtClean="0">
                                  <a:latin typeface="Cambria Math" charset="0"/>
                                  <a:ea typeface="Cambria Math" charset="0"/>
                                  <a:cs typeface="Cambria Math" charset="0"/>
                                </a:rPr>
                                <m:t>2</m:t>
                              </m:r>
                              <m:r>
                                <a:rPr lang="en-US" sz="3200" b="0" i="1" smtClean="0">
                                  <a:latin typeface="Cambria Math" charset="0"/>
                                  <a:ea typeface="Cambria Math" charset="0"/>
                                  <a:cs typeface="Cambria Math" charset="0"/>
                                </a:rPr>
                                <m:t>𝑥</m:t>
                              </m:r>
                            </m:sup>
                          </m:sSup>
                          <m:r>
                            <a:rPr lang="en-US" sz="3200" b="0" i="1" smtClean="0">
                              <a:latin typeface="Cambria Math" charset="0"/>
                              <a:ea typeface="Cambria Math" charset="0"/>
                              <a:cs typeface="Cambria Math" charset="0"/>
                            </a:rPr>
                            <m:t>+1</m:t>
                          </m:r>
                        </m:den>
                      </m:f>
                    </m:oMath>
                  </m:oMathPara>
                </a14:m>
                <a:endParaRPr lang="en-US" sz="4000" dirty="0"/>
              </a:p>
            </p:txBody>
          </p:sp>
        </mc:Choice>
        <mc:Fallback xmlns="">
          <p:sp>
            <p:nvSpPr>
              <p:cNvPr id="5" name="TextBox 4"/>
              <p:cNvSpPr txBox="1">
                <a:spLocks noRot="1" noChangeAspect="1" noMove="1" noResize="1" noEditPoints="1" noAdjustHandles="1" noChangeArrowheads="1" noChangeShapeType="1" noTextEdit="1"/>
              </p:cNvSpPr>
              <p:nvPr/>
            </p:nvSpPr>
            <p:spPr>
              <a:xfrm>
                <a:off x="6029902" y="533400"/>
                <a:ext cx="5346335" cy="1075487"/>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365068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Rectified Linear Unit (</a:t>
            </a:r>
            <a:r>
              <a:rPr lang="en-US" dirty="0" err="1" smtClean="0"/>
              <a:t>ReLU</a:t>
            </a:r>
            <a:r>
              <a:rPr lang="en-US" dirty="0" smtClean="0"/>
              <a:t>)</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2662570" y="1600200"/>
                <a:ext cx="6278001" cy="1510350"/>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sz="4400" b="0" i="1" smtClean="0">
                          <a:latin typeface="Cambria Math" charset="0"/>
                          <a:ea typeface="Cambria Math" charset="0"/>
                          <a:cs typeface="Cambria Math" charset="0"/>
                        </a:rPr>
                        <m:t>𝑅𝑒𝐿𝑈</m:t>
                      </m:r>
                      <m:d>
                        <m:dPr>
                          <m:ctrlPr>
                            <a:rPr lang="en-US" sz="4400" b="0" i="1" smtClean="0">
                              <a:latin typeface="Cambria Math" panose="02040503050406030204" pitchFamily="18" charset="0"/>
                              <a:ea typeface="Cambria Math" charset="0"/>
                              <a:cs typeface="Cambria Math" charset="0"/>
                            </a:rPr>
                          </m:ctrlPr>
                        </m:dPr>
                        <m:e>
                          <m:r>
                            <a:rPr lang="en-US" sz="4400" b="0" i="1" smtClean="0">
                              <a:latin typeface="Cambria Math" charset="0"/>
                              <a:ea typeface="Cambria Math" charset="0"/>
                              <a:cs typeface="Cambria Math" charset="0"/>
                            </a:rPr>
                            <m:t>𝑧</m:t>
                          </m:r>
                        </m:e>
                      </m:d>
                      <m:r>
                        <a:rPr lang="en-US" sz="4400" b="0" i="1" smtClean="0">
                          <a:latin typeface="Cambria Math" charset="0"/>
                          <a:ea typeface="Cambria Math" charset="0"/>
                          <a:cs typeface="Cambria Math" charset="0"/>
                        </a:rPr>
                        <m:t>=</m:t>
                      </m:r>
                      <m:d>
                        <m:dPr>
                          <m:begChr m:val="{"/>
                          <m:endChr m:val=""/>
                          <m:ctrlPr>
                            <a:rPr lang="mr-IN" sz="4400" i="1">
                              <a:latin typeface="Cambria Math" panose="02040503050406030204" pitchFamily="18" charset="0"/>
                              <a:ea typeface="Cambria Math" charset="0"/>
                              <a:cs typeface="Cambria Math" charset="0"/>
                            </a:rPr>
                          </m:ctrlPr>
                        </m:dPr>
                        <m:e>
                          <m:eqArr>
                            <m:eqArrPr>
                              <m:ctrlPr>
                                <a:rPr lang="mr-IN" sz="4400" i="1">
                                  <a:latin typeface="Cambria Math" panose="02040503050406030204" pitchFamily="18" charset="0"/>
                                  <a:ea typeface="Cambria Math" charset="0"/>
                                  <a:cs typeface="Cambria Math" charset="0"/>
                                </a:rPr>
                              </m:ctrlPr>
                            </m:eqArrPr>
                            <m:e>
                              <m:r>
                                <a:rPr lang="en-US" sz="4400" i="1">
                                  <a:latin typeface="Cambria Math" charset="0"/>
                                  <a:ea typeface="Cambria Math" charset="0"/>
                                  <a:cs typeface="Cambria Math" charset="0"/>
                                </a:rPr>
                                <m:t>0</m:t>
                              </m:r>
                              <m:r>
                                <a:rPr lang="mr-IN" sz="4400" i="1">
                                  <a:latin typeface="Cambria Math" charset="0"/>
                                  <a:ea typeface="Cambria Math" charset="0"/>
                                  <a:cs typeface="Cambria Math" charset="0"/>
                                </a:rPr>
                                <m:t>,  </m:t>
                              </m:r>
                              <m:r>
                                <a:rPr lang="en-US" sz="4400" i="1">
                                  <a:latin typeface="Cambria Math" charset="0"/>
                                  <a:ea typeface="Cambria Math" charset="0"/>
                                  <a:cs typeface="Cambria Math" charset="0"/>
                                </a:rPr>
                                <m:t>𝑧</m:t>
                              </m:r>
                              <m:r>
                                <a:rPr lang="mr-IN" sz="4400" i="1">
                                  <a:latin typeface="Cambria Math" charset="0"/>
                                  <a:ea typeface="Cambria Math" charset="0"/>
                                  <a:cs typeface="Cambria Math" charset="0"/>
                                </a:rPr>
                                <m:t>&lt;0</m:t>
                              </m:r>
                            </m:e>
                            <m:e>
                              <m:r>
                                <a:rPr lang="mr-IN" sz="4400" i="1">
                                  <a:latin typeface="Cambria Math" charset="0"/>
                                  <a:ea typeface="Cambria Math" charset="0"/>
                                  <a:cs typeface="Cambria Math" charset="0"/>
                                </a:rPr>
                                <m:t>&amp;</m:t>
                              </m:r>
                              <m:r>
                                <a:rPr lang="en-US" sz="4400" i="1">
                                  <a:latin typeface="Cambria Math" charset="0"/>
                                  <a:ea typeface="Cambria Math" charset="0"/>
                                  <a:cs typeface="Cambria Math" charset="0"/>
                                </a:rPr>
                                <m:t>𝑧</m:t>
                              </m:r>
                              <m:r>
                                <a:rPr lang="mr-IN" sz="4400" i="1">
                                  <a:latin typeface="Cambria Math" charset="0"/>
                                  <a:ea typeface="Cambria Math" charset="0"/>
                                  <a:cs typeface="Cambria Math" charset="0"/>
                                </a:rPr>
                                <m:t>,  </m:t>
                              </m:r>
                              <m:r>
                                <a:rPr lang="en-US" sz="4400" i="1">
                                  <a:latin typeface="Cambria Math" charset="0"/>
                                  <a:ea typeface="Cambria Math" charset="0"/>
                                  <a:cs typeface="Cambria Math" charset="0"/>
                                </a:rPr>
                                <m:t>𝑧</m:t>
                              </m:r>
                              <m:r>
                                <a:rPr lang="mr-IN" sz="4400" i="1">
                                  <a:latin typeface="Cambria Math" charset="0"/>
                                  <a:ea typeface="Cambria Math" charset="0"/>
                                  <a:cs typeface="Cambria Math" charset="0"/>
                                </a:rPr>
                                <m:t>≥0</m:t>
                              </m:r>
                            </m:e>
                          </m:eqArr>
                        </m:e>
                      </m:d>
                    </m:oMath>
                  </m:oMathPara>
                </a14:m>
                <a:endParaRPr lang="en-US" sz="4400" dirty="0"/>
              </a:p>
            </p:txBody>
          </p:sp>
        </mc:Choice>
        <mc:Fallback xmlns="">
          <p:sp>
            <p:nvSpPr>
              <p:cNvPr id="3" name="TextBox 2"/>
              <p:cNvSpPr txBox="1">
                <a:spLocks noRot="1" noChangeAspect="1" noMove="1" noResize="1" noEditPoints="1" noAdjustHandles="1" noChangeArrowheads="1" noChangeShapeType="1" noTextEdit="1"/>
              </p:cNvSpPr>
              <p:nvPr/>
            </p:nvSpPr>
            <p:spPr>
              <a:xfrm>
                <a:off x="2662570" y="1600200"/>
                <a:ext cx="6278001" cy="151035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888846" y="4267200"/>
                <a:ext cx="3581400" cy="1846659"/>
              </a:xfrm>
              <a:prstGeom prst="rect">
                <a:avLst/>
              </a:prstGeom>
              <a:noFill/>
            </p:spPr>
            <p:txBody>
              <a:bodyPr wrap="square" rtlCol="0">
                <a:spAutoFit/>
              </a:bodyPr>
              <a:lstStyle/>
              <a:p>
                <a:pPr marL="285750" indent="-285750">
                  <a:buFont typeface="Arial" charset="0"/>
                  <a:buChar char="•"/>
                </a:pPr>
                <a:r>
                  <a:rPr lang="en-US" sz="2400" dirty="0" smtClean="0"/>
                  <a:t>Value at  </a:t>
                </a:r>
                <a14:m>
                  <m:oMath xmlns:m="http://schemas.openxmlformats.org/officeDocument/2006/math">
                    <m:r>
                      <a:rPr lang="en-US" sz="3200" b="0" i="1" smtClean="0">
                        <a:latin typeface="Cambria Math" charset="0"/>
                      </a:rPr>
                      <m:t>𝑧</m:t>
                    </m:r>
                    <m:r>
                      <a:rPr lang="en-US" sz="3200" b="0" i="1" smtClean="0">
                        <a:latin typeface="Cambria Math" charset="0"/>
                      </a:rPr>
                      <m:t>≪0?</m:t>
                    </m:r>
                  </m:oMath>
                </a14:m>
                <a:endParaRPr lang="en-US" dirty="0" smtClean="0"/>
              </a:p>
              <a:p>
                <a:pPr marL="285750" indent="-285750">
                  <a:buFont typeface="Arial" charset="0"/>
                  <a:buChar char="•"/>
                </a:pPr>
                <a:r>
                  <a:rPr lang="en-US" sz="2400" dirty="0"/>
                  <a:t>Value at  </a:t>
                </a:r>
                <a14:m>
                  <m:oMath xmlns:m="http://schemas.openxmlformats.org/officeDocument/2006/math">
                    <m:r>
                      <a:rPr lang="en-US" sz="3200" i="1" smtClean="0">
                        <a:latin typeface="Cambria Math" charset="0"/>
                      </a:rPr>
                      <m:t>𝑧</m:t>
                    </m:r>
                    <m:r>
                      <a:rPr lang="en-US" sz="3200" b="0" i="1" smtClean="0">
                        <a:latin typeface="Cambria Math" charset="0"/>
                      </a:rPr>
                      <m:t>=</m:t>
                    </m:r>
                    <m:r>
                      <a:rPr lang="en-US" sz="3200" i="1">
                        <a:latin typeface="Cambria Math" charset="0"/>
                      </a:rPr>
                      <m:t>0?</m:t>
                    </m:r>
                  </m:oMath>
                </a14:m>
                <a:endParaRPr lang="en-US" sz="2400" dirty="0"/>
              </a:p>
              <a:p>
                <a:pPr marL="285750" indent="-285750">
                  <a:buFont typeface="Arial" charset="0"/>
                  <a:buChar char="•"/>
                </a:pPr>
                <a:r>
                  <a:rPr lang="en-US" sz="2400" dirty="0"/>
                  <a:t>Value at  </a:t>
                </a:r>
                <a14:m>
                  <m:oMath xmlns:m="http://schemas.openxmlformats.org/officeDocument/2006/math">
                    <m:r>
                      <a:rPr lang="en-US" sz="3200" i="1">
                        <a:latin typeface="Cambria Math" charset="0"/>
                      </a:rPr>
                      <m:t>𝑧</m:t>
                    </m:r>
                    <m:r>
                      <a:rPr lang="en-US" sz="3200" b="0" i="1" smtClean="0">
                        <a:latin typeface="Cambria Math" charset="0"/>
                      </a:rPr>
                      <m:t>≫</m:t>
                    </m:r>
                    <m:r>
                      <a:rPr lang="en-US" sz="3200" i="1">
                        <a:latin typeface="Cambria Math" charset="0"/>
                      </a:rPr>
                      <m:t>0?</m:t>
                    </m:r>
                  </m:oMath>
                </a14:m>
                <a:endParaRPr lang="en-US" sz="2400" dirty="0"/>
              </a:p>
              <a:p>
                <a:pPr marL="285750" indent="-285750">
                  <a:buFont typeface="Arial" charset="0"/>
                  <a:buChar char="•"/>
                </a:pPr>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2888846" y="4267200"/>
                <a:ext cx="3581400" cy="1846659"/>
              </a:xfrm>
              <a:prstGeom prst="rect">
                <a:avLst/>
              </a:prstGeom>
              <a:blipFill rotWithShape="0">
                <a:blip r:embed="rId4"/>
                <a:stretch>
                  <a:fillRect l="-2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089246" y="4270917"/>
                <a:ext cx="6092825" cy="1569660"/>
              </a:xfrm>
              <a:prstGeom prst="rect">
                <a:avLst/>
              </a:prstGeom>
            </p:spPr>
            <p:txBody>
              <a:bodyPr>
                <a:spAutoFit/>
              </a:bodyPr>
              <a:lstStyle/>
              <a:p>
                <a:pPr/>
                <a14:m>
                  <m:oMathPara xmlns:m="http://schemas.openxmlformats.org/officeDocument/2006/math">
                    <m:oMathParaPr>
                      <m:jc m:val="left"/>
                    </m:oMathParaPr>
                    <m:oMath xmlns:m="http://schemas.openxmlformats.org/officeDocument/2006/math">
                      <m:r>
                        <a:rPr lang="en-US" sz="3200" b="0" i="1" smtClean="0">
                          <a:solidFill>
                            <a:srgbClr val="FF0000"/>
                          </a:solidFill>
                          <a:latin typeface="Cambria Math" charset="0"/>
                          <a:ea typeface="Cambria Math" charset="0"/>
                          <a:cs typeface="Cambria Math" charset="0"/>
                        </a:rPr>
                        <m:t>=0</m:t>
                      </m:r>
                    </m:oMath>
                  </m:oMathPara>
                </a14:m>
                <a:endParaRPr lang="en-US" sz="2400" dirty="0">
                  <a:solidFill>
                    <a:srgbClr val="FF0000"/>
                  </a:solidFill>
                </a:endParaRPr>
              </a:p>
              <a:p>
                <a:pPr/>
                <a14:m>
                  <m:oMathPara xmlns:m="http://schemas.openxmlformats.org/officeDocument/2006/math">
                    <m:oMathParaPr>
                      <m:jc m:val="left"/>
                    </m:oMathParaPr>
                    <m:oMath xmlns:m="http://schemas.openxmlformats.org/officeDocument/2006/math">
                      <m:r>
                        <a:rPr lang="en-US" sz="3200" i="1" smtClean="0">
                          <a:solidFill>
                            <a:srgbClr val="FF0000"/>
                          </a:solidFill>
                          <a:latin typeface="Cambria Math" charset="0"/>
                          <a:ea typeface="Cambria Math" charset="0"/>
                          <a:cs typeface="Cambria Math" charset="0"/>
                        </a:rPr>
                        <m:t>=</m:t>
                      </m:r>
                      <m:r>
                        <a:rPr lang="en-US" sz="3200" i="1">
                          <a:solidFill>
                            <a:srgbClr val="FF0000"/>
                          </a:solidFill>
                          <a:latin typeface="Cambria Math" charset="0"/>
                        </a:rPr>
                        <m:t>0</m:t>
                      </m:r>
                      <m:r>
                        <a:rPr lang="en-US" sz="3200" b="0" i="1" smtClean="0">
                          <a:solidFill>
                            <a:srgbClr val="FF0000"/>
                          </a:solidFill>
                          <a:latin typeface="Cambria Math" charset="0"/>
                        </a:rPr>
                        <m:t>.</m:t>
                      </m:r>
                    </m:oMath>
                  </m:oMathPara>
                </a14:m>
                <a:endParaRPr lang="en-US" sz="3200" dirty="0">
                  <a:solidFill>
                    <a:srgbClr val="FF0000"/>
                  </a:solidFill>
                </a:endParaRPr>
              </a:p>
              <a:p>
                <a:pPr/>
                <a14:m>
                  <m:oMathPara xmlns:m="http://schemas.openxmlformats.org/officeDocument/2006/math">
                    <m:oMathParaPr>
                      <m:jc m:val="left"/>
                    </m:oMathParaPr>
                    <m:oMath xmlns:m="http://schemas.openxmlformats.org/officeDocument/2006/math">
                      <m:r>
                        <a:rPr lang="en-US" sz="3200" i="1" smtClean="0">
                          <a:solidFill>
                            <a:srgbClr val="FF0000"/>
                          </a:solidFill>
                          <a:latin typeface="Cambria Math" charset="0"/>
                          <a:ea typeface="Cambria Math" charset="0"/>
                          <a:cs typeface="Cambria Math" charset="0"/>
                        </a:rPr>
                        <m:t>=</m:t>
                      </m:r>
                      <m:r>
                        <a:rPr lang="en-US" sz="3200" b="0" i="1" smtClean="0">
                          <a:solidFill>
                            <a:srgbClr val="FF0000"/>
                          </a:solidFill>
                          <a:latin typeface="Cambria Math" charset="0"/>
                          <a:ea typeface="Cambria Math" charset="0"/>
                          <a:cs typeface="Cambria Math" charset="0"/>
                        </a:rPr>
                        <m:t>𝑧</m:t>
                      </m:r>
                    </m:oMath>
                  </m:oMathPara>
                </a14:m>
                <a:endParaRPr lang="en-US" sz="24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6089246" y="4270917"/>
                <a:ext cx="6092825" cy="156966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4676135" y="3201682"/>
                <a:ext cx="3337131" cy="7694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4400" i="1" smtClean="0">
                              <a:latin typeface="Cambria Math" panose="02040503050406030204" pitchFamily="18" charset="0"/>
                              <a:ea typeface="Cambria Math" charset="0"/>
                              <a:cs typeface="Cambria Math" charset="0"/>
                            </a:rPr>
                          </m:ctrlPr>
                        </m:funcPr>
                        <m:fName>
                          <m:r>
                            <a:rPr lang="en-US" sz="4400" b="0" i="0" smtClean="0">
                              <a:latin typeface="Cambria Math" charset="0"/>
                              <a:ea typeface="Cambria Math" charset="0"/>
                              <a:cs typeface="Cambria Math" charset="0"/>
                            </a:rPr>
                            <m:t>=</m:t>
                          </m:r>
                          <m:r>
                            <m:rPr>
                              <m:sty m:val="p"/>
                            </m:rPr>
                            <a:rPr lang="en-US" sz="4400">
                              <a:latin typeface="Cambria Math" charset="0"/>
                              <a:ea typeface="Cambria Math" charset="0"/>
                              <a:cs typeface="Cambria Math" charset="0"/>
                            </a:rPr>
                            <m:t>max</m:t>
                          </m:r>
                        </m:fName>
                        <m:e>
                          <m:d>
                            <m:dPr>
                              <m:ctrlPr>
                                <a:rPr lang="en-US" sz="4400" i="1">
                                  <a:latin typeface="Cambria Math" panose="02040503050406030204" pitchFamily="18" charset="0"/>
                                  <a:ea typeface="Cambria Math" charset="0"/>
                                  <a:cs typeface="Cambria Math" charset="0"/>
                                </a:rPr>
                              </m:ctrlPr>
                            </m:dPr>
                            <m:e>
                              <m:r>
                                <a:rPr lang="en-US" sz="4400" i="1">
                                  <a:latin typeface="Cambria Math" charset="0"/>
                                  <a:ea typeface="Cambria Math" charset="0"/>
                                  <a:cs typeface="Cambria Math" charset="0"/>
                                </a:rPr>
                                <m:t>0, </m:t>
                              </m:r>
                              <m:r>
                                <a:rPr lang="en-US" sz="4400" i="1">
                                  <a:latin typeface="Cambria Math" charset="0"/>
                                  <a:ea typeface="Cambria Math" charset="0"/>
                                  <a:cs typeface="Cambria Math" charset="0"/>
                                </a:rPr>
                                <m:t>𝑧</m:t>
                              </m:r>
                            </m:e>
                          </m:d>
                        </m:e>
                      </m:func>
                    </m:oMath>
                  </m:oMathPara>
                </a14:m>
                <a:endParaRPr lang="en-US" sz="4400" dirty="0"/>
              </a:p>
            </p:txBody>
          </p:sp>
        </mc:Choice>
        <mc:Fallback xmlns="">
          <p:sp>
            <p:nvSpPr>
              <p:cNvPr id="4" name="Rectangle 3"/>
              <p:cNvSpPr>
                <a:spLocks noRot="1" noChangeAspect="1" noMove="1" noResize="1" noEditPoints="1" noAdjustHandles="1" noChangeArrowheads="1" noChangeShapeType="1" noTextEdit="1"/>
              </p:cNvSpPr>
              <p:nvPr/>
            </p:nvSpPr>
            <p:spPr>
              <a:xfrm>
                <a:off x="4676135" y="3201682"/>
                <a:ext cx="3337131" cy="769441"/>
              </a:xfrm>
              <a:prstGeom prst="rect">
                <a:avLst/>
              </a:prstGeom>
              <a:blipFill rotWithShape="0">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46137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Rectified Linear Unit</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4751" y="1704723"/>
            <a:ext cx="9115922" cy="4642248"/>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6490175" y="619910"/>
                <a:ext cx="4567276" cy="10985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charset="0"/>
                          <a:ea typeface="Cambria Math" charset="0"/>
                          <a:cs typeface="Cambria Math" charset="0"/>
                        </a:rPr>
                        <m:t>𝑅𝑒𝐿𝑈</m:t>
                      </m:r>
                      <m:d>
                        <m:dPr>
                          <m:ctrlPr>
                            <a:rPr lang="en-US" sz="3200" i="1">
                              <a:latin typeface="Cambria Math" panose="02040503050406030204" pitchFamily="18" charset="0"/>
                              <a:ea typeface="Cambria Math" charset="0"/>
                              <a:cs typeface="Cambria Math" charset="0"/>
                            </a:rPr>
                          </m:ctrlPr>
                        </m:dPr>
                        <m:e>
                          <m:r>
                            <a:rPr lang="en-US" sz="3200" i="1">
                              <a:latin typeface="Cambria Math" charset="0"/>
                              <a:ea typeface="Cambria Math" charset="0"/>
                              <a:cs typeface="Cambria Math" charset="0"/>
                            </a:rPr>
                            <m:t>𝑧</m:t>
                          </m:r>
                        </m:e>
                      </m:d>
                      <m:r>
                        <a:rPr lang="en-US" sz="3200" i="1">
                          <a:latin typeface="Cambria Math" charset="0"/>
                          <a:ea typeface="Cambria Math" charset="0"/>
                          <a:cs typeface="Cambria Math" charset="0"/>
                        </a:rPr>
                        <m:t>=</m:t>
                      </m:r>
                      <m:d>
                        <m:dPr>
                          <m:begChr m:val="{"/>
                          <m:endChr m:val=""/>
                          <m:ctrlPr>
                            <a:rPr lang="mr-IN" sz="3200" i="1">
                              <a:latin typeface="Cambria Math" panose="02040503050406030204" pitchFamily="18" charset="0"/>
                              <a:ea typeface="Cambria Math" charset="0"/>
                              <a:cs typeface="Cambria Math" charset="0"/>
                            </a:rPr>
                          </m:ctrlPr>
                        </m:dPr>
                        <m:e>
                          <m:eqArr>
                            <m:eqArrPr>
                              <m:ctrlPr>
                                <a:rPr lang="mr-IN" sz="3200" i="1">
                                  <a:latin typeface="Cambria Math" panose="02040503050406030204" pitchFamily="18" charset="0"/>
                                  <a:ea typeface="Cambria Math" charset="0"/>
                                  <a:cs typeface="Cambria Math" charset="0"/>
                                </a:rPr>
                              </m:ctrlPr>
                            </m:eqArrPr>
                            <m:e>
                              <m:r>
                                <a:rPr lang="en-US" sz="3200" i="1">
                                  <a:latin typeface="Cambria Math" charset="0"/>
                                  <a:ea typeface="Cambria Math" charset="0"/>
                                  <a:cs typeface="Cambria Math" charset="0"/>
                                </a:rPr>
                                <m:t>0</m:t>
                              </m:r>
                              <m:r>
                                <a:rPr lang="mr-IN" sz="3200" i="1">
                                  <a:latin typeface="Cambria Math" charset="0"/>
                                  <a:ea typeface="Cambria Math" charset="0"/>
                                  <a:cs typeface="Cambria Math" charset="0"/>
                                </a:rPr>
                                <m:t>,  </m:t>
                              </m:r>
                              <m:r>
                                <a:rPr lang="en-US" sz="3200" i="1">
                                  <a:latin typeface="Cambria Math" charset="0"/>
                                  <a:ea typeface="Cambria Math" charset="0"/>
                                  <a:cs typeface="Cambria Math" charset="0"/>
                                </a:rPr>
                                <m:t>𝑧</m:t>
                              </m:r>
                              <m:r>
                                <a:rPr lang="mr-IN" sz="3200" i="1">
                                  <a:latin typeface="Cambria Math" charset="0"/>
                                  <a:ea typeface="Cambria Math" charset="0"/>
                                  <a:cs typeface="Cambria Math" charset="0"/>
                                </a:rPr>
                                <m:t>&lt;0</m:t>
                              </m:r>
                            </m:e>
                            <m:e>
                              <m:r>
                                <a:rPr lang="mr-IN" sz="3200" i="1">
                                  <a:latin typeface="Cambria Math" charset="0"/>
                                  <a:ea typeface="Cambria Math" charset="0"/>
                                  <a:cs typeface="Cambria Math" charset="0"/>
                                </a:rPr>
                                <m:t>&amp;</m:t>
                              </m:r>
                              <m:r>
                                <a:rPr lang="en-US" sz="3200" i="1">
                                  <a:latin typeface="Cambria Math" charset="0"/>
                                  <a:ea typeface="Cambria Math" charset="0"/>
                                  <a:cs typeface="Cambria Math" charset="0"/>
                                </a:rPr>
                                <m:t>𝑧</m:t>
                              </m:r>
                              <m:r>
                                <a:rPr lang="mr-IN" sz="3200" i="1">
                                  <a:latin typeface="Cambria Math" charset="0"/>
                                  <a:ea typeface="Cambria Math" charset="0"/>
                                  <a:cs typeface="Cambria Math" charset="0"/>
                                </a:rPr>
                                <m:t>,  </m:t>
                              </m:r>
                              <m:r>
                                <a:rPr lang="en-US" sz="3200" i="1">
                                  <a:latin typeface="Cambria Math" charset="0"/>
                                  <a:ea typeface="Cambria Math" charset="0"/>
                                  <a:cs typeface="Cambria Math" charset="0"/>
                                </a:rPr>
                                <m:t>𝑧</m:t>
                              </m:r>
                              <m:r>
                                <a:rPr lang="mr-IN" sz="3200" i="1">
                                  <a:latin typeface="Cambria Math" charset="0"/>
                                  <a:ea typeface="Cambria Math" charset="0"/>
                                  <a:cs typeface="Cambria Math" charset="0"/>
                                </a:rPr>
                                <m:t>≥0</m:t>
                              </m:r>
                            </m:e>
                          </m:eqArr>
                        </m:e>
                      </m:d>
                    </m:oMath>
                  </m:oMathPara>
                </a14:m>
                <a:endParaRPr lang="en-US"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6490175" y="619910"/>
                <a:ext cx="4567276" cy="1098506"/>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8271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Leaky </a:t>
            </a:r>
            <a:r>
              <a:rPr lang="en-US" dirty="0" err="1" smtClean="0"/>
              <a:t>ReLU</a:t>
            </a:r>
            <a:endParaRPr lang="en-US" dirty="0"/>
          </a:p>
        </p:txBody>
      </p:sp>
      <mc:AlternateContent xmlns:mc="http://schemas.openxmlformats.org/markup-compatibility/2006" xmlns:a14="http://schemas.microsoft.com/office/drawing/2010/main">
        <mc:Choice Requires="a14">
          <p:sp>
            <p:nvSpPr>
              <p:cNvPr id="3" name="TextBox 2"/>
              <p:cNvSpPr txBox="1"/>
              <p:nvPr/>
            </p:nvSpPr>
            <p:spPr>
              <a:xfrm>
                <a:off x="2662570" y="1600200"/>
                <a:ext cx="6885539" cy="1510350"/>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sz="4400" b="0" i="1" smtClean="0">
                          <a:latin typeface="Cambria Math" charset="0"/>
                          <a:ea typeface="Cambria Math" charset="0"/>
                          <a:cs typeface="Cambria Math" charset="0"/>
                        </a:rPr>
                        <m:t>𝐿𝑅𝑒𝐿𝑈</m:t>
                      </m:r>
                      <m:d>
                        <m:dPr>
                          <m:ctrlPr>
                            <a:rPr lang="en-US" sz="4400" b="0" i="1" smtClean="0">
                              <a:latin typeface="Cambria Math" panose="02040503050406030204" pitchFamily="18" charset="0"/>
                              <a:ea typeface="Cambria Math" charset="0"/>
                              <a:cs typeface="Cambria Math" charset="0"/>
                            </a:rPr>
                          </m:ctrlPr>
                        </m:dPr>
                        <m:e>
                          <m:r>
                            <a:rPr lang="en-US" sz="4400" b="0" i="1" smtClean="0">
                              <a:latin typeface="Cambria Math" charset="0"/>
                              <a:ea typeface="Cambria Math" charset="0"/>
                              <a:cs typeface="Cambria Math" charset="0"/>
                            </a:rPr>
                            <m:t>𝑧</m:t>
                          </m:r>
                        </m:e>
                      </m:d>
                      <m:r>
                        <a:rPr lang="en-US" sz="4400" b="0" i="1" smtClean="0">
                          <a:latin typeface="Cambria Math" charset="0"/>
                          <a:ea typeface="Cambria Math" charset="0"/>
                          <a:cs typeface="Cambria Math" charset="0"/>
                        </a:rPr>
                        <m:t>=</m:t>
                      </m:r>
                      <m:d>
                        <m:dPr>
                          <m:begChr m:val="{"/>
                          <m:endChr m:val=""/>
                          <m:ctrlPr>
                            <a:rPr lang="mr-IN" sz="4400" i="1">
                              <a:latin typeface="Cambria Math" panose="02040503050406030204" pitchFamily="18" charset="0"/>
                              <a:ea typeface="Cambria Math" charset="0"/>
                              <a:cs typeface="Cambria Math" charset="0"/>
                            </a:rPr>
                          </m:ctrlPr>
                        </m:dPr>
                        <m:e>
                          <m:eqArr>
                            <m:eqArrPr>
                              <m:ctrlPr>
                                <a:rPr lang="mr-IN" sz="4400" i="1">
                                  <a:latin typeface="Cambria Math" panose="02040503050406030204" pitchFamily="18" charset="0"/>
                                  <a:ea typeface="Cambria Math" charset="0"/>
                                  <a:cs typeface="Cambria Math" charset="0"/>
                                </a:rPr>
                              </m:ctrlPr>
                            </m:eqArrPr>
                            <m:e>
                              <m:r>
                                <a:rPr lang="en-US" sz="4400" b="0" i="1" smtClean="0">
                                  <a:latin typeface="Cambria Math" charset="0"/>
                                  <a:ea typeface="Cambria Math" charset="0"/>
                                  <a:cs typeface="Cambria Math" charset="0"/>
                                </a:rPr>
                                <m:t>𝛼</m:t>
                              </m:r>
                              <m:r>
                                <a:rPr lang="en-US" sz="4400" b="0" i="1" smtClean="0">
                                  <a:latin typeface="Cambria Math" charset="0"/>
                                  <a:ea typeface="Cambria Math" charset="0"/>
                                  <a:cs typeface="Cambria Math" charset="0"/>
                                </a:rPr>
                                <m:t>𝑧</m:t>
                              </m:r>
                              <m:r>
                                <a:rPr lang="mr-IN" sz="4400" i="1">
                                  <a:latin typeface="Cambria Math" charset="0"/>
                                  <a:ea typeface="Cambria Math" charset="0"/>
                                  <a:cs typeface="Cambria Math" charset="0"/>
                                </a:rPr>
                                <m:t>,  </m:t>
                              </m:r>
                              <m:r>
                                <a:rPr lang="en-US" sz="4400" i="1">
                                  <a:latin typeface="Cambria Math" charset="0"/>
                                  <a:ea typeface="Cambria Math" charset="0"/>
                                  <a:cs typeface="Cambria Math" charset="0"/>
                                </a:rPr>
                                <m:t>𝑧</m:t>
                              </m:r>
                              <m:r>
                                <a:rPr lang="mr-IN" sz="4400" i="1">
                                  <a:latin typeface="Cambria Math" charset="0"/>
                                  <a:ea typeface="Cambria Math" charset="0"/>
                                  <a:cs typeface="Cambria Math" charset="0"/>
                                </a:rPr>
                                <m:t>&lt;0</m:t>
                              </m:r>
                            </m:e>
                            <m:e>
                              <m:r>
                                <a:rPr lang="mr-IN" sz="4400" i="1">
                                  <a:latin typeface="Cambria Math" charset="0"/>
                                  <a:ea typeface="Cambria Math" charset="0"/>
                                  <a:cs typeface="Cambria Math" charset="0"/>
                                </a:rPr>
                                <m:t>&amp;</m:t>
                              </m:r>
                              <m:r>
                                <a:rPr lang="en-US" sz="4400" i="1">
                                  <a:latin typeface="Cambria Math" charset="0"/>
                                  <a:ea typeface="Cambria Math" charset="0"/>
                                  <a:cs typeface="Cambria Math" charset="0"/>
                                </a:rPr>
                                <m:t>𝑧</m:t>
                              </m:r>
                              <m:r>
                                <a:rPr lang="mr-IN" sz="4400" i="1">
                                  <a:latin typeface="Cambria Math" charset="0"/>
                                  <a:ea typeface="Cambria Math" charset="0"/>
                                  <a:cs typeface="Cambria Math" charset="0"/>
                                </a:rPr>
                                <m:t>,  </m:t>
                              </m:r>
                              <m:r>
                                <a:rPr lang="en-US" sz="4400" i="1">
                                  <a:latin typeface="Cambria Math" charset="0"/>
                                  <a:ea typeface="Cambria Math" charset="0"/>
                                  <a:cs typeface="Cambria Math" charset="0"/>
                                </a:rPr>
                                <m:t>𝑧</m:t>
                              </m:r>
                              <m:r>
                                <a:rPr lang="mr-IN" sz="4400" i="1">
                                  <a:latin typeface="Cambria Math" charset="0"/>
                                  <a:ea typeface="Cambria Math" charset="0"/>
                                  <a:cs typeface="Cambria Math" charset="0"/>
                                </a:rPr>
                                <m:t>≥0</m:t>
                              </m:r>
                            </m:e>
                          </m:eqArr>
                        </m:e>
                      </m:d>
                    </m:oMath>
                  </m:oMathPara>
                </a14:m>
                <a:endParaRPr lang="en-US" sz="4400" dirty="0"/>
              </a:p>
            </p:txBody>
          </p:sp>
        </mc:Choice>
        <mc:Fallback xmlns="">
          <p:sp>
            <p:nvSpPr>
              <p:cNvPr id="3" name="TextBox 2"/>
              <p:cNvSpPr txBox="1">
                <a:spLocks noRot="1" noChangeAspect="1" noMove="1" noResize="1" noEditPoints="1" noAdjustHandles="1" noChangeArrowheads="1" noChangeShapeType="1" noTextEdit="1"/>
              </p:cNvSpPr>
              <p:nvPr/>
            </p:nvSpPr>
            <p:spPr>
              <a:xfrm>
                <a:off x="2662570" y="1600200"/>
                <a:ext cx="6885539" cy="151035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888846" y="4267200"/>
                <a:ext cx="7777566" cy="2215991"/>
              </a:xfrm>
              <a:prstGeom prst="rect">
                <a:avLst/>
              </a:prstGeom>
              <a:noFill/>
            </p:spPr>
            <p:txBody>
              <a:bodyPr wrap="square" rtlCol="0">
                <a:spAutoFit/>
              </a:bodyPr>
              <a:lstStyle/>
              <a:p>
                <a:pPr marL="285750" indent="-285750">
                  <a:buFont typeface="Arial" charset="0"/>
                  <a:buChar char="•"/>
                </a:pPr>
                <a:r>
                  <a:rPr lang="en-US" sz="2400" dirty="0" smtClean="0"/>
                  <a:t>Value at  </a:t>
                </a:r>
                <a14:m>
                  <m:oMath xmlns:m="http://schemas.openxmlformats.org/officeDocument/2006/math">
                    <m:r>
                      <a:rPr lang="en-US" sz="3200" b="0" i="1" smtClean="0">
                        <a:latin typeface="Cambria Math" charset="0"/>
                      </a:rPr>
                      <m:t>𝑧</m:t>
                    </m:r>
                    <m:r>
                      <a:rPr lang="en-US" sz="3200" b="0" i="1" smtClean="0">
                        <a:latin typeface="Cambria Math" charset="0"/>
                      </a:rPr>
                      <m:t>≪0?</m:t>
                    </m:r>
                  </m:oMath>
                </a14:m>
                <a:endParaRPr lang="en-US" dirty="0" smtClean="0"/>
              </a:p>
              <a:p>
                <a:pPr marL="285750" indent="-285750">
                  <a:buFont typeface="Arial" charset="0"/>
                  <a:buChar char="•"/>
                </a:pPr>
                <a:r>
                  <a:rPr lang="en-US" sz="2400" dirty="0"/>
                  <a:t>Value at  </a:t>
                </a:r>
                <a14:m>
                  <m:oMath xmlns:m="http://schemas.openxmlformats.org/officeDocument/2006/math">
                    <m:r>
                      <a:rPr lang="en-US" sz="3200" i="1" smtClean="0">
                        <a:latin typeface="Cambria Math" charset="0"/>
                      </a:rPr>
                      <m:t>𝑧</m:t>
                    </m:r>
                    <m:r>
                      <a:rPr lang="en-US" sz="3200" b="0" i="1" smtClean="0">
                        <a:latin typeface="Cambria Math" charset="0"/>
                      </a:rPr>
                      <m:t>=</m:t>
                    </m:r>
                    <m:r>
                      <a:rPr lang="en-US" sz="3200" i="1">
                        <a:latin typeface="Cambria Math" charset="0"/>
                      </a:rPr>
                      <m:t>0?</m:t>
                    </m:r>
                  </m:oMath>
                </a14:m>
                <a:endParaRPr lang="en-US" sz="2400" dirty="0"/>
              </a:p>
              <a:p>
                <a:pPr marL="285750" indent="-285750">
                  <a:buFont typeface="Arial" charset="0"/>
                  <a:buChar char="•"/>
                </a:pPr>
                <a:r>
                  <a:rPr lang="en-US" sz="2400" dirty="0"/>
                  <a:t>Value at  </a:t>
                </a:r>
                <a14:m>
                  <m:oMath xmlns:m="http://schemas.openxmlformats.org/officeDocument/2006/math">
                    <m:r>
                      <a:rPr lang="en-US" sz="3200" i="1">
                        <a:latin typeface="Cambria Math" charset="0"/>
                      </a:rPr>
                      <m:t>𝑧</m:t>
                    </m:r>
                    <m:r>
                      <a:rPr lang="en-US" sz="3200" b="0" i="1" smtClean="0">
                        <a:latin typeface="Cambria Math" charset="0"/>
                      </a:rPr>
                      <m:t>≫</m:t>
                    </m:r>
                    <m:r>
                      <a:rPr lang="en-US" sz="3200" i="1">
                        <a:latin typeface="Cambria Math" charset="0"/>
                      </a:rPr>
                      <m:t>0?</m:t>
                    </m:r>
                  </m:oMath>
                </a14:m>
                <a:endParaRPr lang="en-US" sz="3200" dirty="0" smtClean="0"/>
              </a:p>
              <a:p>
                <a:pPr marL="285750" indent="-285750">
                  <a:buFont typeface="Arial" charset="0"/>
                  <a:buChar char="•"/>
                </a:pPr>
                <a:endParaRPr lang="en-US" sz="2400" dirty="0" smtClean="0"/>
              </a:p>
              <a:p>
                <a:pPr marL="285750" indent="-285750">
                  <a:buFont typeface="Arial" charset="0"/>
                  <a:buChar char="•"/>
                </a:pPr>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2888846" y="4267200"/>
                <a:ext cx="7777566" cy="2215991"/>
              </a:xfrm>
              <a:prstGeom prst="rect">
                <a:avLst/>
              </a:prstGeom>
              <a:blipFill rotWithShape="0">
                <a:blip r:embed="rId4"/>
                <a:stretch>
                  <a:fillRect l="-10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089246" y="4270917"/>
                <a:ext cx="6092825" cy="1569660"/>
              </a:xfrm>
              <a:prstGeom prst="rect">
                <a:avLst/>
              </a:prstGeom>
            </p:spPr>
            <p:txBody>
              <a:bodyPr>
                <a:spAutoFit/>
              </a:bodyPr>
              <a:lstStyle/>
              <a:p>
                <a:pPr/>
                <a14:m>
                  <m:oMathPara xmlns:m="http://schemas.openxmlformats.org/officeDocument/2006/math">
                    <m:oMathParaPr>
                      <m:jc m:val="left"/>
                    </m:oMathParaPr>
                    <m:oMath xmlns:m="http://schemas.openxmlformats.org/officeDocument/2006/math">
                      <m:r>
                        <a:rPr lang="en-US" sz="3200" b="0" i="1" smtClean="0">
                          <a:solidFill>
                            <a:srgbClr val="FF0000"/>
                          </a:solidFill>
                          <a:latin typeface="Cambria Math" charset="0"/>
                          <a:ea typeface="Cambria Math" charset="0"/>
                          <a:cs typeface="Cambria Math" charset="0"/>
                        </a:rPr>
                        <m:t>=</m:t>
                      </m:r>
                      <m:r>
                        <a:rPr lang="en-US" sz="3200" b="0" i="1" smtClean="0">
                          <a:solidFill>
                            <a:srgbClr val="FF0000"/>
                          </a:solidFill>
                          <a:latin typeface="Cambria Math" charset="0"/>
                          <a:ea typeface="Cambria Math" charset="0"/>
                          <a:cs typeface="Cambria Math" charset="0"/>
                        </a:rPr>
                        <m:t>𝛼</m:t>
                      </m:r>
                      <m:r>
                        <a:rPr lang="en-US" sz="3200" b="0" i="1" smtClean="0">
                          <a:solidFill>
                            <a:srgbClr val="FF0000"/>
                          </a:solidFill>
                          <a:latin typeface="Cambria Math" charset="0"/>
                          <a:ea typeface="Cambria Math" charset="0"/>
                          <a:cs typeface="Cambria Math" charset="0"/>
                        </a:rPr>
                        <m:t>𝑧</m:t>
                      </m:r>
                    </m:oMath>
                  </m:oMathPara>
                </a14:m>
                <a:endParaRPr lang="en-US" sz="2400" dirty="0">
                  <a:solidFill>
                    <a:srgbClr val="FF0000"/>
                  </a:solidFill>
                </a:endParaRPr>
              </a:p>
              <a:p>
                <a:pPr/>
                <a14:m>
                  <m:oMathPara xmlns:m="http://schemas.openxmlformats.org/officeDocument/2006/math">
                    <m:oMathParaPr>
                      <m:jc m:val="left"/>
                    </m:oMathParaPr>
                    <m:oMath xmlns:m="http://schemas.openxmlformats.org/officeDocument/2006/math">
                      <m:r>
                        <a:rPr lang="en-US" sz="3200" i="1" smtClean="0">
                          <a:solidFill>
                            <a:srgbClr val="FF0000"/>
                          </a:solidFill>
                          <a:latin typeface="Cambria Math" charset="0"/>
                          <a:ea typeface="Cambria Math" charset="0"/>
                          <a:cs typeface="Cambria Math" charset="0"/>
                        </a:rPr>
                        <m:t>=</m:t>
                      </m:r>
                      <m:r>
                        <a:rPr lang="en-US" sz="3200" i="1">
                          <a:solidFill>
                            <a:srgbClr val="FF0000"/>
                          </a:solidFill>
                          <a:latin typeface="Cambria Math" charset="0"/>
                        </a:rPr>
                        <m:t>0</m:t>
                      </m:r>
                      <m:r>
                        <a:rPr lang="en-US" sz="3200" b="0" i="1" smtClean="0">
                          <a:solidFill>
                            <a:srgbClr val="FF0000"/>
                          </a:solidFill>
                          <a:latin typeface="Cambria Math" charset="0"/>
                        </a:rPr>
                        <m:t>.</m:t>
                      </m:r>
                    </m:oMath>
                  </m:oMathPara>
                </a14:m>
                <a:endParaRPr lang="en-US" sz="3200" dirty="0">
                  <a:solidFill>
                    <a:srgbClr val="FF0000"/>
                  </a:solidFill>
                </a:endParaRPr>
              </a:p>
              <a:p>
                <a:pPr/>
                <a14:m>
                  <m:oMathPara xmlns:m="http://schemas.openxmlformats.org/officeDocument/2006/math">
                    <m:oMathParaPr>
                      <m:jc m:val="left"/>
                    </m:oMathParaPr>
                    <m:oMath xmlns:m="http://schemas.openxmlformats.org/officeDocument/2006/math">
                      <m:r>
                        <a:rPr lang="en-US" sz="3200" i="1" smtClean="0">
                          <a:solidFill>
                            <a:srgbClr val="FF0000"/>
                          </a:solidFill>
                          <a:latin typeface="Cambria Math" charset="0"/>
                          <a:ea typeface="Cambria Math" charset="0"/>
                          <a:cs typeface="Cambria Math" charset="0"/>
                        </a:rPr>
                        <m:t>=</m:t>
                      </m:r>
                      <m:r>
                        <a:rPr lang="en-US" sz="3200" b="0" i="1" smtClean="0">
                          <a:solidFill>
                            <a:srgbClr val="FF0000"/>
                          </a:solidFill>
                          <a:latin typeface="Cambria Math" charset="0"/>
                          <a:ea typeface="Cambria Math" charset="0"/>
                          <a:cs typeface="Cambria Math" charset="0"/>
                        </a:rPr>
                        <m:t>𝑧</m:t>
                      </m:r>
                    </m:oMath>
                  </m:oMathPara>
                </a14:m>
                <a:endParaRPr lang="en-US" sz="24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6089246" y="4270917"/>
                <a:ext cx="6092825" cy="156966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4951412" y="3201682"/>
                <a:ext cx="3644909" cy="7694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4400" i="1" smtClean="0">
                              <a:latin typeface="Cambria Math" panose="02040503050406030204" pitchFamily="18" charset="0"/>
                              <a:ea typeface="Cambria Math" charset="0"/>
                              <a:cs typeface="Cambria Math" charset="0"/>
                            </a:rPr>
                          </m:ctrlPr>
                        </m:funcPr>
                        <m:fName>
                          <m:r>
                            <a:rPr lang="en-US" sz="4400" b="0" i="0" smtClean="0">
                              <a:latin typeface="Cambria Math" charset="0"/>
                              <a:ea typeface="Cambria Math" charset="0"/>
                              <a:cs typeface="Cambria Math" charset="0"/>
                            </a:rPr>
                            <m:t>=</m:t>
                          </m:r>
                          <m:r>
                            <m:rPr>
                              <m:sty m:val="p"/>
                            </m:rPr>
                            <a:rPr lang="en-US" sz="4400">
                              <a:latin typeface="Cambria Math" charset="0"/>
                              <a:ea typeface="Cambria Math" charset="0"/>
                              <a:cs typeface="Cambria Math" charset="0"/>
                            </a:rPr>
                            <m:t>max</m:t>
                          </m:r>
                        </m:fName>
                        <m:e>
                          <m:d>
                            <m:dPr>
                              <m:ctrlPr>
                                <a:rPr lang="en-US" sz="4400" i="1">
                                  <a:latin typeface="Cambria Math" panose="02040503050406030204" pitchFamily="18" charset="0"/>
                                  <a:ea typeface="Cambria Math" charset="0"/>
                                  <a:cs typeface="Cambria Math" charset="0"/>
                                </a:rPr>
                              </m:ctrlPr>
                            </m:dPr>
                            <m:e>
                              <m:r>
                                <a:rPr lang="en-US" sz="4400" b="0" i="1" smtClean="0">
                                  <a:latin typeface="Cambria Math" charset="0"/>
                                  <a:ea typeface="Cambria Math" charset="0"/>
                                  <a:cs typeface="Cambria Math" charset="0"/>
                                </a:rPr>
                                <m:t>𝛼</m:t>
                              </m:r>
                              <m:r>
                                <a:rPr lang="en-US" sz="4400" b="0" i="1" smtClean="0">
                                  <a:latin typeface="Cambria Math" charset="0"/>
                                  <a:ea typeface="Cambria Math" charset="0"/>
                                  <a:cs typeface="Cambria Math" charset="0"/>
                                </a:rPr>
                                <m:t>𝑧</m:t>
                              </m:r>
                              <m:r>
                                <a:rPr lang="en-US" sz="4400" i="1">
                                  <a:latin typeface="Cambria Math" charset="0"/>
                                  <a:ea typeface="Cambria Math" charset="0"/>
                                  <a:cs typeface="Cambria Math" charset="0"/>
                                </a:rPr>
                                <m:t>, </m:t>
                              </m:r>
                              <m:r>
                                <a:rPr lang="en-US" sz="4400" i="1">
                                  <a:latin typeface="Cambria Math" charset="0"/>
                                  <a:ea typeface="Cambria Math" charset="0"/>
                                  <a:cs typeface="Cambria Math" charset="0"/>
                                </a:rPr>
                                <m:t>𝑧</m:t>
                              </m:r>
                            </m:e>
                          </m:d>
                        </m:e>
                      </m:func>
                    </m:oMath>
                  </m:oMathPara>
                </a14:m>
                <a:endParaRPr lang="en-US" sz="4400" dirty="0"/>
              </a:p>
            </p:txBody>
          </p:sp>
        </mc:Choice>
        <mc:Fallback xmlns="">
          <p:sp>
            <p:nvSpPr>
              <p:cNvPr id="4" name="Rectangle 3"/>
              <p:cNvSpPr>
                <a:spLocks noRot="1" noChangeAspect="1" noMove="1" noResize="1" noEditPoints="1" noAdjustHandles="1" noChangeArrowheads="1" noChangeShapeType="1" noTextEdit="1"/>
              </p:cNvSpPr>
              <p:nvPr/>
            </p:nvSpPr>
            <p:spPr>
              <a:xfrm>
                <a:off x="4951412" y="3201682"/>
                <a:ext cx="3644909" cy="769441"/>
              </a:xfrm>
              <a:prstGeom prst="rect">
                <a:avLst/>
              </a:prstGeom>
              <a:blipFill rotWithShape="0">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777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Leaky </a:t>
            </a:r>
            <a:r>
              <a:rPr lang="en-US" dirty="0" err="1" smtClean="0"/>
              <a:t>ReLU</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7998" y="1704723"/>
            <a:ext cx="9029427" cy="4642248"/>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6010391" y="619910"/>
                <a:ext cx="5010282" cy="109850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𝐿</m:t>
                      </m:r>
                      <m:r>
                        <a:rPr lang="en-US" sz="3200" i="1">
                          <a:latin typeface="Cambria Math" charset="0"/>
                          <a:ea typeface="Cambria Math" charset="0"/>
                          <a:cs typeface="Cambria Math" charset="0"/>
                        </a:rPr>
                        <m:t>𝑅𝑒𝐿𝑈</m:t>
                      </m:r>
                      <m:d>
                        <m:dPr>
                          <m:ctrlPr>
                            <a:rPr lang="en-US" sz="3200" i="1">
                              <a:latin typeface="Cambria Math" panose="02040503050406030204" pitchFamily="18" charset="0"/>
                              <a:ea typeface="Cambria Math" charset="0"/>
                              <a:cs typeface="Cambria Math" charset="0"/>
                            </a:rPr>
                          </m:ctrlPr>
                        </m:dPr>
                        <m:e>
                          <m:r>
                            <a:rPr lang="en-US" sz="3200" i="1">
                              <a:latin typeface="Cambria Math" charset="0"/>
                              <a:ea typeface="Cambria Math" charset="0"/>
                              <a:cs typeface="Cambria Math" charset="0"/>
                            </a:rPr>
                            <m:t>𝑧</m:t>
                          </m:r>
                        </m:e>
                      </m:d>
                      <m:r>
                        <a:rPr lang="en-US" sz="3200" i="1">
                          <a:latin typeface="Cambria Math" charset="0"/>
                          <a:ea typeface="Cambria Math" charset="0"/>
                          <a:cs typeface="Cambria Math" charset="0"/>
                        </a:rPr>
                        <m:t>=</m:t>
                      </m:r>
                      <m:d>
                        <m:dPr>
                          <m:begChr m:val="{"/>
                          <m:endChr m:val=""/>
                          <m:ctrlPr>
                            <a:rPr lang="mr-IN" sz="3200" i="1">
                              <a:latin typeface="Cambria Math" panose="02040503050406030204" pitchFamily="18" charset="0"/>
                              <a:ea typeface="Cambria Math" charset="0"/>
                              <a:cs typeface="Cambria Math" charset="0"/>
                            </a:rPr>
                          </m:ctrlPr>
                        </m:dPr>
                        <m:e>
                          <m:eqArr>
                            <m:eqArrPr>
                              <m:ctrlPr>
                                <a:rPr lang="mr-IN" sz="3200" i="1">
                                  <a:latin typeface="Cambria Math" panose="02040503050406030204" pitchFamily="18" charset="0"/>
                                  <a:ea typeface="Cambria Math" charset="0"/>
                                  <a:cs typeface="Cambria Math" charset="0"/>
                                </a:rPr>
                              </m:ctrlPr>
                            </m:eqArrPr>
                            <m:e>
                              <m:r>
                                <a:rPr lang="en-US" sz="3200" b="0" i="1" smtClean="0">
                                  <a:latin typeface="Cambria Math" charset="0"/>
                                  <a:ea typeface="Cambria Math" charset="0"/>
                                  <a:cs typeface="Cambria Math" charset="0"/>
                                </a:rPr>
                                <m:t>𝛼</m:t>
                              </m:r>
                              <m:r>
                                <a:rPr lang="en-US" sz="3200" b="0" i="1" smtClean="0">
                                  <a:latin typeface="Cambria Math" charset="0"/>
                                  <a:ea typeface="Cambria Math" charset="0"/>
                                  <a:cs typeface="Cambria Math" charset="0"/>
                                </a:rPr>
                                <m:t>𝑧</m:t>
                              </m:r>
                              <m:r>
                                <a:rPr lang="mr-IN" sz="3200" i="1">
                                  <a:latin typeface="Cambria Math" charset="0"/>
                                  <a:ea typeface="Cambria Math" charset="0"/>
                                  <a:cs typeface="Cambria Math" charset="0"/>
                                </a:rPr>
                                <m:t>,  </m:t>
                              </m:r>
                              <m:r>
                                <a:rPr lang="en-US" sz="3200" i="1">
                                  <a:latin typeface="Cambria Math" charset="0"/>
                                  <a:ea typeface="Cambria Math" charset="0"/>
                                  <a:cs typeface="Cambria Math" charset="0"/>
                                </a:rPr>
                                <m:t>𝑧</m:t>
                              </m:r>
                              <m:r>
                                <a:rPr lang="mr-IN" sz="3200" i="1">
                                  <a:latin typeface="Cambria Math" charset="0"/>
                                  <a:ea typeface="Cambria Math" charset="0"/>
                                  <a:cs typeface="Cambria Math" charset="0"/>
                                </a:rPr>
                                <m:t>&lt;0</m:t>
                              </m:r>
                            </m:e>
                            <m:e>
                              <m:r>
                                <a:rPr lang="mr-IN" sz="3200" i="1">
                                  <a:latin typeface="Cambria Math" charset="0"/>
                                  <a:ea typeface="Cambria Math" charset="0"/>
                                  <a:cs typeface="Cambria Math" charset="0"/>
                                </a:rPr>
                                <m:t>&amp;</m:t>
                              </m:r>
                              <m:r>
                                <a:rPr lang="en-US" sz="3200" i="1">
                                  <a:latin typeface="Cambria Math" charset="0"/>
                                  <a:ea typeface="Cambria Math" charset="0"/>
                                  <a:cs typeface="Cambria Math" charset="0"/>
                                </a:rPr>
                                <m:t>𝑧</m:t>
                              </m:r>
                              <m:r>
                                <a:rPr lang="mr-IN" sz="3200" i="1">
                                  <a:latin typeface="Cambria Math" charset="0"/>
                                  <a:ea typeface="Cambria Math" charset="0"/>
                                  <a:cs typeface="Cambria Math" charset="0"/>
                                </a:rPr>
                                <m:t>,  </m:t>
                              </m:r>
                              <m:r>
                                <a:rPr lang="en-US" sz="3200" i="1">
                                  <a:latin typeface="Cambria Math" charset="0"/>
                                  <a:ea typeface="Cambria Math" charset="0"/>
                                  <a:cs typeface="Cambria Math" charset="0"/>
                                </a:rPr>
                                <m:t>𝑧</m:t>
                              </m:r>
                              <m:r>
                                <a:rPr lang="mr-IN" sz="3200" i="1">
                                  <a:latin typeface="Cambria Math" charset="0"/>
                                  <a:ea typeface="Cambria Math" charset="0"/>
                                  <a:cs typeface="Cambria Math" charset="0"/>
                                </a:rPr>
                                <m:t>≥0</m:t>
                              </m:r>
                            </m:e>
                          </m:eqArr>
                        </m:e>
                      </m:d>
                    </m:oMath>
                  </m:oMathPara>
                </a14:m>
                <a:endParaRPr lang="en-US" sz="3200" dirty="0"/>
              </a:p>
            </p:txBody>
          </p:sp>
        </mc:Choice>
        <mc:Fallback xmlns="">
          <p:sp>
            <p:nvSpPr>
              <p:cNvPr id="5" name="TextBox 4"/>
              <p:cNvSpPr txBox="1">
                <a:spLocks noRot="1" noChangeAspect="1" noMove="1" noResize="1" noEditPoints="1" noAdjustHandles="1" noChangeArrowheads="1" noChangeShapeType="1" noTextEdit="1"/>
              </p:cNvSpPr>
              <p:nvPr/>
            </p:nvSpPr>
            <p:spPr>
              <a:xfrm>
                <a:off x="6010391" y="619910"/>
                <a:ext cx="5010282" cy="1098506"/>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31661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Dropout</a:t>
            </a:r>
            <a:endParaRPr lang="en-US" dirty="0"/>
          </a:p>
        </p:txBody>
      </p:sp>
      <p:sp>
        <p:nvSpPr>
          <p:cNvPr id="3" name="Text Placeholder 2"/>
          <p:cNvSpPr>
            <a:spLocks noGrp="1"/>
          </p:cNvSpPr>
          <p:nvPr>
            <p:ph type="body" idx="1"/>
          </p:nvPr>
        </p:nvSpPr>
        <p:spPr>
          <a:xfrm>
            <a:off x="989011" y="4259996"/>
            <a:ext cx="11430001" cy="1150203"/>
          </a:xfrm>
        </p:spPr>
        <p:txBody>
          <a:bodyPr>
            <a:normAutofit/>
          </a:bodyPr>
          <a:lstStyle/>
          <a:p>
            <a:r>
              <a:rPr lang="en-US" sz="2400" dirty="0"/>
              <a:t>Srivastava, Hinton, </a:t>
            </a:r>
            <a:r>
              <a:rPr lang="en-US" sz="2400" dirty="0" err="1"/>
              <a:t>Krizhevsky</a:t>
            </a:r>
            <a:r>
              <a:rPr lang="en-US" sz="2400" dirty="0"/>
              <a:t>, </a:t>
            </a:r>
            <a:r>
              <a:rPr lang="en-US" sz="2400" dirty="0" err="1"/>
              <a:t>Sutskever</a:t>
            </a:r>
            <a:r>
              <a:rPr lang="en-US" sz="2400" dirty="0"/>
              <a:t> and </a:t>
            </a:r>
            <a:r>
              <a:rPr lang="en-US" sz="2400" dirty="0" err="1" smtClean="0"/>
              <a:t>Salakhutdinov</a:t>
            </a:r>
            <a:r>
              <a:rPr lang="en-US" sz="2400" dirty="0" smtClean="0"/>
              <a:t>, 2014</a:t>
            </a:r>
            <a:endParaRPr lang="en-US" sz="2400" dirty="0"/>
          </a:p>
        </p:txBody>
      </p:sp>
    </p:spTree>
    <p:extLst>
      <p:ext uri="{BB962C8B-B14F-4D97-AF65-F5344CB8AC3E}">
        <p14:creationId xmlns:p14="http://schemas.microsoft.com/office/powerpoint/2010/main" val="7721462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Dropout overview</a:t>
            </a:r>
            <a:endParaRPr lang="en-US" dirty="0"/>
          </a:p>
        </p:txBody>
      </p:sp>
      <p:sp>
        <p:nvSpPr>
          <p:cNvPr id="3" name="Content Placeholder 2"/>
          <p:cNvSpPr>
            <a:spLocks noGrp="1"/>
          </p:cNvSpPr>
          <p:nvPr>
            <p:ph idx="1"/>
          </p:nvPr>
        </p:nvSpPr>
        <p:spPr/>
        <p:txBody>
          <a:bodyPr>
            <a:normAutofit lnSpcReduction="10000"/>
          </a:bodyPr>
          <a:lstStyle/>
          <a:p>
            <a:r>
              <a:rPr lang="en-US" dirty="0" smtClean="0"/>
              <a:t>Neural networks can represent extremely complex data</a:t>
            </a:r>
          </a:p>
          <a:p>
            <a:pPr marL="457200" indent="-457200">
              <a:buFont typeface="Arial" charset="0"/>
              <a:buChar char="•"/>
            </a:pPr>
            <a:r>
              <a:rPr lang="en-US" dirty="0" smtClean="0"/>
              <a:t>Very large number of parameters allows NNs to memorize a dataset</a:t>
            </a:r>
          </a:p>
          <a:p>
            <a:endParaRPr lang="en-US" dirty="0" smtClean="0"/>
          </a:p>
          <a:p>
            <a:r>
              <a:rPr lang="en-US" dirty="0" smtClean="0"/>
              <a:t/>
            </a:r>
            <a:br>
              <a:rPr lang="en-US" dirty="0" smtClean="0"/>
            </a:br>
            <a:r>
              <a:rPr lang="en-US" dirty="0" smtClean="0"/>
              <a:t>We want to </a:t>
            </a:r>
            <a:r>
              <a:rPr lang="en-US" i="1" dirty="0" smtClean="0"/>
              <a:t>regularize </a:t>
            </a:r>
            <a:r>
              <a:rPr lang="en-US" dirty="0" smtClean="0"/>
              <a:t>(smooth) their solution</a:t>
            </a:r>
          </a:p>
          <a:p>
            <a:pPr marL="457200" indent="-457200">
              <a:buFont typeface="Arial" charset="0"/>
              <a:buChar char="•"/>
            </a:pPr>
            <a:r>
              <a:rPr lang="en-US" dirty="0" smtClean="0"/>
              <a:t>Prevent single neurons from dominating</a:t>
            </a:r>
          </a:p>
          <a:p>
            <a:pPr marL="457200" indent="-457200">
              <a:buFont typeface="Arial" charset="0"/>
              <a:buChar char="•"/>
            </a:pPr>
            <a:r>
              <a:rPr lang="en-US" dirty="0" smtClean="0"/>
              <a:t>Require other neurons to be more flexible</a:t>
            </a:r>
          </a:p>
          <a:p>
            <a:pPr marL="457200" indent="-457200">
              <a:buFont typeface="Arial" charset="0"/>
              <a:buChar char="•"/>
            </a:pPr>
            <a:r>
              <a:rPr lang="en-US" dirty="0"/>
              <a:t>R</a:t>
            </a:r>
            <a:r>
              <a:rPr lang="en-US" dirty="0" smtClean="0"/>
              <a:t>andomly zero the output of neurons during training</a:t>
            </a:r>
          </a:p>
          <a:p>
            <a:pPr marL="1069848" lvl="1" indent="-457200"/>
            <a:r>
              <a:rPr lang="en-US" dirty="0" smtClean="0"/>
              <a:t>Other neurons have to adapt</a:t>
            </a:r>
            <a:endParaRPr lang="en-US" dirty="0"/>
          </a:p>
        </p:txBody>
      </p:sp>
    </p:spTree>
    <p:extLst>
      <p:ext uri="{BB962C8B-B14F-4D97-AF65-F5344CB8AC3E}">
        <p14:creationId xmlns:p14="http://schemas.microsoft.com/office/powerpoint/2010/main" val="13491470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Dropout model</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612" y="1600200"/>
            <a:ext cx="9271000" cy="5105400"/>
          </a:xfrm>
          <a:prstGeom prst="rect">
            <a:avLst/>
          </a:prstGeom>
        </p:spPr>
      </p:pic>
    </p:spTree>
    <p:extLst>
      <p:ext uri="{BB962C8B-B14F-4D97-AF65-F5344CB8AC3E}">
        <p14:creationId xmlns:p14="http://schemas.microsoft.com/office/powerpoint/2010/main" val="1629207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Dropout layer</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1592" y="1752600"/>
            <a:ext cx="8726488" cy="4718621"/>
          </a:xfrm>
          <a:prstGeom prst="rect">
            <a:avLst/>
          </a:prstGeom>
        </p:spPr>
      </p:pic>
      <p:cxnSp>
        <p:nvCxnSpPr>
          <p:cNvPr id="5" name="Straight Arrow Connector 4"/>
          <p:cNvCxnSpPr/>
          <p:nvPr/>
        </p:nvCxnSpPr>
        <p:spPr>
          <a:xfrm>
            <a:off x="5942012" y="2438400"/>
            <a:ext cx="1219200" cy="685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5942012" y="2438400"/>
            <a:ext cx="1219200" cy="17526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942012" y="2438400"/>
            <a:ext cx="1219200" cy="30480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332412" y="2040086"/>
            <a:ext cx="980718" cy="461665"/>
          </a:xfrm>
          <a:prstGeom prst="rect">
            <a:avLst/>
          </a:prstGeom>
          <a:noFill/>
        </p:spPr>
        <p:txBody>
          <a:bodyPr wrap="none" rtlCol="0">
            <a:spAutoFit/>
          </a:bodyPr>
          <a:lstStyle/>
          <a:p>
            <a:r>
              <a:rPr lang="en-US" sz="2400" dirty="0" smtClean="0">
                <a:solidFill>
                  <a:srgbClr val="FF0000"/>
                </a:solidFill>
              </a:rPr>
              <a:t>Gates</a:t>
            </a:r>
            <a:endParaRPr lang="en-US" sz="2400" dirty="0">
              <a:solidFill>
                <a:srgbClr val="FF0000"/>
              </a:solidFill>
            </a:endParaRPr>
          </a:p>
        </p:txBody>
      </p:sp>
    </p:spTree>
    <p:extLst>
      <p:ext uri="{BB962C8B-B14F-4D97-AF65-F5344CB8AC3E}">
        <p14:creationId xmlns:p14="http://schemas.microsoft.com/office/powerpoint/2010/main" val="14933309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Knocking out and rescaling neurons</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3436" y="1828800"/>
            <a:ext cx="9450388" cy="2857094"/>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1608036" y="4876800"/>
                <a:ext cx="5400776" cy="830997"/>
              </a:xfrm>
              <a:prstGeom prst="rect">
                <a:avLst/>
              </a:prstGeom>
              <a:noFill/>
            </p:spPr>
            <p:txBody>
              <a:bodyPr wrap="square" rtlCol="0">
                <a:spAutoFit/>
              </a:bodyPr>
              <a:lstStyle/>
              <a:p>
                <a:r>
                  <a:rPr lang="en-US" sz="2400" dirty="0" smtClean="0">
                    <a:solidFill>
                      <a:srgbClr val="FF0000"/>
                    </a:solidFill>
                  </a:rPr>
                  <a:t>During training, we randomly drop each neuron with probability </a:t>
                </a:r>
                <a14:m>
                  <m:oMath xmlns:m="http://schemas.openxmlformats.org/officeDocument/2006/math">
                    <m:r>
                      <a:rPr lang="en-US" sz="2400" b="0" i="0" smtClean="0">
                        <a:solidFill>
                          <a:srgbClr val="FF0000"/>
                        </a:solidFill>
                        <a:latin typeface="Cambria Math" charset="0"/>
                      </a:rPr>
                      <m:t>1−</m:t>
                    </m:r>
                    <m:r>
                      <a:rPr lang="en-US" sz="2400" b="0" i="1" smtClean="0">
                        <a:solidFill>
                          <a:srgbClr val="FF0000"/>
                        </a:solidFill>
                        <a:latin typeface="Cambria Math" charset="0"/>
                      </a:rPr>
                      <m:t>𝑝</m:t>
                    </m:r>
                  </m:oMath>
                </a14:m>
                <a:endParaRPr lang="en-US" sz="2400" dirty="0">
                  <a:solidFill>
                    <a:srgbClr val="FF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608036" y="4876800"/>
                <a:ext cx="5400776" cy="830997"/>
              </a:xfrm>
              <a:prstGeom prst="rect">
                <a:avLst/>
              </a:prstGeom>
              <a:blipFill rotWithShape="0">
                <a:blip r:embed="rId4"/>
                <a:stretch>
                  <a:fillRect l="-1806" t="-5882" r="-226" b="-15441"/>
                </a:stretch>
              </a:blipFill>
            </p:spPr>
            <p:txBody>
              <a:bodyPr/>
              <a:lstStyle/>
              <a:p>
                <a:r>
                  <a:rPr lang="en-US">
                    <a:noFill/>
                  </a:rPr>
                  <a:t> </a:t>
                </a:r>
              </a:p>
            </p:txBody>
          </p:sp>
        </mc:Fallback>
      </mc:AlternateContent>
    </p:spTree>
    <p:extLst>
      <p:ext uri="{BB962C8B-B14F-4D97-AF65-F5344CB8AC3E}">
        <p14:creationId xmlns:p14="http://schemas.microsoft.com/office/powerpoint/2010/main" val="69119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Knocking out and rescaling neurons</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3436" y="1828800"/>
            <a:ext cx="9450388" cy="2857094"/>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6856412" y="4876800"/>
                <a:ext cx="4876800" cy="1200329"/>
              </a:xfrm>
              <a:prstGeom prst="rect">
                <a:avLst/>
              </a:prstGeom>
              <a:noFill/>
            </p:spPr>
            <p:txBody>
              <a:bodyPr wrap="square" rtlCol="0">
                <a:spAutoFit/>
              </a:bodyPr>
              <a:lstStyle/>
              <a:p>
                <a:r>
                  <a:rPr lang="en-US" sz="2400" dirty="0" smtClean="0">
                    <a:solidFill>
                      <a:srgbClr val="FF0000"/>
                    </a:solidFill>
                  </a:rPr>
                  <a:t>When running the model, we scale the outputs of the neuron by </a:t>
                </a:r>
                <a14:m>
                  <m:oMath xmlns:m="http://schemas.openxmlformats.org/officeDocument/2006/math">
                    <m:r>
                      <a:rPr lang="en-US" sz="2400" i="1">
                        <a:solidFill>
                          <a:srgbClr val="FF0000"/>
                        </a:solidFill>
                        <a:latin typeface="Cambria Math" charset="0"/>
                      </a:rPr>
                      <m:t>𝑝</m:t>
                    </m:r>
                  </m:oMath>
                </a14:m>
                <a:endParaRPr lang="en-US" sz="2400" dirty="0">
                  <a:solidFill>
                    <a:srgbClr val="FF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856412" y="4876800"/>
                <a:ext cx="4876800" cy="1200329"/>
              </a:xfrm>
              <a:prstGeom prst="rect">
                <a:avLst/>
              </a:prstGeom>
              <a:blipFill rotWithShape="0">
                <a:blip r:embed="rId3"/>
                <a:stretch>
                  <a:fillRect l="-2000" t="-4061" b="-10152"/>
                </a:stretch>
              </a:blipFill>
            </p:spPr>
            <p:txBody>
              <a:bodyPr/>
              <a:lstStyle/>
              <a:p>
                <a:r>
                  <a:rPr lang="en-US">
                    <a:noFill/>
                  </a:rPr>
                  <a:t> </a:t>
                </a:r>
              </a:p>
            </p:txBody>
          </p:sp>
        </mc:Fallback>
      </mc:AlternateContent>
      <p:cxnSp>
        <p:nvCxnSpPr>
          <p:cNvPr id="7" name="Straight Arrow Connector 6"/>
          <p:cNvCxnSpPr/>
          <p:nvPr/>
        </p:nvCxnSpPr>
        <p:spPr>
          <a:xfrm flipV="1">
            <a:off x="9980612" y="3352800"/>
            <a:ext cx="381000" cy="15240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92961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Knocking out and rescaling neurons</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3436" y="1828800"/>
            <a:ext cx="9450388" cy="2857094"/>
          </a:xfrm>
          <a:prstGeom prst="rect">
            <a:avLst/>
          </a:prstGeom>
        </p:spPr>
      </p:pic>
      <p:sp>
        <p:nvSpPr>
          <p:cNvPr id="4" name="TextBox 3"/>
          <p:cNvSpPr txBox="1"/>
          <p:nvPr/>
        </p:nvSpPr>
        <p:spPr>
          <a:xfrm>
            <a:off x="6856412" y="4876800"/>
            <a:ext cx="4876800" cy="1200329"/>
          </a:xfrm>
          <a:prstGeom prst="rect">
            <a:avLst/>
          </a:prstGeom>
          <a:noFill/>
        </p:spPr>
        <p:txBody>
          <a:bodyPr wrap="square" rtlCol="0">
            <a:spAutoFit/>
          </a:bodyPr>
          <a:lstStyle/>
          <a:p>
            <a:r>
              <a:rPr lang="en-US" sz="2400" dirty="0" smtClean="0">
                <a:solidFill>
                  <a:srgbClr val="FF0000"/>
                </a:solidFill>
              </a:rPr>
              <a:t>This ensures that the </a:t>
            </a:r>
            <a:r>
              <a:rPr lang="en-US" sz="2400" i="1" dirty="0" smtClean="0">
                <a:solidFill>
                  <a:srgbClr val="FF0000"/>
                </a:solidFill>
              </a:rPr>
              <a:t>expected</a:t>
            </a:r>
            <a:r>
              <a:rPr lang="en-US" sz="2400" dirty="0" smtClean="0">
                <a:solidFill>
                  <a:srgbClr val="FF0000"/>
                </a:solidFill>
              </a:rPr>
              <a:t> value of the weights stays the same at run time</a:t>
            </a:r>
            <a:endParaRPr lang="en-US" sz="2400" dirty="0">
              <a:solidFill>
                <a:srgbClr val="FF0000"/>
              </a:solidFill>
            </a:endParaRPr>
          </a:p>
        </p:txBody>
      </p:sp>
      <p:cxnSp>
        <p:nvCxnSpPr>
          <p:cNvPr id="7" name="Straight Arrow Connector 6"/>
          <p:cNvCxnSpPr/>
          <p:nvPr/>
        </p:nvCxnSpPr>
        <p:spPr>
          <a:xfrm flipV="1">
            <a:off x="9980612" y="3352800"/>
            <a:ext cx="381000" cy="15240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3899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 of a “pseudo-ensemble”</a:t>
            </a:r>
            <a:endParaRPr lang="en-US" dirty="0"/>
          </a:p>
        </p:txBody>
      </p:sp>
      <p:sp>
        <p:nvSpPr>
          <p:cNvPr id="6" name="Oval 5"/>
          <p:cNvSpPr/>
          <p:nvPr/>
        </p:nvSpPr>
        <p:spPr>
          <a:xfrm>
            <a:off x="3104577" y="240402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tx2"/>
              </a:solidFill>
            </a:endParaRPr>
          </a:p>
        </p:txBody>
      </p:sp>
      <mc:AlternateContent xmlns:mc="http://schemas.openxmlformats.org/markup-compatibility/2006" xmlns:a14="http://schemas.microsoft.com/office/drawing/2010/main">
        <mc:Choice Requires="a14">
          <p:sp>
            <p:nvSpPr>
              <p:cNvPr id="8" name="Oval 7"/>
              <p:cNvSpPr/>
              <p:nvPr/>
            </p:nvSpPr>
            <p:spPr>
              <a:xfrm>
                <a:off x="3104577" y="36023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3"/>
                <a:stretch>
                  <a:fillRect t="-24026" b="-40260"/>
                </a:stretch>
              </a:blipFill>
              <a:ln>
                <a:solidFill>
                  <a:schemeClr val="tx2"/>
                </a:solidFill>
              </a:ln>
            </p:spPr>
            <p:txBody>
              <a:bodyPr/>
              <a:lstStyle/>
              <a:p>
                <a:r>
                  <a:rPr lang="en-US">
                    <a:noFill/>
                  </a:rPr>
                  <a:t> </a:t>
                </a:r>
              </a:p>
            </p:txBody>
          </p:sp>
        </mc:Fallback>
      </mc:AlternateContent>
      <p:sp>
        <p:nvSpPr>
          <p:cNvPr id="9" name="Oval 8"/>
          <p:cNvSpPr/>
          <p:nvPr/>
        </p:nvSpPr>
        <p:spPr>
          <a:xfrm>
            <a:off x="3104577" y="4800600"/>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0" name="Oval 9"/>
          <p:cNvSpPr/>
          <p:nvPr/>
        </p:nvSpPr>
        <p:spPr>
          <a:xfrm>
            <a:off x="4646612" y="52632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1" name="Oval 10"/>
          <p:cNvSpPr/>
          <p:nvPr/>
        </p:nvSpPr>
        <p:spPr>
          <a:xfrm>
            <a:off x="4646612" y="4123816"/>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2" name="Oval 11"/>
          <p:cNvSpPr/>
          <p:nvPr/>
        </p:nvSpPr>
        <p:spPr>
          <a:xfrm>
            <a:off x="4646612" y="2984424"/>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3" name="Oval 12"/>
          <p:cNvSpPr/>
          <p:nvPr/>
        </p:nvSpPr>
        <p:spPr>
          <a:xfrm>
            <a:off x="4646612" y="184503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4" name="Oval 13"/>
          <p:cNvSpPr/>
          <p:nvPr/>
        </p:nvSpPr>
        <p:spPr>
          <a:xfrm>
            <a:off x="6188648" y="52632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5" name="Oval 14"/>
          <p:cNvSpPr/>
          <p:nvPr/>
        </p:nvSpPr>
        <p:spPr>
          <a:xfrm>
            <a:off x="6188648" y="4123816"/>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6" name="Oval 15"/>
          <p:cNvSpPr/>
          <p:nvPr/>
        </p:nvSpPr>
        <p:spPr>
          <a:xfrm>
            <a:off x="6188648" y="2984424"/>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7" name="Oval 16"/>
          <p:cNvSpPr/>
          <p:nvPr/>
        </p:nvSpPr>
        <p:spPr>
          <a:xfrm>
            <a:off x="6188648" y="184503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8" name="Oval 17"/>
          <p:cNvSpPr/>
          <p:nvPr/>
        </p:nvSpPr>
        <p:spPr>
          <a:xfrm>
            <a:off x="7797942" y="240402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sp>
        <p:nvSpPr>
          <p:cNvPr id="19" name="Oval 18"/>
          <p:cNvSpPr/>
          <p:nvPr/>
        </p:nvSpPr>
        <p:spPr>
          <a:xfrm>
            <a:off x="7797942" y="36023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sp>
        <p:nvSpPr>
          <p:cNvPr id="20" name="Oval 19"/>
          <p:cNvSpPr/>
          <p:nvPr/>
        </p:nvSpPr>
        <p:spPr>
          <a:xfrm>
            <a:off x="7797942" y="4800600"/>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cxnSp>
        <p:nvCxnSpPr>
          <p:cNvPr id="21" name="Straight Arrow Connector 20"/>
          <p:cNvCxnSpPr>
            <a:stCxn id="11" idx="6"/>
            <a:endCxn id="17" idx="2"/>
          </p:cNvCxnSpPr>
          <p:nvPr/>
        </p:nvCxnSpPr>
        <p:spPr>
          <a:xfrm flipV="1">
            <a:off x="4029798" y="2307643"/>
            <a:ext cx="616814" cy="55899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2" name="Straight Arrow Connector 21"/>
          <p:cNvCxnSpPr>
            <a:stCxn id="11" idx="6"/>
            <a:endCxn id="16" idx="2"/>
          </p:cNvCxnSpPr>
          <p:nvPr/>
        </p:nvCxnSpPr>
        <p:spPr>
          <a:xfrm>
            <a:off x="4029798" y="2866633"/>
            <a:ext cx="616814" cy="58040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3" name="Straight Arrow Connector 22"/>
          <p:cNvCxnSpPr>
            <a:stCxn id="11" idx="6"/>
            <a:endCxn id="15" idx="2"/>
          </p:cNvCxnSpPr>
          <p:nvPr/>
        </p:nvCxnSpPr>
        <p:spPr>
          <a:xfrm>
            <a:off x="4029798" y="2866633"/>
            <a:ext cx="616814" cy="171979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4" name="Straight Arrow Connector 23"/>
          <p:cNvCxnSpPr>
            <a:stCxn id="11" idx="6"/>
            <a:endCxn id="14" idx="2"/>
          </p:cNvCxnSpPr>
          <p:nvPr/>
        </p:nvCxnSpPr>
        <p:spPr>
          <a:xfrm>
            <a:off x="4029798" y="2866633"/>
            <a:ext cx="616814" cy="285918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5" name="Straight Arrow Connector 24"/>
          <p:cNvCxnSpPr>
            <a:stCxn id="12" idx="6"/>
            <a:endCxn id="17" idx="2"/>
          </p:cNvCxnSpPr>
          <p:nvPr/>
        </p:nvCxnSpPr>
        <p:spPr>
          <a:xfrm flipV="1">
            <a:off x="4029798" y="2307643"/>
            <a:ext cx="616814" cy="17572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6" name="Straight Arrow Connector 25"/>
          <p:cNvCxnSpPr>
            <a:stCxn id="12" idx="6"/>
            <a:endCxn id="16" idx="2"/>
          </p:cNvCxnSpPr>
          <p:nvPr/>
        </p:nvCxnSpPr>
        <p:spPr>
          <a:xfrm flipV="1">
            <a:off x="4029798" y="3447035"/>
            <a:ext cx="616814" cy="617887"/>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7" name="Straight Arrow Connector 26"/>
          <p:cNvCxnSpPr>
            <a:stCxn id="12" idx="6"/>
            <a:endCxn id="15" idx="2"/>
          </p:cNvCxnSpPr>
          <p:nvPr/>
        </p:nvCxnSpPr>
        <p:spPr>
          <a:xfrm>
            <a:off x="4029798" y="4064922"/>
            <a:ext cx="616814" cy="52150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8" name="Straight Arrow Connector 27"/>
          <p:cNvCxnSpPr>
            <a:stCxn id="12" idx="6"/>
            <a:endCxn id="14" idx="2"/>
          </p:cNvCxnSpPr>
          <p:nvPr/>
        </p:nvCxnSpPr>
        <p:spPr>
          <a:xfrm>
            <a:off x="4029798" y="4064922"/>
            <a:ext cx="616814" cy="166090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9" name="Straight Arrow Connector 28"/>
          <p:cNvCxnSpPr>
            <a:stCxn id="13" idx="6"/>
            <a:endCxn id="17" idx="2"/>
          </p:cNvCxnSpPr>
          <p:nvPr/>
        </p:nvCxnSpPr>
        <p:spPr>
          <a:xfrm flipV="1">
            <a:off x="4029798" y="2307643"/>
            <a:ext cx="616814" cy="295556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0" name="Straight Arrow Connector 29"/>
          <p:cNvCxnSpPr>
            <a:stCxn id="13" idx="6"/>
            <a:endCxn id="16" idx="2"/>
          </p:cNvCxnSpPr>
          <p:nvPr/>
        </p:nvCxnSpPr>
        <p:spPr>
          <a:xfrm flipV="1">
            <a:off x="4029798" y="3447035"/>
            <a:ext cx="616814" cy="181617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1" name="Straight Arrow Connector 30"/>
          <p:cNvCxnSpPr>
            <a:stCxn id="13" idx="6"/>
            <a:endCxn id="15" idx="2"/>
          </p:cNvCxnSpPr>
          <p:nvPr/>
        </p:nvCxnSpPr>
        <p:spPr>
          <a:xfrm flipV="1">
            <a:off x="4029798" y="4586427"/>
            <a:ext cx="616814" cy="676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2" name="Straight Arrow Connector 31"/>
          <p:cNvCxnSpPr>
            <a:stCxn id="13" idx="6"/>
            <a:endCxn id="14" idx="2"/>
          </p:cNvCxnSpPr>
          <p:nvPr/>
        </p:nvCxnSpPr>
        <p:spPr>
          <a:xfrm>
            <a:off x="4029798" y="5263211"/>
            <a:ext cx="616814" cy="462611"/>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3" name="Straight Arrow Connector 32"/>
          <p:cNvCxnSpPr>
            <a:stCxn id="17" idx="6"/>
            <a:endCxn id="21" idx="2"/>
          </p:cNvCxnSpPr>
          <p:nvPr/>
        </p:nvCxnSpPr>
        <p:spPr>
          <a:xfrm>
            <a:off x="5571834" y="2307643"/>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4" name="Straight Arrow Connector 33"/>
          <p:cNvCxnSpPr>
            <a:stCxn id="17" idx="6"/>
            <a:endCxn id="20" idx="2"/>
          </p:cNvCxnSpPr>
          <p:nvPr/>
        </p:nvCxnSpPr>
        <p:spPr>
          <a:xfrm>
            <a:off x="5571834" y="2307643"/>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5" name="Straight Arrow Connector 34"/>
          <p:cNvCxnSpPr>
            <a:stCxn id="17" idx="6"/>
            <a:endCxn id="19" idx="2"/>
          </p:cNvCxnSpPr>
          <p:nvPr/>
        </p:nvCxnSpPr>
        <p:spPr>
          <a:xfrm>
            <a:off x="5571834" y="2307643"/>
            <a:ext cx="616814" cy="2278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6" name="Straight Arrow Connector 35"/>
          <p:cNvCxnSpPr>
            <a:stCxn id="17" idx="6"/>
            <a:endCxn id="18" idx="2"/>
          </p:cNvCxnSpPr>
          <p:nvPr/>
        </p:nvCxnSpPr>
        <p:spPr>
          <a:xfrm>
            <a:off x="5571834" y="2307643"/>
            <a:ext cx="616814" cy="34181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7" name="Straight Arrow Connector 36"/>
          <p:cNvCxnSpPr>
            <a:stCxn id="16" idx="6"/>
            <a:endCxn id="21" idx="2"/>
          </p:cNvCxnSpPr>
          <p:nvPr/>
        </p:nvCxnSpPr>
        <p:spPr>
          <a:xfrm flipV="1">
            <a:off x="5571834" y="2307643"/>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8" name="Straight Arrow Connector 37"/>
          <p:cNvCxnSpPr>
            <a:stCxn id="16" idx="6"/>
            <a:endCxn id="20" idx="2"/>
          </p:cNvCxnSpPr>
          <p:nvPr/>
        </p:nvCxnSpPr>
        <p:spPr>
          <a:xfrm>
            <a:off x="5571834" y="3447035"/>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9" name="Straight Arrow Connector 38"/>
          <p:cNvCxnSpPr>
            <a:stCxn id="16" idx="6"/>
            <a:endCxn id="19" idx="2"/>
          </p:cNvCxnSpPr>
          <p:nvPr/>
        </p:nvCxnSpPr>
        <p:spPr>
          <a:xfrm>
            <a:off x="5571834" y="3447035"/>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0" name="Straight Arrow Connector 39"/>
          <p:cNvCxnSpPr>
            <a:stCxn id="16" idx="6"/>
            <a:endCxn id="18" idx="2"/>
          </p:cNvCxnSpPr>
          <p:nvPr/>
        </p:nvCxnSpPr>
        <p:spPr>
          <a:xfrm>
            <a:off x="5571834" y="3447035"/>
            <a:ext cx="616814" cy="227878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1" name="Straight Arrow Connector 40"/>
          <p:cNvCxnSpPr>
            <a:stCxn id="15" idx="6"/>
            <a:endCxn id="21" idx="2"/>
          </p:cNvCxnSpPr>
          <p:nvPr/>
        </p:nvCxnSpPr>
        <p:spPr>
          <a:xfrm flipV="1">
            <a:off x="5571834" y="2307643"/>
            <a:ext cx="616814" cy="2278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2" name="Straight Arrow Connector 41"/>
          <p:cNvCxnSpPr>
            <a:stCxn id="15" idx="6"/>
            <a:endCxn id="20" idx="2"/>
          </p:cNvCxnSpPr>
          <p:nvPr/>
        </p:nvCxnSpPr>
        <p:spPr>
          <a:xfrm flipV="1">
            <a:off x="5571834" y="3447035"/>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3" name="Straight Arrow Connector 42"/>
          <p:cNvCxnSpPr>
            <a:stCxn id="15" idx="6"/>
            <a:endCxn id="19" idx="2"/>
          </p:cNvCxnSpPr>
          <p:nvPr/>
        </p:nvCxnSpPr>
        <p:spPr>
          <a:xfrm>
            <a:off x="5571834" y="4586427"/>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4" name="Straight Arrow Connector 43"/>
          <p:cNvCxnSpPr>
            <a:stCxn id="15" idx="6"/>
            <a:endCxn id="18" idx="2"/>
          </p:cNvCxnSpPr>
          <p:nvPr/>
        </p:nvCxnSpPr>
        <p:spPr>
          <a:xfrm>
            <a:off x="5571834" y="4586427"/>
            <a:ext cx="616814" cy="113939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5" name="Straight Arrow Connector 44"/>
          <p:cNvCxnSpPr>
            <a:stCxn id="14" idx="6"/>
            <a:endCxn id="21" idx="2"/>
          </p:cNvCxnSpPr>
          <p:nvPr/>
        </p:nvCxnSpPr>
        <p:spPr>
          <a:xfrm flipV="1">
            <a:off x="5571834" y="2307643"/>
            <a:ext cx="616814" cy="34181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6" name="Straight Arrow Connector 45"/>
          <p:cNvCxnSpPr>
            <a:stCxn id="14" idx="6"/>
            <a:endCxn id="20" idx="2"/>
          </p:cNvCxnSpPr>
          <p:nvPr/>
        </p:nvCxnSpPr>
        <p:spPr>
          <a:xfrm flipV="1">
            <a:off x="5571834" y="3447035"/>
            <a:ext cx="616814" cy="227878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7" name="Straight Arrow Connector 46"/>
          <p:cNvCxnSpPr>
            <a:stCxn id="14" idx="7"/>
            <a:endCxn id="19" idx="2"/>
          </p:cNvCxnSpPr>
          <p:nvPr/>
        </p:nvCxnSpPr>
        <p:spPr>
          <a:xfrm flipV="1">
            <a:off x="5436339" y="4586427"/>
            <a:ext cx="752309" cy="81227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8" name="Straight Arrow Connector 47"/>
          <p:cNvCxnSpPr>
            <a:stCxn id="14" idx="6"/>
            <a:endCxn id="18" idx="2"/>
          </p:cNvCxnSpPr>
          <p:nvPr/>
        </p:nvCxnSpPr>
        <p:spPr>
          <a:xfrm>
            <a:off x="5571834" y="5725821"/>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9" name="Straight Arrow Connector 48"/>
          <p:cNvCxnSpPr>
            <a:stCxn id="21" idx="6"/>
            <a:endCxn id="26" idx="2"/>
          </p:cNvCxnSpPr>
          <p:nvPr/>
        </p:nvCxnSpPr>
        <p:spPr>
          <a:xfrm>
            <a:off x="7113869" y="2307643"/>
            <a:ext cx="684073" cy="55899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0" name="Straight Arrow Connector 49"/>
          <p:cNvCxnSpPr>
            <a:stCxn id="21" idx="6"/>
            <a:endCxn id="27" idx="2"/>
          </p:cNvCxnSpPr>
          <p:nvPr/>
        </p:nvCxnSpPr>
        <p:spPr>
          <a:xfrm>
            <a:off x="7113869" y="2307643"/>
            <a:ext cx="684073" cy="17572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1" name="Straight Arrow Connector 50"/>
          <p:cNvCxnSpPr>
            <a:stCxn id="21" idx="6"/>
            <a:endCxn id="28" idx="2"/>
          </p:cNvCxnSpPr>
          <p:nvPr/>
        </p:nvCxnSpPr>
        <p:spPr>
          <a:xfrm>
            <a:off x="7113869" y="2307643"/>
            <a:ext cx="684073" cy="295556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2" name="Straight Arrow Connector 51"/>
          <p:cNvCxnSpPr>
            <a:stCxn id="20" idx="6"/>
            <a:endCxn id="26" idx="2"/>
          </p:cNvCxnSpPr>
          <p:nvPr/>
        </p:nvCxnSpPr>
        <p:spPr>
          <a:xfrm flipV="1">
            <a:off x="7113869" y="2866633"/>
            <a:ext cx="684073" cy="58040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3" name="Straight Arrow Connector 52"/>
          <p:cNvCxnSpPr>
            <a:stCxn id="20" idx="6"/>
            <a:endCxn id="27" idx="2"/>
          </p:cNvCxnSpPr>
          <p:nvPr/>
        </p:nvCxnSpPr>
        <p:spPr>
          <a:xfrm>
            <a:off x="7113869" y="3447035"/>
            <a:ext cx="684073" cy="617887"/>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4" name="Straight Arrow Connector 53"/>
          <p:cNvCxnSpPr>
            <a:stCxn id="20" idx="6"/>
            <a:endCxn id="28" idx="2"/>
          </p:cNvCxnSpPr>
          <p:nvPr/>
        </p:nvCxnSpPr>
        <p:spPr>
          <a:xfrm>
            <a:off x="7113869" y="3447035"/>
            <a:ext cx="684073" cy="181617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5" name="Straight Arrow Connector 54"/>
          <p:cNvCxnSpPr>
            <a:stCxn id="19" idx="6"/>
            <a:endCxn id="28" idx="2"/>
          </p:cNvCxnSpPr>
          <p:nvPr/>
        </p:nvCxnSpPr>
        <p:spPr>
          <a:xfrm>
            <a:off x="7113869" y="4586427"/>
            <a:ext cx="684073" cy="676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6" name="Straight Arrow Connector 55"/>
          <p:cNvCxnSpPr>
            <a:stCxn id="19" idx="6"/>
            <a:endCxn id="26" idx="2"/>
          </p:cNvCxnSpPr>
          <p:nvPr/>
        </p:nvCxnSpPr>
        <p:spPr>
          <a:xfrm flipV="1">
            <a:off x="7113869" y="2866633"/>
            <a:ext cx="684073" cy="171979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7" name="Straight Arrow Connector 56"/>
          <p:cNvCxnSpPr>
            <a:stCxn id="19" idx="6"/>
            <a:endCxn id="27" idx="2"/>
          </p:cNvCxnSpPr>
          <p:nvPr/>
        </p:nvCxnSpPr>
        <p:spPr>
          <a:xfrm flipV="1">
            <a:off x="7113869" y="4064922"/>
            <a:ext cx="684073" cy="52150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8" name="Straight Arrow Connector 57"/>
          <p:cNvCxnSpPr>
            <a:stCxn id="18" idx="6"/>
            <a:endCxn id="26" idx="2"/>
          </p:cNvCxnSpPr>
          <p:nvPr/>
        </p:nvCxnSpPr>
        <p:spPr>
          <a:xfrm flipV="1">
            <a:off x="7113869" y="2866633"/>
            <a:ext cx="684073" cy="285918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9" name="Straight Arrow Connector 58"/>
          <p:cNvCxnSpPr>
            <a:stCxn id="18" idx="6"/>
            <a:endCxn id="27" idx="2"/>
          </p:cNvCxnSpPr>
          <p:nvPr/>
        </p:nvCxnSpPr>
        <p:spPr>
          <a:xfrm flipV="1">
            <a:off x="7113869" y="4064922"/>
            <a:ext cx="684073" cy="166090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0" name="Straight Arrow Connector 59"/>
          <p:cNvCxnSpPr>
            <a:stCxn id="18" idx="6"/>
            <a:endCxn id="28" idx="2"/>
          </p:cNvCxnSpPr>
          <p:nvPr/>
        </p:nvCxnSpPr>
        <p:spPr>
          <a:xfrm flipV="1">
            <a:off x="7113869" y="5263211"/>
            <a:ext cx="684073" cy="462611"/>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1" name="Straight Arrow Connector 60"/>
          <p:cNvCxnSpPr>
            <a:stCxn id="26" idx="6"/>
          </p:cNvCxnSpPr>
          <p:nvPr/>
        </p:nvCxnSpPr>
        <p:spPr>
          <a:xfrm>
            <a:off x="8723163" y="2866633"/>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2" name="Straight Arrow Connector 61"/>
          <p:cNvCxnSpPr>
            <a:stCxn id="27" idx="6"/>
          </p:cNvCxnSpPr>
          <p:nvPr/>
        </p:nvCxnSpPr>
        <p:spPr>
          <a:xfrm>
            <a:off x="8723163" y="4064922"/>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3" name="Straight Arrow Connector 62"/>
          <p:cNvCxnSpPr>
            <a:stCxn id="28" idx="6"/>
          </p:cNvCxnSpPr>
          <p:nvPr/>
        </p:nvCxnSpPr>
        <p:spPr>
          <a:xfrm>
            <a:off x="8723163" y="5263211"/>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4" name="Straight Arrow Connector 63"/>
          <p:cNvCxnSpPr>
            <a:endCxn id="11" idx="2"/>
          </p:cNvCxnSpPr>
          <p:nvPr/>
        </p:nvCxnSpPr>
        <p:spPr>
          <a:xfrm>
            <a:off x="2214980" y="2866633"/>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5" name="Straight Arrow Connector 64"/>
          <p:cNvCxnSpPr>
            <a:endCxn id="12" idx="2"/>
          </p:cNvCxnSpPr>
          <p:nvPr/>
        </p:nvCxnSpPr>
        <p:spPr>
          <a:xfrm>
            <a:off x="2214980" y="4064922"/>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6" name="Straight Arrow Connector 65"/>
          <p:cNvCxnSpPr>
            <a:endCxn id="13" idx="2"/>
          </p:cNvCxnSpPr>
          <p:nvPr/>
        </p:nvCxnSpPr>
        <p:spPr>
          <a:xfrm>
            <a:off x="2214980" y="5263211"/>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spTree>
    <p:extLst>
      <p:ext uri="{BB962C8B-B14F-4D97-AF65-F5344CB8AC3E}">
        <p14:creationId xmlns:p14="http://schemas.microsoft.com/office/powerpoint/2010/main" val="19602212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1</a:t>
            </a:r>
            <a:endParaRPr lang="en-US" dirty="0"/>
          </a:p>
        </p:txBody>
      </p:sp>
      <p:sp>
        <p:nvSpPr>
          <p:cNvPr id="6" name="Oval 5"/>
          <p:cNvSpPr/>
          <p:nvPr/>
        </p:nvSpPr>
        <p:spPr>
          <a:xfrm>
            <a:off x="3104577" y="240402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tx2"/>
              </a:solidFill>
            </a:endParaRPr>
          </a:p>
        </p:txBody>
      </p:sp>
      <mc:AlternateContent xmlns:mc="http://schemas.openxmlformats.org/markup-compatibility/2006" xmlns:a14="http://schemas.microsoft.com/office/drawing/2010/main">
        <mc:Choice Requires="a14">
          <p:sp>
            <p:nvSpPr>
              <p:cNvPr id="8" name="Oval 7"/>
              <p:cNvSpPr/>
              <p:nvPr/>
            </p:nvSpPr>
            <p:spPr>
              <a:xfrm>
                <a:off x="3104577" y="36023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2"/>
                <a:stretch>
                  <a:fillRect t="-24026" b="-40260"/>
                </a:stretch>
              </a:blipFill>
              <a:ln>
                <a:solidFill>
                  <a:schemeClr val="tx2"/>
                </a:solidFill>
              </a:ln>
            </p:spPr>
            <p:txBody>
              <a:bodyPr/>
              <a:lstStyle/>
              <a:p>
                <a:r>
                  <a:rPr lang="en-US">
                    <a:noFill/>
                  </a:rPr>
                  <a:t> </a:t>
                </a:r>
              </a:p>
            </p:txBody>
          </p:sp>
        </mc:Fallback>
      </mc:AlternateContent>
      <p:sp>
        <p:nvSpPr>
          <p:cNvPr id="9" name="Oval 8"/>
          <p:cNvSpPr/>
          <p:nvPr/>
        </p:nvSpPr>
        <p:spPr>
          <a:xfrm>
            <a:off x="3104577" y="4800600"/>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0" name="Oval 9"/>
          <p:cNvSpPr/>
          <p:nvPr/>
        </p:nvSpPr>
        <p:spPr>
          <a:xfrm>
            <a:off x="4646612" y="5263211"/>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1" name="Oval 10"/>
          <p:cNvSpPr/>
          <p:nvPr/>
        </p:nvSpPr>
        <p:spPr>
          <a:xfrm>
            <a:off x="4646612" y="4123816"/>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2" name="Oval 11"/>
          <p:cNvSpPr/>
          <p:nvPr/>
        </p:nvSpPr>
        <p:spPr>
          <a:xfrm>
            <a:off x="4646612" y="2984424"/>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3" name="Oval 12"/>
          <p:cNvSpPr/>
          <p:nvPr/>
        </p:nvSpPr>
        <p:spPr>
          <a:xfrm>
            <a:off x="4646612" y="184503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4" name="Oval 13"/>
          <p:cNvSpPr/>
          <p:nvPr/>
        </p:nvSpPr>
        <p:spPr>
          <a:xfrm>
            <a:off x="6188648" y="52632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5" name="Oval 14"/>
          <p:cNvSpPr/>
          <p:nvPr/>
        </p:nvSpPr>
        <p:spPr>
          <a:xfrm>
            <a:off x="6188648" y="4123816"/>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6" name="Oval 15"/>
          <p:cNvSpPr/>
          <p:nvPr/>
        </p:nvSpPr>
        <p:spPr>
          <a:xfrm>
            <a:off x="6188648" y="2984424"/>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7" name="Oval 16"/>
          <p:cNvSpPr/>
          <p:nvPr/>
        </p:nvSpPr>
        <p:spPr>
          <a:xfrm>
            <a:off x="6188648" y="1845032"/>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8" name="Oval 17"/>
          <p:cNvSpPr/>
          <p:nvPr/>
        </p:nvSpPr>
        <p:spPr>
          <a:xfrm>
            <a:off x="7797942" y="240402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sp>
        <p:nvSpPr>
          <p:cNvPr id="19" name="Oval 18"/>
          <p:cNvSpPr/>
          <p:nvPr/>
        </p:nvSpPr>
        <p:spPr>
          <a:xfrm>
            <a:off x="7797942" y="36023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sp>
        <p:nvSpPr>
          <p:cNvPr id="20" name="Oval 19"/>
          <p:cNvSpPr/>
          <p:nvPr/>
        </p:nvSpPr>
        <p:spPr>
          <a:xfrm>
            <a:off x="7797942" y="4800600"/>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cxnSp>
        <p:nvCxnSpPr>
          <p:cNvPr id="21" name="Straight Arrow Connector 20"/>
          <p:cNvCxnSpPr>
            <a:stCxn id="11" idx="6"/>
            <a:endCxn id="17" idx="2"/>
          </p:cNvCxnSpPr>
          <p:nvPr/>
        </p:nvCxnSpPr>
        <p:spPr>
          <a:xfrm flipV="1">
            <a:off x="4029798" y="2307643"/>
            <a:ext cx="616814" cy="55899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2" name="Straight Arrow Connector 21"/>
          <p:cNvCxnSpPr>
            <a:stCxn id="11" idx="6"/>
            <a:endCxn id="16" idx="2"/>
          </p:cNvCxnSpPr>
          <p:nvPr/>
        </p:nvCxnSpPr>
        <p:spPr>
          <a:xfrm>
            <a:off x="4029798" y="2866633"/>
            <a:ext cx="616814" cy="58040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3" name="Straight Arrow Connector 22"/>
          <p:cNvCxnSpPr>
            <a:stCxn id="11" idx="6"/>
            <a:endCxn id="15" idx="2"/>
          </p:cNvCxnSpPr>
          <p:nvPr/>
        </p:nvCxnSpPr>
        <p:spPr>
          <a:xfrm>
            <a:off x="4029798" y="2866633"/>
            <a:ext cx="616814" cy="171979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4" name="Straight Arrow Connector 23"/>
          <p:cNvCxnSpPr>
            <a:stCxn id="11" idx="6"/>
            <a:endCxn id="14" idx="2"/>
          </p:cNvCxnSpPr>
          <p:nvPr/>
        </p:nvCxnSpPr>
        <p:spPr>
          <a:xfrm>
            <a:off x="4029798" y="2866633"/>
            <a:ext cx="616814" cy="285918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5" name="Straight Arrow Connector 24"/>
          <p:cNvCxnSpPr>
            <a:stCxn id="12" idx="6"/>
            <a:endCxn id="17" idx="2"/>
          </p:cNvCxnSpPr>
          <p:nvPr/>
        </p:nvCxnSpPr>
        <p:spPr>
          <a:xfrm flipV="1">
            <a:off x="4029798" y="2307643"/>
            <a:ext cx="616814" cy="17572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6" name="Straight Arrow Connector 25"/>
          <p:cNvCxnSpPr>
            <a:stCxn id="12" idx="6"/>
            <a:endCxn id="16" idx="2"/>
          </p:cNvCxnSpPr>
          <p:nvPr/>
        </p:nvCxnSpPr>
        <p:spPr>
          <a:xfrm flipV="1">
            <a:off x="4029798" y="3447035"/>
            <a:ext cx="616814" cy="617887"/>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7" name="Straight Arrow Connector 26"/>
          <p:cNvCxnSpPr>
            <a:stCxn id="12" idx="6"/>
            <a:endCxn id="15" idx="2"/>
          </p:cNvCxnSpPr>
          <p:nvPr/>
        </p:nvCxnSpPr>
        <p:spPr>
          <a:xfrm>
            <a:off x="4029798" y="4064922"/>
            <a:ext cx="616814" cy="52150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8" name="Straight Arrow Connector 27"/>
          <p:cNvCxnSpPr>
            <a:stCxn id="12" idx="6"/>
            <a:endCxn id="14" idx="2"/>
          </p:cNvCxnSpPr>
          <p:nvPr/>
        </p:nvCxnSpPr>
        <p:spPr>
          <a:xfrm>
            <a:off x="4029798" y="4064922"/>
            <a:ext cx="616814" cy="166090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9" name="Straight Arrow Connector 28"/>
          <p:cNvCxnSpPr>
            <a:stCxn id="13" idx="6"/>
            <a:endCxn id="17" idx="2"/>
          </p:cNvCxnSpPr>
          <p:nvPr/>
        </p:nvCxnSpPr>
        <p:spPr>
          <a:xfrm flipV="1">
            <a:off x="4029798" y="2307643"/>
            <a:ext cx="616814" cy="295556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0" name="Straight Arrow Connector 29"/>
          <p:cNvCxnSpPr>
            <a:stCxn id="13" idx="6"/>
            <a:endCxn id="16" idx="2"/>
          </p:cNvCxnSpPr>
          <p:nvPr/>
        </p:nvCxnSpPr>
        <p:spPr>
          <a:xfrm flipV="1">
            <a:off x="4029798" y="3447035"/>
            <a:ext cx="616814" cy="181617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1" name="Straight Arrow Connector 30"/>
          <p:cNvCxnSpPr>
            <a:stCxn id="13" idx="6"/>
            <a:endCxn id="15" idx="2"/>
          </p:cNvCxnSpPr>
          <p:nvPr/>
        </p:nvCxnSpPr>
        <p:spPr>
          <a:xfrm flipV="1">
            <a:off x="4029798" y="4586427"/>
            <a:ext cx="616814" cy="676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2" name="Straight Arrow Connector 31"/>
          <p:cNvCxnSpPr>
            <a:stCxn id="13" idx="6"/>
            <a:endCxn id="14" idx="2"/>
          </p:cNvCxnSpPr>
          <p:nvPr/>
        </p:nvCxnSpPr>
        <p:spPr>
          <a:xfrm>
            <a:off x="4029798" y="5263211"/>
            <a:ext cx="616814" cy="462611"/>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3" name="Straight Arrow Connector 32"/>
          <p:cNvCxnSpPr>
            <a:stCxn id="17" idx="6"/>
            <a:endCxn id="21" idx="2"/>
          </p:cNvCxnSpPr>
          <p:nvPr/>
        </p:nvCxnSpPr>
        <p:spPr>
          <a:xfrm>
            <a:off x="5571834" y="2307643"/>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4" name="Straight Arrow Connector 33"/>
          <p:cNvCxnSpPr>
            <a:stCxn id="17" idx="6"/>
            <a:endCxn id="20" idx="2"/>
          </p:cNvCxnSpPr>
          <p:nvPr/>
        </p:nvCxnSpPr>
        <p:spPr>
          <a:xfrm>
            <a:off x="5571834" y="2307643"/>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5" name="Straight Arrow Connector 34"/>
          <p:cNvCxnSpPr>
            <a:stCxn id="17" idx="6"/>
            <a:endCxn id="19" idx="2"/>
          </p:cNvCxnSpPr>
          <p:nvPr/>
        </p:nvCxnSpPr>
        <p:spPr>
          <a:xfrm>
            <a:off x="5571834" y="2307643"/>
            <a:ext cx="616814" cy="2278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6" name="Straight Arrow Connector 35"/>
          <p:cNvCxnSpPr>
            <a:stCxn id="17" idx="6"/>
            <a:endCxn id="18" idx="2"/>
          </p:cNvCxnSpPr>
          <p:nvPr/>
        </p:nvCxnSpPr>
        <p:spPr>
          <a:xfrm>
            <a:off x="5571834" y="2307643"/>
            <a:ext cx="616814" cy="34181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7" name="Straight Arrow Connector 36"/>
          <p:cNvCxnSpPr>
            <a:stCxn id="16" idx="6"/>
            <a:endCxn id="21" idx="2"/>
          </p:cNvCxnSpPr>
          <p:nvPr/>
        </p:nvCxnSpPr>
        <p:spPr>
          <a:xfrm flipV="1">
            <a:off x="5571834" y="2307643"/>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8" name="Straight Arrow Connector 37"/>
          <p:cNvCxnSpPr>
            <a:stCxn id="16" idx="6"/>
            <a:endCxn id="20" idx="2"/>
          </p:cNvCxnSpPr>
          <p:nvPr/>
        </p:nvCxnSpPr>
        <p:spPr>
          <a:xfrm>
            <a:off x="5571834" y="3447035"/>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9" name="Straight Arrow Connector 38"/>
          <p:cNvCxnSpPr>
            <a:stCxn id="16" idx="6"/>
            <a:endCxn id="19" idx="2"/>
          </p:cNvCxnSpPr>
          <p:nvPr/>
        </p:nvCxnSpPr>
        <p:spPr>
          <a:xfrm>
            <a:off x="5571834" y="3447035"/>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0" name="Straight Arrow Connector 39"/>
          <p:cNvCxnSpPr>
            <a:stCxn id="16" idx="6"/>
            <a:endCxn id="18" idx="2"/>
          </p:cNvCxnSpPr>
          <p:nvPr/>
        </p:nvCxnSpPr>
        <p:spPr>
          <a:xfrm>
            <a:off x="5571834" y="3447035"/>
            <a:ext cx="616814" cy="227878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1" name="Straight Arrow Connector 40"/>
          <p:cNvCxnSpPr>
            <a:stCxn id="15" idx="6"/>
            <a:endCxn id="21" idx="2"/>
          </p:cNvCxnSpPr>
          <p:nvPr/>
        </p:nvCxnSpPr>
        <p:spPr>
          <a:xfrm flipV="1">
            <a:off x="5571834" y="2307643"/>
            <a:ext cx="616814" cy="2278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2" name="Straight Arrow Connector 41"/>
          <p:cNvCxnSpPr>
            <a:stCxn id="15" idx="6"/>
            <a:endCxn id="20" idx="2"/>
          </p:cNvCxnSpPr>
          <p:nvPr/>
        </p:nvCxnSpPr>
        <p:spPr>
          <a:xfrm flipV="1">
            <a:off x="5571834" y="3447035"/>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3" name="Straight Arrow Connector 42"/>
          <p:cNvCxnSpPr>
            <a:stCxn id="15" idx="6"/>
            <a:endCxn id="19" idx="2"/>
          </p:cNvCxnSpPr>
          <p:nvPr/>
        </p:nvCxnSpPr>
        <p:spPr>
          <a:xfrm>
            <a:off x="5571834" y="4586427"/>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4" name="Straight Arrow Connector 43"/>
          <p:cNvCxnSpPr>
            <a:stCxn id="15" idx="6"/>
            <a:endCxn id="18" idx="2"/>
          </p:cNvCxnSpPr>
          <p:nvPr/>
        </p:nvCxnSpPr>
        <p:spPr>
          <a:xfrm>
            <a:off x="5571834" y="4586427"/>
            <a:ext cx="616814" cy="113939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5" name="Straight Arrow Connector 44"/>
          <p:cNvCxnSpPr>
            <a:stCxn id="14" idx="6"/>
            <a:endCxn id="21" idx="2"/>
          </p:cNvCxnSpPr>
          <p:nvPr/>
        </p:nvCxnSpPr>
        <p:spPr>
          <a:xfrm flipV="1">
            <a:off x="5571834" y="2307643"/>
            <a:ext cx="616814" cy="34181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6" name="Straight Arrow Connector 45"/>
          <p:cNvCxnSpPr>
            <a:stCxn id="14" idx="6"/>
            <a:endCxn id="20" idx="2"/>
          </p:cNvCxnSpPr>
          <p:nvPr/>
        </p:nvCxnSpPr>
        <p:spPr>
          <a:xfrm flipV="1">
            <a:off x="5571834" y="3447035"/>
            <a:ext cx="616814" cy="227878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7" name="Straight Arrow Connector 46"/>
          <p:cNvCxnSpPr>
            <a:stCxn id="14" idx="7"/>
            <a:endCxn id="19" idx="2"/>
          </p:cNvCxnSpPr>
          <p:nvPr/>
        </p:nvCxnSpPr>
        <p:spPr>
          <a:xfrm flipV="1">
            <a:off x="5436339" y="4586427"/>
            <a:ext cx="752309" cy="81227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8" name="Straight Arrow Connector 47"/>
          <p:cNvCxnSpPr>
            <a:stCxn id="14" idx="6"/>
            <a:endCxn id="18" idx="2"/>
          </p:cNvCxnSpPr>
          <p:nvPr/>
        </p:nvCxnSpPr>
        <p:spPr>
          <a:xfrm>
            <a:off x="5571834" y="5725821"/>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9" name="Straight Arrow Connector 48"/>
          <p:cNvCxnSpPr>
            <a:stCxn id="21" idx="6"/>
            <a:endCxn id="26" idx="2"/>
          </p:cNvCxnSpPr>
          <p:nvPr/>
        </p:nvCxnSpPr>
        <p:spPr>
          <a:xfrm>
            <a:off x="7113869" y="2307643"/>
            <a:ext cx="684073" cy="55899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0" name="Straight Arrow Connector 49"/>
          <p:cNvCxnSpPr>
            <a:stCxn id="21" idx="6"/>
            <a:endCxn id="27" idx="2"/>
          </p:cNvCxnSpPr>
          <p:nvPr/>
        </p:nvCxnSpPr>
        <p:spPr>
          <a:xfrm>
            <a:off x="7113869" y="2307643"/>
            <a:ext cx="684073" cy="17572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1" name="Straight Arrow Connector 50"/>
          <p:cNvCxnSpPr>
            <a:stCxn id="21" idx="6"/>
            <a:endCxn id="28" idx="2"/>
          </p:cNvCxnSpPr>
          <p:nvPr/>
        </p:nvCxnSpPr>
        <p:spPr>
          <a:xfrm>
            <a:off x="7113869" y="2307643"/>
            <a:ext cx="684073" cy="295556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2" name="Straight Arrow Connector 51"/>
          <p:cNvCxnSpPr>
            <a:stCxn id="20" idx="6"/>
            <a:endCxn id="26" idx="2"/>
          </p:cNvCxnSpPr>
          <p:nvPr/>
        </p:nvCxnSpPr>
        <p:spPr>
          <a:xfrm flipV="1">
            <a:off x="7113869" y="2866633"/>
            <a:ext cx="684073" cy="58040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3" name="Straight Arrow Connector 52"/>
          <p:cNvCxnSpPr>
            <a:stCxn id="20" idx="6"/>
            <a:endCxn id="27" idx="2"/>
          </p:cNvCxnSpPr>
          <p:nvPr/>
        </p:nvCxnSpPr>
        <p:spPr>
          <a:xfrm>
            <a:off x="7113869" y="3447035"/>
            <a:ext cx="684073" cy="617887"/>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4" name="Straight Arrow Connector 53"/>
          <p:cNvCxnSpPr>
            <a:stCxn id="20" idx="6"/>
            <a:endCxn id="28" idx="2"/>
          </p:cNvCxnSpPr>
          <p:nvPr/>
        </p:nvCxnSpPr>
        <p:spPr>
          <a:xfrm>
            <a:off x="7113869" y="3447035"/>
            <a:ext cx="684073" cy="181617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5" name="Straight Arrow Connector 54"/>
          <p:cNvCxnSpPr>
            <a:stCxn id="19" idx="6"/>
            <a:endCxn id="28" idx="2"/>
          </p:cNvCxnSpPr>
          <p:nvPr/>
        </p:nvCxnSpPr>
        <p:spPr>
          <a:xfrm>
            <a:off x="7113869" y="4586427"/>
            <a:ext cx="684073" cy="676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6" name="Straight Arrow Connector 55"/>
          <p:cNvCxnSpPr>
            <a:stCxn id="19" idx="6"/>
            <a:endCxn id="26" idx="2"/>
          </p:cNvCxnSpPr>
          <p:nvPr/>
        </p:nvCxnSpPr>
        <p:spPr>
          <a:xfrm flipV="1">
            <a:off x="7113869" y="2866633"/>
            <a:ext cx="684073" cy="171979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7" name="Straight Arrow Connector 56"/>
          <p:cNvCxnSpPr>
            <a:stCxn id="19" idx="6"/>
            <a:endCxn id="27" idx="2"/>
          </p:cNvCxnSpPr>
          <p:nvPr/>
        </p:nvCxnSpPr>
        <p:spPr>
          <a:xfrm flipV="1">
            <a:off x="7113869" y="4064922"/>
            <a:ext cx="684073" cy="52150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8" name="Straight Arrow Connector 57"/>
          <p:cNvCxnSpPr>
            <a:stCxn id="18" idx="6"/>
            <a:endCxn id="26" idx="2"/>
          </p:cNvCxnSpPr>
          <p:nvPr/>
        </p:nvCxnSpPr>
        <p:spPr>
          <a:xfrm flipV="1">
            <a:off x="7113869" y="2866633"/>
            <a:ext cx="684073" cy="285918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9" name="Straight Arrow Connector 58"/>
          <p:cNvCxnSpPr>
            <a:stCxn id="18" idx="6"/>
            <a:endCxn id="27" idx="2"/>
          </p:cNvCxnSpPr>
          <p:nvPr/>
        </p:nvCxnSpPr>
        <p:spPr>
          <a:xfrm flipV="1">
            <a:off x="7113869" y="4064922"/>
            <a:ext cx="684073" cy="166090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0" name="Straight Arrow Connector 59"/>
          <p:cNvCxnSpPr>
            <a:stCxn id="18" idx="6"/>
            <a:endCxn id="28" idx="2"/>
          </p:cNvCxnSpPr>
          <p:nvPr/>
        </p:nvCxnSpPr>
        <p:spPr>
          <a:xfrm flipV="1">
            <a:off x="7113869" y="5263211"/>
            <a:ext cx="684073" cy="462611"/>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1" name="Straight Arrow Connector 60"/>
          <p:cNvCxnSpPr>
            <a:stCxn id="26" idx="6"/>
          </p:cNvCxnSpPr>
          <p:nvPr/>
        </p:nvCxnSpPr>
        <p:spPr>
          <a:xfrm>
            <a:off x="8723163" y="2866633"/>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2" name="Straight Arrow Connector 61"/>
          <p:cNvCxnSpPr>
            <a:stCxn id="27" idx="6"/>
          </p:cNvCxnSpPr>
          <p:nvPr/>
        </p:nvCxnSpPr>
        <p:spPr>
          <a:xfrm>
            <a:off x="8723163" y="4064922"/>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3" name="Straight Arrow Connector 62"/>
          <p:cNvCxnSpPr>
            <a:stCxn id="28" idx="6"/>
          </p:cNvCxnSpPr>
          <p:nvPr/>
        </p:nvCxnSpPr>
        <p:spPr>
          <a:xfrm>
            <a:off x="8723163" y="5263211"/>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4" name="Straight Arrow Connector 63"/>
          <p:cNvCxnSpPr>
            <a:endCxn id="11" idx="2"/>
          </p:cNvCxnSpPr>
          <p:nvPr/>
        </p:nvCxnSpPr>
        <p:spPr>
          <a:xfrm>
            <a:off x="2214980" y="2866633"/>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5" name="Straight Arrow Connector 64"/>
          <p:cNvCxnSpPr>
            <a:endCxn id="12" idx="2"/>
          </p:cNvCxnSpPr>
          <p:nvPr/>
        </p:nvCxnSpPr>
        <p:spPr>
          <a:xfrm>
            <a:off x="2214980" y="4064922"/>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6" name="Straight Arrow Connector 65"/>
          <p:cNvCxnSpPr>
            <a:endCxn id="13" idx="2"/>
          </p:cNvCxnSpPr>
          <p:nvPr/>
        </p:nvCxnSpPr>
        <p:spPr>
          <a:xfrm>
            <a:off x="2214980" y="5263211"/>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grpSp>
        <p:nvGrpSpPr>
          <p:cNvPr id="70" name="Group 69"/>
          <p:cNvGrpSpPr/>
          <p:nvPr/>
        </p:nvGrpSpPr>
        <p:grpSpPr>
          <a:xfrm>
            <a:off x="6324143" y="1971007"/>
            <a:ext cx="654231" cy="654231"/>
            <a:chOff x="7809054" y="304800"/>
            <a:chExt cx="654231" cy="654231"/>
          </a:xfrm>
        </p:grpSpPr>
        <p:cxnSp>
          <p:nvCxnSpPr>
            <p:cNvPr id="68" name="Straight Connector 67"/>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1" name="Group 70"/>
          <p:cNvGrpSpPr/>
          <p:nvPr/>
        </p:nvGrpSpPr>
        <p:grpSpPr>
          <a:xfrm>
            <a:off x="4782108" y="3131196"/>
            <a:ext cx="654231" cy="654231"/>
            <a:chOff x="7809054" y="304800"/>
            <a:chExt cx="654231" cy="654231"/>
          </a:xfrm>
        </p:grpSpPr>
        <p:cxnSp>
          <p:nvCxnSpPr>
            <p:cNvPr id="72" name="Straight Connector 71"/>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4" name="Group 73"/>
          <p:cNvGrpSpPr/>
          <p:nvPr/>
        </p:nvGrpSpPr>
        <p:grpSpPr>
          <a:xfrm>
            <a:off x="3240072" y="4937158"/>
            <a:ext cx="654231" cy="654231"/>
            <a:chOff x="7809054" y="304800"/>
            <a:chExt cx="654231" cy="654231"/>
          </a:xfrm>
        </p:grpSpPr>
        <p:cxnSp>
          <p:nvCxnSpPr>
            <p:cNvPr id="75" name="Straight Connector 74"/>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7" name="Group 76"/>
          <p:cNvGrpSpPr/>
          <p:nvPr/>
        </p:nvGrpSpPr>
        <p:grpSpPr>
          <a:xfrm>
            <a:off x="4779730" y="5391415"/>
            <a:ext cx="654231" cy="654231"/>
            <a:chOff x="7809054" y="304800"/>
            <a:chExt cx="654231" cy="654231"/>
          </a:xfrm>
        </p:grpSpPr>
        <p:cxnSp>
          <p:nvCxnSpPr>
            <p:cNvPr id="78" name="Straight Connector 77"/>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80" name="Group 79"/>
          <p:cNvGrpSpPr/>
          <p:nvPr/>
        </p:nvGrpSpPr>
        <p:grpSpPr>
          <a:xfrm>
            <a:off x="6324143" y="4259310"/>
            <a:ext cx="654231" cy="654231"/>
            <a:chOff x="7809054" y="304800"/>
            <a:chExt cx="654231" cy="654231"/>
          </a:xfrm>
        </p:grpSpPr>
        <p:cxnSp>
          <p:nvCxnSpPr>
            <p:cNvPr id="81" name="Straight Connector 80"/>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727662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2</a:t>
            </a:r>
            <a:endParaRPr lang="en-US" dirty="0"/>
          </a:p>
        </p:txBody>
      </p:sp>
      <p:sp>
        <p:nvSpPr>
          <p:cNvPr id="6" name="Oval 5"/>
          <p:cNvSpPr/>
          <p:nvPr/>
        </p:nvSpPr>
        <p:spPr>
          <a:xfrm>
            <a:off x="3104577" y="240402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tx2"/>
              </a:solidFill>
            </a:endParaRPr>
          </a:p>
        </p:txBody>
      </p:sp>
      <mc:AlternateContent xmlns:mc="http://schemas.openxmlformats.org/markup-compatibility/2006" xmlns:a14="http://schemas.microsoft.com/office/drawing/2010/main">
        <mc:Choice Requires="a14">
          <p:sp>
            <p:nvSpPr>
              <p:cNvPr id="8" name="Oval 7"/>
              <p:cNvSpPr/>
              <p:nvPr/>
            </p:nvSpPr>
            <p:spPr>
              <a:xfrm>
                <a:off x="3104577" y="3602311"/>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2"/>
                <a:stretch>
                  <a:fillRect t="-24026" b="-40260"/>
                </a:stretch>
              </a:blipFill>
              <a:ln>
                <a:solidFill>
                  <a:schemeClr val="tx2"/>
                </a:solidFill>
                <a:prstDash val="lgDash"/>
              </a:ln>
            </p:spPr>
            <p:txBody>
              <a:bodyPr/>
              <a:lstStyle/>
              <a:p>
                <a:r>
                  <a:rPr lang="en-US">
                    <a:noFill/>
                  </a:rPr>
                  <a:t> </a:t>
                </a:r>
              </a:p>
            </p:txBody>
          </p:sp>
        </mc:Fallback>
      </mc:AlternateContent>
      <p:sp>
        <p:nvSpPr>
          <p:cNvPr id="9" name="Oval 8"/>
          <p:cNvSpPr/>
          <p:nvPr/>
        </p:nvSpPr>
        <p:spPr>
          <a:xfrm>
            <a:off x="3104577" y="4800600"/>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0" name="Oval 9"/>
          <p:cNvSpPr/>
          <p:nvPr/>
        </p:nvSpPr>
        <p:spPr>
          <a:xfrm>
            <a:off x="4646612" y="5263211"/>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1" name="Oval 10"/>
          <p:cNvSpPr/>
          <p:nvPr/>
        </p:nvSpPr>
        <p:spPr>
          <a:xfrm>
            <a:off x="4646612" y="4123816"/>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2" name="Oval 11"/>
          <p:cNvSpPr/>
          <p:nvPr/>
        </p:nvSpPr>
        <p:spPr>
          <a:xfrm>
            <a:off x="4646612" y="2984424"/>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3" name="Oval 12"/>
          <p:cNvSpPr/>
          <p:nvPr/>
        </p:nvSpPr>
        <p:spPr>
          <a:xfrm>
            <a:off x="4646612" y="1845032"/>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4" name="Oval 13"/>
          <p:cNvSpPr/>
          <p:nvPr/>
        </p:nvSpPr>
        <p:spPr>
          <a:xfrm>
            <a:off x="6188648" y="52632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5" name="Oval 14"/>
          <p:cNvSpPr/>
          <p:nvPr/>
        </p:nvSpPr>
        <p:spPr>
          <a:xfrm>
            <a:off x="6188648" y="4123816"/>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6" name="Oval 15"/>
          <p:cNvSpPr/>
          <p:nvPr/>
        </p:nvSpPr>
        <p:spPr>
          <a:xfrm>
            <a:off x="6188648" y="2984424"/>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7" name="Oval 16"/>
          <p:cNvSpPr/>
          <p:nvPr/>
        </p:nvSpPr>
        <p:spPr>
          <a:xfrm>
            <a:off x="6188648" y="1845032"/>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8" name="Oval 17"/>
          <p:cNvSpPr/>
          <p:nvPr/>
        </p:nvSpPr>
        <p:spPr>
          <a:xfrm>
            <a:off x="7797942" y="240402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sp>
        <p:nvSpPr>
          <p:cNvPr id="19" name="Oval 18"/>
          <p:cNvSpPr/>
          <p:nvPr/>
        </p:nvSpPr>
        <p:spPr>
          <a:xfrm>
            <a:off x="7797942" y="36023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sp>
        <p:nvSpPr>
          <p:cNvPr id="20" name="Oval 19"/>
          <p:cNvSpPr/>
          <p:nvPr/>
        </p:nvSpPr>
        <p:spPr>
          <a:xfrm>
            <a:off x="7797942" y="4800600"/>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cxnSp>
        <p:nvCxnSpPr>
          <p:cNvPr id="21" name="Straight Arrow Connector 20"/>
          <p:cNvCxnSpPr>
            <a:stCxn id="11" idx="6"/>
            <a:endCxn id="17" idx="2"/>
          </p:cNvCxnSpPr>
          <p:nvPr/>
        </p:nvCxnSpPr>
        <p:spPr>
          <a:xfrm flipV="1">
            <a:off x="4029798" y="2307643"/>
            <a:ext cx="616814" cy="55899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2" name="Straight Arrow Connector 21"/>
          <p:cNvCxnSpPr>
            <a:stCxn id="11" idx="6"/>
            <a:endCxn id="16" idx="2"/>
          </p:cNvCxnSpPr>
          <p:nvPr/>
        </p:nvCxnSpPr>
        <p:spPr>
          <a:xfrm>
            <a:off x="4029798" y="2866633"/>
            <a:ext cx="616814" cy="58040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3" name="Straight Arrow Connector 22"/>
          <p:cNvCxnSpPr>
            <a:stCxn id="11" idx="6"/>
            <a:endCxn id="15" idx="2"/>
          </p:cNvCxnSpPr>
          <p:nvPr/>
        </p:nvCxnSpPr>
        <p:spPr>
          <a:xfrm>
            <a:off x="4029798" y="2866633"/>
            <a:ext cx="616814" cy="171979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4" name="Straight Arrow Connector 23"/>
          <p:cNvCxnSpPr>
            <a:stCxn id="11" idx="6"/>
            <a:endCxn id="14" idx="2"/>
          </p:cNvCxnSpPr>
          <p:nvPr/>
        </p:nvCxnSpPr>
        <p:spPr>
          <a:xfrm>
            <a:off x="4029798" y="2866633"/>
            <a:ext cx="616814" cy="285918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5" name="Straight Arrow Connector 24"/>
          <p:cNvCxnSpPr>
            <a:stCxn id="12" idx="6"/>
            <a:endCxn id="17" idx="2"/>
          </p:cNvCxnSpPr>
          <p:nvPr/>
        </p:nvCxnSpPr>
        <p:spPr>
          <a:xfrm flipV="1">
            <a:off x="4029798" y="2307643"/>
            <a:ext cx="616814" cy="17572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6" name="Straight Arrow Connector 25"/>
          <p:cNvCxnSpPr>
            <a:stCxn id="12" idx="6"/>
            <a:endCxn id="16" idx="2"/>
          </p:cNvCxnSpPr>
          <p:nvPr/>
        </p:nvCxnSpPr>
        <p:spPr>
          <a:xfrm flipV="1">
            <a:off x="4029798" y="3447035"/>
            <a:ext cx="616814" cy="617887"/>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7" name="Straight Arrow Connector 26"/>
          <p:cNvCxnSpPr>
            <a:stCxn id="12" idx="6"/>
            <a:endCxn id="15" idx="2"/>
          </p:cNvCxnSpPr>
          <p:nvPr/>
        </p:nvCxnSpPr>
        <p:spPr>
          <a:xfrm>
            <a:off x="4029798" y="4064922"/>
            <a:ext cx="616814" cy="52150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8" name="Straight Arrow Connector 27"/>
          <p:cNvCxnSpPr>
            <a:stCxn id="12" idx="6"/>
            <a:endCxn id="14" idx="2"/>
          </p:cNvCxnSpPr>
          <p:nvPr/>
        </p:nvCxnSpPr>
        <p:spPr>
          <a:xfrm>
            <a:off x="4029798" y="4064922"/>
            <a:ext cx="616814" cy="166090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9" name="Straight Arrow Connector 28"/>
          <p:cNvCxnSpPr>
            <a:stCxn id="13" idx="6"/>
            <a:endCxn id="17" idx="2"/>
          </p:cNvCxnSpPr>
          <p:nvPr/>
        </p:nvCxnSpPr>
        <p:spPr>
          <a:xfrm flipV="1">
            <a:off x="4029798" y="2307643"/>
            <a:ext cx="616814" cy="295556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0" name="Straight Arrow Connector 29"/>
          <p:cNvCxnSpPr>
            <a:stCxn id="13" idx="6"/>
            <a:endCxn id="16" idx="2"/>
          </p:cNvCxnSpPr>
          <p:nvPr/>
        </p:nvCxnSpPr>
        <p:spPr>
          <a:xfrm flipV="1">
            <a:off x="4029798" y="3447035"/>
            <a:ext cx="616814" cy="181617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1" name="Straight Arrow Connector 30"/>
          <p:cNvCxnSpPr>
            <a:stCxn id="13" idx="6"/>
            <a:endCxn id="15" idx="2"/>
          </p:cNvCxnSpPr>
          <p:nvPr/>
        </p:nvCxnSpPr>
        <p:spPr>
          <a:xfrm flipV="1">
            <a:off x="4029798" y="4586427"/>
            <a:ext cx="616814" cy="676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2" name="Straight Arrow Connector 31"/>
          <p:cNvCxnSpPr>
            <a:stCxn id="13" idx="6"/>
            <a:endCxn id="14" idx="2"/>
          </p:cNvCxnSpPr>
          <p:nvPr/>
        </p:nvCxnSpPr>
        <p:spPr>
          <a:xfrm>
            <a:off x="4029798" y="5263211"/>
            <a:ext cx="616814" cy="462611"/>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3" name="Straight Arrow Connector 32"/>
          <p:cNvCxnSpPr>
            <a:stCxn id="17" idx="6"/>
            <a:endCxn id="21" idx="2"/>
          </p:cNvCxnSpPr>
          <p:nvPr/>
        </p:nvCxnSpPr>
        <p:spPr>
          <a:xfrm>
            <a:off x="5571834" y="2307643"/>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4" name="Straight Arrow Connector 33"/>
          <p:cNvCxnSpPr>
            <a:stCxn id="17" idx="6"/>
            <a:endCxn id="20" idx="2"/>
          </p:cNvCxnSpPr>
          <p:nvPr/>
        </p:nvCxnSpPr>
        <p:spPr>
          <a:xfrm>
            <a:off x="5571834" y="2307643"/>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5" name="Straight Arrow Connector 34"/>
          <p:cNvCxnSpPr>
            <a:stCxn id="17" idx="6"/>
            <a:endCxn id="19" idx="2"/>
          </p:cNvCxnSpPr>
          <p:nvPr/>
        </p:nvCxnSpPr>
        <p:spPr>
          <a:xfrm>
            <a:off x="5571834" y="2307643"/>
            <a:ext cx="616814" cy="2278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6" name="Straight Arrow Connector 35"/>
          <p:cNvCxnSpPr>
            <a:stCxn id="17" idx="6"/>
            <a:endCxn id="18" idx="2"/>
          </p:cNvCxnSpPr>
          <p:nvPr/>
        </p:nvCxnSpPr>
        <p:spPr>
          <a:xfrm>
            <a:off x="5571834" y="2307643"/>
            <a:ext cx="616814" cy="34181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7" name="Straight Arrow Connector 36"/>
          <p:cNvCxnSpPr>
            <a:stCxn id="16" idx="6"/>
            <a:endCxn id="21" idx="2"/>
          </p:cNvCxnSpPr>
          <p:nvPr/>
        </p:nvCxnSpPr>
        <p:spPr>
          <a:xfrm flipV="1">
            <a:off x="5571834" y="2307643"/>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8" name="Straight Arrow Connector 37"/>
          <p:cNvCxnSpPr>
            <a:stCxn id="16" idx="6"/>
            <a:endCxn id="20" idx="2"/>
          </p:cNvCxnSpPr>
          <p:nvPr/>
        </p:nvCxnSpPr>
        <p:spPr>
          <a:xfrm>
            <a:off x="5571834" y="3447035"/>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9" name="Straight Arrow Connector 38"/>
          <p:cNvCxnSpPr>
            <a:stCxn id="16" idx="6"/>
            <a:endCxn id="19" idx="2"/>
          </p:cNvCxnSpPr>
          <p:nvPr/>
        </p:nvCxnSpPr>
        <p:spPr>
          <a:xfrm>
            <a:off x="5571834" y="3447035"/>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0" name="Straight Arrow Connector 39"/>
          <p:cNvCxnSpPr>
            <a:stCxn id="16" idx="6"/>
            <a:endCxn id="18" idx="2"/>
          </p:cNvCxnSpPr>
          <p:nvPr/>
        </p:nvCxnSpPr>
        <p:spPr>
          <a:xfrm>
            <a:off x="5571834" y="3447035"/>
            <a:ext cx="616814" cy="227878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1" name="Straight Arrow Connector 40"/>
          <p:cNvCxnSpPr>
            <a:stCxn id="15" idx="6"/>
            <a:endCxn id="21" idx="2"/>
          </p:cNvCxnSpPr>
          <p:nvPr/>
        </p:nvCxnSpPr>
        <p:spPr>
          <a:xfrm flipV="1">
            <a:off x="5571834" y="2307643"/>
            <a:ext cx="616814" cy="2278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2" name="Straight Arrow Connector 41"/>
          <p:cNvCxnSpPr>
            <a:stCxn id="15" idx="6"/>
            <a:endCxn id="20" idx="2"/>
          </p:cNvCxnSpPr>
          <p:nvPr/>
        </p:nvCxnSpPr>
        <p:spPr>
          <a:xfrm flipV="1">
            <a:off x="5571834" y="3447035"/>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3" name="Straight Arrow Connector 42"/>
          <p:cNvCxnSpPr>
            <a:stCxn id="15" idx="6"/>
            <a:endCxn id="19" idx="2"/>
          </p:cNvCxnSpPr>
          <p:nvPr/>
        </p:nvCxnSpPr>
        <p:spPr>
          <a:xfrm>
            <a:off x="5571834" y="4586427"/>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4" name="Straight Arrow Connector 43"/>
          <p:cNvCxnSpPr>
            <a:stCxn id="15" idx="6"/>
            <a:endCxn id="18" idx="2"/>
          </p:cNvCxnSpPr>
          <p:nvPr/>
        </p:nvCxnSpPr>
        <p:spPr>
          <a:xfrm>
            <a:off x="5571834" y="4586427"/>
            <a:ext cx="616814" cy="113939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5" name="Straight Arrow Connector 44"/>
          <p:cNvCxnSpPr>
            <a:stCxn id="14" idx="6"/>
            <a:endCxn id="21" idx="2"/>
          </p:cNvCxnSpPr>
          <p:nvPr/>
        </p:nvCxnSpPr>
        <p:spPr>
          <a:xfrm flipV="1">
            <a:off x="5571834" y="2307643"/>
            <a:ext cx="616814" cy="34181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6" name="Straight Arrow Connector 45"/>
          <p:cNvCxnSpPr>
            <a:stCxn id="14" idx="6"/>
            <a:endCxn id="20" idx="2"/>
          </p:cNvCxnSpPr>
          <p:nvPr/>
        </p:nvCxnSpPr>
        <p:spPr>
          <a:xfrm flipV="1">
            <a:off x="5571834" y="3447035"/>
            <a:ext cx="616814" cy="227878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7" name="Straight Arrow Connector 46"/>
          <p:cNvCxnSpPr>
            <a:stCxn id="14" idx="7"/>
            <a:endCxn id="19" idx="2"/>
          </p:cNvCxnSpPr>
          <p:nvPr/>
        </p:nvCxnSpPr>
        <p:spPr>
          <a:xfrm flipV="1">
            <a:off x="5436339" y="4586427"/>
            <a:ext cx="752309" cy="81227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8" name="Straight Arrow Connector 47"/>
          <p:cNvCxnSpPr>
            <a:stCxn id="14" idx="6"/>
            <a:endCxn id="18" idx="2"/>
          </p:cNvCxnSpPr>
          <p:nvPr/>
        </p:nvCxnSpPr>
        <p:spPr>
          <a:xfrm>
            <a:off x="5571834" y="5725821"/>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9" name="Straight Arrow Connector 48"/>
          <p:cNvCxnSpPr>
            <a:stCxn id="21" idx="6"/>
            <a:endCxn id="26" idx="2"/>
          </p:cNvCxnSpPr>
          <p:nvPr/>
        </p:nvCxnSpPr>
        <p:spPr>
          <a:xfrm>
            <a:off x="7113869" y="2307643"/>
            <a:ext cx="684073" cy="55899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0" name="Straight Arrow Connector 49"/>
          <p:cNvCxnSpPr>
            <a:stCxn id="21" idx="6"/>
            <a:endCxn id="27" idx="2"/>
          </p:cNvCxnSpPr>
          <p:nvPr/>
        </p:nvCxnSpPr>
        <p:spPr>
          <a:xfrm>
            <a:off x="7113869" y="2307643"/>
            <a:ext cx="684073" cy="17572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1" name="Straight Arrow Connector 50"/>
          <p:cNvCxnSpPr>
            <a:stCxn id="21" idx="6"/>
            <a:endCxn id="28" idx="2"/>
          </p:cNvCxnSpPr>
          <p:nvPr/>
        </p:nvCxnSpPr>
        <p:spPr>
          <a:xfrm>
            <a:off x="7113869" y="2307643"/>
            <a:ext cx="684073" cy="295556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2" name="Straight Arrow Connector 51"/>
          <p:cNvCxnSpPr>
            <a:stCxn id="20" idx="6"/>
            <a:endCxn id="26" idx="2"/>
          </p:cNvCxnSpPr>
          <p:nvPr/>
        </p:nvCxnSpPr>
        <p:spPr>
          <a:xfrm flipV="1">
            <a:off x="7113869" y="2866633"/>
            <a:ext cx="684073" cy="58040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3" name="Straight Arrow Connector 52"/>
          <p:cNvCxnSpPr>
            <a:stCxn id="20" idx="6"/>
            <a:endCxn id="27" idx="2"/>
          </p:cNvCxnSpPr>
          <p:nvPr/>
        </p:nvCxnSpPr>
        <p:spPr>
          <a:xfrm>
            <a:off x="7113869" y="3447035"/>
            <a:ext cx="684073" cy="617887"/>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4" name="Straight Arrow Connector 53"/>
          <p:cNvCxnSpPr>
            <a:stCxn id="20" idx="6"/>
            <a:endCxn id="28" idx="2"/>
          </p:cNvCxnSpPr>
          <p:nvPr/>
        </p:nvCxnSpPr>
        <p:spPr>
          <a:xfrm>
            <a:off x="7113869" y="3447035"/>
            <a:ext cx="684073" cy="181617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5" name="Straight Arrow Connector 54"/>
          <p:cNvCxnSpPr>
            <a:stCxn id="19" idx="6"/>
            <a:endCxn id="28" idx="2"/>
          </p:cNvCxnSpPr>
          <p:nvPr/>
        </p:nvCxnSpPr>
        <p:spPr>
          <a:xfrm>
            <a:off x="7113869" y="4586427"/>
            <a:ext cx="684073" cy="676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6" name="Straight Arrow Connector 55"/>
          <p:cNvCxnSpPr>
            <a:stCxn id="19" idx="6"/>
            <a:endCxn id="26" idx="2"/>
          </p:cNvCxnSpPr>
          <p:nvPr/>
        </p:nvCxnSpPr>
        <p:spPr>
          <a:xfrm flipV="1">
            <a:off x="7113869" y="2866633"/>
            <a:ext cx="684073" cy="171979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7" name="Straight Arrow Connector 56"/>
          <p:cNvCxnSpPr>
            <a:stCxn id="19" idx="6"/>
            <a:endCxn id="27" idx="2"/>
          </p:cNvCxnSpPr>
          <p:nvPr/>
        </p:nvCxnSpPr>
        <p:spPr>
          <a:xfrm flipV="1">
            <a:off x="7113869" y="4064922"/>
            <a:ext cx="684073" cy="52150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8" name="Straight Arrow Connector 57"/>
          <p:cNvCxnSpPr>
            <a:stCxn id="18" idx="6"/>
            <a:endCxn id="26" idx="2"/>
          </p:cNvCxnSpPr>
          <p:nvPr/>
        </p:nvCxnSpPr>
        <p:spPr>
          <a:xfrm flipV="1">
            <a:off x="7113869" y="2866633"/>
            <a:ext cx="684073" cy="285918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9" name="Straight Arrow Connector 58"/>
          <p:cNvCxnSpPr>
            <a:stCxn id="18" idx="6"/>
            <a:endCxn id="27" idx="2"/>
          </p:cNvCxnSpPr>
          <p:nvPr/>
        </p:nvCxnSpPr>
        <p:spPr>
          <a:xfrm flipV="1">
            <a:off x="7113869" y="4064922"/>
            <a:ext cx="684073" cy="166090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0" name="Straight Arrow Connector 59"/>
          <p:cNvCxnSpPr>
            <a:stCxn id="18" idx="6"/>
            <a:endCxn id="28" idx="2"/>
          </p:cNvCxnSpPr>
          <p:nvPr/>
        </p:nvCxnSpPr>
        <p:spPr>
          <a:xfrm flipV="1">
            <a:off x="7113869" y="5263211"/>
            <a:ext cx="684073" cy="462611"/>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1" name="Straight Arrow Connector 60"/>
          <p:cNvCxnSpPr>
            <a:stCxn id="26" idx="6"/>
          </p:cNvCxnSpPr>
          <p:nvPr/>
        </p:nvCxnSpPr>
        <p:spPr>
          <a:xfrm>
            <a:off x="8723163" y="2866633"/>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2" name="Straight Arrow Connector 61"/>
          <p:cNvCxnSpPr>
            <a:stCxn id="27" idx="6"/>
          </p:cNvCxnSpPr>
          <p:nvPr/>
        </p:nvCxnSpPr>
        <p:spPr>
          <a:xfrm>
            <a:off x="8723163" y="4064922"/>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3" name="Straight Arrow Connector 62"/>
          <p:cNvCxnSpPr>
            <a:stCxn id="28" idx="6"/>
          </p:cNvCxnSpPr>
          <p:nvPr/>
        </p:nvCxnSpPr>
        <p:spPr>
          <a:xfrm>
            <a:off x="8723163" y="5263211"/>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4" name="Straight Arrow Connector 63"/>
          <p:cNvCxnSpPr>
            <a:endCxn id="11" idx="2"/>
          </p:cNvCxnSpPr>
          <p:nvPr/>
        </p:nvCxnSpPr>
        <p:spPr>
          <a:xfrm>
            <a:off x="2214980" y="2866633"/>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5" name="Straight Arrow Connector 64"/>
          <p:cNvCxnSpPr>
            <a:endCxn id="12" idx="2"/>
          </p:cNvCxnSpPr>
          <p:nvPr/>
        </p:nvCxnSpPr>
        <p:spPr>
          <a:xfrm>
            <a:off x="2214980" y="4064922"/>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6" name="Straight Arrow Connector 65"/>
          <p:cNvCxnSpPr>
            <a:endCxn id="13" idx="2"/>
          </p:cNvCxnSpPr>
          <p:nvPr/>
        </p:nvCxnSpPr>
        <p:spPr>
          <a:xfrm>
            <a:off x="2214980" y="5263211"/>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grpSp>
        <p:nvGrpSpPr>
          <p:cNvPr id="67" name="Group 66"/>
          <p:cNvGrpSpPr/>
          <p:nvPr/>
        </p:nvGrpSpPr>
        <p:grpSpPr>
          <a:xfrm>
            <a:off x="4782108" y="2003076"/>
            <a:ext cx="654231" cy="654231"/>
            <a:chOff x="7809054" y="304800"/>
            <a:chExt cx="654231" cy="654231"/>
          </a:xfrm>
        </p:grpSpPr>
        <p:cxnSp>
          <p:nvCxnSpPr>
            <p:cNvPr id="68" name="Straight Connector 67"/>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6314402" y="1978524"/>
            <a:ext cx="654231" cy="654231"/>
            <a:chOff x="7809054" y="304800"/>
            <a:chExt cx="654231" cy="654231"/>
          </a:xfrm>
        </p:grpSpPr>
        <p:cxnSp>
          <p:nvCxnSpPr>
            <p:cNvPr id="71" name="Straight Connector 70"/>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6324143" y="3148789"/>
            <a:ext cx="654231" cy="654231"/>
            <a:chOff x="7809054" y="304800"/>
            <a:chExt cx="654231" cy="654231"/>
          </a:xfrm>
        </p:grpSpPr>
        <p:cxnSp>
          <p:nvCxnSpPr>
            <p:cNvPr id="74" name="Straight Connector 73"/>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4791849" y="4270588"/>
            <a:ext cx="654231" cy="654231"/>
            <a:chOff x="7809054" y="304800"/>
            <a:chExt cx="654231" cy="654231"/>
          </a:xfrm>
        </p:grpSpPr>
        <p:cxnSp>
          <p:nvCxnSpPr>
            <p:cNvPr id="77" name="Straight Connector 76"/>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4791849" y="5398703"/>
            <a:ext cx="654231" cy="654231"/>
            <a:chOff x="7809054" y="304800"/>
            <a:chExt cx="654231" cy="654231"/>
          </a:xfrm>
        </p:grpSpPr>
        <p:cxnSp>
          <p:nvCxnSpPr>
            <p:cNvPr id="80" name="Straight Connector 79"/>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82" name="Group 81"/>
          <p:cNvGrpSpPr/>
          <p:nvPr/>
        </p:nvGrpSpPr>
        <p:grpSpPr>
          <a:xfrm>
            <a:off x="3252390" y="3737805"/>
            <a:ext cx="654231" cy="654231"/>
            <a:chOff x="7809054" y="304800"/>
            <a:chExt cx="654231" cy="654231"/>
          </a:xfrm>
        </p:grpSpPr>
        <p:cxnSp>
          <p:nvCxnSpPr>
            <p:cNvPr id="83" name="Straight Connector 82"/>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4980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3 etc.</a:t>
            </a:r>
            <a:endParaRPr lang="en-US" dirty="0"/>
          </a:p>
        </p:txBody>
      </p:sp>
      <p:sp>
        <p:nvSpPr>
          <p:cNvPr id="6" name="Oval 5"/>
          <p:cNvSpPr/>
          <p:nvPr/>
        </p:nvSpPr>
        <p:spPr>
          <a:xfrm>
            <a:off x="3104577" y="2404022"/>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solidFill>
                <a:schemeClr val="tx2"/>
              </a:solidFill>
            </a:endParaRPr>
          </a:p>
        </p:txBody>
      </p:sp>
      <mc:AlternateContent xmlns:mc="http://schemas.openxmlformats.org/markup-compatibility/2006" xmlns:a14="http://schemas.microsoft.com/office/drawing/2010/main">
        <mc:Choice Requires="a14">
          <p:sp>
            <p:nvSpPr>
              <p:cNvPr id="8" name="Oval 7"/>
              <p:cNvSpPr/>
              <p:nvPr/>
            </p:nvSpPr>
            <p:spPr>
              <a:xfrm>
                <a:off x="3104577" y="36023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tx2"/>
                          </a:solidFill>
                          <a:latin typeface="Cambria Math" charset="0"/>
                        </a:rPr>
                        <m:t> </m:t>
                      </m:r>
                    </m:oMath>
                  </m:oMathPara>
                </a14:m>
                <a:endParaRPr lang="en-US" sz="2400" dirty="0"/>
              </a:p>
            </p:txBody>
          </p:sp>
        </mc:Choice>
        <mc:Fallback xmlns="">
          <p:sp>
            <p:nvSpPr>
              <p:cNvPr id="8" name="Oval 7"/>
              <p:cNvSpPr>
                <a:spLocks noRot="1" noChangeAspect="1" noMove="1" noResize="1" noEditPoints="1" noAdjustHandles="1" noChangeArrowheads="1" noChangeShapeType="1" noTextEdit="1"/>
              </p:cNvSpPr>
              <p:nvPr/>
            </p:nvSpPr>
            <p:spPr>
              <a:xfrm>
                <a:off x="3104577" y="3602311"/>
                <a:ext cx="925221" cy="925221"/>
              </a:xfrm>
              <a:prstGeom prst="ellipse">
                <a:avLst/>
              </a:prstGeom>
              <a:blipFill rotWithShape="0">
                <a:blip r:embed="rId3"/>
                <a:stretch>
                  <a:fillRect t="-24026" b="-40260"/>
                </a:stretch>
              </a:blipFill>
              <a:ln>
                <a:solidFill>
                  <a:schemeClr val="tx2"/>
                </a:solidFill>
              </a:ln>
            </p:spPr>
            <p:txBody>
              <a:bodyPr/>
              <a:lstStyle/>
              <a:p>
                <a:r>
                  <a:rPr lang="en-US">
                    <a:noFill/>
                  </a:rPr>
                  <a:t> </a:t>
                </a:r>
              </a:p>
            </p:txBody>
          </p:sp>
        </mc:Fallback>
      </mc:AlternateContent>
      <p:sp>
        <p:nvSpPr>
          <p:cNvPr id="9" name="Oval 8"/>
          <p:cNvSpPr/>
          <p:nvPr/>
        </p:nvSpPr>
        <p:spPr>
          <a:xfrm>
            <a:off x="3104577" y="4800600"/>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0" name="Oval 9"/>
          <p:cNvSpPr/>
          <p:nvPr/>
        </p:nvSpPr>
        <p:spPr>
          <a:xfrm>
            <a:off x="4646612" y="52632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1" name="Oval 10"/>
          <p:cNvSpPr/>
          <p:nvPr/>
        </p:nvSpPr>
        <p:spPr>
          <a:xfrm>
            <a:off x="4646612" y="4123816"/>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2" name="Oval 11"/>
          <p:cNvSpPr/>
          <p:nvPr/>
        </p:nvSpPr>
        <p:spPr>
          <a:xfrm>
            <a:off x="4646612" y="2984424"/>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3" name="Oval 12"/>
          <p:cNvSpPr/>
          <p:nvPr/>
        </p:nvSpPr>
        <p:spPr>
          <a:xfrm>
            <a:off x="4646612" y="1845032"/>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4" name="Oval 13"/>
          <p:cNvSpPr/>
          <p:nvPr/>
        </p:nvSpPr>
        <p:spPr>
          <a:xfrm>
            <a:off x="6188648" y="5263211"/>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5" name="Oval 14"/>
          <p:cNvSpPr/>
          <p:nvPr/>
        </p:nvSpPr>
        <p:spPr>
          <a:xfrm>
            <a:off x="6188648" y="4123816"/>
            <a:ext cx="925221" cy="925221"/>
          </a:xfrm>
          <a:prstGeom prst="ellipse">
            <a:avLst/>
          </a:prstGeom>
          <a:ln>
            <a:solidFill>
              <a:schemeClr val="tx2"/>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6" name="Oval 15"/>
          <p:cNvSpPr/>
          <p:nvPr/>
        </p:nvSpPr>
        <p:spPr>
          <a:xfrm>
            <a:off x="6188648" y="2984424"/>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7" name="Oval 16"/>
          <p:cNvSpPr/>
          <p:nvPr/>
        </p:nvSpPr>
        <p:spPr>
          <a:xfrm>
            <a:off x="6188648" y="184503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dirty="0"/>
          </a:p>
        </p:txBody>
      </p:sp>
      <p:sp>
        <p:nvSpPr>
          <p:cNvPr id="18" name="Oval 17"/>
          <p:cNvSpPr/>
          <p:nvPr/>
        </p:nvSpPr>
        <p:spPr>
          <a:xfrm>
            <a:off x="7797942" y="2404022"/>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sp>
        <p:nvSpPr>
          <p:cNvPr id="19" name="Oval 18"/>
          <p:cNvSpPr/>
          <p:nvPr/>
        </p:nvSpPr>
        <p:spPr>
          <a:xfrm>
            <a:off x="7797942" y="3602311"/>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sp>
        <p:nvSpPr>
          <p:cNvPr id="20" name="Oval 19"/>
          <p:cNvSpPr/>
          <p:nvPr/>
        </p:nvSpPr>
        <p:spPr>
          <a:xfrm>
            <a:off x="7797942" y="4800600"/>
            <a:ext cx="925221" cy="92522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solidFill>
                <a:schemeClr val="tx2"/>
              </a:solidFill>
            </a:endParaRPr>
          </a:p>
        </p:txBody>
      </p:sp>
      <p:cxnSp>
        <p:nvCxnSpPr>
          <p:cNvPr id="21" name="Straight Arrow Connector 20"/>
          <p:cNvCxnSpPr>
            <a:stCxn id="11" idx="6"/>
            <a:endCxn id="17" idx="2"/>
          </p:cNvCxnSpPr>
          <p:nvPr/>
        </p:nvCxnSpPr>
        <p:spPr>
          <a:xfrm flipV="1">
            <a:off x="4029798" y="2307643"/>
            <a:ext cx="616814" cy="55899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2" name="Straight Arrow Connector 21"/>
          <p:cNvCxnSpPr>
            <a:stCxn id="11" idx="6"/>
            <a:endCxn id="16" idx="2"/>
          </p:cNvCxnSpPr>
          <p:nvPr/>
        </p:nvCxnSpPr>
        <p:spPr>
          <a:xfrm>
            <a:off x="4029798" y="2866633"/>
            <a:ext cx="616814" cy="58040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3" name="Straight Arrow Connector 22"/>
          <p:cNvCxnSpPr>
            <a:stCxn id="11" idx="6"/>
            <a:endCxn id="15" idx="2"/>
          </p:cNvCxnSpPr>
          <p:nvPr/>
        </p:nvCxnSpPr>
        <p:spPr>
          <a:xfrm>
            <a:off x="4029798" y="2866633"/>
            <a:ext cx="616814" cy="171979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4" name="Straight Arrow Connector 23"/>
          <p:cNvCxnSpPr>
            <a:stCxn id="11" idx="6"/>
            <a:endCxn id="14" idx="2"/>
          </p:cNvCxnSpPr>
          <p:nvPr/>
        </p:nvCxnSpPr>
        <p:spPr>
          <a:xfrm>
            <a:off x="4029798" y="2866633"/>
            <a:ext cx="616814" cy="285918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5" name="Straight Arrow Connector 24"/>
          <p:cNvCxnSpPr>
            <a:stCxn id="12" idx="6"/>
            <a:endCxn id="17" idx="2"/>
          </p:cNvCxnSpPr>
          <p:nvPr/>
        </p:nvCxnSpPr>
        <p:spPr>
          <a:xfrm flipV="1">
            <a:off x="4029798" y="2307643"/>
            <a:ext cx="616814" cy="17572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6" name="Straight Arrow Connector 25"/>
          <p:cNvCxnSpPr>
            <a:stCxn id="12" idx="6"/>
            <a:endCxn id="16" idx="2"/>
          </p:cNvCxnSpPr>
          <p:nvPr/>
        </p:nvCxnSpPr>
        <p:spPr>
          <a:xfrm flipV="1">
            <a:off x="4029798" y="3447035"/>
            <a:ext cx="616814" cy="617887"/>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7" name="Straight Arrow Connector 26"/>
          <p:cNvCxnSpPr>
            <a:stCxn id="12" idx="6"/>
            <a:endCxn id="15" idx="2"/>
          </p:cNvCxnSpPr>
          <p:nvPr/>
        </p:nvCxnSpPr>
        <p:spPr>
          <a:xfrm>
            <a:off x="4029798" y="4064922"/>
            <a:ext cx="616814" cy="52150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8" name="Straight Arrow Connector 27"/>
          <p:cNvCxnSpPr>
            <a:stCxn id="12" idx="6"/>
            <a:endCxn id="14" idx="2"/>
          </p:cNvCxnSpPr>
          <p:nvPr/>
        </p:nvCxnSpPr>
        <p:spPr>
          <a:xfrm>
            <a:off x="4029798" y="4064922"/>
            <a:ext cx="616814" cy="166090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29" name="Straight Arrow Connector 28"/>
          <p:cNvCxnSpPr>
            <a:stCxn id="13" idx="6"/>
            <a:endCxn id="17" idx="2"/>
          </p:cNvCxnSpPr>
          <p:nvPr/>
        </p:nvCxnSpPr>
        <p:spPr>
          <a:xfrm flipV="1">
            <a:off x="4029798" y="2307643"/>
            <a:ext cx="616814" cy="295556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0" name="Straight Arrow Connector 29"/>
          <p:cNvCxnSpPr>
            <a:stCxn id="13" idx="6"/>
            <a:endCxn id="16" idx="2"/>
          </p:cNvCxnSpPr>
          <p:nvPr/>
        </p:nvCxnSpPr>
        <p:spPr>
          <a:xfrm flipV="1">
            <a:off x="4029798" y="3447035"/>
            <a:ext cx="616814" cy="181617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1" name="Straight Arrow Connector 30"/>
          <p:cNvCxnSpPr>
            <a:stCxn id="13" idx="6"/>
            <a:endCxn id="15" idx="2"/>
          </p:cNvCxnSpPr>
          <p:nvPr/>
        </p:nvCxnSpPr>
        <p:spPr>
          <a:xfrm flipV="1">
            <a:off x="4029798" y="4586427"/>
            <a:ext cx="616814" cy="676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2" name="Straight Arrow Connector 31"/>
          <p:cNvCxnSpPr>
            <a:stCxn id="13" idx="6"/>
            <a:endCxn id="14" idx="2"/>
          </p:cNvCxnSpPr>
          <p:nvPr/>
        </p:nvCxnSpPr>
        <p:spPr>
          <a:xfrm>
            <a:off x="4029798" y="5263211"/>
            <a:ext cx="616814" cy="462611"/>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3" name="Straight Arrow Connector 32"/>
          <p:cNvCxnSpPr>
            <a:stCxn id="17" idx="6"/>
            <a:endCxn id="21" idx="2"/>
          </p:cNvCxnSpPr>
          <p:nvPr/>
        </p:nvCxnSpPr>
        <p:spPr>
          <a:xfrm>
            <a:off x="5571834" y="2307643"/>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4" name="Straight Arrow Connector 33"/>
          <p:cNvCxnSpPr>
            <a:stCxn id="17" idx="6"/>
            <a:endCxn id="20" idx="2"/>
          </p:cNvCxnSpPr>
          <p:nvPr/>
        </p:nvCxnSpPr>
        <p:spPr>
          <a:xfrm>
            <a:off x="5571834" y="2307643"/>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5" name="Straight Arrow Connector 34"/>
          <p:cNvCxnSpPr>
            <a:stCxn id="17" idx="6"/>
            <a:endCxn id="19" idx="2"/>
          </p:cNvCxnSpPr>
          <p:nvPr/>
        </p:nvCxnSpPr>
        <p:spPr>
          <a:xfrm>
            <a:off x="5571834" y="2307643"/>
            <a:ext cx="616814" cy="2278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6" name="Straight Arrow Connector 35"/>
          <p:cNvCxnSpPr>
            <a:stCxn id="17" idx="6"/>
            <a:endCxn id="18" idx="2"/>
          </p:cNvCxnSpPr>
          <p:nvPr/>
        </p:nvCxnSpPr>
        <p:spPr>
          <a:xfrm>
            <a:off x="5571834" y="2307643"/>
            <a:ext cx="616814" cy="34181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7" name="Straight Arrow Connector 36"/>
          <p:cNvCxnSpPr>
            <a:stCxn id="16" idx="6"/>
            <a:endCxn id="21" idx="2"/>
          </p:cNvCxnSpPr>
          <p:nvPr/>
        </p:nvCxnSpPr>
        <p:spPr>
          <a:xfrm flipV="1">
            <a:off x="5571834" y="2307643"/>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8" name="Straight Arrow Connector 37"/>
          <p:cNvCxnSpPr>
            <a:stCxn id="16" idx="6"/>
            <a:endCxn id="20" idx="2"/>
          </p:cNvCxnSpPr>
          <p:nvPr/>
        </p:nvCxnSpPr>
        <p:spPr>
          <a:xfrm>
            <a:off x="5571834" y="3447035"/>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39" name="Straight Arrow Connector 38"/>
          <p:cNvCxnSpPr>
            <a:stCxn id="16" idx="6"/>
            <a:endCxn id="19" idx="2"/>
          </p:cNvCxnSpPr>
          <p:nvPr/>
        </p:nvCxnSpPr>
        <p:spPr>
          <a:xfrm>
            <a:off x="5571834" y="3447035"/>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0" name="Straight Arrow Connector 39"/>
          <p:cNvCxnSpPr>
            <a:stCxn id="16" idx="6"/>
            <a:endCxn id="18" idx="2"/>
          </p:cNvCxnSpPr>
          <p:nvPr/>
        </p:nvCxnSpPr>
        <p:spPr>
          <a:xfrm>
            <a:off x="5571834" y="3447035"/>
            <a:ext cx="616814" cy="227878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1" name="Straight Arrow Connector 40"/>
          <p:cNvCxnSpPr>
            <a:stCxn id="15" idx="6"/>
            <a:endCxn id="21" idx="2"/>
          </p:cNvCxnSpPr>
          <p:nvPr/>
        </p:nvCxnSpPr>
        <p:spPr>
          <a:xfrm flipV="1">
            <a:off x="5571834" y="2307643"/>
            <a:ext cx="616814" cy="2278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2" name="Straight Arrow Connector 41"/>
          <p:cNvCxnSpPr>
            <a:stCxn id="15" idx="6"/>
            <a:endCxn id="20" idx="2"/>
          </p:cNvCxnSpPr>
          <p:nvPr/>
        </p:nvCxnSpPr>
        <p:spPr>
          <a:xfrm flipV="1">
            <a:off x="5571834" y="3447035"/>
            <a:ext cx="616814" cy="113939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3" name="Straight Arrow Connector 42"/>
          <p:cNvCxnSpPr>
            <a:stCxn id="15" idx="6"/>
            <a:endCxn id="19" idx="2"/>
          </p:cNvCxnSpPr>
          <p:nvPr/>
        </p:nvCxnSpPr>
        <p:spPr>
          <a:xfrm>
            <a:off x="5571834" y="4586427"/>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4" name="Straight Arrow Connector 43"/>
          <p:cNvCxnSpPr>
            <a:stCxn id="15" idx="6"/>
            <a:endCxn id="18" idx="2"/>
          </p:cNvCxnSpPr>
          <p:nvPr/>
        </p:nvCxnSpPr>
        <p:spPr>
          <a:xfrm>
            <a:off x="5571834" y="4586427"/>
            <a:ext cx="616814" cy="113939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5" name="Straight Arrow Connector 44"/>
          <p:cNvCxnSpPr>
            <a:stCxn id="14" idx="6"/>
            <a:endCxn id="21" idx="2"/>
          </p:cNvCxnSpPr>
          <p:nvPr/>
        </p:nvCxnSpPr>
        <p:spPr>
          <a:xfrm flipV="1">
            <a:off x="5571834" y="2307643"/>
            <a:ext cx="616814" cy="34181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6" name="Straight Arrow Connector 45"/>
          <p:cNvCxnSpPr>
            <a:stCxn id="14" idx="6"/>
            <a:endCxn id="20" idx="2"/>
          </p:cNvCxnSpPr>
          <p:nvPr/>
        </p:nvCxnSpPr>
        <p:spPr>
          <a:xfrm flipV="1">
            <a:off x="5571834" y="3447035"/>
            <a:ext cx="616814" cy="227878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7" name="Straight Arrow Connector 46"/>
          <p:cNvCxnSpPr>
            <a:stCxn id="14" idx="7"/>
            <a:endCxn id="19" idx="2"/>
          </p:cNvCxnSpPr>
          <p:nvPr/>
        </p:nvCxnSpPr>
        <p:spPr>
          <a:xfrm flipV="1">
            <a:off x="5436339" y="4586427"/>
            <a:ext cx="752309" cy="81227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8" name="Straight Arrow Connector 47"/>
          <p:cNvCxnSpPr>
            <a:stCxn id="14" idx="6"/>
            <a:endCxn id="18" idx="2"/>
          </p:cNvCxnSpPr>
          <p:nvPr/>
        </p:nvCxnSpPr>
        <p:spPr>
          <a:xfrm>
            <a:off x="5571834" y="5725821"/>
            <a:ext cx="616814"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49" name="Straight Arrow Connector 48"/>
          <p:cNvCxnSpPr>
            <a:stCxn id="21" idx="6"/>
            <a:endCxn id="26" idx="2"/>
          </p:cNvCxnSpPr>
          <p:nvPr/>
        </p:nvCxnSpPr>
        <p:spPr>
          <a:xfrm>
            <a:off x="7113869" y="2307643"/>
            <a:ext cx="684073" cy="55899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0" name="Straight Arrow Connector 49"/>
          <p:cNvCxnSpPr>
            <a:stCxn id="21" idx="6"/>
            <a:endCxn id="27" idx="2"/>
          </p:cNvCxnSpPr>
          <p:nvPr/>
        </p:nvCxnSpPr>
        <p:spPr>
          <a:xfrm>
            <a:off x="7113869" y="2307643"/>
            <a:ext cx="684073" cy="175727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1" name="Straight Arrow Connector 50"/>
          <p:cNvCxnSpPr>
            <a:stCxn id="21" idx="6"/>
            <a:endCxn id="28" idx="2"/>
          </p:cNvCxnSpPr>
          <p:nvPr/>
        </p:nvCxnSpPr>
        <p:spPr>
          <a:xfrm>
            <a:off x="7113869" y="2307643"/>
            <a:ext cx="684073" cy="2955568"/>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2" name="Straight Arrow Connector 51"/>
          <p:cNvCxnSpPr>
            <a:stCxn id="20" idx="6"/>
            <a:endCxn id="26" idx="2"/>
          </p:cNvCxnSpPr>
          <p:nvPr/>
        </p:nvCxnSpPr>
        <p:spPr>
          <a:xfrm flipV="1">
            <a:off x="7113869" y="2866633"/>
            <a:ext cx="684073" cy="580402"/>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3" name="Straight Arrow Connector 52"/>
          <p:cNvCxnSpPr>
            <a:stCxn id="20" idx="6"/>
            <a:endCxn id="27" idx="2"/>
          </p:cNvCxnSpPr>
          <p:nvPr/>
        </p:nvCxnSpPr>
        <p:spPr>
          <a:xfrm>
            <a:off x="7113869" y="3447035"/>
            <a:ext cx="684073" cy="617887"/>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4" name="Straight Arrow Connector 53"/>
          <p:cNvCxnSpPr>
            <a:stCxn id="20" idx="6"/>
            <a:endCxn id="28" idx="2"/>
          </p:cNvCxnSpPr>
          <p:nvPr/>
        </p:nvCxnSpPr>
        <p:spPr>
          <a:xfrm>
            <a:off x="7113869" y="3447035"/>
            <a:ext cx="684073" cy="1816176"/>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5" name="Straight Arrow Connector 54"/>
          <p:cNvCxnSpPr>
            <a:stCxn id="19" idx="6"/>
            <a:endCxn id="28" idx="2"/>
          </p:cNvCxnSpPr>
          <p:nvPr/>
        </p:nvCxnSpPr>
        <p:spPr>
          <a:xfrm>
            <a:off x="7113869" y="4586427"/>
            <a:ext cx="684073" cy="676784"/>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6" name="Straight Arrow Connector 55"/>
          <p:cNvCxnSpPr>
            <a:stCxn id="19" idx="6"/>
            <a:endCxn id="26" idx="2"/>
          </p:cNvCxnSpPr>
          <p:nvPr/>
        </p:nvCxnSpPr>
        <p:spPr>
          <a:xfrm flipV="1">
            <a:off x="7113869" y="2866633"/>
            <a:ext cx="684073" cy="171979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7" name="Straight Arrow Connector 56"/>
          <p:cNvCxnSpPr>
            <a:stCxn id="19" idx="6"/>
            <a:endCxn id="27" idx="2"/>
          </p:cNvCxnSpPr>
          <p:nvPr/>
        </p:nvCxnSpPr>
        <p:spPr>
          <a:xfrm flipV="1">
            <a:off x="7113869" y="4064922"/>
            <a:ext cx="684073" cy="521505"/>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8" name="Straight Arrow Connector 57"/>
          <p:cNvCxnSpPr>
            <a:stCxn id="18" idx="6"/>
            <a:endCxn id="26" idx="2"/>
          </p:cNvCxnSpPr>
          <p:nvPr/>
        </p:nvCxnSpPr>
        <p:spPr>
          <a:xfrm flipV="1">
            <a:off x="7113869" y="2866633"/>
            <a:ext cx="684073" cy="2859189"/>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59" name="Straight Arrow Connector 58"/>
          <p:cNvCxnSpPr>
            <a:stCxn id="18" idx="6"/>
            <a:endCxn id="27" idx="2"/>
          </p:cNvCxnSpPr>
          <p:nvPr/>
        </p:nvCxnSpPr>
        <p:spPr>
          <a:xfrm flipV="1">
            <a:off x="7113869" y="4064922"/>
            <a:ext cx="684073" cy="166090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0" name="Straight Arrow Connector 59"/>
          <p:cNvCxnSpPr>
            <a:stCxn id="18" idx="6"/>
            <a:endCxn id="28" idx="2"/>
          </p:cNvCxnSpPr>
          <p:nvPr/>
        </p:nvCxnSpPr>
        <p:spPr>
          <a:xfrm flipV="1">
            <a:off x="7113869" y="5263211"/>
            <a:ext cx="684073" cy="462611"/>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1" name="Straight Arrow Connector 60"/>
          <p:cNvCxnSpPr>
            <a:stCxn id="26" idx="6"/>
          </p:cNvCxnSpPr>
          <p:nvPr/>
        </p:nvCxnSpPr>
        <p:spPr>
          <a:xfrm>
            <a:off x="8723163" y="2866633"/>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2" name="Straight Arrow Connector 61"/>
          <p:cNvCxnSpPr>
            <a:stCxn id="27" idx="6"/>
          </p:cNvCxnSpPr>
          <p:nvPr/>
        </p:nvCxnSpPr>
        <p:spPr>
          <a:xfrm>
            <a:off x="8723163" y="4064922"/>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3" name="Straight Arrow Connector 62"/>
          <p:cNvCxnSpPr>
            <a:stCxn id="28" idx="6"/>
          </p:cNvCxnSpPr>
          <p:nvPr/>
        </p:nvCxnSpPr>
        <p:spPr>
          <a:xfrm>
            <a:off x="8723163" y="5263211"/>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4" name="Straight Arrow Connector 63"/>
          <p:cNvCxnSpPr>
            <a:endCxn id="11" idx="2"/>
          </p:cNvCxnSpPr>
          <p:nvPr/>
        </p:nvCxnSpPr>
        <p:spPr>
          <a:xfrm>
            <a:off x="2214980" y="2866633"/>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5" name="Straight Arrow Connector 64"/>
          <p:cNvCxnSpPr>
            <a:endCxn id="12" idx="2"/>
          </p:cNvCxnSpPr>
          <p:nvPr/>
        </p:nvCxnSpPr>
        <p:spPr>
          <a:xfrm>
            <a:off x="2214980" y="4064922"/>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cxnSp>
        <p:nvCxnSpPr>
          <p:cNvPr id="66" name="Straight Arrow Connector 65"/>
          <p:cNvCxnSpPr>
            <a:endCxn id="13" idx="2"/>
          </p:cNvCxnSpPr>
          <p:nvPr/>
        </p:nvCxnSpPr>
        <p:spPr>
          <a:xfrm>
            <a:off x="2214980" y="5263211"/>
            <a:ext cx="889597" cy="0"/>
          </a:xfrm>
          <a:prstGeom prst="straightConnector1">
            <a:avLst/>
          </a:prstGeom>
          <a:ln>
            <a:solidFill>
              <a:schemeClr val="tx2"/>
            </a:solidFill>
            <a:tailEnd type="triangle"/>
          </a:ln>
        </p:spPr>
        <p:style>
          <a:lnRef idx="2">
            <a:schemeClr val="accent1"/>
          </a:lnRef>
          <a:fillRef idx="1">
            <a:schemeClr val="lt1"/>
          </a:fillRef>
          <a:effectRef idx="0">
            <a:schemeClr val="accent1"/>
          </a:effectRef>
          <a:fontRef idx="minor">
            <a:schemeClr val="dk1"/>
          </a:fontRef>
        </p:style>
      </p:cxnSp>
      <p:grpSp>
        <p:nvGrpSpPr>
          <p:cNvPr id="67" name="Group 66"/>
          <p:cNvGrpSpPr/>
          <p:nvPr/>
        </p:nvGrpSpPr>
        <p:grpSpPr>
          <a:xfrm>
            <a:off x="4782108" y="2003076"/>
            <a:ext cx="654231" cy="654231"/>
            <a:chOff x="7809054" y="304800"/>
            <a:chExt cx="654231" cy="654231"/>
          </a:xfrm>
        </p:grpSpPr>
        <p:cxnSp>
          <p:nvCxnSpPr>
            <p:cNvPr id="68" name="Straight Connector 67"/>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4782108" y="3148325"/>
            <a:ext cx="654231" cy="654231"/>
            <a:chOff x="7809054" y="304800"/>
            <a:chExt cx="654231" cy="654231"/>
          </a:xfrm>
        </p:grpSpPr>
        <p:cxnSp>
          <p:nvCxnSpPr>
            <p:cNvPr id="71" name="Straight Connector 70"/>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3" name="Group 72"/>
          <p:cNvGrpSpPr/>
          <p:nvPr/>
        </p:nvGrpSpPr>
        <p:grpSpPr>
          <a:xfrm>
            <a:off x="3240071" y="2550223"/>
            <a:ext cx="654231" cy="654231"/>
            <a:chOff x="7809054" y="304800"/>
            <a:chExt cx="654231" cy="654231"/>
          </a:xfrm>
        </p:grpSpPr>
        <p:cxnSp>
          <p:nvCxnSpPr>
            <p:cNvPr id="74" name="Straight Connector 73"/>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6" name="Group 75"/>
          <p:cNvGrpSpPr/>
          <p:nvPr/>
        </p:nvGrpSpPr>
        <p:grpSpPr>
          <a:xfrm>
            <a:off x="6324143" y="4259310"/>
            <a:ext cx="654231" cy="654231"/>
            <a:chOff x="7809054" y="304800"/>
            <a:chExt cx="654231" cy="654231"/>
          </a:xfrm>
        </p:grpSpPr>
        <p:cxnSp>
          <p:nvCxnSpPr>
            <p:cNvPr id="77" name="Straight Connector 76"/>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6306331" y="5398705"/>
            <a:ext cx="654231" cy="654231"/>
            <a:chOff x="7809054" y="304800"/>
            <a:chExt cx="654231" cy="654231"/>
          </a:xfrm>
        </p:grpSpPr>
        <p:cxnSp>
          <p:nvCxnSpPr>
            <p:cNvPr id="80" name="Straight Connector 79"/>
            <p:cNvCxnSpPr/>
            <p:nvPr/>
          </p:nvCxnSpPr>
          <p:spPr>
            <a:xfrm>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flipV="1">
              <a:off x="7809054" y="304800"/>
              <a:ext cx="654231" cy="65423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456047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Dropout: bottom line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457200" indent="-457200">
                  <a:buFont typeface="Arial" charset="0"/>
                  <a:buChar char="•"/>
                </a:pPr>
                <a:r>
                  <a:rPr lang="en-US" dirty="0" smtClean="0"/>
                  <a:t>Empirically shown to be useful for neural networks</a:t>
                </a:r>
              </a:p>
              <a:p>
                <a:pPr marL="457200" indent="-457200">
                  <a:buFont typeface="Arial" charset="0"/>
                  <a:buChar char="•"/>
                </a:pPr>
                <a:r>
                  <a:rPr lang="en-US" dirty="0" smtClean="0"/>
                  <a:t>Relatively easy to manually implement</a:t>
                </a:r>
              </a:p>
              <a:p>
                <a:pPr marL="457200" indent="-457200">
                  <a:buFont typeface="Arial" charset="0"/>
                  <a:buChar char="•"/>
                </a:pPr>
                <a:r>
                  <a:rPr lang="en-US" dirty="0" smtClean="0"/>
                  <a:t>Automatically included with </a:t>
                </a:r>
                <a:r>
                  <a:rPr lang="en-US" dirty="0" err="1" smtClean="0"/>
                  <a:t>TensorFlow</a:t>
                </a:r>
                <a:r>
                  <a:rPr lang="en-US" dirty="0" smtClean="0"/>
                  <a:t>!</a:t>
                </a:r>
                <a:r>
                  <a:rPr lang="en-US" dirty="0"/>
                  <a:t/>
                </a:r>
                <a:br>
                  <a:rPr lang="en-US" dirty="0"/>
                </a:br>
                <a:r>
                  <a:rPr lang="en-US" dirty="0" smtClean="0"/>
                  <a:t/>
                </a:r>
                <a:br>
                  <a:rPr lang="en-US" dirty="0" smtClean="0"/>
                </a:br>
                <a:r>
                  <a:rPr lang="en-US" dirty="0" err="1" smtClean="0">
                    <a:latin typeface="Consolas" charset="0"/>
                    <a:ea typeface="Consolas" charset="0"/>
                    <a:cs typeface="Consolas" charset="0"/>
                  </a:rPr>
                  <a:t>tf.nn.dropout</a:t>
                </a:r>
                <a:r>
                  <a:rPr lang="en-US" dirty="0" smtClean="0">
                    <a:latin typeface="Consolas" charset="0"/>
                    <a:ea typeface="Consolas" charset="0"/>
                    <a:cs typeface="Consolas" charset="0"/>
                  </a:rPr>
                  <a:t>(inputs, </a:t>
                </a:r>
                <a:r>
                  <a:rPr lang="en-US" dirty="0" err="1" smtClean="0">
                    <a:latin typeface="Consolas" charset="0"/>
                    <a:ea typeface="Consolas" charset="0"/>
                    <a:cs typeface="Consolas" charset="0"/>
                  </a:rPr>
                  <a:t>keep_prob</a:t>
                </a:r>
                <a:r>
                  <a:rPr lang="en-US" dirty="0" smtClean="0">
                    <a:latin typeface="Consolas" charset="0"/>
                    <a:ea typeface="Consolas" charset="0"/>
                    <a:cs typeface="Consolas" charset="0"/>
                  </a:rPr>
                  <a:t>)</a:t>
                </a:r>
              </a:p>
              <a:p>
                <a:endParaRPr lang="en-US" dirty="0" smtClean="0">
                  <a:latin typeface="Consolas" charset="0"/>
                  <a:ea typeface="Consolas" charset="0"/>
                  <a:cs typeface="Consolas" charset="0"/>
                </a:endParaRPr>
              </a:p>
              <a:p>
                <a:r>
                  <a:rPr lang="en-US" dirty="0" smtClean="0">
                    <a:latin typeface="Euphemia UCAS" charset="0"/>
                    <a:ea typeface="Euphemia UCAS" charset="0"/>
                    <a:cs typeface="Euphemia UCAS" charset="0"/>
                  </a:rPr>
                  <a:t>Scales weights for you</a:t>
                </a:r>
              </a:p>
              <a:p>
                <a:pPr marL="457200" indent="-457200">
                  <a:buFont typeface="Arial" charset="0"/>
                  <a:buChar char="•"/>
                </a:pPr>
                <a:r>
                  <a:rPr lang="en-US" dirty="0" smtClean="0">
                    <a:latin typeface="Euphemia UCAS" charset="0"/>
                    <a:ea typeface="Euphemia UCAS" charset="0"/>
                    <a:cs typeface="Euphemia UCAS" charset="0"/>
                  </a:rPr>
                  <a:t>Uses keep probability instead of drop probability</a:t>
                </a:r>
              </a:p>
              <a:p>
                <a:pPr marL="457200" indent="-457200">
                  <a:buFont typeface="Arial" charset="0"/>
                  <a:buChar char="•"/>
                </a:pPr>
                <a14:m>
                  <m:oMath xmlns:m="http://schemas.openxmlformats.org/officeDocument/2006/math">
                    <m:r>
                      <a:rPr lang="en-US" b="0" i="1" smtClean="0">
                        <a:latin typeface="Cambria Math" charset="0"/>
                        <a:ea typeface="Euphemia UCAS" charset="0"/>
                        <a:cs typeface="Euphemia UCAS" charset="0"/>
                      </a:rPr>
                      <m:t>𝑘𝑒𝑒𝑝</m:t>
                    </m:r>
                    <m:r>
                      <m:rPr>
                        <m:lit/>
                      </m:rPr>
                      <a:rPr lang="en-US" b="0" i="1" smtClean="0">
                        <a:latin typeface="Cambria Math" charset="0"/>
                        <a:ea typeface="Euphemia UCAS" charset="0"/>
                        <a:cs typeface="Euphemia UCAS" charset="0"/>
                      </a:rPr>
                      <m:t>_</m:t>
                    </m:r>
                    <m:r>
                      <a:rPr lang="en-US" b="0" i="1" smtClean="0">
                        <a:latin typeface="Cambria Math" charset="0"/>
                        <a:ea typeface="Euphemia UCAS" charset="0"/>
                        <a:cs typeface="Euphemia UCAS" charset="0"/>
                      </a:rPr>
                      <m:t>𝑝𝑟𝑜𝑏</m:t>
                    </m:r>
                    <m:r>
                      <a:rPr lang="en-US" b="0" i="1" smtClean="0">
                        <a:latin typeface="Cambria Math" charset="0"/>
                        <a:ea typeface="Euphemia UCAS" charset="0"/>
                        <a:cs typeface="Euphemia UCAS" charset="0"/>
                      </a:rPr>
                      <m:t>=</m:t>
                    </m:r>
                    <m:r>
                      <a:rPr lang="en-US" b="0" i="1" smtClean="0">
                        <a:latin typeface="Cambria Math" charset="0"/>
                        <a:ea typeface="Euphemia UCAS" charset="0"/>
                        <a:cs typeface="Euphemia UCAS" charset="0"/>
                      </a:rPr>
                      <m:t>𝑝</m:t>
                    </m:r>
                  </m:oMath>
                </a14:m>
                <a:endParaRPr lang="en-US" dirty="0">
                  <a:latin typeface="Euphemia UCAS" charset="0"/>
                  <a:ea typeface="Euphemia UCAS" charset="0"/>
                  <a:cs typeface="Euphemia UCAS" charset="0"/>
                </a:endParaRPr>
              </a:p>
              <a:p>
                <a:endParaRPr lang="en-US" dirty="0" smtClean="0">
                  <a:latin typeface="Euphemia" charset="0"/>
                  <a:ea typeface="Euphemia" charset="0"/>
                  <a:cs typeface="Euphemia"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1723" t="-2000" b="-2533"/>
                </a:stretch>
              </a:blipFill>
            </p:spPr>
            <p:txBody>
              <a:bodyPr/>
              <a:lstStyle/>
              <a:p>
                <a:r>
                  <a:rPr lang="en-US">
                    <a:noFill/>
                  </a:rPr>
                  <a:t> </a:t>
                </a:r>
              </a:p>
            </p:txBody>
          </p:sp>
        </mc:Fallback>
      </mc:AlternateContent>
    </p:spTree>
    <p:extLst>
      <p:ext uri="{BB962C8B-B14F-4D97-AF65-F5344CB8AC3E}">
        <p14:creationId xmlns:p14="http://schemas.microsoft.com/office/powerpoint/2010/main" val="2299758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2" y="1600201"/>
            <a:ext cx="9753599" cy="2654064"/>
          </a:xfrm>
        </p:spPr>
        <p:txBody>
          <a:bodyPr/>
          <a:lstStyle/>
          <a:p>
            <a:r>
              <a:rPr lang="en-US" dirty="0" smtClean="0"/>
              <a:t>Neural Net vs. MNIST dataset</a:t>
            </a:r>
            <a:endParaRPr lang="en-US" dirty="0"/>
          </a:p>
        </p:txBody>
      </p:sp>
    </p:spTree>
    <p:extLst>
      <p:ext uri="{BB962C8B-B14F-4D97-AF65-F5344CB8AC3E}">
        <p14:creationId xmlns:p14="http://schemas.microsoft.com/office/powerpoint/2010/main" val="19797476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MNIST: Our first “real” dataset</a:t>
            </a:r>
            <a:endParaRPr lang="en-US" dirty="0"/>
          </a:p>
        </p:txBody>
      </p:sp>
      <p:sp>
        <p:nvSpPr>
          <p:cNvPr id="3" name="Content Placeholder 2"/>
          <p:cNvSpPr>
            <a:spLocks noGrp="1"/>
          </p:cNvSpPr>
          <p:nvPr>
            <p:ph idx="1"/>
          </p:nvPr>
        </p:nvSpPr>
        <p:spPr/>
        <p:txBody>
          <a:bodyPr>
            <a:normAutofit fontScale="92500" lnSpcReduction="20000"/>
          </a:bodyPr>
          <a:lstStyle/>
          <a:p>
            <a:r>
              <a:rPr lang="en-US" sz="3200" dirty="0" smtClean="0"/>
              <a:t>MNIST:</a:t>
            </a:r>
          </a:p>
          <a:p>
            <a:pPr marL="457200" indent="-457200">
              <a:buFont typeface="Arial" charset="0"/>
              <a:buChar char="•"/>
            </a:pPr>
            <a:r>
              <a:rPr lang="en-US" sz="3200" dirty="0" smtClean="0"/>
              <a:t>labeled hand-written digits from 0-9</a:t>
            </a:r>
          </a:p>
          <a:p>
            <a:pPr marL="457200" indent="-457200">
              <a:buFont typeface="Arial" charset="0"/>
              <a:buChar char="•"/>
            </a:pPr>
            <a:r>
              <a:rPr lang="en-US" sz="3200" dirty="0" smtClean="0"/>
              <a:t>Each digit picture is grayscale,</a:t>
            </a:r>
          </a:p>
          <a:p>
            <a:pPr marL="457200" indent="-457200">
              <a:buFont typeface="Arial" charset="0"/>
              <a:buChar char="•"/>
            </a:pPr>
            <a:r>
              <a:rPr lang="en-US" sz="3200" dirty="0" smtClean="0"/>
              <a:t>28x28 pixels</a:t>
            </a:r>
          </a:p>
          <a:p>
            <a:endParaRPr lang="en-US" sz="3200" dirty="0"/>
          </a:p>
          <a:p>
            <a:r>
              <a:rPr lang="en-US" sz="3200" dirty="0" smtClean="0"/>
              <a:t>Game plan: </a:t>
            </a:r>
          </a:p>
          <a:p>
            <a:pPr marL="514350" indent="-514350">
              <a:buFont typeface="+mj-lt"/>
              <a:buAutoNum type="arabicPeriod"/>
            </a:pPr>
            <a:r>
              <a:rPr lang="en-US" sz="3200" dirty="0" smtClean="0"/>
              <a:t>convert 2D matrices of pixels into vectors</a:t>
            </a:r>
          </a:p>
          <a:p>
            <a:pPr marL="514350" indent="-514350">
              <a:buFont typeface="+mj-lt"/>
              <a:buAutoNum type="arabicPeriod"/>
            </a:pPr>
            <a:r>
              <a:rPr lang="en-US" sz="3200" dirty="0" smtClean="0"/>
              <a:t>pass into our neural network</a:t>
            </a:r>
          </a:p>
        </p:txBody>
      </p:sp>
    </p:spTree>
    <p:extLst>
      <p:ext uri="{BB962C8B-B14F-4D97-AF65-F5344CB8AC3E}">
        <p14:creationId xmlns:p14="http://schemas.microsoft.com/office/powerpoint/2010/main" val="13025097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IS_PPT Template_ClearPro_16x9_051915">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S_External_Template_ClearPro_16x9.potx [Read-Only]" id="{6AFB86A7-0267-4CB1-9FC3-652CFE2BAB26}" vid="{5D3D9D23-DC57-4FBF-B0A2-198F4179BAD5}"/>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IS_External_Template_ClearPro_16x9</Template>
  <TotalTime>0</TotalTime>
  <Words>2578</Words>
  <Application>Microsoft Office PowerPoint</Application>
  <PresentationFormat>Custom</PresentationFormat>
  <Paragraphs>689</Paragraphs>
  <Slides>84</Slides>
  <Notes>44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84</vt:i4>
      </vt:variant>
    </vt:vector>
  </HeadingPairs>
  <TitlesOfParts>
    <vt:vector size="96" baseType="lpstr">
      <vt:lpstr>Arial</vt:lpstr>
      <vt:lpstr>Cambria Math</vt:lpstr>
      <vt:lpstr>Consolas</vt:lpstr>
      <vt:lpstr>Euphemia</vt:lpstr>
      <vt:lpstr>Euphemia UCAS</vt:lpstr>
      <vt:lpstr>Intel Clear</vt:lpstr>
      <vt:lpstr>Intel Clear Light</vt:lpstr>
      <vt:lpstr>Intel Clear Pro</vt:lpstr>
      <vt:lpstr>Lucida Grande</vt:lpstr>
      <vt:lpstr>Neo Sans Intel</vt:lpstr>
      <vt:lpstr>Wingdings</vt:lpstr>
      <vt:lpstr>IS_PPT Template_ClearPro_16x9_051915</vt:lpstr>
      <vt:lpstr>Backpropagation and Dropout</vt:lpstr>
      <vt:lpstr>Legal Notices and Disclaimers</vt:lpstr>
      <vt:lpstr>Batching</vt:lpstr>
      <vt:lpstr>Full batch gradient descent</vt:lpstr>
      <vt:lpstr>Mini-batching</vt:lpstr>
      <vt:lpstr>Stochastic Gradient Descent (SGD)</vt:lpstr>
      <vt:lpstr>What steps might look like for different batch sizes</vt:lpstr>
      <vt:lpstr>Batching terminology cheat-sheet</vt:lpstr>
      <vt:lpstr>Epochs</vt:lpstr>
      <vt:lpstr>Shuffling</vt:lpstr>
      <vt:lpstr>Splitting data up into batches</vt:lpstr>
      <vt:lpstr>Splitting data up into batches</vt:lpstr>
      <vt:lpstr>Splitting data up into batches</vt:lpstr>
      <vt:lpstr>Splitting data up into batches</vt:lpstr>
      <vt:lpstr>Splitting data up into batches</vt:lpstr>
      <vt:lpstr>Splitting data up into batches</vt:lpstr>
      <vt:lpstr>First epoch completed</vt:lpstr>
      <vt:lpstr>Shuffle the data!</vt:lpstr>
      <vt:lpstr>Continue training</vt:lpstr>
      <vt:lpstr>Multi-class classification</vt:lpstr>
      <vt:lpstr>One-hot vectors</vt:lpstr>
      <vt:lpstr>Multi-class classification</vt:lpstr>
      <vt:lpstr>Thought 1: Just use a regular vector</vt:lpstr>
      <vt:lpstr>A better way: Softmax</vt:lpstr>
      <vt:lpstr>Loss function: Cross entropy</vt:lpstr>
      <vt:lpstr>Derivative of cross-entropy with softmax input</vt:lpstr>
      <vt:lpstr>Backpropagation</vt:lpstr>
      <vt:lpstr>Backpropagation</vt:lpstr>
      <vt:lpstr>PowerPoint Presentation</vt:lpstr>
      <vt:lpstr>Equations for the model</vt:lpstr>
      <vt:lpstr>Getting partial derivatives</vt:lpstr>
      <vt:lpstr>Getting partial derivatives</vt:lpstr>
      <vt:lpstr>Getting partial derivatives</vt:lpstr>
      <vt:lpstr>Getting partial derivatives</vt:lpstr>
      <vt:lpstr>Getting partial derivatives</vt:lpstr>
      <vt:lpstr>Getting partial derivatives</vt:lpstr>
      <vt:lpstr>Getting partial derivatives</vt:lpstr>
      <vt:lpstr>Can now use the chain rule!</vt:lpstr>
      <vt:lpstr>Can now use the chain rule!</vt:lpstr>
      <vt:lpstr>Fill in for specific values</vt:lpstr>
      <vt:lpstr>Visual intuition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error signal: δ</vt:lpstr>
      <vt:lpstr>The error signal: δ</vt:lpstr>
      <vt:lpstr>PowerPoint Presentation</vt:lpstr>
      <vt:lpstr>Error signal in practices</vt:lpstr>
      <vt:lpstr>Mental break</vt:lpstr>
      <vt:lpstr>A potential problem.</vt:lpstr>
      <vt:lpstr>Range of σ^′ (z)?</vt:lpstr>
      <vt:lpstr>What happens to our gradient, as layers increase?</vt:lpstr>
      <vt:lpstr>What happens if gradient is close to zero?</vt:lpstr>
      <vt:lpstr>Not training is bad.</vt:lpstr>
      <vt:lpstr>Suite of activation functions</vt:lpstr>
      <vt:lpstr>Non-linearities for deep learning</vt:lpstr>
      <vt:lpstr>Sigmoid (logistic)</vt:lpstr>
      <vt:lpstr>Sigmoid (logistic)</vt:lpstr>
      <vt:lpstr>Hyperbolic tangent (tanh)</vt:lpstr>
      <vt:lpstr>Hyperbolic Tangent</vt:lpstr>
      <vt:lpstr>Rectified Linear Unit (ReLU)</vt:lpstr>
      <vt:lpstr>Rectified Linear Unit</vt:lpstr>
      <vt:lpstr>Leaky ReLU</vt:lpstr>
      <vt:lpstr>Leaky ReLU</vt:lpstr>
      <vt:lpstr>Dropout</vt:lpstr>
      <vt:lpstr>Dropout overview</vt:lpstr>
      <vt:lpstr>Dropout model</vt:lpstr>
      <vt:lpstr>Dropout layer</vt:lpstr>
      <vt:lpstr>Knocking out and rescaling neurons</vt:lpstr>
      <vt:lpstr>Knocking out and rescaling neurons</vt:lpstr>
      <vt:lpstr>Knocking out and rescaling neurons</vt:lpstr>
      <vt:lpstr>Concept of a “pseudo-ensemble”</vt:lpstr>
      <vt:lpstr>Model 1</vt:lpstr>
      <vt:lpstr>Model 2</vt:lpstr>
      <vt:lpstr>Model 3 etc.</vt:lpstr>
      <vt:lpstr>Dropout: bottom line</vt:lpstr>
      <vt:lpstr>Neural Net vs. MNIST dataset</vt:lpstr>
      <vt:lpstr>MNIST: Our first “real” dataset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CTPClassification=CTP_NT</cp:keywords>
  <cp:lastModifiedBy/>
  <cp:revision>1</cp:revision>
  <dcterms:created xsi:type="dcterms:W3CDTF">2017-02-08T03:57:32Z</dcterms:created>
  <dcterms:modified xsi:type="dcterms:W3CDTF">2018-01-26T01:17:20Z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y fmtid="{D5CDD505-2E9C-101B-9397-08002B2CF9AE}" pid="3" name="TitusGUID">
    <vt:lpwstr>a329f796-4141-43e0-805d-60ca758f9ade</vt:lpwstr>
  </property>
  <property fmtid="{D5CDD505-2E9C-101B-9397-08002B2CF9AE}" pid="4" name="CTP_TimeStamp">
    <vt:lpwstr>2018-01-26 01:17:15Z</vt:lpwstr>
  </property>
  <property fmtid="{D5CDD505-2E9C-101B-9397-08002B2CF9AE}" pid="5" name="CTP_BU">
    <vt:lpwstr>NA</vt:lpwstr>
  </property>
  <property fmtid="{D5CDD505-2E9C-101B-9397-08002B2CF9AE}" pid="6" name="CTP_IDSID">
    <vt:lpwstr>NA</vt:lpwstr>
  </property>
  <property fmtid="{D5CDD505-2E9C-101B-9397-08002B2CF9AE}" pid="7" name="CTP_WWID">
    <vt:lpwstr>NA</vt:lpwstr>
  </property>
  <property fmtid="{D5CDD505-2E9C-101B-9397-08002B2CF9AE}" pid="8" name="CTPClassification">
    <vt:lpwstr>CTP_NT</vt:lpwstr>
  </property>
</Properties>
</file>
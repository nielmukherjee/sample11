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69"/>
  </p:notesMasterIdLst>
  <p:handoutMasterIdLst>
    <p:handoutMasterId r:id="rId70"/>
  </p:handoutMasterIdLst>
  <p:sldIdLst>
    <p:sldId id="334" r:id="rId3"/>
    <p:sldId id="335" r:id="rId4"/>
    <p:sldId id="282" r:id="rId5"/>
    <p:sldId id="256" r:id="rId6"/>
    <p:sldId id="260" r:id="rId7"/>
    <p:sldId id="262" r:id="rId8"/>
    <p:sldId id="261" r:id="rId9"/>
    <p:sldId id="267" r:id="rId10"/>
    <p:sldId id="269" r:id="rId11"/>
    <p:sldId id="268" r:id="rId12"/>
    <p:sldId id="270" r:id="rId13"/>
    <p:sldId id="271" r:id="rId14"/>
    <p:sldId id="272" r:id="rId15"/>
    <p:sldId id="276" r:id="rId16"/>
    <p:sldId id="274" r:id="rId17"/>
    <p:sldId id="275" r:id="rId18"/>
    <p:sldId id="283" r:id="rId19"/>
    <p:sldId id="26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8" r:id="rId53"/>
    <p:sldId id="317" r:id="rId54"/>
    <p:sldId id="319" r:id="rId55"/>
    <p:sldId id="320" r:id="rId56"/>
    <p:sldId id="322" r:id="rId57"/>
    <p:sldId id="323" r:id="rId58"/>
    <p:sldId id="324" r:id="rId59"/>
    <p:sldId id="325" r:id="rId60"/>
    <p:sldId id="326" r:id="rId61"/>
    <p:sldId id="327" r:id="rId62"/>
    <p:sldId id="328" r:id="rId63"/>
    <p:sldId id="329" r:id="rId64"/>
    <p:sldId id="330" r:id="rId65"/>
    <p:sldId id="331" r:id="rId66"/>
    <p:sldId id="332" r:id="rId67"/>
    <p:sldId id="333" r:id="rId68"/>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to the Class!" id="{4939A10B-AAD0-475A-94EC-E3F59A607770}">
          <p14:sldIdLst>
            <p14:sldId id="334"/>
            <p14:sldId id="335"/>
            <p14:sldId id="282"/>
          </p14:sldIdLst>
        </p14:section>
        <p14:section name="TensorFlow Background" id="{F5808A33-2B99-45E2-BE5F-F4E17A51C1F1}">
          <p14:sldIdLst>
            <p14:sldId id="256"/>
            <p14:sldId id="260"/>
            <p14:sldId id="262"/>
            <p14:sldId id="261"/>
          </p14:sldIdLst>
        </p14:section>
        <p14:section name="Computation Graphs" id="{4303569D-40D6-4E22-BCD0-ECA26ED9996D}">
          <p14:sldIdLst>
            <p14:sldId id="267"/>
            <p14:sldId id="269"/>
            <p14:sldId id="268"/>
            <p14:sldId id="270"/>
            <p14:sldId id="271"/>
            <p14:sldId id="272"/>
            <p14:sldId id="276"/>
            <p14:sldId id="274"/>
            <p14:sldId id="275"/>
          </p14:sldIdLst>
        </p14:section>
        <p14:section name="TensorFlow Basics" id="{B7E2089E-8657-496A-98EB-AD045F3C84E5}">
          <p14:sldIdLst>
            <p14:sldId id="283"/>
            <p14:sldId id="263"/>
            <p14:sldId id="284"/>
          </p14:sldIdLst>
        </p14:section>
        <p14:section name="Creating TensorFlow Graphs" id="{459C693E-B963-4E0D-AB5C-B413D4C94C5F}">
          <p14:sldIdLst>
            <p14:sldId id="285"/>
            <p14:sldId id="286"/>
            <p14:sldId id="287"/>
            <p14:sldId id="288"/>
            <p14:sldId id="289"/>
            <p14:sldId id="290"/>
            <p14:sldId id="291"/>
            <p14:sldId id="292"/>
            <p14:sldId id="293"/>
            <p14:sldId id="294"/>
            <p14:sldId id="295"/>
            <p14:sldId id="296"/>
            <p14:sldId id="297"/>
            <p14:sldId id="298"/>
            <p14:sldId id="299"/>
          </p14:sldIdLst>
        </p14:section>
        <p14:section name="Running Graphs" id="{4163DB3E-49B4-4681-9FFD-A4CB6658C159}">
          <p14:sldIdLst>
            <p14:sldId id="300"/>
            <p14:sldId id="301"/>
            <p14:sldId id="302"/>
            <p14:sldId id="303"/>
            <p14:sldId id="304"/>
            <p14:sldId id="305"/>
            <p14:sldId id="306"/>
            <p14:sldId id="307"/>
            <p14:sldId id="308"/>
            <p14:sldId id="309"/>
            <p14:sldId id="310"/>
            <p14:sldId id="311"/>
            <p14:sldId id="312"/>
            <p14:sldId id="313"/>
            <p14:sldId id="314"/>
            <p14:sldId id="315"/>
          </p14:sldIdLst>
        </p14:section>
        <p14:section name="Variables" id="{41FD97A8-B8EB-4A6F-BE91-4677BDE12FD1}">
          <p14:sldIdLst>
            <p14:sldId id="318"/>
            <p14:sldId id="317"/>
            <p14:sldId id="319"/>
            <p14:sldId id="320"/>
            <p14:sldId id="322"/>
            <p14:sldId id="323"/>
            <p14:sldId id="324"/>
            <p14:sldId id="325"/>
            <p14:sldId id="326"/>
            <p14:sldId id="327"/>
            <p14:sldId id="328"/>
            <p14:sldId id="329"/>
            <p14:sldId id="330"/>
            <p14:sldId id="331"/>
            <p14:sldId id="332"/>
            <p14:sldId id="333"/>
          </p14:sldIdLst>
        </p14:section>
      </p14:sectionLst>
    </p:ex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6B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54" autoAdjust="0"/>
    <p:restoredTop sz="91299"/>
  </p:normalViewPr>
  <p:slideViewPr>
    <p:cSldViewPr showGuides="1">
      <p:cViewPr varScale="1">
        <p:scale>
          <a:sx n="117" d="100"/>
          <a:sy n="117" d="100"/>
        </p:scale>
        <p:origin x="132" y="108"/>
      </p:cViewPr>
      <p:guideLst>
        <p:guide orient="horz" pos="2160"/>
        <p:guide pos="3839"/>
        <p:guide pos="1007"/>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 Type="http://schemas.openxmlformats.org/officeDocument/2006/relationships/slide" Target="slides/slide5.xml"/><Relationship Id="rId71"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1/25/2018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1/25/2018</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217358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Uses Eigen and </a:t>
            </a:r>
            <a:r>
              <a:rPr lang="en-US" dirty="0" err="1" smtClean="0"/>
              <a:t>cuDNN</a:t>
            </a:r>
            <a:r>
              <a:rPr lang="en-US" dirty="0" smtClean="0"/>
              <a:t> to</a:t>
            </a:r>
            <a:r>
              <a:rPr lang="en-US" baseline="0" dirty="0" smtClean="0"/>
              <a:t> support the C++ and CUDA implementations.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641845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dive into the details of computation graphs later. Here, just go over the basic concepts of numbers flowing from right to left along the edges, and computations happening along the way at each node.</a:t>
            </a:r>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1124522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next few slides build</a:t>
            </a:r>
            <a:r>
              <a:rPr lang="en-US" baseline="0" dirty="0" smtClean="0"/>
              <a:t> up the names for the components.  </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9</a:t>
            </a:fld>
            <a:endParaRPr lang="en-US"/>
          </a:p>
        </p:txBody>
      </p:sp>
    </p:spTree>
    <p:extLst>
      <p:ext uri="{BB962C8B-B14F-4D97-AF65-F5344CB8AC3E}">
        <p14:creationId xmlns:p14="http://schemas.microsoft.com/office/powerpoint/2010/main" val="2069003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Numerical data can be scalar, vector, matrix, </a:t>
            </a:r>
            <a:r>
              <a:rPr lang="en-US" dirty="0" smtClean="0"/>
              <a:t>higher</a:t>
            </a:r>
            <a:r>
              <a:rPr lang="en-US" baseline="0" dirty="0" smtClean="0"/>
              <a:t> dimensional tensors</a:t>
            </a:r>
            <a:r>
              <a:rPr lang="en-US" dirty="0" smtClean="0"/>
              <a:t>, etc.  The data</a:t>
            </a:r>
            <a:r>
              <a:rPr lang="en-US" baseline="0" dirty="0" smtClean="0"/>
              <a:t> is represented by </a:t>
            </a:r>
            <a:r>
              <a:rPr lang="en-US" baseline="0" dirty="0" err="1" smtClean="0"/>
              <a:t>tensorflow.Tensor</a:t>
            </a:r>
            <a:r>
              <a:rPr lang="en-US" baseline="0" dirty="0" smtClean="0"/>
              <a:t> objects.</a:t>
            </a:r>
            <a:r>
              <a:rPr lang="en-US" dirty="0" smtClean="0"/>
              <a:t> There can also be non-numerical data [e.g., strings] (but it’s less common).</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10</a:t>
            </a:fld>
            <a:endParaRPr lang="en-US"/>
          </a:p>
        </p:txBody>
      </p:sp>
    </p:spTree>
    <p:extLst>
      <p:ext uri="{BB962C8B-B14F-4D97-AF65-F5344CB8AC3E}">
        <p14:creationId xmlns:p14="http://schemas.microsoft.com/office/powerpoint/2010/main" val="1334968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Computations</a:t>
            </a:r>
            <a:r>
              <a:rPr lang="en-US" baseline="0" dirty="0" smtClean="0"/>
              <a:t> can be numerical or non-numerical.  </a:t>
            </a:r>
            <a:r>
              <a:rPr lang="en-US" dirty="0" smtClean="0"/>
              <a:t>Non-numerical </a:t>
            </a:r>
            <a:r>
              <a:rPr lang="en-US" dirty="0"/>
              <a:t>computation include initializing the environment, incrementing variables, saving data to disk, </a:t>
            </a:r>
            <a:r>
              <a:rPr lang="en-US" dirty="0" smtClean="0"/>
              <a:t>getting attributes of Tensors (shape – that’s semi-numerical),</a:t>
            </a:r>
            <a:r>
              <a:rPr lang="en-US" baseline="0" dirty="0" smtClean="0"/>
              <a:t> </a:t>
            </a:r>
            <a:r>
              <a:rPr lang="en-US" dirty="0" smtClean="0"/>
              <a:t>etc</a:t>
            </a:r>
            <a:r>
              <a:rPr lang="en-US" dirty="0"/>
              <a:t>.</a:t>
            </a:r>
          </a:p>
        </p:txBody>
      </p:sp>
      <p:sp>
        <p:nvSpPr>
          <p:cNvPr id="4" name="Slide Number Placeholder 3"/>
          <p:cNvSpPr>
            <a:spLocks noGrp="1"/>
          </p:cNvSpPr>
          <p:nvPr>
            <p:ph type="sldNum" sz="quarter" idx="10"/>
          </p:nvPr>
        </p:nvSpPr>
        <p:spPr/>
        <p:txBody>
          <a:bodyPr/>
          <a:lstStyle/>
          <a:p>
            <a:fld id="{841221E5-7225-48EB-A4EE-420E7BFCF705}" type="slidenum">
              <a:rPr lang="en-US" smtClean="0"/>
              <a:pPr/>
              <a:t>11</a:t>
            </a:fld>
            <a:endParaRPr lang="en-US"/>
          </a:p>
        </p:txBody>
      </p:sp>
    </p:spTree>
    <p:extLst>
      <p:ext uri="{BB962C8B-B14F-4D97-AF65-F5344CB8AC3E}">
        <p14:creationId xmlns:p14="http://schemas.microsoft.com/office/powerpoint/2010/main" val="3570882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steps though the flow of computation of data in the graph piece by piece</a:t>
            </a:r>
          </a:p>
        </p:txBody>
      </p:sp>
      <p:sp>
        <p:nvSpPr>
          <p:cNvPr id="4" name="Slide Number Placeholder 3"/>
          <p:cNvSpPr>
            <a:spLocks noGrp="1"/>
          </p:cNvSpPr>
          <p:nvPr>
            <p:ph type="sldNum" sz="quarter" idx="10"/>
          </p:nvPr>
        </p:nvSpPr>
        <p:spPr/>
        <p:txBody>
          <a:bodyPr/>
          <a:lstStyle/>
          <a:p>
            <a:fld id="{841221E5-7225-48EB-A4EE-420E7BFCF705}" type="slidenum">
              <a:rPr lang="en-US" smtClean="0"/>
              <a:pPr/>
              <a:t>12</a:t>
            </a:fld>
            <a:endParaRPr lang="en-US"/>
          </a:p>
        </p:txBody>
      </p:sp>
    </p:spTree>
    <p:extLst>
      <p:ext uri="{BB962C8B-B14F-4D97-AF65-F5344CB8AC3E}">
        <p14:creationId xmlns:p14="http://schemas.microsoft.com/office/powerpoint/2010/main" val="2002348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choose to only execute part of the graph, if we’d like.</a:t>
            </a:r>
          </a:p>
        </p:txBody>
      </p:sp>
      <p:sp>
        <p:nvSpPr>
          <p:cNvPr id="4" name="Slide Number Placeholder 3"/>
          <p:cNvSpPr>
            <a:spLocks noGrp="1"/>
          </p:cNvSpPr>
          <p:nvPr>
            <p:ph type="sldNum" sz="quarter" idx="10"/>
          </p:nvPr>
        </p:nvSpPr>
        <p:spPr/>
        <p:txBody>
          <a:bodyPr/>
          <a:lstStyle/>
          <a:p>
            <a:fld id="{841221E5-7225-48EB-A4EE-420E7BFCF705}" type="slidenum">
              <a:rPr lang="en-US" smtClean="0"/>
              <a:pPr/>
              <a:t>13</a:t>
            </a:fld>
            <a:endParaRPr lang="en-US"/>
          </a:p>
        </p:txBody>
      </p:sp>
    </p:spTree>
    <p:extLst>
      <p:ext uri="{BB962C8B-B14F-4D97-AF65-F5344CB8AC3E}">
        <p14:creationId xmlns:p14="http://schemas.microsoft.com/office/powerpoint/2010/main" val="876492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15</a:t>
            </a:fld>
            <a:endParaRPr lang="en-US"/>
          </a:p>
        </p:txBody>
      </p:sp>
    </p:spTree>
    <p:extLst>
      <p:ext uri="{BB962C8B-B14F-4D97-AF65-F5344CB8AC3E}">
        <p14:creationId xmlns:p14="http://schemas.microsoft.com/office/powerpoint/2010/main" val="2010002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16</a:t>
            </a:fld>
            <a:endParaRPr lang="en-US"/>
          </a:p>
        </p:txBody>
      </p:sp>
    </p:spTree>
    <p:extLst>
      <p:ext uri="{BB962C8B-B14F-4D97-AF65-F5344CB8AC3E}">
        <p14:creationId xmlns:p14="http://schemas.microsoft.com/office/powerpoint/2010/main" val="4177858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won’t be getting to machine learning specific</a:t>
            </a:r>
            <a:r>
              <a:rPr lang="en-US" baseline="0" dirty="0" smtClean="0"/>
              <a:t>s today.  Foundations first.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18</a:t>
            </a:fld>
            <a:endParaRPr lang="en-US"/>
          </a:p>
        </p:txBody>
      </p:sp>
    </p:spTree>
    <p:extLst>
      <p:ext uri="{BB962C8B-B14F-4D97-AF65-F5344CB8AC3E}">
        <p14:creationId xmlns:p14="http://schemas.microsoft.com/office/powerpoint/2010/main" val="1984479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a:t>
            </a:r>
            <a:r>
              <a:rPr lang="en-US" baseline="0" dirty="0" smtClean="0"/>
              <a:t> when we run, we don’t *necessarily* generate predictions in a “test” sense:  we might be training or we might do utility tasks.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19</a:t>
            </a:fld>
            <a:endParaRPr lang="en-US"/>
          </a:p>
        </p:txBody>
      </p:sp>
    </p:spTree>
    <p:extLst>
      <p:ext uri="{BB962C8B-B14F-4D97-AF65-F5344CB8AC3E}">
        <p14:creationId xmlns:p14="http://schemas.microsoft.com/office/powerpoint/2010/main" val="15493959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a:t>
            </a:r>
            <a:r>
              <a:rPr lang="en-US" baseline="0" dirty="0" smtClean="0"/>
              <a:t> ”a” is NOT a </a:t>
            </a:r>
            <a:r>
              <a:rPr lang="en-US" baseline="0" dirty="0" err="1" smtClean="0"/>
              <a:t>tensorflow</a:t>
            </a:r>
            <a:r>
              <a:rPr lang="en-US" baseline="0" dirty="0" smtClean="0"/>
              <a:t> name.  It is a python variable name.  </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26</a:t>
            </a:fld>
            <a:endParaRPr lang="en-US"/>
          </a:p>
        </p:txBody>
      </p:sp>
    </p:spTree>
    <p:extLst>
      <p:ext uri="{BB962C8B-B14F-4D97-AF65-F5344CB8AC3E}">
        <p14:creationId xmlns:p14="http://schemas.microsoft.com/office/powerpoint/2010/main" val="1966435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a:t>
            </a:r>
            <a:r>
              <a:rPr lang="en-US" baseline="0" dirty="0" smtClean="0"/>
              <a:t> can also define non-default graphs or more than one graph (and put Ops in/on graphs of our choosing).</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27</a:t>
            </a:fld>
            <a:endParaRPr lang="en-US"/>
          </a:p>
        </p:txBody>
      </p:sp>
    </p:spTree>
    <p:extLst>
      <p:ext uri="{BB962C8B-B14F-4D97-AF65-F5344CB8AC3E}">
        <p14:creationId xmlns:p14="http://schemas.microsoft.com/office/powerpoint/2010/main" val="349390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While these are pointer “like”,</a:t>
            </a:r>
            <a:r>
              <a:rPr lang="en-US" baseline="0" dirty="0" smtClean="0"/>
              <a:t> remember, Python doesn’t have pointers.  Python variables are references which associate a name with a Python object.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28</a:t>
            </a:fld>
            <a:endParaRPr lang="en-US"/>
          </a:p>
        </p:txBody>
      </p:sp>
    </p:spTree>
    <p:extLst>
      <p:ext uri="{BB962C8B-B14F-4D97-AF65-F5344CB8AC3E}">
        <p14:creationId xmlns:p14="http://schemas.microsoft.com/office/powerpoint/2010/main" val="424345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29</a:t>
            </a:fld>
            <a:endParaRPr lang="en-US"/>
          </a:p>
        </p:txBody>
      </p:sp>
    </p:spTree>
    <p:extLst>
      <p:ext uri="{BB962C8B-B14F-4D97-AF65-F5344CB8AC3E}">
        <p14:creationId xmlns:p14="http://schemas.microsoft.com/office/powerpoint/2010/main" val="17787864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We’ll discuss shapes more in the notebook</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34</a:t>
            </a:fld>
            <a:endParaRPr lang="en-US"/>
          </a:p>
        </p:txBody>
      </p:sp>
    </p:spTree>
    <p:extLst>
      <p:ext uri="{BB962C8B-B14F-4D97-AF65-F5344CB8AC3E}">
        <p14:creationId xmlns:p14="http://schemas.microsoft.com/office/powerpoint/2010/main" val="9289638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That</a:t>
            </a:r>
            <a:r>
              <a:rPr lang="en-US" baseline="0" dirty="0" smtClean="0"/>
              <a:t> is, by default, the Session uses the default graph as its computation graph</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38</a:t>
            </a:fld>
            <a:endParaRPr lang="en-US"/>
          </a:p>
        </p:txBody>
      </p:sp>
    </p:spTree>
    <p:extLst>
      <p:ext uri="{BB962C8B-B14F-4D97-AF65-F5344CB8AC3E}">
        <p14:creationId xmlns:p14="http://schemas.microsoft.com/office/powerpoint/2010/main" val="5823653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LHS of the </a:t>
            </a:r>
            <a:r>
              <a:rPr lang="en-US" baseline="0" dirty="0" err="1" smtClean="0"/>
              <a:t>dict</a:t>
            </a:r>
            <a:r>
              <a:rPr lang="en-US" baseline="0" dirty="0" smtClean="0"/>
              <a:t> items (the keys) are python variables </a:t>
            </a:r>
            <a:r>
              <a:rPr lang="is-IS" baseline="0" dirty="0" smtClean="0"/>
              <a:t>… that is, they need to be something which refers (points) to a Tensor object.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41</a:t>
            </a:fld>
            <a:endParaRPr lang="en-US"/>
          </a:p>
        </p:txBody>
      </p:sp>
    </p:spTree>
    <p:extLst>
      <p:ext uri="{BB962C8B-B14F-4D97-AF65-F5344CB8AC3E}">
        <p14:creationId xmlns:p14="http://schemas.microsoft.com/office/powerpoint/2010/main" val="11874248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a:t>
            </a:r>
            <a:r>
              <a:rPr lang="en-US" baseline="0" dirty="0" smtClean="0"/>
              <a:t> = </a:t>
            </a:r>
            <a:r>
              <a:rPr lang="en-US" baseline="0" dirty="0" err="1" smtClean="0"/>
              <a:t>tf.constant</a:t>
            </a:r>
            <a:r>
              <a:rPr lang="en-US" baseline="0" dirty="0" smtClean="0"/>
              <a:t>(); </a:t>
            </a:r>
            <a:r>
              <a:rPr lang="en-US" baseline="0" dirty="0" err="1" smtClean="0"/>
              <a:t>feed_dict</a:t>
            </a:r>
            <a:r>
              <a:rPr lang="en-US" baseline="0" dirty="0" smtClean="0"/>
              <a:t> = {a : 10.0 }</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42</a:t>
            </a:fld>
            <a:endParaRPr lang="en-US"/>
          </a:p>
        </p:txBody>
      </p:sp>
    </p:spTree>
    <p:extLst>
      <p:ext uri="{BB962C8B-B14F-4D97-AF65-F5344CB8AC3E}">
        <p14:creationId xmlns:p14="http://schemas.microsoft.com/office/powerpoint/2010/main" val="12350192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44</a:t>
            </a:fld>
            <a:endParaRPr lang="en-US"/>
          </a:p>
        </p:txBody>
      </p:sp>
    </p:spTree>
    <p:extLst>
      <p:ext uri="{BB962C8B-B14F-4D97-AF65-F5344CB8AC3E}">
        <p14:creationId xmlns:p14="http://schemas.microsoft.com/office/powerpoint/2010/main" val="6006180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means that the output we get from </a:t>
            </a:r>
            <a:r>
              <a:rPr lang="en-US" dirty="0" err="1"/>
              <a:t>sess.run</a:t>
            </a:r>
            <a:r>
              <a:rPr lang="en-US" dirty="0"/>
              <a:t>() is the result from that multiplication operation</a:t>
            </a:r>
          </a:p>
        </p:txBody>
      </p:sp>
      <p:sp>
        <p:nvSpPr>
          <p:cNvPr id="4" name="Slide Number Placeholder 3"/>
          <p:cNvSpPr>
            <a:spLocks noGrp="1"/>
          </p:cNvSpPr>
          <p:nvPr>
            <p:ph type="sldNum" sz="quarter" idx="10"/>
          </p:nvPr>
        </p:nvSpPr>
        <p:spPr/>
        <p:txBody>
          <a:bodyPr/>
          <a:lstStyle/>
          <a:p>
            <a:fld id="{841221E5-7225-48EB-A4EE-420E7BFCF705}" type="slidenum">
              <a:rPr lang="en-US" smtClean="0"/>
              <a:pPr/>
              <a:t>45</a:t>
            </a:fld>
            <a:endParaRPr lang="en-US"/>
          </a:p>
        </p:txBody>
      </p:sp>
    </p:spTree>
    <p:extLst>
      <p:ext uri="{BB962C8B-B14F-4D97-AF65-F5344CB8AC3E}">
        <p14:creationId xmlns:p14="http://schemas.microsoft.com/office/powerpoint/2010/main" val="36733167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E.g., set a &lt;--</a:t>
            </a:r>
            <a:r>
              <a:rPr lang="en-US" baseline="0" dirty="0" smtClean="0"/>
              <a:t> 3.</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46</a:t>
            </a:fld>
            <a:endParaRPr lang="en-US"/>
          </a:p>
        </p:txBody>
      </p:sp>
    </p:spTree>
    <p:extLst>
      <p:ext uri="{BB962C8B-B14F-4D97-AF65-F5344CB8AC3E}">
        <p14:creationId xmlns:p14="http://schemas.microsoft.com/office/powerpoint/2010/main" val="26946268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47</a:t>
            </a:fld>
            <a:endParaRPr lang="en-US"/>
          </a:p>
        </p:txBody>
      </p:sp>
    </p:spTree>
    <p:extLst>
      <p:ext uri="{BB962C8B-B14F-4D97-AF65-F5344CB8AC3E}">
        <p14:creationId xmlns:p14="http://schemas.microsoft.com/office/powerpoint/2010/main" val="40353543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48</a:t>
            </a:fld>
            <a:endParaRPr lang="en-US"/>
          </a:p>
        </p:txBody>
      </p:sp>
    </p:spTree>
    <p:extLst>
      <p:ext uri="{BB962C8B-B14F-4D97-AF65-F5344CB8AC3E}">
        <p14:creationId xmlns:p14="http://schemas.microsoft.com/office/powerpoint/2010/main" val="19036900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Or scalar.</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49</a:t>
            </a:fld>
            <a:endParaRPr lang="en-US"/>
          </a:p>
        </p:txBody>
      </p:sp>
    </p:spTree>
    <p:extLst>
      <p:ext uri="{BB962C8B-B14F-4D97-AF65-F5344CB8AC3E}">
        <p14:creationId xmlns:p14="http://schemas.microsoft.com/office/powerpoint/2010/main" val="5095255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50</a:t>
            </a:fld>
            <a:endParaRPr lang="en-US"/>
          </a:p>
        </p:txBody>
      </p:sp>
    </p:spTree>
    <p:extLst>
      <p:ext uri="{BB962C8B-B14F-4D97-AF65-F5344CB8AC3E}">
        <p14:creationId xmlns:p14="http://schemas.microsoft.com/office/powerpoint/2010/main" val="40040481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State:  aka, additional information that (1) persists run to run and (2) is not necessarily in</a:t>
            </a:r>
            <a:r>
              <a:rPr lang="en-US" baseline="0" dirty="0" smtClean="0"/>
              <a:t> the input-output dataflow path (although it could be)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52</a:t>
            </a:fld>
            <a:endParaRPr lang="en-US"/>
          </a:p>
        </p:txBody>
      </p:sp>
    </p:spTree>
    <p:extLst>
      <p:ext uri="{BB962C8B-B14F-4D97-AF65-F5344CB8AC3E}">
        <p14:creationId xmlns:p14="http://schemas.microsoft.com/office/powerpoint/2010/main" val="10567072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53</a:t>
            </a:fld>
            <a:endParaRPr lang="en-US"/>
          </a:p>
        </p:txBody>
      </p:sp>
    </p:spTree>
    <p:extLst>
      <p:ext uri="{BB962C8B-B14F-4D97-AF65-F5344CB8AC3E}">
        <p14:creationId xmlns:p14="http://schemas.microsoft.com/office/powerpoint/2010/main" val="21376560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54</a:t>
            </a:fld>
            <a:endParaRPr lang="en-US"/>
          </a:p>
        </p:txBody>
      </p:sp>
    </p:spTree>
    <p:extLst>
      <p:ext uri="{BB962C8B-B14F-4D97-AF65-F5344CB8AC3E}">
        <p14:creationId xmlns:p14="http://schemas.microsoft.com/office/powerpoint/2010/main" val="4115200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Handy for tracking number of times</a:t>
            </a:r>
            <a:r>
              <a:rPr lang="en-US" baseline="0" dirty="0" smtClean="0"/>
              <a:t> we’ve run the graph.</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55</a:t>
            </a:fld>
            <a:endParaRPr lang="en-US"/>
          </a:p>
        </p:txBody>
      </p:sp>
    </p:spTree>
    <p:extLst>
      <p:ext uri="{BB962C8B-B14F-4D97-AF65-F5344CB8AC3E}">
        <p14:creationId xmlns:p14="http://schemas.microsoft.com/office/powerpoint/2010/main" val="20353850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56</a:t>
            </a:fld>
            <a:endParaRPr lang="en-US"/>
          </a:p>
        </p:txBody>
      </p:sp>
    </p:spTree>
    <p:extLst>
      <p:ext uri="{BB962C8B-B14F-4D97-AF65-F5344CB8AC3E}">
        <p14:creationId xmlns:p14="http://schemas.microsoft.com/office/powerpoint/2010/main" val="12526737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57</a:t>
            </a:fld>
            <a:endParaRPr lang="en-US"/>
          </a:p>
        </p:txBody>
      </p:sp>
    </p:spTree>
    <p:extLst>
      <p:ext uri="{BB962C8B-B14F-4D97-AF65-F5344CB8AC3E}">
        <p14:creationId xmlns:p14="http://schemas.microsoft.com/office/powerpoint/2010/main" val="29821324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58</a:t>
            </a:fld>
            <a:endParaRPr lang="en-US"/>
          </a:p>
        </p:txBody>
      </p:sp>
    </p:spTree>
    <p:extLst>
      <p:ext uri="{BB962C8B-B14F-4D97-AF65-F5344CB8AC3E}">
        <p14:creationId xmlns:p14="http://schemas.microsoft.com/office/powerpoint/2010/main" val="30456410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59</a:t>
            </a:fld>
            <a:endParaRPr lang="en-US"/>
          </a:p>
        </p:txBody>
      </p:sp>
    </p:spTree>
    <p:extLst>
      <p:ext uri="{BB962C8B-B14F-4D97-AF65-F5344CB8AC3E}">
        <p14:creationId xmlns:p14="http://schemas.microsoft.com/office/powerpoint/2010/main" val="16255106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60</a:t>
            </a:fld>
            <a:endParaRPr lang="en-US"/>
          </a:p>
        </p:txBody>
      </p:sp>
    </p:spTree>
    <p:extLst>
      <p:ext uri="{BB962C8B-B14F-4D97-AF65-F5344CB8AC3E}">
        <p14:creationId xmlns:p14="http://schemas.microsoft.com/office/powerpoint/2010/main" val="40207627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61</a:t>
            </a:fld>
            <a:endParaRPr lang="en-US"/>
          </a:p>
        </p:txBody>
      </p:sp>
    </p:spTree>
    <p:extLst>
      <p:ext uri="{BB962C8B-B14F-4D97-AF65-F5344CB8AC3E}">
        <p14:creationId xmlns:p14="http://schemas.microsoft.com/office/powerpoint/2010/main" val="22027867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62</a:t>
            </a:fld>
            <a:endParaRPr lang="en-US"/>
          </a:p>
        </p:txBody>
      </p:sp>
    </p:spTree>
    <p:extLst>
      <p:ext uri="{BB962C8B-B14F-4D97-AF65-F5344CB8AC3E}">
        <p14:creationId xmlns:p14="http://schemas.microsoft.com/office/powerpoint/2010/main" val="5774836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63</a:t>
            </a:fld>
            <a:endParaRPr lang="en-US"/>
          </a:p>
        </p:txBody>
      </p:sp>
    </p:spTree>
    <p:extLst>
      <p:ext uri="{BB962C8B-B14F-4D97-AF65-F5344CB8AC3E}">
        <p14:creationId xmlns:p14="http://schemas.microsoft.com/office/powerpoint/2010/main" val="25066110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64</a:t>
            </a:fld>
            <a:endParaRPr lang="en-US"/>
          </a:p>
        </p:txBody>
      </p:sp>
    </p:spTree>
    <p:extLst>
      <p:ext uri="{BB962C8B-B14F-4D97-AF65-F5344CB8AC3E}">
        <p14:creationId xmlns:p14="http://schemas.microsoft.com/office/powerpoint/2010/main" val="10974784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65</a:t>
            </a:fld>
            <a:endParaRPr lang="en-US"/>
          </a:p>
        </p:txBody>
      </p:sp>
    </p:spTree>
    <p:extLst>
      <p:ext uri="{BB962C8B-B14F-4D97-AF65-F5344CB8AC3E}">
        <p14:creationId xmlns:p14="http://schemas.microsoft.com/office/powerpoint/2010/main" val="11745133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 with Radial Gradient">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2"/>
          <a:stretch>
            <a:fillRect/>
          </a:stretch>
        </p:blipFill>
        <p:spPr>
          <a:xfrm>
            <a:off x="616665" y="533064"/>
            <a:ext cx="1640574" cy="1542997"/>
          </a:xfrm>
          <a:prstGeom prst="rect">
            <a:avLst/>
          </a:prstGeom>
        </p:spPr>
      </p:pic>
      <p:sp>
        <p:nvSpPr>
          <p:cNvPr id="12" name="Rectangle 11"/>
          <p:cNvSpPr/>
          <p:nvPr/>
        </p:nvSpPr>
        <p:spPr>
          <a:xfrm>
            <a:off x="626112" y="6498502"/>
            <a:ext cx="2672206" cy="164019"/>
          </a:xfrm>
          <a:prstGeom prst="rect">
            <a:avLst/>
          </a:prstGeom>
        </p:spPr>
        <p:txBody>
          <a:bodyPr wrap="none" lIns="0" tIns="0" rIns="0" bIns="0">
            <a:spAutoFit/>
          </a:bodyPr>
          <a:lstStyle/>
          <a:p>
            <a:pPr algn="l" rtl="0"/>
            <a:r>
              <a:rPr lang="en-US" sz="1066" b="0" i="0" u="none" strike="noStrike" kern="1200" baseline="0" dirty="0" smtClean="0">
                <a:solidFill>
                  <a:schemeClr val="bg1"/>
                </a:solidFill>
                <a:latin typeface="+mn-lt"/>
                <a:ea typeface="+mn-ea"/>
                <a:cs typeface="Neo Sans Intel"/>
              </a:rPr>
              <a:t>Intel® Confidential — INTERNAL USE ONLY</a:t>
            </a:r>
          </a:p>
        </p:txBody>
      </p:sp>
    </p:spTree>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Image">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88825" cy="6358467"/>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92449" y="301124"/>
            <a:ext cx="1875189" cy="1538477"/>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32"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33"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58" name="Picture 57" descr="StackedISWhite.png"/>
          <p:cNvPicPr>
            <a:picLocks noChangeAspect="1"/>
          </p:cNvPicPr>
          <p:nvPr/>
        </p:nvPicPr>
        <p:blipFill>
          <a:blip r:embed="rId3"/>
          <a:stretch>
            <a:fillRect/>
          </a:stretch>
        </p:blipFill>
        <p:spPr>
          <a:xfrm>
            <a:off x="11056288" y="6407851"/>
            <a:ext cx="419545" cy="394592"/>
          </a:xfrm>
          <a:prstGeom prst="rect">
            <a:avLst/>
          </a:prstGeom>
        </p:spPr>
      </p:pic>
      <p:cxnSp>
        <p:nvCxnSpPr>
          <p:cNvPr id="74" name="Straight Connector 73"/>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607326" y="1604434"/>
            <a:ext cx="10967826" cy="4567767"/>
          </a:xfrm>
        </p:spPr>
        <p:txBody>
          <a:bodyPr/>
          <a:lstStyle>
            <a:lvl1pPr>
              <a:defRPr>
                <a:solidFill>
                  <a:srgbClr val="0071C5"/>
                </a:solidFill>
              </a:defRPr>
            </a:lvl1pPr>
            <a:lvl2pPr>
              <a:defRPr sz="2399"/>
            </a:lvl2pPr>
            <a:lvl3pPr>
              <a:defRPr sz="2399"/>
            </a:lvl3pPr>
            <a:lvl4pPr>
              <a:defRPr sz="2133"/>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pPr/>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6439341" y="1257907"/>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
        <p:nvSpPr>
          <p:cNvPr id="10" name="Picture Placeholder 8"/>
          <p:cNvSpPr>
            <a:spLocks noGrp="1"/>
          </p:cNvSpPr>
          <p:nvPr>
            <p:ph type="pic" sz="quarter" idx="14"/>
          </p:nvPr>
        </p:nvSpPr>
        <p:spPr>
          <a:xfrm>
            <a:off x="6439341" y="3791863"/>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6236193" y="1604433"/>
            <a:ext cx="5338961"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326" y="1604434"/>
            <a:ext cx="10967827" cy="4567767"/>
          </a:xfrm>
        </p:spPr>
        <p:txBody>
          <a:bodyPr anchor="ctr" anchorCtr="0"/>
          <a:lstStyle>
            <a:lvl1pPr marL="253937" indent="-253937">
              <a:defRPr sz="4799" b="1" baseline="0">
                <a:solidFill>
                  <a:schemeClr val="accent2"/>
                </a:solidFill>
                <a:latin typeface="+mn-lt"/>
                <a:cs typeface="Intel Clear Light" panose="020B0404020203020204" pitchFamily="34" charset="0"/>
              </a:defRPr>
            </a:lvl1pPr>
            <a:lvl2pPr marL="556545" indent="-300492">
              <a:buFont typeface="Lucida Grande"/>
              <a:buChar char="−"/>
              <a:defRPr sz="1600" baseline="0">
                <a:latin typeface="+mn-lt"/>
                <a:cs typeface="Intel Clear" panose="020B0604020203020204" pitchFamily="34" charset="0"/>
              </a:defRPr>
            </a:lvl2pPr>
            <a:lvl3pPr marL="914171" indent="-304724">
              <a:defRPr sz="1600">
                <a:latin typeface="+mn-lt"/>
              </a:defRPr>
            </a:lvl3pPr>
            <a:lvl4pPr>
              <a:defRPr sz="1466">
                <a:latin typeface="+mn-lt"/>
              </a:defRPr>
            </a:lvl4pPr>
            <a:lvl5pPr>
              <a:defRPr sz="140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88825" cy="6350445"/>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88825" cy="2918271"/>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18" name="Content Placeholder 2"/>
          <p:cNvSpPr>
            <a:spLocks noGrp="1"/>
          </p:cNvSpPr>
          <p:nvPr>
            <p:ph sz="half" idx="1" hasCustomPrompt="1"/>
          </p:nvPr>
        </p:nvSpPr>
        <p:spPr>
          <a:xfrm>
            <a:off x="607326" y="1604433"/>
            <a:ext cx="5341077"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6236193" y="1604433"/>
            <a:ext cx="5338961"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345633" y="6634394"/>
            <a:ext cx="184731" cy="297454"/>
          </a:xfrm>
          <a:prstGeom prst="rect">
            <a:avLst/>
          </a:prstGeom>
          <a:noFill/>
        </p:spPr>
        <p:txBody>
          <a:bodyPr wrap="none" rtlCol="0">
            <a:spAutoFit/>
          </a:bodyPr>
          <a:lstStyle/>
          <a:p>
            <a:endParaRPr lang="en-US" sz="1333" dirty="0" smtClean="0">
              <a:solidFill>
                <a:schemeClr val="tx2"/>
              </a:solidFill>
              <a:cs typeface="Neo Sans Intel"/>
            </a:endParaRPr>
          </a:p>
        </p:txBody>
      </p:sp>
      <p:sp>
        <p:nvSpPr>
          <p:cNvPr id="10"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6194" y="3"/>
            <a:ext cx="5952632" cy="6340821"/>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607326" y="411797"/>
            <a:ext cx="5341075" cy="1158240"/>
          </a:xfrm>
        </p:spPr>
        <p:txBody>
          <a:bodyPr>
            <a:noAutofit/>
          </a:bodyPr>
          <a:lstStyle>
            <a:lvl1pPr>
              <a:defRPr sz="3732"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11631045" y="6394031"/>
            <a:ext cx="373763" cy="365125"/>
          </a:xfrm>
        </p:spPr>
        <p:txBody>
          <a:bodyPr/>
          <a:lstStyle/>
          <a:p>
            <a:fld id="{7DC1BBB0-96F0-4077-A278-0F3FB5C104D3}" type="slidenum">
              <a:rPr lang="en-US" smtClean="0"/>
              <a:pPr/>
              <a:t>‹#›</a:t>
            </a:fld>
            <a:endParaRPr lang="en-US"/>
          </a:p>
        </p:txBody>
      </p:sp>
      <p:sp>
        <p:nvSpPr>
          <p:cNvPr id="17" name="Content Placeholder 2"/>
          <p:cNvSpPr>
            <a:spLocks noGrp="1"/>
          </p:cNvSpPr>
          <p:nvPr>
            <p:ph sz="half" idx="1" hasCustomPrompt="1"/>
          </p:nvPr>
        </p:nvSpPr>
        <p:spPr>
          <a:xfrm>
            <a:off x="607327" y="1766992"/>
            <a:ext cx="5341075"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Blu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i="0" baseline="0">
                <a:solidFill>
                  <a:srgbClr val="F3D54E"/>
                </a:solidFill>
                <a:latin typeface="Intel Clear"/>
                <a:cs typeface="Intel Clear"/>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326" y="2979843"/>
            <a:ext cx="10360501" cy="1500187"/>
          </a:xfrm>
        </p:spPr>
        <p:txBody>
          <a:bodyPr anchor="t" anchorCtr="0">
            <a:noAutofit/>
          </a:bodyPr>
          <a:lstStyle>
            <a:lvl1pPr marL="0" indent="0">
              <a:buNone/>
              <a:defRPr sz="5332"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7" name="Title 1"/>
          <p:cNvSpPr>
            <a:spLocks noGrp="1"/>
          </p:cNvSpPr>
          <p:nvPr>
            <p:ph type="title" hasCustomPrompt="1"/>
          </p:nvPr>
        </p:nvSpPr>
        <p:spPr>
          <a:xfrm>
            <a:off x="607326" y="1469059"/>
            <a:ext cx="10360501" cy="1362075"/>
          </a:xfrm>
        </p:spPr>
        <p:txBody>
          <a:bodyPr anchor="b" anchorCtr="0">
            <a:noAutofit/>
          </a:bodyPr>
          <a:lstStyle>
            <a:lvl1pPr algn="l">
              <a:lnSpc>
                <a:spcPct val="80000"/>
              </a:lnSpc>
              <a:defRPr sz="5332"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ue Section Break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3013451"/>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607326" y="4465049"/>
            <a:ext cx="10360501"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2"/>
            <a:ext cx="12188825" cy="3432175"/>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7DC1BBB0-96F0-4077-A278-0F3FB5C104D3}" type="slidenum">
              <a:rPr lang="en-US" smtClean="0"/>
              <a:t>‹#›</a:t>
            </a:fld>
            <a:endParaRPr lang="en-US"/>
          </a:p>
        </p:txBody>
      </p:sp>
      <p:sp>
        <p:nvSpPr>
          <p:cNvPr id="6"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ack Cover Radial Gradient">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2"/>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Title Slide with Photo">
    <p:spTree>
      <p:nvGrpSpPr>
        <p:cNvPr id="1" name=""/>
        <p:cNvGrpSpPr/>
        <p:nvPr/>
      </p:nvGrpSpPr>
      <p:grpSpPr>
        <a:xfrm>
          <a:off x="0" y="0"/>
          <a:ext cx="0" cy="0"/>
          <a:chOff x="0" y="0"/>
          <a:chExt cx="0" cy="0"/>
        </a:xfrm>
      </p:grpSpPr>
      <p:sp>
        <p:nvSpPr>
          <p:cNvPr id="10" name="Rectangle 9"/>
          <p:cNvSpPr/>
          <p:nvPr/>
        </p:nvSpPr>
        <p:spPr>
          <a:xfrm>
            <a:off x="0" y="0"/>
            <a:ext cx="12188825" cy="6358467"/>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a:solidFill>
                <a:srgbClr val="0071C5"/>
              </a:solidFill>
            </a:endParaRPr>
          </a:p>
        </p:txBody>
      </p:sp>
      <p:pic>
        <p:nvPicPr>
          <p:cNvPr id="5" name="Picture 4" descr="StackedISWhite.png"/>
          <p:cNvPicPr>
            <a:picLocks noChangeAspect="1"/>
          </p:cNvPicPr>
          <p:nvPr/>
        </p:nvPicPr>
        <p:blipFill>
          <a:blip r:embed="rId2"/>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5999"/>
            </a:lvl1pPr>
          </a:lstStyle>
          <a:p>
            <a:r>
              <a:rPr lang="en-US" smtClean="0"/>
              <a:t>Click to edit Master title style</a:t>
            </a:r>
            <a:endParaRPr lang="en-US"/>
          </a:p>
        </p:txBody>
      </p:sp>
      <p:sp>
        <p:nvSpPr>
          <p:cNvPr id="3" name="Subtitle 2"/>
          <p:cNvSpPr>
            <a:spLocks noGrp="1"/>
          </p:cNvSpPr>
          <p:nvPr>
            <p:ph type="subTitle" idx="1"/>
          </p:nvPr>
        </p:nvSpPr>
        <p:spPr>
          <a:xfrm>
            <a:off x="1523603" y="3602037"/>
            <a:ext cx="9141619" cy="1655763"/>
          </a:xfrm>
        </p:spPr>
        <p:txBody>
          <a:bodyPr/>
          <a:lstStyle>
            <a:lvl1pPr marL="0" indent="0" algn="ctr">
              <a:buNone/>
              <a:defRPr sz="2399"/>
            </a:lvl1pPr>
            <a:lvl2pPr marL="457086" indent="0" algn="ctr">
              <a:buNone/>
              <a:defRPr sz="2000"/>
            </a:lvl2pPr>
            <a:lvl3pPr marL="914171" indent="0" algn="ctr">
              <a:buNone/>
              <a:defRPr sz="1800"/>
            </a:lvl3pPr>
            <a:lvl4pPr marL="1371257" indent="0" algn="ctr">
              <a:buNone/>
              <a:defRPr sz="1600"/>
            </a:lvl4pPr>
            <a:lvl5pPr marL="1828343" indent="0" algn="ctr">
              <a:buNone/>
              <a:defRPr sz="1600"/>
            </a:lvl5pPr>
            <a:lvl6pPr marL="2285429" indent="0" algn="ctr">
              <a:buNone/>
              <a:defRPr sz="1600"/>
            </a:lvl6pPr>
            <a:lvl7pPr marL="2742514" indent="0" algn="ctr">
              <a:buNone/>
              <a:defRPr sz="1600"/>
            </a:lvl7pPr>
            <a:lvl8pPr marL="3199600" indent="0" algn="ctr">
              <a:buNone/>
              <a:defRPr sz="1600"/>
            </a:lvl8pPr>
            <a:lvl9pPr marL="3656686"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837982" y="6356351"/>
            <a:ext cx="2742486" cy="365125"/>
          </a:xfrm>
          <a:prstGeom prst="rect">
            <a:avLst/>
          </a:prstGeom>
        </p:spPr>
        <p:txBody>
          <a:bodyPr/>
          <a:lstStyle/>
          <a:p>
            <a:fld id="{C2C6F8EA-316C-41DE-B9A4-EDCC3A85ED9A}" type="datetimeFigureOut">
              <a:rPr lang="en-US" smtClean="0"/>
              <a:pPr/>
              <a:t>1/25/2018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1pPr marL="0" indent="0">
              <a:buFont typeface="Arial" charset="0"/>
              <a:buNone/>
              <a:defRPr/>
            </a:lvl1pPr>
            <a:lvl2pPr marL="612648" indent="-246888">
              <a:buFont typeface="Arial" charset="0"/>
              <a:buChar char="•"/>
              <a:defRPr/>
            </a:lvl2pPr>
            <a:lvl3pPr marL="978408" indent="-246888">
              <a:buFont typeface="Arial" charset="0"/>
              <a:buChar char="•"/>
              <a:defRPr/>
            </a:lvl3pPr>
            <a:lvl4pPr marL="1344168" indent="-246888">
              <a:buFont typeface="Arial" charset="0"/>
              <a:buChar char="•"/>
              <a:defRPr/>
            </a:lvl4pPr>
            <a:lvl5pPr marL="1709928" indent="-246888">
              <a:buFont typeface="Arial" charset="0"/>
              <a:buChar char="•"/>
              <a:defRPr/>
            </a:lvl5pPr>
            <a:lvl6pPr>
              <a:defRPr/>
            </a:lvl6pPr>
            <a:lvl7pPr>
              <a:defRPr/>
            </a:lvl7pPr>
            <a:lvl8pPr>
              <a:defRPr/>
            </a:lvl8pPr>
            <a:lvl9pPr>
              <a:defRPr/>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a:xfrm>
            <a:off x="5180250" y="6356351"/>
            <a:ext cx="1218883" cy="365125"/>
          </a:xfrm>
          <a:prstGeom prst="rect">
            <a:avLst/>
          </a:prstGeom>
        </p:spPr>
        <p:txBody>
          <a:bodyPr/>
          <a:lstStyle/>
          <a:p>
            <a:fld id="{C2C6F8EA-316C-41DE-B9A4-EDCC3A85ED9A}" type="datetimeFigureOut">
              <a:rPr lang="en-US"/>
              <a:t>1/25/2018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141707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2" name="Title Placeholder 1"/>
          <p:cNvSpPr>
            <a:spLocks noGrp="1"/>
          </p:cNvSpPr>
          <p:nvPr>
            <p:ph type="title"/>
          </p:nvPr>
        </p:nvSpPr>
        <p:spPr>
          <a:xfrm>
            <a:off x="607326" y="413507"/>
            <a:ext cx="10969943" cy="115824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607326" y="1604434"/>
            <a:ext cx="10967826" cy="4567767"/>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6"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16" name="Picture 15" descr="StackedISWhite.png"/>
          <p:cNvPicPr>
            <a:picLocks noChangeAspect="1"/>
          </p:cNvPicPr>
          <p:nvPr/>
        </p:nvPicPr>
        <p:blipFill>
          <a:blip r:embed="rId21"/>
          <a:stretch>
            <a:fillRect/>
          </a:stretch>
        </p:blipFill>
        <p:spPr>
          <a:xfrm>
            <a:off x="11056288" y="6407851"/>
            <a:ext cx="419545" cy="394592"/>
          </a:xfrm>
          <a:prstGeom prst="rect">
            <a:avLst/>
          </a:prstGeom>
        </p:spPr>
      </p:pic>
      <p:cxnSp>
        <p:nvCxnSpPr>
          <p:cNvPr id="37" name="Straight Connector 36"/>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00032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609448" rtl="0" eaLnBrk="1" latinLnBrk="0" hangingPunct="1">
        <a:lnSpc>
          <a:spcPct val="100000"/>
        </a:lnSpc>
        <a:spcBef>
          <a:spcPct val="0"/>
        </a:spcBef>
        <a:buNone/>
        <a:defRPr sz="3732"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609448" rtl="0" eaLnBrk="1" latinLnBrk="0" hangingPunct="1">
        <a:spcBef>
          <a:spcPts val="1600"/>
        </a:spcBef>
        <a:spcAft>
          <a:spcPts val="0"/>
        </a:spcAft>
        <a:buFont typeface="Wingdings" panose="05000000000000000000" pitchFamily="2" charset="2"/>
        <a:buNone/>
        <a:defRPr sz="2399" b="0" kern="1200">
          <a:solidFill>
            <a:srgbClr val="0071C5"/>
          </a:solidFill>
          <a:latin typeface="+mn-lt"/>
          <a:ea typeface="+mn-ea"/>
          <a:cs typeface="Intel Clear" panose="020B0604020203020204" pitchFamily="34" charset="0"/>
        </a:defRPr>
      </a:lvl1pPr>
      <a:lvl2pPr marL="300492" indent="-300492" algn="l" defTabSz="609448"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810" indent="-304724" algn="l" defTabSz="609448" rtl="0" eaLnBrk="1" latinLnBrk="0" hangingPunct="1">
        <a:spcBef>
          <a:spcPts val="1066"/>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2961" indent="-304724" algn="l" defTabSz="609448" rtl="0" eaLnBrk="1" latinLnBrk="0" hangingPunct="1">
        <a:spcBef>
          <a:spcPct val="20000"/>
        </a:spcBef>
        <a:buFont typeface="Arial"/>
        <a:buChar char="–"/>
        <a:defRPr sz="1866" kern="1200">
          <a:solidFill>
            <a:srgbClr val="003C71"/>
          </a:solidFill>
          <a:latin typeface="+mn-lt"/>
          <a:ea typeface="+mn-ea"/>
          <a:cs typeface="Intel Clear" panose="020B0604020203020204" pitchFamily="34" charset="0"/>
        </a:defRPr>
      </a:lvl4pPr>
      <a:lvl5pPr marL="1758511" indent="-304724" algn="l" defTabSz="609448" rtl="0" eaLnBrk="1" latinLnBrk="0" hangingPunct="1">
        <a:spcBef>
          <a:spcPct val="20000"/>
        </a:spcBef>
        <a:buFont typeface="Intel Clear" panose="020B0604020203020204" pitchFamily="34" charset="0"/>
        <a:buChar char="–"/>
        <a:defRPr sz="1866" kern="1200">
          <a:solidFill>
            <a:srgbClr val="003C71"/>
          </a:solidFill>
          <a:latin typeface="+mn-lt"/>
          <a:ea typeface="+mn-ea"/>
          <a:cs typeface="Intel Clear" panose="020B0604020203020204" pitchFamily="34" charset="0"/>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tx2"/>
            </a:gs>
            <a:gs pos="50000">
              <a:schemeClr val="accent2"/>
            </a:gs>
          </a:gsLst>
          <a:lin ang="18900000" scaled="1"/>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812587" y="813482"/>
            <a:ext cx="9884157" cy="2117448"/>
          </a:xfrm>
          <a:prstGeom prst="rect">
            <a:avLst/>
          </a:prstGeom>
          <a:noFill/>
          <a:ln>
            <a:noFill/>
          </a:ln>
        </p:spPr>
        <p:txBody>
          <a:bodyPr vert="horz" lIns="121868" tIns="121868" rIns="121868" bIns="121868" rtlCol="0" anchor="b" anchorCtr="0">
            <a:noAutofit/>
          </a:bodyPr>
          <a:lstStyle/>
          <a:p>
            <a:pPr algn="l">
              <a:spcBef>
                <a:spcPts val="0"/>
              </a:spcBef>
              <a:buClr>
                <a:schemeClr val="dk1"/>
              </a:buClr>
              <a:buSzPct val="25000"/>
            </a:pPr>
            <a:r>
              <a:rPr lang="en-US" sz="6665" dirty="0" err="1" smtClean="0">
                <a:solidFill>
                  <a:srgbClr val="FFFFFF"/>
                </a:solidFill>
                <a:latin typeface="Avenir Book" charset="0"/>
                <a:ea typeface="Avenir Book" charset="0"/>
                <a:cs typeface="Avenir Book" charset="0"/>
                <a:sym typeface="Source Code Pro"/>
              </a:rPr>
              <a:t>TensorFlow</a:t>
            </a:r>
            <a:endParaRPr lang="en" sz="6665" dirty="0">
              <a:solidFill>
                <a:srgbClr val="FFFFFF"/>
              </a:solidFill>
              <a:latin typeface="Avenir Book" charset="0"/>
              <a:ea typeface="Avenir Book" charset="0"/>
              <a:cs typeface="Avenir Book" charset="0"/>
              <a:sym typeface="Source Code Pro"/>
            </a:endParaRPr>
          </a:p>
        </p:txBody>
      </p:sp>
      <p:cxnSp>
        <p:nvCxnSpPr>
          <p:cNvPr id="56" name="Shape 56"/>
          <p:cNvCxnSpPr/>
          <p:nvPr/>
        </p:nvCxnSpPr>
        <p:spPr>
          <a:xfrm>
            <a:off x="812588" y="3572229"/>
            <a:ext cx="8350625"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1831257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2000" dirty="0"/>
              <a:t>This presentation is for informational purposes only. INTEL MAKES NO WARRANTIES, EXPRESS OR IMPLIED, IN THIS SUMMARY. </a:t>
            </a:r>
          </a:p>
          <a:p>
            <a:r>
              <a:rPr lang="en-US" sz="2000" dirty="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2000" dirty="0">
                <a:hlinkClick r:id="rId2"/>
              </a:rPr>
              <a:t>intel.com</a:t>
            </a:r>
            <a:r>
              <a:rPr lang="en-US" sz="2000" dirty="0"/>
              <a:t>. </a:t>
            </a:r>
          </a:p>
          <a:p>
            <a:r>
              <a:rPr lang="en-US" sz="2000" dirty="0"/>
              <a:t>This sample source code is released under the </a:t>
            </a:r>
            <a:r>
              <a:rPr lang="en-US" sz="2000" dirty="0">
                <a:hlinkClick r:id="rId3"/>
              </a:rPr>
              <a:t>Intel Sample Source Code License Agreement</a:t>
            </a:r>
            <a:r>
              <a:rPr lang="en-US" sz="2000" dirty="0"/>
              <a:t>. </a:t>
            </a:r>
          </a:p>
          <a:p>
            <a:r>
              <a:rPr lang="en-US" sz="2000" dirty="0"/>
              <a:t>Intel and the Intel logo are trademarks of Intel Corporation in the U.S. and/or other countries. </a:t>
            </a:r>
          </a:p>
          <a:p>
            <a:r>
              <a:rPr lang="en-US" sz="2000" dirty="0"/>
              <a:t>*Other names and brands may be claimed as the property of others. </a:t>
            </a:r>
          </a:p>
          <a:p>
            <a:r>
              <a:rPr lang="en-US" sz="2000" dirty="0"/>
              <a:t>Copyright © 2017, Intel Corporation. All rights reserved. </a:t>
            </a:r>
            <a:endParaRPr lang="en-US" sz="2000" dirty="0"/>
          </a:p>
        </p:txBody>
      </p:sp>
    </p:spTree>
    <p:extLst>
      <p:ext uri="{BB962C8B-B14F-4D97-AF65-F5344CB8AC3E}">
        <p14:creationId xmlns:p14="http://schemas.microsoft.com/office/powerpoint/2010/main" val="118592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Welcome!</a:t>
            </a:r>
          </a:p>
        </p:txBody>
      </p:sp>
      <p:sp>
        <p:nvSpPr>
          <p:cNvPr id="3" name="Text Placeholder 2"/>
          <p:cNvSpPr>
            <a:spLocks noGrp="1"/>
          </p:cNvSpPr>
          <p:nvPr>
            <p:ph type="body" idx="1"/>
          </p:nvPr>
        </p:nvSpPr>
        <p:spPr/>
        <p:txBody>
          <a:bodyPr/>
          <a:lstStyle/>
          <a:p>
            <a:r>
              <a:rPr lang="en-US" dirty="0"/>
              <a:t>Some course logistics to start</a:t>
            </a:r>
          </a:p>
        </p:txBody>
      </p:sp>
    </p:spTree>
    <p:extLst>
      <p:ext uri="{BB962C8B-B14F-4D97-AF65-F5344CB8AC3E}">
        <p14:creationId xmlns:p14="http://schemas.microsoft.com/office/powerpoint/2010/main" val="294768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solidFill>
                  <a:schemeClr val="tx2"/>
                </a:solidFill>
              </a:rPr>
              <a:t>TensorFlow</a:t>
            </a:r>
            <a:r>
              <a:rPr lang="en-US" dirty="0">
                <a:solidFill>
                  <a:schemeClr val="tx2"/>
                </a:solidFill>
              </a:rPr>
              <a:t> </a:t>
            </a:r>
            <a:r>
              <a:rPr lang="en-US" dirty="0"/>
              <a:t>Fundamentals</a:t>
            </a:r>
          </a:p>
        </p:txBody>
      </p:sp>
      <p:sp>
        <p:nvSpPr>
          <p:cNvPr id="3" name="Subtitle 2"/>
          <p:cNvSpPr>
            <a:spLocks noGrp="1"/>
          </p:cNvSpPr>
          <p:nvPr>
            <p:ph type="subTitle" idx="1"/>
          </p:nvPr>
        </p:nvSpPr>
        <p:spPr/>
        <p:txBody>
          <a:bodyPr/>
          <a:lstStyle/>
          <a:p>
            <a:r>
              <a:rPr lang="en-US" i="1" dirty="0"/>
              <a:t>Deep Learning with </a:t>
            </a:r>
            <a:r>
              <a:rPr lang="en-US" i="1" dirty="0" err="1"/>
              <a:t>TensorFlow</a:t>
            </a:r>
            <a:r>
              <a:rPr lang="en-US" i="1" dirty="0"/>
              <a:t> – Day 1</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t>
            </a:r>
            <a:r>
              <a:rPr lang="en-US" dirty="0" err="1"/>
              <a:t>TensorFlow</a:t>
            </a:r>
            <a:r>
              <a:rPr lang="en-US" dirty="0"/>
              <a:t>?</a:t>
            </a:r>
          </a:p>
        </p:txBody>
      </p:sp>
      <p:sp>
        <p:nvSpPr>
          <p:cNvPr id="3" name="Content Placeholder 2"/>
          <p:cNvSpPr>
            <a:spLocks noGrp="1"/>
          </p:cNvSpPr>
          <p:nvPr>
            <p:ph idx="1"/>
          </p:nvPr>
        </p:nvSpPr>
        <p:spPr/>
        <p:txBody>
          <a:bodyPr/>
          <a:lstStyle/>
          <a:p>
            <a:r>
              <a:rPr lang="en-US" dirty="0"/>
              <a:t>Framework for math using </a:t>
            </a:r>
            <a:r>
              <a:rPr lang="en-US" i="1" dirty="0" smtClean="0"/>
              <a:t>computation graphs</a:t>
            </a:r>
            <a:endParaRPr lang="en-US" dirty="0"/>
          </a:p>
          <a:p>
            <a:endParaRPr lang="en-US" dirty="0" smtClean="0"/>
          </a:p>
          <a:p>
            <a:r>
              <a:rPr lang="en-US" dirty="0" smtClean="0"/>
              <a:t>Has </a:t>
            </a:r>
            <a:r>
              <a:rPr lang="en-US" dirty="0"/>
              <a:t>features specifically for machine learning</a:t>
            </a:r>
          </a:p>
          <a:p>
            <a:endParaRPr lang="en-US" dirty="0" smtClean="0"/>
          </a:p>
          <a:p>
            <a:r>
              <a:rPr lang="en-US" dirty="0" smtClean="0"/>
              <a:t>Primary </a:t>
            </a:r>
            <a:r>
              <a:rPr lang="en-US" dirty="0"/>
              <a:t>interface is Python, integrates with </a:t>
            </a:r>
            <a:r>
              <a:rPr lang="en-US" dirty="0" err="1" smtClean="0"/>
              <a:t>NumPy</a:t>
            </a:r>
            <a:endParaRPr lang="en-US" dirty="0" smtClean="0"/>
          </a:p>
          <a:p>
            <a:pPr marL="457200" indent="-457200">
              <a:buFont typeface="Arial" charset="0"/>
              <a:buChar char="•"/>
            </a:pPr>
            <a:r>
              <a:rPr lang="en-US" dirty="0" smtClean="0"/>
              <a:t>Implemented in C++ and CUDA</a:t>
            </a:r>
            <a:endParaRPr lang="en-US" dirty="0"/>
          </a:p>
          <a:p>
            <a:endParaRPr lang="en-US" dirty="0" smtClean="0"/>
          </a:p>
          <a:p>
            <a:r>
              <a:rPr lang="en-US" dirty="0" smtClean="0"/>
              <a:t>Designed </a:t>
            </a:r>
            <a:r>
              <a:rPr lang="en-US" dirty="0"/>
              <a:t>to be flexible, scalable, and deployable</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20832" y="205409"/>
            <a:ext cx="1524000" cy="1524000"/>
          </a:xfrm>
          <a:prstGeom prst="rect">
            <a:avLst/>
          </a:prstGeom>
        </p:spPr>
      </p:pic>
    </p:spTree>
    <p:extLst>
      <p:ext uri="{BB962C8B-B14F-4D97-AF65-F5344CB8AC3E}">
        <p14:creationId xmlns:p14="http://schemas.microsoft.com/office/powerpoint/2010/main" val="3889177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Computation </a:t>
            </a:r>
            <a:r>
              <a:rPr lang="en-US" dirty="0"/>
              <a:t>G</a:t>
            </a:r>
            <a:r>
              <a:rPr lang="en-US" dirty="0" smtClean="0"/>
              <a:t>raph</a:t>
            </a:r>
            <a:endParaRPr lang="en-US" dirty="0"/>
          </a:p>
        </p:txBody>
      </p:sp>
      <p:grpSp>
        <p:nvGrpSpPr>
          <p:cNvPr id="12" name="Group 11"/>
          <p:cNvGrpSpPr/>
          <p:nvPr/>
        </p:nvGrpSpPr>
        <p:grpSpPr>
          <a:xfrm>
            <a:off x="3046412" y="1981200"/>
            <a:ext cx="1219200" cy="3657600"/>
            <a:chOff x="3275012" y="1981200"/>
            <a:chExt cx="1219200" cy="3657600"/>
          </a:xfrm>
        </p:grpSpPr>
        <p:sp>
          <p:nvSpPr>
            <p:cNvPr id="7" name="Oval 6"/>
            <p:cNvSpPr/>
            <p:nvPr/>
          </p:nvSpPr>
          <p:spPr>
            <a:xfrm>
              <a:off x="3275012" y="19812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sp>
          <p:nvSpPr>
            <p:cNvPr id="8" name="Oval 7"/>
            <p:cNvSpPr/>
            <p:nvPr/>
          </p:nvSpPr>
          <p:spPr>
            <a:xfrm>
              <a:off x="3275012" y="44196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grpSp>
      <p:grpSp>
        <p:nvGrpSpPr>
          <p:cNvPr id="13" name="Group 12"/>
          <p:cNvGrpSpPr/>
          <p:nvPr/>
        </p:nvGrpSpPr>
        <p:grpSpPr>
          <a:xfrm>
            <a:off x="6018212" y="1981200"/>
            <a:ext cx="1219200" cy="3657600"/>
            <a:chOff x="6246812" y="1981200"/>
            <a:chExt cx="1219200" cy="3657600"/>
          </a:xfrm>
        </p:grpSpPr>
        <p:sp>
          <p:nvSpPr>
            <p:cNvPr id="9" name="Oval 8"/>
            <p:cNvSpPr/>
            <p:nvPr/>
          </p:nvSpPr>
          <p:spPr>
            <a:xfrm>
              <a:off x="6246812" y="1981200"/>
              <a:ext cx="1219200" cy="1219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err="1">
                  <a:solidFill>
                    <a:schemeClr val="tx2"/>
                  </a:solidFill>
                </a:rPr>
                <a:t>mul</a:t>
              </a:r>
              <a:endParaRPr lang="en-US" dirty="0">
                <a:solidFill>
                  <a:schemeClr val="tx2"/>
                </a:solidFill>
              </a:endParaRPr>
            </a:p>
          </p:txBody>
        </p:sp>
        <p:sp>
          <p:nvSpPr>
            <p:cNvPr id="10" name="Oval 9"/>
            <p:cNvSpPr/>
            <p:nvPr/>
          </p:nvSpPr>
          <p:spPr>
            <a:xfrm>
              <a:off x="6246812" y="44196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solidFill>
                </a:rPr>
                <a:t>add</a:t>
              </a:r>
            </a:p>
          </p:txBody>
        </p:sp>
      </p:grpSp>
      <p:sp>
        <p:nvSpPr>
          <p:cNvPr id="11" name="Oval 10"/>
          <p:cNvSpPr/>
          <p:nvPr/>
        </p:nvSpPr>
        <p:spPr>
          <a:xfrm>
            <a:off x="8761412" y="3200400"/>
            <a:ext cx="1219200" cy="1219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solidFill>
                  <a:schemeClr val="tx2"/>
                </a:solidFill>
              </a:rPr>
              <a:t>add</a:t>
            </a:r>
          </a:p>
        </p:txBody>
      </p:sp>
      <p:cxnSp>
        <p:nvCxnSpPr>
          <p:cNvPr id="15" name="Straight Arrow Connector 14"/>
          <p:cNvCxnSpPr>
            <a:cxnSpLocks/>
            <a:endCxn id="7" idx="2"/>
          </p:cNvCxnSpPr>
          <p:nvPr/>
        </p:nvCxnSpPr>
        <p:spPr>
          <a:xfrm>
            <a:off x="1522412" y="25908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1522412" y="50292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6"/>
            <a:endCxn id="9" idx="2"/>
          </p:cNvCxnSpPr>
          <p:nvPr/>
        </p:nvCxnSpPr>
        <p:spPr>
          <a:xfrm>
            <a:off x="4265612" y="25908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cxnSpLocks/>
            <a:stCxn id="7" idx="6"/>
            <a:endCxn id="10" idx="1"/>
          </p:cNvCxnSpPr>
          <p:nvPr/>
        </p:nvCxnSpPr>
        <p:spPr>
          <a:xfrm>
            <a:off x="4265612" y="2590800"/>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8" idx="6"/>
            <a:endCxn id="10" idx="2"/>
          </p:cNvCxnSpPr>
          <p:nvPr/>
        </p:nvCxnSpPr>
        <p:spPr>
          <a:xfrm>
            <a:off x="4265612" y="50292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cxnSpLocks/>
            <a:stCxn id="8" idx="6"/>
            <a:endCxn id="9" idx="3"/>
          </p:cNvCxnSpPr>
          <p:nvPr/>
        </p:nvCxnSpPr>
        <p:spPr>
          <a:xfrm flipV="1">
            <a:off x="4265612" y="3021852"/>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9" idx="6"/>
            <a:endCxn id="11" idx="1"/>
          </p:cNvCxnSpPr>
          <p:nvPr/>
        </p:nvCxnSpPr>
        <p:spPr>
          <a:xfrm>
            <a:off x="7237412" y="2590800"/>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0" idx="6"/>
            <a:endCxn id="11" idx="3"/>
          </p:cNvCxnSpPr>
          <p:nvPr/>
        </p:nvCxnSpPr>
        <p:spPr>
          <a:xfrm flipV="1">
            <a:off x="7237412" y="4241052"/>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cxnSpLocks/>
            <a:stCxn id="11" idx="6"/>
          </p:cNvCxnSpPr>
          <p:nvPr/>
        </p:nvCxnSpPr>
        <p:spPr>
          <a:xfrm>
            <a:off x="9980612" y="38100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p:cNvCxnSpPr>
            <a:cxnSpLocks/>
            <a:endCxn id="9" idx="7"/>
          </p:cNvCxnSpPr>
          <p:nvPr/>
        </p:nvCxnSpPr>
        <p:spPr>
          <a:xfrm flipH="1">
            <a:off x="7058864" y="1600200"/>
            <a:ext cx="1397748" cy="559548"/>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11" idx="0"/>
          </p:cNvCxnSpPr>
          <p:nvPr/>
        </p:nvCxnSpPr>
        <p:spPr>
          <a:xfrm>
            <a:off x="8456612" y="1600200"/>
            <a:ext cx="914400" cy="1600200"/>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999412" y="1067239"/>
            <a:ext cx="1245854" cy="584775"/>
          </a:xfrm>
          <a:prstGeom prst="rect">
            <a:avLst/>
          </a:prstGeom>
          <a:noFill/>
        </p:spPr>
        <p:txBody>
          <a:bodyPr wrap="none" rtlCol="0">
            <a:spAutoFit/>
          </a:bodyPr>
          <a:lstStyle/>
          <a:p>
            <a:r>
              <a:rPr lang="en-US" sz="3200" dirty="0">
                <a:solidFill>
                  <a:srgbClr val="FF0000"/>
                </a:solidFill>
              </a:rPr>
              <a:t>Nodes</a:t>
            </a:r>
          </a:p>
        </p:txBody>
      </p:sp>
      <p:cxnSp>
        <p:nvCxnSpPr>
          <p:cNvPr id="20" name="Straight Arrow Connector 19"/>
          <p:cNvCxnSpPr/>
          <p:nvPr/>
        </p:nvCxnSpPr>
        <p:spPr>
          <a:xfrm flipH="1" flipV="1">
            <a:off x="8075612" y="4724400"/>
            <a:ext cx="1066800" cy="609600"/>
          </a:xfrm>
          <a:prstGeom prst="straightConnector1">
            <a:avLst/>
          </a:prstGeom>
          <a:ln w="38100">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9142412" y="3962400"/>
            <a:ext cx="1447800" cy="1371600"/>
          </a:xfrm>
          <a:prstGeom prst="straightConnector1">
            <a:avLst/>
          </a:prstGeom>
          <a:ln w="38100">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622339" y="5281704"/>
            <a:ext cx="1149867" cy="584775"/>
          </a:xfrm>
          <a:prstGeom prst="rect">
            <a:avLst/>
          </a:prstGeom>
          <a:noFill/>
        </p:spPr>
        <p:txBody>
          <a:bodyPr wrap="none" rtlCol="0">
            <a:spAutoFit/>
          </a:bodyPr>
          <a:lstStyle/>
          <a:p>
            <a:r>
              <a:rPr lang="en-US" sz="3200" dirty="0">
                <a:solidFill>
                  <a:srgbClr val="0070C0"/>
                </a:solidFill>
              </a:rPr>
              <a:t>Edges</a:t>
            </a:r>
          </a:p>
        </p:txBody>
      </p:sp>
    </p:spTree>
    <p:extLst>
      <p:ext uri="{BB962C8B-B14F-4D97-AF65-F5344CB8AC3E}">
        <p14:creationId xmlns:p14="http://schemas.microsoft.com/office/powerpoint/2010/main" val="3047911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TensorFlow</a:t>
            </a:r>
            <a:r>
              <a:rPr lang="en-US" dirty="0"/>
              <a:t> History</a:t>
            </a:r>
          </a:p>
        </p:txBody>
      </p:sp>
      <p:sp>
        <p:nvSpPr>
          <p:cNvPr id="3" name="Content Placeholder 2"/>
          <p:cNvSpPr>
            <a:spLocks noGrp="1"/>
          </p:cNvSpPr>
          <p:nvPr>
            <p:ph idx="1"/>
          </p:nvPr>
        </p:nvSpPr>
        <p:spPr/>
        <p:txBody>
          <a:bodyPr/>
          <a:lstStyle/>
          <a:p>
            <a:r>
              <a:rPr lang="en-US" dirty="0"/>
              <a:t>Developed by Google, successor to </a:t>
            </a:r>
            <a:r>
              <a:rPr lang="en-US" dirty="0" err="1"/>
              <a:t>DistBelief</a:t>
            </a:r>
            <a:endParaRPr lang="en-US" dirty="0"/>
          </a:p>
          <a:p>
            <a:r>
              <a:rPr lang="en-US" dirty="0"/>
              <a:t>Open source implementation released in November 2015</a:t>
            </a:r>
          </a:p>
          <a:p>
            <a:r>
              <a:rPr lang="en-US" dirty="0"/>
              <a:t>Key developments</a:t>
            </a:r>
          </a:p>
          <a:p>
            <a:pPr lvl="1"/>
            <a:r>
              <a:rPr lang="en-US" b="1" dirty="0" err="1"/>
              <a:t>TensorFlow</a:t>
            </a:r>
            <a:r>
              <a:rPr lang="en-US" b="1" dirty="0"/>
              <a:t> Serving</a:t>
            </a:r>
            <a:r>
              <a:rPr lang="en-US" dirty="0"/>
              <a:t>; Feb 2016</a:t>
            </a:r>
          </a:p>
          <a:p>
            <a:pPr lvl="1"/>
            <a:r>
              <a:rPr lang="en-US" b="1" dirty="0"/>
              <a:t>Distributed runtime</a:t>
            </a:r>
            <a:r>
              <a:rPr lang="en-US" dirty="0"/>
              <a:t>; April 2016</a:t>
            </a:r>
          </a:p>
          <a:p>
            <a:pPr lvl="1"/>
            <a:r>
              <a:rPr lang="en-US" b="1" dirty="0"/>
              <a:t>Accelerated Linear Algebra (XLA)</a:t>
            </a:r>
            <a:r>
              <a:rPr lang="en-US" dirty="0"/>
              <a:t>; January 2017</a:t>
            </a:r>
          </a:p>
          <a:p>
            <a:pPr lvl="1"/>
            <a:r>
              <a:rPr lang="en-US" b="1" dirty="0" err="1"/>
              <a:t>TensorFlow</a:t>
            </a:r>
            <a:r>
              <a:rPr lang="en-US" b="1" dirty="0"/>
              <a:t> Fold</a:t>
            </a:r>
            <a:r>
              <a:rPr lang="en-US" dirty="0"/>
              <a:t>; February 2017</a:t>
            </a:r>
          </a:p>
          <a:p>
            <a:r>
              <a:rPr lang="en-US" dirty="0"/>
              <a:t>Current version is </a:t>
            </a:r>
            <a:r>
              <a:rPr lang="en-US" b="1" dirty="0"/>
              <a:t>1.0.0</a:t>
            </a:r>
          </a:p>
          <a:p>
            <a:pPr lvl="1"/>
            <a:r>
              <a:rPr lang="en-US" dirty="0"/>
              <a:t>Code guaranteed to be backwards-compatible until 2.0.0</a:t>
            </a:r>
          </a:p>
        </p:txBody>
      </p:sp>
    </p:spTree>
    <p:extLst>
      <p:ext uri="{BB962C8B-B14F-4D97-AF65-F5344CB8AC3E}">
        <p14:creationId xmlns:p14="http://schemas.microsoft.com/office/powerpoint/2010/main" val="17074898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Computation Graphs</a:t>
            </a:r>
          </a:p>
        </p:txBody>
      </p:sp>
    </p:spTree>
    <p:extLst>
      <p:ext uri="{BB962C8B-B14F-4D97-AF65-F5344CB8AC3E}">
        <p14:creationId xmlns:p14="http://schemas.microsoft.com/office/powerpoint/2010/main" val="3516404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3046412" y="1981200"/>
            <a:ext cx="1219200" cy="3657600"/>
            <a:chOff x="3275012" y="1981200"/>
            <a:chExt cx="1219200" cy="3657600"/>
          </a:xfrm>
        </p:grpSpPr>
        <p:sp>
          <p:nvSpPr>
            <p:cNvPr id="7" name="Oval 6"/>
            <p:cNvSpPr/>
            <p:nvPr/>
          </p:nvSpPr>
          <p:spPr>
            <a:xfrm>
              <a:off x="3275012" y="19812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sp>
          <p:nvSpPr>
            <p:cNvPr id="8" name="Oval 7"/>
            <p:cNvSpPr/>
            <p:nvPr/>
          </p:nvSpPr>
          <p:spPr>
            <a:xfrm>
              <a:off x="3275012" y="44196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grpSp>
      <p:grpSp>
        <p:nvGrpSpPr>
          <p:cNvPr id="13" name="Group 12"/>
          <p:cNvGrpSpPr/>
          <p:nvPr/>
        </p:nvGrpSpPr>
        <p:grpSpPr>
          <a:xfrm>
            <a:off x="6018212" y="1981200"/>
            <a:ext cx="1219200" cy="3657600"/>
            <a:chOff x="6246812" y="1981200"/>
            <a:chExt cx="1219200" cy="3657600"/>
          </a:xfrm>
        </p:grpSpPr>
        <p:sp>
          <p:nvSpPr>
            <p:cNvPr id="9" name="Oval 8"/>
            <p:cNvSpPr/>
            <p:nvPr/>
          </p:nvSpPr>
          <p:spPr>
            <a:xfrm>
              <a:off x="6246812" y="1981200"/>
              <a:ext cx="1219200" cy="1219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err="1">
                  <a:solidFill>
                    <a:schemeClr val="tx2"/>
                  </a:solidFill>
                </a:rPr>
                <a:t>mul</a:t>
              </a:r>
              <a:endParaRPr lang="en-US" dirty="0">
                <a:solidFill>
                  <a:schemeClr val="tx2"/>
                </a:solidFill>
              </a:endParaRPr>
            </a:p>
          </p:txBody>
        </p:sp>
        <p:sp>
          <p:nvSpPr>
            <p:cNvPr id="10" name="Oval 9"/>
            <p:cNvSpPr/>
            <p:nvPr/>
          </p:nvSpPr>
          <p:spPr>
            <a:xfrm>
              <a:off x="6246812" y="44196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solidFill>
                </a:rPr>
                <a:t>add</a:t>
              </a:r>
            </a:p>
          </p:txBody>
        </p:sp>
      </p:grpSp>
      <p:sp>
        <p:nvSpPr>
          <p:cNvPr id="11" name="Oval 10"/>
          <p:cNvSpPr/>
          <p:nvPr/>
        </p:nvSpPr>
        <p:spPr>
          <a:xfrm>
            <a:off x="8761412" y="32004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solidFill>
              </a:rPr>
              <a:t>add</a:t>
            </a:r>
          </a:p>
        </p:txBody>
      </p:sp>
      <p:cxnSp>
        <p:nvCxnSpPr>
          <p:cNvPr id="15" name="Straight Arrow Connector 14"/>
          <p:cNvCxnSpPr>
            <a:cxnSpLocks/>
            <a:endCxn id="7" idx="2"/>
          </p:cNvCxnSpPr>
          <p:nvPr/>
        </p:nvCxnSpPr>
        <p:spPr>
          <a:xfrm>
            <a:off x="1522412" y="25908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1522412" y="50292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6"/>
            <a:endCxn id="9" idx="2"/>
          </p:cNvCxnSpPr>
          <p:nvPr/>
        </p:nvCxnSpPr>
        <p:spPr>
          <a:xfrm>
            <a:off x="4265612" y="25908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cxnSpLocks/>
            <a:stCxn id="7" idx="6"/>
            <a:endCxn id="10" idx="1"/>
          </p:cNvCxnSpPr>
          <p:nvPr/>
        </p:nvCxnSpPr>
        <p:spPr>
          <a:xfrm>
            <a:off x="4265612" y="2590800"/>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8" idx="6"/>
            <a:endCxn id="10" idx="2"/>
          </p:cNvCxnSpPr>
          <p:nvPr/>
        </p:nvCxnSpPr>
        <p:spPr>
          <a:xfrm>
            <a:off x="4265612" y="50292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cxnSpLocks/>
            <a:stCxn id="8" idx="6"/>
            <a:endCxn id="9" idx="3"/>
          </p:cNvCxnSpPr>
          <p:nvPr/>
        </p:nvCxnSpPr>
        <p:spPr>
          <a:xfrm flipV="1">
            <a:off x="4265612" y="3021852"/>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9" idx="6"/>
            <a:endCxn id="11" idx="1"/>
          </p:cNvCxnSpPr>
          <p:nvPr/>
        </p:nvCxnSpPr>
        <p:spPr>
          <a:xfrm>
            <a:off x="7237412" y="2590800"/>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0" idx="6"/>
            <a:endCxn id="11" idx="3"/>
          </p:cNvCxnSpPr>
          <p:nvPr/>
        </p:nvCxnSpPr>
        <p:spPr>
          <a:xfrm flipV="1">
            <a:off x="7237412" y="4241052"/>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cxnSpLocks/>
            <a:stCxn id="11" idx="6"/>
          </p:cNvCxnSpPr>
          <p:nvPr/>
        </p:nvCxnSpPr>
        <p:spPr>
          <a:xfrm>
            <a:off x="9980612" y="38100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p:txBody>
          <a:bodyPr/>
          <a:lstStyle/>
          <a:p>
            <a:r>
              <a:rPr lang="en-US" dirty="0"/>
              <a:t>Data Flow</a:t>
            </a:r>
          </a:p>
        </p:txBody>
      </p:sp>
    </p:spTree>
    <p:extLst>
      <p:ext uri="{BB962C8B-B14F-4D97-AF65-F5344CB8AC3E}">
        <p14:creationId xmlns:p14="http://schemas.microsoft.com/office/powerpoint/2010/main" val="35173994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3046412" y="1981200"/>
            <a:ext cx="1219200" cy="3657600"/>
            <a:chOff x="3275012" y="1981200"/>
            <a:chExt cx="1219200" cy="3657600"/>
          </a:xfrm>
        </p:grpSpPr>
        <p:sp>
          <p:nvSpPr>
            <p:cNvPr id="7" name="Oval 6"/>
            <p:cNvSpPr/>
            <p:nvPr/>
          </p:nvSpPr>
          <p:spPr>
            <a:xfrm>
              <a:off x="3275012" y="19812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sp>
          <p:nvSpPr>
            <p:cNvPr id="8" name="Oval 7"/>
            <p:cNvSpPr/>
            <p:nvPr/>
          </p:nvSpPr>
          <p:spPr>
            <a:xfrm>
              <a:off x="3275012" y="44196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grpSp>
      <p:grpSp>
        <p:nvGrpSpPr>
          <p:cNvPr id="13" name="Group 12"/>
          <p:cNvGrpSpPr/>
          <p:nvPr/>
        </p:nvGrpSpPr>
        <p:grpSpPr>
          <a:xfrm>
            <a:off x="6018212" y="1981200"/>
            <a:ext cx="1219200" cy="3657600"/>
            <a:chOff x="6246812" y="1981200"/>
            <a:chExt cx="1219200" cy="3657600"/>
          </a:xfrm>
        </p:grpSpPr>
        <p:sp>
          <p:nvSpPr>
            <p:cNvPr id="9" name="Oval 8"/>
            <p:cNvSpPr/>
            <p:nvPr/>
          </p:nvSpPr>
          <p:spPr>
            <a:xfrm>
              <a:off x="6246812" y="1981200"/>
              <a:ext cx="1219200" cy="1219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err="1">
                  <a:solidFill>
                    <a:schemeClr val="tx2"/>
                  </a:solidFill>
                </a:rPr>
                <a:t>mul</a:t>
              </a:r>
              <a:endParaRPr lang="en-US" dirty="0">
                <a:solidFill>
                  <a:schemeClr val="tx2"/>
                </a:solidFill>
              </a:endParaRPr>
            </a:p>
          </p:txBody>
        </p:sp>
        <p:sp>
          <p:nvSpPr>
            <p:cNvPr id="10" name="Oval 9"/>
            <p:cNvSpPr/>
            <p:nvPr/>
          </p:nvSpPr>
          <p:spPr>
            <a:xfrm>
              <a:off x="6246812" y="44196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solidFill>
                </a:rPr>
                <a:t>add</a:t>
              </a:r>
            </a:p>
          </p:txBody>
        </p:sp>
      </p:grpSp>
      <p:sp>
        <p:nvSpPr>
          <p:cNvPr id="11" name="Oval 10"/>
          <p:cNvSpPr/>
          <p:nvPr/>
        </p:nvSpPr>
        <p:spPr>
          <a:xfrm>
            <a:off x="8761412" y="32004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solidFill>
              </a:rPr>
              <a:t>add</a:t>
            </a:r>
          </a:p>
        </p:txBody>
      </p:sp>
      <p:cxnSp>
        <p:nvCxnSpPr>
          <p:cNvPr id="15" name="Straight Arrow Connector 14"/>
          <p:cNvCxnSpPr>
            <a:cxnSpLocks/>
            <a:endCxn id="7" idx="2"/>
          </p:cNvCxnSpPr>
          <p:nvPr/>
        </p:nvCxnSpPr>
        <p:spPr>
          <a:xfrm>
            <a:off x="1522412" y="25908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1522412" y="50292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6"/>
            <a:endCxn id="9" idx="2"/>
          </p:cNvCxnSpPr>
          <p:nvPr/>
        </p:nvCxnSpPr>
        <p:spPr>
          <a:xfrm>
            <a:off x="4265612" y="25908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cxnSpLocks/>
            <a:stCxn id="7" idx="6"/>
            <a:endCxn id="10" idx="1"/>
          </p:cNvCxnSpPr>
          <p:nvPr/>
        </p:nvCxnSpPr>
        <p:spPr>
          <a:xfrm>
            <a:off x="4265612" y="2590800"/>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8" idx="6"/>
            <a:endCxn id="10" idx="2"/>
          </p:cNvCxnSpPr>
          <p:nvPr/>
        </p:nvCxnSpPr>
        <p:spPr>
          <a:xfrm>
            <a:off x="4265612" y="50292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cxnSpLocks/>
            <a:stCxn id="8" idx="6"/>
            <a:endCxn id="9" idx="3"/>
          </p:cNvCxnSpPr>
          <p:nvPr/>
        </p:nvCxnSpPr>
        <p:spPr>
          <a:xfrm flipV="1">
            <a:off x="4265612" y="3021852"/>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9" idx="6"/>
            <a:endCxn id="11" idx="1"/>
          </p:cNvCxnSpPr>
          <p:nvPr/>
        </p:nvCxnSpPr>
        <p:spPr>
          <a:xfrm>
            <a:off x="7237412" y="2590800"/>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0" idx="6"/>
            <a:endCxn id="11" idx="3"/>
          </p:cNvCxnSpPr>
          <p:nvPr/>
        </p:nvCxnSpPr>
        <p:spPr>
          <a:xfrm flipV="1">
            <a:off x="7237412" y="4241052"/>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cxnSpLocks/>
            <a:stCxn id="11" idx="6"/>
          </p:cNvCxnSpPr>
          <p:nvPr/>
        </p:nvCxnSpPr>
        <p:spPr>
          <a:xfrm>
            <a:off x="9980612" y="38100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p:txBody>
          <a:bodyPr/>
          <a:lstStyle/>
          <a:p>
            <a:r>
              <a:rPr lang="en-US" dirty="0"/>
              <a:t>Data Flow</a:t>
            </a:r>
          </a:p>
        </p:txBody>
      </p:sp>
      <p:cxnSp>
        <p:nvCxnSpPr>
          <p:cNvPr id="27" name="Straight Arrow Connector 26"/>
          <p:cNvCxnSpPr>
            <a:cxnSpLocks/>
            <a:stCxn id="31" idx="1"/>
          </p:cNvCxnSpPr>
          <p:nvPr/>
        </p:nvCxnSpPr>
        <p:spPr>
          <a:xfrm flipH="1">
            <a:off x="2665414" y="1068512"/>
            <a:ext cx="2461516" cy="1389777"/>
          </a:xfrm>
          <a:prstGeom prst="straightConnector1">
            <a:avLst/>
          </a:prstGeom>
          <a:ln w="38100">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cxnSpLocks/>
          </p:cNvCxnSpPr>
          <p:nvPr/>
        </p:nvCxnSpPr>
        <p:spPr>
          <a:xfrm flipH="1">
            <a:off x="5541962" y="1676400"/>
            <a:ext cx="476250" cy="733433"/>
          </a:xfrm>
          <a:prstGeom prst="straightConnector1">
            <a:avLst/>
          </a:prstGeom>
          <a:ln w="38100">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126930" y="529903"/>
            <a:ext cx="5444824" cy="1077218"/>
          </a:xfrm>
          <a:prstGeom prst="rect">
            <a:avLst/>
          </a:prstGeom>
          <a:noFill/>
        </p:spPr>
        <p:txBody>
          <a:bodyPr wrap="none" rtlCol="0">
            <a:spAutoFit/>
          </a:bodyPr>
          <a:lstStyle/>
          <a:p>
            <a:pPr algn="ctr"/>
            <a:r>
              <a:rPr lang="en-US" sz="3200" dirty="0">
                <a:solidFill>
                  <a:srgbClr val="0070C0"/>
                </a:solidFill>
              </a:rPr>
              <a:t>Edges represent numerical data</a:t>
            </a:r>
          </a:p>
          <a:p>
            <a:pPr algn="ctr"/>
            <a:r>
              <a:rPr lang="en-US" sz="3200" dirty="0">
                <a:solidFill>
                  <a:srgbClr val="0070C0"/>
                </a:solidFill>
              </a:rPr>
              <a:t>flowing through the graph</a:t>
            </a:r>
          </a:p>
        </p:txBody>
      </p:sp>
      <p:cxnSp>
        <p:nvCxnSpPr>
          <p:cNvPr id="38" name="Straight Arrow Connector 37"/>
          <p:cNvCxnSpPr>
            <a:cxnSpLocks/>
          </p:cNvCxnSpPr>
          <p:nvPr/>
        </p:nvCxnSpPr>
        <p:spPr>
          <a:xfrm flipH="1">
            <a:off x="8304212" y="1627817"/>
            <a:ext cx="47625" cy="1191583"/>
          </a:xfrm>
          <a:prstGeom prst="straightConnector1">
            <a:avLst/>
          </a:prstGeom>
          <a:ln w="38100">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cxnSpLocks/>
          </p:cNvCxnSpPr>
          <p:nvPr/>
        </p:nvCxnSpPr>
        <p:spPr>
          <a:xfrm>
            <a:off x="10414694" y="1417637"/>
            <a:ext cx="347717" cy="2239963"/>
          </a:xfrm>
          <a:prstGeom prst="straightConnector1">
            <a:avLst/>
          </a:prstGeom>
          <a:ln w="38100">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86762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3046412" y="1981200"/>
            <a:ext cx="1219200" cy="3657600"/>
            <a:chOff x="3275012" y="1981200"/>
            <a:chExt cx="1219200" cy="3657600"/>
          </a:xfrm>
        </p:grpSpPr>
        <p:sp>
          <p:nvSpPr>
            <p:cNvPr id="7" name="Oval 6"/>
            <p:cNvSpPr/>
            <p:nvPr/>
          </p:nvSpPr>
          <p:spPr>
            <a:xfrm>
              <a:off x="3275012" y="19812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sp>
          <p:nvSpPr>
            <p:cNvPr id="8" name="Oval 7"/>
            <p:cNvSpPr/>
            <p:nvPr/>
          </p:nvSpPr>
          <p:spPr>
            <a:xfrm>
              <a:off x="3275012" y="44196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grpSp>
      <p:grpSp>
        <p:nvGrpSpPr>
          <p:cNvPr id="13" name="Group 12"/>
          <p:cNvGrpSpPr/>
          <p:nvPr/>
        </p:nvGrpSpPr>
        <p:grpSpPr>
          <a:xfrm>
            <a:off x="6018212" y="1981200"/>
            <a:ext cx="1219200" cy="3657600"/>
            <a:chOff x="6246812" y="1981200"/>
            <a:chExt cx="1219200" cy="3657600"/>
          </a:xfrm>
        </p:grpSpPr>
        <p:sp>
          <p:nvSpPr>
            <p:cNvPr id="9" name="Oval 8"/>
            <p:cNvSpPr/>
            <p:nvPr/>
          </p:nvSpPr>
          <p:spPr>
            <a:xfrm>
              <a:off x="6246812" y="1981200"/>
              <a:ext cx="1219200" cy="1219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err="1">
                  <a:solidFill>
                    <a:schemeClr val="tx2"/>
                  </a:solidFill>
                </a:rPr>
                <a:t>mul</a:t>
              </a:r>
              <a:endParaRPr lang="en-US" dirty="0">
                <a:solidFill>
                  <a:schemeClr val="tx2"/>
                </a:solidFill>
              </a:endParaRPr>
            </a:p>
          </p:txBody>
        </p:sp>
        <p:sp>
          <p:nvSpPr>
            <p:cNvPr id="10" name="Oval 9"/>
            <p:cNvSpPr/>
            <p:nvPr/>
          </p:nvSpPr>
          <p:spPr>
            <a:xfrm>
              <a:off x="6246812" y="44196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solidFill>
                </a:rPr>
                <a:t>add</a:t>
              </a:r>
            </a:p>
          </p:txBody>
        </p:sp>
      </p:grpSp>
      <p:sp>
        <p:nvSpPr>
          <p:cNvPr id="11" name="Oval 10"/>
          <p:cNvSpPr/>
          <p:nvPr/>
        </p:nvSpPr>
        <p:spPr>
          <a:xfrm>
            <a:off x="8761412" y="32004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solidFill>
              </a:rPr>
              <a:t>add</a:t>
            </a:r>
          </a:p>
        </p:txBody>
      </p:sp>
      <p:cxnSp>
        <p:nvCxnSpPr>
          <p:cNvPr id="15" name="Straight Arrow Connector 14"/>
          <p:cNvCxnSpPr>
            <a:cxnSpLocks/>
            <a:endCxn id="7" idx="2"/>
          </p:cNvCxnSpPr>
          <p:nvPr/>
        </p:nvCxnSpPr>
        <p:spPr>
          <a:xfrm>
            <a:off x="1522412" y="25908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1522412" y="50292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6"/>
            <a:endCxn id="9" idx="2"/>
          </p:cNvCxnSpPr>
          <p:nvPr/>
        </p:nvCxnSpPr>
        <p:spPr>
          <a:xfrm>
            <a:off x="4265612" y="25908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cxnSpLocks/>
            <a:stCxn id="7" idx="6"/>
            <a:endCxn id="10" idx="1"/>
          </p:cNvCxnSpPr>
          <p:nvPr/>
        </p:nvCxnSpPr>
        <p:spPr>
          <a:xfrm>
            <a:off x="4265612" y="2590800"/>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8" idx="6"/>
            <a:endCxn id="10" idx="2"/>
          </p:cNvCxnSpPr>
          <p:nvPr/>
        </p:nvCxnSpPr>
        <p:spPr>
          <a:xfrm>
            <a:off x="4265612" y="50292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cxnSpLocks/>
            <a:stCxn id="8" idx="6"/>
            <a:endCxn id="9" idx="3"/>
          </p:cNvCxnSpPr>
          <p:nvPr/>
        </p:nvCxnSpPr>
        <p:spPr>
          <a:xfrm flipV="1">
            <a:off x="4265612" y="3021852"/>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9" idx="6"/>
            <a:endCxn id="11" idx="1"/>
          </p:cNvCxnSpPr>
          <p:nvPr/>
        </p:nvCxnSpPr>
        <p:spPr>
          <a:xfrm>
            <a:off x="7237412" y="2590800"/>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0" idx="6"/>
            <a:endCxn id="11" idx="3"/>
          </p:cNvCxnSpPr>
          <p:nvPr/>
        </p:nvCxnSpPr>
        <p:spPr>
          <a:xfrm flipV="1">
            <a:off x="7237412" y="4241052"/>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cxnSpLocks/>
            <a:stCxn id="11" idx="6"/>
          </p:cNvCxnSpPr>
          <p:nvPr/>
        </p:nvCxnSpPr>
        <p:spPr>
          <a:xfrm>
            <a:off x="9980612" y="38100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p:txBody>
          <a:bodyPr/>
          <a:lstStyle/>
          <a:p>
            <a:r>
              <a:rPr lang="en-US" dirty="0"/>
              <a:t>Data Flow</a:t>
            </a:r>
          </a:p>
        </p:txBody>
      </p:sp>
      <p:cxnSp>
        <p:nvCxnSpPr>
          <p:cNvPr id="27" name="Straight Arrow Connector 26"/>
          <p:cNvCxnSpPr>
            <a:cxnSpLocks/>
          </p:cNvCxnSpPr>
          <p:nvPr/>
        </p:nvCxnSpPr>
        <p:spPr>
          <a:xfrm flipH="1">
            <a:off x="4113212" y="1525206"/>
            <a:ext cx="3962400" cy="532194"/>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cxnSpLocks/>
          </p:cNvCxnSpPr>
          <p:nvPr/>
        </p:nvCxnSpPr>
        <p:spPr>
          <a:xfrm flipH="1">
            <a:off x="7054363" y="1546650"/>
            <a:ext cx="868849" cy="505755"/>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485873" y="349885"/>
            <a:ext cx="5179477" cy="1077218"/>
          </a:xfrm>
          <a:prstGeom prst="rect">
            <a:avLst/>
          </a:prstGeom>
          <a:noFill/>
        </p:spPr>
        <p:txBody>
          <a:bodyPr wrap="square" rtlCol="0">
            <a:spAutoFit/>
          </a:bodyPr>
          <a:lstStyle/>
          <a:p>
            <a:pPr algn="ctr"/>
            <a:r>
              <a:rPr lang="en-US" sz="3200" dirty="0">
                <a:solidFill>
                  <a:srgbClr val="FF0000"/>
                </a:solidFill>
              </a:rPr>
              <a:t>Nodes </a:t>
            </a:r>
            <a:r>
              <a:rPr lang="en-US" sz="3200" dirty="0" smtClean="0">
                <a:solidFill>
                  <a:srgbClr val="FF0000"/>
                </a:solidFill>
              </a:rPr>
              <a:t>represent  computations</a:t>
            </a:r>
            <a:endParaRPr lang="en-US" sz="3200" dirty="0">
              <a:solidFill>
                <a:srgbClr val="FF0000"/>
              </a:solidFill>
            </a:endParaRPr>
          </a:p>
        </p:txBody>
      </p:sp>
      <p:cxnSp>
        <p:nvCxnSpPr>
          <p:cNvPr id="38" name="Straight Arrow Connector 37"/>
          <p:cNvCxnSpPr>
            <a:cxnSpLocks/>
            <a:endCxn id="11" idx="0"/>
          </p:cNvCxnSpPr>
          <p:nvPr/>
        </p:nvCxnSpPr>
        <p:spPr>
          <a:xfrm>
            <a:off x="8075612" y="1546650"/>
            <a:ext cx="1295400" cy="1653750"/>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1422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Arrow Connector 23"/>
          <p:cNvCxnSpPr>
            <a:stCxn id="8" idx="6"/>
            <a:endCxn id="10" idx="2"/>
          </p:cNvCxnSpPr>
          <p:nvPr/>
        </p:nvCxnSpPr>
        <p:spPr>
          <a:xfrm>
            <a:off x="4265612" y="50292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cxnSpLocks/>
            <a:stCxn id="8" idx="6"/>
            <a:endCxn id="9" idx="3"/>
          </p:cNvCxnSpPr>
          <p:nvPr/>
        </p:nvCxnSpPr>
        <p:spPr>
          <a:xfrm flipV="1">
            <a:off x="4265612" y="3021852"/>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6"/>
            <a:endCxn id="9" idx="2"/>
          </p:cNvCxnSpPr>
          <p:nvPr/>
        </p:nvCxnSpPr>
        <p:spPr>
          <a:xfrm>
            <a:off x="4265612" y="25908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cxnSpLocks/>
            <a:stCxn id="7" idx="6"/>
            <a:endCxn id="10" idx="1"/>
          </p:cNvCxnSpPr>
          <p:nvPr/>
        </p:nvCxnSpPr>
        <p:spPr>
          <a:xfrm>
            <a:off x="4265612" y="2590800"/>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3046412" y="1981200"/>
            <a:ext cx="1219200" cy="3657600"/>
            <a:chOff x="3275012" y="1981200"/>
            <a:chExt cx="1219200" cy="3657600"/>
          </a:xfrm>
        </p:grpSpPr>
        <p:sp>
          <p:nvSpPr>
            <p:cNvPr id="7" name="Oval 6"/>
            <p:cNvSpPr/>
            <p:nvPr/>
          </p:nvSpPr>
          <p:spPr>
            <a:xfrm>
              <a:off x="3275012" y="19812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sp>
          <p:nvSpPr>
            <p:cNvPr id="8" name="Oval 7"/>
            <p:cNvSpPr/>
            <p:nvPr/>
          </p:nvSpPr>
          <p:spPr>
            <a:xfrm>
              <a:off x="3275012" y="44196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grpSp>
      <p:grpSp>
        <p:nvGrpSpPr>
          <p:cNvPr id="13" name="Group 12"/>
          <p:cNvGrpSpPr/>
          <p:nvPr/>
        </p:nvGrpSpPr>
        <p:grpSpPr>
          <a:xfrm>
            <a:off x="6018212" y="1981200"/>
            <a:ext cx="1219200" cy="3657600"/>
            <a:chOff x="6246812" y="1981200"/>
            <a:chExt cx="1219200" cy="3657600"/>
          </a:xfrm>
        </p:grpSpPr>
        <p:sp>
          <p:nvSpPr>
            <p:cNvPr id="9" name="Oval 8"/>
            <p:cNvSpPr/>
            <p:nvPr/>
          </p:nvSpPr>
          <p:spPr>
            <a:xfrm>
              <a:off x="6246812" y="1981200"/>
              <a:ext cx="1219200" cy="1219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err="1">
                  <a:solidFill>
                    <a:schemeClr val="tx2"/>
                  </a:solidFill>
                </a:rPr>
                <a:t>mul</a:t>
              </a:r>
              <a:endParaRPr lang="en-US" dirty="0">
                <a:solidFill>
                  <a:schemeClr val="tx2"/>
                </a:solidFill>
              </a:endParaRPr>
            </a:p>
          </p:txBody>
        </p:sp>
        <p:sp>
          <p:nvSpPr>
            <p:cNvPr id="10" name="Oval 9"/>
            <p:cNvSpPr/>
            <p:nvPr/>
          </p:nvSpPr>
          <p:spPr>
            <a:xfrm>
              <a:off x="6246812" y="44196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solidFill>
                </a:rPr>
                <a:t>add</a:t>
              </a:r>
            </a:p>
          </p:txBody>
        </p:sp>
      </p:grpSp>
      <p:sp>
        <p:nvSpPr>
          <p:cNvPr id="11" name="Oval 10"/>
          <p:cNvSpPr/>
          <p:nvPr/>
        </p:nvSpPr>
        <p:spPr>
          <a:xfrm>
            <a:off x="8761412" y="32004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solidFill>
              </a:rPr>
              <a:t>add</a:t>
            </a:r>
          </a:p>
        </p:txBody>
      </p:sp>
      <p:cxnSp>
        <p:nvCxnSpPr>
          <p:cNvPr id="15" name="Straight Arrow Connector 14"/>
          <p:cNvCxnSpPr>
            <a:cxnSpLocks/>
            <a:endCxn id="7" idx="2"/>
          </p:cNvCxnSpPr>
          <p:nvPr/>
        </p:nvCxnSpPr>
        <p:spPr>
          <a:xfrm>
            <a:off x="1522412" y="2590800"/>
            <a:ext cx="1524000" cy="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1522412" y="50292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9" idx="6"/>
            <a:endCxn id="11" idx="1"/>
          </p:cNvCxnSpPr>
          <p:nvPr/>
        </p:nvCxnSpPr>
        <p:spPr>
          <a:xfrm>
            <a:off x="7237412" y="2590800"/>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0" idx="6"/>
            <a:endCxn id="11" idx="3"/>
          </p:cNvCxnSpPr>
          <p:nvPr/>
        </p:nvCxnSpPr>
        <p:spPr>
          <a:xfrm flipV="1">
            <a:off x="7237412" y="4241052"/>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cxnSpLocks/>
            <a:stCxn id="11" idx="6"/>
          </p:cNvCxnSpPr>
          <p:nvPr/>
        </p:nvCxnSpPr>
        <p:spPr>
          <a:xfrm>
            <a:off x="9980612" y="38100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p:txBody>
          <a:bodyPr/>
          <a:lstStyle/>
          <a:p>
            <a:r>
              <a:rPr lang="en-US" dirty="0"/>
              <a:t>Data Flow</a:t>
            </a:r>
          </a:p>
        </p:txBody>
      </p:sp>
      <p:sp>
        <p:nvSpPr>
          <p:cNvPr id="2" name="TextBox 1"/>
          <p:cNvSpPr txBox="1"/>
          <p:nvPr/>
        </p:nvSpPr>
        <p:spPr>
          <a:xfrm>
            <a:off x="2018108" y="2152153"/>
            <a:ext cx="340158" cy="461665"/>
          </a:xfrm>
          <a:prstGeom prst="rect">
            <a:avLst/>
          </a:prstGeom>
          <a:noFill/>
        </p:spPr>
        <p:txBody>
          <a:bodyPr wrap="none" rtlCol="0">
            <a:spAutoFit/>
          </a:bodyPr>
          <a:lstStyle/>
          <a:p>
            <a:r>
              <a:rPr lang="en-US" sz="2400" dirty="0"/>
              <a:t>7</a:t>
            </a:r>
          </a:p>
        </p:txBody>
      </p:sp>
      <p:sp>
        <p:nvSpPr>
          <p:cNvPr id="20" name="TextBox 19"/>
          <p:cNvSpPr txBox="1"/>
          <p:nvPr/>
        </p:nvSpPr>
        <p:spPr>
          <a:xfrm>
            <a:off x="2018108" y="4606093"/>
            <a:ext cx="340158" cy="461665"/>
          </a:xfrm>
          <a:prstGeom prst="rect">
            <a:avLst/>
          </a:prstGeom>
          <a:noFill/>
        </p:spPr>
        <p:txBody>
          <a:bodyPr wrap="none" rtlCol="0">
            <a:spAutoFit/>
          </a:bodyPr>
          <a:lstStyle/>
          <a:p>
            <a:r>
              <a:rPr lang="en-US" sz="2400" dirty="0"/>
              <a:t>3</a:t>
            </a:r>
          </a:p>
        </p:txBody>
      </p:sp>
      <p:sp>
        <p:nvSpPr>
          <p:cNvPr id="21" name="TextBox 20"/>
          <p:cNvSpPr txBox="1"/>
          <p:nvPr/>
        </p:nvSpPr>
        <p:spPr>
          <a:xfrm>
            <a:off x="5068454" y="4606093"/>
            <a:ext cx="340158" cy="461665"/>
          </a:xfrm>
          <a:prstGeom prst="rect">
            <a:avLst/>
          </a:prstGeom>
          <a:noFill/>
        </p:spPr>
        <p:txBody>
          <a:bodyPr wrap="none" rtlCol="0">
            <a:spAutoFit/>
          </a:bodyPr>
          <a:lstStyle/>
          <a:p>
            <a:r>
              <a:rPr lang="en-US" sz="2400" dirty="0"/>
              <a:t>3</a:t>
            </a:r>
          </a:p>
        </p:txBody>
      </p:sp>
      <p:sp>
        <p:nvSpPr>
          <p:cNvPr id="25" name="TextBox 24"/>
          <p:cNvSpPr txBox="1"/>
          <p:nvPr/>
        </p:nvSpPr>
        <p:spPr>
          <a:xfrm>
            <a:off x="4604519" y="4025672"/>
            <a:ext cx="340158" cy="461665"/>
          </a:xfrm>
          <a:prstGeom prst="rect">
            <a:avLst/>
          </a:prstGeom>
          <a:noFill/>
        </p:spPr>
        <p:txBody>
          <a:bodyPr wrap="none" rtlCol="0">
            <a:spAutoFit/>
          </a:bodyPr>
          <a:lstStyle/>
          <a:p>
            <a:r>
              <a:rPr lang="en-US" sz="2400" dirty="0"/>
              <a:t>3</a:t>
            </a:r>
          </a:p>
        </p:txBody>
      </p:sp>
      <p:sp>
        <p:nvSpPr>
          <p:cNvPr id="27" name="TextBox 26"/>
          <p:cNvSpPr txBox="1"/>
          <p:nvPr/>
        </p:nvSpPr>
        <p:spPr>
          <a:xfrm>
            <a:off x="5068454" y="2152153"/>
            <a:ext cx="340158" cy="461665"/>
          </a:xfrm>
          <a:prstGeom prst="rect">
            <a:avLst/>
          </a:prstGeom>
          <a:noFill/>
        </p:spPr>
        <p:txBody>
          <a:bodyPr wrap="none" rtlCol="0">
            <a:spAutoFit/>
          </a:bodyPr>
          <a:lstStyle/>
          <a:p>
            <a:r>
              <a:rPr lang="en-US" sz="2400" dirty="0"/>
              <a:t>7</a:t>
            </a:r>
          </a:p>
        </p:txBody>
      </p:sp>
      <p:sp>
        <p:nvSpPr>
          <p:cNvPr id="29" name="TextBox 28"/>
          <p:cNvSpPr txBox="1"/>
          <p:nvPr/>
        </p:nvSpPr>
        <p:spPr>
          <a:xfrm>
            <a:off x="4604519" y="2669232"/>
            <a:ext cx="340158" cy="461665"/>
          </a:xfrm>
          <a:prstGeom prst="rect">
            <a:avLst/>
          </a:prstGeom>
          <a:noFill/>
        </p:spPr>
        <p:txBody>
          <a:bodyPr wrap="none" rtlCol="0">
            <a:spAutoFit/>
          </a:bodyPr>
          <a:lstStyle/>
          <a:p>
            <a:r>
              <a:rPr lang="en-US" sz="2400" dirty="0"/>
              <a:t>7</a:t>
            </a:r>
          </a:p>
        </p:txBody>
      </p:sp>
      <p:sp>
        <p:nvSpPr>
          <p:cNvPr id="32" name="TextBox 31"/>
          <p:cNvSpPr txBox="1"/>
          <p:nvPr/>
        </p:nvSpPr>
        <p:spPr>
          <a:xfrm>
            <a:off x="6234114" y="1581017"/>
            <a:ext cx="787395" cy="461665"/>
          </a:xfrm>
          <a:prstGeom prst="rect">
            <a:avLst/>
          </a:prstGeom>
          <a:noFill/>
        </p:spPr>
        <p:txBody>
          <a:bodyPr wrap="none" rtlCol="0">
            <a:spAutoFit/>
          </a:bodyPr>
          <a:lstStyle/>
          <a:p>
            <a:r>
              <a:rPr lang="en-US" sz="2400" dirty="0"/>
              <a:t>7 * 3</a:t>
            </a:r>
          </a:p>
        </p:txBody>
      </p:sp>
      <p:sp>
        <p:nvSpPr>
          <p:cNvPr id="33" name="TextBox 32"/>
          <p:cNvSpPr txBox="1"/>
          <p:nvPr/>
        </p:nvSpPr>
        <p:spPr>
          <a:xfrm>
            <a:off x="6234114" y="4010219"/>
            <a:ext cx="787395" cy="461665"/>
          </a:xfrm>
          <a:prstGeom prst="rect">
            <a:avLst/>
          </a:prstGeom>
          <a:noFill/>
        </p:spPr>
        <p:txBody>
          <a:bodyPr wrap="none" rtlCol="0">
            <a:spAutoFit/>
          </a:bodyPr>
          <a:lstStyle/>
          <a:p>
            <a:r>
              <a:rPr lang="en-US" sz="2400" dirty="0"/>
              <a:t>7 + 3</a:t>
            </a:r>
          </a:p>
        </p:txBody>
      </p:sp>
      <p:sp>
        <p:nvSpPr>
          <p:cNvPr id="35" name="TextBox 34"/>
          <p:cNvSpPr txBox="1"/>
          <p:nvPr/>
        </p:nvSpPr>
        <p:spPr>
          <a:xfrm>
            <a:off x="7676933" y="4231224"/>
            <a:ext cx="495649" cy="461665"/>
          </a:xfrm>
          <a:prstGeom prst="rect">
            <a:avLst/>
          </a:prstGeom>
          <a:noFill/>
        </p:spPr>
        <p:txBody>
          <a:bodyPr wrap="none" rtlCol="0">
            <a:spAutoFit/>
          </a:bodyPr>
          <a:lstStyle/>
          <a:p>
            <a:r>
              <a:rPr lang="en-US" sz="2400" dirty="0"/>
              <a:t>10</a:t>
            </a:r>
          </a:p>
        </p:txBody>
      </p:sp>
      <p:sp>
        <p:nvSpPr>
          <p:cNvPr id="36" name="TextBox 35"/>
          <p:cNvSpPr txBox="1"/>
          <p:nvPr/>
        </p:nvSpPr>
        <p:spPr>
          <a:xfrm>
            <a:off x="7676933" y="2438400"/>
            <a:ext cx="495649" cy="461665"/>
          </a:xfrm>
          <a:prstGeom prst="rect">
            <a:avLst/>
          </a:prstGeom>
          <a:noFill/>
        </p:spPr>
        <p:txBody>
          <a:bodyPr wrap="none" rtlCol="0">
            <a:spAutoFit/>
          </a:bodyPr>
          <a:lstStyle/>
          <a:p>
            <a:r>
              <a:rPr lang="en-US" sz="2400" dirty="0"/>
              <a:t>21</a:t>
            </a:r>
          </a:p>
        </p:txBody>
      </p:sp>
      <p:sp>
        <p:nvSpPr>
          <p:cNvPr id="37" name="TextBox 36"/>
          <p:cNvSpPr txBox="1"/>
          <p:nvPr/>
        </p:nvSpPr>
        <p:spPr>
          <a:xfrm>
            <a:off x="8830292" y="2754041"/>
            <a:ext cx="1098378" cy="461665"/>
          </a:xfrm>
          <a:prstGeom prst="rect">
            <a:avLst/>
          </a:prstGeom>
          <a:noFill/>
        </p:spPr>
        <p:txBody>
          <a:bodyPr wrap="none" rtlCol="0">
            <a:spAutoFit/>
          </a:bodyPr>
          <a:lstStyle/>
          <a:p>
            <a:r>
              <a:rPr lang="en-US" sz="2400" dirty="0"/>
              <a:t>21 + 10</a:t>
            </a:r>
          </a:p>
        </p:txBody>
      </p:sp>
      <p:sp>
        <p:nvSpPr>
          <p:cNvPr id="38" name="TextBox 37"/>
          <p:cNvSpPr txBox="1"/>
          <p:nvPr/>
        </p:nvSpPr>
        <p:spPr>
          <a:xfrm>
            <a:off x="10432038" y="3363641"/>
            <a:ext cx="495649" cy="461665"/>
          </a:xfrm>
          <a:prstGeom prst="rect">
            <a:avLst/>
          </a:prstGeom>
          <a:noFill/>
        </p:spPr>
        <p:txBody>
          <a:bodyPr wrap="none" rtlCol="0">
            <a:spAutoFit/>
          </a:bodyPr>
          <a:lstStyle/>
          <a:p>
            <a:r>
              <a:rPr lang="en-US" sz="2400" dirty="0"/>
              <a:t>31</a:t>
            </a:r>
          </a:p>
        </p:txBody>
      </p:sp>
      <p:sp>
        <p:nvSpPr>
          <p:cNvPr id="39" name="TextBox 38"/>
          <p:cNvSpPr txBox="1"/>
          <p:nvPr/>
        </p:nvSpPr>
        <p:spPr>
          <a:xfrm>
            <a:off x="3485933" y="1581017"/>
            <a:ext cx="340158" cy="461665"/>
          </a:xfrm>
          <a:prstGeom prst="rect">
            <a:avLst/>
          </a:prstGeom>
          <a:noFill/>
        </p:spPr>
        <p:txBody>
          <a:bodyPr wrap="none" rtlCol="0">
            <a:spAutoFit/>
          </a:bodyPr>
          <a:lstStyle/>
          <a:p>
            <a:r>
              <a:rPr lang="en-US" sz="2400" dirty="0"/>
              <a:t>7</a:t>
            </a:r>
          </a:p>
        </p:txBody>
      </p:sp>
      <p:sp>
        <p:nvSpPr>
          <p:cNvPr id="40" name="TextBox 39"/>
          <p:cNvSpPr txBox="1"/>
          <p:nvPr/>
        </p:nvSpPr>
        <p:spPr>
          <a:xfrm>
            <a:off x="3485933" y="4034957"/>
            <a:ext cx="340158" cy="461665"/>
          </a:xfrm>
          <a:prstGeom prst="rect">
            <a:avLst/>
          </a:prstGeom>
          <a:noFill/>
        </p:spPr>
        <p:txBody>
          <a:bodyPr wrap="none" rtlCol="0">
            <a:spAutoFit/>
          </a:bodyPr>
          <a:lstStyle/>
          <a:p>
            <a:r>
              <a:rPr lang="en-US" sz="2400" dirty="0"/>
              <a:t>3</a:t>
            </a:r>
          </a:p>
        </p:txBody>
      </p:sp>
      <p:sp>
        <p:nvSpPr>
          <p:cNvPr id="4" name="Oval 3"/>
          <p:cNvSpPr/>
          <p:nvPr/>
        </p:nvSpPr>
        <p:spPr>
          <a:xfrm>
            <a:off x="3045689" y="4419600"/>
            <a:ext cx="1219200" cy="1219200"/>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1" name="Oval 40"/>
          <p:cNvSpPr/>
          <p:nvPr/>
        </p:nvSpPr>
        <p:spPr>
          <a:xfrm>
            <a:off x="3045689" y="1980019"/>
            <a:ext cx="1219200" cy="1219200"/>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1" name="Oval 50"/>
          <p:cNvSpPr/>
          <p:nvPr/>
        </p:nvSpPr>
        <p:spPr>
          <a:xfrm>
            <a:off x="6018212" y="1980019"/>
            <a:ext cx="1219200" cy="1219200"/>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2" name="Oval 51"/>
          <p:cNvSpPr/>
          <p:nvPr/>
        </p:nvSpPr>
        <p:spPr>
          <a:xfrm>
            <a:off x="6018212" y="4420981"/>
            <a:ext cx="1219200" cy="1219200"/>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3" name="Oval 52"/>
          <p:cNvSpPr/>
          <p:nvPr/>
        </p:nvSpPr>
        <p:spPr>
          <a:xfrm>
            <a:off x="8761412" y="3200400"/>
            <a:ext cx="1219200" cy="1219200"/>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8100183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200"/>
                                        <p:tgtEl>
                                          <p:spTgt spid="20"/>
                                        </p:tgtEl>
                                      </p:cBhvr>
                                    </p:animEffect>
                                  </p:childTnLst>
                                </p:cTn>
                              </p:par>
                              <p:par>
                                <p:cTn id="11" presetID="7" presetClass="emph" presetSubtype="2" fill="hold" nodeType="withEffect">
                                  <p:stCondLst>
                                    <p:cond delay="0"/>
                                  </p:stCondLst>
                                  <p:childTnLst>
                                    <p:animClr clrSpc="rgb" dir="cw">
                                      <p:cBhvr>
                                        <p:cTn id="12" dur="200" fill="hold"/>
                                        <p:tgtEl>
                                          <p:spTgt spid="15"/>
                                        </p:tgtEl>
                                        <p:attrNameLst>
                                          <p:attrName>stroke.color</p:attrName>
                                        </p:attrNameLst>
                                      </p:cBhvr>
                                      <p:to>
                                        <a:srgbClr val="FF0000"/>
                                      </p:to>
                                    </p:animClr>
                                    <p:set>
                                      <p:cBhvr>
                                        <p:cTn id="13" dur="200" fill="hold"/>
                                        <p:tgtEl>
                                          <p:spTgt spid="15"/>
                                        </p:tgtEl>
                                        <p:attrNameLst>
                                          <p:attrName>stroke.on</p:attrName>
                                        </p:attrNameLst>
                                      </p:cBhvr>
                                      <p:to>
                                        <p:strVal val="true"/>
                                      </p:to>
                                    </p:set>
                                  </p:childTnLst>
                                </p:cTn>
                              </p:par>
                              <p:par>
                                <p:cTn id="14" presetID="7" presetClass="emph" presetSubtype="2" fill="hold" nodeType="withEffect">
                                  <p:stCondLst>
                                    <p:cond delay="0"/>
                                  </p:stCondLst>
                                  <p:childTnLst>
                                    <p:animClr clrSpc="rgb" dir="cw">
                                      <p:cBhvr>
                                        <p:cTn id="15" dur="200" fill="hold"/>
                                        <p:tgtEl>
                                          <p:spTgt spid="16"/>
                                        </p:tgtEl>
                                        <p:attrNameLst>
                                          <p:attrName>stroke.color</p:attrName>
                                        </p:attrNameLst>
                                      </p:cBhvr>
                                      <p:to>
                                        <a:srgbClr val="FF0000"/>
                                      </p:to>
                                    </p:animClr>
                                    <p:set>
                                      <p:cBhvr>
                                        <p:cTn id="16" dur="200" fill="hold"/>
                                        <p:tgtEl>
                                          <p:spTgt spid="16"/>
                                        </p:tgtEl>
                                        <p:attrNameLst>
                                          <p:attrName>stroke.on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200"/>
                                        <p:tgtEl>
                                          <p:spTgt spid="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fade">
                                      <p:cBhvr>
                                        <p:cTn id="24" dur="200"/>
                                        <p:tgtEl>
                                          <p:spTgt spid="41"/>
                                        </p:tgtEl>
                                      </p:cBhvr>
                                    </p:animEffect>
                                  </p:childTnLst>
                                </p:cTn>
                              </p:par>
                              <p:par>
                                <p:cTn id="25" presetID="10" presetClass="entr" presetSubtype="0" fill="hold" grpId="1"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200"/>
                                        <p:tgtEl>
                                          <p:spTgt spid="40"/>
                                        </p:tgtEl>
                                      </p:cBhvr>
                                    </p:animEffect>
                                  </p:childTnLst>
                                </p:cTn>
                              </p:par>
                              <p:par>
                                <p:cTn id="28" presetID="10" presetClass="entr" presetSubtype="0" fill="hold" grpId="1"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200"/>
                                        <p:tgtEl>
                                          <p:spTgt spid="39"/>
                                        </p:tgtEl>
                                      </p:cBhvr>
                                    </p:animEffect>
                                  </p:childTnLst>
                                </p:cTn>
                              </p:par>
                              <p:par>
                                <p:cTn id="31" presetID="7" presetClass="emph" presetSubtype="2" fill="hold" nodeType="withEffect">
                                  <p:stCondLst>
                                    <p:cond delay="0"/>
                                  </p:stCondLst>
                                  <p:childTnLst>
                                    <p:animClr clrSpc="rgb" dir="cw">
                                      <p:cBhvr>
                                        <p:cTn id="32" dur="200" fill="hold"/>
                                        <p:tgtEl>
                                          <p:spTgt spid="15"/>
                                        </p:tgtEl>
                                        <p:attrNameLst>
                                          <p:attrName>stroke.color</p:attrName>
                                        </p:attrNameLst>
                                      </p:cBhvr>
                                      <p:to>
                                        <a:srgbClr val="9BAAB7"/>
                                      </p:to>
                                    </p:animClr>
                                    <p:set>
                                      <p:cBhvr>
                                        <p:cTn id="33" dur="200" fill="hold"/>
                                        <p:tgtEl>
                                          <p:spTgt spid="15"/>
                                        </p:tgtEl>
                                        <p:attrNameLst>
                                          <p:attrName>stroke.on</p:attrName>
                                        </p:attrNameLst>
                                      </p:cBhvr>
                                      <p:to>
                                        <p:strVal val="true"/>
                                      </p:to>
                                    </p:set>
                                  </p:childTnLst>
                                </p:cTn>
                              </p:par>
                              <p:par>
                                <p:cTn id="34" presetID="7" presetClass="emph" presetSubtype="2" fill="hold" nodeType="withEffect">
                                  <p:stCondLst>
                                    <p:cond delay="0"/>
                                  </p:stCondLst>
                                  <p:childTnLst>
                                    <p:animClr clrSpc="rgb" dir="cw">
                                      <p:cBhvr>
                                        <p:cTn id="35" dur="200" fill="hold"/>
                                        <p:tgtEl>
                                          <p:spTgt spid="16"/>
                                        </p:tgtEl>
                                        <p:attrNameLst>
                                          <p:attrName>stroke.color</p:attrName>
                                        </p:attrNameLst>
                                      </p:cBhvr>
                                      <p:to>
                                        <a:srgbClr val="9BAAB7"/>
                                      </p:to>
                                    </p:animClr>
                                    <p:set>
                                      <p:cBhvr>
                                        <p:cTn id="36" dur="200" fill="hold"/>
                                        <p:tgtEl>
                                          <p:spTgt spid="16"/>
                                        </p:tgtEl>
                                        <p:attrNameLst>
                                          <p:attrName>stroke.on</p:attrName>
                                        </p:attrNameLst>
                                      </p:cBhvr>
                                      <p:to>
                                        <p:strVal val="tru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200"/>
                                        <p:tgtEl>
                                          <p:spTgt spid="2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200"/>
                                        <p:tgtEl>
                                          <p:spTgt spid="2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200"/>
                                        <p:tgtEl>
                                          <p:spTgt spid="2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200"/>
                                        <p:tgtEl>
                                          <p:spTgt spid="21"/>
                                        </p:tgtEl>
                                      </p:cBhvr>
                                    </p:animEffect>
                                  </p:childTnLst>
                                </p:cTn>
                              </p:par>
                              <p:par>
                                <p:cTn id="51" presetID="10" presetClass="exit" presetSubtype="0" fill="hold" grpId="0" nodeType="withEffect">
                                  <p:stCondLst>
                                    <p:cond delay="0"/>
                                  </p:stCondLst>
                                  <p:childTnLst>
                                    <p:animEffect transition="out" filter="fade">
                                      <p:cBhvr>
                                        <p:cTn id="52" dur="200"/>
                                        <p:tgtEl>
                                          <p:spTgt spid="40"/>
                                        </p:tgtEl>
                                      </p:cBhvr>
                                    </p:animEffect>
                                    <p:set>
                                      <p:cBhvr>
                                        <p:cTn id="53" dur="1" fill="hold">
                                          <p:stCondLst>
                                            <p:cond delay="199"/>
                                          </p:stCondLst>
                                        </p:cTn>
                                        <p:tgtEl>
                                          <p:spTgt spid="40"/>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200"/>
                                        <p:tgtEl>
                                          <p:spTgt spid="39"/>
                                        </p:tgtEl>
                                      </p:cBhvr>
                                    </p:animEffect>
                                    <p:set>
                                      <p:cBhvr>
                                        <p:cTn id="56" dur="1" fill="hold">
                                          <p:stCondLst>
                                            <p:cond delay="199"/>
                                          </p:stCondLst>
                                        </p:cTn>
                                        <p:tgtEl>
                                          <p:spTgt spid="39"/>
                                        </p:tgtEl>
                                        <p:attrNameLst>
                                          <p:attrName>style.visibility</p:attrName>
                                        </p:attrNameLst>
                                      </p:cBhvr>
                                      <p:to>
                                        <p:strVal val="hidden"/>
                                      </p:to>
                                    </p:set>
                                  </p:childTnLst>
                                </p:cTn>
                              </p:par>
                              <p:par>
                                <p:cTn id="57" presetID="22" presetClass="exit" presetSubtype="4" fill="hold" grpId="1" nodeType="withEffect">
                                  <p:stCondLst>
                                    <p:cond delay="0"/>
                                  </p:stCondLst>
                                  <p:childTnLst>
                                    <p:animEffect transition="out" filter="wipe(down)">
                                      <p:cBhvr>
                                        <p:cTn id="58" dur="200"/>
                                        <p:tgtEl>
                                          <p:spTgt spid="4"/>
                                        </p:tgtEl>
                                      </p:cBhvr>
                                    </p:animEffect>
                                    <p:set>
                                      <p:cBhvr>
                                        <p:cTn id="59" dur="1" fill="hold">
                                          <p:stCondLst>
                                            <p:cond delay="199"/>
                                          </p:stCondLst>
                                        </p:cTn>
                                        <p:tgtEl>
                                          <p:spTgt spid="4"/>
                                        </p:tgtEl>
                                        <p:attrNameLst>
                                          <p:attrName>style.visibility</p:attrName>
                                        </p:attrNameLst>
                                      </p:cBhvr>
                                      <p:to>
                                        <p:strVal val="hidden"/>
                                      </p:to>
                                    </p:set>
                                  </p:childTnLst>
                                </p:cTn>
                              </p:par>
                              <p:par>
                                <p:cTn id="60" presetID="22" presetClass="exit" presetSubtype="4" fill="hold" grpId="1" nodeType="withEffect">
                                  <p:stCondLst>
                                    <p:cond delay="0"/>
                                  </p:stCondLst>
                                  <p:childTnLst>
                                    <p:animEffect transition="out" filter="wipe(down)">
                                      <p:cBhvr>
                                        <p:cTn id="61" dur="200"/>
                                        <p:tgtEl>
                                          <p:spTgt spid="41"/>
                                        </p:tgtEl>
                                      </p:cBhvr>
                                    </p:animEffect>
                                    <p:set>
                                      <p:cBhvr>
                                        <p:cTn id="62" dur="1" fill="hold">
                                          <p:stCondLst>
                                            <p:cond delay="199"/>
                                          </p:stCondLst>
                                        </p:cTn>
                                        <p:tgtEl>
                                          <p:spTgt spid="41"/>
                                        </p:tgtEl>
                                        <p:attrNameLst>
                                          <p:attrName>style.visibility</p:attrName>
                                        </p:attrNameLst>
                                      </p:cBhvr>
                                      <p:to>
                                        <p:strVal val="hidden"/>
                                      </p:to>
                                    </p:set>
                                  </p:childTnLst>
                                </p:cTn>
                              </p:par>
                              <p:par>
                                <p:cTn id="63" presetID="7" presetClass="emph" presetSubtype="2" fill="hold" nodeType="withEffect">
                                  <p:stCondLst>
                                    <p:cond delay="0"/>
                                  </p:stCondLst>
                                  <p:childTnLst>
                                    <p:animClr clrSpc="rgb" dir="cw">
                                      <p:cBhvr>
                                        <p:cTn id="64" dur="200" fill="hold"/>
                                        <p:tgtEl>
                                          <p:spTgt spid="26"/>
                                        </p:tgtEl>
                                        <p:attrNameLst>
                                          <p:attrName>stroke.color</p:attrName>
                                        </p:attrNameLst>
                                      </p:cBhvr>
                                      <p:to>
                                        <a:srgbClr val="FF0000"/>
                                      </p:to>
                                    </p:animClr>
                                    <p:set>
                                      <p:cBhvr>
                                        <p:cTn id="65" dur="200" fill="hold"/>
                                        <p:tgtEl>
                                          <p:spTgt spid="26"/>
                                        </p:tgtEl>
                                        <p:attrNameLst>
                                          <p:attrName>stroke.on</p:attrName>
                                        </p:attrNameLst>
                                      </p:cBhvr>
                                      <p:to>
                                        <p:strVal val="true"/>
                                      </p:to>
                                    </p:set>
                                  </p:childTnLst>
                                </p:cTn>
                              </p:par>
                              <p:par>
                                <p:cTn id="66" presetID="7" presetClass="emph" presetSubtype="2" fill="hold" nodeType="withEffect">
                                  <p:stCondLst>
                                    <p:cond delay="0"/>
                                  </p:stCondLst>
                                  <p:childTnLst>
                                    <p:animClr clrSpc="rgb" dir="cw">
                                      <p:cBhvr>
                                        <p:cTn id="67" dur="200" fill="hold"/>
                                        <p:tgtEl>
                                          <p:spTgt spid="22"/>
                                        </p:tgtEl>
                                        <p:attrNameLst>
                                          <p:attrName>stroke.color</p:attrName>
                                        </p:attrNameLst>
                                      </p:cBhvr>
                                      <p:to>
                                        <a:srgbClr val="FF0000"/>
                                      </p:to>
                                    </p:animClr>
                                    <p:set>
                                      <p:cBhvr>
                                        <p:cTn id="68" dur="200" fill="hold"/>
                                        <p:tgtEl>
                                          <p:spTgt spid="22"/>
                                        </p:tgtEl>
                                        <p:attrNameLst>
                                          <p:attrName>stroke.on</p:attrName>
                                        </p:attrNameLst>
                                      </p:cBhvr>
                                      <p:to>
                                        <p:strVal val="true"/>
                                      </p:to>
                                    </p:set>
                                  </p:childTnLst>
                                </p:cTn>
                              </p:par>
                              <p:par>
                                <p:cTn id="69" presetID="7" presetClass="emph" presetSubtype="2" fill="hold" nodeType="withEffect">
                                  <p:stCondLst>
                                    <p:cond delay="0"/>
                                  </p:stCondLst>
                                  <p:childTnLst>
                                    <p:animClr clrSpc="rgb" dir="cw">
                                      <p:cBhvr>
                                        <p:cTn id="70" dur="200" fill="hold"/>
                                        <p:tgtEl>
                                          <p:spTgt spid="18"/>
                                        </p:tgtEl>
                                        <p:attrNameLst>
                                          <p:attrName>stroke.color</p:attrName>
                                        </p:attrNameLst>
                                      </p:cBhvr>
                                      <p:to>
                                        <a:srgbClr val="FF0000"/>
                                      </p:to>
                                    </p:animClr>
                                    <p:set>
                                      <p:cBhvr>
                                        <p:cTn id="71" dur="200" fill="hold"/>
                                        <p:tgtEl>
                                          <p:spTgt spid="18"/>
                                        </p:tgtEl>
                                        <p:attrNameLst>
                                          <p:attrName>stroke.on</p:attrName>
                                        </p:attrNameLst>
                                      </p:cBhvr>
                                      <p:to>
                                        <p:strVal val="true"/>
                                      </p:to>
                                    </p:set>
                                  </p:childTnLst>
                                </p:cTn>
                              </p:par>
                              <p:par>
                                <p:cTn id="72" presetID="7" presetClass="emph" presetSubtype="2" fill="hold" nodeType="withEffect">
                                  <p:stCondLst>
                                    <p:cond delay="0"/>
                                  </p:stCondLst>
                                  <p:childTnLst>
                                    <p:animClr clrSpc="rgb" dir="cw">
                                      <p:cBhvr>
                                        <p:cTn id="73" dur="200" fill="hold"/>
                                        <p:tgtEl>
                                          <p:spTgt spid="24"/>
                                        </p:tgtEl>
                                        <p:attrNameLst>
                                          <p:attrName>stroke.color</p:attrName>
                                        </p:attrNameLst>
                                      </p:cBhvr>
                                      <p:to>
                                        <a:srgbClr val="FF0000"/>
                                      </p:to>
                                    </p:animClr>
                                    <p:set>
                                      <p:cBhvr>
                                        <p:cTn id="74" dur="200" fill="hold"/>
                                        <p:tgtEl>
                                          <p:spTgt spid="24"/>
                                        </p:tgtEl>
                                        <p:attrNameLst>
                                          <p:attrName>stroke.on</p:attrName>
                                        </p:attrNameLst>
                                      </p:cBhvr>
                                      <p:to>
                                        <p:strVal val="tru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51"/>
                                        </p:tgtEl>
                                        <p:attrNameLst>
                                          <p:attrName>style.visibility</p:attrName>
                                        </p:attrNameLst>
                                      </p:cBhvr>
                                      <p:to>
                                        <p:strVal val="visible"/>
                                      </p:to>
                                    </p:set>
                                    <p:animEffect transition="in" filter="fade">
                                      <p:cBhvr>
                                        <p:cTn id="79" dur="200"/>
                                        <p:tgtEl>
                                          <p:spTgt spid="5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200"/>
                                        <p:tgtEl>
                                          <p:spTgt spid="3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200"/>
                                        <p:tgtEl>
                                          <p:spTgt spid="3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2"/>
                                        </p:tgtEl>
                                        <p:attrNameLst>
                                          <p:attrName>style.visibility</p:attrName>
                                        </p:attrNameLst>
                                      </p:cBhvr>
                                      <p:to>
                                        <p:strVal val="visible"/>
                                      </p:to>
                                    </p:set>
                                    <p:animEffect transition="in" filter="fade">
                                      <p:cBhvr>
                                        <p:cTn id="88" dur="200"/>
                                        <p:tgtEl>
                                          <p:spTgt spid="52"/>
                                        </p:tgtEl>
                                      </p:cBhvr>
                                    </p:animEffect>
                                  </p:childTnLst>
                                </p:cTn>
                              </p:par>
                              <p:par>
                                <p:cTn id="89" presetID="7" presetClass="emph" presetSubtype="2" fill="hold" nodeType="withEffect">
                                  <p:stCondLst>
                                    <p:cond delay="0"/>
                                  </p:stCondLst>
                                  <p:childTnLst>
                                    <p:animClr clrSpc="rgb" dir="cw">
                                      <p:cBhvr>
                                        <p:cTn id="90" dur="200" fill="hold"/>
                                        <p:tgtEl>
                                          <p:spTgt spid="26"/>
                                        </p:tgtEl>
                                        <p:attrNameLst>
                                          <p:attrName>stroke.color</p:attrName>
                                        </p:attrNameLst>
                                      </p:cBhvr>
                                      <p:to>
                                        <a:srgbClr val="9BAAB7"/>
                                      </p:to>
                                    </p:animClr>
                                    <p:set>
                                      <p:cBhvr>
                                        <p:cTn id="91" dur="200" fill="hold"/>
                                        <p:tgtEl>
                                          <p:spTgt spid="26"/>
                                        </p:tgtEl>
                                        <p:attrNameLst>
                                          <p:attrName>stroke.on</p:attrName>
                                        </p:attrNameLst>
                                      </p:cBhvr>
                                      <p:to>
                                        <p:strVal val="true"/>
                                      </p:to>
                                    </p:set>
                                  </p:childTnLst>
                                </p:cTn>
                              </p:par>
                              <p:par>
                                <p:cTn id="92" presetID="7" presetClass="emph" presetSubtype="2" fill="hold" nodeType="withEffect">
                                  <p:stCondLst>
                                    <p:cond delay="0"/>
                                  </p:stCondLst>
                                  <p:childTnLst>
                                    <p:animClr clrSpc="rgb" dir="cw">
                                      <p:cBhvr>
                                        <p:cTn id="93" dur="200" fill="hold"/>
                                        <p:tgtEl>
                                          <p:spTgt spid="22"/>
                                        </p:tgtEl>
                                        <p:attrNameLst>
                                          <p:attrName>stroke.color</p:attrName>
                                        </p:attrNameLst>
                                      </p:cBhvr>
                                      <p:to>
                                        <a:srgbClr val="9BAAB7"/>
                                      </p:to>
                                    </p:animClr>
                                    <p:set>
                                      <p:cBhvr>
                                        <p:cTn id="94" dur="200" fill="hold"/>
                                        <p:tgtEl>
                                          <p:spTgt spid="22"/>
                                        </p:tgtEl>
                                        <p:attrNameLst>
                                          <p:attrName>stroke.on</p:attrName>
                                        </p:attrNameLst>
                                      </p:cBhvr>
                                      <p:to>
                                        <p:strVal val="true"/>
                                      </p:to>
                                    </p:set>
                                  </p:childTnLst>
                                </p:cTn>
                              </p:par>
                              <p:par>
                                <p:cTn id="95" presetID="7" presetClass="emph" presetSubtype="2" fill="hold" nodeType="withEffect">
                                  <p:stCondLst>
                                    <p:cond delay="0"/>
                                  </p:stCondLst>
                                  <p:childTnLst>
                                    <p:animClr clrSpc="rgb" dir="cw">
                                      <p:cBhvr>
                                        <p:cTn id="96" dur="200" fill="hold"/>
                                        <p:tgtEl>
                                          <p:spTgt spid="18"/>
                                        </p:tgtEl>
                                        <p:attrNameLst>
                                          <p:attrName>stroke.color</p:attrName>
                                        </p:attrNameLst>
                                      </p:cBhvr>
                                      <p:to>
                                        <a:srgbClr val="9BAAB7"/>
                                      </p:to>
                                    </p:animClr>
                                    <p:set>
                                      <p:cBhvr>
                                        <p:cTn id="97" dur="200" fill="hold"/>
                                        <p:tgtEl>
                                          <p:spTgt spid="18"/>
                                        </p:tgtEl>
                                        <p:attrNameLst>
                                          <p:attrName>stroke.on</p:attrName>
                                        </p:attrNameLst>
                                      </p:cBhvr>
                                      <p:to>
                                        <p:strVal val="true"/>
                                      </p:to>
                                    </p:set>
                                  </p:childTnLst>
                                </p:cTn>
                              </p:par>
                              <p:par>
                                <p:cTn id="98" presetID="7" presetClass="emph" presetSubtype="2" fill="hold" nodeType="withEffect">
                                  <p:stCondLst>
                                    <p:cond delay="0"/>
                                  </p:stCondLst>
                                  <p:childTnLst>
                                    <p:animClr clrSpc="rgb" dir="cw">
                                      <p:cBhvr>
                                        <p:cTn id="99" dur="200" fill="hold"/>
                                        <p:tgtEl>
                                          <p:spTgt spid="24"/>
                                        </p:tgtEl>
                                        <p:attrNameLst>
                                          <p:attrName>stroke.color</p:attrName>
                                        </p:attrNameLst>
                                      </p:cBhvr>
                                      <p:to>
                                        <a:srgbClr val="9BAAB7"/>
                                      </p:to>
                                    </p:animClr>
                                    <p:set>
                                      <p:cBhvr>
                                        <p:cTn id="100" dur="200" fill="hold"/>
                                        <p:tgtEl>
                                          <p:spTgt spid="24"/>
                                        </p:tgtEl>
                                        <p:attrNameLst>
                                          <p:attrName>stroke.on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2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200"/>
                                        <p:tgtEl>
                                          <p:spTgt spid="35"/>
                                        </p:tgtEl>
                                      </p:cBhvr>
                                    </p:animEffect>
                                  </p:childTnLst>
                                </p:cTn>
                              </p:par>
                              <p:par>
                                <p:cTn id="109" presetID="10" presetClass="exit" presetSubtype="0" fill="hold" grpId="1" nodeType="withEffect">
                                  <p:stCondLst>
                                    <p:cond delay="0"/>
                                  </p:stCondLst>
                                  <p:childTnLst>
                                    <p:animEffect transition="out" filter="fade">
                                      <p:cBhvr>
                                        <p:cTn id="110" dur="200"/>
                                        <p:tgtEl>
                                          <p:spTgt spid="32"/>
                                        </p:tgtEl>
                                      </p:cBhvr>
                                    </p:animEffect>
                                    <p:set>
                                      <p:cBhvr>
                                        <p:cTn id="111" dur="1" fill="hold">
                                          <p:stCondLst>
                                            <p:cond delay="199"/>
                                          </p:stCondLst>
                                        </p:cTn>
                                        <p:tgtEl>
                                          <p:spTgt spid="32"/>
                                        </p:tgtEl>
                                        <p:attrNameLst>
                                          <p:attrName>style.visibility</p:attrName>
                                        </p:attrNameLst>
                                      </p:cBhvr>
                                      <p:to>
                                        <p:strVal val="hidden"/>
                                      </p:to>
                                    </p:set>
                                  </p:childTnLst>
                                </p:cTn>
                              </p:par>
                              <p:par>
                                <p:cTn id="112" presetID="10" presetClass="exit" presetSubtype="0" fill="hold" grpId="1" nodeType="withEffect">
                                  <p:stCondLst>
                                    <p:cond delay="0"/>
                                  </p:stCondLst>
                                  <p:childTnLst>
                                    <p:animEffect transition="out" filter="fade">
                                      <p:cBhvr>
                                        <p:cTn id="113" dur="200"/>
                                        <p:tgtEl>
                                          <p:spTgt spid="33"/>
                                        </p:tgtEl>
                                      </p:cBhvr>
                                    </p:animEffect>
                                    <p:set>
                                      <p:cBhvr>
                                        <p:cTn id="114" dur="1" fill="hold">
                                          <p:stCondLst>
                                            <p:cond delay="199"/>
                                          </p:stCondLst>
                                        </p:cTn>
                                        <p:tgtEl>
                                          <p:spTgt spid="33"/>
                                        </p:tgtEl>
                                        <p:attrNameLst>
                                          <p:attrName>style.visibility</p:attrName>
                                        </p:attrNameLst>
                                      </p:cBhvr>
                                      <p:to>
                                        <p:strVal val="hidden"/>
                                      </p:to>
                                    </p:set>
                                  </p:childTnLst>
                                </p:cTn>
                              </p:par>
                              <p:par>
                                <p:cTn id="115" presetID="22" presetClass="exit" presetSubtype="4" fill="hold" grpId="1" nodeType="withEffect">
                                  <p:stCondLst>
                                    <p:cond delay="0"/>
                                  </p:stCondLst>
                                  <p:childTnLst>
                                    <p:animEffect transition="out" filter="wipe(down)">
                                      <p:cBhvr>
                                        <p:cTn id="116" dur="200"/>
                                        <p:tgtEl>
                                          <p:spTgt spid="51"/>
                                        </p:tgtEl>
                                      </p:cBhvr>
                                    </p:animEffect>
                                    <p:set>
                                      <p:cBhvr>
                                        <p:cTn id="117" dur="1" fill="hold">
                                          <p:stCondLst>
                                            <p:cond delay="199"/>
                                          </p:stCondLst>
                                        </p:cTn>
                                        <p:tgtEl>
                                          <p:spTgt spid="51"/>
                                        </p:tgtEl>
                                        <p:attrNameLst>
                                          <p:attrName>style.visibility</p:attrName>
                                        </p:attrNameLst>
                                      </p:cBhvr>
                                      <p:to>
                                        <p:strVal val="hidden"/>
                                      </p:to>
                                    </p:set>
                                  </p:childTnLst>
                                </p:cTn>
                              </p:par>
                              <p:par>
                                <p:cTn id="118" presetID="22" presetClass="exit" presetSubtype="4" fill="hold" grpId="1" nodeType="withEffect">
                                  <p:stCondLst>
                                    <p:cond delay="0"/>
                                  </p:stCondLst>
                                  <p:childTnLst>
                                    <p:animEffect transition="out" filter="wipe(down)">
                                      <p:cBhvr>
                                        <p:cTn id="119" dur="200"/>
                                        <p:tgtEl>
                                          <p:spTgt spid="52"/>
                                        </p:tgtEl>
                                      </p:cBhvr>
                                    </p:animEffect>
                                    <p:set>
                                      <p:cBhvr>
                                        <p:cTn id="120" dur="1" fill="hold">
                                          <p:stCondLst>
                                            <p:cond delay="199"/>
                                          </p:stCondLst>
                                        </p:cTn>
                                        <p:tgtEl>
                                          <p:spTgt spid="52"/>
                                        </p:tgtEl>
                                        <p:attrNameLst>
                                          <p:attrName>style.visibility</p:attrName>
                                        </p:attrNameLst>
                                      </p:cBhvr>
                                      <p:to>
                                        <p:strVal val="hidden"/>
                                      </p:to>
                                    </p:set>
                                  </p:childTnLst>
                                </p:cTn>
                              </p:par>
                              <p:par>
                                <p:cTn id="121" presetID="7" presetClass="emph" presetSubtype="2" fill="hold" nodeType="withEffect">
                                  <p:stCondLst>
                                    <p:cond delay="0"/>
                                  </p:stCondLst>
                                  <p:childTnLst>
                                    <p:animClr clrSpc="rgb" dir="cw">
                                      <p:cBhvr>
                                        <p:cTn id="122" dur="200" fill="hold"/>
                                        <p:tgtEl>
                                          <p:spTgt spid="30"/>
                                        </p:tgtEl>
                                        <p:attrNameLst>
                                          <p:attrName>stroke.color</p:attrName>
                                        </p:attrNameLst>
                                      </p:cBhvr>
                                      <p:to>
                                        <a:srgbClr val="FF0000"/>
                                      </p:to>
                                    </p:animClr>
                                    <p:set>
                                      <p:cBhvr>
                                        <p:cTn id="123" dur="200" fill="hold"/>
                                        <p:tgtEl>
                                          <p:spTgt spid="30"/>
                                        </p:tgtEl>
                                        <p:attrNameLst>
                                          <p:attrName>stroke.on</p:attrName>
                                        </p:attrNameLst>
                                      </p:cBhvr>
                                      <p:to>
                                        <p:strVal val="true"/>
                                      </p:to>
                                    </p:set>
                                  </p:childTnLst>
                                </p:cTn>
                              </p:par>
                              <p:par>
                                <p:cTn id="124" presetID="7" presetClass="emph" presetSubtype="2" fill="hold" nodeType="withEffect">
                                  <p:stCondLst>
                                    <p:cond delay="0"/>
                                  </p:stCondLst>
                                  <p:childTnLst>
                                    <p:animClr clrSpc="rgb" dir="cw">
                                      <p:cBhvr>
                                        <p:cTn id="125" dur="200" fill="hold"/>
                                        <p:tgtEl>
                                          <p:spTgt spid="28"/>
                                        </p:tgtEl>
                                        <p:attrNameLst>
                                          <p:attrName>stroke.color</p:attrName>
                                        </p:attrNameLst>
                                      </p:cBhvr>
                                      <p:to>
                                        <a:srgbClr val="FF0000"/>
                                      </p:to>
                                    </p:animClr>
                                    <p:set>
                                      <p:cBhvr>
                                        <p:cTn id="126" dur="200" fill="hold"/>
                                        <p:tgtEl>
                                          <p:spTgt spid="28"/>
                                        </p:tgtEl>
                                        <p:attrNameLst>
                                          <p:attrName>stroke.on</p:attrName>
                                        </p:attrNameLst>
                                      </p:cBhvr>
                                      <p:to>
                                        <p:strVal val="true"/>
                                      </p:to>
                                    </p:se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37"/>
                                        </p:tgtEl>
                                        <p:attrNameLst>
                                          <p:attrName>style.visibility</p:attrName>
                                        </p:attrNameLst>
                                      </p:cBhvr>
                                      <p:to>
                                        <p:strVal val="visible"/>
                                      </p:to>
                                    </p:set>
                                    <p:animEffect transition="in" filter="fade">
                                      <p:cBhvr>
                                        <p:cTn id="131" dur="200"/>
                                        <p:tgtEl>
                                          <p:spTgt spid="37"/>
                                        </p:tgtEl>
                                      </p:cBhvr>
                                    </p:animEffect>
                                  </p:childTnLst>
                                </p:cTn>
                              </p:par>
                              <p:par>
                                <p:cTn id="132" presetID="10" presetClass="entr" presetSubtype="0" fill="hold" grpId="1" nodeType="withEffect">
                                  <p:stCondLst>
                                    <p:cond delay="0"/>
                                  </p:stCondLst>
                                  <p:childTnLst>
                                    <p:set>
                                      <p:cBhvr>
                                        <p:cTn id="133" dur="1" fill="hold">
                                          <p:stCondLst>
                                            <p:cond delay="0"/>
                                          </p:stCondLst>
                                        </p:cTn>
                                        <p:tgtEl>
                                          <p:spTgt spid="53"/>
                                        </p:tgtEl>
                                        <p:attrNameLst>
                                          <p:attrName>style.visibility</p:attrName>
                                        </p:attrNameLst>
                                      </p:cBhvr>
                                      <p:to>
                                        <p:strVal val="visible"/>
                                      </p:to>
                                    </p:set>
                                    <p:animEffect transition="in" filter="fade">
                                      <p:cBhvr>
                                        <p:cTn id="134" dur="200"/>
                                        <p:tgtEl>
                                          <p:spTgt spid="53"/>
                                        </p:tgtEl>
                                      </p:cBhvr>
                                    </p:animEffect>
                                  </p:childTnLst>
                                </p:cTn>
                              </p:par>
                              <p:par>
                                <p:cTn id="135" presetID="1" presetClass="emph" presetSubtype="2" fill="hold" nodeType="withEffect">
                                  <p:stCondLst>
                                    <p:cond delay="0"/>
                                  </p:stCondLst>
                                  <p:childTnLst>
                                    <p:animClr clrSpc="rgb" dir="cw">
                                      <p:cBhvr>
                                        <p:cTn id="136" dur="200" fill="hold"/>
                                        <p:tgtEl>
                                          <p:spTgt spid="30"/>
                                        </p:tgtEl>
                                        <p:attrNameLst>
                                          <p:attrName>fillcolor</p:attrName>
                                        </p:attrNameLst>
                                      </p:cBhvr>
                                      <p:to>
                                        <a:srgbClr val="9BAAB7"/>
                                      </p:to>
                                    </p:animClr>
                                    <p:set>
                                      <p:cBhvr>
                                        <p:cTn id="137" dur="200" fill="hold"/>
                                        <p:tgtEl>
                                          <p:spTgt spid="30"/>
                                        </p:tgtEl>
                                        <p:attrNameLst>
                                          <p:attrName>fill.type</p:attrName>
                                        </p:attrNameLst>
                                      </p:cBhvr>
                                      <p:to>
                                        <p:strVal val="solid"/>
                                      </p:to>
                                    </p:set>
                                    <p:set>
                                      <p:cBhvr>
                                        <p:cTn id="138" dur="200" fill="hold"/>
                                        <p:tgtEl>
                                          <p:spTgt spid="30"/>
                                        </p:tgtEl>
                                        <p:attrNameLst>
                                          <p:attrName>fill.on</p:attrName>
                                        </p:attrNameLst>
                                      </p:cBhvr>
                                      <p:to>
                                        <p:strVal val="true"/>
                                      </p:to>
                                    </p:set>
                                  </p:childTnLst>
                                </p:cTn>
                              </p:par>
                              <p:par>
                                <p:cTn id="139" presetID="1" presetClass="emph" presetSubtype="2" fill="hold" nodeType="withEffect">
                                  <p:stCondLst>
                                    <p:cond delay="0"/>
                                  </p:stCondLst>
                                  <p:childTnLst>
                                    <p:animClr clrSpc="rgb" dir="cw">
                                      <p:cBhvr>
                                        <p:cTn id="140" dur="200" fill="hold"/>
                                        <p:tgtEl>
                                          <p:spTgt spid="28"/>
                                        </p:tgtEl>
                                        <p:attrNameLst>
                                          <p:attrName>fillcolor</p:attrName>
                                        </p:attrNameLst>
                                      </p:cBhvr>
                                      <p:to>
                                        <a:srgbClr val="9BAAB7"/>
                                      </p:to>
                                    </p:animClr>
                                    <p:set>
                                      <p:cBhvr>
                                        <p:cTn id="141" dur="200" fill="hold"/>
                                        <p:tgtEl>
                                          <p:spTgt spid="28"/>
                                        </p:tgtEl>
                                        <p:attrNameLst>
                                          <p:attrName>fill.type</p:attrName>
                                        </p:attrNameLst>
                                      </p:cBhvr>
                                      <p:to>
                                        <p:strVal val="solid"/>
                                      </p:to>
                                    </p:set>
                                    <p:set>
                                      <p:cBhvr>
                                        <p:cTn id="142" dur="200" fill="hold"/>
                                        <p:tgtEl>
                                          <p:spTgt spid="28"/>
                                        </p:tgtEl>
                                        <p:attrNameLst>
                                          <p:attrName>fill.on</p:attrName>
                                        </p:attrNameLst>
                                      </p:cBhvr>
                                      <p:to>
                                        <p:strVal val="true"/>
                                      </p:to>
                                    </p:se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38"/>
                                        </p:tgtEl>
                                        <p:attrNameLst>
                                          <p:attrName>style.visibility</p:attrName>
                                        </p:attrNameLst>
                                      </p:cBhvr>
                                      <p:to>
                                        <p:strVal val="visible"/>
                                      </p:to>
                                    </p:set>
                                    <p:animEffect transition="in" filter="fade">
                                      <p:cBhvr>
                                        <p:cTn id="147" dur="200"/>
                                        <p:tgtEl>
                                          <p:spTgt spid="38"/>
                                        </p:tgtEl>
                                      </p:cBhvr>
                                    </p:animEffect>
                                  </p:childTnLst>
                                </p:cTn>
                              </p:par>
                              <p:par>
                                <p:cTn id="148" presetID="7" presetClass="emph" presetSubtype="2" fill="hold" nodeType="withEffect">
                                  <p:stCondLst>
                                    <p:cond delay="0"/>
                                  </p:stCondLst>
                                  <p:childTnLst>
                                    <p:animClr clrSpc="rgb" dir="cw">
                                      <p:cBhvr>
                                        <p:cTn id="149" dur="200" fill="hold"/>
                                        <p:tgtEl>
                                          <p:spTgt spid="34"/>
                                        </p:tgtEl>
                                        <p:attrNameLst>
                                          <p:attrName>stroke.color</p:attrName>
                                        </p:attrNameLst>
                                      </p:cBhvr>
                                      <p:to>
                                        <a:srgbClr val="FF0000"/>
                                      </p:to>
                                    </p:animClr>
                                    <p:set>
                                      <p:cBhvr>
                                        <p:cTn id="150" dur="200" fill="hold"/>
                                        <p:tgtEl>
                                          <p:spTgt spid="34"/>
                                        </p:tgtEl>
                                        <p:attrNameLst>
                                          <p:attrName>stroke.on</p:attrName>
                                        </p:attrNameLst>
                                      </p:cBhvr>
                                      <p:to>
                                        <p:strVal val="true"/>
                                      </p:to>
                                    </p:set>
                                  </p:childTnLst>
                                </p:cTn>
                              </p:par>
                              <p:par>
                                <p:cTn id="151" presetID="22" presetClass="exit" presetSubtype="4" fill="hold" grpId="0" nodeType="withEffect">
                                  <p:stCondLst>
                                    <p:cond delay="0"/>
                                  </p:stCondLst>
                                  <p:childTnLst>
                                    <p:animEffect transition="out" filter="wipe(down)">
                                      <p:cBhvr>
                                        <p:cTn id="152" dur="200"/>
                                        <p:tgtEl>
                                          <p:spTgt spid="53"/>
                                        </p:tgtEl>
                                      </p:cBhvr>
                                    </p:animEffect>
                                    <p:set>
                                      <p:cBhvr>
                                        <p:cTn id="153" dur="1" fill="hold">
                                          <p:stCondLst>
                                            <p:cond delay="199"/>
                                          </p:stCondLst>
                                        </p:cTn>
                                        <p:tgtEl>
                                          <p:spTgt spid="53"/>
                                        </p:tgtEl>
                                        <p:attrNameLst>
                                          <p:attrName>style.visibility</p:attrName>
                                        </p:attrNameLst>
                                      </p:cBhvr>
                                      <p:to>
                                        <p:strVal val="hidden"/>
                                      </p:to>
                                    </p:set>
                                  </p:childTnLst>
                                </p:cTn>
                              </p:par>
                              <p:par>
                                <p:cTn id="154" presetID="10" presetClass="exit" presetSubtype="0" fill="hold" grpId="1" nodeType="withEffect">
                                  <p:stCondLst>
                                    <p:cond delay="0"/>
                                  </p:stCondLst>
                                  <p:childTnLst>
                                    <p:animEffect transition="out" filter="fade">
                                      <p:cBhvr>
                                        <p:cTn id="155" dur="200"/>
                                        <p:tgtEl>
                                          <p:spTgt spid="37"/>
                                        </p:tgtEl>
                                      </p:cBhvr>
                                    </p:animEffect>
                                    <p:set>
                                      <p:cBhvr>
                                        <p:cTn id="156" dur="1" fill="hold">
                                          <p:stCondLst>
                                            <p:cond delay="19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 grpId="0"/>
      <p:bldP spid="21" grpId="0"/>
      <p:bldP spid="25" grpId="0"/>
      <p:bldP spid="27" grpId="0"/>
      <p:bldP spid="29" grpId="0"/>
      <p:bldP spid="32" grpId="0"/>
      <p:bldP spid="32" grpId="1"/>
      <p:bldP spid="33" grpId="0"/>
      <p:bldP spid="33" grpId="1"/>
      <p:bldP spid="35" grpId="0"/>
      <p:bldP spid="36" grpId="0"/>
      <p:bldP spid="37" grpId="0"/>
      <p:bldP spid="37" grpId="1"/>
      <p:bldP spid="38" grpId="0"/>
      <p:bldP spid="39" grpId="0"/>
      <p:bldP spid="39" grpId="1"/>
      <p:bldP spid="40" grpId="0"/>
      <p:bldP spid="40" grpId="1"/>
      <p:bldP spid="4" grpId="0" animBg="1"/>
      <p:bldP spid="4" grpId="1" animBg="1"/>
      <p:bldP spid="41" grpId="0" animBg="1"/>
      <p:bldP spid="41" grpId="1" animBg="1"/>
      <p:bldP spid="51" grpId="0" animBg="1"/>
      <p:bldP spid="51" grpId="1" animBg="1"/>
      <p:bldP spid="52" grpId="0" animBg="1"/>
      <p:bldP spid="52" grpId="1" animBg="1"/>
      <p:bldP spid="53" grpId="0" animBg="1"/>
      <p:bldP spid="53"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Arrow Connector 21"/>
          <p:cNvCxnSpPr>
            <a:cxnSpLocks/>
            <a:stCxn id="7" idx="6"/>
            <a:endCxn id="10" idx="1"/>
          </p:cNvCxnSpPr>
          <p:nvPr/>
        </p:nvCxnSpPr>
        <p:spPr>
          <a:xfrm>
            <a:off x="4265612" y="2590800"/>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8" idx="6"/>
            <a:endCxn id="10" idx="2"/>
          </p:cNvCxnSpPr>
          <p:nvPr/>
        </p:nvCxnSpPr>
        <p:spPr>
          <a:xfrm>
            <a:off x="4265612" y="50292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cxnSpLocks/>
            <a:stCxn id="8" idx="6"/>
            <a:endCxn id="9" idx="3"/>
          </p:cNvCxnSpPr>
          <p:nvPr/>
        </p:nvCxnSpPr>
        <p:spPr>
          <a:xfrm flipV="1">
            <a:off x="4265612" y="3021852"/>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6"/>
            <a:endCxn id="9" idx="2"/>
          </p:cNvCxnSpPr>
          <p:nvPr/>
        </p:nvCxnSpPr>
        <p:spPr>
          <a:xfrm>
            <a:off x="4265612" y="25908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3046412" y="1981200"/>
            <a:ext cx="1219200" cy="3657600"/>
            <a:chOff x="3275012" y="1981200"/>
            <a:chExt cx="1219200" cy="3657600"/>
          </a:xfrm>
        </p:grpSpPr>
        <p:sp>
          <p:nvSpPr>
            <p:cNvPr id="7" name="Oval 6"/>
            <p:cNvSpPr/>
            <p:nvPr/>
          </p:nvSpPr>
          <p:spPr>
            <a:xfrm>
              <a:off x="3275012" y="19812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sp>
          <p:nvSpPr>
            <p:cNvPr id="8" name="Oval 7"/>
            <p:cNvSpPr/>
            <p:nvPr/>
          </p:nvSpPr>
          <p:spPr>
            <a:xfrm>
              <a:off x="3275012" y="44196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grpSp>
      <p:grpSp>
        <p:nvGrpSpPr>
          <p:cNvPr id="13" name="Group 12"/>
          <p:cNvGrpSpPr/>
          <p:nvPr/>
        </p:nvGrpSpPr>
        <p:grpSpPr>
          <a:xfrm>
            <a:off x="6018212" y="1981200"/>
            <a:ext cx="1219200" cy="3657600"/>
            <a:chOff x="6246812" y="1981200"/>
            <a:chExt cx="1219200" cy="3657600"/>
          </a:xfrm>
        </p:grpSpPr>
        <p:sp>
          <p:nvSpPr>
            <p:cNvPr id="9" name="Oval 8"/>
            <p:cNvSpPr/>
            <p:nvPr/>
          </p:nvSpPr>
          <p:spPr>
            <a:xfrm>
              <a:off x="6246812" y="1981200"/>
              <a:ext cx="1219200" cy="1219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err="1">
                  <a:solidFill>
                    <a:schemeClr val="tx2"/>
                  </a:solidFill>
                </a:rPr>
                <a:t>mul</a:t>
              </a:r>
              <a:endParaRPr lang="en-US" dirty="0">
                <a:solidFill>
                  <a:schemeClr val="tx2"/>
                </a:solidFill>
              </a:endParaRPr>
            </a:p>
          </p:txBody>
        </p:sp>
        <p:sp>
          <p:nvSpPr>
            <p:cNvPr id="10" name="Oval 9"/>
            <p:cNvSpPr/>
            <p:nvPr/>
          </p:nvSpPr>
          <p:spPr>
            <a:xfrm>
              <a:off x="6246812" y="4419600"/>
              <a:ext cx="1219200" cy="1219200"/>
            </a:xfrm>
            <a:prstGeom prst="ellipse">
              <a:avLst/>
            </a:prstGeom>
            <a:solidFill>
              <a:schemeClr val="accent6"/>
            </a:solidFill>
            <a:ln>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tx2"/>
                </a:solidFill>
              </a:endParaRPr>
            </a:p>
          </p:txBody>
        </p:sp>
      </p:grpSp>
      <p:sp>
        <p:nvSpPr>
          <p:cNvPr id="11" name="Oval 10"/>
          <p:cNvSpPr/>
          <p:nvPr/>
        </p:nvSpPr>
        <p:spPr>
          <a:xfrm>
            <a:off x="8761412" y="3200400"/>
            <a:ext cx="1219200" cy="1219200"/>
          </a:xfrm>
          <a:prstGeom prst="ellipse">
            <a:avLst/>
          </a:prstGeom>
          <a:solidFill>
            <a:schemeClr val="accent6"/>
          </a:solidFill>
          <a:ln>
            <a:solidFill>
              <a:schemeClr val="accent6"/>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solidFill>
                <a:schemeClr val="tx2"/>
              </a:solidFill>
            </a:endParaRPr>
          </a:p>
        </p:txBody>
      </p:sp>
      <p:cxnSp>
        <p:nvCxnSpPr>
          <p:cNvPr id="15" name="Straight Arrow Connector 14"/>
          <p:cNvCxnSpPr>
            <a:cxnSpLocks/>
            <a:endCxn id="7" idx="2"/>
          </p:cNvCxnSpPr>
          <p:nvPr/>
        </p:nvCxnSpPr>
        <p:spPr>
          <a:xfrm>
            <a:off x="1522412" y="2590800"/>
            <a:ext cx="1524000" cy="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1522412" y="50292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9" idx="6"/>
            <a:endCxn id="11" idx="1"/>
          </p:cNvCxnSpPr>
          <p:nvPr/>
        </p:nvCxnSpPr>
        <p:spPr>
          <a:xfrm>
            <a:off x="7237412" y="2590800"/>
            <a:ext cx="1702548" cy="788148"/>
          </a:xfrm>
          <a:prstGeom prst="straightConnector1">
            <a:avLst/>
          </a:prstGeom>
          <a:ln w="57150">
            <a:solidFill>
              <a:schemeClr val="bg1">
                <a:lumMod val="8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0" idx="6"/>
            <a:endCxn id="11" idx="3"/>
          </p:cNvCxnSpPr>
          <p:nvPr/>
        </p:nvCxnSpPr>
        <p:spPr>
          <a:xfrm flipV="1">
            <a:off x="7237412" y="4241052"/>
            <a:ext cx="1702548" cy="788148"/>
          </a:xfrm>
          <a:prstGeom prst="straightConnector1">
            <a:avLst/>
          </a:prstGeom>
          <a:ln w="57150">
            <a:solidFill>
              <a:schemeClr val="bg1">
                <a:lumMod val="8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cxnSpLocks/>
            <a:stCxn id="11" idx="6"/>
          </p:cNvCxnSpPr>
          <p:nvPr/>
        </p:nvCxnSpPr>
        <p:spPr>
          <a:xfrm>
            <a:off x="9980612" y="3810000"/>
            <a:ext cx="1524000" cy="0"/>
          </a:xfrm>
          <a:prstGeom prst="straightConnector1">
            <a:avLst/>
          </a:prstGeom>
          <a:ln w="57150">
            <a:solidFill>
              <a:schemeClr val="bg1">
                <a:lumMod val="8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p:txBody>
          <a:bodyPr/>
          <a:lstStyle/>
          <a:p>
            <a:r>
              <a:rPr lang="en-US" dirty="0"/>
              <a:t>Partial Execution</a:t>
            </a:r>
          </a:p>
        </p:txBody>
      </p:sp>
      <p:sp>
        <p:nvSpPr>
          <p:cNvPr id="2" name="TextBox 1"/>
          <p:cNvSpPr txBox="1"/>
          <p:nvPr/>
        </p:nvSpPr>
        <p:spPr>
          <a:xfrm>
            <a:off x="2018108" y="2152153"/>
            <a:ext cx="340158" cy="461665"/>
          </a:xfrm>
          <a:prstGeom prst="rect">
            <a:avLst/>
          </a:prstGeom>
          <a:noFill/>
        </p:spPr>
        <p:txBody>
          <a:bodyPr wrap="none" rtlCol="0">
            <a:spAutoFit/>
          </a:bodyPr>
          <a:lstStyle/>
          <a:p>
            <a:r>
              <a:rPr lang="en-US" sz="2400" dirty="0"/>
              <a:t>7</a:t>
            </a:r>
          </a:p>
        </p:txBody>
      </p:sp>
      <p:sp>
        <p:nvSpPr>
          <p:cNvPr id="20" name="TextBox 19"/>
          <p:cNvSpPr txBox="1"/>
          <p:nvPr/>
        </p:nvSpPr>
        <p:spPr>
          <a:xfrm>
            <a:off x="2018108" y="4606093"/>
            <a:ext cx="340158" cy="461665"/>
          </a:xfrm>
          <a:prstGeom prst="rect">
            <a:avLst/>
          </a:prstGeom>
          <a:noFill/>
        </p:spPr>
        <p:txBody>
          <a:bodyPr wrap="none" rtlCol="0">
            <a:spAutoFit/>
          </a:bodyPr>
          <a:lstStyle/>
          <a:p>
            <a:r>
              <a:rPr lang="en-US" sz="2400" dirty="0"/>
              <a:t>3</a:t>
            </a:r>
          </a:p>
        </p:txBody>
      </p:sp>
      <p:sp>
        <p:nvSpPr>
          <p:cNvPr id="25" name="TextBox 24"/>
          <p:cNvSpPr txBox="1"/>
          <p:nvPr/>
        </p:nvSpPr>
        <p:spPr>
          <a:xfrm>
            <a:off x="4604519" y="4025672"/>
            <a:ext cx="340158" cy="461665"/>
          </a:xfrm>
          <a:prstGeom prst="rect">
            <a:avLst/>
          </a:prstGeom>
          <a:noFill/>
        </p:spPr>
        <p:txBody>
          <a:bodyPr wrap="none" rtlCol="0">
            <a:spAutoFit/>
          </a:bodyPr>
          <a:lstStyle/>
          <a:p>
            <a:r>
              <a:rPr lang="en-US" sz="2400" dirty="0"/>
              <a:t>3</a:t>
            </a:r>
          </a:p>
        </p:txBody>
      </p:sp>
      <p:sp>
        <p:nvSpPr>
          <p:cNvPr id="27" name="TextBox 26"/>
          <p:cNvSpPr txBox="1"/>
          <p:nvPr/>
        </p:nvSpPr>
        <p:spPr>
          <a:xfrm>
            <a:off x="5068454" y="2152153"/>
            <a:ext cx="340158" cy="461665"/>
          </a:xfrm>
          <a:prstGeom prst="rect">
            <a:avLst/>
          </a:prstGeom>
          <a:noFill/>
        </p:spPr>
        <p:txBody>
          <a:bodyPr wrap="none" rtlCol="0">
            <a:spAutoFit/>
          </a:bodyPr>
          <a:lstStyle/>
          <a:p>
            <a:r>
              <a:rPr lang="en-US" sz="2400" dirty="0"/>
              <a:t>7</a:t>
            </a:r>
          </a:p>
        </p:txBody>
      </p:sp>
      <p:sp>
        <p:nvSpPr>
          <p:cNvPr id="32" name="TextBox 31"/>
          <p:cNvSpPr txBox="1"/>
          <p:nvPr/>
        </p:nvSpPr>
        <p:spPr>
          <a:xfrm>
            <a:off x="6234114" y="1581017"/>
            <a:ext cx="787395" cy="461665"/>
          </a:xfrm>
          <a:prstGeom prst="rect">
            <a:avLst/>
          </a:prstGeom>
          <a:noFill/>
        </p:spPr>
        <p:txBody>
          <a:bodyPr wrap="none" rtlCol="0">
            <a:spAutoFit/>
          </a:bodyPr>
          <a:lstStyle/>
          <a:p>
            <a:r>
              <a:rPr lang="en-US" sz="2400" dirty="0"/>
              <a:t>7 * 3</a:t>
            </a:r>
          </a:p>
        </p:txBody>
      </p:sp>
      <p:sp>
        <p:nvSpPr>
          <p:cNvPr id="39" name="TextBox 38"/>
          <p:cNvSpPr txBox="1"/>
          <p:nvPr/>
        </p:nvSpPr>
        <p:spPr>
          <a:xfrm>
            <a:off x="3485933" y="1581017"/>
            <a:ext cx="340158" cy="461665"/>
          </a:xfrm>
          <a:prstGeom prst="rect">
            <a:avLst/>
          </a:prstGeom>
          <a:noFill/>
        </p:spPr>
        <p:txBody>
          <a:bodyPr wrap="none" rtlCol="0">
            <a:spAutoFit/>
          </a:bodyPr>
          <a:lstStyle/>
          <a:p>
            <a:r>
              <a:rPr lang="en-US" sz="2400" dirty="0"/>
              <a:t>7</a:t>
            </a:r>
          </a:p>
        </p:txBody>
      </p:sp>
      <p:sp>
        <p:nvSpPr>
          <p:cNvPr id="40" name="TextBox 39"/>
          <p:cNvSpPr txBox="1"/>
          <p:nvPr/>
        </p:nvSpPr>
        <p:spPr>
          <a:xfrm>
            <a:off x="3485933" y="4034957"/>
            <a:ext cx="340158" cy="461665"/>
          </a:xfrm>
          <a:prstGeom prst="rect">
            <a:avLst/>
          </a:prstGeom>
          <a:noFill/>
        </p:spPr>
        <p:txBody>
          <a:bodyPr wrap="none" rtlCol="0">
            <a:spAutoFit/>
          </a:bodyPr>
          <a:lstStyle/>
          <a:p>
            <a:r>
              <a:rPr lang="en-US" sz="2400" dirty="0"/>
              <a:t>3</a:t>
            </a:r>
          </a:p>
        </p:txBody>
      </p:sp>
      <p:sp>
        <p:nvSpPr>
          <p:cNvPr id="4" name="Oval 3"/>
          <p:cNvSpPr/>
          <p:nvPr/>
        </p:nvSpPr>
        <p:spPr>
          <a:xfrm>
            <a:off x="3045689" y="4419600"/>
            <a:ext cx="1219200" cy="1219200"/>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1" name="Oval 40"/>
          <p:cNvSpPr/>
          <p:nvPr/>
        </p:nvSpPr>
        <p:spPr>
          <a:xfrm>
            <a:off x="3045689" y="1980019"/>
            <a:ext cx="1219200" cy="1219200"/>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51" name="Oval 50"/>
          <p:cNvSpPr/>
          <p:nvPr/>
        </p:nvSpPr>
        <p:spPr>
          <a:xfrm>
            <a:off x="6018212" y="1980019"/>
            <a:ext cx="1219200" cy="1219200"/>
          </a:xfrm>
          <a:prstGeom prst="ellipse">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cxnSp>
        <p:nvCxnSpPr>
          <p:cNvPr id="42" name="Straight Arrow Connector 41"/>
          <p:cNvCxnSpPr>
            <a:cxnSpLocks/>
            <a:stCxn id="51" idx="6"/>
          </p:cNvCxnSpPr>
          <p:nvPr/>
        </p:nvCxnSpPr>
        <p:spPr>
          <a:xfrm flipV="1">
            <a:off x="7237412" y="1676401"/>
            <a:ext cx="1702548" cy="91321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7694612" y="1693736"/>
            <a:ext cx="495649" cy="461665"/>
          </a:xfrm>
          <a:prstGeom prst="rect">
            <a:avLst/>
          </a:prstGeom>
          <a:noFill/>
        </p:spPr>
        <p:txBody>
          <a:bodyPr wrap="none" rtlCol="0">
            <a:spAutoFit/>
          </a:bodyPr>
          <a:lstStyle/>
          <a:p>
            <a:r>
              <a:rPr lang="en-US" sz="2400" dirty="0"/>
              <a:t>21</a:t>
            </a:r>
          </a:p>
        </p:txBody>
      </p:sp>
      <p:sp>
        <p:nvSpPr>
          <p:cNvPr id="44" name="Rectangle: Rounded Corners 43"/>
          <p:cNvSpPr/>
          <p:nvPr/>
        </p:nvSpPr>
        <p:spPr>
          <a:xfrm rot="20161013">
            <a:off x="5779856" y="3602308"/>
            <a:ext cx="4419600" cy="1608663"/>
          </a:xfrm>
          <a:prstGeom prst="roundRect">
            <a:avLst/>
          </a:prstGeom>
          <a:noFill/>
          <a:ln w="28575">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7770812" y="5393410"/>
            <a:ext cx="2890791" cy="646331"/>
          </a:xfrm>
          <a:prstGeom prst="rect">
            <a:avLst/>
          </a:prstGeom>
          <a:noFill/>
        </p:spPr>
        <p:txBody>
          <a:bodyPr wrap="none" rtlCol="0">
            <a:spAutoFit/>
          </a:bodyPr>
          <a:lstStyle/>
          <a:p>
            <a:pPr algn="ctr"/>
            <a:r>
              <a:rPr lang="en-US" dirty="0">
                <a:solidFill>
                  <a:srgbClr val="FF0000"/>
                </a:solidFill>
              </a:rPr>
              <a:t>Notice how these operations</a:t>
            </a:r>
          </a:p>
          <a:p>
            <a:pPr algn="ctr"/>
            <a:r>
              <a:rPr lang="en-US" dirty="0">
                <a:solidFill>
                  <a:srgbClr val="FF0000"/>
                </a:solidFill>
              </a:rPr>
              <a:t>aren’t executed</a:t>
            </a:r>
          </a:p>
        </p:txBody>
      </p:sp>
    </p:spTree>
    <p:extLst>
      <p:ext uri="{BB962C8B-B14F-4D97-AF65-F5344CB8AC3E}">
        <p14:creationId xmlns:p14="http://schemas.microsoft.com/office/powerpoint/2010/main" val="37114110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200"/>
                                        <p:tgtEl>
                                          <p:spTgt spid="20"/>
                                        </p:tgtEl>
                                      </p:cBhvr>
                                    </p:animEffect>
                                  </p:childTnLst>
                                </p:cTn>
                              </p:par>
                              <p:par>
                                <p:cTn id="11" presetID="7" presetClass="emph" presetSubtype="2" fill="hold" nodeType="withEffect">
                                  <p:stCondLst>
                                    <p:cond delay="0"/>
                                  </p:stCondLst>
                                  <p:childTnLst>
                                    <p:animClr clrSpc="rgb" dir="cw">
                                      <p:cBhvr>
                                        <p:cTn id="12" dur="200" fill="hold"/>
                                        <p:tgtEl>
                                          <p:spTgt spid="15"/>
                                        </p:tgtEl>
                                        <p:attrNameLst>
                                          <p:attrName>stroke.color</p:attrName>
                                        </p:attrNameLst>
                                      </p:cBhvr>
                                      <p:to>
                                        <a:srgbClr val="FF0000"/>
                                      </p:to>
                                    </p:animClr>
                                    <p:set>
                                      <p:cBhvr>
                                        <p:cTn id="13" dur="200" fill="hold"/>
                                        <p:tgtEl>
                                          <p:spTgt spid="15"/>
                                        </p:tgtEl>
                                        <p:attrNameLst>
                                          <p:attrName>stroke.on</p:attrName>
                                        </p:attrNameLst>
                                      </p:cBhvr>
                                      <p:to>
                                        <p:strVal val="true"/>
                                      </p:to>
                                    </p:set>
                                  </p:childTnLst>
                                </p:cTn>
                              </p:par>
                              <p:par>
                                <p:cTn id="14" presetID="7" presetClass="emph" presetSubtype="2" fill="hold" nodeType="withEffect">
                                  <p:stCondLst>
                                    <p:cond delay="0"/>
                                  </p:stCondLst>
                                  <p:childTnLst>
                                    <p:animClr clrSpc="rgb" dir="cw">
                                      <p:cBhvr>
                                        <p:cTn id="15" dur="200" fill="hold"/>
                                        <p:tgtEl>
                                          <p:spTgt spid="16"/>
                                        </p:tgtEl>
                                        <p:attrNameLst>
                                          <p:attrName>stroke.color</p:attrName>
                                        </p:attrNameLst>
                                      </p:cBhvr>
                                      <p:to>
                                        <a:srgbClr val="FF0000"/>
                                      </p:to>
                                    </p:animClr>
                                    <p:set>
                                      <p:cBhvr>
                                        <p:cTn id="16" dur="200" fill="hold"/>
                                        <p:tgtEl>
                                          <p:spTgt spid="16"/>
                                        </p:tgtEl>
                                        <p:attrNameLst>
                                          <p:attrName>stroke.on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200"/>
                                        <p:tgtEl>
                                          <p:spTgt spid="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fade">
                                      <p:cBhvr>
                                        <p:cTn id="24" dur="200"/>
                                        <p:tgtEl>
                                          <p:spTgt spid="41"/>
                                        </p:tgtEl>
                                      </p:cBhvr>
                                    </p:animEffect>
                                  </p:childTnLst>
                                </p:cTn>
                              </p:par>
                              <p:par>
                                <p:cTn id="25" presetID="10" presetClass="entr" presetSubtype="0" fill="hold" grpId="1"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200"/>
                                        <p:tgtEl>
                                          <p:spTgt spid="40"/>
                                        </p:tgtEl>
                                      </p:cBhvr>
                                    </p:animEffect>
                                  </p:childTnLst>
                                </p:cTn>
                              </p:par>
                              <p:par>
                                <p:cTn id="28" presetID="10" presetClass="entr" presetSubtype="0" fill="hold" grpId="1"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200"/>
                                        <p:tgtEl>
                                          <p:spTgt spid="39"/>
                                        </p:tgtEl>
                                      </p:cBhvr>
                                    </p:animEffect>
                                  </p:childTnLst>
                                </p:cTn>
                              </p:par>
                              <p:par>
                                <p:cTn id="31" presetID="7" presetClass="emph" presetSubtype="2" fill="hold" nodeType="withEffect">
                                  <p:stCondLst>
                                    <p:cond delay="0"/>
                                  </p:stCondLst>
                                  <p:childTnLst>
                                    <p:animClr clrSpc="rgb" dir="cw">
                                      <p:cBhvr>
                                        <p:cTn id="32" dur="200" fill="hold"/>
                                        <p:tgtEl>
                                          <p:spTgt spid="15"/>
                                        </p:tgtEl>
                                        <p:attrNameLst>
                                          <p:attrName>stroke.color</p:attrName>
                                        </p:attrNameLst>
                                      </p:cBhvr>
                                      <p:to>
                                        <a:srgbClr val="9BAAB7"/>
                                      </p:to>
                                    </p:animClr>
                                    <p:set>
                                      <p:cBhvr>
                                        <p:cTn id="33" dur="200" fill="hold"/>
                                        <p:tgtEl>
                                          <p:spTgt spid="15"/>
                                        </p:tgtEl>
                                        <p:attrNameLst>
                                          <p:attrName>stroke.on</p:attrName>
                                        </p:attrNameLst>
                                      </p:cBhvr>
                                      <p:to>
                                        <p:strVal val="true"/>
                                      </p:to>
                                    </p:set>
                                  </p:childTnLst>
                                </p:cTn>
                              </p:par>
                              <p:par>
                                <p:cTn id="34" presetID="7" presetClass="emph" presetSubtype="2" fill="hold" nodeType="withEffect">
                                  <p:stCondLst>
                                    <p:cond delay="0"/>
                                  </p:stCondLst>
                                  <p:childTnLst>
                                    <p:animClr clrSpc="rgb" dir="cw">
                                      <p:cBhvr>
                                        <p:cTn id="35" dur="200" fill="hold"/>
                                        <p:tgtEl>
                                          <p:spTgt spid="16"/>
                                        </p:tgtEl>
                                        <p:attrNameLst>
                                          <p:attrName>stroke.color</p:attrName>
                                        </p:attrNameLst>
                                      </p:cBhvr>
                                      <p:to>
                                        <a:srgbClr val="9BAAB7"/>
                                      </p:to>
                                    </p:animClr>
                                    <p:set>
                                      <p:cBhvr>
                                        <p:cTn id="36" dur="200" fill="hold"/>
                                        <p:tgtEl>
                                          <p:spTgt spid="16"/>
                                        </p:tgtEl>
                                        <p:attrNameLst>
                                          <p:attrName>stroke.on</p:attrName>
                                        </p:attrNameLst>
                                      </p:cBhvr>
                                      <p:to>
                                        <p:strVal val="tru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200"/>
                                        <p:tgtEl>
                                          <p:spTgt spid="2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200"/>
                                        <p:tgtEl>
                                          <p:spTgt spid="25"/>
                                        </p:tgtEl>
                                      </p:cBhvr>
                                    </p:animEffect>
                                  </p:childTnLst>
                                </p:cTn>
                              </p:par>
                              <p:par>
                                <p:cTn id="45" presetID="10" presetClass="exit" presetSubtype="0" fill="hold" grpId="0" nodeType="withEffect">
                                  <p:stCondLst>
                                    <p:cond delay="0"/>
                                  </p:stCondLst>
                                  <p:childTnLst>
                                    <p:animEffect transition="out" filter="fade">
                                      <p:cBhvr>
                                        <p:cTn id="46" dur="200"/>
                                        <p:tgtEl>
                                          <p:spTgt spid="40"/>
                                        </p:tgtEl>
                                      </p:cBhvr>
                                    </p:animEffect>
                                    <p:set>
                                      <p:cBhvr>
                                        <p:cTn id="47" dur="1" fill="hold">
                                          <p:stCondLst>
                                            <p:cond delay="199"/>
                                          </p:stCondLst>
                                        </p:cTn>
                                        <p:tgtEl>
                                          <p:spTgt spid="40"/>
                                        </p:tgtEl>
                                        <p:attrNameLst>
                                          <p:attrName>style.visibility</p:attrName>
                                        </p:attrNameLst>
                                      </p:cBhvr>
                                      <p:to>
                                        <p:strVal val="hidden"/>
                                      </p:to>
                                    </p:set>
                                  </p:childTnLst>
                                </p:cTn>
                              </p:par>
                              <p:par>
                                <p:cTn id="48" presetID="10" presetClass="exit" presetSubtype="0" fill="hold" grpId="0" nodeType="withEffect">
                                  <p:stCondLst>
                                    <p:cond delay="0"/>
                                  </p:stCondLst>
                                  <p:childTnLst>
                                    <p:animEffect transition="out" filter="fade">
                                      <p:cBhvr>
                                        <p:cTn id="49" dur="200"/>
                                        <p:tgtEl>
                                          <p:spTgt spid="39"/>
                                        </p:tgtEl>
                                      </p:cBhvr>
                                    </p:animEffect>
                                    <p:set>
                                      <p:cBhvr>
                                        <p:cTn id="50" dur="1" fill="hold">
                                          <p:stCondLst>
                                            <p:cond delay="199"/>
                                          </p:stCondLst>
                                        </p:cTn>
                                        <p:tgtEl>
                                          <p:spTgt spid="39"/>
                                        </p:tgtEl>
                                        <p:attrNameLst>
                                          <p:attrName>style.visibility</p:attrName>
                                        </p:attrNameLst>
                                      </p:cBhvr>
                                      <p:to>
                                        <p:strVal val="hidden"/>
                                      </p:to>
                                    </p:set>
                                  </p:childTnLst>
                                </p:cTn>
                              </p:par>
                              <p:par>
                                <p:cTn id="51" presetID="22" presetClass="exit" presetSubtype="4" fill="hold" grpId="1" nodeType="withEffect">
                                  <p:stCondLst>
                                    <p:cond delay="0"/>
                                  </p:stCondLst>
                                  <p:childTnLst>
                                    <p:animEffect transition="out" filter="wipe(down)">
                                      <p:cBhvr>
                                        <p:cTn id="52" dur="200"/>
                                        <p:tgtEl>
                                          <p:spTgt spid="4"/>
                                        </p:tgtEl>
                                      </p:cBhvr>
                                    </p:animEffect>
                                    <p:set>
                                      <p:cBhvr>
                                        <p:cTn id="53" dur="1" fill="hold">
                                          <p:stCondLst>
                                            <p:cond delay="199"/>
                                          </p:stCondLst>
                                        </p:cTn>
                                        <p:tgtEl>
                                          <p:spTgt spid="4"/>
                                        </p:tgtEl>
                                        <p:attrNameLst>
                                          <p:attrName>style.visibility</p:attrName>
                                        </p:attrNameLst>
                                      </p:cBhvr>
                                      <p:to>
                                        <p:strVal val="hidden"/>
                                      </p:to>
                                    </p:set>
                                  </p:childTnLst>
                                </p:cTn>
                              </p:par>
                              <p:par>
                                <p:cTn id="54" presetID="22" presetClass="exit" presetSubtype="4" fill="hold" grpId="1" nodeType="withEffect">
                                  <p:stCondLst>
                                    <p:cond delay="0"/>
                                  </p:stCondLst>
                                  <p:childTnLst>
                                    <p:animEffect transition="out" filter="wipe(down)">
                                      <p:cBhvr>
                                        <p:cTn id="55" dur="200"/>
                                        <p:tgtEl>
                                          <p:spTgt spid="41"/>
                                        </p:tgtEl>
                                      </p:cBhvr>
                                    </p:animEffect>
                                    <p:set>
                                      <p:cBhvr>
                                        <p:cTn id="56" dur="1" fill="hold">
                                          <p:stCondLst>
                                            <p:cond delay="199"/>
                                          </p:stCondLst>
                                        </p:cTn>
                                        <p:tgtEl>
                                          <p:spTgt spid="41"/>
                                        </p:tgtEl>
                                        <p:attrNameLst>
                                          <p:attrName>style.visibility</p:attrName>
                                        </p:attrNameLst>
                                      </p:cBhvr>
                                      <p:to>
                                        <p:strVal val="hidden"/>
                                      </p:to>
                                    </p:set>
                                  </p:childTnLst>
                                </p:cTn>
                              </p:par>
                              <p:par>
                                <p:cTn id="57" presetID="7" presetClass="emph" presetSubtype="2" fill="hold" nodeType="withEffect">
                                  <p:stCondLst>
                                    <p:cond delay="0"/>
                                  </p:stCondLst>
                                  <p:childTnLst>
                                    <p:animClr clrSpc="rgb" dir="cw">
                                      <p:cBhvr>
                                        <p:cTn id="58" dur="200" fill="hold"/>
                                        <p:tgtEl>
                                          <p:spTgt spid="26"/>
                                        </p:tgtEl>
                                        <p:attrNameLst>
                                          <p:attrName>stroke.color</p:attrName>
                                        </p:attrNameLst>
                                      </p:cBhvr>
                                      <p:to>
                                        <a:srgbClr val="FF0000"/>
                                      </p:to>
                                    </p:animClr>
                                    <p:set>
                                      <p:cBhvr>
                                        <p:cTn id="59" dur="200" fill="hold"/>
                                        <p:tgtEl>
                                          <p:spTgt spid="26"/>
                                        </p:tgtEl>
                                        <p:attrNameLst>
                                          <p:attrName>stroke.on</p:attrName>
                                        </p:attrNameLst>
                                      </p:cBhvr>
                                      <p:to>
                                        <p:strVal val="true"/>
                                      </p:to>
                                    </p:set>
                                  </p:childTnLst>
                                </p:cTn>
                              </p:par>
                              <p:par>
                                <p:cTn id="60" presetID="7" presetClass="emph" presetSubtype="2" fill="hold" nodeType="withEffect">
                                  <p:stCondLst>
                                    <p:cond delay="0"/>
                                  </p:stCondLst>
                                  <p:childTnLst>
                                    <p:animClr clrSpc="rgb" dir="cw">
                                      <p:cBhvr>
                                        <p:cTn id="61" dur="200" fill="hold"/>
                                        <p:tgtEl>
                                          <p:spTgt spid="22"/>
                                        </p:tgtEl>
                                        <p:attrNameLst>
                                          <p:attrName>stroke.color</p:attrName>
                                        </p:attrNameLst>
                                      </p:cBhvr>
                                      <p:to>
                                        <a:srgbClr val="D8D8D8"/>
                                      </p:to>
                                    </p:animClr>
                                    <p:set>
                                      <p:cBhvr>
                                        <p:cTn id="62" dur="200" fill="hold"/>
                                        <p:tgtEl>
                                          <p:spTgt spid="22"/>
                                        </p:tgtEl>
                                        <p:attrNameLst>
                                          <p:attrName>stroke.on</p:attrName>
                                        </p:attrNameLst>
                                      </p:cBhvr>
                                      <p:to>
                                        <p:strVal val="true"/>
                                      </p:to>
                                    </p:set>
                                  </p:childTnLst>
                                </p:cTn>
                              </p:par>
                              <p:par>
                                <p:cTn id="63" presetID="7" presetClass="emph" presetSubtype="2" fill="hold" nodeType="withEffect">
                                  <p:stCondLst>
                                    <p:cond delay="0"/>
                                  </p:stCondLst>
                                  <p:childTnLst>
                                    <p:animClr clrSpc="rgb" dir="cw">
                                      <p:cBhvr>
                                        <p:cTn id="64" dur="200" fill="hold"/>
                                        <p:tgtEl>
                                          <p:spTgt spid="18"/>
                                        </p:tgtEl>
                                        <p:attrNameLst>
                                          <p:attrName>stroke.color</p:attrName>
                                        </p:attrNameLst>
                                      </p:cBhvr>
                                      <p:to>
                                        <a:srgbClr val="FF0000"/>
                                      </p:to>
                                    </p:animClr>
                                    <p:set>
                                      <p:cBhvr>
                                        <p:cTn id="65" dur="200" fill="hold"/>
                                        <p:tgtEl>
                                          <p:spTgt spid="18"/>
                                        </p:tgtEl>
                                        <p:attrNameLst>
                                          <p:attrName>stroke.on</p:attrName>
                                        </p:attrNameLst>
                                      </p:cBhvr>
                                      <p:to>
                                        <p:strVal val="true"/>
                                      </p:to>
                                    </p:set>
                                  </p:childTnLst>
                                </p:cTn>
                              </p:par>
                              <p:par>
                                <p:cTn id="66" presetID="7" presetClass="emph" presetSubtype="2" fill="hold" nodeType="withEffect">
                                  <p:stCondLst>
                                    <p:cond delay="0"/>
                                  </p:stCondLst>
                                  <p:childTnLst>
                                    <p:animClr clrSpc="rgb" dir="cw">
                                      <p:cBhvr>
                                        <p:cTn id="67" dur="200" fill="hold"/>
                                        <p:tgtEl>
                                          <p:spTgt spid="24"/>
                                        </p:tgtEl>
                                        <p:attrNameLst>
                                          <p:attrName>stroke.color</p:attrName>
                                        </p:attrNameLst>
                                      </p:cBhvr>
                                      <p:to>
                                        <a:srgbClr val="D8D8D8"/>
                                      </p:to>
                                    </p:animClr>
                                    <p:set>
                                      <p:cBhvr>
                                        <p:cTn id="68" dur="200" fill="hold"/>
                                        <p:tgtEl>
                                          <p:spTgt spid="24"/>
                                        </p:tgtEl>
                                        <p:attrNameLst>
                                          <p:attrName>stroke.on</p:attrName>
                                        </p:attrNameLst>
                                      </p:cBhvr>
                                      <p:to>
                                        <p:strVal val="true"/>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200"/>
                                        <p:tgtEl>
                                          <p:spTgt spid="5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200"/>
                                        <p:tgtEl>
                                          <p:spTgt spid="32"/>
                                        </p:tgtEl>
                                      </p:cBhvr>
                                    </p:animEffect>
                                  </p:childTnLst>
                                </p:cTn>
                              </p:par>
                              <p:par>
                                <p:cTn id="77" presetID="7" presetClass="emph" presetSubtype="2" fill="hold" nodeType="withEffect">
                                  <p:stCondLst>
                                    <p:cond delay="0"/>
                                  </p:stCondLst>
                                  <p:childTnLst>
                                    <p:animClr clrSpc="rgb" dir="cw">
                                      <p:cBhvr>
                                        <p:cTn id="78" dur="200" fill="hold"/>
                                        <p:tgtEl>
                                          <p:spTgt spid="26"/>
                                        </p:tgtEl>
                                        <p:attrNameLst>
                                          <p:attrName>stroke.color</p:attrName>
                                        </p:attrNameLst>
                                      </p:cBhvr>
                                      <p:to>
                                        <a:srgbClr val="9BAAB7"/>
                                      </p:to>
                                    </p:animClr>
                                    <p:set>
                                      <p:cBhvr>
                                        <p:cTn id="79" dur="200" fill="hold"/>
                                        <p:tgtEl>
                                          <p:spTgt spid="26"/>
                                        </p:tgtEl>
                                        <p:attrNameLst>
                                          <p:attrName>stroke.on</p:attrName>
                                        </p:attrNameLst>
                                      </p:cBhvr>
                                      <p:to>
                                        <p:strVal val="true"/>
                                      </p:to>
                                    </p:set>
                                  </p:childTnLst>
                                </p:cTn>
                              </p:par>
                              <p:par>
                                <p:cTn id="80" presetID="7" presetClass="emph" presetSubtype="2" fill="hold" nodeType="withEffect">
                                  <p:stCondLst>
                                    <p:cond delay="0"/>
                                  </p:stCondLst>
                                  <p:childTnLst>
                                    <p:animClr clrSpc="rgb" dir="cw">
                                      <p:cBhvr>
                                        <p:cTn id="81" dur="200" fill="hold"/>
                                        <p:tgtEl>
                                          <p:spTgt spid="18"/>
                                        </p:tgtEl>
                                        <p:attrNameLst>
                                          <p:attrName>stroke.color</p:attrName>
                                        </p:attrNameLst>
                                      </p:cBhvr>
                                      <p:to>
                                        <a:srgbClr val="9BAAB7"/>
                                      </p:to>
                                    </p:animClr>
                                    <p:set>
                                      <p:cBhvr>
                                        <p:cTn id="82" dur="200" fill="hold"/>
                                        <p:tgtEl>
                                          <p:spTgt spid="18"/>
                                        </p:tgtEl>
                                        <p:attrNameLst>
                                          <p:attrName>stroke.on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wipe(left)">
                                      <p:cBhvr>
                                        <p:cTn id="87" dur="2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7"/>
                                        </p:tgtEl>
                                        <p:attrNameLst>
                                          <p:attrName>style.visibility</p:attrName>
                                        </p:attrNameLst>
                                      </p:cBhvr>
                                      <p:to>
                                        <p:strVal val="visible"/>
                                      </p:to>
                                    </p:set>
                                    <p:animEffect transition="in" filter="fade">
                                      <p:cBhvr>
                                        <p:cTn id="90" dur="200"/>
                                        <p:tgtEl>
                                          <p:spTgt spid="47"/>
                                        </p:tgtEl>
                                      </p:cBhvr>
                                    </p:animEffect>
                                  </p:childTnLst>
                                </p:cTn>
                              </p:par>
                              <p:par>
                                <p:cTn id="91" presetID="10" presetClass="exit" presetSubtype="0" fill="hold" grpId="1" nodeType="withEffect">
                                  <p:stCondLst>
                                    <p:cond delay="0"/>
                                  </p:stCondLst>
                                  <p:childTnLst>
                                    <p:animEffect transition="out" filter="fade">
                                      <p:cBhvr>
                                        <p:cTn id="92" dur="200"/>
                                        <p:tgtEl>
                                          <p:spTgt spid="32"/>
                                        </p:tgtEl>
                                      </p:cBhvr>
                                    </p:animEffect>
                                    <p:set>
                                      <p:cBhvr>
                                        <p:cTn id="93" dur="1" fill="hold">
                                          <p:stCondLst>
                                            <p:cond delay="199"/>
                                          </p:stCondLst>
                                        </p:cTn>
                                        <p:tgtEl>
                                          <p:spTgt spid="32"/>
                                        </p:tgtEl>
                                        <p:attrNameLst>
                                          <p:attrName>style.visibility</p:attrName>
                                        </p:attrNameLst>
                                      </p:cBhvr>
                                      <p:to>
                                        <p:strVal val="hidden"/>
                                      </p:to>
                                    </p:set>
                                  </p:childTnLst>
                                </p:cTn>
                              </p:par>
                              <p:par>
                                <p:cTn id="94" presetID="22" presetClass="exit" presetSubtype="4" fill="hold" grpId="1" nodeType="withEffect">
                                  <p:stCondLst>
                                    <p:cond delay="0"/>
                                  </p:stCondLst>
                                  <p:childTnLst>
                                    <p:animEffect transition="out" filter="wipe(down)">
                                      <p:cBhvr>
                                        <p:cTn id="95" dur="200"/>
                                        <p:tgtEl>
                                          <p:spTgt spid="51"/>
                                        </p:tgtEl>
                                      </p:cBhvr>
                                    </p:animEffect>
                                    <p:set>
                                      <p:cBhvr>
                                        <p:cTn id="96" dur="1" fill="hold">
                                          <p:stCondLst>
                                            <p:cond delay="199"/>
                                          </p:stCondLst>
                                        </p:cTn>
                                        <p:tgtEl>
                                          <p:spTgt spid="51"/>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44"/>
                                        </p:tgtEl>
                                        <p:attrNameLst>
                                          <p:attrName>style.visibility</p:attrName>
                                        </p:attrNameLst>
                                      </p:cBhvr>
                                      <p:to>
                                        <p:strVal val="visible"/>
                                      </p:to>
                                    </p:set>
                                    <p:animEffect transition="in" filter="fade">
                                      <p:cBhvr>
                                        <p:cTn id="101" dur="200"/>
                                        <p:tgtEl>
                                          <p:spTgt spid="44"/>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fade">
                                      <p:cBhvr>
                                        <p:cTn id="104" dur="200"/>
                                        <p:tgtEl>
                                          <p:spTgt spid="45"/>
                                        </p:tgtEl>
                                      </p:cBhvr>
                                    </p:animEffect>
                                  </p:childTnLst>
                                </p:cTn>
                              </p:par>
                              <p:par>
                                <p:cTn id="105" presetID="7" presetClass="emph" presetSubtype="2" fill="hold" nodeType="withEffect">
                                  <p:stCondLst>
                                    <p:cond delay="0"/>
                                  </p:stCondLst>
                                  <p:childTnLst>
                                    <p:animClr clrSpc="rgb" dir="cw">
                                      <p:cBhvr>
                                        <p:cTn id="106" dur="200" fill="hold"/>
                                        <p:tgtEl>
                                          <p:spTgt spid="42"/>
                                        </p:tgtEl>
                                        <p:attrNameLst>
                                          <p:attrName>stroke.color</p:attrName>
                                        </p:attrNameLst>
                                      </p:cBhvr>
                                      <p:to>
                                        <a:srgbClr val="9BAAB7"/>
                                      </p:to>
                                    </p:animClr>
                                    <p:set>
                                      <p:cBhvr>
                                        <p:cTn id="107" dur="200" fill="hold"/>
                                        <p:tgtEl>
                                          <p:spTgt spid="42"/>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 grpId="0"/>
      <p:bldP spid="25" grpId="0"/>
      <p:bldP spid="27" grpId="0"/>
      <p:bldP spid="32" grpId="0"/>
      <p:bldP spid="32" grpId="1"/>
      <p:bldP spid="39" grpId="0"/>
      <p:bldP spid="39" grpId="1"/>
      <p:bldP spid="40" grpId="0"/>
      <p:bldP spid="40" grpId="1"/>
      <p:bldP spid="4" grpId="0" animBg="1"/>
      <p:bldP spid="4" grpId="1" animBg="1"/>
      <p:bldP spid="41" grpId="0" animBg="1"/>
      <p:bldP spid="41" grpId="1" animBg="1"/>
      <p:bldP spid="51" grpId="0" animBg="1"/>
      <p:bldP spid="51" grpId="1" animBg="1"/>
      <p:bldP spid="47" grpId="0"/>
      <p:bldP spid="44" grpId="0" animBg="1"/>
      <p:bldP spid="4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Dependencies</a:t>
            </a:r>
          </a:p>
        </p:txBody>
      </p:sp>
      <p:sp>
        <p:nvSpPr>
          <p:cNvPr id="3" name="Content Placeholder 2"/>
          <p:cNvSpPr>
            <a:spLocks noGrp="1"/>
          </p:cNvSpPr>
          <p:nvPr>
            <p:ph idx="1"/>
          </p:nvPr>
        </p:nvSpPr>
        <p:spPr/>
        <p:txBody>
          <a:bodyPr/>
          <a:lstStyle/>
          <a:p>
            <a:r>
              <a:rPr lang="en-US" dirty="0"/>
              <a:t>Nodes which are needed to compute another node</a:t>
            </a:r>
          </a:p>
          <a:p>
            <a:r>
              <a:rPr lang="en-US" dirty="0"/>
              <a:t>Different nodes have different dependencies</a:t>
            </a:r>
          </a:p>
          <a:p>
            <a:r>
              <a:rPr lang="en-US" dirty="0"/>
              <a:t>Nodes with </a:t>
            </a:r>
            <a:r>
              <a:rPr lang="en-US" i="1" dirty="0"/>
              <a:t>no</a:t>
            </a:r>
            <a:r>
              <a:rPr lang="en-US" dirty="0"/>
              <a:t> dependencies can run at any time</a:t>
            </a:r>
          </a:p>
          <a:p>
            <a:endParaRPr lang="en-US" dirty="0"/>
          </a:p>
        </p:txBody>
      </p:sp>
      <p:grpSp>
        <p:nvGrpSpPr>
          <p:cNvPr id="35" name="Group 34"/>
          <p:cNvGrpSpPr/>
          <p:nvPr/>
        </p:nvGrpSpPr>
        <p:grpSpPr>
          <a:xfrm>
            <a:off x="1979612" y="4191000"/>
            <a:ext cx="8521452" cy="609600"/>
            <a:chOff x="2068760" y="5257800"/>
            <a:chExt cx="8521452" cy="609600"/>
          </a:xfrm>
        </p:grpSpPr>
        <p:sp>
          <p:nvSpPr>
            <p:cNvPr id="5" name="Oval 4"/>
            <p:cNvSpPr/>
            <p:nvPr/>
          </p:nvSpPr>
          <p:spPr>
            <a:xfrm>
              <a:off x="2561472" y="5257800"/>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2"/>
                </a:solidFill>
              </a:endParaRPr>
            </a:p>
          </p:txBody>
        </p:sp>
        <p:sp>
          <p:nvSpPr>
            <p:cNvPr id="8" name="Oval 7"/>
            <p:cNvSpPr/>
            <p:nvPr/>
          </p:nvSpPr>
          <p:spPr>
            <a:xfrm>
              <a:off x="3592760" y="5257800"/>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2"/>
                </a:solidFill>
              </a:endParaRPr>
            </a:p>
          </p:txBody>
        </p:sp>
        <p:cxnSp>
          <p:nvCxnSpPr>
            <p:cNvPr id="10" name="Straight Arrow Connector 9"/>
            <p:cNvCxnSpPr>
              <a:cxnSpLocks/>
              <a:endCxn id="5" idx="2"/>
            </p:cNvCxnSpPr>
            <p:nvPr/>
          </p:nvCxnSpPr>
          <p:spPr>
            <a:xfrm>
              <a:off x="2068760" y="5562600"/>
              <a:ext cx="49271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5" idx="6"/>
              <a:endCxn id="8" idx="2"/>
            </p:cNvCxnSpPr>
            <p:nvPr/>
          </p:nvCxnSpPr>
          <p:spPr>
            <a:xfrm>
              <a:off x="3171072" y="5562600"/>
              <a:ext cx="42168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4686740" y="5257800"/>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2"/>
                </a:solidFill>
              </a:endParaRPr>
            </a:p>
          </p:txBody>
        </p:sp>
        <p:sp>
          <p:nvSpPr>
            <p:cNvPr id="20" name="Oval 19"/>
            <p:cNvSpPr/>
            <p:nvPr/>
          </p:nvSpPr>
          <p:spPr>
            <a:xfrm>
              <a:off x="5718028" y="5257800"/>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2"/>
                </a:solidFill>
              </a:endParaRPr>
            </a:p>
          </p:txBody>
        </p:sp>
        <p:cxnSp>
          <p:nvCxnSpPr>
            <p:cNvPr id="21" name="Straight Arrow Connector 20"/>
            <p:cNvCxnSpPr>
              <a:cxnSpLocks/>
              <a:stCxn id="8" idx="6"/>
              <a:endCxn id="19" idx="2"/>
            </p:cNvCxnSpPr>
            <p:nvPr/>
          </p:nvCxnSpPr>
          <p:spPr>
            <a:xfrm>
              <a:off x="4202360" y="5562600"/>
              <a:ext cx="48438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cxnSpLocks/>
              <a:stCxn id="19" idx="6"/>
              <a:endCxn id="20" idx="2"/>
            </p:cNvCxnSpPr>
            <p:nvPr/>
          </p:nvCxnSpPr>
          <p:spPr>
            <a:xfrm>
              <a:off x="5296340" y="5562600"/>
              <a:ext cx="42168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6824056" y="5257800"/>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2"/>
                </a:solidFill>
              </a:endParaRPr>
            </a:p>
          </p:txBody>
        </p:sp>
        <p:sp>
          <p:nvSpPr>
            <p:cNvPr id="27" name="Oval 26"/>
            <p:cNvSpPr/>
            <p:nvPr/>
          </p:nvSpPr>
          <p:spPr>
            <a:xfrm>
              <a:off x="7855344" y="5257800"/>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2"/>
                </a:solidFill>
              </a:endParaRPr>
            </a:p>
          </p:txBody>
        </p:sp>
        <p:cxnSp>
          <p:nvCxnSpPr>
            <p:cNvPr id="28" name="Straight Arrow Connector 27"/>
            <p:cNvCxnSpPr>
              <a:cxnSpLocks/>
              <a:stCxn id="20" idx="6"/>
              <a:endCxn id="26" idx="2"/>
            </p:cNvCxnSpPr>
            <p:nvPr/>
          </p:nvCxnSpPr>
          <p:spPr>
            <a:xfrm>
              <a:off x="6327628" y="5562600"/>
              <a:ext cx="49642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cxnSpLocks/>
              <a:stCxn id="26" idx="6"/>
              <a:endCxn id="27" idx="2"/>
            </p:cNvCxnSpPr>
            <p:nvPr/>
          </p:nvCxnSpPr>
          <p:spPr>
            <a:xfrm>
              <a:off x="7433656" y="5562600"/>
              <a:ext cx="42168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8949324" y="5257800"/>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2"/>
                </a:solidFill>
              </a:endParaRPr>
            </a:p>
          </p:txBody>
        </p:sp>
        <p:sp>
          <p:nvSpPr>
            <p:cNvPr id="31" name="Oval 30"/>
            <p:cNvSpPr/>
            <p:nvPr/>
          </p:nvSpPr>
          <p:spPr>
            <a:xfrm>
              <a:off x="9980612" y="5257800"/>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2"/>
                </a:solidFill>
              </a:endParaRPr>
            </a:p>
          </p:txBody>
        </p:sp>
        <p:cxnSp>
          <p:nvCxnSpPr>
            <p:cNvPr id="32" name="Straight Arrow Connector 31"/>
            <p:cNvCxnSpPr>
              <a:cxnSpLocks/>
              <a:stCxn id="27" idx="6"/>
              <a:endCxn id="30" idx="2"/>
            </p:cNvCxnSpPr>
            <p:nvPr/>
          </p:nvCxnSpPr>
          <p:spPr>
            <a:xfrm>
              <a:off x="8464944" y="5562600"/>
              <a:ext cx="48438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cxnSpLocks/>
              <a:stCxn id="30" idx="6"/>
              <a:endCxn id="31" idx="2"/>
            </p:cNvCxnSpPr>
            <p:nvPr/>
          </p:nvCxnSpPr>
          <p:spPr>
            <a:xfrm>
              <a:off x="9558924" y="5562600"/>
              <a:ext cx="42168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86041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3046412" y="1981200"/>
            <a:ext cx="1219200" cy="3657600"/>
            <a:chOff x="3275012" y="1981200"/>
            <a:chExt cx="1219200" cy="3657600"/>
          </a:xfrm>
        </p:grpSpPr>
        <p:sp>
          <p:nvSpPr>
            <p:cNvPr id="7" name="Oval 6"/>
            <p:cNvSpPr/>
            <p:nvPr/>
          </p:nvSpPr>
          <p:spPr>
            <a:xfrm>
              <a:off x="3275012" y="19812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sp>
          <p:nvSpPr>
            <p:cNvPr id="8" name="Oval 7"/>
            <p:cNvSpPr/>
            <p:nvPr/>
          </p:nvSpPr>
          <p:spPr>
            <a:xfrm>
              <a:off x="3275012" y="44196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grpSp>
      <p:grpSp>
        <p:nvGrpSpPr>
          <p:cNvPr id="13" name="Group 12"/>
          <p:cNvGrpSpPr/>
          <p:nvPr/>
        </p:nvGrpSpPr>
        <p:grpSpPr>
          <a:xfrm>
            <a:off x="6018212" y="1981200"/>
            <a:ext cx="1219200" cy="3657600"/>
            <a:chOff x="6246812" y="1981200"/>
            <a:chExt cx="1219200" cy="3657600"/>
          </a:xfrm>
        </p:grpSpPr>
        <p:sp>
          <p:nvSpPr>
            <p:cNvPr id="9" name="Oval 8"/>
            <p:cNvSpPr/>
            <p:nvPr/>
          </p:nvSpPr>
          <p:spPr>
            <a:xfrm>
              <a:off x="6246812" y="1981200"/>
              <a:ext cx="1219200" cy="1219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err="1">
                  <a:solidFill>
                    <a:schemeClr val="tx2"/>
                  </a:solidFill>
                </a:rPr>
                <a:t>mul</a:t>
              </a:r>
              <a:endParaRPr lang="en-US" dirty="0">
                <a:solidFill>
                  <a:schemeClr val="tx2"/>
                </a:solidFill>
              </a:endParaRPr>
            </a:p>
          </p:txBody>
        </p:sp>
        <p:sp>
          <p:nvSpPr>
            <p:cNvPr id="10" name="Oval 9"/>
            <p:cNvSpPr/>
            <p:nvPr/>
          </p:nvSpPr>
          <p:spPr>
            <a:xfrm>
              <a:off x="6246812" y="44196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solidFill>
                </a:rPr>
                <a:t>add</a:t>
              </a:r>
            </a:p>
          </p:txBody>
        </p:sp>
      </p:grpSp>
      <p:sp>
        <p:nvSpPr>
          <p:cNvPr id="11" name="Oval 10"/>
          <p:cNvSpPr/>
          <p:nvPr/>
        </p:nvSpPr>
        <p:spPr>
          <a:xfrm>
            <a:off x="8761412" y="32004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solidFill>
              </a:rPr>
              <a:t>add</a:t>
            </a:r>
          </a:p>
        </p:txBody>
      </p:sp>
      <p:cxnSp>
        <p:nvCxnSpPr>
          <p:cNvPr id="15" name="Straight Arrow Connector 14"/>
          <p:cNvCxnSpPr>
            <a:cxnSpLocks/>
            <a:endCxn id="7" idx="2"/>
          </p:cNvCxnSpPr>
          <p:nvPr/>
        </p:nvCxnSpPr>
        <p:spPr>
          <a:xfrm>
            <a:off x="1522412" y="25908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1522412" y="50292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6"/>
            <a:endCxn id="9" idx="2"/>
          </p:cNvCxnSpPr>
          <p:nvPr/>
        </p:nvCxnSpPr>
        <p:spPr>
          <a:xfrm>
            <a:off x="4265612" y="25908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cxnSpLocks/>
            <a:stCxn id="7" idx="6"/>
            <a:endCxn id="10" idx="1"/>
          </p:cNvCxnSpPr>
          <p:nvPr/>
        </p:nvCxnSpPr>
        <p:spPr>
          <a:xfrm>
            <a:off x="4265612" y="2590800"/>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8" idx="6"/>
            <a:endCxn id="10" idx="2"/>
          </p:cNvCxnSpPr>
          <p:nvPr/>
        </p:nvCxnSpPr>
        <p:spPr>
          <a:xfrm>
            <a:off x="4265612" y="50292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cxnSpLocks/>
            <a:stCxn id="8" idx="6"/>
            <a:endCxn id="9" idx="3"/>
          </p:cNvCxnSpPr>
          <p:nvPr/>
        </p:nvCxnSpPr>
        <p:spPr>
          <a:xfrm flipV="1">
            <a:off x="4265612" y="3021852"/>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9" idx="6"/>
            <a:endCxn id="11" idx="1"/>
          </p:cNvCxnSpPr>
          <p:nvPr/>
        </p:nvCxnSpPr>
        <p:spPr>
          <a:xfrm>
            <a:off x="7237412" y="2590800"/>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0" idx="6"/>
            <a:endCxn id="11" idx="3"/>
          </p:cNvCxnSpPr>
          <p:nvPr/>
        </p:nvCxnSpPr>
        <p:spPr>
          <a:xfrm flipV="1">
            <a:off x="7237412" y="4241052"/>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cxnSpLocks/>
            <a:stCxn id="11" idx="6"/>
          </p:cNvCxnSpPr>
          <p:nvPr/>
        </p:nvCxnSpPr>
        <p:spPr>
          <a:xfrm>
            <a:off x="9980612" y="38100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p:txBody>
          <a:bodyPr/>
          <a:lstStyle/>
          <a:p>
            <a:r>
              <a:rPr lang="en-US" dirty="0"/>
              <a:t>Dependencies</a:t>
            </a:r>
          </a:p>
        </p:txBody>
      </p:sp>
      <p:sp>
        <p:nvSpPr>
          <p:cNvPr id="19" name="Rectangle: Rounded Corners 18"/>
          <p:cNvSpPr/>
          <p:nvPr/>
        </p:nvSpPr>
        <p:spPr>
          <a:xfrm rot="5400000">
            <a:off x="3253844" y="1502834"/>
            <a:ext cx="3809999" cy="4614334"/>
          </a:xfrm>
          <a:prstGeom prst="roundRect">
            <a:avLst/>
          </a:prstGeom>
          <a:noFill/>
          <a:ln w="28575">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p:cNvGrpSpPr/>
          <p:nvPr/>
        </p:nvGrpSpPr>
        <p:grpSpPr>
          <a:xfrm>
            <a:off x="5675312" y="930316"/>
            <a:ext cx="3939250" cy="875788"/>
            <a:chOff x="5675312" y="930316"/>
            <a:chExt cx="3939250" cy="875788"/>
          </a:xfrm>
        </p:grpSpPr>
        <p:cxnSp>
          <p:nvCxnSpPr>
            <p:cNvPr id="20" name="Straight Arrow Connector 19"/>
            <p:cNvCxnSpPr/>
            <p:nvPr/>
          </p:nvCxnSpPr>
          <p:spPr>
            <a:xfrm flipH="1">
              <a:off x="5675312" y="1272704"/>
              <a:ext cx="685800" cy="533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254347" y="930316"/>
              <a:ext cx="3360215" cy="830997"/>
            </a:xfrm>
            <a:prstGeom prst="rect">
              <a:avLst/>
            </a:prstGeom>
            <a:noFill/>
          </p:spPr>
          <p:txBody>
            <a:bodyPr wrap="none" rtlCol="0">
              <a:spAutoFit/>
            </a:bodyPr>
            <a:lstStyle/>
            <a:p>
              <a:r>
                <a:rPr lang="en-US" sz="2400" dirty="0">
                  <a:solidFill>
                    <a:srgbClr val="FF0000"/>
                  </a:solidFill>
                </a:rPr>
                <a:t>Dependencies of the </a:t>
              </a:r>
              <a:endParaRPr lang="en-US" sz="2400" dirty="0" smtClean="0">
                <a:solidFill>
                  <a:srgbClr val="FF0000"/>
                </a:solidFill>
              </a:endParaRPr>
            </a:p>
            <a:p>
              <a:r>
                <a:rPr lang="en-US" sz="2400" dirty="0" smtClean="0">
                  <a:solidFill>
                    <a:srgbClr val="FF0000"/>
                  </a:solidFill>
                </a:rPr>
                <a:t>final add </a:t>
              </a:r>
              <a:r>
                <a:rPr lang="en-US" sz="2400" dirty="0">
                  <a:solidFill>
                    <a:srgbClr val="FF0000"/>
                  </a:solidFill>
                </a:rPr>
                <a:t>node</a:t>
              </a:r>
            </a:p>
          </p:txBody>
        </p:sp>
      </p:grpSp>
    </p:spTree>
    <p:extLst>
      <p:ext uri="{BB962C8B-B14F-4D97-AF65-F5344CB8AC3E}">
        <p14:creationId xmlns:p14="http://schemas.microsoft.com/office/powerpoint/2010/main" val="3678508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3046412" y="1981200"/>
            <a:ext cx="1219200" cy="3657600"/>
            <a:chOff x="3275012" y="1981200"/>
            <a:chExt cx="1219200" cy="3657600"/>
          </a:xfrm>
        </p:grpSpPr>
        <p:sp>
          <p:nvSpPr>
            <p:cNvPr id="7" name="Oval 6"/>
            <p:cNvSpPr/>
            <p:nvPr/>
          </p:nvSpPr>
          <p:spPr>
            <a:xfrm>
              <a:off x="3275012" y="19812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sp>
          <p:nvSpPr>
            <p:cNvPr id="8" name="Oval 7"/>
            <p:cNvSpPr/>
            <p:nvPr/>
          </p:nvSpPr>
          <p:spPr>
            <a:xfrm>
              <a:off x="3275012" y="44196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solidFill>
                    <a:schemeClr val="tx2"/>
                  </a:solidFill>
                </a:rPr>
                <a:t>input</a:t>
              </a:r>
            </a:p>
          </p:txBody>
        </p:sp>
      </p:grpSp>
      <p:grpSp>
        <p:nvGrpSpPr>
          <p:cNvPr id="13" name="Group 12"/>
          <p:cNvGrpSpPr/>
          <p:nvPr/>
        </p:nvGrpSpPr>
        <p:grpSpPr>
          <a:xfrm>
            <a:off x="6018212" y="1981200"/>
            <a:ext cx="1219200" cy="3657600"/>
            <a:chOff x="6246812" y="1981200"/>
            <a:chExt cx="1219200" cy="3657600"/>
          </a:xfrm>
        </p:grpSpPr>
        <p:sp>
          <p:nvSpPr>
            <p:cNvPr id="9" name="Oval 8"/>
            <p:cNvSpPr/>
            <p:nvPr/>
          </p:nvSpPr>
          <p:spPr>
            <a:xfrm>
              <a:off x="6246812" y="1981200"/>
              <a:ext cx="1219200" cy="1219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err="1">
                  <a:solidFill>
                    <a:schemeClr val="tx2"/>
                  </a:solidFill>
                </a:rPr>
                <a:t>mul</a:t>
              </a:r>
              <a:endParaRPr lang="en-US" dirty="0">
                <a:solidFill>
                  <a:schemeClr val="tx2"/>
                </a:solidFill>
              </a:endParaRPr>
            </a:p>
          </p:txBody>
        </p:sp>
        <p:sp>
          <p:nvSpPr>
            <p:cNvPr id="10" name="Oval 9"/>
            <p:cNvSpPr/>
            <p:nvPr/>
          </p:nvSpPr>
          <p:spPr>
            <a:xfrm>
              <a:off x="6246812" y="44196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chemeClr val="tx2"/>
                  </a:solidFill>
                </a:rPr>
                <a:t>add</a:t>
              </a:r>
            </a:p>
          </p:txBody>
        </p:sp>
      </p:grpSp>
      <p:sp>
        <p:nvSpPr>
          <p:cNvPr id="11" name="Oval 10"/>
          <p:cNvSpPr/>
          <p:nvPr/>
        </p:nvSpPr>
        <p:spPr>
          <a:xfrm>
            <a:off x="8761412" y="3200400"/>
            <a:ext cx="1219200" cy="1219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solidFill>
                  <a:schemeClr val="tx2"/>
                </a:solidFill>
              </a:rPr>
              <a:t>add</a:t>
            </a:r>
          </a:p>
        </p:txBody>
      </p:sp>
      <p:cxnSp>
        <p:nvCxnSpPr>
          <p:cNvPr id="15" name="Straight Arrow Connector 14"/>
          <p:cNvCxnSpPr>
            <a:cxnSpLocks/>
            <a:endCxn id="7" idx="2"/>
          </p:cNvCxnSpPr>
          <p:nvPr/>
        </p:nvCxnSpPr>
        <p:spPr>
          <a:xfrm>
            <a:off x="1522412" y="25908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a:off x="1522412" y="50292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7" idx="6"/>
            <a:endCxn id="9" idx="2"/>
          </p:cNvCxnSpPr>
          <p:nvPr/>
        </p:nvCxnSpPr>
        <p:spPr>
          <a:xfrm>
            <a:off x="4265612" y="25908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cxnSpLocks/>
            <a:stCxn id="7" idx="6"/>
            <a:endCxn id="10" idx="1"/>
          </p:cNvCxnSpPr>
          <p:nvPr/>
        </p:nvCxnSpPr>
        <p:spPr>
          <a:xfrm>
            <a:off x="4265612" y="2590800"/>
            <a:ext cx="1931148" cy="2007348"/>
          </a:xfrm>
          <a:prstGeom prst="straightConnector1">
            <a:avLst/>
          </a:prstGeom>
          <a:ln w="57150">
            <a:solidFill>
              <a:schemeClr val="bg1">
                <a:lumMod val="8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8" idx="6"/>
            <a:endCxn id="10" idx="2"/>
          </p:cNvCxnSpPr>
          <p:nvPr/>
        </p:nvCxnSpPr>
        <p:spPr>
          <a:xfrm>
            <a:off x="4265612" y="5029200"/>
            <a:ext cx="1752600" cy="0"/>
          </a:xfrm>
          <a:prstGeom prst="straightConnector1">
            <a:avLst/>
          </a:prstGeom>
          <a:ln w="57150">
            <a:solidFill>
              <a:schemeClr val="bg1">
                <a:lumMod val="8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cxnSpLocks/>
            <a:stCxn id="8" idx="6"/>
            <a:endCxn id="9" idx="3"/>
          </p:cNvCxnSpPr>
          <p:nvPr/>
        </p:nvCxnSpPr>
        <p:spPr>
          <a:xfrm flipV="1">
            <a:off x="4265612" y="3021852"/>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9" idx="6"/>
            <a:endCxn id="11" idx="1"/>
          </p:cNvCxnSpPr>
          <p:nvPr/>
        </p:nvCxnSpPr>
        <p:spPr>
          <a:xfrm>
            <a:off x="7237412" y="2590800"/>
            <a:ext cx="1702548" cy="788148"/>
          </a:xfrm>
          <a:prstGeom prst="straightConnector1">
            <a:avLst/>
          </a:prstGeom>
          <a:ln w="57150">
            <a:solidFill>
              <a:schemeClr val="bg1">
                <a:lumMod val="8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0" idx="6"/>
            <a:endCxn id="11" idx="3"/>
          </p:cNvCxnSpPr>
          <p:nvPr/>
        </p:nvCxnSpPr>
        <p:spPr>
          <a:xfrm flipV="1">
            <a:off x="7237412" y="4241052"/>
            <a:ext cx="1702548" cy="788148"/>
          </a:xfrm>
          <a:prstGeom prst="straightConnector1">
            <a:avLst/>
          </a:prstGeom>
          <a:ln w="57150">
            <a:solidFill>
              <a:schemeClr val="bg1">
                <a:lumMod val="8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cxnSpLocks/>
            <a:stCxn id="11" idx="6"/>
          </p:cNvCxnSpPr>
          <p:nvPr/>
        </p:nvCxnSpPr>
        <p:spPr>
          <a:xfrm>
            <a:off x="9980612" y="3810000"/>
            <a:ext cx="1524000" cy="0"/>
          </a:xfrm>
          <a:prstGeom prst="straightConnector1">
            <a:avLst/>
          </a:prstGeom>
          <a:ln w="57150">
            <a:solidFill>
              <a:schemeClr val="bg1">
                <a:lumMod val="8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p:txBody>
          <a:bodyPr/>
          <a:lstStyle/>
          <a:p>
            <a:r>
              <a:rPr lang="en-US" dirty="0"/>
              <a:t>Dependencies</a:t>
            </a:r>
          </a:p>
        </p:txBody>
      </p:sp>
      <p:sp>
        <p:nvSpPr>
          <p:cNvPr id="20" name="Oval 19"/>
          <p:cNvSpPr/>
          <p:nvPr/>
        </p:nvSpPr>
        <p:spPr>
          <a:xfrm>
            <a:off x="8761412" y="3200400"/>
            <a:ext cx="1219200" cy="1219200"/>
          </a:xfrm>
          <a:prstGeom prst="ellipse">
            <a:avLst/>
          </a:prstGeom>
          <a:solidFill>
            <a:schemeClr val="accent6"/>
          </a:solidFill>
          <a:ln>
            <a:solidFill>
              <a:schemeClr val="accent6"/>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solidFill>
                <a:schemeClr val="tx2"/>
              </a:solidFill>
            </a:endParaRPr>
          </a:p>
        </p:txBody>
      </p:sp>
      <p:sp>
        <p:nvSpPr>
          <p:cNvPr id="21" name="Oval 20"/>
          <p:cNvSpPr/>
          <p:nvPr/>
        </p:nvSpPr>
        <p:spPr>
          <a:xfrm>
            <a:off x="6018212" y="4419600"/>
            <a:ext cx="1219200" cy="1219200"/>
          </a:xfrm>
          <a:prstGeom prst="ellipse">
            <a:avLst/>
          </a:prstGeom>
          <a:solidFill>
            <a:schemeClr val="accent6"/>
          </a:solidFill>
          <a:ln>
            <a:solidFill>
              <a:schemeClr val="accent6"/>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solidFill>
                <a:schemeClr val="tx2"/>
              </a:solidFill>
            </a:endParaRPr>
          </a:p>
        </p:txBody>
      </p:sp>
      <p:sp>
        <p:nvSpPr>
          <p:cNvPr id="23" name="Rectangle: Rounded Corners 22"/>
          <p:cNvSpPr/>
          <p:nvPr/>
        </p:nvSpPr>
        <p:spPr>
          <a:xfrm rot="5400000">
            <a:off x="1751010" y="3005669"/>
            <a:ext cx="3809999" cy="1608663"/>
          </a:xfrm>
          <a:prstGeom prst="roundRect">
            <a:avLst/>
          </a:prstGeom>
          <a:noFill/>
          <a:ln w="28575">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p:cNvCxnSpPr/>
          <p:nvPr/>
        </p:nvCxnSpPr>
        <p:spPr>
          <a:xfrm flipH="1">
            <a:off x="4494212" y="1485900"/>
            <a:ext cx="685800" cy="533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5096441" y="1129828"/>
            <a:ext cx="4870244" cy="461665"/>
          </a:xfrm>
          <a:prstGeom prst="rect">
            <a:avLst/>
          </a:prstGeom>
          <a:noFill/>
        </p:spPr>
        <p:txBody>
          <a:bodyPr wrap="none" rtlCol="0">
            <a:spAutoFit/>
          </a:bodyPr>
          <a:lstStyle/>
          <a:p>
            <a:r>
              <a:rPr lang="en-US" sz="2400" dirty="0">
                <a:solidFill>
                  <a:srgbClr val="FF0000"/>
                </a:solidFill>
              </a:rPr>
              <a:t>Dependencies of the </a:t>
            </a:r>
            <a:r>
              <a:rPr lang="en-US" sz="2400" dirty="0" err="1" smtClean="0">
                <a:solidFill>
                  <a:srgbClr val="FF0000"/>
                </a:solidFill>
              </a:rPr>
              <a:t>mul</a:t>
            </a:r>
            <a:r>
              <a:rPr lang="en-US" sz="2400" dirty="0" smtClean="0">
                <a:solidFill>
                  <a:srgbClr val="FF0000"/>
                </a:solidFill>
              </a:rPr>
              <a:t> </a:t>
            </a:r>
            <a:r>
              <a:rPr lang="en-US" sz="2400" dirty="0">
                <a:solidFill>
                  <a:srgbClr val="FF0000"/>
                </a:solidFill>
              </a:rPr>
              <a:t>node</a:t>
            </a:r>
          </a:p>
        </p:txBody>
      </p:sp>
    </p:spTree>
    <p:extLst>
      <p:ext uri="{BB962C8B-B14F-4D97-AF65-F5344CB8AC3E}">
        <p14:creationId xmlns:p14="http://schemas.microsoft.com/office/powerpoint/2010/main" val="10205488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tx2"/>
                </a:solidFill>
              </a:rPr>
              <a:t>TensorFlow</a:t>
            </a:r>
            <a:r>
              <a:rPr lang="en-US" dirty="0">
                <a:solidFill>
                  <a:schemeClr val="tx2"/>
                </a:solidFill>
              </a:rPr>
              <a:t> Fundamentals</a:t>
            </a:r>
          </a:p>
        </p:txBody>
      </p:sp>
    </p:spTree>
    <p:extLst>
      <p:ext uri="{BB962C8B-B14F-4D97-AF65-F5344CB8AC3E}">
        <p14:creationId xmlns:p14="http://schemas.microsoft.com/office/powerpoint/2010/main" val="281172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Today’s Itinerary</a:t>
            </a:r>
            <a:endParaRPr lang="en-US" dirty="0"/>
          </a:p>
        </p:txBody>
      </p:sp>
      <p:sp>
        <p:nvSpPr>
          <p:cNvPr id="3" name="Content Placeholder 2"/>
          <p:cNvSpPr>
            <a:spLocks noGrp="1"/>
          </p:cNvSpPr>
          <p:nvPr>
            <p:ph idx="1"/>
          </p:nvPr>
        </p:nvSpPr>
        <p:spPr/>
        <p:txBody>
          <a:bodyPr/>
          <a:lstStyle/>
          <a:p>
            <a:r>
              <a:rPr lang="en-US" dirty="0" smtClean="0"/>
              <a:t>Primary use-pattern: Define and Run</a:t>
            </a:r>
          </a:p>
          <a:p>
            <a:endParaRPr lang="en-US" dirty="0"/>
          </a:p>
          <a:p>
            <a:r>
              <a:rPr lang="en-US" dirty="0"/>
              <a:t>Quick </a:t>
            </a:r>
            <a:r>
              <a:rPr lang="en-US" dirty="0" smtClean="0"/>
              <a:t>example</a:t>
            </a:r>
            <a:endParaRPr lang="en-US" dirty="0"/>
          </a:p>
        </p:txBody>
      </p:sp>
    </p:spTree>
    <p:extLst>
      <p:ext uri="{BB962C8B-B14F-4D97-AF65-F5344CB8AC3E}">
        <p14:creationId xmlns:p14="http://schemas.microsoft.com/office/powerpoint/2010/main" val="1058956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Two-Step Programming Pattern</a:t>
            </a:r>
          </a:p>
        </p:txBody>
      </p:sp>
      <p:sp>
        <p:nvSpPr>
          <p:cNvPr id="3" name="Content Placeholder 2"/>
          <p:cNvSpPr>
            <a:spLocks noGrp="1"/>
          </p:cNvSpPr>
          <p:nvPr>
            <p:ph idx="1"/>
          </p:nvPr>
        </p:nvSpPr>
        <p:spPr/>
        <p:txBody>
          <a:bodyPr/>
          <a:lstStyle/>
          <a:p>
            <a:pPr marL="514350" indent="-514350">
              <a:lnSpc>
                <a:spcPct val="200000"/>
              </a:lnSpc>
              <a:buFont typeface="+mj-lt"/>
              <a:buAutoNum type="arabicPeriod"/>
            </a:pPr>
            <a:r>
              <a:rPr lang="en-US" sz="4000" b="1" dirty="0"/>
              <a:t>Define a computation graph</a:t>
            </a:r>
            <a:br>
              <a:rPr lang="en-US" sz="4000" b="1" dirty="0"/>
            </a:br>
            <a:endParaRPr lang="en-US" sz="4000" b="1" dirty="0"/>
          </a:p>
          <a:p>
            <a:pPr marL="514350" indent="-514350">
              <a:lnSpc>
                <a:spcPct val="150000"/>
              </a:lnSpc>
              <a:buFont typeface="+mj-lt"/>
              <a:buAutoNum type="arabicPeriod"/>
            </a:pPr>
            <a:r>
              <a:rPr lang="en-US" sz="4000" b="1" dirty="0"/>
              <a:t>Run the graph</a:t>
            </a:r>
          </a:p>
        </p:txBody>
      </p:sp>
      <p:grpSp>
        <p:nvGrpSpPr>
          <p:cNvPr id="57" name="Group 56"/>
          <p:cNvGrpSpPr/>
          <p:nvPr/>
        </p:nvGrpSpPr>
        <p:grpSpPr>
          <a:xfrm>
            <a:off x="4341812" y="3048000"/>
            <a:ext cx="2911475" cy="1066800"/>
            <a:chOff x="1522412" y="1981200"/>
            <a:chExt cx="9982200" cy="3657600"/>
          </a:xfrm>
        </p:grpSpPr>
        <p:grpSp>
          <p:nvGrpSpPr>
            <p:cNvPr id="40" name="Group 39"/>
            <p:cNvGrpSpPr/>
            <p:nvPr/>
          </p:nvGrpSpPr>
          <p:grpSpPr>
            <a:xfrm>
              <a:off x="3046412" y="1981200"/>
              <a:ext cx="1219200" cy="3657600"/>
              <a:chOff x="3275012" y="1981200"/>
              <a:chExt cx="1219200" cy="3657600"/>
            </a:xfrm>
          </p:grpSpPr>
          <p:sp>
            <p:nvSpPr>
              <p:cNvPr id="41" name="Oval 40"/>
              <p:cNvSpPr/>
              <p:nvPr/>
            </p:nvSpPr>
            <p:spPr>
              <a:xfrm>
                <a:off x="3275012" y="19812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2"/>
                  </a:solidFill>
                </a:endParaRPr>
              </a:p>
            </p:txBody>
          </p:sp>
          <p:sp>
            <p:nvSpPr>
              <p:cNvPr id="42" name="Oval 41"/>
              <p:cNvSpPr/>
              <p:nvPr/>
            </p:nvSpPr>
            <p:spPr>
              <a:xfrm>
                <a:off x="3275012" y="4419600"/>
                <a:ext cx="1219200" cy="12192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2"/>
                  </a:solidFill>
                </a:endParaRPr>
              </a:p>
            </p:txBody>
          </p:sp>
        </p:grpSp>
        <p:grpSp>
          <p:nvGrpSpPr>
            <p:cNvPr id="43" name="Group 42"/>
            <p:cNvGrpSpPr/>
            <p:nvPr/>
          </p:nvGrpSpPr>
          <p:grpSpPr>
            <a:xfrm>
              <a:off x="6018212" y="1981200"/>
              <a:ext cx="1219200" cy="3657600"/>
              <a:chOff x="6246812" y="1981200"/>
              <a:chExt cx="1219200" cy="3657600"/>
            </a:xfrm>
          </p:grpSpPr>
          <p:sp>
            <p:nvSpPr>
              <p:cNvPr id="44" name="Oval 43"/>
              <p:cNvSpPr/>
              <p:nvPr/>
            </p:nvSpPr>
            <p:spPr>
              <a:xfrm>
                <a:off x="6246812" y="1981200"/>
                <a:ext cx="1219200" cy="12192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solidFill>
                    <a:schemeClr val="tx2"/>
                  </a:solidFill>
                </a:endParaRPr>
              </a:p>
            </p:txBody>
          </p:sp>
          <p:sp>
            <p:nvSpPr>
              <p:cNvPr id="45" name="Oval 44"/>
              <p:cNvSpPr/>
              <p:nvPr/>
            </p:nvSpPr>
            <p:spPr>
              <a:xfrm>
                <a:off x="6246812" y="44196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tx2"/>
                  </a:solidFill>
                </a:endParaRPr>
              </a:p>
            </p:txBody>
          </p:sp>
        </p:grpSp>
        <p:sp>
          <p:nvSpPr>
            <p:cNvPr id="46" name="Oval 45"/>
            <p:cNvSpPr/>
            <p:nvPr/>
          </p:nvSpPr>
          <p:spPr>
            <a:xfrm>
              <a:off x="8761412" y="3200400"/>
              <a:ext cx="1219200" cy="12192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tx2"/>
                </a:solidFill>
              </a:endParaRPr>
            </a:p>
          </p:txBody>
        </p:sp>
        <p:cxnSp>
          <p:nvCxnSpPr>
            <p:cNvPr id="47" name="Straight Arrow Connector 46"/>
            <p:cNvCxnSpPr>
              <a:cxnSpLocks/>
              <a:endCxn id="41" idx="2"/>
            </p:cNvCxnSpPr>
            <p:nvPr/>
          </p:nvCxnSpPr>
          <p:spPr>
            <a:xfrm>
              <a:off x="1522412" y="25908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cxnSpLocks/>
            </p:cNvCxnSpPr>
            <p:nvPr/>
          </p:nvCxnSpPr>
          <p:spPr>
            <a:xfrm>
              <a:off x="1522412" y="50292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41" idx="6"/>
              <a:endCxn id="44" idx="2"/>
            </p:cNvCxnSpPr>
            <p:nvPr/>
          </p:nvCxnSpPr>
          <p:spPr>
            <a:xfrm>
              <a:off x="4265612" y="25908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cxnSpLocks/>
              <a:stCxn id="41" idx="6"/>
              <a:endCxn id="45" idx="1"/>
            </p:cNvCxnSpPr>
            <p:nvPr/>
          </p:nvCxnSpPr>
          <p:spPr>
            <a:xfrm>
              <a:off x="4265612" y="2590800"/>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42" idx="6"/>
              <a:endCxn id="45" idx="2"/>
            </p:cNvCxnSpPr>
            <p:nvPr/>
          </p:nvCxnSpPr>
          <p:spPr>
            <a:xfrm>
              <a:off x="4265612" y="5029200"/>
              <a:ext cx="1752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cxnSpLocks/>
              <a:stCxn id="42" idx="6"/>
              <a:endCxn id="44" idx="3"/>
            </p:cNvCxnSpPr>
            <p:nvPr/>
          </p:nvCxnSpPr>
          <p:spPr>
            <a:xfrm flipV="1">
              <a:off x="4265612" y="3021852"/>
              <a:ext cx="1931148" cy="2007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44" idx="6"/>
              <a:endCxn id="46" idx="1"/>
            </p:cNvCxnSpPr>
            <p:nvPr/>
          </p:nvCxnSpPr>
          <p:spPr>
            <a:xfrm>
              <a:off x="7237412" y="2590800"/>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5" idx="6"/>
              <a:endCxn id="46" idx="3"/>
            </p:cNvCxnSpPr>
            <p:nvPr/>
          </p:nvCxnSpPr>
          <p:spPr>
            <a:xfrm flipV="1">
              <a:off x="7237412" y="4241052"/>
              <a:ext cx="1702548" cy="7881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cxnSpLocks/>
              <a:stCxn id="46" idx="6"/>
            </p:cNvCxnSpPr>
            <p:nvPr/>
          </p:nvCxnSpPr>
          <p:spPr>
            <a:xfrm>
              <a:off x="9980612" y="3810000"/>
              <a:ext cx="152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grpSp>
        <p:nvGrpSpPr>
          <p:cNvPr id="83" name="Group 82"/>
          <p:cNvGrpSpPr/>
          <p:nvPr/>
        </p:nvGrpSpPr>
        <p:grpSpPr>
          <a:xfrm>
            <a:off x="3882593" y="5479570"/>
            <a:ext cx="5118365" cy="818354"/>
            <a:chOff x="3882593" y="4975334"/>
            <a:chExt cx="5118365" cy="818354"/>
          </a:xfrm>
        </p:grpSpPr>
        <p:grpSp>
          <p:nvGrpSpPr>
            <p:cNvPr id="58" name="Group 57"/>
            <p:cNvGrpSpPr/>
            <p:nvPr/>
          </p:nvGrpSpPr>
          <p:grpSpPr>
            <a:xfrm>
              <a:off x="4903787" y="5035503"/>
              <a:ext cx="1905000" cy="698015"/>
              <a:chOff x="1522412" y="1981200"/>
              <a:chExt cx="9982200" cy="3657600"/>
            </a:xfrm>
            <a:solidFill>
              <a:schemeClr val="bg1">
                <a:lumMod val="85000"/>
              </a:schemeClr>
            </a:solidFill>
          </p:grpSpPr>
          <p:grpSp>
            <p:nvGrpSpPr>
              <p:cNvPr id="59" name="Group 58"/>
              <p:cNvGrpSpPr/>
              <p:nvPr/>
            </p:nvGrpSpPr>
            <p:grpSpPr>
              <a:xfrm>
                <a:off x="3046412" y="1981200"/>
                <a:ext cx="1219200" cy="3657600"/>
                <a:chOff x="3275012" y="1981200"/>
                <a:chExt cx="1219200" cy="3657600"/>
              </a:xfrm>
              <a:grpFill/>
            </p:grpSpPr>
            <p:sp>
              <p:nvSpPr>
                <p:cNvPr id="73" name="Oval 72"/>
                <p:cNvSpPr/>
                <p:nvPr/>
              </p:nvSpPr>
              <p:spPr>
                <a:xfrm>
                  <a:off x="3275012" y="1981200"/>
                  <a:ext cx="1219200" cy="1219200"/>
                </a:xfrm>
                <a:prstGeom prst="ellipse">
                  <a:avLst/>
                </a:prstGeom>
                <a:grpFill/>
                <a:ln>
                  <a:solidFill>
                    <a:schemeClr val="tx1">
                      <a:lumMod val="40000"/>
                      <a:lumOff val="6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2"/>
                    </a:solidFill>
                  </a:endParaRPr>
                </a:p>
              </p:txBody>
            </p:sp>
            <p:sp>
              <p:nvSpPr>
                <p:cNvPr id="74" name="Oval 73"/>
                <p:cNvSpPr/>
                <p:nvPr/>
              </p:nvSpPr>
              <p:spPr>
                <a:xfrm>
                  <a:off x="3275012" y="4419600"/>
                  <a:ext cx="1219200" cy="1219200"/>
                </a:xfrm>
                <a:prstGeom prst="ellipse">
                  <a:avLst/>
                </a:prstGeom>
                <a:grpFill/>
                <a:ln>
                  <a:solidFill>
                    <a:schemeClr val="tx1">
                      <a:lumMod val="40000"/>
                      <a:lumOff val="6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2"/>
                    </a:solidFill>
                  </a:endParaRPr>
                </a:p>
              </p:txBody>
            </p:sp>
          </p:grpSp>
          <p:grpSp>
            <p:nvGrpSpPr>
              <p:cNvPr id="60" name="Group 59"/>
              <p:cNvGrpSpPr/>
              <p:nvPr/>
            </p:nvGrpSpPr>
            <p:grpSpPr>
              <a:xfrm>
                <a:off x="6018212" y="1981200"/>
                <a:ext cx="1219200" cy="3657600"/>
                <a:chOff x="6246812" y="1981200"/>
                <a:chExt cx="1219200" cy="3657600"/>
              </a:xfrm>
              <a:grpFill/>
            </p:grpSpPr>
            <p:sp>
              <p:nvSpPr>
                <p:cNvPr id="71" name="Oval 70"/>
                <p:cNvSpPr/>
                <p:nvPr/>
              </p:nvSpPr>
              <p:spPr>
                <a:xfrm>
                  <a:off x="6246812" y="1981200"/>
                  <a:ext cx="1219200" cy="1219200"/>
                </a:xfrm>
                <a:prstGeom prst="ellipse">
                  <a:avLst/>
                </a:prstGeom>
                <a:grpFill/>
                <a:ln>
                  <a:solidFill>
                    <a:schemeClr val="tx1">
                      <a:lumMod val="40000"/>
                      <a:lumOff val="6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solidFill>
                      <a:schemeClr val="tx2"/>
                    </a:solidFill>
                  </a:endParaRPr>
                </a:p>
              </p:txBody>
            </p:sp>
            <p:sp>
              <p:nvSpPr>
                <p:cNvPr id="72" name="Oval 71"/>
                <p:cNvSpPr/>
                <p:nvPr/>
              </p:nvSpPr>
              <p:spPr>
                <a:xfrm>
                  <a:off x="6246812" y="4419600"/>
                  <a:ext cx="1219200" cy="1219200"/>
                </a:xfrm>
                <a:prstGeom prst="ellipse">
                  <a:avLst/>
                </a:prstGeom>
                <a:grpFill/>
                <a:ln>
                  <a:solidFill>
                    <a:schemeClr val="tx1">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tx2"/>
                    </a:solidFill>
                  </a:endParaRPr>
                </a:p>
              </p:txBody>
            </p:sp>
          </p:grpSp>
          <p:sp>
            <p:nvSpPr>
              <p:cNvPr id="61" name="Oval 60"/>
              <p:cNvSpPr/>
              <p:nvPr/>
            </p:nvSpPr>
            <p:spPr>
              <a:xfrm>
                <a:off x="8761412" y="3200400"/>
                <a:ext cx="1219200" cy="1219200"/>
              </a:xfrm>
              <a:prstGeom prst="ellipse">
                <a:avLst/>
              </a:prstGeom>
              <a:grpFill/>
              <a:ln>
                <a:solidFill>
                  <a:schemeClr val="tx1">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tx2"/>
                  </a:solidFill>
                </a:endParaRPr>
              </a:p>
            </p:txBody>
          </p:sp>
          <p:cxnSp>
            <p:nvCxnSpPr>
              <p:cNvPr id="62" name="Straight Arrow Connector 61"/>
              <p:cNvCxnSpPr>
                <a:cxnSpLocks/>
                <a:endCxn id="73" idx="2"/>
              </p:cNvCxnSpPr>
              <p:nvPr/>
            </p:nvCxnSpPr>
            <p:spPr>
              <a:xfrm>
                <a:off x="1522412" y="2590800"/>
                <a:ext cx="1524000" cy="0"/>
              </a:xfrm>
              <a:prstGeom prst="straightConnector1">
                <a:avLst/>
              </a:prstGeom>
              <a:grpFill/>
              <a:ln w="57150">
                <a:solidFill>
                  <a:schemeClr val="tx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cxnSpLocks/>
              </p:cNvCxnSpPr>
              <p:nvPr/>
            </p:nvCxnSpPr>
            <p:spPr>
              <a:xfrm>
                <a:off x="1522412" y="5029200"/>
                <a:ext cx="1524000" cy="0"/>
              </a:xfrm>
              <a:prstGeom prst="straightConnector1">
                <a:avLst/>
              </a:prstGeom>
              <a:grpFill/>
              <a:ln w="57150">
                <a:solidFill>
                  <a:schemeClr val="tx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stCxn id="73" idx="6"/>
                <a:endCxn id="71" idx="2"/>
              </p:cNvCxnSpPr>
              <p:nvPr/>
            </p:nvCxnSpPr>
            <p:spPr>
              <a:xfrm>
                <a:off x="4265612" y="2590800"/>
                <a:ext cx="1752600" cy="0"/>
              </a:xfrm>
              <a:prstGeom prst="straightConnector1">
                <a:avLst/>
              </a:prstGeom>
              <a:grpFill/>
              <a:ln w="57150">
                <a:solidFill>
                  <a:schemeClr val="tx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cxnSpLocks/>
                <a:stCxn id="73" idx="6"/>
                <a:endCxn id="72" idx="1"/>
              </p:cNvCxnSpPr>
              <p:nvPr/>
            </p:nvCxnSpPr>
            <p:spPr>
              <a:xfrm>
                <a:off x="4265612" y="2590800"/>
                <a:ext cx="1931148" cy="2007348"/>
              </a:xfrm>
              <a:prstGeom prst="straightConnector1">
                <a:avLst/>
              </a:prstGeom>
              <a:grpFill/>
              <a:ln w="57150">
                <a:solidFill>
                  <a:schemeClr val="tx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74" idx="6"/>
                <a:endCxn id="72" idx="2"/>
              </p:cNvCxnSpPr>
              <p:nvPr/>
            </p:nvCxnSpPr>
            <p:spPr>
              <a:xfrm>
                <a:off x="4265612" y="5029200"/>
                <a:ext cx="1752600" cy="0"/>
              </a:xfrm>
              <a:prstGeom prst="straightConnector1">
                <a:avLst/>
              </a:prstGeom>
              <a:grpFill/>
              <a:ln w="57150">
                <a:solidFill>
                  <a:schemeClr val="tx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cxnSpLocks/>
                <a:stCxn id="74" idx="6"/>
                <a:endCxn id="71" idx="3"/>
              </p:cNvCxnSpPr>
              <p:nvPr/>
            </p:nvCxnSpPr>
            <p:spPr>
              <a:xfrm flipV="1">
                <a:off x="4265612" y="3021852"/>
                <a:ext cx="1931148" cy="2007348"/>
              </a:xfrm>
              <a:prstGeom prst="straightConnector1">
                <a:avLst/>
              </a:prstGeom>
              <a:grpFill/>
              <a:ln w="57150">
                <a:solidFill>
                  <a:schemeClr val="tx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71" idx="6"/>
                <a:endCxn id="61" idx="1"/>
              </p:cNvCxnSpPr>
              <p:nvPr/>
            </p:nvCxnSpPr>
            <p:spPr>
              <a:xfrm>
                <a:off x="7237412" y="2590800"/>
                <a:ext cx="1702548" cy="788148"/>
              </a:xfrm>
              <a:prstGeom prst="straightConnector1">
                <a:avLst/>
              </a:prstGeom>
              <a:grpFill/>
              <a:ln w="57150">
                <a:solidFill>
                  <a:schemeClr val="tx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72" idx="6"/>
                <a:endCxn id="61" idx="3"/>
              </p:cNvCxnSpPr>
              <p:nvPr/>
            </p:nvCxnSpPr>
            <p:spPr>
              <a:xfrm flipV="1">
                <a:off x="7237412" y="4241052"/>
                <a:ext cx="1702548" cy="788148"/>
              </a:xfrm>
              <a:prstGeom prst="straightConnector1">
                <a:avLst/>
              </a:prstGeom>
              <a:grpFill/>
              <a:ln w="57150">
                <a:solidFill>
                  <a:schemeClr val="tx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cxnSpLocks/>
                <a:stCxn id="61" idx="6"/>
              </p:cNvCxnSpPr>
              <p:nvPr/>
            </p:nvCxnSpPr>
            <p:spPr>
              <a:xfrm>
                <a:off x="9980612" y="3810000"/>
                <a:ext cx="1524000" cy="0"/>
              </a:xfrm>
              <a:prstGeom prst="straightConnector1">
                <a:avLst/>
              </a:prstGeom>
              <a:grpFill/>
              <a:ln w="57150">
                <a:solidFill>
                  <a:schemeClr val="tx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75" name="Flowchart: Magnetic Disk 74"/>
            <p:cNvSpPr/>
            <p:nvPr/>
          </p:nvSpPr>
          <p:spPr>
            <a:xfrm>
              <a:off x="3882593" y="4987258"/>
              <a:ext cx="838200" cy="782290"/>
            </a:xfrm>
            <a:prstGeom prst="flowChartMagneticDisk">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solidFill>
                    <a:sysClr val="windowText" lastClr="000000"/>
                  </a:solidFill>
                </a:rPr>
                <a:t>data</a:t>
              </a:r>
            </a:p>
          </p:txBody>
        </p:sp>
        <p:sp>
          <p:nvSpPr>
            <p:cNvPr id="77" name="Cloud 76"/>
            <p:cNvSpPr/>
            <p:nvPr/>
          </p:nvSpPr>
          <p:spPr>
            <a:xfrm>
              <a:off x="6910526" y="4975334"/>
              <a:ext cx="2090432" cy="818354"/>
            </a:xfrm>
            <a:prstGeom prst="cloud">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solidFill>
                    <a:sysClr val="windowText" lastClr="000000"/>
                  </a:solidFill>
                </a:rPr>
                <a:t>Predictions</a:t>
              </a:r>
            </a:p>
          </p:txBody>
        </p:sp>
      </p:grpSp>
    </p:spTree>
    <p:extLst>
      <p:ext uri="{BB962C8B-B14F-4D97-AF65-F5344CB8AC3E}">
        <p14:creationId xmlns:p14="http://schemas.microsoft.com/office/powerpoint/2010/main" val="641773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Defining Graphs</a:t>
            </a:r>
          </a:p>
        </p:txBody>
      </p:sp>
    </p:spTree>
    <p:extLst>
      <p:ext uri="{BB962C8B-B14F-4D97-AF65-F5344CB8AC3E}">
        <p14:creationId xmlns:p14="http://schemas.microsoft.com/office/powerpoint/2010/main" val="145614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 </a:t>
            </a:r>
            <a:r>
              <a:rPr lang="en-US" dirty="0" err="1"/>
              <a:t>TensorFlow</a:t>
            </a:r>
            <a:r>
              <a:rPr lang="en-US" dirty="0"/>
              <a:t> API Classes</a:t>
            </a:r>
          </a:p>
        </p:txBody>
      </p:sp>
      <p:sp>
        <p:nvSpPr>
          <p:cNvPr id="3" name="Content Placeholder 2"/>
          <p:cNvSpPr>
            <a:spLocks noGrp="1"/>
          </p:cNvSpPr>
          <p:nvPr>
            <p:ph idx="1"/>
          </p:nvPr>
        </p:nvSpPr>
        <p:spPr/>
        <p:txBody>
          <a:bodyPr>
            <a:normAutofit fontScale="92500" lnSpcReduction="20000"/>
          </a:bodyPr>
          <a:lstStyle/>
          <a:p>
            <a:r>
              <a:rPr lang="en-US" sz="3600" dirty="0">
                <a:latin typeface="Consolas" panose="020B0609020204030204" pitchFamily="49" charset="0"/>
              </a:rPr>
              <a:t>Graph</a:t>
            </a:r>
          </a:p>
          <a:p>
            <a:pPr lvl="1"/>
            <a:r>
              <a:rPr lang="en-US" sz="3200" dirty="0" smtClean="0">
                <a:latin typeface="+mj-lt"/>
              </a:rPr>
              <a:t>Container </a:t>
            </a:r>
            <a:r>
              <a:rPr lang="en-US" sz="3200" dirty="0">
                <a:latin typeface="+mj-lt"/>
              </a:rPr>
              <a:t>for operations and tensors</a:t>
            </a:r>
          </a:p>
          <a:p>
            <a:r>
              <a:rPr lang="en-US" sz="3600" dirty="0">
                <a:latin typeface="Consolas" panose="020B0609020204030204" pitchFamily="49" charset="0"/>
              </a:rPr>
              <a:t>Operation</a:t>
            </a:r>
          </a:p>
          <a:p>
            <a:pPr lvl="1"/>
            <a:r>
              <a:rPr lang="en-US" sz="3200" dirty="0" smtClean="0">
                <a:latin typeface="+mj-lt"/>
              </a:rPr>
              <a:t>Nodes in the graph.  </a:t>
            </a:r>
          </a:p>
          <a:p>
            <a:pPr lvl="1"/>
            <a:r>
              <a:rPr lang="en-US" sz="3200" dirty="0" smtClean="0">
                <a:latin typeface="+mj-lt"/>
              </a:rPr>
              <a:t>Represent computations</a:t>
            </a:r>
            <a:endParaRPr lang="en-US" sz="3200" dirty="0">
              <a:latin typeface="+mj-lt"/>
            </a:endParaRPr>
          </a:p>
          <a:p>
            <a:r>
              <a:rPr lang="en-US" sz="3600" dirty="0">
                <a:latin typeface="Consolas" panose="020B0609020204030204" pitchFamily="49" charset="0"/>
              </a:rPr>
              <a:t>Tensor</a:t>
            </a:r>
          </a:p>
          <a:p>
            <a:pPr lvl="1"/>
            <a:r>
              <a:rPr lang="en-US" sz="3200" dirty="0" smtClean="0">
                <a:latin typeface="+mj-lt"/>
              </a:rPr>
              <a:t>Edges in the graph.</a:t>
            </a:r>
          </a:p>
          <a:p>
            <a:pPr lvl="1"/>
            <a:r>
              <a:rPr lang="en-US" sz="3200" dirty="0" smtClean="0">
                <a:latin typeface="+mj-lt"/>
              </a:rPr>
              <a:t>Represent </a:t>
            </a:r>
            <a:r>
              <a:rPr lang="en-US" sz="3200" dirty="0">
                <a:latin typeface="+mj-lt"/>
              </a:rPr>
              <a:t>data</a:t>
            </a:r>
          </a:p>
        </p:txBody>
      </p:sp>
    </p:spTree>
    <p:extLst>
      <p:ext uri="{BB962C8B-B14F-4D97-AF65-F5344CB8AC3E}">
        <p14:creationId xmlns:p14="http://schemas.microsoft.com/office/powerpoint/2010/main" val="1213012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2" y="533400"/>
            <a:ext cx="10134600" cy="914400"/>
          </a:xfrm>
        </p:spPr>
        <p:txBody>
          <a:bodyPr>
            <a:normAutofit/>
          </a:bodyPr>
          <a:lstStyle/>
          <a:p>
            <a:r>
              <a:rPr lang="en-US" sz="2800" dirty="0"/>
              <a:t>When you import </a:t>
            </a:r>
            <a:r>
              <a:rPr lang="en-US" sz="2800" dirty="0" err="1"/>
              <a:t>TensorFlow</a:t>
            </a:r>
            <a:r>
              <a:rPr lang="en-US" sz="2800" dirty="0"/>
              <a:t>, it automatically creates a default graph</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import </a:t>
            </a:r>
            <a:r>
              <a:rPr lang="en-US" sz="2800" dirty="0" err="1">
                <a:solidFill>
                  <a:schemeClr val="accent5">
                    <a:lumMod val="75000"/>
                  </a:schemeClr>
                </a:solidFill>
                <a:latin typeface="Consolas" panose="020B0609020204030204" pitchFamily="49" charset="0"/>
              </a:rPr>
              <a:t>tensorflow</a:t>
            </a:r>
            <a:r>
              <a:rPr lang="en-US" sz="2800" dirty="0">
                <a:solidFill>
                  <a:schemeClr val="accent5">
                    <a:lumMod val="75000"/>
                  </a:schemeClr>
                </a:solidFill>
                <a:latin typeface="Consolas" panose="020B0609020204030204" pitchFamily="49" charset="0"/>
              </a:rPr>
              <a:t> as </a:t>
            </a:r>
            <a:r>
              <a:rPr lang="en-US" sz="2800" dirty="0" err="1">
                <a:solidFill>
                  <a:schemeClr val="accent5">
                    <a:lumMod val="75000"/>
                  </a:schemeClr>
                </a:solidFill>
                <a:latin typeface="Consolas" panose="020B0609020204030204" pitchFamily="49" charset="0"/>
              </a:rPr>
              <a:t>tf</a:t>
            </a:r>
            <a:endParaRPr lang="en-US" sz="2800" dirty="0">
              <a:solidFill>
                <a:schemeClr val="accent5">
                  <a:lumMod val="75000"/>
                </a:schemeClr>
              </a:solidFill>
              <a:latin typeface="Consolas" panose="020B0609020204030204" pitchFamily="49" charset="0"/>
            </a:endParaRP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Tree>
    <p:extLst>
      <p:ext uri="{BB962C8B-B14F-4D97-AF65-F5344CB8AC3E}">
        <p14:creationId xmlns:p14="http://schemas.microsoft.com/office/powerpoint/2010/main" val="3372796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2" y="381000"/>
            <a:ext cx="9296400" cy="914400"/>
          </a:xfrm>
        </p:spPr>
        <p:txBody>
          <a:bodyPr>
            <a:normAutofit/>
          </a:bodyPr>
          <a:lstStyle/>
          <a:p>
            <a:r>
              <a:rPr lang="en-US" sz="2800" dirty="0"/>
              <a:t>This is </a:t>
            </a:r>
            <a:r>
              <a:rPr lang="en-US" sz="2800" dirty="0" smtClean="0"/>
              <a:t>the default location for model operations</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import </a:t>
            </a:r>
            <a:r>
              <a:rPr lang="en-US" sz="2800" dirty="0" err="1">
                <a:solidFill>
                  <a:schemeClr val="accent5">
                    <a:lumMod val="75000"/>
                  </a:schemeClr>
                </a:solidFill>
                <a:latin typeface="Consolas" panose="020B0609020204030204" pitchFamily="49" charset="0"/>
              </a:rPr>
              <a:t>tensorflow</a:t>
            </a:r>
            <a:r>
              <a:rPr lang="en-US" sz="2800" dirty="0">
                <a:solidFill>
                  <a:schemeClr val="accent5">
                    <a:lumMod val="75000"/>
                  </a:schemeClr>
                </a:solidFill>
                <a:latin typeface="Consolas" panose="020B0609020204030204" pitchFamily="49" charset="0"/>
              </a:rPr>
              <a:t> as </a:t>
            </a:r>
            <a:r>
              <a:rPr lang="en-US" sz="2800" dirty="0" err="1">
                <a:solidFill>
                  <a:schemeClr val="accent5">
                    <a:lumMod val="75000"/>
                  </a:schemeClr>
                </a:solidFill>
                <a:latin typeface="Consolas" panose="020B0609020204030204" pitchFamily="49" charset="0"/>
              </a:rPr>
              <a:t>tf</a:t>
            </a:r>
            <a:endParaRPr lang="en-US" sz="2800" dirty="0">
              <a:solidFill>
                <a:schemeClr val="accent5">
                  <a:lumMod val="75000"/>
                </a:schemeClr>
              </a:solidFill>
              <a:latin typeface="Consolas" panose="020B0609020204030204" pitchFamily="49" charset="0"/>
            </a:endParaRP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Tree>
    <p:extLst>
      <p:ext uri="{BB962C8B-B14F-4D97-AF65-F5344CB8AC3E}">
        <p14:creationId xmlns:p14="http://schemas.microsoft.com/office/powerpoint/2010/main" val="958275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2" y="533400"/>
            <a:ext cx="9906000" cy="914400"/>
          </a:xfrm>
        </p:spPr>
        <p:txBody>
          <a:bodyPr>
            <a:normAutofit/>
          </a:bodyPr>
          <a:lstStyle/>
          <a:p>
            <a:r>
              <a:rPr lang="en-US" sz="2800" dirty="0"/>
              <a:t>We can create constant data values </a:t>
            </a:r>
            <a:r>
              <a:rPr lang="en-US" sz="2800" dirty="0" smtClean="0"/>
              <a:t>with </a:t>
            </a:r>
            <a:r>
              <a:rPr lang="en-US" sz="2800" dirty="0" err="1" smtClean="0"/>
              <a:t>t</a:t>
            </a:r>
            <a:r>
              <a:rPr lang="en-US" sz="2800" dirty="0" err="1" smtClean="0">
                <a:solidFill>
                  <a:schemeClr val="accent5">
                    <a:lumMod val="75000"/>
                  </a:schemeClr>
                </a:solidFill>
                <a:latin typeface="Consolas" panose="020B0609020204030204" pitchFamily="49" charset="0"/>
              </a:rPr>
              <a:t>f.constant</a:t>
            </a:r>
            <a:r>
              <a:rPr lang="en-US" sz="2800" dirty="0">
                <a:solidFill>
                  <a:schemeClr val="accent5">
                    <a:lumMod val="75000"/>
                  </a:schemeClr>
                </a:solidFill>
                <a:latin typeface="Consolas" panose="020B0609020204030204" pitchFamily="49" charset="0"/>
              </a:rPr>
              <a:t>()</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 = </a:t>
            </a:r>
            <a:r>
              <a:rPr lang="en-US" sz="2800" dirty="0" err="1">
                <a:solidFill>
                  <a:schemeClr val="accent5">
                    <a:lumMod val="75000"/>
                  </a:schemeClr>
                </a:solidFill>
                <a:latin typeface="Consolas" panose="020B0609020204030204" pitchFamily="49" charset="0"/>
              </a:rPr>
              <a:t>tf.constant</a:t>
            </a:r>
            <a:r>
              <a:rPr lang="en-US" sz="2800" dirty="0">
                <a:solidFill>
                  <a:schemeClr val="accent5">
                    <a:lumMod val="75000"/>
                  </a:schemeClr>
                </a:solidFill>
                <a:latin typeface="Consolas" panose="020B0609020204030204" pitchFamily="49" charset="0"/>
              </a:rPr>
              <a:t>(3.0)</a:t>
            </a: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
        <p:nvSpPr>
          <p:cNvPr id="7" name="Oval 6"/>
          <p:cNvSpPr/>
          <p:nvPr/>
        </p:nvSpPr>
        <p:spPr>
          <a:xfrm>
            <a:off x="3198812" y="33528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Constant</a:t>
            </a:r>
          </a:p>
          <a:p>
            <a:pPr algn="ctr"/>
            <a:r>
              <a:rPr lang="en-US" sz="1600" dirty="0">
                <a:solidFill>
                  <a:schemeClr val="tx2"/>
                </a:solidFill>
              </a:rPr>
              <a:t>(3.0)</a:t>
            </a:r>
          </a:p>
        </p:txBody>
      </p:sp>
      <p:sp>
        <p:nvSpPr>
          <p:cNvPr id="8" name="Rectangle 7"/>
          <p:cNvSpPr/>
          <p:nvPr/>
        </p:nvSpPr>
        <p:spPr>
          <a:xfrm>
            <a:off x="4192306" y="365760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a</a:t>
            </a:r>
            <a:endParaRPr lang="en-US" dirty="0"/>
          </a:p>
        </p:txBody>
      </p:sp>
    </p:spTree>
    <p:extLst>
      <p:ext uri="{BB962C8B-B14F-4D97-AF65-F5344CB8AC3E}">
        <p14:creationId xmlns:p14="http://schemas.microsoft.com/office/powerpoint/2010/main" val="3559408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2" y="381000"/>
            <a:ext cx="9829800" cy="914400"/>
          </a:xfrm>
        </p:spPr>
        <p:txBody>
          <a:bodyPr>
            <a:normAutofit/>
          </a:bodyPr>
          <a:lstStyle/>
          <a:p>
            <a:r>
              <a:rPr lang="en-US" sz="2800" dirty="0" err="1">
                <a:solidFill>
                  <a:schemeClr val="accent5">
                    <a:lumMod val="75000"/>
                  </a:schemeClr>
                </a:solidFill>
                <a:latin typeface="Consolas" panose="020B0609020204030204" pitchFamily="49" charset="0"/>
              </a:rPr>
              <a:t>tf.constant</a:t>
            </a:r>
            <a:r>
              <a:rPr lang="en-US" sz="2800" dirty="0">
                <a:solidFill>
                  <a:schemeClr val="accent5">
                    <a:lumMod val="75000"/>
                  </a:schemeClr>
                </a:solidFill>
                <a:latin typeface="Consolas" panose="020B0609020204030204" pitchFamily="49" charset="0"/>
              </a:rPr>
              <a:t>() </a:t>
            </a:r>
            <a:r>
              <a:rPr lang="en-US" sz="2800" dirty="0"/>
              <a:t>creates </a:t>
            </a:r>
            <a:r>
              <a:rPr lang="en-US" sz="2800" dirty="0" smtClean="0"/>
              <a:t>an </a:t>
            </a:r>
            <a:r>
              <a:rPr lang="en-US" sz="2800" dirty="0" smtClean="0">
                <a:solidFill>
                  <a:schemeClr val="accent5">
                    <a:lumMod val="75000"/>
                  </a:schemeClr>
                </a:solidFill>
                <a:latin typeface="Consolas" panose="020B0609020204030204" pitchFamily="49" charset="0"/>
              </a:rPr>
              <a:t>Operation</a:t>
            </a:r>
            <a:r>
              <a:rPr lang="en-US" sz="2800" dirty="0" smtClean="0"/>
              <a:t> that </a:t>
            </a:r>
            <a:r>
              <a:rPr lang="en-US" sz="2800" dirty="0"/>
              <a:t>returns </a:t>
            </a:r>
            <a:r>
              <a:rPr lang="en-US" sz="2800" dirty="0" smtClean="0"/>
              <a:t>a fixed value</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 = </a:t>
            </a:r>
            <a:r>
              <a:rPr lang="en-US" sz="2800" dirty="0" err="1">
                <a:solidFill>
                  <a:schemeClr val="accent5">
                    <a:lumMod val="75000"/>
                  </a:schemeClr>
                </a:solidFill>
                <a:latin typeface="Consolas" panose="020B0609020204030204" pitchFamily="49" charset="0"/>
              </a:rPr>
              <a:t>tf.constant</a:t>
            </a:r>
            <a:r>
              <a:rPr lang="en-US" sz="2800" dirty="0">
                <a:solidFill>
                  <a:schemeClr val="accent5">
                    <a:lumMod val="75000"/>
                  </a:schemeClr>
                </a:solidFill>
                <a:latin typeface="Consolas" panose="020B0609020204030204" pitchFamily="49" charset="0"/>
              </a:rPr>
              <a:t>(3.0)</a:t>
            </a: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
        <p:nvSpPr>
          <p:cNvPr id="7" name="Oval 6"/>
          <p:cNvSpPr/>
          <p:nvPr/>
        </p:nvSpPr>
        <p:spPr>
          <a:xfrm>
            <a:off x="3198812" y="33528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Constant</a:t>
            </a:r>
          </a:p>
          <a:p>
            <a:pPr algn="ctr"/>
            <a:r>
              <a:rPr lang="en-US" sz="1600" dirty="0">
                <a:solidFill>
                  <a:schemeClr val="tx2"/>
                </a:solidFill>
              </a:rPr>
              <a:t>(3.0)</a:t>
            </a:r>
          </a:p>
        </p:txBody>
      </p:sp>
      <p:sp>
        <p:nvSpPr>
          <p:cNvPr id="9" name="Rectangle 8"/>
          <p:cNvSpPr/>
          <p:nvPr/>
        </p:nvSpPr>
        <p:spPr>
          <a:xfrm>
            <a:off x="4192306" y="365760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a</a:t>
            </a:r>
            <a:endParaRPr lang="en-US" dirty="0"/>
          </a:p>
        </p:txBody>
      </p:sp>
    </p:spTree>
    <p:extLst>
      <p:ext uri="{BB962C8B-B14F-4D97-AF65-F5344CB8AC3E}">
        <p14:creationId xmlns:p14="http://schemas.microsoft.com/office/powerpoint/2010/main" val="4232873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8623994" cy="914400"/>
          </a:xfrm>
        </p:spPr>
        <p:txBody>
          <a:bodyPr>
            <a:normAutofit/>
          </a:bodyPr>
          <a:lstStyle/>
          <a:p>
            <a:r>
              <a:rPr lang="en-US" sz="2800" smtClean="0">
                <a:solidFill>
                  <a:schemeClr val="accent5">
                    <a:lumMod val="75000"/>
                  </a:schemeClr>
                </a:solidFill>
                <a:latin typeface="Consolas" panose="020B0609020204030204" pitchFamily="49" charset="0"/>
              </a:rPr>
              <a:t>Operation</a:t>
            </a:r>
            <a:r>
              <a:rPr lang="en-US" sz="2800" smtClean="0"/>
              <a:t> </a:t>
            </a:r>
            <a:r>
              <a:rPr lang="en-US" sz="2800" dirty="0"/>
              <a:t>functions can be given a </a:t>
            </a:r>
            <a:r>
              <a:rPr lang="en-US" sz="2800" dirty="0">
                <a:solidFill>
                  <a:schemeClr val="accent5">
                    <a:lumMod val="75000"/>
                  </a:schemeClr>
                </a:solidFill>
                <a:latin typeface="Consolas" panose="020B0609020204030204" pitchFamily="49" charset="0"/>
              </a:rPr>
              <a:t>name</a:t>
            </a:r>
            <a:r>
              <a:rPr lang="en-US" sz="2800" dirty="0"/>
              <a:t> parameter, which gives the Operation a string name </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 = </a:t>
            </a:r>
            <a:r>
              <a:rPr lang="en-US" sz="2800" dirty="0" err="1">
                <a:solidFill>
                  <a:schemeClr val="accent5">
                    <a:lumMod val="75000"/>
                  </a:schemeClr>
                </a:solidFill>
                <a:latin typeface="Consolas" panose="020B0609020204030204" pitchFamily="49" charset="0"/>
              </a:rPr>
              <a:t>tf.constant</a:t>
            </a:r>
            <a:r>
              <a:rPr lang="en-US" sz="2800" dirty="0">
                <a:solidFill>
                  <a:schemeClr val="accent5">
                    <a:lumMod val="75000"/>
                  </a:schemeClr>
                </a:solidFill>
                <a:latin typeface="Consolas" panose="020B0609020204030204" pitchFamily="49" charset="0"/>
              </a:rPr>
              <a:t>(3.0, name=“input1”)</a:t>
            </a: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
        <p:nvSpPr>
          <p:cNvPr id="5" name="Oval 4"/>
          <p:cNvSpPr/>
          <p:nvPr/>
        </p:nvSpPr>
        <p:spPr>
          <a:xfrm>
            <a:off x="3198812" y="33528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input1</a:t>
            </a:r>
          </a:p>
          <a:p>
            <a:pPr algn="ctr"/>
            <a:r>
              <a:rPr lang="en-US" sz="1600" dirty="0">
                <a:solidFill>
                  <a:schemeClr val="tx2"/>
                </a:solidFill>
              </a:rPr>
              <a:t>(3.0)</a:t>
            </a:r>
          </a:p>
        </p:txBody>
      </p:sp>
      <p:sp>
        <p:nvSpPr>
          <p:cNvPr id="7" name="Rectangle 6"/>
          <p:cNvSpPr/>
          <p:nvPr/>
        </p:nvSpPr>
        <p:spPr>
          <a:xfrm>
            <a:off x="4192306" y="365760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a</a:t>
            </a:r>
            <a:endParaRPr lang="en-US" dirty="0"/>
          </a:p>
        </p:txBody>
      </p:sp>
    </p:spTree>
    <p:extLst>
      <p:ext uri="{BB962C8B-B14F-4D97-AF65-F5344CB8AC3E}">
        <p14:creationId xmlns:p14="http://schemas.microsoft.com/office/powerpoint/2010/main" val="959262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2" y="533400"/>
            <a:ext cx="10591800" cy="914400"/>
          </a:xfrm>
        </p:spPr>
        <p:txBody>
          <a:bodyPr>
            <a:normAutofit/>
          </a:bodyPr>
          <a:lstStyle/>
          <a:p>
            <a:r>
              <a:rPr lang="en-US" sz="2800" dirty="0" smtClean="0"/>
              <a:t>Additional Ops continue to populate the default graph</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b = </a:t>
            </a:r>
            <a:r>
              <a:rPr lang="en-US" sz="2800" dirty="0" err="1">
                <a:solidFill>
                  <a:schemeClr val="accent5">
                    <a:lumMod val="75000"/>
                  </a:schemeClr>
                </a:solidFill>
                <a:latin typeface="Consolas" panose="020B0609020204030204" pitchFamily="49" charset="0"/>
              </a:rPr>
              <a:t>tf.constant</a:t>
            </a:r>
            <a:r>
              <a:rPr lang="en-US" sz="2800" dirty="0">
                <a:solidFill>
                  <a:schemeClr val="accent5">
                    <a:lumMod val="75000"/>
                  </a:schemeClr>
                </a:solidFill>
                <a:latin typeface="Consolas" panose="020B0609020204030204" pitchFamily="49" charset="0"/>
              </a:rPr>
              <a:t>(2.0, name=“input2”)</a:t>
            </a: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
        <p:nvSpPr>
          <p:cNvPr id="8" name="Oval 7"/>
          <p:cNvSpPr/>
          <p:nvPr/>
        </p:nvSpPr>
        <p:spPr>
          <a:xfrm>
            <a:off x="3198812" y="50292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input2</a:t>
            </a:r>
          </a:p>
          <a:p>
            <a:pPr algn="ctr"/>
            <a:r>
              <a:rPr lang="en-US" sz="1600" dirty="0">
                <a:solidFill>
                  <a:schemeClr val="tx2"/>
                </a:solidFill>
              </a:rPr>
              <a:t>(2.0)</a:t>
            </a:r>
          </a:p>
        </p:txBody>
      </p:sp>
      <p:sp>
        <p:nvSpPr>
          <p:cNvPr id="9" name="Rectangle 8"/>
          <p:cNvSpPr/>
          <p:nvPr/>
        </p:nvSpPr>
        <p:spPr>
          <a:xfrm>
            <a:off x="4192306" y="53398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10" name="Oval 9"/>
          <p:cNvSpPr/>
          <p:nvPr/>
        </p:nvSpPr>
        <p:spPr>
          <a:xfrm>
            <a:off x="3198812" y="33528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input1</a:t>
            </a:r>
          </a:p>
          <a:p>
            <a:pPr algn="ctr"/>
            <a:r>
              <a:rPr lang="en-US" sz="1600" dirty="0">
                <a:solidFill>
                  <a:schemeClr val="tx2"/>
                </a:solidFill>
              </a:rPr>
              <a:t>(3.0)</a:t>
            </a:r>
          </a:p>
        </p:txBody>
      </p:sp>
      <p:sp>
        <p:nvSpPr>
          <p:cNvPr id="12" name="Rectangle 11"/>
          <p:cNvSpPr/>
          <p:nvPr/>
        </p:nvSpPr>
        <p:spPr>
          <a:xfrm>
            <a:off x="4192306" y="365760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a</a:t>
            </a:r>
            <a:endParaRPr lang="en-US" dirty="0"/>
          </a:p>
        </p:txBody>
      </p:sp>
    </p:spTree>
    <p:extLst>
      <p:ext uri="{BB962C8B-B14F-4D97-AF65-F5344CB8AC3E}">
        <p14:creationId xmlns:p14="http://schemas.microsoft.com/office/powerpoint/2010/main" val="1389287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2" y="533400"/>
            <a:ext cx="9829800" cy="914400"/>
          </a:xfrm>
        </p:spPr>
        <p:txBody>
          <a:bodyPr>
            <a:normAutofit/>
          </a:bodyPr>
          <a:lstStyle/>
          <a:p>
            <a:r>
              <a:rPr lang="en-US" sz="2800" dirty="0"/>
              <a:t>We </a:t>
            </a:r>
            <a:r>
              <a:rPr lang="en-US" sz="2800" dirty="0" smtClean="0"/>
              <a:t>have Python variable </a:t>
            </a:r>
            <a:r>
              <a:rPr lang="en-US" sz="2800" smtClean="0"/>
              <a:t>names which refer to the </a:t>
            </a:r>
            <a:r>
              <a:rPr lang="en-US" sz="2800" dirty="0">
                <a:solidFill>
                  <a:schemeClr val="accent5">
                    <a:lumMod val="75000"/>
                  </a:schemeClr>
                </a:solidFill>
                <a:latin typeface="Consolas" panose="020B0609020204030204" pitchFamily="49" charset="0"/>
              </a:rPr>
              <a:t>Tensor</a:t>
            </a:r>
            <a:r>
              <a:rPr lang="en-US" sz="2800" dirty="0"/>
              <a:t> output of our two operations</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b = </a:t>
            </a:r>
            <a:r>
              <a:rPr lang="en-US" sz="2800" dirty="0" err="1">
                <a:solidFill>
                  <a:schemeClr val="accent5">
                    <a:lumMod val="75000"/>
                  </a:schemeClr>
                </a:solidFill>
                <a:latin typeface="Consolas" panose="020B0609020204030204" pitchFamily="49" charset="0"/>
              </a:rPr>
              <a:t>tf.constant</a:t>
            </a:r>
            <a:r>
              <a:rPr lang="en-US" sz="2800" dirty="0">
                <a:solidFill>
                  <a:schemeClr val="accent5">
                    <a:lumMod val="75000"/>
                  </a:schemeClr>
                </a:solidFill>
                <a:latin typeface="Consolas" panose="020B0609020204030204" pitchFamily="49" charset="0"/>
              </a:rPr>
              <a:t>(2.0, name=“input2”)</a:t>
            </a: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
        <p:nvSpPr>
          <p:cNvPr id="8" name="Oval 7"/>
          <p:cNvSpPr/>
          <p:nvPr/>
        </p:nvSpPr>
        <p:spPr>
          <a:xfrm>
            <a:off x="3198812" y="50292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input2</a:t>
            </a:r>
          </a:p>
          <a:p>
            <a:pPr algn="ctr"/>
            <a:r>
              <a:rPr lang="en-US" sz="1600" dirty="0">
                <a:solidFill>
                  <a:schemeClr val="tx2"/>
                </a:solidFill>
              </a:rPr>
              <a:t>(2.0)</a:t>
            </a:r>
          </a:p>
        </p:txBody>
      </p:sp>
      <p:sp>
        <p:nvSpPr>
          <p:cNvPr id="9" name="Rectangle 8"/>
          <p:cNvSpPr/>
          <p:nvPr/>
        </p:nvSpPr>
        <p:spPr>
          <a:xfrm>
            <a:off x="4192306" y="53398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10" name="Oval 9"/>
          <p:cNvSpPr/>
          <p:nvPr/>
        </p:nvSpPr>
        <p:spPr>
          <a:xfrm>
            <a:off x="3198812" y="33528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input1</a:t>
            </a:r>
          </a:p>
          <a:p>
            <a:pPr algn="ctr"/>
            <a:r>
              <a:rPr lang="en-US" sz="1600" dirty="0">
                <a:solidFill>
                  <a:schemeClr val="tx2"/>
                </a:solidFill>
              </a:rPr>
              <a:t>(3.0)</a:t>
            </a:r>
          </a:p>
        </p:txBody>
      </p:sp>
      <p:sp>
        <p:nvSpPr>
          <p:cNvPr id="12" name="Rectangle 11"/>
          <p:cNvSpPr/>
          <p:nvPr/>
        </p:nvSpPr>
        <p:spPr>
          <a:xfrm>
            <a:off x="4192306" y="365760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a</a:t>
            </a:r>
            <a:endParaRPr lang="en-US" dirty="0"/>
          </a:p>
        </p:txBody>
      </p:sp>
      <p:cxnSp>
        <p:nvCxnSpPr>
          <p:cNvPr id="6" name="Straight Arrow Connector 5"/>
          <p:cNvCxnSpPr>
            <a:cxnSpLocks/>
          </p:cNvCxnSpPr>
          <p:nvPr/>
        </p:nvCxnSpPr>
        <p:spPr>
          <a:xfrm flipH="1" flipV="1">
            <a:off x="4418012" y="3886200"/>
            <a:ext cx="1981200" cy="6858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flipH="1">
            <a:off x="4418012" y="4572000"/>
            <a:ext cx="1981200" cy="9144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7059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9995594" cy="914400"/>
          </a:xfrm>
        </p:spPr>
        <p:txBody>
          <a:bodyPr>
            <a:normAutofit/>
          </a:bodyPr>
          <a:lstStyle/>
          <a:p>
            <a:r>
              <a:rPr lang="en-US" sz="2800" dirty="0"/>
              <a:t>You can pass </a:t>
            </a:r>
            <a:r>
              <a:rPr lang="en-US" sz="2800" dirty="0">
                <a:solidFill>
                  <a:schemeClr val="accent5">
                    <a:lumMod val="75000"/>
                  </a:schemeClr>
                </a:solidFill>
                <a:latin typeface="Consolas" panose="020B0609020204030204" pitchFamily="49" charset="0"/>
              </a:rPr>
              <a:t>Tensor</a:t>
            </a:r>
            <a:r>
              <a:rPr lang="en-US" sz="2800" dirty="0"/>
              <a:t> objects into other </a:t>
            </a:r>
            <a:r>
              <a:rPr lang="en-US" sz="2800" dirty="0" smtClean="0"/>
              <a:t>Ops</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c = </a:t>
            </a:r>
            <a:r>
              <a:rPr lang="en-US" sz="2800" dirty="0" err="1">
                <a:solidFill>
                  <a:schemeClr val="accent5">
                    <a:lumMod val="75000"/>
                  </a:schemeClr>
                </a:solidFill>
                <a:latin typeface="Consolas" panose="020B0609020204030204" pitchFamily="49" charset="0"/>
              </a:rPr>
              <a:t>tf.add</a:t>
            </a:r>
            <a:r>
              <a:rPr lang="en-US" sz="2800" dirty="0">
                <a:solidFill>
                  <a:schemeClr val="accent5">
                    <a:lumMod val="75000"/>
                  </a:schemeClr>
                </a:solidFill>
                <a:latin typeface="Consolas" panose="020B0609020204030204" pitchFamily="49" charset="0"/>
              </a:rPr>
              <a:t>(a, b, name=“</a:t>
            </a:r>
            <a:r>
              <a:rPr lang="en-US" sz="2800" dirty="0" err="1">
                <a:solidFill>
                  <a:schemeClr val="accent5">
                    <a:lumMod val="75000"/>
                  </a:schemeClr>
                </a:solidFill>
                <a:latin typeface="Consolas" panose="020B0609020204030204" pitchFamily="49" charset="0"/>
              </a:rPr>
              <a:t>my_add_op</a:t>
            </a:r>
            <a:r>
              <a:rPr lang="en-US" sz="2800" dirty="0">
                <a:solidFill>
                  <a:schemeClr val="accent5">
                    <a:lumMod val="75000"/>
                  </a:schemeClr>
                </a:solidFill>
                <a:latin typeface="Consolas" panose="020B0609020204030204" pitchFamily="49" charset="0"/>
              </a:rPr>
              <a:t>”)</a:t>
            </a: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
        <p:nvSpPr>
          <p:cNvPr id="8" name="Oval 7"/>
          <p:cNvSpPr/>
          <p:nvPr/>
        </p:nvSpPr>
        <p:spPr>
          <a:xfrm>
            <a:off x="3198812" y="50292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input2</a:t>
            </a:r>
          </a:p>
          <a:p>
            <a:pPr algn="ctr"/>
            <a:r>
              <a:rPr lang="en-US" sz="1600" dirty="0">
                <a:solidFill>
                  <a:schemeClr val="tx2"/>
                </a:solidFill>
              </a:rPr>
              <a:t>(2.0)</a:t>
            </a:r>
          </a:p>
        </p:txBody>
      </p:sp>
      <p:sp>
        <p:nvSpPr>
          <p:cNvPr id="9" name="Rectangle 8"/>
          <p:cNvSpPr/>
          <p:nvPr/>
        </p:nvSpPr>
        <p:spPr>
          <a:xfrm>
            <a:off x="4192306" y="53398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10" name="Oval 9"/>
          <p:cNvSpPr/>
          <p:nvPr/>
        </p:nvSpPr>
        <p:spPr>
          <a:xfrm>
            <a:off x="3198812" y="33528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input1</a:t>
            </a:r>
          </a:p>
          <a:p>
            <a:pPr algn="ctr"/>
            <a:r>
              <a:rPr lang="en-US" sz="1600" dirty="0">
                <a:solidFill>
                  <a:schemeClr val="tx2"/>
                </a:solidFill>
              </a:rPr>
              <a:t>(3.0)</a:t>
            </a:r>
          </a:p>
        </p:txBody>
      </p:sp>
      <p:sp>
        <p:nvSpPr>
          <p:cNvPr id="12" name="Rectangle 11"/>
          <p:cNvSpPr/>
          <p:nvPr/>
        </p:nvSpPr>
        <p:spPr>
          <a:xfrm>
            <a:off x="4192306" y="365760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13" name="Oval 12"/>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600" dirty="0">
                <a:solidFill>
                  <a:schemeClr val="tx2"/>
                </a:solidFill>
              </a:rPr>
              <a:t>m</a:t>
            </a:r>
            <a:r>
              <a:rPr lang="en-US" sz="1600" dirty="0" smtClean="0">
                <a:solidFill>
                  <a:schemeClr val="tx2"/>
                </a:solidFill>
              </a:rPr>
              <a:t>y</a:t>
            </a:r>
          </a:p>
          <a:p>
            <a:pPr algn="ctr"/>
            <a:r>
              <a:rPr lang="en-US" sz="1600" dirty="0">
                <a:solidFill>
                  <a:schemeClr val="tx2"/>
                </a:solidFill>
              </a:rPr>
              <a:t>a</a:t>
            </a:r>
            <a:r>
              <a:rPr lang="en-US" sz="1600" dirty="0" smtClean="0">
                <a:solidFill>
                  <a:schemeClr val="tx2"/>
                </a:solidFill>
              </a:rPr>
              <a:t>dd</a:t>
            </a:r>
          </a:p>
          <a:p>
            <a:pPr algn="ctr"/>
            <a:r>
              <a:rPr lang="en-US" sz="1600" dirty="0" smtClean="0">
                <a:solidFill>
                  <a:schemeClr val="tx2"/>
                </a:solidFill>
              </a:rPr>
              <a:t>op</a:t>
            </a:r>
            <a:endParaRPr lang="en-US" sz="1600" dirty="0">
              <a:solidFill>
                <a:schemeClr val="tx2"/>
              </a:solidFill>
            </a:endParaRPr>
          </a:p>
        </p:txBody>
      </p:sp>
      <p:sp>
        <p:nvSpPr>
          <p:cNvPr id="14" name="Rectangle 13"/>
          <p:cNvSpPr/>
          <p:nvPr/>
        </p:nvSpPr>
        <p:spPr>
          <a:xfrm>
            <a:off x="6395960" y="45016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7" name="Straight Arrow Connector 6"/>
          <p:cNvCxnSpPr>
            <a:cxnSpLocks/>
          </p:cNvCxnSpPr>
          <p:nvPr/>
        </p:nvCxnSpPr>
        <p:spPr>
          <a:xfrm>
            <a:off x="4503610" y="3962400"/>
            <a:ext cx="905002" cy="5392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8766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9995594" cy="914400"/>
          </a:xfrm>
        </p:spPr>
        <p:txBody>
          <a:bodyPr>
            <a:normAutofit/>
          </a:bodyPr>
          <a:lstStyle/>
          <a:p>
            <a:r>
              <a:rPr lang="en-US" sz="2800" dirty="0" err="1"/>
              <a:t>TensorFlow</a:t>
            </a:r>
            <a:r>
              <a:rPr lang="en-US" sz="2800" dirty="0"/>
              <a:t> </a:t>
            </a:r>
            <a:r>
              <a:rPr lang="en-US" sz="2800" dirty="0" smtClean="0"/>
              <a:t>connects the referred Operations</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c = </a:t>
            </a:r>
            <a:r>
              <a:rPr lang="en-US" sz="2800" dirty="0" err="1">
                <a:solidFill>
                  <a:schemeClr val="accent5">
                    <a:lumMod val="75000"/>
                  </a:schemeClr>
                </a:solidFill>
                <a:latin typeface="Consolas" panose="020B0609020204030204" pitchFamily="49" charset="0"/>
              </a:rPr>
              <a:t>tf.add</a:t>
            </a:r>
            <a:r>
              <a:rPr lang="en-US" sz="2800" dirty="0">
                <a:solidFill>
                  <a:schemeClr val="accent5">
                    <a:lumMod val="75000"/>
                  </a:schemeClr>
                </a:solidFill>
                <a:latin typeface="Consolas" panose="020B0609020204030204" pitchFamily="49" charset="0"/>
              </a:rPr>
              <a:t>(a, b, name=“</a:t>
            </a:r>
            <a:r>
              <a:rPr lang="en-US" sz="2800" dirty="0" err="1">
                <a:solidFill>
                  <a:schemeClr val="accent5">
                    <a:lumMod val="75000"/>
                  </a:schemeClr>
                </a:solidFill>
                <a:latin typeface="Consolas" panose="020B0609020204030204" pitchFamily="49" charset="0"/>
              </a:rPr>
              <a:t>my_add_op</a:t>
            </a:r>
            <a:r>
              <a:rPr lang="en-US" sz="2800" dirty="0">
                <a:solidFill>
                  <a:schemeClr val="accent5">
                    <a:lumMod val="75000"/>
                  </a:schemeClr>
                </a:solidFill>
                <a:latin typeface="Consolas" panose="020B0609020204030204" pitchFamily="49" charset="0"/>
              </a:rPr>
              <a:t>”)</a:t>
            </a: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
        <p:nvSpPr>
          <p:cNvPr id="8" name="Oval 7"/>
          <p:cNvSpPr/>
          <p:nvPr/>
        </p:nvSpPr>
        <p:spPr>
          <a:xfrm>
            <a:off x="3198812" y="50292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input2</a:t>
            </a:r>
          </a:p>
          <a:p>
            <a:pPr algn="ctr"/>
            <a:r>
              <a:rPr lang="en-US" sz="1600" dirty="0">
                <a:solidFill>
                  <a:schemeClr val="tx2"/>
                </a:solidFill>
              </a:rPr>
              <a:t>(2.0)</a:t>
            </a:r>
          </a:p>
        </p:txBody>
      </p:sp>
      <p:sp>
        <p:nvSpPr>
          <p:cNvPr id="9" name="Rectangle 8"/>
          <p:cNvSpPr/>
          <p:nvPr/>
        </p:nvSpPr>
        <p:spPr>
          <a:xfrm>
            <a:off x="4192306" y="53398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10" name="Oval 9"/>
          <p:cNvSpPr/>
          <p:nvPr/>
        </p:nvSpPr>
        <p:spPr>
          <a:xfrm>
            <a:off x="3198812" y="33528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input1</a:t>
            </a:r>
          </a:p>
          <a:p>
            <a:pPr algn="ctr"/>
            <a:r>
              <a:rPr lang="en-US" sz="1600" dirty="0">
                <a:solidFill>
                  <a:schemeClr val="tx2"/>
                </a:solidFill>
              </a:rPr>
              <a:t>(3.0)</a:t>
            </a:r>
          </a:p>
        </p:txBody>
      </p:sp>
      <p:sp>
        <p:nvSpPr>
          <p:cNvPr id="12" name="Rectangle 11"/>
          <p:cNvSpPr/>
          <p:nvPr/>
        </p:nvSpPr>
        <p:spPr>
          <a:xfrm>
            <a:off x="4192306" y="365760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14" name="Rectangle 13"/>
          <p:cNvSpPr/>
          <p:nvPr/>
        </p:nvSpPr>
        <p:spPr>
          <a:xfrm>
            <a:off x="6395960" y="45016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7" name="Straight Arrow Connector 6"/>
          <p:cNvCxnSpPr>
            <a:cxnSpLocks/>
          </p:cNvCxnSpPr>
          <p:nvPr/>
        </p:nvCxnSpPr>
        <p:spPr>
          <a:xfrm>
            <a:off x="4503610" y="3962400"/>
            <a:ext cx="905002" cy="5392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p:cNvCxnSpPr>
          <p:nvPr/>
        </p:nvCxnSpPr>
        <p:spPr>
          <a:xfrm flipH="1">
            <a:off x="4956112" y="3539947"/>
            <a:ext cx="452500" cy="57485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cxnSpLocks/>
          </p:cNvCxnSpPr>
          <p:nvPr/>
        </p:nvCxnSpPr>
        <p:spPr>
          <a:xfrm flipH="1" flipV="1">
            <a:off x="4911686" y="5410200"/>
            <a:ext cx="344526" cy="5392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5405360"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600" dirty="0">
                <a:solidFill>
                  <a:schemeClr val="tx2"/>
                </a:solidFill>
              </a:rPr>
              <a:t>m</a:t>
            </a:r>
            <a:r>
              <a:rPr lang="en-US" sz="1600" dirty="0" smtClean="0">
                <a:solidFill>
                  <a:schemeClr val="tx2"/>
                </a:solidFill>
              </a:rPr>
              <a:t>y</a:t>
            </a:r>
          </a:p>
          <a:p>
            <a:pPr algn="ctr"/>
            <a:r>
              <a:rPr lang="en-US" sz="1600" dirty="0">
                <a:solidFill>
                  <a:schemeClr val="tx2"/>
                </a:solidFill>
              </a:rPr>
              <a:t>a</a:t>
            </a:r>
            <a:r>
              <a:rPr lang="en-US" sz="1600" dirty="0" smtClean="0">
                <a:solidFill>
                  <a:schemeClr val="tx2"/>
                </a:solidFill>
              </a:rPr>
              <a:t>dd</a:t>
            </a:r>
          </a:p>
          <a:p>
            <a:pPr algn="ctr"/>
            <a:r>
              <a:rPr lang="en-US" sz="1600" dirty="0" smtClean="0">
                <a:solidFill>
                  <a:schemeClr val="tx2"/>
                </a:solidFill>
              </a:rPr>
              <a:t>op</a:t>
            </a:r>
            <a:endParaRPr lang="en-US" sz="1600" dirty="0">
              <a:solidFill>
                <a:schemeClr val="tx2"/>
              </a:solidFill>
            </a:endParaRPr>
          </a:p>
        </p:txBody>
      </p:sp>
    </p:spTree>
    <p:extLst>
      <p:ext uri="{BB962C8B-B14F-4D97-AF65-F5344CB8AC3E}">
        <p14:creationId xmlns:p14="http://schemas.microsoft.com/office/powerpoint/2010/main" val="139714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9995594" cy="914400"/>
          </a:xfrm>
        </p:spPr>
        <p:txBody>
          <a:bodyPr>
            <a:normAutofit/>
          </a:bodyPr>
          <a:lstStyle/>
          <a:p>
            <a:r>
              <a:rPr lang="en-US" sz="2800" dirty="0"/>
              <a:t>You can reuse the outputs of different Ops as much as you’d like</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c = </a:t>
            </a:r>
            <a:r>
              <a:rPr lang="en-US" sz="2800" dirty="0" err="1">
                <a:solidFill>
                  <a:schemeClr val="accent5">
                    <a:lumMod val="75000"/>
                  </a:schemeClr>
                </a:solidFill>
                <a:latin typeface="Consolas" panose="020B0609020204030204" pitchFamily="49" charset="0"/>
              </a:rPr>
              <a:t>tf.mul</a:t>
            </a:r>
            <a:r>
              <a:rPr lang="en-US" sz="2800" dirty="0">
                <a:solidFill>
                  <a:schemeClr val="accent5">
                    <a:lumMod val="75000"/>
                  </a:schemeClr>
                </a:solidFill>
                <a:latin typeface="Consolas" panose="020B0609020204030204" pitchFamily="49" charset="0"/>
              </a:rPr>
              <a:t>(a, c, name=“</a:t>
            </a:r>
            <a:r>
              <a:rPr lang="en-US" sz="2800" dirty="0" err="1">
                <a:solidFill>
                  <a:schemeClr val="accent5">
                    <a:lumMod val="75000"/>
                  </a:schemeClr>
                </a:solidFill>
                <a:latin typeface="Consolas" panose="020B0609020204030204" pitchFamily="49" charset="0"/>
              </a:rPr>
              <a:t>my_mul_op</a:t>
            </a:r>
            <a:r>
              <a:rPr lang="en-US" sz="2800" dirty="0">
                <a:solidFill>
                  <a:schemeClr val="accent5">
                    <a:lumMod val="75000"/>
                  </a:schemeClr>
                </a:solidFill>
                <a:latin typeface="Consolas" panose="020B0609020204030204" pitchFamily="49" charset="0"/>
              </a:rPr>
              <a:t>”)</a:t>
            </a: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
        <p:nvSpPr>
          <p:cNvPr id="8" name="Oval 7"/>
          <p:cNvSpPr/>
          <p:nvPr/>
        </p:nvSpPr>
        <p:spPr>
          <a:xfrm>
            <a:off x="3198812" y="50292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input2</a:t>
            </a:r>
          </a:p>
          <a:p>
            <a:pPr algn="ctr"/>
            <a:r>
              <a:rPr lang="en-US" sz="1600" dirty="0">
                <a:solidFill>
                  <a:schemeClr val="tx2"/>
                </a:solidFill>
              </a:rPr>
              <a:t>(2.0)</a:t>
            </a:r>
          </a:p>
        </p:txBody>
      </p:sp>
      <p:sp>
        <p:nvSpPr>
          <p:cNvPr id="9" name="Rectangle 8"/>
          <p:cNvSpPr/>
          <p:nvPr/>
        </p:nvSpPr>
        <p:spPr>
          <a:xfrm>
            <a:off x="4192306" y="53398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10" name="Oval 9"/>
          <p:cNvSpPr/>
          <p:nvPr/>
        </p:nvSpPr>
        <p:spPr>
          <a:xfrm>
            <a:off x="3198812" y="33528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input1</a:t>
            </a:r>
          </a:p>
          <a:p>
            <a:pPr algn="ctr"/>
            <a:r>
              <a:rPr lang="en-US" sz="1600" dirty="0">
                <a:solidFill>
                  <a:schemeClr val="tx2"/>
                </a:solidFill>
              </a:rPr>
              <a:t>(3.0)</a:t>
            </a:r>
          </a:p>
        </p:txBody>
      </p:sp>
      <p:sp>
        <p:nvSpPr>
          <p:cNvPr id="12" name="Rectangle 11"/>
          <p:cNvSpPr/>
          <p:nvPr/>
        </p:nvSpPr>
        <p:spPr>
          <a:xfrm>
            <a:off x="4192306" y="365760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14" name="Rectangle 13"/>
          <p:cNvSpPr/>
          <p:nvPr/>
        </p:nvSpPr>
        <p:spPr>
          <a:xfrm>
            <a:off x="6395960" y="45016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7" name="Straight Arrow Connector 6"/>
          <p:cNvCxnSpPr>
            <a:cxnSpLocks/>
          </p:cNvCxnSpPr>
          <p:nvPr/>
        </p:nvCxnSpPr>
        <p:spPr>
          <a:xfrm>
            <a:off x="4503610" y="3962400"/>
            <a:ext cx="905002" cy="5392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600" dirty="0">
                <a:solidFill>
                  <a:schemeClr val="tx2"/>
                </a:solidFill>
              </a:rPr>
              <a:t>m</a:t>
            </a:r>
            <a:r>
              <a:rPr lang="en-US" sz="1600" dirty="0" smtClean="0">
                <a:solidFill>
                  <a:schemeClr val="tx2"/>
                </a:solidFill>
              </a:rPr>
              <a:t>y</a:t>
            </a:r>
          </a:p>
          <a:p>
            <a:pPr algn="ctr"/>
            <a:r>
              <a:rPr lang="en-US" sz="1600" dirty="0" err="1">
                <a:solidFill>
                  <a:schemeClr val="tx2"/>
                </a:solidFill>
              </a:rPr>
              <a:t>m</a:t>
            </a:r>
            <a:r>
              <a:rPr lang="en-US" sz="1600" dirty="0" err="1" smtClean="0">
                <a:solidFill>
                  <a:schemeClr val="tx2"/>
                </a:solidFill>
              </a:rPr>
              <a:t>ul</a:t>
            </a:r>
            <a:endParaRPr lang="en-US" sz="1600" dirty="0" smtClean="0">
              <a:solidFill>
                <a:schemeClr val="tx2"/>
              </a:solidFill>
            </a:endParaRPr>
          </a:p>
          <a:p>
            <a:pPr algn="ctr"/>
            <a:r>
              <a:rPr lang="en-US" sz="1600" dirty="0" smtClean="0">
                <a:solidFill>
                  <a:schemeClr val="tx2"/>
                </a:solidFill>
              </a:rPr>
              <a:t>op</a:t>
            </a:r>
            <a:endParaRPr lang="en-US" sz="1600" dirty="0">
              <a:solidFill>
                <a:schemeClr val="tx2"/>
              </a:solidFill>
            </a:endParaRPr>
          </a:p>
        </p:txBody>
      </p:sp>
      <p:sp>
        <p:nvSpPr>
          <p:cNvPr id="17" name="Rectangle 16"/>
          <p:cNvSpPr/>
          <p:nvPr/>
        </p:nvSpPr>
        <p:spPr>
          <a:xfrm>
            <a:off x="8456612" y="45016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20" name="Straight Arrow Connector 19"/>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p:cNvCxnSpPr>
            <a:cxnSpLocks/>
            <a:stCxn id="12" idx="3"/>
          </p:cNvCxnSpPr>
          <p:nvPr/>
        </p:nvCxnSpPr>
        <p:spPr>
          <a:xfrm>
            <a:off x="4503610" y="3842266"/>
            <a:ext cx="2886202" cy="635160"/>
          </a:xfrm>
          <a:prstGeom prst="bentConnector3">
            <a:avLst>
              <a:gd name="adj1" fmla="val 7671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5405360" y="42109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600" dirty="0">
                <a:solidFill>
                  <a:schemeClr val="tx2"/>
                </a:solidFill>
              </a:rPr>
              <a:t>m</a:t>
            </a:r>
            <a:r>
              <a:rPr lang="en-US" sz="1600" dirty="0" smtClean="0">
                <a:solidFill>
                  <a:schemeClr val="tx2"/>
                </a:solidFill>
              </a:rPr>
              <a:t>y</a:t>
            </a:r>
          </a:p>
          <a:p>
            <a:pPr algn="ctr"/>
            <a:r>
              <a:rPr lang="en-US" sz="1600" dirty="0">
                <a:solidFill>
                  <a:schemeClr val="tx2"/>
                </a:solidFill>
              </a:rPr>
              <a:t>a</a:t>
            </a:r>
            <a:r>
              <a:rPr lang="en-US" sz="1600" dirty="0" smtClean="0">
                <a:solidFill>
                  <a:schemeClr val="tx2"/>
                </a:solidFill>
              </a:rPr>
              <a:t>dd</a:t>
            </a:r>
          </a:p>
          <a:p>
            <a:pPr algn="ctr"/>
            <a:r>
              <a:rPr lang="en-US" sz="1600" dirty="0" smtClean="0">
                <a:solidFill>
                  <a:schemeClr val="tx2"/>
                </a:solidFill>
              </a:rPr>
              <a:t>op</a:t>
            </a:r>
            <a:endParaRPr lang="en-US" sz="1600" dirty="0">
              <a:solidFill>
                <a:schemeClr val="tx2"/>
              </a:solidFill>
            </a:endParaRPr>
          </a:p>
        </p:txBody>
      </p:sp>
    </p:spTree>
    <p:extLst>
      <p:ext uri="{BB962C8B-B14F-4D97-AF65-F5344CB8AC3E}">
        <p14:creationId xmlns:p14="http://schemas.microsoft.com/office/powerpoint/2010/main" val="2543346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2" y="750332"/>
            <a:ext cx="9982200" cy="697468"/>
          </a:xfrm>
        </p:spPr>
        <p:txBody>
          <a:bodyPr>
            <a:normAutofit/>
          </a:bodyPr>
          <a:lstStyle/>
          <a:p>
            <a:r>
              <a:rPr lang="en-US" sz="2800" dirty="0" smtClean="0"/>
              <a:t>Recall:  our inputs </a:t>
            </a:r>
            <a:r>
              <a:rPr lang="en-US" sz="2800" dirty="0"/>
              <a:t>are </a:t>
            </a:r>
            <a:r>
              <a:rPr lang="en-US" sz="2800" dirty="0" smtClean="0"/>
              <a:t>fixed values (constant Ops)</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a:t>
            </a: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
        <p:nvSpPr>
          <p:cNvPr id="8" name="Oval 7"/>
          <p:cNvSpPr/>
          <p:nvPr/>
        </p:nvSpPr>
        <p:spPr>
          <a:xfrm>
            <a:off x="3198812" y="50292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input2</a:t>
            </a:r>
          </a:p>
          <a:p>
            <a:pPr algn="ctr"/>
            <a:r>
              <a:rPr lang="en-US" sz="1600" dirty="0">
                <a:solidFill>
                  <a:schemeClr val="tx2"/>
                </a:solidFill>
              </a:rPr>
              <a:t>(2.0)</a:t>
            </a:r>
          </a:p>
        </p:txBody>
      </p:sp>
      <p:sp>
        <p:nvSpPr>
          <p:cNvPr id="9" name="Rectangle 8"/>
          <p:cNvSpPr/>
          <p:nvPr/>
        </p:nvSpPr>
        <p:spPr>
          <a:xfrm>
            <a:off x="4192306" y="53398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10" name="Oval 9"/>
          <p:cNvSpPr/>
          <p:nvPr/>
        </p:nvSpPr>
        <p:spPr>
          <a:xfrm>
            <a:off x="3198812" y="3352800"/>
            <a:ext cx="990600" cy="9906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none" rtlCol="0" anchor="ctr">
            <a:noAutofit/>
          </a:bodyPr>
          <a:lstStyle/>
          <a:p>
            <a:pPr algn="ctr"/>
            <a:r>
              <a:rPr lang="en-US" sz="1600" dirty="0">
                <a:solidFill>
                  <a:schemeClr val="tx2"/>
                </a:solidFill>
              </a:rPr>
              <a:t>input1</a:t>
            </a:r>
          </a:p>
          <a:p>
            <a:pPr algn="ctr"/>
            <a:r>
              <a:rPr lang="en-US" sz="1600" dirty="0">
                <a:solidFill>
                  <a:schemeClr val="tx2"/>
                </a:solidFill>
              </a:rPr>
              <a:t>(3.0)</a:t>
            </a:r>
          </a:p>
        </p:txBody>
      </p:sp>
      <p:sp>
        <p:nvSpPr>
          <p:cNvPr id="12" name="Rectangle 11"/>
          <p:cNvSpPr/>
          <p:nvPr/>
        </p:nvSpPr>
        <p:spPr>
          <a:xfrm>
            <a:off x="4192306" y="365760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14" name="Rectangle 13"/>
          <p:cNvSpPr/>
          <p:nvPr/>
        </p:nvSpPr>
        <p:spPr>
          <a:xfrm>
            <a:off x="6395960" y="45016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7" name="Straight Arrow Connector 6"/>
          <p:cNvCxnSpPr>
            <a:cxnSpLocks/>
          </p:cNvCxnSpPr>
          <p:nvPr/>
        </p:nvCxnSpPr>
        <p:spPr>
          <a:xfrm>
            <a:off x="4503610" y="3962400"/>
            <a:ext cx="905002" cy="5392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8456612" y="45016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20" name="Straight Arrow Connector 19"/>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p:cNvCxnSpPr>
            <a:cxnSpLocks/>
            <a:stCxn id="12" idx="3"/>
          </p:cNvCxnSpPr>
          <p:nvPr/>
        </p:nvCxnSpPr>
        <p:spPr>
          <a:xfrm>
            <a:off x="4503610" y="3842266"/>
            <a:ext cx="2886202" cy="635160"/>
          </a:xfrm>
          <a:prstGeom prst="bentConnector3">
            <a:avLst>
              <a:gd name="adj1" fmla="val 7671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p:cNvCxnSpPr>
          <p:nvPr/>
        </p:nvCxnSpPr>
        <p:spPr>
          <a:xfrm flipH="1">
            <a:off x="4183342" y="3018523"/>
            <a:ext cx="615670" cy="44522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cxnSpLocks/>
          </p:cNvCxnSpPr>
          <p:nvPr/>
        </p:nvCxnSpPr>
        <p:spPr>
          <a:xfrm flipH="1" flipV="1">
            <a:off x="4113212" y="6033247"/>
            <a:ext cx="533400" cy="42346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600" dirty="0">
                <a:solidFill>
                  <a:schemeClr val="tx2"/>
                </a:solidFill>
              </a:rPr>
              <a:t>m</a:t>
            </a:r>
            <a:r>
              <a:rPr lang="en-US" sz="1600" dirty="0" smtClean="0">
                <a:solidFill>
                  <a:schemeClr val="tx2"/>
                </a:solidFill>
              </a:rPr>
              <a:t>y</a:t>
            </a:r>
          </a:p>
          <a:p>
            <a:pPr algn="ctr"/>
            <a:r>
              <a:rPr lang="en-US" sz="1600" dirty="0">
                <a:solidFill>
                  <a:schemeClr val="tx2"/>
                </a:solidFill>
              </a:rPr>
              <a:t>a</a:t>
            </a:r>
            <a:r>
              <a:rPr lang="en-US" sz="1600" dirty="0" smtClean="0">
                <a:solidFill>
                  <a:schemeClr val="tx2"/>
                </a:solidFill>
              </a:rPr>
              <a:t>dd</a:t>
            </a:r>
          </a:p>
          <a:p>
            <a:pPr algn="ctr"/>
            <a:r>
              <a:rPr lang="en-US" sz="1600" dirty="0" smtClean="0">
                <a:solidFill>
                  <a:schemeClr val="tx2"/>
                </a:solidFill>
              </a:rPr>
              <a:t>op</a:t>
            </a:r>
            <a:endParaRPr lang="en-US" sz="1600" dirty="0">
              <a:solidFill>
                <a:schemeClr val="tx2"/>
              </a:solidFill>
            </a:endParaRPr>
          </a:p>
        </p:txBody>
      </p:sp>
      <p:sp>
        <p:nvSpPr>
          <p:cNvPr id="23" name="Oval 22"/>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600" dirty="0">
                <a:solidFill>
                  <a:schemeClr val="tx2"/>
                </a:solidFill>
              </a:rPr>
              <a:t>m</a:t>
            </a:r>
            <a:r>
              <a:rPr lang="en-US" sz="1600" dirty="0" smtClean="0">
                <a:solidFill>
                  <a:schemeClr val="tx2"/>
                </a:solidFill>
              </a:rPr>
              <a:t>y</a:t>
            </a:r>
          </a:p>
          <a:p>
            <a:pPr algn="ctr"/>
            <a:r>
              <a:rPr lang="en-US" sz="1600" dirty="0" err="1">
                <a:solidFill>
                  <a:schemeClr val="tx2"/>
                </a:solidFill>
              </a:rPr>
              <a:t>m</a:t>
            </a:r>
            <a:r>
              <a:rPr lang="en-US" sz="1600" dirty="0" err="1" smtClean="0">
                <a:solidFill>
                  <a:schemeClr val="tx2"/>
                </a:solidFill>
              </a:rPr>
              <a:t>ul</a:t>
            </a:r>
            <a:endParaRPr lang="en-US" sz="1600" dirty="0" smtClean="0">
              <a:solidFill>
                <a:schemeClr val="tx2"/>
              </a:solidFill>
            </a:endParaRPr>
          </a:p>
          <a:p>
            <a:pPr algn="ctr"/>
            <a:r>
              <a:rPr lang="en-US" sz="1600" dirty="0" smtClean="0">
                <a:solidFill>
                  <a:schemeClr val="tx2"/>
                </a:solidFill>
              </a:rPr>
              <a:t>op</a:t>
            </a:r>
            <a:endParaRPr lang="en-US" sz="1600" dirty="0">
              <a:solidFill>
                <a:schemeClr val="tx2"/>
              </a:solidFill>
            </a:endParaRPr>
          </a:p>
        </p:txBody>
      </p:sp>
    </p:spTree>
    <p:extLst>
      <p:ext uri="{BB962C8B-B14F-4D97-AF65-F5344CB8AC3E}">
        <p14:creationId xmlns:p14="http://schemas.microsoft.com/office/powerpoint/2010/main" val="1722782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452794" cy="914400"/>
          </a:xfrm>
        </p:spPr>
        <p:txBody>
          <a:bodyPr>
            <a:normAutofit/>
          </a:bodyPr>
          <a:lstStyle/>
          <a:p>
            <a:r>
              <a:rPr lang="en-US" sz="2400" dirty="0"/>
              <a:t>We could have used </a:t>
            </a:r>
            <a:r>
              <a:rPr lang="en-US" sz="2400" dirty="0" err="1">
                <a:solidFill>
                  <a:schemeClr val="accent5">
                    <a:lumMod val="75000"/>
                  </a:schemeClr>
                </a:solidFill>
                <a:latin typeface="Consolas" panose="020B0609020204030204" pitchFamily="49" charset="0"/>
              </a:rPr>
              <a:t>tf.placeholder</a:t>
            </a:r>
            <a:r>
              <a:rPr lang="en-US" sz="2400" dirty="0">
                <a:solidFill>
                  <a:schemeClr val="accent5">
                    <a:lumMod val="75000"/>
                  </a:schemeClr>
                </a:solidFill>
                <a:latin typeface="Consolas" panose="020B0609020204030204" pitchFamily="49" charset="0"/>
              </a:rPr>
              <a:t>()</a:t>
            </a:r>
            <a:r>
              <a:rPr lang="en-US" sz="2400" dirty="0"/>
              <a:t> to define explicit </a:t>
            </a:r>
            <a:r>
              <a:rPr lang="en-US" sz="2400" dirty="0" smtClean="0"/>
              <a:t>input that vary run-to-run</a:t>
            </a:r>
            <a:endParaRPr lang="en-US" sz="24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 = </a:t>
            </a:r>
            <a:r>
              <a:rPr lang="en-US" sz="2800" dirty="0" err="1">
                <a:solidFill>
                  <a:schemeClr val="accent5">
                    <a:lumMod val="75000"/>
                  </a:schemeClr>
                </a:solidFill>
                <a:latin typeface="Consolas" panose="020B0609020204030204" pitchFamily="49" charset="0"/>
              </a:rPr>
              <a:t>tf.placeholder</a:t>
            </a:r>
            <a:r>
              <a:rPr lang="en-US" sz="2800" dirty="0">
                <a:solidFill>
                  <a:schemeClr val="accent5">
                    <a:lumMod val="75000"/>
                  </a:schemeClr>
                </a:solidFill>
                <a:latin typeface="Consolas" panose="020B0609020204030204" pitchFamily="49" charset="0"/>
              </a:rPr>
              <a:t>(tf.float32, name=“input1”)</a:t>
            </a: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
        <p:nvSpPr>
          <p:cNvPr id="8" name="Oval 7"/>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9" name="Rectangle 8"/>
          <p:cNvSpPr/>
          <p:nvPr/>
        </p:nvSpPr>
        <p:spPr>
          <a:xfrm>
            <a:off x="4192306" y="53398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10" name="Oval 9"/>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12" name="Rectangle 11"/>
          <p:cNvSpPr/>
          <p:nvPr/>
        </p:nvSpPr>
        <p:spPr>
          <a:xfrm>
            <a:off x="4192306" y="365760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14" name="Rectangle 13"/>
          <p:cNvSpPr/>
          <p:nvPr/>
        </p:nvSpPr>
        <p:spPr>
          <a:xfrm>
            <a:off x="6395960" y="45016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7" name="Straight Arrow Connector 6"/>
          <p:cNvCxnSpPr>
            <a:cxnSpLocks/>
          </p:cNvCxnSpPr>
          <p:nvPr/>
        </p:nvCxnSpPr>
        <p:spPr>
          <a:xfrm>
            <a:off x="4503610" y="3962400"/>
            <a:ext cx="905002" cy="5392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8456612" y="45016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20" name="Straight Arrow Connector 19"/>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p:cNvCxnSpPr>
            <a:cxnSpLocks/>
            <a:stCxn id="12" idx="3"/>
          </p:cNvCxnSpPr>
          <p:nvPr/>
        </p:nvCxnSpPr>
        <p:spPr>
          <a:xfrm>
            <a:off x="4503610" y="3842266"/>
            <a:ext cx="2886202" cy="635160"/>
          </a:xfrm>
          <a:prstGeom prst="bentConnector3">
            <a:avLst>
              <a:gd name="adj1" fmla="val 7671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600" dirty="0">
                <a:solidFill>
                  <a:schemeClr val="tx2"/>
                </a:solidFill>
              </a:rPr>
              <a:t>m</a:t>
            </a:r>
            <a:r>
              <a:rPr lang="en-US" sz="1600" dirty="0" smtClean="0">
                <a:solidFill>
                  <a:schemeClr val="tx2"/>
                </a:solidFill>
              </a:rPr>
              <a:t>y</a:t>
            </a:r>
          </a:p>
          <a:p>
            <a:pPr algn="ctr"/>
            <a:r>
              <a:rPr lang="en-US" sz="1600" dirty="0">
                <a:solidFill>
                  <a:schemeClr val="tx2"/>
                </a:solidFill>
              </a:rPr>
              <a:t>a</a:t>
            </a:r>
            <a:r>
              <a:rPr lang="en-US" sz="1600" dirty="0" smtClean="0">
                <a:solidFill>
                  <a:schemeClr val="tx2"/>
                </a:solidFill>
              </a:rPr>
              <a:t>dd</a:t>
            </a:r>
          </a:p>
          <a:p>
            <a:pPr algn="ctr"/>
            <a:r>
              <a:rPr lang="en-US" sz="1600" dirty="0" smtClean="0">
                <a:solidFill>
                  <a:schemeClr val="tx2"/>
                </a:solidFill>
              </a:rPr>
              <a:t>op</a:t>
            </a:r>
            <a:endParaRPr lang="en-US" sz="1600" dirty="0">
              <a:solidFill>
                <a:schemeClr val="tx2"/>
              </a:solidFill>
            </a:endParaRPr>
          </a:p>
        </p:txBody>
      </p:sp>
      <p:sp>
        <p:nvSpPr>
          <p:cNvPr id="19" name="Oval 1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600" dirty="0">
                <a:solidFill>
                  <a:schemeClr val="tx2"/>
                </a:solidFill>
              </a:rPr>
              <a:t>m</a:t>
            </a:r>
            <a:r>
              <a:rPr lang="en-US" sz="1600" dirty="0" smtClean="0">
                <a:solidFill>
                  <a:schemeClr val="tx2"/>
                </a:solidFill>
              </a:rPr>
              <a:t>y</a:t>
            </a:r>
          </a:p>
          <a:p>
            <a:pPr algn="ctr"/>
            <a:r>
              <a:rPr lang="en-US" sz="1600" dirty="0" err="1">
                <a:solidFill>
                  <a:schemeClr val="tx2"/>
                </a:solidFill>
              </a:rPr>
              <a:t>m</a:t>
            </a:r>
            <a:r>
              <a:rPr lang="en-US" sz="1600" dirty="0" err="1" smtClean="0">
                <a:solidFill>
                  <a:schemeClr val="tx2"/>
                </a:solidFill>
              </a:rPr>
              <a:t>ul</a:t>
            </a:r>
            <a:endParaRPr lang="en-US" sz="1600" dirty="0" smtClean="0">
              <a:solidFill>
                <a:schemeClr val="tx2"/>
              </a:solidFill>
            </a:endParaRPr>
          </a:p>
          <a:p>
            <a:pPr algn="ctr"/>
            <a:r>
              <a:rPr lang="en-US" sz="1600" dirty="0" smtClean="0">
                <a:solidFill>
                  <a:schemeClr val="tx2"/>
                </a:solidFill>
              </a:rPr>
              <a:t>op</a:t>
            </a:r>
            <a:endParaRPr lang="en-US" sz="1600" dirty="0">
              <a:solidFill>
                <a:schemeClr val="tx2"/>
              </a:solidFill>
            </a:endParaRPr>
          </a:p>
        </p:txBody>
      </p:sp>
    </p:spTree>
    <p:extLst>
      <p:ext uri="{BB962C8B-B14F-4D97-AF65-F5344CB8AC3E}">
        <p14:creationId xmlns:p14="http://schemas.microsoft.com/office/powerpoint/2010/main" val="1553463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300394" cy="914400"/>
          </a:xfrm>
        </p:spPr>
        <p:txBody>
          <a:bodyPr>
            <a:normAutofit/>
          </a:bodyPr>
          <a:lstStyle/>
          <a:p>
            <a:r>
              <a:rPr lang="en-US" sz="2400" dirty="0"/>
              <a:t>Side note: we’re passing in the data type </a:t>
            </a:r>
            <a:r>
              <a:rPr lang="en-US" sz="2400" dirty="0">
                <a:solidFill>
                  <a:schemeClr val="accent5">
                    <a:lumMod val="75000"/>
                  </a:schemeClr>
                </a:solidFill>
                <a:latin typeface="Consolas" panose="020B0609020204030204" pitchFamily="49" charset="0"/>
              </a:rPr>
              <a:t>tf.float32</a:t>
            </a:r>
            <a:r>
              <a:rPr lang="en-US" sz="2400" dirty="0"/>
              <a:t> to </a:t>
            </a:r>
            <a:r>
              <a:rPr lang="en-US" sz="2400" dirty="0" err="1" smtClean="0">
                <a:solidFill>
                  <a:schemeClr val="accent5">
                    <a:lumMod val="75000"/>
                  </a:schemeClr>
                </a:solidFill>
                <a:latin typeface="Consolas" panose="020B0609020204030204" pitchFamily="49" charset="0"/>
              </a:rPr>
              <a:t>tf.placeholder</a:t>
            </a:r>
            <a:endParaRPr lang="en-US" sz="24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 = </a:t>
            </a:r>
            <a:r>
              <a:rPr lang="en-US" sz="2800" dirty="0" err="1">
                <a:solidFill>
                  <a:schemeClr val="accent5">
                    <a:lumMod val="75000"/>
                  </a:schemeClr>
                </a:solidFill>
                <a:latin typeface="Consolas" panose="020B0609020204030204" pitchFamily="49" charset="0"/>
              </a:rPr>
              <a:t>tf.placeholder</a:t>
            </a:r>
            <a:r>
              <a:rPr lang="en-US" sz="2800" dirty="0">
                <a:solidFill>
                  <a:schemeClr val="accent5">
                    <a:lumMod val="75000"/>
                  </a:schemeClr>
                </a:solidFill>
                <a:latin typeface="Consolas" panose="020B0609020204030204" pitchFamily="49" charset="0"/>
              </a:rPr>
              <a:t>(tf.float32, name=“input1”)</a:t>
            </a: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
        <p:nvSpPr>
          <p:cNvPr id="8" name="Oval 7"/>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9" name="Rectangle 8"/>
          <p:cNvSpPr/>
          <p:nvPr/>
        </p:nvSpPr>
        <p:spPr>
          <a:xfrm>
            <a:off x="4192306" y="53398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10" name="Oval 9"/>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12" name="Rectangle 11"/>
          <p:cNvSpPr/>
          <p:nvPr/>
        </p:nvSpPr>
        <p:spPr>
          <a:xfrm>
            <a:off x="4192306" y="365760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14" name="Rectangle 13"/>
          <p:cNvSpPr/>
          <p:nvPr/>
        </p:nvSpPr>
        <p:spPr>
          <a:xfrm>
            <a:off x="6395960" y="45016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7" name="Straight Arrow Connector 6"/>
          <p:cNvCxnSpPr>
            <a:cxnSpLocks/>
          </p:cNvCxnSpPr>
          <p:nvPr/>
        </p:nvCxnSpPr>
        <p:spPr>
          <a:xfrm>
            <a:off x="4503610" y="3962400"/>
            <a:ext cx="905002" cy="5392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8456612" y="45016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20" name="Straight Arrow Connector 19"/>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p:cNvCxnSpPr>
            <a:cxnSpLocks/>
            <a:stCxn id="12" idx="3"/>
          </p:cNvCxnSpPr>
          <p:nvPr/>
        </p:nvCxnSpPr>
        <p:spPr>
          <a:xfrm>
            <a:off x="4503610" y="3842266"/>
            <a:ext cx="2886202" cy="635160"/>
          </a:xfrm>
          <a:prstGeom prst="bentConnector3">
            <a:avLst>
              <a:gd name="adj1" fmla="val 7671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600" dirty="0">
                <a:solidFill>
                  <a:schemeClr val="tx2"/>
                </a:solidFill>
              </a:rPr>
              <a:t>m</a:t>
            </a:r>
            <a:r>
              <a:rPr lang="en-US" sz="1600" dirty="0" smtClean="0">
                <a:solidFill>
                  <a:schemeClr val="tx2"/>
                </a:solidFill>
              </a:rPr>
              <a:t>y</a:t>
            </a:r>
          </a:p>
          <a:p>
            <a:pPr algn="ctr"/>
            <a:r>
              <a:rPr lang="en-US" sz="1600" dirty="0">
                <a:solidFill>
                  <a:schemeClr val="tx2"/>
                </a:solidFill>
              </a:rPr>
              <a:t>a</a:t>
            </a:r>
            <a:r>
              <a:rPr lang="en-US" sz="1600" dirty="0" smtClean="0">
                <a:solidFill>
                  <a:schemeClr val="tx2"/>
                </a:solidFill>
              </a:rPr>
              <a:t>dd</a:t>
            </a:r>
          </a:p>
          <a:p>
            <a:pPr algn="ctr"/>
            <a:r>
              <a:rPr lang="en-US" sz="1600" dirty="0" smtClean="0">
                <a:solidFill>
                  <a:schemeClr val="tx2"/>
                </a:solidFill>
              </a:rPr>
              <a:t>op</a:t>
            </a:r>
            <a:endParaRPr lang="en-US" sz="1600" dirty="0">
              <a:solidFill>
                <a:schemeClr val="tx2"/>
              </a:solidFill>
            </a:endParaRPr>
          </a:p>
        </p:txBody>
      </p:sp>
      <p:sp>
        <p:nvSpPr>
          <p:cNvPr id="19" name="Oval 1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600" dirty="0">
                <a:solidFill>
                  <a:schemeClr val="tx2"/>
                </a:solidFill>
              </a:rPr>
              <a:t>m</a:t>
            </a:r>
            <a:r>
              <a:rPr lang="en-US" sz="1600" dirty="0" smtClean="0">
                <a:solidFill>
                  <a:schemeClr val="tx2"/>
                </a:solidFill>
              </a:rPr>
              <a:t>y</a:t>
            </a:r>
          </a:p>
          <a:p>
            <a:pPr algn="ctr"/>
            <a:r>
              <a:rPr lang="en-US" sz="1600" dirty="0" err="1">
                <a:solidFill>
                  <a:schemeClr val="tx2"/>
                </a:solidFill>
              </a:rPr>
              <a:t>m</a:t>
            </a:r>
            <a:r>
              <a:rPr lang="en-US" sz="1600" dirty="0" err="1" smtClean="0">
                <a:solidFill>
                  <a:schemeClr val="tx2"/>
                </a:solidFill>
              </a:rPr>
              <a:t>ul</a:t>
            </a:r>
            <a:endParaRPr lang="en-US" sz="1600" dirty="0" smtClean="0">
              <a:solidFill>
                <a:schemeClr val="tx2"/>
              </a:solidFill>
            </a:endParaRPr>
          </a:p>
          <a:p>
            <a:pPr algn="ctr"/>
            <a:r>
              <a:rPr lang="en-US" sz="1600" dirty="0" smtClean="0">
                <a:solidFill>
                  <a:schemeClr val="tx2"/>
                </a:solidFill>
              </a:rPr>
              <a:t>op</a:t>
            </a:r>
            <a:endParaRPr lang="en-US" sz="1600" dirty="0">
              <a:solidFill>
                <a:schemeClr val="tx2"/>
              </a:solidFill>
            </a:endParaRPr>
          </a:p>
        </p:txBody>
      </p:sp>
    </p:spTree>
    <p:extLst>
      <p:ext uri="{BB962C8B-B14F-4D97-AF65-F5344CB8AC3E}">
        <p14:creationId xmlns:p14="http://schemas.microsoft.com/office/powerpoint/2010/main" val="3865460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Running Graphs</a:t>
            </a:r>
          </a:p>
        </p:txBody>
      </p:sp>
    </p:spTree>
    <p:extLst>
      <p:ext uri="{BB962C8B-B14F-4D97-AF65-F5344CB8AC3E}">
        <p14:creationId xmlns:p14="http://schemas.microsoft.com/office/powerpoint/2010/main" val="3292242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9995594" cy="914400"/>
          </a:xfrm>
        </p:spPr>
        <p:txBody>
          <a:bodyPr>
            <a:normAutofit/>
          </a:bodyPr>
          <a:lstStyle/>
          <a:p>
            <a:r>
              <a:rPr lang="en-US" sz="2800" dirty="0"/>
              <a:t>Now that we’ve created a graph, let’s run it!</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a:t>
            </a:r>
          </a:p>
        </p:txBody>
      </p:sp>
      <p:sp>
        <p:nvSpPr>
          <p:cNvPr id="4" name="Rectangle: Rounded Corners 3"/>
          <p:cNvSpPr/>
          <p:nvPr/>
        </p:nvSpPr>
        <p:spPr>
          <a:xfrm>
            <a:off x="1522412" y="2743200"/>
            <a:ext cx="9982200" cy="38862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dirty="0">
                <a:solidFill>
                  <a:schemeClr val="accent5">
                    <a:lumMod val="75000"/>
                  </a:schemeClr>
                </a:solidFill>
                <a:latin typeface="Consolas" panose="020B0609020204030204" pitchFamily="49" charset="0"/>
              </a:rPr>
              <a:t>default</a:t>
            </a:r>
          </a:p>
        </p:txBody>
      </p:sp>
      <p:sp>
        <p:nvSpPr>
          <p:cNvPr id="8" name="Oval 7"/>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9" name="Rectangle 8"/>
          <p:cNvSpPr/>
          <p:nvPr/>
        </p:nvSpPr>
        <p:spPr>
          <a:xfrm>
            <a:off x="4192306" y="53398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10" name="Oval 9"/>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12" name="Rectangle 11"/>
          <p:cNvSpPr/>
          <p:nvPr/>
        </p:nvSpPr>
        <p:spPr>
          <a:xfrm>
            <a:off x="4192306" y="365760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14" name="Rectangle 13"/>
          <p:cNvSpPr/>
          <p:nvPr/>
        </p:nvSpPr>
        <p:spPr>
          <a:xfrm>
            <a:off x="6395960" y="45016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7" name="Straight Arrow Connector 6"/>
          <p:cNvCxnSpPr>
            <a:cxnSpLocks/>
          </p:cNvCxnSpPr>
          <p:nvPr/>
        </p:nvCxnSpPr>
        <p:spPr>
          <a:xfrm>
            <a:off x="4503610" y="3962400"/>
            <a:ext cx="905002" cy="5392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8456612" y="45016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20" name="Straight Arrow Connector 19"/>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p:cNvCxnSpPr>
            <a:cxnSpLocks/>
            <a:stCxn id="12" idx="3"/>
          </p:cNvCxnSpPr>
          <p:nvPr/>
        </p:nvCxnSpPr>
        <p:spPr>
          <a:xfrm>
            <a:off x="4503610" y="3842266"/>
            <a:ext cx="2886202" cy="635160"/>
          </a:xfrm>
          <a:prstGeom prst="bentConnector3">
            <a:avLst>
              <a:gd name="adj1" fmla="val 7671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600" dirty="0">
                <a:solidFill>
                  <a:schemeClr val="tx2"/>
                </a:solidFill>
              </a:rPr>
              <a:t>m</a:t>
            </a:r>
            <a:r>
              <a:rPr lang="en-US" sz="1600" dirty="0" smtClean="0">
                <a:solidFill>
                  <a:schemeClr val="tx2"/>
                </a:solidFill>
              </a:rPr>
              <a:t>y</a:t>
            </a:r>
          </a:p>
          <a:p>
            <a:pPr algn="ctr"/>
            <a:r>
              <a:rPr lang="en-US" sz="1600" dirty="0" err="1">
                <a:solidFill>
                  <a:schemeClr val="tx2"/>
                </a:solidFill>
              </a:rPr>
              <a:t>m</a:t>
            </a:r>
            <a:r>
              <a:rPr lang="en-US" sz="1600" dirty="0" err="1" smtClean="0">
                <a:solidFill>
                  <a:schemeClr val="tx2"/>
                </a:solidFill>
              </a:rPr>
              <a:t>ul</a:t>
            </a:r>
            <a:endParaRPr lang="en-US" sz="1600" dirty="0" smtClean="0">
              <a:solidFill>
                <a:schemeClr val="tx2"/>
              </a:solidFill>
            </a:endParaRPr>
          </a:p>
          <a:p>
            <a:pPr algn="ctr"/>
            <a:r>
              <a:rPr lang="en-US" sz="1600" dirty="0" smtClean="0">
                <a:solidFill>
                  <a:schemeClr val="tx2"/>
                </a:solidFill>
              </a:rPr>
              <a:t>op</a:t>
            </a:r>
            <a:endParaRPr lang="en-US" sz="1600" dirty="0">
              <a:solidFill>
                <a:schemeClr val="tx2"/>
              </a:solidFill>
            </a:endParaRPr>
          </a:p>
        </p:txBody>
      </p:sp>
      <p:sp>
        <p:nvSpPr>
          <p:cNvPr id="21" name="Oval 20"/>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600" dirty="0">
                <a:solidFill>
                  <a:schemeClr val="tx2"/>
                </a:solidFill>
              </a:rPr>
              <a:t>m</a:t>
            </a:r>
            <a:r>
              <a:rPr lang="en-US" sz="1600" dirty="0" smtClean="0">
                <a:solidFill>
                  <a:schemeClr val="tx2"/>
                </a:solidFill>
              </a:rPr>
              <a:t>y</a:t>
            </a:r>
          </a:p>
          <a:p>
            <a:pPr algn="ctr"/>
            <a:r>
              <a:rPr lang="en-US" sz="1600" dirty="0">
                <a:solidFill>
                  <a:schemeClr val="tx2"/>
                </a:solidFill>
              </a:rPr>
              <a:t>a</a:t>
            </a:r>
            <a:r>
              <a:rPr lang="en-US" sz="1600" dirty="0" smtClean="0">
                <a:solidFill>
                  <a:schemeClr val="tx2"/>
                </a:solidFill>
              </a:rPr>
              <a:t>dd</a:t>
            </a:r>
          </a:p>
          <a:p>
            <a:pPr algn="ctr"/>
            <a:r>
              <a:rPr lang="en-US" sz="1600" dirty="0" smtClean="0">
                <a:solidFill>
                  <a:schemeClr val="tx2"/>
                </a:solidFill>
              </a:rPr>
              <a:t>op</a:t>
            </a:r>
            <a:endParaRPr lang="en-US" sz="1600" dirty="0">
              <a:solidFill>
                <a:schemeClr val="tx2"/>
              </a:solidFill>
            </a:endParaRPr>
          </a:p>
        </p:txBody>
      </p:sp>
    </p:spTree>
    <p:extLst>
      <p:ext uri="{BB962C8B-B14F-4D97-AF65-F5344CB8AC3E}">
        <p14:creationId xmlns:p14="http://schemas.microsoft.com/office/powerpoint/2010/main" val="1560351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7252394" cy="914400"/>
          </a:xfrm>
        </p:spPr>
        <p:txBody>
          <a:bodyPr>
            <a:normAutofit/>
          </a:bodyPr>
          <a:lstStyle/>
          <a:p>
            <a:r>
              <a:rPr lang="en-US" sz="2800" dirty="0"/>
              <a:t>We use a </a:t>
            </a:r>
            <a:r>
              <a:rPr lang="en-US" sz="2800" dirty="0">
                <a:solidFill>
                  <a:schemeClr val="accent5">
                    <a:lumMod val="75000"/>
                  </a:schemeClr>
                </a:solidFill>
                <a:latin typeface="Consolas" panose="020B0609020204030204" pitchFamily="49" charset="0"/>
              </a:rPr>
              <a:t>Session</a:t>
            </a:r>
            <a:r>
              <a:rPr lang="en-US" sz="2800" dirty="0"/>
              <a:t> object to execute graphs. Each </a:t>
            </a:r>
            <a:r>
              <a:rPr lang="en-US" sz="2800" dirty="0">
                <a:solidFill>
                  <a:schemeClr val="accent5">
                    <a:lumMod val="75000"/>
                  </a:schemeClr>
                </a:solidFill>
                <a:latin typeface="Consolas" panose="020B0609020204030204" pitchFamily="49" charset="0"/>
              </a:rPr>
              <a:t>Session</a:t>
            </a:r>
            <a:r>
              <a:rPr lang="en-US" sz="2800" dirty="0"/>
              <a:t> is dedicated to a single graph.</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sess</a:t>
            </a:r>
            <a:r>
              <a:rPr lang="en-US" sz="2800" dirty="0">
                <a:solidFill>
                  <a:schemeClr val="accent5">
                    <a:lumMod val="75000"/>
                  </a:schemeClr>
                </a:solidFill>
                <a:latin typeface="Consolas" panose="020B0609020204030204" pitchFamily="49" charset="0"/>
              </a:rPr>
              <a:t> = </a:t>
            </a:r>
            <a:r>
              <a:rPr lang="en-US" sz="2800" dirty="0" err="1">
                <a:solidFill>
                  <a:schemeClr val="accent5">
                    <a:lumMod val="75000"/>
                  </a:schemeClr>
                </a:solidFill>
                <a:latin typeface="Consolas" panose="020B0609020204030204" pitchFamily="49" charset="0"/>
              </a:rPr>
              <a:t>tf.Session</a:t>
            </a:r>
            <a:r>
              <a:rPr lang="en-US" sz="2800" dirty="0">
                <a:solidFill>
                  <a:schemeClr val="accent5">
                    <a:lumMod val="75000"/>
                  </a:schemeClr>
                </a:solidFill>
                <a:latin typeface="Consolas" panose="020B0609020204030204" pitchFamily="49" charset="0"/>
              </a:rPr>
              <a:t>()</a:t>
            </a:r>
          </a:p>
        </p:txBody>
      </p:sp>
      <p:grpSp>
        <p:nvGrpSpPr>
          <p:cNvPr id="5" name="Group 4"/>
          <p:cNvGrpSpPr/>
          <p:nvPr/>
        </p:nvGrpSpPr>
        <p:grpSpPr>
          <a:xfrm>
            <a:off x="7237412" y="2667000"/>
            <a:ext cx="3581400" cy="1828800"/>
            <a:chOff x="3046412" y="3200400"/>
            <a:chExt cx="5819774" cy="2971800"/>
          </a:xfrm>
        </p:grpSpPr>
        <p:sp>
          <p:nvSpPr>
            <p:cNvPr id="4" name="Rectangle: Rounded Corners 3"/>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8" name="Oval 7"/>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9" name="Rectangle 8"/>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10" name="Oval 9"/>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12" name="Rectangle 11"/>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13" name="Oval 12"/>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14" name="Rectangle 13"/>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7" name="Straight Arrow Connector 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17" name="Rectangle 16"/>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20" name="Straight Arrow Connector 19"/>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spTree>
    <p:extLst>
      <p:ext uri="{BB962C8B-B14F-4D97-AF65-F5344CB8AC3E}">
        <p14:creationId xmlns:p14="http://schemas.microsoft.com/office/powerpoint/2010/main" val="1236966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9995594" cy="914400"/>
          </a:xfrm>
        </p:spPr>
        <p:txBody>
          <a:bodyPr>
            <a:normAutofit/>
          </a:bodyPr>
          <a:lstStyle/>
          <a:p>
            <a:r>
              <a:rPr lang="en-US" sz="2800" dirty="0"/>
              <a:t>By default, a Session uses the current default graph</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sess</a:t>
            </a:r>
            <a:r>
              <a:rPr lang="en-US" sz="2800" dirty="0">
                <a:solidFill>
                  <a:schemeClr val="accent5">
                    <a:lumMod val="75000"/>
                  </a:schemeClr>
                </a:solidFill>
                <a:latin typeface="Consolas" panose="020B0609020204030204" pitchFamily="49" charset="0"/>
              </a:rPr>
              <a:t> = </a:t>
            </a:r>
            <a:r>
              <a:rPr lang="en-US" sz="2800" dirty="0" err="1">
                <a:solidFill>
                  <a:schemeClr val="accent5">
                    <a:lumMod val="75000"/>
                  </a:schemeClr>
                </a:solidFill>
                <a:latin typeface="Consolas" panose="020B0609020204030204" pitchFamily="49" charset="0"/>
              </a:rPr>
              <a:t>tf.Session</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cxnSp>
        <p:nvCxnSpPr>
          <p:cNvPr id="19" name="Straight Arrow Connector 18"/>
          <p:cNvCxnSpPr>
            <a:cxnSpLocks/>
          </p:cNvCxnSpPr>
          <p:nvPr/>
        </p:nvCxnSpPr>
        <p:spPr>
          <a:xfrm flipH="1">
            <a:off x="3351212" y="3352800"/>
            <a:ext cx="3657600" cy="1524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9" name="Group 28"/>
          <p:cNvGrpSpPr/>
          <p:nvPr/>
        </p:nvGrpSpPr>
        <p:grpSpPr>
          <a:xfrm>
            <a:off x="7237412" y="2667000"/>
            <a:ext cx="3581400" cy="1828800"/>
            <a:chOff x="3046412" y="3200400"/>
            <a:chExt cx="5819774" cy="2971800"/>
          </a:xfrm>
        </p:grpSpPr>
        <p:sp>
          <p:nvSpPr>
            <p:cNvPr id="30" name="Rectangle: Rounded Corners 29"/>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32" name="Oval 31"/>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4" name="Rectangle 33"/>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5" name="Oval 34"/>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6" name="Rectangle 35"/>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7" name="Oval 36"/>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8" name="Rectangle 37"/>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9" name="Straight Arrow Connector 38"/>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2" name="Rectangle 41"/>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3" name="Straight Arrow Connector 42"/>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4287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6212" y="533400"/>
            <a:ext cx="10668000" cy="914400"/>
          </a:xfrm>
        </p:spPr>
        <p:txBody>
          <a:bodyPr>
            <a:normAutofit/>
          </a:bodyPr>
          <a:lstStyle/>
          <a:p>
            <a:r>
              <a:rPr lang="en-US" sz="2800" smtClean="0"/>
              <a:t>We’ll discuss Variables shortly.</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sess</a:t>
            </a:r>
            <a:r>
              <a:rPr lang="en-US" sz="2800" dirty="0">
                <a:solidFill>
                  <a:schemeClr val="accent5">
                    <a:lumMod val="75000"/>
                  </a:schemeClr>
                </a:solidFill>
                <a:latin typeface="Consolas" panose="020B0609020204030204" pitchFamily="49" charset="0"/>
              </a:rPr>
              <a:t> = </a:t>
            </a:r>
            <a:r>
              <a:rPr lang="en-US" sz="2800" dirty="0" err="1">
                <a:solidFill>
                  <a:schemeClr val="accent5">
                    <a:lumMod val="75000"/>
                  </a:schemeClr>
                </a:solidFill>
                <a:latin typeface="Consolas" panose="020B0609020204030204" pitchFamily="49" charset="0"/>
              </a:rPr>
              <a:t>tf.Session</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cxnSp>
        <p:nvCxnSpPr>
          <p:cNvPr id="19" name="Straight Arrow Connector 18"/>
          <p:cNvCxnSpPr>
            <a:cxnSpLocks/>
          </p:cNvCxnSpPr>
          <p:nvPr/>
        </p:nvCxnSpPr>
        <p:spPr>
          <a:xfrm flipH="1" flipV="1">
            <a:off x="3732212" y="4495800"/>
            <a:ext cx="2469803" cy="53340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9429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8286026" cy="914400"/>
          </a:xfrm>
        </p:spPr>
        <p:txBody>
          <a:bodyPr>
            <a:normAutofit/>
          </a:bodyPr>
          <a:lstStyle/>
          <a:p>
            <a:r>
              <a:rPr lang="en-US" sz="2800" dirty="0">
                <a:solidFill>
                  <a:schemeClr val="accent5">
                    <a:lumMod val="75000"/>
                  </a:schemeClr>
                </a:solidFill>
                <a:latin typeface="Consolas" panose="020B0609020204030204" pitchFamily="49" charset="0"/>
              </a:rPr>
              <a:t>p</a:t>
            </a:r>
            <a:r>
              <a:rPr lang="en-US" sz="2800" dirty="0" smtClean="0">
                <a:solidFill>
                  <a:schemeClr val="accent5">
                    <a:lumMod val="75000"/>
                  </a:schemeClr>
                </a:solidFill>
                <a:latin typeface="Consolas" panose="020B0609020204030204" pitchFamily="49" charset="0"/>
              </a:rPr>
              <a:t>laceholders </a:t>
            </a:r>
            <a:r>
              <a:rPr lang="en-US" sz="2800" dirty="0" smtClean="0"/>
              <a:t>require data to fill them in when the graph </a:t>
            </a:r>
            <a:r>
              <a:rPr lang="en-US" sz="2800" smtClean="0"/>
              <a:t>is run</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3" name="Straight Arrow Connector 22"/>
          <p:cNvCxnSpPr>
            <a:cxnSpLocks/>
          </p:cNvCxnSpPr>
          <p:nvPr/>
        </p:nvCxnSpPr>
        <p:spPr>
          <a:xfrm flipV="1">
            <a:off x="6063102" y="3124201"/>
            <a:ext cx="1098110" cy="47514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cxnSpLocks/>
          </p:cNvCxnSpPr>
          <p:nvPr/>
        </p:nvCxnSpPr>
        <p:spPr>
          <a:xfrm>
            <a:off x="6063102" y="3599344"/>
            <a:ext cx="1032690" cy="49787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8897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457200"/>
            <a:ext cx="6924127" cy="914400"/>
          </a:xfrm>
        </p:spPr>
        <p:txBody>
          <a:bodyPr>
            <a:normAutofit/>
          </a:bodyPr>
          <a:lstStyle/>
          <a:p>
            <a:r>
              <a:rPr lang="en-US" sz="2800" dirty="0"/>
              <a:t>We do this by creating a dictionary mapping </a:t>
            </a:r>
            <a:r>
              <a:rPr lang="en-US" sz="2800" dirty="0">
                <a:solidFill>
                  <a:schemeClr val="accent5">
                    <a:lumMod val="75000"/>
                  </a:schemeClr>
                </a:solidFill>
                <a:latin typeface="Consolas" panose="020B0609020204030204" pitchFamily="49" charset="0"/>
              </a:rPr>
              <a:t>Tensor</a:t>
            </a:r>
            <a:r>
              <a:rPr lang="en-US" sz="2800" dirty="0"/>
              <a:t> keys to numeric values</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 = {a: 3.0, b: 2.0}</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7204448" y="4983273"/>
            <a:ext cx="3886200" cy="369332"/>
          </a:xfrm>
          <a:prstGeom prst="rect">
            <a:avLst/>
          </a:prstGeom>
        </p:spPr>
        <p:txBody>
          <a:bodyPr wrap="square">
            <a:spAutoFit/>
          </a:bodyPr>
          <a:lstStyle/>
          <a:p>
            <a:r>
              <a:rPr lang="en-US" dirty="0" err="1">
                <a:solidFill>
                  <a:schemeClr val="accent5">
                    <a:lumMod val="75000"/>
                  </a:schemeClr>
                </a:solidFill>
                <a:latin typeface="Consolas" panose="020B0609020204030204" pitchFamily="49" charset="0"/>
              </a:rPr>
              <a:t>feed_dict</a:t>
            </a:r>
            <a:r>
              <a:rPr lang="en-US" dirty="0">
                <a:solidFill>
                  <a:schemeClr val="accent5">
                    <a:lumMod val="75000"/>
                  </a:schemeClr>
                </a:solidFill>
                <a:latin typeface="Consolas" panose="020B0609020204030204" pitchFamily="49" charset="0"/>
              </a:rPr>
              <a:t>: {a: 3.0, b: 2.0}</a:t>
            </a:r>
            <a:endParaRPr lang="en-US" dirty="0"/>
          </a:p>
        </p:txBody>
      </p:sp>
    </p:spTree>
    <p:extLst>
      <p:ext uri="{BB962C8B-B14F-4D97-AF65-F5344CB8AC3E}">
        <p14:creationId xmlns:p14="http://schemas.microsoft.com/office/powerpoint/2010/main" val="582533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Connector: Elbow 42"/>
          <p:cNvCxnSpPr>
            <a:cxnSpLocks/>
          </p:cNvCxnSpPr>
          <p:nvPr/>
        </p:nvCxnSpPr>
        <p:spPr>
          <a:xfrm rot="16200000" flipH="1">
            <a:off x="7671179" y="3700576"/>
            <a:ext cx="1684237" cy="734692"/>
          </a:xfrm>
          <a:prstGeom prst="bentConnector3">
            <a:avLst>
              <a:gd name="adj1" fmla="val 38823"/>
            </a:avLst>
          </a:prstGeom>
          <a:ln w="190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204218" y="533400"/>
            <a:ext cx="10147994" cy="914400"/>
          </a:xfrm>
        </p:spPr>
        <p:txBody>
          <a:bodyPr>
            <a:normAutofit/>
          </a:bodyPr>
          <a:lstStyle/>
          <a:p>
            <a:r>
              <a:rPr lang="en-US" sz="2800" dirty="0"/>
              <a:t>We pass in the same tensors as we used to create our graph</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 = {a: 3.0, b: 2.0}</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7204448" y="4983273"/>
            <a:ext cx="3886200" cy="369332"/>
          </a:xfrm>
          <a:prstGeom prst="rect">
            <a:avLst/>
          </a:prstGeom>
        </p:spPr>
        <p:txBody>
          <a:bodyPr wrap="square">
            <a:spAutoFit/>
          </a:bodyPr>
          <a:lstStyle/>
          <a:p>
            <a:r>
              <a:rPr lang="en-US" dirty="0" err="1">
                <a:solidFill>
                  <a:schemeClr val="accent5">
                    <a:lumMod val="75000"/>
                  </a:schemeClr>
                </a:solidFill>
                <a:latin typeface="Consolas" panose="020B0609020204030204" pitchFamily="49" charset="0"/>
              </a:rPr>
              <a:t>feed_dict</a:t>
            </a:r>
            <a:r>
              <a:rPr lang="en-US" dirty="0">
                <a:solidFill>
                  <a:schemeClr val="accent5">
                    <a:lumMod val="75000"/>
                  </a:schemeClr>
                </a:solidFill>
                <a:latin typeface="Consolas" panose="020B0609020204030204" pitchFamily="49" charset="0"/>
              </a:rPr>
              <a:t>: {a: 3.0, b: 2.0}</a:t>
            </a:r>
            <a:endParaRPr lang="en-US" dirty="0"/>
          </a:p>
        </p:txBody>
      </p:sp>
      <p:cxnSp>
        <p:nvCxnSpPr>
          <p:cNvPr id="10" name="Connector: Elbow 9"/>
          <p:cNvCxnSpPr>
            <a:cxnSpLocks/>
          </p:cNvCxnSpPr>
          <p:nvPr/>
        </p:nvCxnSpPr>
        <p:spPr>
          <a:xfrm>
            <a:off x="8222151" y="4115847"/>
            <a:ext cx="1688123" cy="836050"/>
          </a:xfrm>
          <a:prstGeom prst="bentConnector3">
            <a:avLst>
              <a:gd name="adj1" fmla="val 99918"/>
            </a:avLst>
          </a:prstGeom>
          <a:ln w="190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162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381000"/>
            <a:ext cx="10452794" cy="914400"/>
          </a:xfrm>
        </p:spPr>
        <p:txBody>
          <a:bodyPr>
            <a:normAutofit/>
          </a:bodyPr>
          <a:lstStyle/>
          <a:p>
            <a:r>
              <a:rPr lang="en-US" sz="2800" dirty="0"/>
              <a:t>We execute the graph with </a:t>
            </a:r>
            <a:r>
              <a:rPr lang="en-US" sz="2800" dirty="0" err="1" smtClean="0">
                <a:solidFill>
                  <a:schemeClr val="accent5">
                    <a:lumMod val="75000"/>
                  </a:schemeClr>
                </a:solidFill>
                <a:latin typeface="Consolas" panose="020B0609020204030204" pitchFamily="49" charset="0"/>
              </a:rPr>
              <a:t>sess.run</a:t>
            </a:r>
            <a:r>
              <a:rPr lang="en-US" sz="2800" dirty="0" smtClean="0">
                <a:solidFill>
                  <a:schemeClr val="accent5">
                    <a:lumMod val="75000"/>
                  </a:schemeClr>
                </a:solidFill>
                <a:latin typeface="Consolas" panose="020B0609020204030204" pitchFamily="49" charset="0"/>
              </a:rPr>
              <a:t>(fetches, </a:t>
            </a:r>
            <a:r>
              <a:rPr lang="en-US" sz="2800" dirty="0" err="1" smtClean="0">
                <a:solidFill>
                  <a:schemeClr val="accent5">
                    <a:lumMod val="75000"/>
                  </a:schemeClr>
                </a:solidFill>
                <a:latin typeface="Consolas" panose="020B0609020204030204" pitchFamily="49" charset="0"/>
              </a:rPr>
              <a:t>feed_dict</a:t>
            </a:r>
            <a:r>
              <a:rPr lang="en-US" sz="2800" dirty="0" smtClean="0">
                <a:solidFill>
                  <a:schemeClr val="accent5">
                    <a:lumMod val="75000"/>
                  </a:schemeClr>
                </a:solidFill>
                <a:latin typeface="Consolas" panose="020B0609020204030204" pitchFamily="49" charset="0"/>
              </a:rPr>
              <a:t>)</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out = </a:t>
            </a:r>
            <a:r>
              <a:rPr lang="en-US" sz="2800" dirty="0" err="1">
                <a:solidFill>
                  <a:schemeClr val="accent5">
                    <a:lumMod val="75000"/>
                  </a:schemeClr>
                </a:solidFill>
                <a:latin typeface="Consolas" panose="020B0609020204030204" pitchFamily="49" charset="0"/>
              </a:rPr>
              <a:t>sess.run</a:t>
            </a:r>
            <a:r>
              <a:rPr lang="en-US" sz="2800" dirty="0">
                <a:solidFill>
                  <a:schemeClr val="accent5">
                    <a:lumMod val="75000"/>
                  </a:schemeClr>
                </a:solidFill>
                <a:latin typeface="Consolas" panose="020B0609020204030204" pitchFamily="49" charset="0"/>
              </a:rPr>
              <a:t>(d, </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7204448" y="4983273"/>
            <a:ext cx="3886200" cy="369332"/>
          </a:xfrm>
          <a:prstGeom prst="rect">
            <a:avLst/>
          </a:prstGeom>
        </p:spPr>
        <p:txBody>
          <a:bodyPr wrap="square">
            <a:spAutoFit/>
          </a:bodyPr>
          <a:lstStyle/>
          <a:p>
            <a:r>
              <a:rPr lang="en-US" dirty="0" err="1">
                <a:solidFill>
                  <a:schemeClr val="accent5">
                    <a:lumMod val="75000"/>
                  </a:schemeClr>
                </a:solidFill>
                <a:latin typeface="Consolas" panose="020B0609020204030204" pitchFamily="49" charset="0"/>
              </a:rPr>
              <a:t>feed_dict</a:t>
            </a:r>
            <a:r>
              <a:rPr lang="en-US" dirty="0">
                <a:solidFill>
                  <a:schemeClr val="accent5">
                    <a:lumMod val="75000"/>
                  </a:schemeClr>
                </a:solidFill>
                <a:latin typeface="Consolas" panose="020B0609020204030204" pitchFamily="49" charset="0"/>
              </a:rPr>
              <a:t>: {a: 3.0, b: 2.0}</a:t>
            </a:r>
            <a:endParaRPr lang="en-US" dirty="0"/>
          </a:p>
        </p:txBody>
      </p:sp>
      <p:sp>
        <p:nvSpPr>
          <p:cNvPr id="44" name="Hexagon 43"/>
          <p:cNvSpPr/>
          <p:nvPr/>
        </p:nvSpPr>
        <p:spPr>
          <a:xfrm>
            <a:off x="5027612" y="5652461"/>
            <a:ext cx="3625361" cy="976939"/>
          </a:xfrm>
          <a:prstGeom prst="hexag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r>
              <a:rPr lang="en-US" b="1" dirty="0">
                <a:solidFill>
                  <a:schemeClr val="tx1"/>
                </a:solidFill>
                <a:latin typeface="Consolas" panose="020B0609020204030204" pitchFamily="49" charset="0"/>
              </a:rPr>
              <a:t>run()</a:t>
            </a:r>
            <a:r>
              <a:rPr lang="en-US" dirty="0">
                <a:solidFill>
                  <a:schemeClr val="tx1"/>
                </a:solidFill>
                <a:latin typeface="Consolas" panose="020B0609020204030204" pitchFamily="49" charset="0"/>
              </a:rPr>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fetches: </a:t>
            </a:r>
            <a:r>
              <a:rPr lang="en-US" dirty="0">
                <a:solidFill>
                  <a:schemeClr val="accent5">
                    <a:lumMod val="75000"/>
                  </a:schemeClr>
                </a:solidFill>
                <a:latin typeface="Consolas" panose="020B0609020204030204" pitchFamily="49" charset="0"/>
              </a:rPr>
              <a:t>d</a:t>
            </a:r>
          </a:p>
          <a:p>
            <a:r>
              <a:rPr lang="en-US" dirty="0" err="1">
                <a:solidFill>
                  <a:schemeClr val="tx1"/>
                </a:solidFill>
                <a:latin typeface="Consolas" panose="020B0609020204030204" pitchFamily="49" charset="0"/>
              </a:rPr>
              <a:t>feed_dict</a:t>
            </a:r>
            <a:r>
              <a:rPr lang="en-US" dirty="0">
                <a:solidFill>
                  <a:schemeClr val="tx1"/>
                </a:solidFill>
                <a:latin typeface="Consolas" panose="020B0609020204030204" pitchFamily="49" charset="0"/>
              </a:rPr>
              <a:t>: </a:t>
            </a:r>
            <a:r>
              <a:rPr lang="en-US" dirty="0" err="1">
                <a:solidFill>
                  <a:schemeClr val="accent5">
                    <a:lumMod val="75000"/>
                  </a:schemeClr>
                </a:solidFill>
                <a:latin typeface="Consolas" panose="020B0609020204030204" pitchFamily="49" charset="0"/>
              </a:rPr>
              <a:t>feed_dict</a:t>
            </a:r>
            <a:endParaRPr lang="en-US" dirty="0"/>
          </a:p>
          <a:p>
            <a:r>
              <a:rPr lang="en-US" dirty="0">
                <a:solidFill>
                  <a:schemeClr val="tx1"/>
                </a:solidFill>
                <a:latin typeface="Consolas" panose="020B0609020204030204" pitchFamily="49" charset="0"/>
              </a:rPr>
              <a:t> </a:t>
            </a:r>
          </a:p>
        </p:txBody>
      </p:sp>
    </p:spTree>
    <p:extLst>
      <p:ext uri="{BB962C8B-B14F-4D97-AF65-F5344CB8AC3E}">
        <p14:creationId xmlns:p14="http://schemas.microsoft.com/office/powerpoint/2010/main" val="2474239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8928794" cy="914400"/>
          </a:xfrm>
        </p:spPr>
        <p:txBody>
          <a:bodyPr>
            <a:normAutofit/>
          </a:bodyPr>
          <a:lstStyle/>
          <a:p>
            <a:r>
              <a:rPr lang="en-US" sz="2800" dirty="0" smtClean="0">
                <a:solidFill>
                  <a:schemeClr val="accent5">
                    <a:lumMod val="75000"/>
                  </a:schemeClr>
                </a:solidFill>
                <a:latin typeface="Consolas" panose="020B0609020204030204" pitchFamily="49" charset="0"/>
              </a:rPr>
              <a:t>Fetches</a:t>
            </a:r>
            <a:r>
              <a:rPr lang="en-US" sz="2800" dirty="0" smtClean="0"/>
              <a:t> (a </a:t>
            </a:r>
            <a:r>
              <a:rPr lang="en-US" sz="2800" dirty="0">
                <a:solidFill>
                  <a:schemeClr val="accent5">
                    <a:lumMod val="75000"/>
                  </a:schemeClr>
                </a:solidFill>
                <a:latin typeface="Consolas" panose="020B0609020204030204" pitchFamily="49" charset="0"/>
              </a:rPr>
              <a:t>Tensor</a:t>
            </a:r>
            <a:r>
              <a:rPr lang="en-US" sz="2800" dirty="0"/>
              <a:t>, </a:t>
            </a:r>
            <a:r>
              <a:rPr lang="en-US" sz="2800" dirty="0">
                <a:solidFill>
                  <a:schemeClr val="accent5">
                    <a:lumMod val="75000"/>
                  </a:schemeClr>
                </a:solidFill>
                <a:latin typeface="Consolas" panose="020B0609020204030204" pitchFamily="49" charset="0"/>
              </a:rPr>
              <a:t>Operation</a:t>
            </a:r>
            <a:r>
              <a:rPr lang="en-US" sz="2800" dirty="0"/>
              <a:t>, or list </a:t>
            </a:r>
            <a:r>
              <a:rPr lang="en-US" sz="2800" dirty="0" smtClean="0"/>
              <a:t>of these) tells </a:t>
            </a:r>
            <a:r>
              <a:rPr lang="en-US" sz="2800" dirty="0" err="1"/>
              <a:t>TensorFlow</a:t>
            </a:r>
            <a:r>
              <a:rPr lang="en-US" sz="2800" dirty="0"/>
              <a:t> </a:t>
            </a:r>
            <a:r>
              <a:rPr lang="en-US" sz="2800" dirty="0" smtClean="0"/>
              <a:t>what outputs we want</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out = </a:t>
            </a:r>
            <a:r>
              <a:rPr lang="en-US" sz="2800" dirty="0" err="1">
                <a:solidFill>
                  <a:schemeClr val="accent5">
                    <a:lumMod val="75000"/>
                  </a:schemeClr>
                </a:solidFill>
                <a:latin typeface="Consolas" panose="020B0609020204030204" pitchFamily="49" charset="0"/>
              </a:rPr>
              <a:t>sess.run</a:t>
            </a:r>
            <a:r>
              <a:rPr lang="en-US" sz="2800" dirty="0">
                <a:solidFill>
                  <a:schemeClr val="accent5">
                    <a:lumMod val="75000"/>
                  </a:schemeClr>
                </a:solidFill>
                <a:latin typeface="Consolas" panose="020B0609020204030204" pitchFamily="49" charset="0"/>
              </a:rPr>
              <a:t>(d, </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7204448" y="4983273"/>
            <a:ext cx="3886200" cy="369332"/>
          </a:xfrm>
          <a:prstGeom prst="rect">
            <a:avLst/>
          </a:prstGeom>
        </p:spPr>
        <p:txBody>
          <a:bodyPr wrap="square">
            <a:spAutoFit/>
          </a:bodyPr>
          <a:lstStyle/>
          <a:p>
            <a:r>
              <a:rPr lang="en-US" dirty="0" err="1">
                <a:solidFill>
                  <a:schemeClr val="accent5">
                    <a:lumMod val="75000"/>
                  </a:schemeClr>
                </a:solidFill>
                <a:latin typeface="Consolas" panose="020B0609020204030204" pitchFamily="49" charset="0"/>
              </a:rPr>
              <a:t>feed_dict</a:t>
            </a:r>
            <a:r>
              <a:rPr lang="en-US" dirty="0">
                <a:solidFill>
                  <a:schemeClr val="accent5">
                    <a:lumMod val="75000"/>
                  </a:schemeClr>
                </a:solidFill>
                <a:latin typeface="Consolas" panose="020B0609020204030204" pitchFamily="49" charset="0"/>
              </a:rPr>
              <a:t>: {a: 3.0, b: 2.0}</a:t>
            </a:r>
            <a:endParaRPr lang="en-US" dirty="0"/>
          </a:p>
        </p:txBody>
      </p:sp>
      <p:cxnSp>
        <p:nvCxnSpPr>
          <p:cNvPr id="44" name="Straight Arrow Connector 43"/>
          <p:cNvCxnSpPr>
            <a:cxnSpLocks/>
          </p:cNvCxnSpPr>
          <p:nvPr/>
        </p:nvCxnSpPr>
        <p:spPr>
          <a:xfrm flipH="1" flipV="1">
            <a:off x="5180012" y="2362200"/>
            <a:ext cx="381000" cy="109066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Hexagon 10"/>
          <p:cNvSpPr/>
          <p:nvPr/>
        </p:nvSpPr>
        <p:spPr>
          <a:xfrm>
            <a:off x="5027612" y="5652461"/>
            <a:ext cx="3625361" cy="976939"/>
          </a:xfrm>
          <a:prstGeom prst="hexag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r>
              <a:rPr lang="en-US" b="1" dirty="0">
                <a:solidFill>
                  <a:schemeClr val="tx1"/>
                </a:solidFill>
                <a:latin typeface="Consolas" panose="020B0609020204030204" pitchFamily="49" charset="0"/>
              </a:rPr>
              <a:t>run()</a:t>
            </a:r>
            <a:r>
              <a:rPr lang="en-US" dirty="0">
                <a:solidFill>
                  <a:schemeClr val="tx1"/>
                </a:solidFill>
                <a:latin typeface="Consolas" panose="020B0609020204030204" pitchFamily="49" charset="0"/>
              </a:rPr>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fetches: </a:t>
            </a:r>
            <a:r>
              <a:rPr lang="en-US" dirty="0">
                <a:solidFill>
                  <a:schemeClr val="accent5">
                    <a:lumMod val="75000"/>
                  </a:schemeClr>
                </a:solidFill>
                <a:latin typeface="Consolas" panose="020B0609020204030204" pitchFamily="49" charset="0"/>
              </a:rPr>
              <a:t>d</a:t>
            </a:r>
          </a:p>
          <a:p>
            <a:r>
              <a:rPr lang="en-US" dirty="0" err="1">
                <a:solidFill>
                  <a:schemeClr val="tx1"/>
                </a:solidFill>
                <a:latin typeface="Consolas" panose="020B0609020204030204" pitchFamily="49" charset="0"/>
              </a:rPr>
              <a:t>feed_dict</a:t>
            </a:r>
            <a:r>
              <a:rPr lang="en-US" dirty="0">
                <a:solidFill>
                  <a:schemeClr val="tx1"/>
                </a:solidFill>
                <a:latin typeface="Consolas" panose="020B0609020204030204" pitchFamily="49" charset="0"/>
              </a:rPr>
              <a:t>: </a:t>
            </a:r>
            <a:r>
              <a:rPr lang="en-US" dirty="0" err="1">
                <a:solidFill>
                  <a:schemeClr val="accent5">
                    <a:lumMod val="75000"/>
                  </a:schemeClr>
                </a:solidFill>
                <a:latin typeface="Consolas" panose="020B0609020204030204" pitchFamily="49" charset="0"/>
              </a:rPr>
              <a:t>feed_dict</a:t>
            </a:r>
            <a:endParaRPr lang="en-US" dirty="0"/>
          </a:p>
          <a:p>
            <a:r>
              <a:rPr lang="en-US" dirty="0">
                <a:solidFill>
                  <a:schemeClr val="tx1"/>
                </a:solidFill>
                <a:latin typeface="Consolas" panose="020B0609020204030204" pitchFamily="49" charset="0"/>
              </a:rPr>
              <a:t> </a:t>
            </a:r>
          </a:p>
        </p:txBody>
      </p:sp>
      <p:cxnSp>
        <p:nvCxnSpPr>
          <p:cNvPr id="45" name="Straight Arrow Connector 44"/>
          <p:cNvCxnSpPr>
            <a:cxnSpLocks/>
          </p:cNvCxnSpPr>
          <p:nvPr/>
        </p:nvCxnSpPr>
        <p:spPr>
          <a:xfrm flipV="1">
            <a:off x="4418012" y="6172200"/>
            <a:ext cx="1066800" cy="20271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317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9499122" cy="914400"/>
          </a:xfrm>
        </p:spPr>
        <p:txBody>
          <a:bodyPr>
            <a:normAutofit/>
          </a:bodyPr>
          <a:lstStyle/>
          <a:p>
            <a:r>
              <a:rPr lang="en-US" sz="2800" dirty="0" smtClean="0"/>
              <a:t>Here, we request </a:t>
            </a:r>
            <a:r>
              <a:rPr lang="en-US" sz="2800" dirty="0" smtClean="0">
                <a:solidFill>
                  <a:schemeClr val="accent5">
                    <a:lumMod val="75000"/>
                  </a:schemeClr>
                </a:solidFill>
                <a:latin typeface="Consolas" panose="020B0609020204030204" pitchFamily="49" charset="0"/>
              </a:rPr>
              <a:t>d</a:t>
            </a:r>
            <a:r>
              <a:rPr lang="en-US" sz="2800" dirty="0"/>
              <a:t>, the </a:t>
            </a:r>
            <a:r>
              <a:rPr lang="en-US" sz="2800" dirty="0">
                <a:solidFill>
                  <a:schemeClr val="accent5">
                    <a:lumMod val="75000"/>
                  </a:schemeClr>
                </a:solidFill>
                <a:latin typeface="Consolas" panose="020B0609020204030204" pitchFamily="49" charset="0"/>
              </a:rPr>
              <a:t>Tensor</a:t>
            </a:r>
            <a:r>
              <a:rPr lang="en-US" sz="2800" dirty="0"/>
              <a:t> output of </a:t>
            </a:r>
            <a:r>
              <a:rPr lang="en-US" sz="2800" dirty="0" err="1" smtClean="0"/>
              <a:t>my_mul_op</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out = </a:t>
            </a:r>
            <a:r>
              <a:rPr lang="en-US" sz="2800" dirty="0" err="1">
                <a:solidFill>
                  <a:schemeClr val="accent5">
                    <a:lumMod val="75000"/>
                  </a:schemeClr>
                </a:solidFill>
                <a:latin typeface="Consolas" panose="020B0609020204030204" pitchFamily="49" charset="0"/>
              </a:rPr>
              <a:t>sess.run</a:t>
            </a:r>
            <a:r>
              <a:rPr lang="en-US" sz="2800" dirty="0">
                <a:solidFill>
                  <a:schemeClr val="accent5">
                    <a:lumMod val="75000"/>
                  </a:schemeClr>
                </a:solidFill>
                <a:latin typeface="Consolas" panose="020B0609020204030204" pitchFamily="49" charset="0"/>
              </a:rPr>
              <a:t>(d, </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7204448" y="4983273"/>
            <a:ext cx="3886200" cy="369332"/>
          </a:xfrm>
          <a:prstGeom prst="rect">
            <a:avLst/>
          </a:prstGeom>
        </p:spPr>
        <p:txBody>
          <a:bodyPr wrap="square">
            <a:spAutoFit/>
          </a:bodyPr>
          <a:lstStyle/>
          <a:p>
            <a:r>
              <a:rPr lang="en-US" dirty="0" err="1">
                <a:solidFill>
                  <a:schemeClr val="accent5">
                    <a:lumMod val="75000"/>
                  </a:schemeClr>
                </a:solidFill>
                <a:latin typeface="Consolas" panose="020B0609020204030204" pitchFamily="49" charset="0"/>
              </a:rPr>
              <a:t>feed_dict</a:t>
            </a:r>
            <a:r>
              <a:rPr lang="en-US" dirty="0">
                <a:solidFill>
                  <a:schemeClr val="accent5">
                    <a:lumMod val="75000"/>
                  </a:schemeClr>
                </a:solidFill>
                <a:latin typeface="Consolas" panose="020B0609020204030204" pitchFamily="49" charset="0"/>
              </a:rPr>
              <a:t>: {a: 3.0, b: 2.0}</a:t>
            </a:r>
            <a:endParaRPr lang="en-US" dirty="0"/>
          </a:p>
        </p:txBody>
      </p:sp>
      <p:cxnSp>
        <p:nvCxnSpPr>
          <p:cNvPr id="45" name="Straight Arrow Connector 44"/>
          <p:cNvCxnSpPr>
            <a:cxnSpLocks/>
          </p:cNvCxnSpPr>
          <p:nvPr/>
        </p:nvCxnSpPr>
        <p:spPr>
          <a:xfrm flipH="1" flipV="1">
            <a:off x="10852629" y="3592895"/>
            <a:ext cx="514200" cy="1289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Hexagon 45"/>
          <p:cNvSpPr/>
          <p:nvPr/>
        </p:nvSpPr>
        <p:spPr>
          <a:xfrm>
            <a:off x="5027612" y="5652461"/>
            <a:ext cx="3625361" cy="976939"/>
          </a:xfrm>
          <a:prstGeom prst="hexag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r>
              <a:rPr lang="en-US" b="1" dirty="0">
                <a:solidFill>
                  <a:schemeClr val="tx1"/>
                </a:solidFill>
                <a:latin typeface="Consolas" panose="020B0609020204030204" pitchFamily="49" charset="0"/>
              </a:rPr>
              <a:t>run()</a:t>
            </a:r>
            <a:r>
              <a:rPr lang="en-US" dirty="0">
                <a:solidFill>
                  <a:schemeClr val="tx1"/>
                </a:solidFill>
                <a:latin typeface="Consolas" panose="020B0609020204030204" pitchFamily="49" charset="0"/>
              </a:rPr>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fetches: </a:t>
            </a:r>
            <a:r>
              <a:rPr lang="en-US" dirty="0">
                <a:solidFill>
                  <a:schemeClr val="accent5">
                    <a:lumMod val="75000"/>
                  </a:schemeClr>
                </a:solidFill>
                <a:latin typeface="Consolas" panose="020B0609020204030204" pitchFamily="49" charset="0"/>
              </a:rPr>
              <a:t>d</a:t>
            </a:r>
          </a:p>
          <a:p>
            <a:r>
              <a:rPr lang="en-US" dirty="0" err="1">
                <a:solidFill>
                  <a:schemeClr val="tx1"/>
                </a:solidFill>
                <a:latin typeface="Consolas" panose="020B0609020204030204" pitchFamily="49" charset="0"/>
              </a:rPr>
              <a:t>feed_dict</a:t>
            </a:r>
            <a:r>
              <a:rPr lang="en-US" dirty="0">
                <a:solidFill>
                  <a:schemeClr val="tx1"/>
                </a:solidFill>
                <a:latin typeface="Consolas" panose="020B0609020204030204" pitchFamily="49" charset="0"/>
              </a:rPr>
              <a:t>: </a:t>
            </a:r>
            <a:r>
              <a:rPr lang="en-US" dirty="0" err="1">
                <a:solidFill>
                  <a:schemeClr val="accent5">
                    <a:lumMod val="75000"/>
                  </a:schemeClr>
                </a:solidFill>
                <a:latin typeface="Consolas" panose="020B0609020204030204" pitchFamily="49" charset="0"/>
              </a:rPr>
              <a:t>feed_dict</a:t>
            </a:r>
            <a:endParaRPr lang="en-US" dirty="0"/>
          </a:p>
          <a:p>
            <a:r>
              <a:rPr lang="en-US" dirty="0">
                <a:solidFill>
                  <a:schemeClr val="tx1"/>
                </a:solidFill>
                <a:latin typeface="Consolas" panose="020B0609020204030204" pitchFamily="49" charset="0"/>
              </a:rPr>
              <a:t> </a:t>
            </a:r>
          </a:p>
        </p:txBody>
      </p:sp>
      <p:cxnSp>
        <p:nvCxnSpPr>
          <p:cNvPr id="47" name="Straight Arrow Connector 46"/>
          <p:cNvCxnSpPr>
            <a:cxnSpLocks/>
          </p:cNvCxnSpPr>
          <p:nvPr/>
        </p:nvCxnSpPr>
        <p:spPr>
          <a:xfrm flipV="1">
            <a:off x="4418012" y="6172200"/>
            <a:ext cx="1066800" cy="20271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849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9614594" cy="914400"/>
          </a:xfrm>
        </p:spPr>
        <p:txBody>
          <a:bodyPr>
            <a:normAutofit/>
          </a:bodyPr>
          <a:lstStyle/>
          <a:p>
            <a:r>
              <a:rPr lang="en-US" sz="2800" dirty="0" err="1" smtClean="0">
                <a:solidFill>
                  <a:schemeClr val="accent5">
                    <a:lumMod val="75000"/>
                  </a:schemeClr>
                </a:solidFill>
                <a:latin typeface="Consolas" panose="020B0609020204030204" pitchFamily="49" charset="0"/>
              </a:rPr>
              <a:t>feed_dict</a:t>
            </a:r>
            <a:r>
              <a:rPr lang="en-US" sz="2800" dirty="0" smtClean="0"/>
              <a:t> tells </a:t>
            </a:r>
            <a:r>
              <a:rPr lang="en-US" sz="2800" dirty="0"/>
              <a:t>the Session </a:t>
            </a:r>
            <a:r>
              <a:rPr lang="en-US" sz="2800" dirty="0" smtClean="0"/>
              <a:t>tensor substitutions</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out = </a:t>
            </a:r>
            <a:r>
              <a:rPr lang="en-US" sz="2800" dirty="0" err="1">
                <a:solidFill>
                  <a:schemeClr val="accent5">
                    <a:lumMod val="75000"/>
                  </a:schemeClr>
                </a:solidFill>
                <a:latin typeface="Consolas" panose="020B0609020204030204" pitchFamily="49" charset="0"/>
              </a:rPr>
              <a:t>sess.run</a:t>
            </a:r>
            <a:r>
              <a:rPr lang="en-US" sz="2800" dirty="0">
                <a:solidFill>
                  <a:schemeClr val="accent5">
                    <a:lumMod val="75000"/>
                  </a:schemeClr>
                </a:solidFill>
                <a:latin typeface="Consolas" panose="020B0609020204030204" pitchFamily="49" charset="0"/>
              </a:rPr>
              <a:t>(d, </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7204448" y="4983273"/>
            <a:ext cx="3886200" cy="369332"/>
          </a:xfrm>
          <a:prstGeom prst="rect">
            <a:avLst/>
          </a:prstGeom>
        </p:spPr>
        <p:txBody>
          <a:bodyPr wrap="square">
            <a:spAutoFit/>
          </a:bodyPr>
          <a:lstStyle/>
          <a:p>
            <a:r>
              <a:rPr lang="en-US" dirty="0" err="1">
                <a:solidFill>
                  <a:schemeClr val="accent5">
                    <a:lumMod val="75000"/>
                  </a:schemeClr>
                </a:solidFill>
                <a:latin typeface="Consolas" panose="020B0609020204030204" pitchFamily="49" charset="0"/>
              </a:rPr>
              <a:t>feed_dict</a:t>
            </a:r>
            <a:r>
              <a:rPr lang="en-US" dirty="0">
                <a:solidFill>
                  <a:schemeClr val="accent5">
                    <a:lumMod val="75000"/>
                  </a:schemeClr>
                </a:solidFill>
                <a:latin typeface="Consolas" panose="020B0609020204030204" pitchFamily="49" charset="0"/>
              </a:rPr>
              <a:t>: {a: 3.0, b: 2.0}</a:t>
            </a:r>
            <a:endParaRPr lang="en-US" dirty="0"/>
          </a:p>
        </p:txBody>
      </p:sp>
      <p:cxnSp>
        <p:nvCxnSpPr>
          <p:cNvPr id="45" name="Straight Arrow Connector 44"/>
          <p:cNvCxnSpPr>
            <a:cxnSpLocks/>
          </p:cNvCxnSpPr>
          <p:nvPr/>
        </p:nvCxnSpPr>
        <p:spPr>
          <a:xfrm flipV="1">
            <a:off x="6238019" y="2424286"/>
            <a:ext cx="311661" cy="47131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Hexagon 45"/>
          <p:cNvSpPr/>
          <p:nvPr/>
        </p:nvSpPr>
        <p:spPr>
          <a:xfrm>
            <a:off x="5027612" y="5652461"/>
            <a:ext cx="3625361" cy="976939"/>
          </a:xfrm>
          <a:prstGeom prst="hexag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r>
              <a:rPr lang="en-US" b="1" dirty="0">
                <a:solidFill>
                  <a:schemeClr val="tx1"/>
                </a:solidFill>
                <a:latin typeface="Consolas" panose="020B0609020204030204" pitchFamily="49" charset="0"/>
              </a:rPr>
              <a:t>run()</a:t>
            </a:r>
            <a:r>
              <a:rPr lang="en-US" dirty="0">
                <a:solidFill>
                  <a:schemeClr val="tx1"/>
                </a:solidFill>
                <a:latin typeface="Consolas" panose="020B0609020204030204" pitchFamily="49" charset="0"/>
              </a:rPr>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fetches: </a:t>
            </a:r>
            <a:r>
              <a:rPr lang="en-US" dirty="0">
                <a:solidFill>
                  <a:schemeClr val="accent5">
                    <a:lumMod val="75000"/>
                  </a:schemeClr>
                </a:solidFill>
                <a:latin typeface="Consolas" panose="020B0609020204030204" pitchFamily="49" charset="0"/>
              </a:rPr>
              <a:t>d</a:t>
            </a:r>
          </a:p>
          <a:p>
            <a:r>
              <a:rPr lang="en-US" dirty="0" err="1">
                <a:solidFill>
                  <a:schemeClr val="tx1"/>
                </a:solidFill>
                <a:latin typeface="Consolas" panose="020B0609020204030204" pitchFamily="49" charset="0"/>
              </a:rPr>
              <a:t>feed_dict</a:t>
            </a:r>
            <a:r>
              <a:rPr lang="en-US" dirty="0">
                <a:solidFill>
                  <a:schemeClr val="tx1"/>
                </a:solidFill>
                <a:latin typeface="Consolas" panose="020B0609020204030204" pitchFamily="49" charset="0"/>
              </a:rPr>
              <a:t>: </a:t>
            </a:r>
            <a:r>
              <a:rPr lang="en-US" dirty="0" err="1">
                <a:solidFill>
                  <a:schemeClr val="accent5">
                    <a:lumMod val="75000"/>
                  </a:schemeClr>
                </a:solidFill>
                <a:latin typeface="Consolas" panose="020B0609020204030204" pitchFamily="49" charset="0"/>
              </a:rPr>
              <a:t>feed_dict</a:t>
            </a:r>
            <a:endParaRPr lang="en-US" dirty="0"/>
          </a:p>
          <a:p>
            <a:r>
              <a:rPr lang="en-US" dirty="0">
                <a:solidFill>
                  <a:schemeClr val="tx1"/>
                </a:solidFill>
                <a:latin typeface="Consolas" panose="020B0609020204030204" pitchFamily="49" charset="0"/>
              </a:rPr>
              <a:t> </a:t>
            </a:r>
          </a:p>
        </p:txBody>
      </p:sp>
      <p:cxnSp>
        <p:nvCxnSpPr>
          <p:cNvPr id="47" name="Straight Arrow Connector 46"/>
          <p:cNvCxnSpPr>
            <a:cxnSpLocks/>
          </p:cNvCxnSpPr>
          <p:nvPr/>
        </p:nvCxnSpPr>
        <p:spPr>
          <a:xfrm flipV="1">
            <a:off x="4341812" y="6464783"/>
            <a:ext cx="1066800" cy="20271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4621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9" y="533400"/>
            <a:ext cx="7328594" cy="914400"/>
          </a:xfrm>
        </p:spPr>
        <p:txBody>
          <a:bodyPr>
            <a:normAutofit fontScale="90000"/>
          </a:bodyPr>
          <a:lstStyle/>
          <a:p>
            <a:r>
              <a:rPr lang="en-US" sz="2800" dirty="0"/>
              <a:t>We created a </a:t>
            </a:r>
            <a:r>
              <a:rPr lang="en-US" sz="2800" dirty="0" err="1">
                <a:solidFill>
                  <a:schemeClr val="accent5">
                    <a:lumMod val="75000"/>
                  </a:schemeClr>
                </a:solidFill>
                <a:latin typeface="Consolas" panose="020B0609020204030204" pitchFamily="49" charset="0"/>
              </a:rPr>
              <a:t>feed_dict</a:t>
            </a:r>
            <a:r>
              <a:rPr lang="en-US" sz="2800" dirty="0"/>
              <a:t>, in advance, which tells the Session to use 3.0 and 2.0 for </a:t>
            </a:r>
            <a:r>
              <a:rPr lang="en-US" sz="2800" dirty="0">
                <a:solidFill>
                  <a:schemeClr val="accent5">
                    <a:lumMod val="75000"/>
                  </a:schemeClr>
                </a:solidFill>
                <a:latin typeface="Consolas" panose="020B0609020204030204" pitchFamily="49" charset="0"/>
              </a:rPr>
              <a:t>a</a:t>
            </a:r>
            <a:r>
              <a:rPr lang="en-US" sz="2800" dirty="0"/>
              <a:t> and </a:t>
            </a:r>
            <a:r>
              <a:rPr lang="en-US" sz="2800" dirty="0">
                <a:solidFill>
                  <a:schemeClr val="accent5">
                    <a:lumMod val="75000"/>
                  </a:schemeClr>
                </a:solidFill>
                <a:latin typeface="Consolas" panose="020B0609020204030204" pitchFamily="49" charset="0"/>
              </a:rPr>
              <a:t>b</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out = </a:t>
            </a:r>
            <a:r>
              <a:rPr lang="en-US" sz="2800" dirty="0" err="1">
                <a:solidFill>
                  <a:schemeClr val="accent5">
                    <a:lumMod val="75000"/>
                  </a:schemeClr>
                </a:solidFill>
                <a:latin typeface="Consolas" panose="020B0609020204030204" pitchFamily="49" charset="0"/>
              </a:rPr>
              <a:t>sess.run</a:t>
            </a:r>
            <a:r>
              <a:rPr lang="en-US" sz="2800" dirty="0">
                <a:solidFill>
                  <a:schemeClr val="accent5">
                    <a:lumMod val="75000"/>
                  </a:schemeClr>
                </a:solidFill>
                <a:latin typeface="Consolas" panose="020B0609020204030204" pitchFamily="49" charset="0"/>
              </a:rPr>
              <a:t>(d, </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7204448" y="4983273"/>
            <a:ext cx="3886200" cy="369332"/>
          </a:xfrm>
          <a:prstGeom prst="rect">
            <a:avLst/>
          </a:prstGeom>
        </p:spPr>
        <p:txBody>
          <a:bodyPr wrap="square">
            <a:spAutoFit/>
          </a:bodyPr>
          <a:lstStyle/>
          <a:p>
            <a:r>
              <a:rPr lang="en-US" dirty="0" err="1">
                <a:solidFill>
                  <a:schemeClr val="accent5">
                    <a:lumMod val="75000"/>
                  </a:schemeClr>
                </a:solidFill>
                <a:latin typeface="Consolas" panose="020B0609020204030204" pitchFamily="49" charset="0"/>
              </a:rPr>
              <a:t>feed_dict</a:t>
            </a:r>
            <a:r>
              <a:rPr lang="en-US" dirty="0">
                <a:solidFill>
                  <a:schemeClr val="accent5">
                    <a:lumMod val="75000"/>
                  </a:schemeClr>
                </a:solidFill>
                <a:latin typeface="Consolas" panose="020B0609020204030204" pitchFamily="49" charset="0"/>
              </a:rPr>
              <a:t>: {a: 3.0, b: 2.0}</a:t>
            </a:r>
            <a:endParaRPr lang="en-US" dirty="0"/>
          </a:p>
        </p:txBody>
      </p:sp>
      <p:cxnSp>
        <p:nvCxnSpPr>
          <p:cNvPr id="45" name="Straight Arrow Connector 44"/>
          <p:cNvCxnSpPr>
            <a:cxnSpLocks/>
          </p:cNvCxnSpPr>
          <p:nvPr/>
        </p:nvCxnSpPr>
        <p:spPr>
          <a:xfrm>
            <a:off x="6840292" y="4661099"/>
            <a:ext cx="464061" cy="32217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Hexagon 45"/>
          <p:cNvSpPr/>
          <p:nvPr/>
        </p:nvSpPr>
        <p:spPr>
          <a:xfrm>
            <a:off x="5027612" y="5652461"/>
            <a:ext cx="3625361" cy="976939"/>
          </a:xfrm>
          <a:prstGeom prst="hexag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r>
              <a:rPr lang="en-US" b="1" dirty="0">
                <a:solidFill>
                  <a:schemeClr val="tx1"/>
                </a:solidFill>
                <a:latin typeface="Consolas" panose="020B0609020204030204" pitchFamily="49" charset="0"/>
              </a:rPr>
              <a:t>run()</a:t>
            </a:r>
            <a:r>
              <a:rPr lang="en-US" dirty="0">
                <a:solidFill>
                  <a:schemeClr val="tx1"/>
                </a:solidFill>
                <a:latin typeface="Consolas" panose="020B0609020204030204" pitchFamily="49" charset="0"/>
              </a:rPr>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fetches: </a:t>
            </a:r>
            <a:r>
              <a:rPr lang="en-US" dirty="0">
                <a:solidFill>
                  <a:schemeClr val="accent5">
                    <a:lumMod val="75000"/>
                  </a:schemeClr>
                </a:solidFill>
                <a:latin typeface="Consolas" panose="020B0609020204030204" pitchFamily="49" charset="0"/>
              </a:rPr>
              <a:t>d</a:t>
            </a:r>
          </a:p>
          <a:p>
            <a:r>
              <a:rPr lang="en-US" dirty="0" err="1">
                <a:solidFill>
                  <a:schemeClr val="tx1"/>
                </a:solidFill>
                <a:latin typeface="Consolas" panose="020B0609020204030204" pitchFamily="49" charset="0"/>
              </a:rPr>
              <a:t>feed_dict</a:t>
            </a:r>
            <a:r>
              <a:rPr lang="en-US" dirty="0">
                <a:solidFill>
                  <a:schemeClr val="tx1"/>
                </a:solidFill>
                <a:latin typeface="Consolas" panose="020B0609020204030204" pitchFamily="49" charset="0"/>
              </a:rPr>
              <a:t>: </a:t>
            </a:r>
            <a:r>
              <a:rPr lang="en-US" dirty="0" err="1">
                <a:solidFill>
                  <a:schemeClr val="accent5">
                    <a:lumMod val="75000"/>
                  </a:schemeClr>
                </a:solidFill>
                <a:latin typeface="Consolas" panose="020B0609020204030204" pitchFamily="49" charset="0"/>
              </a:rPr>
              <a:t>feed_dict</a:t>
            </a:r>
            <a:endParaRPr lang="en-US" dirty="0"/>
          </a:p>
          <a:p>
            <a:r>
              <a:rPr lang="en-US" dirty="0">
                <a:solidFill>
                  <a:schemeClr val="tx1"/>
                </a:solidFill>
                <a:latin typeface="Consolas" panose="020B0609020204030204" pitchFamily="49" charset="0"/>
              </a:rPr>
              <a:t> </a:t>
            </a:r>
          </a:p>
        </p:txBody>
      </p:sp>
      <p:cxnSp>
        <p:nvCxnSpPr>
          <p:cNvPr id="47" name="Straight Arrow Connector 46"/>
          <p:cNvCxnSpPr>
            <a:cxnSpLocks/>
          </p:cNvCxnSpPr>
          <p:nvPr/>
        </p:nvCxnSpPr>
        <p:spPr>
          <a:xfrm flipH="1">
            <a:off x="7655480" y="5840078"/>
            <a:ext cx="430822" cy="4424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520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681393" cy="914400"/>
          </a:xfrm>
        </p:spPr>
        <p:txBody>
          <a:bodyPr>
            <a:normAutofit/>
          </a:bodyPr>
          <a:lstStyle/>
          <a:p>
            <a:r>
              <a:rPr lang="en-US" sz="2800" dirty="0" smtClean="0">
                <a:solidFill>
                  <a:schemeClr val="accent5">
                    <a:lumMod val="75000"/>
                  </a:schemeClr>
                </a:solidFill>
                <a:latin typeface="Consolas" panose="020B0609020204030204" pitchFamily="49" charset="0"/>
              </a:rPr>
              <a:t>placeholder</a:t>
            </a:r>
            <a:r>
              <a:rPr lang="en-US" sz="2800" dirty="0" smtClean="0"/>
              <a:t> Ops </a:t>
            </a:r>
            <a:r>
              <a:rPr lang="en-US" sz="2800" i="1" dirty="0"/>
              <a:t>must </a:t>
            </a:r>
            <a:r>
              <a:rPr lang="en-US" sz="2800" i="1" dirty="0" smtClean="0"/>
              <a:t>be </a:t>
            </a:r>
            <a:r>
              <a:rPr lang="en-US" sz="2800" dirty="0" smtClean="0"/>
              <a:t>feed a value</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out = </a:t>
            </a:r>
            <a:r>
              <a:rPr lang="en-US" sz="2800" dirty="0" err="1">
                <a:solidFill>
                  <a:schemeClr val="accent5">
                    <a:lumMod val="75000"/>
                  </a:schemeClr>
                </a:solidFill>
                <a:latin typeface="Consolas" panose="020B0609020204030204" pitchFamily="49" charset="0"/>
              </a:rPr>
              <a:t>sess.run</a:t>
            </a:r>
            <a:r>
              <a:rPr lang="en-US" sz="2800" dirty="0">
                <a:solidFill>
                  <a:schemeClr val="accent5">
                    <a:lumMod val="75000"/>
                  </a:schemeClr>
                </a:solidFill>
                <a:latin typeface="Consolas" panose="020B0609020204030204" pitchFamily="49" charset="0"/>
              </a:rPr>
              <a:t>(d, </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a:t>
            </a:r>
            <a:r>
              <a:rPr lang="en-US" sz="2800" dirty="0" err="1">
                <a:solidFill>
                  <a:schemeClr val="accent5">
                    <a:lumMod val="75000"/>
                  </a:schemeClr>
                </a:solidFill>
                <a:latin typeface="Consolas" panose="020B0609020204030204" pitchFamily="49" charset="0"/>
              </a:rPr>
              <a:t>feed_dict</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7204448" y="4983273"/>
            <a:ext cx="3886200" cy="369332"/>
          </a:xfrm>
          <a:prstGeom prst="rect">
            <a:avLst/>
          </a:prstGeom>
        </p:spPr>
        <p:txBody>
          <a:bodyPr wrap="square">
            <a:spAutoFit/>
          </a:bodyPr>
          <a:lstStyle/>
          <a:p>
            <a:r>
              <a:rPr lang="en-US" dirty="0" err="1">
                <a:solidFill>
                  <a:schemeClr val="accent5">
                    <a:lumMod val="75000"/>
                  </a:schemeClr>
                </a:solidFill>
                <a:latin typeface="Consolas" panose="020B0609020204030204" pitchFamily="49" charset="0"/>
              </a:rPr>
              <a:t>feed_dict</a:t>
            </a:r>
            <a:r>
              <a:rPr lang="en-US" dirty="0">
                <a:solidFill>
                  <a:schemeClr val="accent5">
                    <a:lumMod val="75000"/>
                  </a:schemeClr>
                </a:solidFill>
                <a:latin typeface="Consolas" panose="020B0609020204030204" pitchFamily="49" charset="0"/>
              </a:rPr>
              <a:t>: {a: 3.0, b: 2.0}</a:t>
            </a:r>
            <a:endParaRPr lang="en-US" dirty="0"/>
          </a:p>
        </p:txBody>
      </p:sp>
      <p:sp>
        <p:nvSpPr>
          <p:cNvPr id="46" name="Hexagon 45"/>
          <p:cNvSpPr/>
          <p:nvPr/>
        </p:nvSpPr>
        <p:spPr>
          <a:xfrm>
            <a:off x="5027612" y="5652461"/>
            <a:ext cx="3625361" cy="976939"/>
          </a:xfrm>
          <a:prstGeom prst="hexag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r>
              <a:rPr lang="en-US" b="1" dirty="0">
                <a:solidFill>
                  <a:schemeClr val="tx1"/>
                </a:solidFill>
                <a:latin typeface="Consolas" panose="020B0609020204030204" pitchFamily="49" charset="0"/>
              </a:rPr>
              <a:t>run()</a:t>
            </a:r>
            <a:r>
              <a:rPr lang="en-US" dirty="0">
                <a:solidFill>
                  <a:schemeClr val="tx1"/>
                </a:solidFill>
                <a:latin typeface="Consolas" panose="020B0609020204030204" pitchFamily="49" charset="0"/>
              </a:rPr>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fetches: </a:t>
            </a:r>
            <a:r>
              <a:rPr lang="en-US" dirty="0">
                <a:solidFill>
                  <a:schemeClr val="accent5">
                    <a:lumMod val="75000"/>
                  </a:schemeClr>
                </a:solidFill>
                <a:latin typeface="Consolas" panose="020B0609020204030204" pitchFamily="49" charset="0"/>
              </a:rPr>
              <a:t>d</a:t>
            </a:r>
          </a:p>
          <a:p>
            <a:r>
              <a:rPr lang="en-US" dirty="0" err="1">
                <a:solidFill>
                  <a:schemeClr val="tx1"/>
                </a:solidFill>
                <a:latin typeface="Consolas" panose="020B0609020204030204" pitchFamily="49" charset="0"/>
              </a:rPr>
              <a:t>feed_dict</a:t>
            </a:r>
            <a:r>
              <a:rPr lang="en-US" dirty="0">
                <a:solidFill>
                  <a:schemeClr val="tx1"/>
                </a:solidFill>
                <a:latin typeface="Consolas" panose="020B0609020204030204" pitchFamily="49" charset="0"/>
              </a:rPr>
              <a:t>: </a:t>
            </a:r>
            <a:r>
              <a:rPr lang="en-US" dirty="0" err="1">
                <a:solidFill>
                  <a:schemeClr val="accent5">
                    <a:lumMod val="75000"/>
                  </a:schemeClr>
                </a:solidFill>
                <a:latin typeface="Consolas" panose="020B0609020204030204" pitchFamily="49" charset="0"/>
              </a:rPr>
              <a:t>feed_dict</a:t>
            </a:r>
            <a:endParaRPr lang="en-US" dirty="0"/>
          </a:p>
          <a:p>
            <a:r>
              <a:rPr lang="en-US" dirty="0">
                <a:solidFill>
                  <a:schemeClr val="tx1"/>
                </a:solidFill>
                <a:latin typeface="Consolas" panose="020B0609020204030204" pitchFamily="49" charset="0"/>
              </a:rPr>
              <a:t> </a:t>
            </a:r>
          </a:p>
        </p:txBody>
      </p:sp>
    </p:spTree>
    <p:extLst>
      <p:ext uri="{BB962C8B-B14F-4D97-AF65-F5344CB8AC3E}">
        <p14:creationId xmlns:p14="http://schemas.microsoft.com/office/powerpoint/2010/main" val="4275998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7" y="533400"/>
            <a:ext cx="9614595" cy="914400"/>
          </a:xfrm>
        </p:spPr>
        <p:txBody>
          <a:bodyPr>
            <a:normAutofit/>
          </a:bodyPr>
          <a:lstStyle/>
          <a:p>
            <a:r>
              <a:rPr lang="en-US" sz="2800" dirty="0" err="1">
                <a:solidFill>
                  <a:schemeClr val="accent5">
                    <a:lumMod val="75000"/>
                  </a:schemeClr>
                </a:solidFill>
              </a:rPr>
              <a:t>s</a:t>
            </a:r>
            <a:r>
              <a:rPr lang="en-US" sz="2800" dirty="0" err="1" smtClean="0">
                <a:solidFill>
                  <a:schemeClr val="accent5">
                    <a:lumMod val="75000"/>
                  </a:schemeClr>
                </a:solidFill>
              </a:rPr>
              <a:t>ess.run</a:t>
            </a:r>
            <a:r>
              <a:rPr lang="en-US" sz="2800" dirty="0" smtClean="0">
                <a:solidFill>
                  <a:schemeClr val="accent5">
                    <a:lumMod val="75000"/>
                  </a:schemeClr>
                </a:solidFill>
              </a:rPr>
              <a:t> </a:t>
            </a:r>
            <a:r>
              <a:rPr lang="en-US" sz="2800" dirty="0" smtClean="0"/>
              <a:t>returns the fetched values as a </a:t>
            </a:r>
            <a:r>
              <a:rPr lang="en-US" sz="2800" dirty="0" err="1"/>
              <a:t>NumPy</a:t>
            </a:r>
            <a:r>
              <a:rPr lang="en-US" sz="2800" dirty="0"/>
              <a:t> </a:t>
            </a:r>
            <a:r>
              <a:rPr lang="en-US" sz="2800" dirty="0" smtClean="0"/>
              <a:t>array</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7204448" y="4983273"/>
            <a:ext cx="3886200" cy="369332"/>
          </a:xfrm>
          <a:prstGeom prst="rect">
            <a:avLst/>
          </a:prstGeom>
        </p:spPr>
        <p:txBody>
          <a:bodyPr wrap="square">
            <a:spAutoFit/>
          </a:bodyPr>
          <a:lstStyle/>
          <a:p>
            <a:r>
              <a:rPr lang="en-US" dirty="0" err="1">
                <a:solidFill>
                  <a:schemeClr val="accent5">
                    <a:lumMod val="75000"/>
                  </a:schemeClr>
                </a:solidFill>
                <a:latin typeface="Consolas" panose="020B0609020204030204" pitchFamily="49" charset="0"/>
              </a:rPr>
              <a:t>feed_dict</a:t>
            </a:r>
            <a:r>
              <a:rPr lang="en-US" dirty="0">
                <a:solidFill>
                  <a:schemeClr val="accent5">
                    <a:lumMod val="75000"/>
                  </a:schemeClr>
                </a:solidFill>
                <a:latin typeface="Consolas" panose="020B0609020204030204" pitchFamily="49" charset="0"/>
              </a:rPr>
              <a:t>: {a: 3.0, b: 2.0}</a:t>
            </a:r>
            <a:endParaRPr lang="en-US" dirty="0"/>
          </a:p>
        </p:txBody>
      </p:sp>
      <p:sp>
        <p:nvSpPr>
          <p:cNvPr id="43" name="Rectangle 42"/>
          <p:cNvSpPr/>
          <p:nvPr/>
        </p:nvSpPr>
        <p:spPr>
          <a:xfrm>
            <a:off x="7204448" y="5425792"/>
            <a:ext cx="3886200"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out = 15</a:t>
            </a:r>
            <a:endParaRPr lang="en-US" dirty="0"/>
          </a:p>
        </p:txBody>
      </p:sp>
    </p:spTree>
    <p:extLst>
      <p:ext uri="{BB962C8B-B14F-4D97-AF65-F5344CB8AC3E}">
        <p14:creationId xmlns:p14="http://schemas.microsoft.com/office/powerpoint/2010/main" val="1846568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605194" cy="914400"/>
          </a:xfrm>
        </p:spPr>
        <p:txBody>
          <a:bodyPr>
            <a:normAutofit/>
          </a:bodyPr>
          <a:lstStyle/>
          <a:p>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print(out)  # prints the value 15</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7204448" y="4983273"/>
            <a:ext cx="3886200" cy="369332"/>
          </a:xfrm>
          <a:prstGeom prst="rect">
            <a:avLst/>
          </a:prstGeom>
        </p:spPr>
        <p:txBody>
          <a:bodyPr wrap="square">
            <a:spAutoFit/>
          </a:bodyPr>
          <a:lstStyle/>
          <a:p>
            <a:r>
              <a:rPr lang="en-US" dirty="0" err="1">
                <a:solidFill>
                  <a:schemeClr val="accent5">
                    <a:lumMod val="75000"/>
                  </a:schemeClr>
                </a:solidFill>
                <a:latin typeface="Consolas" panose="020B0609020204030204" pitchFamily="49" charset="0"/>
              </a:rPr>
              <a:t>feed_dict</a:t>
            </a:r>
            <a:r>
              <a:rPr lang="en-US" dirty="0">
                <a:solidFill>
                  <a:schemeClr val="accent5">
                    <a:lumMod val="75000"/>
                  </a:schemeClr>
                </a:solidFill>
                <a:latin typeface="Consolas" panose="020B0609020204030204" pitchFamily="49" charset="0"/>
              </a:rPr>
              <a:t>: {a: 3.0, b: 2.0}</a:t>
            </a:r>
            <a:endParaRPr lang="en-US" dirty="0"/>
          </a:p>
        </p:txBody>
      </p:sp>
      <p:sp>
        <p:nvSpPr>
          <p:cNvPr id="43" name="Rectangle 42"/>
          <p:cNvSpPr/>
          <p:nvPr/>
        </p:nvSpPr>
        <p:spPr>
          <a:xfrm>
            <a:off x="7204448" y="5425792"/>
            <a:ext cx="3886200"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out = 15</a:t>
            </a:r>
            <a:endParaRPr lang="en-US" dirty="0"/>
          </a:p>
        </p:txBody>
      </p:sp>
    </p:spTree>
    <p:extLst>
      <p:ext uri="{BB962C8B-B14F-4D97-AF65-F5344CB8AC3E}">
        <p14:creationId xmlns:p14="http://schemas.microsoft.com/office/powerpoint/2010/main" val="239267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Variables</a:t>
            </a:r>
          </a:p>
        </p:txBody>
      </p:sp>
    </p:spTree>
    <p:extLst>
      <p:ext uri="{BB962C8B-B14F-4D97-AF65-F5344CB8AC3E}">
        <p14:creationId xmlns:p14="http://schemas.microsoft.com/office/powerpoint/2010/main" val="1567011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605194" cy="914400"/>
          </a:xfrm>
        </p:spPr>
        <p:txBody>
          <a:bodyPr>
            <a:normAutofit fontScale="90000"/>
          </a:bodyPr>
          <a:lstStyle/>
          <a:p>
            <a:r>
              <a:rPr lang="en-US" sz="2800" dirty="0"/>
              <a:t>Our basic graph is well and good, but it would be nice to have </a:t>
            </a:r>
            <a:r>
              <a:rPr lang="en-US" sz="2800" dirty="0" err="1"/>
              <a:t>stateful</a:t>
            </a:r>
            <a:r>
              <a:rPr lang="en-US" sz="2800" dirty="0"/>
              <a:t> information. We can use </a:t>
            </a:r>
            <a:r>
              <a:rPr lang="en-US" sz="2800" dirty="0">
                <a:solidFill>
                  <a:schemeClr val="accent5">
                    <a:lumMod val="75000"/>
                  </a:schemeClr>
                </a:solidFill>
                <a:latin typeface="Consolas" panose="020B0609020204030204" pitchFamily="49" charset="0"/>
              </a:rPr>
              <a:t>Variable</a:t>
            </a:r>
            <a:r>
              <a:rPr lang="en-US" sz="2800" dirty="0"/>
              <a:t> objects to accomplish this. </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grpSp>
        <p:nvGrpSpPr>
          <p:cNvPr id="25" name="Group 24"/>
          <p:cNvGrpSpPr/>
          <p:nvPr/>
        </p:nvGrpSpPr>
        <p:grpSpPr>
          <a:xfrm>
            <a:off x="7237412" y="2667000"/>
            <a:ext cx="3581400" cy="1828800"/>
            <a:chOff x="3046412" y="3200400"/>
            <a:chExt cx="5819774" cy="2971800"/>
          </a:xfrm>
        </p:grpSpPr>
        <p:sp>
          <p:nvSpPr>
            <p:cNvPr id="26" name="Rectangle: Rounded Corners 25"/>
            <p:cNvSpPr/>
            <p:nvPr/>
          </p:nvSpPr>
          <p:spPr>
            <a:xfrm>
              <a:off x="3046412" y="3200400"/>
              <a:ext cx="5819774" cy="29718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3198812" y="50292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4160837" y="5225534"/>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3198812" y="3352800"/>
              <a:ext cx="990600" cy="990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4179981" y="3548018"/>
              <a:ext cx="314197" cy="600165"/>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5408612" y="4191000"/>
              <a:ext cx="990600" cy="990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6283286" y="4346127"/>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4646613" y="4088216"/>
              <a:ext cx="761998" cy="413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4503610" y="4889340"/>
              <a:ext cx="905002" cy="5208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7469264" y="4191000"/>
              <a:ext cx="990600" cy="990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8367240" y="4377810"/>
              <a:ext cx="311304" cy="369332"/>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6707264" y="4724400"/>
              <a:ext cx="68254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4646613" y="3873542"/>
              <a:ext cx="2743200" cy="603884"/>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28933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605194" cy="914400"/>
          </a:xfrm>
        </p:spPr>
        <p:txBody>
          <a:bodyPr>
            <a:normAutofit fontScale="90000"/>
          </a:bodyPr>
          <a:lstStyle/>
          <a:p>
            <a:r>
              <a:rPr lang="en-US" sz="2800" dirty="0"/>
              <a:t>Our basic graph is well and good, but it would be nice to have </a:t>
            </a:r>
            <a:r>
              <a:rPr lang="en-US" sz="2800" dirty="0" err="1"/>
              <a:t>stateful</a:t>
            </a:r>
            <a:r>
              <a:rPr lang="en-US" sz="2800" dirty="0"/>
              <a:t> information. We can use </a:t>
            </a:r>
            <a:r>
              <a:rPr lang="en-US" sz="2800" dirty="0">
                <a:solidFill>
                  <a:schemeClr val="accent5">
                    <a:lumMod val="75000"/>
                  </a:schemeClr>
                </a:solidFill>
                <a:latin typeface="Consolas" panose="020B0609020204030204" pitchFamily="49" charset="0"/>
              </a:rPr>
              <a:t>Variable</a:t>
            </a:r>
            <a:r>
              <a:rPr lang="en-US" sz="2800" dirty="0"/>
              <a:t> objects to accomplish this. </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store = </a:t>
            </a:r>
            <a:r>
              <a:rPr lang="en-US" sz="2800" dirty="0" err="1">
                <a:solidFill>
                  <a:schemeClr val="accent5">
                    <a:lumMod val="75000"/>
                  </a:schemeClr>
                </a:solidFill>
                <a:latin typeface="Consolas" panose="020B0609020204030204" pitchFamily="49" charset="0"/>
              </a:rPr>
              <a:t>tf.Variable</a:t>
            </a:r>
            <a:r>
              <a:rPr lang="en-US" sz="2800" dirty="0">
                <a:solidFill>
                  <a:schemeClr val="accent5">
                    <a:lumMod val="75000"/>
                  </a:schemeClr>
                </a:solidFill>
                <a:latin typeface="Consolas" panose="020B0609020204030204" pitchFamily="49" charset="0"/>
              </a:rPr>
              <a:t>(0.0, name=“</a:t>
            </a:r>
            <a:r>
              <a:rPr lang="en-US" sz="2800" dirty="0" err="1">
                <a:solidFill>
                  <a:schemeClr val="accent5">
                    <a:lumMod val="75000"/>
                  </a:schemeClr>
                </a:solidFill>
                <a:latin typeface="Consolas" panose="020B0609020204030204" pitchFamily="49" charset="0"/>
              </a:rPr>
              <a:t>var</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4" name="Rectangle 3"/>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Tree>
    <p:extLst>
      <p:ext uri="{BB962C8B-B14F-4D97-AF65-F5344CB8AC3E}">
        <p14:creationId xmlns:p14="http://schemas.microsoft.com/office/powerpoint/2010/main" val="2495774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6795194" cy="914400"/>
          </a:xfrm>
        </p:spPr>
        <p:txBody>
          <a:bodyPr>
            <a:normAutofit/>
          </a:bodyPr>
          <a:lstStyle/>
          <a:p>
            <a:r>
              <a:rPr lang="en-US" sz="2800" dirty="0"/>
              <a:t>We need to pass in a initial value for our </a:t>
            </a:r>
            <a:r>
              <a:rPr lang="en-US" sz="2800" dirty="0">
                <a:solidFill>
                  <a:schemeClr val="accent5">
                    <a:lumMod val="75000"/>
                  </a:schemeClr>
                </a:solidFill>
                <a:latin typeface="Consolas" panose="020B0609020204030204" pitchFamily="49" charset="0"/>
              </a:rPr>
              <a:t>Variable</a:t>
            </a:r>
            <a:r>
              <a:rPr lang="en-US" sz="2800" dirty="0"/>
              <a:t>, and we’ll also give it a name. </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store = </a:t>
            </a:r>
            <a:r>
              <a:rPr lang="en-US" sz="2800" dirty="0" err="1">
                <a:solidFill>
                  <a:schemeClr val="accent5">
                    <a:lumMod val="75000"/>
                  </a:schemeClr>
                </a:solidFill>
                <a:latin typeface="Consolas" panose="020B0609020204030204" pitchFamily="49" charset="0"/>
              </a:rPr>
              <a:t>tf.Variable</a:t>
            </a:r>
            <a:r>
              <a:rPr lang="en-US" sz="2800" dirty="0">
                <a:solidFill>
                  <a:schemeClr val="accent5">
                    <a:lumMod val="75000"/>
                  </a:schemeClr>
                </a:solidFill>
                <a:latin typeface="Consolas" panose="020B0609020204030204" pitchFamily="49" charset="0"/>
              </a:rPr>
              <a:t>(0.0, name=“</a:t>
            </a:r>
            <a:r>
              <a:rPr lang="en-US" sz="2800" dirty="0" err="1">
                <a:solidFill>
                  <a:schemeClr val="accent5">
                    <a:lumMod val="75000"/>
                  </a:schemeClr>
                </a:solidFill>
                <a:latin typeface="Consolas" panose="020B0609020204030204" pitchFamily="49" charset="0"/>
              </a:rPr>
              <a:t>var</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4" name="Rectangle 23"/>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Tree>
    <p:extLst>
      <p:ext uri="{BB962C8B-B14F-4D97-AF65-F5344CB8AC3E}">
        <p14:creationId xmlns:p14="http://schemas.microsoft.com/office/powerpoint/2010/main" val="221161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6718994" cy="914400"/>
          </a:xfrm>
        </p:spPr>
        <p:txBody>
          <a:bodyPr>
            <a:normAutofit/>
          </a:bodyPr>
          <a:lstStyle/>
          <a:p>
            <a:r>
              <a:rPr lang="en-US" sz="2800" dirty="0"/>
              <a:t>Let’s also create an operation that allows us to increment the variable by 1</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inc</a:t>
            </a:r>
            <a:r>
              <a:rPr lang="en-US" sz="2800" dirty="0">
                <a:solidFill>
                  <a:schemeClr val="accent5">
                    <a:lumMod val="75000"/>
                  </a:schemeClr>
                </a:solidFill>
                <a:latin typeface="Consolas" panose="020B0609020204030204" pitchFamily="49" charset="0"/>
              </a:rPr>
              <a:t> = </a:t>
            </a:r>
            <a:r>
              <a:rPr lang="en-US" sz="2800" dirty="0" err="1">
                <a:solidFill>
                  <a:schemeClr val="accent5">
                    <a:lumMod val="75000"/>
                  </a:schemeClr>
                </a:solidFill>
                <a:latin typeface="Consolas" panose="020B0609020204030204" pitchFamily="49" charset="0"/>
              </a:rPr>
              <a:t>store.assign</a:t>
            </a:r>
            <a:r>
              <a:rPr lang="en-US" sz="2800" dirty="0">
                <a:solidFill>
                  <a:schemeClr val="accent5">
                    <a:lumMod val="75000"/>
                  </a:schemeClr>
                </a:solidFill>
                <a:latin typeface="Consolas" panose="020B0609020204030204" pitchFamily="49" charset="0"/>
              </a:rPr>
              <a:t>(store + 1)</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5" name="Oval 24"/>
          <p:cNvSpPr/>
          <p:nvPr/>
        </p:nvSpPr>
        <p:spPr>
          <a:xfrm>
            <a:off x="9958548" y="4495800"/>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3" name="Rectangle 42"/>
          <p:cNvSpPr/>
          <p:nvPr/>
        </p:nvSpPr>
        <p:spPr>
          <a:xfrm>
            <a:off x="10385439" y="4317942"/>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4" name="Straight Arrow Connector 43"/>
          <p:cNvCxnSpPr>
            <a:cxnSpLocks/>
          </p:cNvCxnSpPr>
          <p:nvPr/>
        </p:nvCxnSpPr>
        <p:spPr>
          <a:xfrm>
            <a:off x="9447212" y="4800600"/>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cxnSpLocks/>
          </p:cNvCxnSpPr>
          <p:nvPr/>
        </p:nvCxnSpPr>
        <p:spPr>
          <a:xfrm flipV="1">
            <a:off x="9910274" y="5181600"/>
            <a:ext cx="222738" cy="81274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Tree>
    <p:extLst>
      <p:ext uri="{BB962C8B-B14F-4D97-AF65-F5344CB8AC3E}">
        <p14:creationId xmlns:p14="http://schemas.microsoft.com/office/powerpoint/2010/main" val="4242328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452794" cy="914400"/>
          </a:xfrm>
        </p:spPr>
        <p:txBody>
          <a:bodyPr>
            <a:normAutofit/>
          </a:bodyPr>
          <a:lstStyle/>
          <a:p>
            <a:r>
              <a:rPr lang="en-US" sz="2800" dirty="0"/>
              <a:t>Note that our Session doesn’t have any value for our </a:t>
            </a:r>
            <a:r>
              <a:rPr lang="en-US" sz="2800" dirty="0">
                <a:solidFill>
                  <a:schemeClr val="accent5">
                    <a:lumMod val="75000"/>
                  </a:schemeClr>
                </a:solidFill>
                <a:latin typeface="Consolas" panose="020B0609020204030204" pitchFamily="49" charset="0"/>
              </a:rPr>
              <a:t>Variable</a:t>
            </a:r>
            <a:r>
              <a:rPr lang="en-US" sz="2800" dirty="0"/>
              <a:t> yet. </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5" name="Oval 24"/>
          <p:cNvSpPr/>
          <p:nvPr/>
        </p:nvSpPr>
        <p:spPr>
          <a:xfrm>
            <a:off x="9958548" y="4495800"/>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3" name="Rectangle 42"/>
          <p:cNvSpPr/>
          <p:nvPr/>
        </p:nvSpPr>
        <p:spPr>
          <a:xfrm>
            <a:off x="10385439" y="4317942"/>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4" name="Straight Arrow Connector 43"/>
          <p:cNvCxnSpPr>
            <a:cxnSpLocks/>
          </p:cNvCxnSpPr>
          <p:nvPr/>
        </p:nvCxnSpPr>
        <p:spPr>
          <a:xfrm>
            <a:off x="9447212" y="4800600"/>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cxnSpLocks/>
          </p:cNvCxnSpPr>
          <p:nvPr/>
        </p:nvCxnSpPr>
        <p:spPr>
          <a:xfrm flipH="1" flipV="1">
            <a:off x="4218287" y="4475757"/>
            <a:ext cx="1182030" cy="31139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Tree>
    <p:extLst>
      <p:ext uri="{BB962C8B-B14F-4D97-AF65-F5344CB8AC3E}">
        <p14:creationId xmlns:p14="http://schemas.microsoft.com/office/powerpoint/2010/main" val="3978440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8216689" cy="914400"/>
          </a:xfrm>
        </p:spPr>
        <p:txBody>
          <a:bodyPr>
            <a:normAutofit/>
          </a:bodyPr>
          <a:lstStyle/>
          <a:p>
            <a:r>
              <a:rPr lang="en-US" sz="2800" dirty="0"/>
              <a:t>For our </a:t>
            </a:r>
            <a:r>
              <a:rPr lang="en-US" sz="2800" dirty="0">
                <a:solidFill>
                  <a:schemeClr val="accent5">
                    <a:lumMod val="75000"/>
                  </a:schemeClr>
                </a:solidFill>
                <a:latin typeface="Consolas" panose="020B0609020204030204" pitchFamily="49" charset="0"/>
              </a:rPr>
              <a:t>Session</a:t>
            </a:r>
            <a:r>
              <a:rPr lang="en-US" sz="2800" dirty="0"/>
              <a:t> to use the </a:t>
            </a:r>
            <a:r>
              <a:rPr lang="en-US" sz="2800" dirty="0">
                <a:solidFill>
                  <a:schemeClr val="accent5">
                    <a:lumMod val="75000"/>
                  </a:schemeClr>
                </a:solidFill>
                <a:latin typeface="Consolas" panose="020B0609020204030204" pitchFamily="49" charset="0"/>
              </a:rPr>
              <a:t>Variable</a:t>
            </a:r>
            <a:r>
              <a:rPr lang="en-US" sz="2800" dirty="0"/>
              <a:t>, we have to </a:t>
            </a:r>
            <a:r>
              <a:rPr lang="en-US" sz="2800" i="1" dirty="0"/>
              <a:t>initialize</a:t>
            </a:r>
            <a:r>
              <a:rPr lang="en-US" sz="2800" dirty="0"/>
              <a:t> it. </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5" name="Oval 24"/>
          <p:cNvSpPr/>
          <p:nvPr/>
        </p:nvSpPr>
        <p:spPr>
          <a:xfrm>
            <a:off x="9958548" y="4495800"/>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3" name="Rectangle 42"/>
          <p:cNvSpPr/>
          <p:nvPr/>
        </p:nvSpPr>
        <p:spPr>
          <a:xfrm>
            <a:off x="10385439" y="4317942"/>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4" name="Straight Arrow Connector 43"/>
          <p:cNvCxnSpPr>
            <a:cxnSpLocks/>
          </p:cNvCxnSpPr>
          <p:nvPr/>
        </p:nvCxnSpPr>
        <p:spPr>
          <a:xfrm>
            <a:off x="9447212" y="4800600"/>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Tree>
    <p:extLst>
      <p:ext uri="{BB962C8B-B14F-4D97-AF65-F5344CB8AC3E}">
        <p14:creationId xmlns:p14="http://schemas.microsoft.com/office/powerpoint/2010/main" val="1631479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376594" cy="914400"/>
          </a:xfrm>
        </p:spPr>
        <p:txBody>
          <a:bodyPr>
            <a:normAutofit/>
          </a:bodyPr>
          <a:lstStyle/>
          <a:p>
            <a:r>
              <a:rPr lang="en-US" sz="2800" dirty="0"/>
              <a:t>First, we’ll create an initialization Op with </a:t>
            </a:r>
            <a:r>
              <a:rPr lang="en-US" sz="2800" dirty="0" err="1">
                <a:solidFill>
                  <a:schemeClr val="accent5">
                    <a:lumMod val="75000"/>
                  </a:schemeClr>
                </a:solidFill>
                <a:latin typeface="Consolas" panose="020B0609020204030204" pitchFamily="49" charset="0"/>
              </a:rPr>
              <a:t>tf.global_variables_initializer</a:t>
            </a:r>
            <a:r>
              <a:rPr lang="en-US" sz="2800" dirty="0">
                <a:solidFill>
                  <a:schemeClr val="accent5">
                    <a:lumMod val="75000"/>
                  </a:schemeClr>
                </a:solidFill>
                <a:latin typeface="Consolas" panose="020B0609020204030204" pitchFamily="49" charset="0"/>
              </a:rPr>
              <a:t>()</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init</a:t>
            </a:r>
            <a:r>
              <a:rPr lang="en-US" sz="2800" dirty="0">
                <a:solidFill>
                  <a:schemeClr val="accent5">
                    <a:lumMod val="75000"/>
                  </a:schemeClr>
                </a:solidFill>
                <a:latin typeface="Consolas" panose="020B0609020204030204" pitchFamily="49" charset="0"/>
              </a:rPr>
              <a:t> = </a:t>
            </a:r>
            <a:r>
              <a:rPr lang="en-US" sz="2800" dirty="0" err="1">
                <a:solidFill>
                  <a:schemeClr val="accent5">
                    <a:lumMod val="75000"/>
                  </a:schemeClr>
                </a:solidFill>
                <a:latin typeface="Consolas" panose="020B0609020204030204" pitchFamily="49" charset="0"/>
              </a:rPr>
              <a:t>tf.global_variables_initializer</a:t>
            </a:r>
            <a:r>
              <a:rPr lang="en-US" sz="2800" dirty="0">
                <a:solidFill>
                  <a:schemeClr val="accent5">
                    <a:lumMod val="75000"/>
                  </a:schemeClr>
                </a:solidFill>
                <a:latin typeface="Consolas" panose="020B0609020204030204" pitchFamily="49" charset="0"/>
              </a:rPr>
              <a:t>() </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5" name="Oval 24"/>
          <p:cNvSpPr/>
          <p:nvPr/>
        </p:nvSpPr>
        <p:spPr>
          <a:xfrm>
            <a:off x="9958548" y="4495800"/>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3" name="Rectangle 42"/>
          <p:cNvSpPr/>
          <p:nvPr/>
        </p:nvSpPr>
        <p:spPr>
          <a:xfrm>
            <a:off x="10385439" y="4317942"/>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4" name="Straight Arrow Connector 43"/>
          <p:cNvCxnSpPr>
            <a:cxnSpLocks/>
          </p:cNvCxnSpPr>
          <p:nvPr/>
        </p:nvCxnSpPr>
        <p:spPr>
          <a:xfrm>
            <a:off x="9447212" y="4800600"/>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
        <p:nvSpPr>
          <p:cNvPr id="46" name="Oval 45"/>
          <p:cNvSpPr/>
          <p:nvPr/>
        </p:nvSpPr>
        <p:spPr>
          <a:xfrm>
            <a:off x="7334037" y="4635534"/>
            <a:ext cx="609600" cy="6096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err="1">
                <a:solidFill>
                  <a:schemeClr val="tx1"/>
                </a:solidFill>
              </a:rPr>
              <a:t>init</a:t>
            </a:r>
            <a:endParaRPr lang="en-US" sz="1600" dirty="0">
              <a:solidFill>
                <a:schemeClr val="tx1"/>
              </a:solidFill>
            </a:endParaRPr>
          </a:p>
        </p:txBody>
      </p:sp>
      <p:sp>
        <p:nvSpPr>
          <p:cNvPr id="48" name="Rectangle 47"/>
          <p:cNvSpPr/>
          <p:nvPr/>
        </p:nvSpPr>
        <p:spPr>
          <a:xfrm>
            <a:off x="7771814" y="4475456"/>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init</a:t>
            </a:r>
            <a:endParaRPr lang="en-US" sz="1400" dirty="0"/>
          </a:p>
        </p:txBody>
      </p:sp>
      <p:cxnSp>
        <p:nvCxnSpPr>
          <p:cNvPr id="49" name="Straight Arrow Connector 48"/>
          <p:cNvCxnSpPr>
            <a:cxnSpLocks/>
          </p:cNvCxnSpPr>
          <p:nvPr/>
        </p:nvCxnSpPr>
        <p:spPr>
          <a:xfrm flipH="1">
            <a:off x="8018998" y="4824045"/>
            <a:ext cx="590014" cy="1162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6470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376594" cy="914400"/>
          </a:xfrm>
        </p:spPr>
        <p:txBody>
          <a:bodyPr>
            <a:normAutofit/>
          </a:bodyPr>
          <a:lstStyle/>
          <a:p>
            <a:r>
              <a:rPr lang="en-US" sz="2800" dirty="0"/>
              <a:t>Then run the </a:t>
            </a:r>
            <a:r>
              <a:rPr lang="en-US" sz="2800" dirty="0" err="1">
                <a:solidFill>
                  <a:schemeClr val="accent5">
                    <a:lumMod val="75000"/>
                  </a:schemeClr>
                </a:solidFill>
                <a:latin typeface="Consolas" panose="020B0609020204030204" pitchFamily="49" charset="0"/>
              </a:rPr>
              <a:t>init</a:t>
            </a:r>
            <a:r>
              <a:rPr lang="en-US" sz="2800" dirty="0"/>
              <a:t> Op in the </a:t>
            </a:r>
            <a:r>
              <a:rPr lang="en-US" sz="2800" dirty="0">
                <a:solidFill>
                  <a:schemeClr val="accent5">
                    <a:lumMod val="75000"/>
                  </a:schemeClr>
                </a:solidFill>
                <a:latin typeface="Consolas" panose="020B0609020204030204" pitchFamily="49" charset="0"/>
              </a:rPr>
              <a:t>Session</a:t>
            </a:r>
            <a:r>
              <a:rPr lang="en-US" sz="2800" dirty="0"/>
              <a:t> we want to use the variables</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sess.run</a:t>
            </a:r>
            <a:r>
              <a:rPr lang="en-US" sz="2800" dirty="0">
                <a:solidFill>
                  <a:schemeClr val="accent5">
                    <a:lumMod val="75000"/>
                  </a:schemeClr>
                </a:solidFill>
                <a:latin typeface="Consolas" panose="020B0609020204030204" pitchFamily="49" charset="0"/>
              </a:rPr>
              <a:t>(</a:t>
            </a:r>
            <a:r>
              <a:rPr lang="en-US" sz="2800" dirty="0" err="1">
                <a:solidFill>
                  <a:schemeClr val="accent5">
                    <a:lumMod val="75000"/>
                  </a:schemeClr>
                </a:solidFill>
                <a:latin typeface="Consolas" panose="020B0609020204030204" pitchFamily="49" charset="0"/>
              </a:rPr>
              <a:t>init</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a:t>
            </a:r>
          </a:p>
          <a:p>
            <a:pPr marL="285750" indent="-285750">
              <a:buFont typeface="Arial" panose="020B0604020202020204" pitchFamily="34" charset="0"/>
              <a:buChar char="•"/>
            </a:pPr>
            <a:r>
              <a:rPr lang="en-US" dirty="0"/>
              <a:t>“</a:t>
            </a:r>
            <a:r>
              <a:rPr lang="en-US" dirty="0" err="1"/>
              <a:t>var</a:t>
            </a:r>
            <a:r>
              <a:rPr lang="en-US" dirty="0"/>
              <a:t>” :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5" name="Oval 24"/>
          <p:cNvSpPr/>
          <p:nvPr/>
        </p:nvSpPr>
        <p:spPr>
          <a:xfrm>
            <a:off x="9958548" y="4495800"/>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3" name="Rectangle 42"/>
          <p:cNvSpPr/>
          <p:nvPr/>
        </p:nvSpPr>
        <p:spPr>
          <a:xfrm>
            <a:off x="10385439" y="4317942"/>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4" name="Straight Arrow Connector 43"/>
          <p:cNvCxnSpPr>
            <a:cxnSpLocks/>
          </p:cNvCxnSpPr>
          <p:nvPr/>
        </p:nvCxnSpPr>
        <p:spPr>
          <a:xfrm>
            <a:off x="9447212" y="4800600"/>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
        <p:nvSpPr>
          <p:cNvPr id="46" name="Oval 45"/>
          <p:cNvSpPr/>
          <p:nvPr/>
        </p:nvSpPr>
        <p:spPr>
          <a:xfrm>
            <a:off x="7334037" y="4635534"/>
            <a:ext cx="609600" cy="6096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err="1">
                <a:solidFill>
                  <a:schemeClr val="tx1"/>
                </a:solidFill>
              </a:rPr>
              <a:t>init</a:t>
            </a:r>
            <a:endParaRPr lang="en-US" sz="1600" dirty="0">
              <a:solidFill>
                <a:schemeClr val="tx1"/>
              </a:solidFill>
            </a:endParaRPr>
          </a:p>
        </p:txBody>
      </p:sp>
      <p:sp>
        <p:nvSpPr>
          <p:cNvPr id="48" name="Rectangle 47"/>
          <p:cNvSpPr/>
          <p:nvPr/>
        </p:nvSpPr>
        <p:spPr>
          <a:xfrm>
            <a:off x="7771814" y="4475456"/>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init</a:t>
            </a:r>
            <a:endParaRPr lang="en-US" sz="1400" dirty="0"/>
          </a:p>
        </p:txBody>
      </p:sp>
      <p:cxnSp>
        <p:nvCxnSpPr>
          <p:cNvPr id="49" name="Straight Arrow Connector 48"/>
          <p:cNvCxnSpPr>
            <a:cxnSpLocks/>
          </p:cNvCxnSpPr>
          <p:nvPr/>
        </p:nvCxnSpPr>
        <p:spPr>
          <a:xfrm flipH="1">
            <a:off x="8018998" y="4824045"/>
            <a:ext cx="590014" cy="1162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Hexagon 49"/>
          <p:cNvSpPr/>
          <p:nvPr/>
        </p:nvSpPr>
        <p:spPr>
          <a:xfrm>
            <a:off x="5027612" y="5652461"/>
            <a:ext cx="3625361" cy="976939"/>
          </a:xfrm>
          <a:prstGeom prst="hexag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r>
              <a:rPr lang="en-US" b="1" dirty="0">
                <a:solidFill>
                  <a:schemeClr val="tx1"/>
                </a:solidFill>
                <a:latin typeface="Consolas" panose="020B0609020204030204" pitchFamily="49" charset="0"/>
              </a:rPr>
              <a:t>run()</a:t>
            </a:r>
            <a:r>
              <a:rPr lang="en-US" dirty="0">
                <a:solidFill>
                  <a:schemeClr val="tx1"/>
                </a:solidFill>
                <a:latin typeface="Consolas" panose="020B0609020204030204" pitchFamily="49" charset="0"/>
              </a:rPr>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fetches: </a:t>
            </a:r>
            <a:r>
              <a:rPr lang="en-US" dirty="0" err="1">
                <a:solidFill>
                  <a:schemeClr val="accent5">
                    <a:lumMod val="75000"/>
                  </a:schemeClr>
                </a:solidFill>
                <a:latin typeface="Consolas" panose="020B0609020204030204" pitchFamily="49" charset="0"/>
              </a:rPr>
              <a:t>init</a:t>
            </a:r>
            <a:endParaRPr lang="en-US" dirty="0">
              <a:solidFill>
                <a:schemeClr val="accent5">
                  <a:lumMod val="75000"/>
                </a:schemeClr>
              </a:solidFill>
              <a:latin typeface="Consolas" panose="020B0609020204030204" pitchFamily="49" charset="0"/>
            </a:endParaRPr>
          </a:p>
          <a:p>
            <a:r>
              <a:rPr lang="en-US" dirty="0" err="1">
                <a:solidFill>
                  <a:schemeClr val="tx1"/>
                </a:solidFill>
                <a:latin typeface="Consolas" panose="020B0609020204030204" pitchFamily="49" charset="0"/>
              </a:rPr>
              <a:t>feed_dict</a:t>
            </a:r>
            <a:r>
              <a:rPr lang="en-US" dirty="0">
                <a:solidFill>
                  <a:schemeClr val="tx1"/>
                </a:solidFill>
                <a:latin typeface="Consolas" panose="020B0609020204030204" pitchFamily="49" charset="0"/>
              </a:rPr>
              <a:t>: </a:t>
            </a:r>
            <a:r>
              <a:rPr lang="en-US" dirty="0">
                <a:solidFill>
                  <a:schemeClr val="accent5">
                    <a:lumMod val="75000"/>
                  </a:schemeClr>
                </a:solidFill>
                <a:latin typeface="Consolas" panose="020B0609020204030204" pitchFamily="49" charset="0"/>
              </a:rPr>
              <a:t>None</a:t>
            </a:r>
            <a:endParaRPr lang="en-US" dirty="0"/>
          </a:p>
          <a:p>
            <a:r>
              <a:rPr lang="en-US" dirty="0">
                <a:solidFill>
                  <a:schemeClr val="tx1"/>
                </a:solidFill>
                <a:latin typeface="Consolas" panose="020B0609020204030204" pitchFamily="49" charset="0"/>
              </a:rPr>
              <a:t> </a:t>
            </a:r>
          </a:p>
        </p:txBody>
      </p:sp>
    </p:spTree>
    <p:extLst>
      <p:ext uri="{BB962C8B-B14F-4D97-AF65-F5344CB8AC3E}">
        <p14:creationId xmlns:p14="http://schemas.microsoft.com/office/powerpoint/2010/main" val="2446918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6567596" cy="914400"/>
          </a:xfrm>
        </p:spPr>
        <p:txBody>
          <a:bodyPr>
            <a:normAutofit fontScale="90000"/>
          </a:bodyPr>
          <a:lstStyle/>
          <a:p>
            <a:r>
              <a:rPr lang="en-US" sz="2800" dirty="0" err="1">
                <a:solidFill>
                  <a:schemeClr val="accent5">
                    <a:lumMod val="75000"/>
                  </a:schemeClr>
                </a:solidFill>
                <a:latin typeface="Consolas" panose="020B0609020204030204" pitchFamily="49" charset="0"/>
              </a:rPr>
              <a:t>init</a:t>
            </a:r>
            <a:r>
              <a:rPr lang="en-US" sz="2800" dirty="0"/>
              <a:t> reads the initial value from the variable and assigns it to the Session’s store</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sess.run</a:t>
            </a:r>
            <a:r>
              <a:rPr lang="en-US" sz="2800" dirty="0">
                <a:solidFill>
                  <a:schemeClr val="accent5">
                    <a:lumMod val="75000"/>
                  </a:schemeClr>
                </a:solidFill>
                <a:latin typeface="Consolas" panose="020B0609020204030204" pitchFamily="49" charset="0"/>
              </a:rPr>
              <a:t>(</a:t>
            </a:r>
            <a:r>
              <a:rPr lang="en-US" sz="2800" dirty="0" err="1">
                <a:solidFill>
                  <a:schemeClr val="accent5">
                    <a:lumMod val="75000"/>
                  </a:schemeClr>
                </a:solidFill>
                <a:latin typeface="Consolas" panose="020B0609020204030204" pitchFamily="49" charset="0"/>
              </a:rPr>
              <a:t>init</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a:t>
            </a:r>
          </a:p>
          <a:p>
            <a:pPr marL="285750" indent="-285750">
              <a:buFont typeface="Arial" panose="020B0604020202020204" pitchFamily="34" charset="0"/>
              <a:buChar char="•"/>
            </a:pPr>
            <a:r>
              <a:rPr lang="en-US" dirty="0"/>
              <a:t>“</a:t>
            </a:r>
            <a:r>
              <a:rPr lang="en-US" dirty="0" err="1"/>
              <a:t>var</a:t>
            </a:r>
            <a:r>
              <a:rPr lang="en-US" dirty="0"/>
              <a:t>” :  </a:t>
            </a:r>
            <a:r>
              <a:rPr lang="en-US" dirty="0">
                <a:solidFill>
                  <a:schemeClr val="accent5">
                    <a:lumMod val="75000"/>
                  </a:schemeClr>
                </a:solidFill>
                <a:latin typeface="Consolas" panose="020B0609020204030204" pitchFamily="49" charset="0"/>
              </a:rPr>
              <a:t>0.0</a:t>
            </a:r>
            <a:r>
              <a:rPr lang="en-US" dirty="0"/>
              <a:t>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5" name="Oval 24"/>
          <p:cNvSpPr/>
          <p:nvPr/>
        </p:nvSpPr>
        <p:spPr>
          <a:xfrm>
            <a:off x="9958548" y="4495800"/>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3" name="Rectangle 42"/>
          <p:cNvSpPr/>
          <p:nvPr/>
        </p:nvSpPr>
        <p:spPr>
          <a:xfrm>
            <a:off x="10385439" y="4317942"/>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4" name="Straight Arrow Connector 43"/>
          <p:cNvCxnSpPr>
            <a:cxnSpLocks/>
          </p:cNvCxnSpPr>
          <p:nvPr/>
        </p:nvCxnSpPr>
        <p:spPr>
          <a:xfrm>
            <a:off x="9447212" y="4800600"/>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
        <p:nvSpPr>
          <p:cNvPr id="46" name="Oval 45"/>
          <p:cNvSpPr/>
          <p:nvPr/>
        </p:nvSpPr>
        <p:spPr>
          <a:xfrm>
            <a:off x="7334037" y="4635534"/>
            <a:ext cx="609600" cy="6096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err="1">
                <a:solidFill>
                  <a:schemeClr val="tx1"/>
                </a:solidFill>
              </a:rPr>
              <a:t>init</a:t>
            </a:r>
            <a:endParaRPr lang="en-US" sz="1600" dirty="0">
              <a:solidFill>
                <a:schemeClr val="tx1"/>
              </a:solidFill>
            </a:endParaRPr>
          </a:p>
        </p:txBody>
      </p:sp>
      <p:sp>
        <p:nvSpPr>
          <p:cNvPr id="48" name="Rectangle 47"/>
          <p:cNvSpPr/>
          <p:nvPr/>
        </p:nvSpPr>
        <p:spPr>
          <a:xfrm>
            <a:off x="7771814" y="4475456"/>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init</a:t>
            </a:r>
            <a:endParaRPr lang="en-US" sz="1400" dirty="0"/>
          </a:p>
        </p:txBody>
      </p:sp>
      <p:cxnSp>
        <p:nvCxnSpPr>
          <p:cNvPr id="49" name="Straight Arrow Connector 48"/>
          <p:cNvCxnSpPr>
            <a:cxnSpLocks/>
          </p:cNvCxnSpPr>
          <p:nvPr/>
        </p:nvCxnSpPr>
        <p:spPr>
          <a:xfrm flipH="1">
            <a:off x="8018998" y="4824045"/>
            <a:ext cx="590014" cy="1162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Hexagon 49"/>
          <p:cNvSpPr/>
          <p:nvPr/>
        </p:nvSpPr>
        <p:spPr>
          <a:xfrm>
            <a:off x="5027612" y="5652461"/>
            <a:ext cx="3625361" cy="976939"/>
          </a:xfrm>
          <a:prstGeom prst="hexag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r>
              <a:rPr lang="en-US" b="1" dirty="0">
                <a:solidFill>
                  <a:schemeClr val="tx1"/>
                </a:solidFill>
                <a:latin typeface="Consolas" panose="020B0609020204030204" pitchFamily="49" charset="0"/>
              </a:rPr>
              <a:t>run()</a:t>
            </a:r>
            <a:r>
              <a:rPr lang="en-US" dirty="0">
                <a:solidFill>
                  <a:schemeClr val="tx1"/>
                </a:solidFill>
                <a:latin typeface="Consolas" panose="020B0609020204030204" pitchFamily="49" charset="0"/>
              </a:rPr>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fetches: </a:t>
            </a:r>
            <a:r>
              <a:rPr lang="en-US" dirty="0" err="1">
                <a:solidFill>
                  <a:schemeClr val="accent5">
                    <a:lumMod val="75000"/>
                  </a:schemeClr>
                </a:solidFill>
                <a:latin typeface="Consolas" panose="020B0609020204030204" pitchFamily="49" charset="0"/>
              </a:rPr>
              <a:t>init</a:t>
            </a:r>
            <a:endParaRPr lang="en-US" dirty="0">
              <a:solidFill>
                <a:schemeClr val="accent5">
                  <a:lumMod val="75000"/>
                </a:schemeClr>
              </a:solidFill>
              <a:latin typeface="Consolas" panose="020B0609020204030204" pitchFamily="49" charset="0"/>
            </a:endParaRPr>
          </a:p>
          <a:p>
            <a:r>
              <a:rPr lang="en-US" dirty="0" err="1">
                <a:solidFill>
                  <a:schemeClr val="tx1"/>
                </a:solidFill>
                <a:latin typeface="Consolas" panose="020B0609020204030204" pitchFamily="49" charset="0"/>
              </a:rPr>
              <a:t>feed_dict</a:t>
            </a:r>
            <a:r>
              <a:rPr lang="en-US" dirty="0">
                <a:solidFill>
                  <a:schemeClr val="tx1"/>
                </a:solidFill>
                <a:latin typeface="Consolas" panose="020B0609020204030204" pitchFamily="49" charset="0"/>
              </a:rPr>
              <a:t>: </a:t>
            </a:r>
            <a:r>
              <a:rPr lang="en-US" dirty="0">
                <a:solidFill>
                  <a:schemeClr val="accent5">
                    <a:lumMod val="75000"/>
                  </a:schemeClr>
                </a:solidFill>
                <a:latin typeface="Consolas" panose="020B0609020204030204" pitchFamily="49" charset="0"/>
              </a:rPr>
              <a:t>None</a:t>
            </a:r>
            <a:endParaRPr lang="en-US" dirty="0"/>
          </a:p>
          <a:p>
            <a:r>
              <a:rPr lang="en-US" dirty="0">
                <a:solidFill>
                  <a:schemeClr val="tx1"/>
                </a:solidFill>
                <a:latin typeface="Consolas" panose="020B0609020204030204" pitchFamily="49" charset="0"/>
              </a:rPr>
              <a:t> </a:t>
            </a:r>
          </a:p>
        </p:txBody>
      </p:sp>
      <p:cxnSp>
        <p:nvCxnSpPr>
          <p:cNvPr id="51" name="Straight Arrow Connector 50"/>
          <p:cNvCxnSpPr>
            <a:cxnSpLocks/>
          </p:cNvCxnSpPr>
          <p:nvPr/>
        </p:nvCxnSpPr>
        <p:spPr>
          <a:xfrm flipH="1" flipV="1">
            <a:off x="3299468" y="4491877"/>
            <a:ext cx="3780083" cy="3903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cxnSpLocks/>
          </p:cNvCxnSpPr>
          <p:nvPr/>
        </p:nvCxnSpPr>
        <p:spPr>
          <a:xfrm flipH="1">
            <a:off x="8002601" y="4827292"/>
            <a:ext cx="615757" cy="11485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4090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224194" cy="914400"/>
          </a:xfrm>
        </p:spPr>
        <p:txBody>
          <a:bodyPr>
            <a:normAutofit/>
          </a:bodyPr>
          <a:lstStyle/>
          <a:p>
            <a:r>
              <a:rPr lang="en-US" sz="2800" dirty="0"/>
              <a:t>Now the </a:t>
            </a:r>
            <a:r>
              <a:rPr lang="en-US" sz="2800" dirty="0">
                <a:solidFill>
                  <a:schemeClr val="accent5">
                    <a:lumMod val="75000"/>
                  </a:schemeClr>
                </a:solidFill>
                <a:latin typeface="Consolas" panose="020B0609020204030204" pitchFamily="49" charset="0"/>
              </a:rPr>
              <a:t>Session</a:t>
            </a:r>
            <a:r>
              <a:rPr lang="en-US" sz="2800" dirty="0"/>
              <a:t> will persist that value across multiple runs</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a:t>
            </a:r>
          </a:p>
          <a:p>
            <a:pPr marL="285750" indent="-285750">
              <a:buFont typeface="Arial" panose="020B0604020202020204" pitchFamily="34" charset="0"/>
              <a:buChar char="•"/>
            </a:pPr>
            <a:r>
              <a:rPr lang="en-US" dirty="0"/>
              <a:t>“</a:t>
            </a:r>
            <a:r>
              <a:rPr lang="en-US" dirty="0" err="1"/>
              <a:t>var</a:t>
            </a:r>
            <a:r>
              <a:rPr lang="en-US" dirty="0"/>
              <a:t>” :  </a:t>
            </a:r>
            <a:r>
              <a:rPr lang="en-US" dirty="0">
                <a:solidFill>
                  <a:schemeClr val="accent5">
                    <a:lumMod val="75000"/>
                  </a:schemeClr>
                </a:solidFill>
                <a:latin typeface="Consolas" panose="020B0609020204030204" pitchFamily="49" charset="0"/>
              </a:rPr>
              <a:t>0.0</a:t>
            </a:r>
            <a:r>
              <a:rPr lang="en-US" dirty="0"/>
              <a:t>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5" name="Oval 24"/>
          <p:cNvSpPr/>
          <p:nvPr/>
        </p:nvSpPr>
        <p:spPr>
          <a:xfrm>
            <a:off x="9958548" y="4495800"/>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3" name="Rectangle 42"/>
          <p:cNvSpPr/>
          <p:nvPr/>
        </p:nvSpPr>
        <p:spPr>
          <a:xfrm>
            <a:off x="10385439" y="4317942"/>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4" name="Straight Arrow Connector 43"/>
          <p:cNvCxnSpPr>
            <a:cxnSpLocks/>
          </p:cNvCxnSpPr>
          <p:nvPr/>
        </p:nvCxnSpPr>
        <p:spPr>
          <a:xfrm>
            <a:off x="9447212" y="4800600"/>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
        <p:nvSpPr>
          <p:cNvPr id="46" name="Oval 45"/>
          <p:cNvSpPr/>
          <p:nvPr/>
        </p:nvSpPr>
        <p:spPr>
          <a:xfrm>
            <a:off x="7334037" y="4635534"/>
            <a:ext cx="609600" cy="6096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err="1">
                <a:solidFill>
                  <a:schemeClr val="tx1"/>
                </a:solidFill>
              </a:rPr>
              <a:t>init</a:t>
            </a:r>
            <a:endParaRPr lang="en-US" sz="1600" dirty="0">
              <a:solidFill>
                <a:schemeClr val="tx1"/>
              </a:solidFill>
            </a:endParaRPr>
          </a:p>
        </p:txBody>
      </p:sp>
      <p:sp>
        <p:nvSpPr>
          <p:cNvPr id="48" name="Rectangle 47"/>
          <p:cNvSpPr/>
          <p:nvPr/>
        </p:nvSpPr>
        <p:spPr>
          <a:xfrm>
            <a:off x="7771814" y="4475456"/>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init</a:t>
            </a:r>
            <a:endParaRPr lang="en-US" sz="1400" dirty="0"/>
          </a:p>
        </p:txBody>
      </p:sp>
      <p:cxnSp>
        <p:nvCxnSpPr>
          <p:cNvPr id="49" name="Straight Arrow Connector 48"/>
          <p:cNvCxnSpPr>
            <a:cxnSpLocks/>
          </p:cNvCxnSpPr>
          <p:nvPr/>
        </p:nvCxnSpPr>
        <p:spPr>
          <a:xfrm flipH="1">
            <a:off x="8018998" y="4824045"/>
            <a:ext cx="590014" cy="1162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67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224194" cy="914400"/>
          </a:xfrm>
        </p:spPr>
        <p:txBody>
          <a:bodyPr>
            <a:normAutofit/>
          </a:bodyPr>
          <a:lstStyle/>
          <a:p>
            <a:r>
              <a:rPr lang="en-US" sz="2800" dirty="0"/>
              <a:t>We can increment the value by one with our </a:t>
            </a:r>
            <a:r>
              <a:rPr lang="en-US" sz="2800" dirty="0" err="1">
                <a:solidFill>
                  <a:schemeClr val="accent5">
                    <a:lumMod val="75000"/>
                  </a:schemeClr>
                </a:solidFill>
                <a:latin typeface="Consolas" panose="020B0609020204030204" pitchFamily="49" charset="0"/>
              </a:rPr>
              <a:t>inc</a:t>
            </a:r>
            <a:r>
              <a:rPr lang="en-US" sz="2800" dirty="0"/>
              <a:t> Op</a:t>
            </a:r>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sess.run</a:t>
            </a:r>
            <a:r>
              <a:rPr lang="en-US" sz="2800" dirty="0">
                <a:solidFill>
                  <a:schemeClr val="accent5">
                    <a:lumMod val="75000"/>
                  </a:schemeClr>
                </a:solidFill>
                <a:latin typeface="Consolas" panose="020B0609020204030204" pitchFamily="49" charset="0"/>
              </a:rPr>
              <a:t>(</a:t>
            </a:r>
            <a:r>
              <a:rPr lang="en-US" sz="2800" dirty="0" err="1">
                <a:solidFill>
                  <a:schemeClr val="accent5">
                    <a:lumMod val="75000"/>
                  </a:schemeClr>
                </a:solidFill>
                <a:latin typeface="Consolas" panose="020B0609020204030204" pitchFamily="49" charset="0"/>
              </a:rPr>
              <a:t>inc</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a:t>
            </a:r>
          </a:p>
          <a:p>
            <a:pPr marL="285750" indent="-285750">
              <a:buFont typeface="Arial" panose="020B0604020202020204" pitchFamily="34" charset="0"/>
              <a:buChar char="•"/>
            </a:pPr>
            <a:r>
              <a:rPr lang="en-US" dirty="0"/>
              <a:t>“</a:t>
            </a:r>
            <a:r>
              <a:rPr lang="en-US" dirty="0" err="1"/>
              <a:t>var</a:t>
            </a:r>
            <a:r>
              <a:rPr lang="en-US" dirty="0"/>
              <a:t>” :  </a:t>
            </a:r>
            <a:r>
              <a:rPr lang="en-US" dirty="0">
                <a:solidFill>
                  <a:schemeClr val="accent5">
                    <a:lumMod val="75000"/>
                  </a:schemeClr>
                </a:solidFill>
                <a:latin typeface="Consolas" panose="020B0609020204030204" pitchFamily="49" charset="0"/>
              </a:rPr>
              <a:t>0.0</a:t>
            </a:r>
            <a:r>
              <a:rPr lang="en-US" dirty="0"/>
              <a:t>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5" name="Oval 24"/>
          <p:cNvSpPr/>
          <p:nvPr/>
        </p:nvSpPr>
        <p:spPr>
          <a:xfrm>
            <a:off x="9958548" y="4495800"/>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3" name="Rectangle 42"/>
          <p:cNvSpPr/>
          <p:nvPr/>
        </p:nvSpPr>
        <p:spPr>
          <a:xfrm>
            <a:off x="10385439" y="4317942"/>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4" name="Straight Arrow Connector 43"/>
          <p:cNvCxnSpPr>
            <a:cxnSpLocks/>
          </p:cNvCxnSpPr>
          <p:nvPr/>
        </p:nvCxnSpPr>
        <p:spPr>
          <a:xfrm>
            <a:off x="9447212" y="4800600"/>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
        <p:nvSpPr>
          <p:cNvPr id="46" name="Oval 45"/>
          <p:cNvSpPr/>
          <p:nvPr/>
        </p:nvSpPr>
        <p:spPr>
          <a:xfrm>
            <a:off x="7334037" y="4635534"/>
            <a:ext cx="609600" cy="6096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err="1">
                <a:solidFill>
                  <a:schemeClr val="tx1"/>
                </a:solidFill>
              </a:rPr>
              <a:t>init</a:t>
            </a:r>
            <a:endParaRPr lang="en-US" sz="1600" dirty="0">
              <a:solidFill>
                <a:schemeClr val="tx1"/>
              </a:solidFill>
            </a:endParaRPr>
          </a:p>
        </p:txBody>
      </p:sp>
      <p:sp>
        <p:nvSpPr>
          <p:cNvPr id="48" name="Rectangle 47"/>
          <p:cNvSpPr/>
          <p:nvPr/>
        </p:nvSpPr>
        <p:spPr>
          <a:xfrm>
            <a:off x="7771814" y="4475456"/>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init</a:t>
            </a:r>
            <a:endParaRPr lang="en-US" sz="1400" dirty="0"/>
          </a:p>
        </p:txBody>
      </p:sp>
      <p:cxnSp>
        <p:nvCxnSpPr>
          <p:cNvPr id="49" name="Straight Arrow Connector 48"/>
          <p:cNvCxnSpPr>
            <a:cxnSpLocks/>
          </p:cNvCxnSpPr>
          <p:nvPr/>
        </p:nvCxnSpPr>
        <p:spPr>
          <a:xfrm flipH="1">
            <a:off x="8018998" y="4824045"/>
            <a:ext cx="590014" cy="1162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Hexagon 44"/>
          <p:cNvSpPr/>
          <p:nvPr/>
        </p:nvSpPr>
        <p:spPr>
          <a:xfrm>
            <a:off x="5027612" y="5652461"/>
            <a:ext cx="3625361" cy="976939"/>
          </a:xfrm>
          <a:prstGeom prst="hexag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r>
              <a:rPr lang="en-US" b="1" dirty="0">
                <a:solidFill>
                  <a:schemeClr val="tx1"/>
                </a:solidFill>
                <a:latin typeface="Consolas" panose="020B0609020204030204" pitchFamily="49" charset="0"/>
              </a:rPr>
              <a:t>run()</a:t>
            </a:r>
            <a:r>
              <a:rPr lang="en-US" dirty="0">
                <a:solidFill>
                  <a:schemeClr val="tx1"/>
                </a:solidFill>
                <a:latin typeface="Consolas" panose="020B0609020204030204" pitchFamily="49" charset="0"/>
              </a:rPr>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fetches: </a:t>
            </a:r>
            <a:r>
              <a:rPr lang="en-US" dirty="0" err="1">
                <a:solidFill>
                  <a:schemeClr val="accent5">
                    <a:lumMod val="75000"/>
                  </a:schemeClr>
                </a:solidFill>
                <a:latin typeface="Consolas" panose="020B0609020204030204" pitchFamily="49" charset="0"/>
              </a:rPr>
              <a:t>inc</a:t>
            </a:r>
            <a:endParaRPr lang="en-US" dirty="0">
              <a:solidFill>
                <a:schemeClr val="accent5">
                  <a:lumMod val="75000"/>
                </a:schemeClr>
              </a:solidFill>
              <a:latin typeface="Consolas" panose="020B0609020204030204" pitchFamily="49" charset="0"/>
            </a:endParaRPr>
          </a:p>
          <a:p>
            <a:r>
              <a:rPr lang="en-US" dirty="0" err="1">
                <a:solidFill>
                  <a:schemeClr val="tx1"/>
                </a:solidFill>
                <a:latin typeface="Consolas" panose="020B0609020204030204" pitchFamily="49" charset="0"/>
              </a:rPr>
              <a:t>feed_dict</a:t>
            </a:r>
            <a:r>
              <a:rPr lang="en-US" dirty="0">
                <a:solidFill>
                  <a:schemeClr val="tx1"/>
                </a:solidFill>
                <a:latin typeface="Consolas" panose="020B0609020204030204" pitchFamily="49" charset="0"/>
              </a:rPr>
              <a:t>: </a:t>
            </a:r>
            <a:r>
              <a:rPr lang="en-US" dirty="0">
                <a:solidFill>
                  <a:schemeClr val="accent5">
                    <a:lumMod val="75000"/>
                  </a:schemeClr>
                </a:solidFill>
                <a:latin typeface="Consolas" panose="020B0609020204030204" pitchFamily="49" charset="0"/>
              </a:rPr>
              <a:t>None</a:t>
            </a:r>
            <a:endParaRPr lang="en-US" dirty="0"/>
          </a:p>
          <a:p>
            <a:r>
              <a:rPr lang="en-US" dirty="0">
                <a:solidFill>
                  <a:schemeClr val="tx1"/>
                </a:solidFill>
                <a:latin typeface="Consolas" panose="020B0609020204030204" pitchFamily="49" charset="0"/>
              </a:rPr>
              <a:t> </a:t>
            </a:r>
          </a:p>
        </p:txBody>
      </p:sp>
    </p:spTree>
    <p:extLst>
      <p:ext uri="{BB962C8B-B14F-4D97-AF65-F5344CB8AC3E}">
        <p14:creationId xmlns:p14="http://schemas.microsoft.com/office/powerpoint/2010/main" val="3451087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224194" cy="914400"/>
          </a:xfrm>
        </p:spPr>
        <p:txBody>
          <a:bodyPr>
            <a:normAutofit/>
          </a:bodyPr>
          <a:lstStyle/>
          <a:p>
            <a:r>
              <a:rPr lang="en-US" sz="2800" dirty="0"/>
              <a:t>We can increment the value by one with </a:t>
            </a:r>
            <a:r>
              <a:rPr lang="en-US" sz="2800" dirty="0" err="1" smtClean="0">
                <a:solidFill>
                  <a:schemeClr val="accent5">
                    <a:lumMod val="75000"/>
                  </a:schemeClr>
                </a:solidFill>
                <a:latin typeface="Consolas" panose="020B0609020204030204" pitchFamily="49" charset="0"/>
              </a:rPr>
              <a:t>inc</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sess.run</a:t>
            </a:r>
            <a:r>
              <a:rPr lang="en-US" sz="2800" dirty="0">
                <a:solidFill>
                  <a:schemeClr val="accent5">
                    <a:lumMod val="75000"/>
                  </a:schemeClr>
                </a:solidFill>
                <a:latin typeface="Consolas" panose="020B0609020204030204" pitchFamily="49" charset="0"/>
              </a:rPr>
              <a:t>(</a:t>
            </a:r>
            <a:r>
              <a:rPr lang="en-US" sz="2800" dirty="0" err="1">
                <a:solidFill>
                  <a:schemeClr val="accent5">
                    <a:lumMod val="75000"/>
                  </a:schemeClr>
                </a:solidFill>
                <a:latin typeface="Consolas" panose="020B0609020204030204" pitchFamily="49" charset="0"/>
              </a:rPr>
              <a:t>inc</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a:t>
            </a:r>
          </a:p>
          <a:p>
            <a:pPr marL="285750" indent="-285750">
              <a:buFont typeface="Arial" panose="020B0604020202020204" pitchFamily="34" charset="0"/>
              <a:buChar char="•"/>
            </a:pPr>
            <a:r>
              <a:rPr lang="en-US" dirty="0"/>
              <a:t>“</a:t>
            </a:r>
            <a:r>
              <a:rPr lang="en-US" dirty="0" err="1"/>
              <a:t>var</a:t>
            </a:r>
            <a:r>
              <a:rPr lang="en-US" dirty="0"/>
              <a:t>” :  </a:t>
            </a:r>
            <a:r>
              <a:rPr lang="en-US" dirty="0">
                <a:solidFill>
                  <a:schemeClr val="accent5">
                    <a:lumMod val="75000"/>
                  </a:schemeClr>
                </a:solidFill>
                <a:latin typeface="Consolas" panose="020B0609020204030204" pitchFamily="49" charset="0"/>
              </a:rPr>
              <a:t>1.0</a:t>
            </a:r>
            <a:r>
              <a:rPr lang="en-US" dirty="0"/>
              <a:t>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5" name="Oval 24"/>
          <p:cNvSpPr/>
          <p:nvPr/>
        </p:nvSpPr>
        <p:spPr>
          <a:xfrm>
            <a:off x="9958548" y="4495800"/>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3" name="Rectangle 42"/>
          <p:cNvSpPr/>
          <p:nvPr/>
        </p:nvSpPr>
        <p:spPr>
          <a:xfrm>
            <a:off x="10385439" y="4317942"/>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4" name="Straight Arrow Connector 43"/>
          <p:cNvCxnSpPr>
            <a:cxnSpLocks/>
          </p:cNvCxnSpPr>
          <p:nvPr/>
        </p:nvCxnSpPr>
        <p:spPr>
          <a:xfrm>
            <a:off x="9447212" y="4800600"/>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
        <p:nvSpPr>
          <p:cNvPr id="46" name="Oval 45"/>
          <p:cNvSpPr/>
          <p:nvPr/>
        </p:nvSpPr>
        <p:spPr>
          <a:xfrm>
            <a:off x="7334037" y="4635534"/>
            <a:ext cx="609600" cy="6096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err="1">
                <a:solidFill>
                  <a:schemeClr val="tx1"/>
                </a:solidFill>
              </a:rPr>
              <a:t>init</a:t>
            </a:r>
            <a:endParaRPr lang="en-US" sz="1600" dirty="0">
              <a:solidFill>
                <a:schemeClr val="tx1"/>
              </a:solidFill>
            </a:endParaRPr>
          </a:p>
        </p:txBody>
      </p:sp>
      <p:sp>
        <p:nvSpPr>
          <p:cNvPr id="48" name="Rectangle 47"/>
          <p:cNvSpPr/>
          <p:nvPr/>
        </p:nvSpPr>
        <p:spPr>
          <a:xfrm>
            <a:off x="7771814" y="4475456"/>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init</a:t>
            </a:r>
            <a:endParaRPr lang="en-US" sz="1400" dirty="0"/>
          </a:p>
        </p:txBody>
      </p:sp>
      <p:cxnSp>
        <p:nvCxnSpPr>
          <p:cNvPr id="49" name="Straight Arrow Connector 48"/>
          <p:cNvCxnSpPr>
            <a:cxnSpLocks/>
          </p:cNvCxnSpPr>
          <p:nvPr/>
        </p:nvCxnSpPr>
        <p:spPr>
          <a:xfrm flipH="1">
            <a:off x="8018998" y="4824045"/>
            <a:ext cx="590014" cy="1162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Hexagon 44"/>
          <p:cNvSpPr/>
          <p:nvPr/>
        </p:nvSpPr>
        <p:spPr>
          <a:xfrm>
            <a:off x="5027612" y="5652461"/>
            <a:ext cx="3625361" cy="976939"/>
          </a:xfrm>
          <a:prstGeom prst="hexag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r>
              <a:rPr lang="en-US" b="1" dirty="0">
                <a:solidFill>
                  <a:schemeClr val="tx1"/>
                </a:solidFill>
                <a:latin typeface="Consolas" panose="020B0609020204030204" pitchFamily="49" charset="0"/>
              </a:rPr>
              <a:t>run()</a:t>
            </a:r>
            <a:r>
              <a:rPr lang="en-US" dirty="0">
                <a:solidFill>
                  <a:schemeClr val="tx1"/>
                </a:solidFill>
                <a:latin typeface="Consolas" panose="020B0609020204030204" pitchFamily="49" charset="0"/>
              </a:rPr>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fetches: </a:t>
            </a:r>
            <a:r>
              <a:rPr lang="en-US" dirty="0" err="1">
                <a:solidFill>
                  <a:schemeClr val="accent5">
                    <a:lumMod val="75000"/>
                  </a:schemeClr>
                </a:solidFill>
                <a:latin typeface="Consolas" panose="020B0609020204030204" pitchFamily="49" charset="0"/>
              </a:rPr>
              <a:t>inc</a:t>
            </a:r>
            <a:endParaRPr lang="en-US" dirty="0">
              <a:solidFill>
                <a:schemeClr val="accent5">
                  <a:lumMod val="75000"/>
                </a:schemeClr>
              </a:solidFill>
              <a:latin typeface="Consolas" panose="020B0609020204030204" pitchFamily="49" charset="0"/>
            </a:endParaRPr>
          </a:p>
          <a:p>
            <a:r>
              <a:rPr lang="en-US" dirty="0" err="1">
                <a:solidFill>
                  <a:schemeClr val="tx1"/>
                </a:solidFill>
                <a:latin typeface="Consolas" panose="020B0609020204030204" pitchFamily="49" charset="0"/>
              </a:rPr>
              <a:t>feed_dict</a:t>
            </a:r>
            <a:r>
              <a:rPr lang="en-US" dirty="0">
                <a:solidFill>
                  <a:schemeClr val="tx1"/>
                </a:solidFill>
                <a:latin typeface="Consolas" panose="020B0609020204030204" pitchFamily="49" charset="0"/>
              </a:rPr>
              <a:t>: </a:t>
            </a:r>
            <a:r>
              <a:rPr lang="en-US" dirty="0">
                <a:solidFill>
                  <a:schemeClr val="accent5">
                    <a:lumMod val="75000"/>
                  </a:schemeClr>
                </a:solidFill>
                <a:latin typeface="Consolas" panose="020B0609020204030204" pitchFamily="49" charset="0"/>
              </a:rPr>
              <a:t>None</a:t>
            </a:r>
            <a:endParaRPr lang="en-US" dirty="0"/>
          </a:p>
          <a:p>
            <a:r>
              <a:rPr lang="en-US" dirty="0">
                <a:solidFill>
                  <a:schemeClr val="tx1"/>
                </a:solidFill>
                <a:latin typeface="Consolas" panose="020B0609020204030204" pitchFamily="49" charset="0"/>
              </a:rPr>
              <a:t> </a:t>
            </a:r>
          </a:p>
        </p:txBody>
      </p:sp>
      <p:cxnSp>
        <p:nvCxnSpPr>
          <p:cNvPr id="50" name="Straight Arrow Connector 49"/>
          <p:cNvCxnSpPr>
            <a:cxnSpLocks/>
          </p:cNvCxnSpPr>
          <p:nvPr/>
        </p:nvCxnSpPr>
        <p:spPr>
          <a:xfrm flipH="1" flipV="1">
            <a:off x="3413770" y="4579635"/>
            <a:ext cx="2228857" cy="90676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cxnSpLocks/>
          </p:cNvCxnSpPr>
          <p:nvPr/>
        </p:nvCxnSpPr>
        <p:spPr>
          <a:xfrm>
            <a:off x="9798682" y="4301519"/>
            <a:ext cx="270043" cy="2057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p:nvCxnSpPr>
        <p:spPr>
          <a:xfrm>
            <a:off x="5636210" y="5486400"/>
            <a:ext cx="464920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p:nvCxnSpPr>
        <p:spPr>
          <a:xfrm flipV="1">
            <a:off x="10263348" y="5224354"/>
            <a:ext cx="0" cy="2620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cxnSpLocks/>
          </p:cNvCxnSpPr>
          <p:nvPr/>
        </p:nvCxnSpPr>
        <p:spPr>
          <a:xfrm>
            <a:off x="3503612" y="4317942"/>
            <a:ext cx="6324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077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8" y="533400"/>
            <a:ext cx="10224194" cy="914400"/>
          </a:xfrm>
        </p:spPr>
        <p:txBody>
          <a:bodyPr>
            <a:normAutofit/>
          </a:bodyPr>
          <a:lstStyle/>
          <a:p>
            <a:r>
              <a:rPr lang="en-US" sz="2800" dirty="0"/>
              <a:t>The assign </a:t>
            </a:r>
            <a:r>
              <a:rPr lang="en-US" sz="2800" dirty="0">
                <a:solidFill>
                  <a:schemeClr val="accent5">
                    <a:lumMod val="75000"/>
                  </a:schemeClr>
                </a:solidFill>
                <a:latin typeface="Consolas" panose="020B0609020204030204" pitchFamily="49" charset="0"/>
              </a:rPr>
              <a:t>Operation</a:t>
            </a:r>
            <a:r>
              <a:rPr lang="en-US" sz="2800" dirty="0"/>
              <a:t> reads in the stored value from the </a:t>
            </a:r>
            <a:r>
              <a:rPr lang="en-US" sz="2800" dirty="0">
                <a:solidFill>
                  <a:schemeClr val="accent5">
                    <a:lumMod val="75000"/>
                  </a:schemeClr>
                </a:solidFill>
                <a:latin typeface="Consolas" panose="020B0609020204030204" pitchFamily="49" charset="0"/>
              </a:rPr>
              <a:t>Session</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sess.run</a:t>
            </a:r>
            <a:r>
              <a:rPr lang="en-US" sz="2800" dirty="0">
                <a:solidFill>
                  <a:schemeClr val="accent5">
                    <a:lumMod val="75000"/>
                  </a:schemeClr>
                </a:solidFill>
                <a:latin typeface="Consolas" panose="020B0609020204030204" pitchFamily="49" charset="0"/>
              </a:rPr>
              <a:t>(</a:t>
            </a:r>
            <a:r>
              <a:rPr lang="en-US" sz="2800" dirty="0" err="1">
                <a:solidFill>
                  <a:schemeClr val="accent5">
                    <a:lumMod val="75000"/>
                  </a:schemeClr>
                </a:solidFill>
                <a:latin typeface="Consolas" panose="020B0609020204030204" pitchFamily="49" charset="0"/>
              </a:rPr>
              <a:t>inc</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a:t>
            </a:r>
          </a:p>
          <a:p>
            <a:pPr marL="285750" indent="-285750">
              <a:buFont typeface="Arial" panose="020B0604020202020204" pitchFamily="34" charset="0"/>
              <a:buChar char="•"/>
            </a:pPr>
            <a:r>
              <a:rPr lang="en-US" dirty="0"/>
              <a:t>“</a:t>
            </a:r>
            <a:r>
              <a:rPr lang="en-US" dirty="0" err="1"/>
              <a:t>var</a:t>
            </a:r>
            <a:r>
              <a:rPr lang="en-US" dirty="0"/>
              <a:t>” :  </a:t>
            </a:r>
            <a:r>
              <a:rPr lang="en-US" dirty="0">
                <a:solidFill>
                  <a:schemeClr val="accent5">
                    <a:lumMod val="75000"/>
                  </a:schemeClr>
                </a:solidFill>
                <a:latin typeface="Consolas" panose="020B0609020204030204" pitchFamily="49" charset="0"/>
              </a:rPr>
              <a:t>0.0</a:t>
            </a:r>
            <a:r>
              <a:rPr lang="en-US" dirty="0"/>
              <a:t>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5" name="Oval 24"/>
          <p:cNvSpPr/>
          <p:nvPr/>
        </p:nvSpPr>
        <p:spPr>
          <a:xfrm>
            <a:off x="9958548" y="4495800"/>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3" name="Rectangle 42"/>
          <p:cNvSpPr/>
          <p:nvPr/>
        </p:nvSpPr>
        <p:spPr>
          <a:xfrm>
            <a:off x="10385439" y="4317942"/>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4" name="Straight Arrow Connector 43"/>
          <p:cNvCxnSpPr>
            <a:cxnSpLocks/>
          </p:cNvCxnSpPr>
          <p:nvPr/>
        </p:nvCxnSpPr>
        <p:spPr>
          <a:xfrm>
            <a:off x="9447212" y="4800600"/>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
        <p:nvSpPr>
          <p:cNvPr id="46" name="Oval 45"/>
          <p:cNvSpPr/>
          <p:nvPr/>
        </p:nvSpPr>
        <p:spPr>
          <a:xfrm>
            <a:off x="7334037" y="4635534"/>
            <a:ext cx="609600" cy="6096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err="1">
                <a:solidFill>
                  <a:schemeClr val="tx1"/>
                </a:solidFill>
              </a:rPr>
              <a:t>init</a:t>
            </a:r>
            <a:endParaRPr lang="en-US" sz="1600" dirty="0">
              <a:solidFill>
                <a:schemeClr val="tx1"/>
              </a:solidFill>
            </a:endParaRPr>
          </a:p>
        </p:txBody>
      </p:sp>
      <p:sp>
        <p:nvSpPr>
          <p:cNvPr id="48" name="Rectangle 47"/>
          <p:cNvSpPr/>
          <p:nvPr/>
        </p:nvSpPr>
        <p:spPr>
          <a:xfrm>
            <a:off x="7771814" y="4475456"/>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init</a:t>
            </a:r>
            <a:endParaRPr lang="en-US" sz="1400" dirty="0"/>
          </a:p>
        </p:txBody>
      </p:sp>
      <p:cxnSp>
        <p:nvCxnSpPr>
          <p:cNvPr id="49" name="Straight Arrow Connector 48"/>
          <p:cNvCxnSpPr>
            <a:cxnSpLocks/>
          </p:cNvCxnSpPr>
          <p:nvPr/>
        </p:nvCxnSpPr>
        <p:spPr>
          <a:xfrm flipH="1">
            <a:off x="8018998" y="4824045"/>
            <a:ext cx="590014" cy="1162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Hexagon 44"/>
          <p:cNvSpPr/>
          <p:nvPr/>
        </p:nvSpPr>
        <p:spPr>
          <a:xfrm>
            <a:off x="5027612" y="5652461"/>
            <a:ext cx="3625361" cy="976939"/>
          </a:xfrm>
          <a:prstGeom prst="hexag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r>
              <a:rPr lang="en-US" b="1" dirty="0">
                <a:solidFill>
                  <a:schemeClr val="tx1"/>
                </a:solidFill>
                <a:latin typeface="Consolas" panose="020B0609020204030204" pitchFamily="49" charset="0"/>
              </a:rPr>
              <a:t>run()</a:t>
            </a:r>
            <a:r>
              <a:rPr lang="en-US" dirty="0">
                <a:solidFill>
                  <a:schemeClr val="tx1"/>
                </a:solidFill>
                <a:latin typeface="Consolas" panose="020B0609020204030204" pitchFamily="49" charset="0"/>
              </a:rPr>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fetches: </a:t>
            </a:r>
            <a:r>
              <a:rPr lang="en-US" dirty="0" err="1">
                <a:solidFill>
                  <a:schemeClr val="accent5">
                    <a:lumMod val="75000"/>
                  </a:schemeClr>
                </a:solidFill>
                <a:latin typeface="Consolas" panose="020B0609020204030204" pitchFamily="49" charset="0"/>
              </a:rPr>
              <a:t>inc</a:t>
            </a:r>
            <a:endParaRPr lang="en-US" dirty="0">
              <a:solidFill>
                <a:schemeClr val="accent5">
                  <a:lumMod val="75000"/>
                </a:schemeClr>
              </a:solidFill>
              <a:latin typeface="Consolas" panose="020B0609020204030204" pitchFamily="49" charset="0"/>
            </a:endParaRPr>
          </a:p>
          <a:p>
            <a:r>
              <a:rPr lang="en-US" dirty="0" err="1">
                <a:solidFill>
                  <a:schemeClr val="tx1"/>
                </a:solidFill>
                <a:latin typeface="Consolas" panose="020B0609020204030204" pitchFamily="49" charset="0"/>
              </a:rPr>
              <a:t>feed_dict</a:t>
            </a:r>
            <a:r>
              <a:rPr lang="en-US" dirty="0">
                <a:solidFill>
                  <a:schemeClr val="tx1"/>
                </a:solidFill>
                <a:latin typeface="Consolas" panose="020B0609020204030204" pitchFamily="49" charset="0"/>
              </a:rPr>
              <a:t>: </a:t>
            </a:r>
            <a:r>
              <a:rPr lang="en-US" dirty="0">
                <a:solidFill>
                  <a:schemeClr val="accent5">
                    <a:lumMod val="75000"/>
                  </a:schemeClr>
                </a:solidFill>
                <a:latin typeface="Consolas" panose="020B0609020204030204" pitchFamily="49" charset="0"/>
              </a:rPr>
              <a:t>None</a:t>
            </a:r>
            <a:endParaRPr lang="en-US" dirty="0"/>
          </a:p>
          <a:p>
            <a:r>
              <a:rPr lang="en-US" dirty="0">
                <a:solidFill>
                  <a:schemeClr val="tx1"/>
                </a:solidFill>
                <a:latin typeface="Consolas" panose="020B0609020204030204" pitchFamily="49" charset="0"/>
              </a:rPr>
              <a:t> </a:t>
            </a:r>
          </a:p>
        </p:txBody>
      </p:sp>
      <p:cxnSp>
        <p:nvCxnSpPr>
          <p:cNvPr id="51" name="Straight Arrow Connector 50"/>
          <p:cNvCxnSpPr>
            <a:cxnSpLocks/>
          </p:cNvCxnSpPr>
          <p:nvPr/>
        </p:nvCxnSpPr>
        <p:spPr>
          <a:xfrm>
            <a:off x="9798682" y="4301519"/>
            <a:ext cx="270043" cy="20572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cxnSpLocks/>
          </p:cNvCxnSpPr>
          <p:nvPr/>
        </p:nvCxnSpPr>
        <p:spPr>
          <a:xfrm>
            <a:off x="3503612" y="4317942"/>
            <a:ext cx="63246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cxnSpLocks/>
          </p:cNvCxnSpPr>
          <p:nvPr/>
        </p:nvCxnSpPr>
        <p:spPr>
          <a:xfrm flipH="1" flipV="1">
            <a:off x="3413770" y="4579635"/>
            <a:ext cx="2228857" cy="90676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cxnSpLocks/>
          </p:cNvCxnSpPr>
          <p:nvPr/>
        </p:nvCxnSpPr>
        <p:spPr>
          <a:xfrm>
            <a:off x="5636210" y="5486400"/>
            <a:ext cx="464920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cxnSpLocks/>
          </p:cNvCxnSpPr>
          <p:nvPr/>
        </p:nvCxnSpPr>
        <p:spPr>
          <a:xfrm flipV="1">
            <a:off x="10263348" y="5224354"/>
            <a:ext cx="0" cy="2620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3068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217" y="533400"/>
            <a:ext cx="8242995" cy="914400"/>
          </a:xfrm>
        </p:spPr>
        <p:txBody>
          <a:bodyPr>
            <a:normAutofit/>
          </a:bodyPr>
          <a:lstStyle/>
          <a:p>
            <a:r>
              <a:rPr lang="en-US" sz="2800" dirty="0"/>
              <a:t>The Op </a:t>
            </a:r>
            <a:r>
              <a:rPr lang="en-US" sz="2800" dirty="0" smtClean="0"/>
              <a:t>calculates </a:t>
            </a:r>
            <a:r>
              <a:rPr lang="en-US" sz="2800" dirty="0"/>
              <a:t>the new value (0 + 1) which is </a:t>
            </a:r>
            <a:r>
              <a:rPr lang="en-US" sz="2800" dirty="0" smtClean="0"/>
              <a:t>stored </a:t>
            </a:r>
            <a:r>
              <a:rPr lang="en-US" sz="2800" dirty="0"/>
              <a:t>in the </a:t>
            </a:r>
            <a:r>
              <a:rPr lang="en-US" sz="2800" dirty="0">
                <a:solidFill>
                  <a:schemeClr val="accent5">
                    <a:lumMod val="75000"/>
                  </a:schemeClr>
                </a:solidFill>
                <a:latin typeface="Consolas" panose="020B0609020204030204" pitchFamily="49" charset="0"/>
              </a:rPr>
              <a:t>Session</a:t>
            </a:r>
            <a:endParaRPr lang="en-US" sz="2800" dirty="0"/>
          </a:p>
        </p:txBody>
      </p:sp>
      <p:sp>
        <p:nvSpPr>
          <p:cNvPr id="3" name="Rectangle 2"/>
          <p:cNvSpPr/>
          <p:nvPr/>
        </p:nvSpPr>
        <p:spPr>
          <a:xfrm>
            <a:off x="1217612" y="1752600"/>
            <a:ext cx="106680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solidFill>
                  <a:schemeClr val="accent5">
                    <a:lumMod val="75000"/>
                  </a:schemeClr>
                </a:solidFill>
                <a:latin typeface="Consolas" panose="020B0609020204030204" pitchFamily="49" charset="0"/>
              </a:rPr>
              <a:t>&gt;&gt;&gt; </a:t>
            </a:r>
            <a:r>
              <a:rPr lang="en-US" sz="2800" dirty="0" err="1">
                <a:solidFill>
                  <a:schemeClr val="accent5">
                    <a:lumMod val="75000"/>
                  </a:schemeClr>
                </a:solidFill>
                <a:latin typeface="Consolas" panose="020B0609020204030204" pitchFamily="49" charset="0"/>
              </a:rPr>
              <a:t>sess.run</a:t>
            </a:r>
            <a:r>
              <a:rPr lang="en-US" sz="2800" dirty="0">
                <a:solidFill>
                  <a:schemeClr val="accent5">
                    <a:lumMod val="75000"/>
                  </a:schemeClr>
                </a:solidFill>
                <a:latin typeface="Consolas" panose="020B0609020204030204" pitchFamily="49" charset="0"/>
              </a:rPr>
              <a:t>(</a:t>
            </a:r>
            <a:r>
              <a:rPr lang="en-US" sz="2800" dirty="0" err="1">
                <a:solidFill>
                  <a:schemeClr val="accent5">
                    <a:lumMod val="75000"/>
                  </a:schemeClr>
                </a:solidFill>
                <a:latin typeface="Consolas" panose="020B0609020204030204" pitchFamily="49" charset="0"/>
              </a:rPr>
              <a:t>inc</a:t>
            </a:r>
            <a:r>
              <a:rPr lang="en-US" sz="2800" dirty="0">
                <a:solidFill>
                  <a:schemeClr val="accent5">
                    <a:lumMod val="75000"/>
                  </a:schemeClr>
                </a:solidFill>
                <a:latin typeface="Consolas" panose="020B0609020204030204" pitchFamily="49" charset="0"/>
              </a:rPr>
              <a:t>)</a:t>
            </a:r>
          </a:p>
        </p:txBody>
      </p:sp>
      <p:sp>
        <p:nvSpPr>
          <p:cNvPr id="27" name="Rectangle 26"/>
          <p:cNvSpPr/>
          <p:nvPr/>
        </p:nvSpPr>
        <p:spPr>
          <a:xfrm>
            <a:off x="1446212" y="2743200"/>
            <a:ext cx="3581400"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tx1"/>
                </a:solidFill>
              </a:rPr>
              <a:t>Session</a:t>
            </a:r>
          </a:p>
        </p:txBody>
      </p:sp>
      <p:sp>
        <p:nvSpPr>
          <p:cNvPr id="28" name="Rectangle 27"/>
          <p:cNvSpPr/>
          <p:nvPr/>
        </p:nvSpPr>
        <p:spPr>
          <a:xfrm>
            <a:off x="4951412" y="2482334"/>
            <a:ext cx="691215" cy="369332"/>
          </a:xfrm>
          <a:prstGeom prst="rect">
            <a:avLst/>
          </a:prstGeom>
        </p:spPr>
        <p:txBody>
          <a:bodyPr wrap="none">
            <a:spAutoFit/>
          </a:bodyPr>
          <a:lstStyle/>
          <a:p>
            <a:r>
              <a:rPr lang="en-US" dirty="0" err="1">
                <a:solidFill>
                  <a:schemeClr val="accent5">
                    <a:lumMod val="75000"/>
                  </a:schemeClr>
                </a:solidFill>
                <a:latin typeface="Consolas" panose="020B0609020204030204" pitchFamily="49" charset="0"/>
              </a:rPr>
              <a:t>sess</a:t>
            </a:r>
            <a:endParaRPr lang="en-US" dirty="0"/>
          </a:p>
        </p:txBody>
      </p:sp>
      <p:sp>
        <p:nvSpPr>
          <p:cNvPr id="31" name="Rectangle: Rounded Corners 30"/>
          <p:cNvSpPr/>
          <p:nvPr/>
        </p:nvSpPr>
        <p:spPr>
          <a:xfrm>
            <a:off x="1522412" y="3276601"/>
            <a:ext cx="3429000" cy="457200"/>
          </a:xfrm>
          <a:prstGeom prst="roundRect">
            <a:avLst/>
          </a:prstGeom>
          <a:ln w="28575">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Graph: </a:t>
            </a:r>
            <a:r>
              <a:rPr lang="en-US" dirty="0">
                <a:solidFill>
                  <a:schemeClr val="accent5">
                    <a:lumMod val="75000"/>
                  </a:schemeClr>
                </a:solidFill>
                <a:latin typeface="Consolas" panose="020B0609020204030204" pitchFamily="49" charset="0"/>
              </a:rPr>
              <a:t>default</a:t>
            </a:r>
          </a:p>
        </p:txBody>
      </p:sp>
      <p:sp>
        <p:nvSpPr>
          <p:cNvPr id="33" name="Rectangle: Rounded Corners 32"/>
          <p:cNvSpPr/>
          <p:nvPr/>
        </p:nvSpPr>
        <p:spPr>
          <a:xfrm>
            <a:off x="1522412" y="3895508"/>
            <a:ext cx="3429000" cy="2657691"/>
          </a:xfrm>
          <a:prstGeom prst="roundRect">
            <a:avLst/>
          </a:prstGeom>
          <a:ln w="28575">
            <a:solidFill>
              <a:schemeClr val="accent2"/>
            </a:solidFill>
            <a:prstDash val="sysDash"/>
          </a:ln>
        </p:spPr>
        <p:style>
          <a:lnRef idx="2">
            <a:schemeClr val="accent4"/>
          </a:lnRef>
          <a:fillRef idx="1">
            <a:schemeClr val="lt1"/>
          </a:fillRef>
          <a:effectRef idx="0">
            <a:schemeClr val="accent4"/>
          </a:effectRef>
          <a:fontRef idx="minor">
            <a:schemeClr val="dk1"/>
          </a:fontRef>
        </p:style>
        <p:txBody>
          <a:bodyPr rtlCol="0" anchor="t" anchorCtr="0"/>
          <a:lstStyle/>
          <a:p>
            <a:r>
              <a:rPr lang="en-US" dirty="0"/>
              <a:t>Variable values:</a:t>
            </a:r>
          </a:p>
          <a:p>
            <a:pPr marL="285750" indent="-285750">
              <a:buFont typeface="Arial" panose="020B0604020202020204" pitchFamily="34" charset="0"/>
              <a:buChar char="•"/>
            </a:pPr>
            <a:r>
              <a:rPr lang="en-US" dirty="0"/>
              <a:t>“</a:t>
            </a:r>
            <a:r>
              <a:rPr lang="en-US" dirty="0" err="1"/>
              <a:t>var</a:t>
            </a:r>
            <a:r>
              <a:rPr lang="en-US" dirty="0"/>
              <a:t>” :  </a:t>
            </a:r>
            <a:r>
              <a:rPr lang="en-US" dirty="0">
                <a:solidFill>
                  <a:schemeClr val="accent5">
                    <a:lumMod val="75000"/>
                  </a:schemeClr>
                </a:solidFill>
                <a:latin typeface="Consolas" panose="020B0609020204030204" pitchFamily="49" charset="0"/>
              </a:rPr>
              <a:t>1.0</a:t>
            </a:r>
            <a:r>
              <a:rPr lang="en-US" dirty="0"/>
              <a:t> </a:t>
            </a:r>
          </a:p>
          <a:p>
            <a:endParaRPr lang="en-US" dirty="0">
              <a:solidFill>
                <a:schemeClr val="accent5">
                  <a:lumMod val="75000"/>
                </a:schemeClr>
              </a:solidFill>
              <a:latin typeface="Consolas" panose="020B0609020204030204" pitchFamily="49" charset="0"/>
            </a:endParaRPr>
          </a:p>
        </p:txBody>
      </p:sp>
      <p:sp>
        <p:nvSpPr>
          <p:cNvPr id="26" name="Rectangle: Rounded Corners 25"/>
          <p:cNvSpPr/>
          <p:nvPr/>
        </p:nvSpPr>
        <p:spPr>
          <a:xfrm>
            <a:off x="7237412" y="2667000"/>
            <a:ext cx="3581400" cy="2895600"/>
          </a:xfrm>
          <a:prstGeom prst="roundRect">
            <a:avLst/>
          </a:prstGeom>
          <a:noFill/>
          <a:ln w="28575">
            <a:solidFill>
              <a:schemeClr val="accent4">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US" sz="1200" dirty="0">
                <a:solidFill>
                  <a:schemeClr val="accent5">
                    <a:lumMod val="75000"/>
                  </a:schemeClr>
                </a:solidFill>
                <a:latin typeface="Consolas" panose="020B0609020204030204" pitchFamily="49" charset="0"/>
              </a:rPr>
              <a:t>default</a:t>
            </a:r>
          </a:p>
        </p:txBody>
      </p:sp>
      <p:sp>
        <p:nvSpPr>
          <p:cNvPr id="29" name="Oval 28"/>
          <p:cNvSpPr/>
          <p:nvPr/>
        </p:nvSpPr>
        <p:spPr>
          <a:xfrm>
            <a:off x="7331197" y="379241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input2</a:t>
            </a:r>
          </a:p>
        </p:txBody>
      </p:sp>
      <p:sp>
        <p:nvSpPr>
          <p:cNvPr id="30" name="Rectangle 29"/>
          <p:cNvSpPr/>
          <p:nvPr/>
        </p:nvSpPr>
        <p:spPr>
          <a:xfrm>
            <a:off x="7923212" y="3913236"/>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b</a:t>
            </a:r>
            <a:endParaRPr lang="en-US" dirty="0"/>
          </a:p>
        </p:txBody>
      </p:sp>
      <p:sp>
        <p:nvSpPr>
          <p:cNvPr id="32" name="Oval 31"/>
          <p:cNvSpPr/>
          <p:nvPr/>
        </p:nvSpPr>
        <p:spPr>
          <a:xfrm>
            <a:off x="7331197" y="2760785"/>
            <a:ext cx="609600" cy="6096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wrap="none" rtlCol="0" anchor="ctr">
            <a:noAutofit/>
          </a:bodyPr>
          <a:lstStyle/>
          <a:p>
            <a:pPr algn="ctr"/>
            <a:r>
              <a:rPr lang="en-US" sz="1600" dirty="0">
                <a:solidFill>
                  <a:schemeClr val="tx2"/>
                </a:solidFill>
              </a:rPr>
              <a:t>input1</a:t>
            </a:r>
          </a:p>
        </p:txBody>
      </p:sp>
      <p:sp>
        <p:nvSpPr>
          <p:cNvPr id="34" name="Rectangle 33"/>
          <p:cNvSpPr/>
          <p:nvPr/>
        </p:nvSpPr>
        <p:spPr>
          <a:xfrm>
            <a:off x="7934993" y="2880919"/>
            <a:ext cx="193352" cy="369332"/>
          </a:xfrm>
          <a:prstGeom prst="rect">
            <a:avLst/>
          </a:prstGeom>
        </p:spPr>
        <p:txBody>
          <a:bodyPr wrap="square">
            <a:spAutoFit/>
          </a:bodyPr>
          <a:lstStyle/>
          <a:p>
            <a:r>
              <a:rPr lang="en-US" dirty="0">
                <a:solidFill>
                  <a:schemeClr val="accent5">
                    <a:lumMod val="75000"/>
                  </a:schemeClr>
                </a:solidFill>
                <a:latin typeface="Consolas" panose="020B0609020204030204" pitchFamily="49" charset="0"/>
              </a:rPr>
              <a:t>a</a:t>
            </a:r>
            <a:endParaRPr lang="en-US" dirty="0"/>
          </a:p>
        </p:txBody>
      </p:sp>
      <p:sp>
        <p:nvSpPr>
          <p:cNvPr id="35" name="Oval 34"/>
          <p:cNvSpPr/>
          <p:nvPr/>
        </p:nvSpPr>
        <p:spPr>
          <a:xfrm>
            <a:off x="8691074" y="3276600"/>
            <a:ext cx="6096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wrap="none" rtlCol="0" anchor="ctr">
            <a:noAutofit/>
          </a:bodyPr>
          <a:lstStyle/>
          <a:p>
            <a:pPr algn="ctr"/>
            <a:r>
              <a:rPr lang="en-US" sz="1050" dirty="0" err="1">
                <a:solidFill>
                  <a:schemeClr val="tx2"/>
                </a:solidFill>
              </a:rPr>
              <a:t>my_add_op</a:t>
            </a:r>
            <a:endParaRPr lang="en-US" sz="1050" dirty="0">
              <a:solidFill>
                <a:schemeClr val="tx2"/>
              </a:solidFill>
            </a:endParaRPr>
          </a:p>
        </p:txBody>
      </p:sp>
      <p:sp>
        <p:nvSpPr>
          <p:cNvPr id="36" name="Rectangle 35"/>
          <p:cNvSpPr/>
          <p:nvPr/>
        </p:nvSpPr>
        <p:spPr>
          <a:xfrm>
            <a:off x="9229335" y="3372063"/>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c</a:t>
            </a:r>
            <a:endParaRPr lang="en-US" dirty="0"/>
          </a:p>
        </p:txBody>
      </p:sp>
      <p:cxnSp>
        <p:nvCxnSpPr>
          <p:cNvPr id="37" name="Straight Arrow Connector 36"/>
          <p:cNvCxnSpPr>
            <a:cxnSpLocks/>
          </p:cNvCxnSpPr>
          <p:nvPr/>
        </p:nvCxnSpPr>
        <p:spPr>
          <a:xfrm>
            <a:off x="8222151" y="3213348"/>
            <a:ext cx="468922" cy="25441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8134149" y="3706348"/>
            <a:ext cx="556924" cy="3205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9959168" y="3276600"/>
            <a:ext cx="609600" cy="6096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wrap="none" rtlCol="0" anchor="ctr">
            <a:noAutofit/>
          </a:bodyPr>
          <a:lstStyle/>
          <a:p>
            <a:pPr algn="ctr"/>
            <a:r>
              <a:rPr lang="en-US" sz="1050" dirty="0" err="1">
                <a:solidFill>
                  <a:schemeClr val="tx2"/>
                </a:solidFill>
              </a:rPr>
              <a:t>my_mul_op</a:t>
            </a:r>
            <a:endParaRPr lang="en-US" sz="1050" dirty="0">
              <a:solidFill>
                <a:schemeClr val="tx2"/>
              </a:solidFill>
            </a:endParaRPr>
          </a:p>
        </p:txBody>
      </p:sp>
      <p:sp>
        <p:nvSpPr>
          <p:cNvPr id="40" name="Rectangle 39"/>
          <p:cNvSpPr/>
          <p:nvPr/>
        </p:nvSpPr>
        <p:spPr>
          <a:xfrm>
            <a:off x="10511768" y="3391560"/>
            <a:ext cx="191572" cy="227281"/>
          </a:xfrm>
          <a:prstGeom prst="rect">
            <a:avLst/>
          </a:prstGeom>
        </p:spPr>
        <p:txBody>
          <a:bodyPr wrap="none">
            <a:spAutoFit/>
          </a:bodyPr>
          <a:lstStyle/>
          <a:p>
            <a:r>
              <a:rPr lang="en-US" dirty="0">
                <a:solidFill>
                  <a:schemeClr val="accent5">
                    <a:lumMod val="75000"/>
                  </a:schemeClr>
                </a:solidFill>
                <a:latin typeface="Consolas" panose="020B0609020204030204" pitchFamily="49" charset="0"/>
              </a:rPr>
              <a:t>d</a:t>
            </a:r>
            <a:endParaRPr lang="en-US" dirty="0"/>
          </a:p>
        </p:txBody>
      </p:sp>
      <p:cxnSp>
        <p:nvCxnSpPr>
          <p:cNvPr id="41" name="Straight Arrow Connector 40"/>
          <p:cNvCxnSpPr>
            <a:cxnSpLocks/>
          </p:cNvCxnSpPr>
          <p:nvPr/>
        </p:nvCxnSpPr>
        <p:spPr>
          <a:xfrm>
            <a:off x="9490244" y="3604846"/>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p:cNvCxnSpPr>
            <a:cxnSpLocks/>
          </p:cNvCxnSpPr>
          <p:nvPr/>
        </p:nvCxnSpPr>
        <p:spPr>
          <a:xfrm>
            <a:off x="8222151" y="3081241"/>
            <a:ext cx="1688123" cy="371621"/>
          </a:xfrm>
          <a:prstGeom prst="bentConnector3">
            <a:avLst>
              <a:gd name="adj1" fmla="val 76287"/>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715521" y="4495800"/>
            <a:ext cx="609600" cy="609600"/>
          </a:xfrm>
          <a:prstGeom prst="ellipse">
            <a:avLst/>
          </a:prstGeom>
        </p:spPr>
        <p:style>
          <a:lnRef idx="2">
            <a:schemeClr val="dk1">
              <a:shade val="50000"/>
            </a:schemeClr>
          </a:lnRef>
          <a:fillRef idx="1">
            <a:schemeClr val="dk1"/>
          </a:fillRef>
          <a:effectRef idx="0">
            <a:schemeClr val="dk1"/>
          </a:effectRef>
          <a:fontRef idx="minor">
            <a:schemeClr val="lt1"/>
          </a:fontRef>
        </p:style>
        <p:txBody>
          <a:bodyPr wrap="none" rtlCol="0" anchor="ctr">
            <a:noAutofit/>
          </a:bodyPr>
          <a:lstStyle/>
          <a:p>
            <a:pPr algn="ctr"/>
            <a:r>
              <a:rPr lang="en-US" sz="1600" dirty="0" err="1">
                <a:solidFill>
                  <a:schemeClr val="bg1"/>
                </a:solidFill>
              </a:rPr>
              <a:t>var</a:t>
            </a:r>
            <a:endParaRPr lang="en-US" sz="1600" dirty="0">
              <a:solidFill>
                <a:schemeClr val="bg1"/>
              </a:solidFill>
            </a:endParaRPr>
          </a:p>
        </p:txBody>
      </p:sp>
      <p:sp>
        <p:nvSpPr>
          <p:cNvPr id="23" name="Rectangle 22"/>
          <p:cNvSpPr/>
          <p:nvPr/>
        </p:nvSpPr>
        <p:spPr>
          <a:xfrm>
            <a:off x="9142412" y="4317942"/>
            <a:ext cx="685800" cy="307777"/>
          </a:xfrm>
          <a:prstGeom prst="rect">
            <a:avLst/>
          </a:prstGeom>
        </p:spPr>
        <p:txBody>
          <a:bodyPr wrap="square">
            <a:spAutoFit/>
          </a:bodyPr>
          <a:lstStyle/>
          <a:p>
            <a:r>
              <a:rPr lang="en-US" sz="1400" dirty="0">
                <a:solidFill>
                  <a:schemeClr val="accent5">
                    <a:lumMod val="75000"/>
                  </a:schemeClr>
                </a:solidFill>
                <a:latin typeface="Consolas" panose="020B0609020204030204" pitchFamily="49" charset="0"/>
              </a:rPr>
              <a:t>store</a:t>
            </a:r>
            <a:endParaRPr lang="en-US" sz="1400" dirty="0"/>
          </a:p>
        </p:txBody>
      </p:sp>
      <p:sp>
        <p:nvSpPr>
          <p:cNvPr id="25" name="Oval 24"/>
          <p:cNvSpPr/>
          <p:nvPr/>
        </p:nvSpPr>
        <p:spPr>
          <a:xfrm>
            <a:off x="9958548" y="4495800"/>
            <a:ext cx="609600" cy="609600"/>
          </a:xfrm>
          <a:prstGeom prst="ellipse">
            <a:avLst/>
          </a:prstGeom>
          <a:solidFill>
            <a:schemeClr val="bg2">
              <a:lumMod val="25000"/>
            </a:schemeClr>
          </a:solidFill>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a:solidFill>
                  <a:schemeClr val="bg1"/>
                </a:solidFill>
              </a:rPr>
              <a:t>assign</a:t>
            </a:r>
          </a:p>
        </p:txBody>
      </p:sp>
      <p:sp>
        <p:nvSpPr>
          <p:cNvPr id="43" name="Rectangle 42"/>
          <p:cNvSpPr/>
          <p:nvPr/>
        </p:nvSpPr>
        <p:spPr>
          <a:xfrm>
            <a:off x="10385439" y="4317942"/>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inc</a:t>
            </a:r>
            <a:endParaRPr lang="en-US" sz="1400" dirty="0"/>
          </a:p>
        </p:txBody>
      </p:sp>
      <p:cxnSp>
        <p:nvCxnSpPr>
          <p:cNvPr id="44" name="Straight Arrow Connector 43"/>
          <p:cNvCxnSpPr>
            <a:cxnSpLocks/>
          </p:cNvCxnSpPr>
          <p:nvPr/>
        </p:nvCxnSpPr>
        <p:spPr>
          <a:xfrm>
            <a:off x="9447212" y="4800600"/>
            <a:ext cx="42003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8138908" y="5144758"/>
            <a:ext cx="1713931" cy="276999"/>
          </a:xfrm>
          <a:prstGeom prst="rect">
            <a:avLst/>
          </a:prstGeom>
        </p:spPr>
        <p:txBody>
          <a:bodyPr wrap="none">
            <a:spAutoFit/>
          </a:bodyPr>
          <a:lstStyle/>
          <a:p>
            <a:r>
              <a:rPr lang="en-US" sz="1200" dirty="0">
                <a:solidFill>
                  <a:schemeClr val="accent5">
                    <a:lumMod val="75000"/>
                  </a:schemeClr>
                </a:solidFill>
                <a:latin typeface="Consolas" panose="020B0609020204030204" pitchFamily="49" charset="0"/>
              </a:rPr>
              <a:t>Initial value: 0.0</a:t>
            </a:r>
            <a:endParaRPr lang="en-US" sz="1200" dirty="0"/>
          </a:p>
        </p:txBody>
      </p:sp>
      <p:sp>
        <p:nvSpPr>
          <p:cNvPr id="46" name="Oval 45"/>
          <p:cNvSpPr/>
          <p:nvPr/>
        </p:nvSpPr>
        <p:spPr>
          <a:xfrm>
            <a:off x="7334037" y="4635534"/>
            <a:ext cx="609600" cy="6096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wrap="none" rtlCol="0" anchor="ctr">
            <a:noAutofit/>
          </a:bodyPr>
          <a:lstStyle/>
          <a:p>
            <a:pPr algn="ctr"/>
            <a:r>
              <a:rPr lang="en-US" sz="1600" dirty="0" err="1">
                <a:solidFill>
                  <a:schemeClr val="tx1"/>
                </a:solidFill>
              </a:rPr>
              <a:t>init</a:t>
            </a:r>
            <a:endParaRPr lang="en-US" sz="1600" dirty="0">
              <a:solidFill>
                <a:schemeClr val="tx1"/>
              </a:solidFill>
            </a:endParaRPr>
          </a:p>
        </p:txBody>
      </p:sp>
      <p:sp>
        <p:nvSpPr>
          <p:cNvPr id="48" name="Rectangle 47"/>
          <p:cNvSpPr/>
          <p:nvPr/>
        </p:nvSpPr>
        <p:spPr>
          <a:xfrm>
            <a:off x="7771814" y="4475456"/>
            <a:ext cx="685800" cy="307777"/>
          </a:xfrm>
          <a:prstGeom prst="rect">
            <a:avLst/>
          </a:prstGeom>
        </p:spPr>
        <p:txBody>
          <a:bodyPr wrap="square">
            <a:spAutoFit/>
          </a:bodyPr>
          <a:lstStyle/>
          <a:p>
            <a:r>
              <a:rPr lang="en-US" sz="1400" dirty="0" err="1">
                <a:solidFill>
                  <a:schemeClr val="accent5">
                    <a:lumMod val="75000"/>
                  </a:schemeClr>
                </a:solidFill>
                <a:latin typeface="Consolas" panose="020B0609020204030204" pitchFamily="49" charset="0"/>
              </a:rPr>
              <a:t>init</a:t>
            </a:r>
            <a:endParaRPr lang="en-US" sz="1400" dirty="0"/>
          </a:p>
        </p:txBody>
      </p:sp>
      <p:cxnSp>
        <p:nvCxnSpPr>
          <p:cNvPr id="49" name="Straight Arrow Connector 48"/>
          <p:cNvCxnSpPr>
            <a:cxnSpLocks/>
          </p:cNvCxnSpPr>
          <p:nvPr/>
        </p:nvCxnSpPr>
        <p:spPr>
          <a:xfrm flipH="1">
            <a:off x="8018998" y="4824045"/>
            <a:ext cx="590014" cy="1162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Hexagon 44"/>
          <p:cNvSpPr/>
          <p:nvPr/>
        </p:nvSpPr>
        <p:spPr>
          <a:xfrm>
            <a:off x="5027612" y="5652461"/>
            <a:ext cx="3625361" cy="976939"/>
          </a:xfrm>
          <a:prstGeom prst="hexag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0" rtlCol="0" anchor="t" anchorCtr="0"/>
          <a:lstStyle/>
          <a:p>
            <a:r>
              <a:rPr lang="en-US" b="1" dirty="0">
                <a:solidFill>
                  <a:schemeClr val="tx1"/>
                </a:solidFill>
                <a:latin typeface="Consolas" panose="020B0609020204030204" pitchFamily="49" charset="0"/>
              </a:rPr>
              <a:t>run()</a:t>
            </a:r>
            <a:r>
              <a:rPr lang="en-US" dirty="0">
                <a:solidFill>
                  <a:schemeClr val="tx1"/>
                </a:solidFill>
                <a:latin typeface="Consolas" panose="020B0609020204030204" pitchFamily="49" charset="0"/>
              </a:rPr>
              <a:t/>
            </a:r>
            <a:br>
              <a:rPr lang="en-US" dirty="0">
                <a:solidFill>
                  <a:schemeClr val="tx1"/>
                </a:solidFill>
                <a:latin typeface="Consolas" panose="020B0609020204030204" pitchFamily="49" charset="0"/>
              </a:rPr>
            </a:br>
            <a:r>
              <a:rPr lang="en-US" dirty="0">
                <a:solidFill>
                  <a:schemeClr val="tx1"/>
                </a:solidFill>
                <a:latin typeface="Consolas" panose="020B0609020204030204" pitchFamily="49" charset="0"/>
              </a:rPr>
              <a:t>fetches: </a:t>
            </a:r>
            <a:r>
              <a:rPr lang="en-US" dirty="0" err="1">
                <a:solidFill>
                  <a:schemeClr val="accent5">
                    <a:lumMod val="75000"/>
                  </a:schemeClr>
                </a:solidFill>
                <a:latin typeface="Consolas" panose="020B0609020204030204" pitchFamily="49" charset="0"/>
              </a:rPr>
              <a:t>inc</a:t>
            </a:r>
            <a:endParaRPr lang="en-US" dirty="0">
              <a:solidFill>
                <a:schemeClr val="accent5">
                  <a:lumMod val="75000"/>
                </a:schemeClr>
              </a:solidFill>
              <a:latin typeface="Consolas" panose="020B0609020204030204" pitchFamily="49" charset="0"/>
            </a:endParaRPr>
          </a:p>
          <a:p>
            <a:r>
              <a:rPr lang="en-US" dirty="0" err="1">
                <a:solidFill>
                  <a:schemeClr val="tx1"/>
                </a:solidFill>
                <a:latin typeface="Consolas" panose="020B0609020204030204" pitchFamily="49" charset="0"/>
              </a:rPr>
              <a:t>feed_dict</a:t>
            </a:r>
            <a:r>
              <a:rPr lang="en-US" dirty="0">
                <a:solidFill>
                  <a:schemeClr val="tx1"/>
                </a:solidFill>
                <a:latin typeface="Consolas" panose="020B0609020204030204" pitchFamily="49" charset="0"/>
              </a:rPr>
              <a:t>: </a:t>
            </a:r>
            <a:r>
              <a:rPr lang="en-US" dirty="0">
                <a:solidFill>
                  <a:schemeClr val="accent5">
                    <a:lumMod val="75000"/>
                  </a:schemeClr>
                </a:solidFill>
                <a:latin typeface="Consolas" panose="020B0609020204030204" pitchFamily="49" charset="0"/>
              </a:rPr>
              <a:t>None</a:t>
            </a:r>
            <a:endParaRPr lang="en-US" dirty="0"/>
          </a:p>
          <a:p>
            <a:r>
              <a:rPr lang="en-US" dirty="0">
                <a:solidFill>
                  <a:schemeClr val="tx1"/>
                </a:solidFill>
                <a:latin typeface="Consolas" panose="020B0609020204030204" pitchFamily="49" charset="0"/>
              </a:rPr>
              <a:t> </a:t>
            </a:r>
          </a:p>
        </p:txBody>
      </p:sp>
      <p:cxnSp>
        <p:nvCxnSpPr>
          <p:cNvPr id="50" name="Straight Arrow Connector 49"/>
          <p:cNvCxnSpPr>
            <a:cxnSpLocks/>
          </p:cNvCxnSpPr>
          <p:nvPr/>
        </p:nvCxnSpPr>
        <p:spPr>
          <a:xfrm flipH="1" flipV="1">
            <a:off x="3413770" y="4579635"/>
            <a:ext cx="2228857" cy="90676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p:nvCxnSpPr>
        <p:spPr>
          <a:xfrm>
            <a:off x="5636210" y="5486400"/>
            <a:ext cx="464920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p:nvCxnSpPr>
        <p:spPr>
          <a:xfrm flipV="1">
            <a:off x="10263348" y="5224354"/>
            <a:ext cx="0" cy="26204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cxnSpLocks/>
          </p:cNvCxnSpPr>
          <p:nvPr/>
        </p:nvCxnSpPr>
        <p:spPr>
          <a:xfrm>
            <a:off x="9798682" y="4301519"/>
            <a:ext cx="270043" cy="2057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cxnSpLocks/>
          </p:cNvCxnSpPr>
          <p:nvPr/>
        </p:nvCxnSpPr>
        <p:spPr>
          <a:xfrm>
            <a:off x="3503612" y="4317942"/>
            <a:ext cx="6324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4760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Enough slides!</a:t>
            </a:r>
          </a:p>
        </p:txBody>
      </p:sp>
      <p:sp>
        <p:nvSpPr>
          <p:cNvPr id="3" name="Text Placeholder 2"/>
          <p:cNvSpPr>
            <a:spLocks noGrp="1"/>
          </p:cNvSpPr>
          <p:nvPr>
            <p:ph type="body" idx="1"/>
          </p:nvPr>
        </p:nvSpPr>
        <p:spPr/>
        <p:txBody>
          <a:bodyPr/>
          <a:lstStyle/>
          <a:p>
            <a:r>
              <a:rPr lang="en-US" dirty="0"/>
              <a:t>Onto code examples.</a:t>
            </a:r>
          </a:p>
        </p:txBody>
      </p:sp>
    </p:spTree>
    <p:extLst>
      <p:ext uri="{BB962C8B-B14F-4D97-AF65-F5344CB8AC3E}">
        <p14:creationId xmlns:p14="http://schemas.microsoft.com/office/powerpoint/2010/main" val="112504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IS_PPT Template_ClearPro_16x9_051915">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S_External_Template_ClearPro_16x9.potx [Read-Only]" id="{6AFB86A7-0267-4CB1-9FC3-652CFE2BAB26}" vid="{5D3D9D23-DC57-4FBF-B0A2-198F4179BAD5}"/>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20C675A-9AD3-40BB-AC57-0E9EFA3E4F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Metis</Template>
  <TotalTime>0</TotalTime>
  <Words>2566</Words>
  <Application>Microsoft Office PowerPoint</Application>
  <PresentationFormat>Custom</PresentationFormat>
  <Paragraphs>905</Paragraphs>
  <Slides>66</Slides>
  <Notes>41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66</vt:i4>
      </vt:variant>
    </vt:vector>
  </HeadingPairs>
  <TitlesOfParts>
    <vt:vector size="78" baseType="lpstr">
      <vt:lpstr>Arial</vt:lpstr>
      <vt:lpstr>Avenir Book</vt:lpstr>
      <vt:lpstr>Consolas</vt:lpstr>
      <vt:lpstr>Euphemia</vt:lpstr>
      <vt:lpstr>Intel Clear</vt:lpstr>
      <vt:lpstr>Intel Clear Light</vt:lpstr>
      <vt:lpstr>Intel Clear Pro</vt:lpstr>
      <vt:lpstr>Lucida Grande</vt:lpstr>
      <vt:lpstr>Neo Sans Intel</vt:lpstr>
      <vt:lpstr>Source Code Pro</vt:lpstr>
      <vt:lpstr>Wingdings</vt:lpstr>
      <vt:lpstr>IS_PPT Template_ClearPro_16x9_051915</vt:lpstr>
      <vt:lpstr>TensorFlow</vt:lpstr>
      <vt:lpstr>Legal Notices and Disclaimers</vt:lpstr>
      <vt:lpstr>Welcome!</vt:lpstr>
      <vt:lpstr>TensorFlow Fundamentals</vt:lpstr>
      <vt:lpstr>What is TensorFlow?</vt:lpstr>
      <vt:lpstr>Computation Graph</vt:lpstr>
      <vt:lpstr>TensorFlow History</vt:lpstr>
      <vt:lpstr>Computation Graphs</vt:lpstr>
      <vt:lpstr>Data Flow</vt:lpstr>
      <vt:lpstr>Data Flow</vt:lpstr>
      <vt:lpstr>Data Flow</vt:lpstr>
      <vt:lpstr>Data Flow</vt:lpstr>
      <vt:lpstr>Partial Execution</vt:lpstr>
      <vt:lpstr>Dependencies</vt:lpstr>
      <vt:lpstr>Dependencies</vt:lpstr>
      <vt:lpstr>Dependencies</vt:lpstr>
      <vt:lpstr>TensorFlow Fundamentals</vt:lpstr>
      <vt:lpstr>Today’s Itinerary</vt:lpstr>
      <vt:lpstr>Two-Step Programming Pattern</vt:lpstr>
      <vt:lpstr>Defining Graphs</vt:lpstr>
      <vt:lpstr>Main TensorFlow API Classes</vt:lpstr>
      <vt:lpstr>When you import TensorFlow, it automatically creates a default graph</vt:lpstr>
      <vt:lpstr>This is the default location for model operations</vt:lpstr>
      <vt:lpstr>We can create constant data values with tf.constant()</vt:lpstr>
      <vt:lpstr>tf.constant() creates an Operation that returns a fixed value</vt:lpstr>
      <vt:lpstr>Operation functions can be given a name parameter, which gives the Operation a string name </vt:lpstr>
      <vt:lpstr>Additional Ops continue to populate the default graph</vt:lpstr>
      <vt:lpstr>We have Python variable names which refer to the Tensor output of our two operations</vt:lpstr>
      <vt:lpstr>You can pass Tensor objects into other Ops</vt:lpstr>
      <vt:lpstr>TensorFlow connects the referred Operations</vt:lpstr>
      <vt:lpstr>You can reuse the outputs of different Ops as much as you’d like</vt:lpstr>
      <vt:lpstr>Recall:  our inputs are fixed values (constant Ops)</vt:lpstr>
      <vt:lpstr>We could have used tf.placeholder() to define explicit input that vary run-to-run</vt:lpstr>
      <vt:lpstr>Side note: we’re passing in the data type tf.float32 to tf.placeholder</vt:lpstr>
      <vt:lpstr>Running Graphs</vt:lpstr>
      <vt:lpstr>Now that we’ve created a graph, let’s run it!</vt:lpstr>
      <vt:lpstr>We use a Session object to execute graphs. Each Session is dedicated to a single graph.</vt:lpstr>
      <vt:lpstr>By default, a Session uses the current default graph</vt:lpstr>
      <vt:lpstr>We’ll discuss Variables shortly.</vt:lpstr>
      <vt:lpstr>placeholders require data to fill them in when the graph is run</vt:lpstr>
      <vt:lpstr>We do this by creating a dictionary mapping Tensor keys to numeric values</vt:lpstr>
      <vt:lpstr>We pass in the same tensors as we used to create our graph</vt:lpstr>
      <vt:lpstr>We execute the graph with sess.run(fetches, feed_dict)</vt:lpstr>
      <vt:lpstr>Fetches (a Tensor, Operation, or list of these) tells TensorFlow what outputs we want</vt:lpstr>
      <vt:lpstr>Here, we request d, the Tensor output of my_mul_op</vt:lpstr>
      <vt:lpstr>feed_dict tells the Session tensor substitutions</vt:lpstr>
      <vt:lpstr>We created a feed_dict, in advance, which tells the Session to use 3.0 and 2.0 for a and b</vt:lpstr>
      <vt:lpstr>placeholder Ops must be feed a value</vt:lpstr>
      <vt:lpstr>sess.run returns the fetched values as a NumPy array</vt:lpstr>
      <vt:lpstr>PowerPoint Presentation</vt:lpstr>
      <vt:lpstr>Variables</vt:lpstr>
      <vt:lpstr>Our basic graph is well and good, but it would be nice to have stateful information. We can use Variable objects to accomplish this. </vt:lpstr>
      <vt:lpstr>Our basic graph is well and good, but it would be nice to have stateful information. We can use Variable objects to accomplish this. </vt:lpstr>
      <vt:lpstr>We need to pass in a initial value for our Variable, and we’ll also give it a name. </vt:lpstr>
      <vt:lpstr>Let’s also create an operation that allows us to increment the variable by 1</vt:lpstr>
      <vt:lpstr>Note that our Session doesn’t have any value for our Variable yet. </vt:lpstr>
      <vt:lpstr>For our Session to use the Variable, we have to initialize it. </vt:lpstr>
      <vt:lpstr>First, we’ll create an initialization Op with tf.global_variables_initializer()</vt:lpstr>
      <vt:lpstr>Then run the init Op in the Session we want to use the variables</vt:lpstr>
      <vt:lpstr>init reads the initial value from the variable and assigns it to the Session’s store</vt:lpstr>
      <vt:lpstr>Now the Session will persist that value across multiple runs</vt:lpstr>
      <vt:lpstr>We can increment the value by one with our inc Op</vt:lpstr>
      <vt:lpstr>We can increment the value by one with inc</vt:lpstr>
      <vt:lpstr>The assign Operation reads in the stored value from the Session</vt:lpstr>
      <vt:lpstr>The Op calculates the new value (0 + 1) which is stored in the Session</vt:lpstr>
      <vt:lpstr>Enough slides!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CTPClassification=CTP_NT</cp:keywords>
  <cp:lastModifiedBy/>
  <cp:revision>1</cp:revision>
  <dcterms:created xsi:type="dcterms:W3CDTF">2017-02-08T03:57:32Z</dcterms:created>
  <dcterms:modified xsi:type="dcterms:W3CDTF">2018-01-26T01:15:00Z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TC027879479991</vt:lpwstr>
  </property>
  <property fmtid="{D5CDD505-2E9C-101B-9397-08002B2CF9AE}" pid="3" name="TitusGUID">
    <vt:lpwstr>d055561c-c627-4eb6-9bcf-6a121ac03f1b</vt:lpwstr>
  </property>
  <property fmtid="{D5CDD505-2E9C-101B-9397-08002B2CF9AE}" pid="4" name="CTP_TimeStamp">
    <vt:lpwstr>2018-01-26 01:14:59Z</vt:lpwstr>
  </property>
  <property fmtid="{D5CDD505-2E9C-101B-9397-08002B2CF9AE}" pid="5" name="CTP_BU">
    <vt:lpwstr>NA</vt:lpwstr>
  </property>
  <property fmtid="{D5CDD505-2E9C-101B-9397-08002B2CF9AE}" pid="6" name="CTP_IDSID">
    <vt:lpwstr>NA</vt:lpwstr>
  </property>
  <property fmtid="{D5CDD505-2E9C-101B-9397-08002B2CF9AE}" pid="7" name="CTP_WWID">
    <vt:lpwstr>NA</vt:lpwstr>
  </property>
  <property fmtid="{D5CDD505-2E9C-101B-9397-08002B2CF9AE}" pid="8" name="CTPClassification">
    <vt:lpwstr>CTP_NT</vt:lpwstr>
  </property>
</Properties>
</file>
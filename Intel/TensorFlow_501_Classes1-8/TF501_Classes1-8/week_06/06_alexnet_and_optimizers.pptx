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32"/>
  </p:notesMasterIdLst>
  <p:handoutMasterIdLst>
    <p:handoutMasterId r:id="rId33"/>
  </p:handoutMasterIdLst>
  <p:sldIdLst>
    <p:sldId id="256" r:id="rId3"/>
    <p:sldId id="344" r:id="rId4"/>
    <p:sldId id="326" r:id="rId5"/>
    <p:sldId id="327" r:id="rId6"/>
    <p:sldId id="328" r:id="rId7"/>
    <p:sldId id="329" r:id="rId8"/>
    <p:sldId id="330" r:id="rId9"/>
    <p:sldId id="331" r:id="rId10"/>
    <p:sldId id="309" r:id="rId11"/>
    <p:sldId id="310" r:id="rId12"/>
    <p:sldId id="315" r:id="rId13"/>
    <p:sldId id="316" r:id="rId14"/>
    <p:sldId id="319" r:id="rId15"/>
    <p:sldId id="317" r:id="rId16"/>
    <p:sldId id="314" r:id="rId17"/>
    <p:sldId id="320" r:id="rId18"/>
    <p:sldId id="321" r:id="rId19"/>
    <p:sldId id="332" r:id="rId20"/>
    <p:sldId id="333" r:id="rId21"/>
    <p:sldId id="334" r:id="rId22"/>
    <p:sldId id="335" r:id="rId23"/>
    <p:sldId id="336" r:id="rId24"/>
    <p:sldId id="337" r:id="rId25"/>
    <p:sldId id="338" r:id="rId26"/>
    <p:sldId id="339" r:id="rId27"/>
    <p:sldId id="340" r:id="rId28"/>
    <p:sldId id="341" r:id="rId29"/>
    <p:sldId id="342" r:id="rId30"/>
    <p:sldId id="343" r:id="rId3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0FF1686-EBA3-C947-8046-4F9E85FDB396}">
          <p14:sldIdLst>
            <p14:sldId id="256"/>
            <p14:sldId id="344"/>
          </p14:sldIdLst>
        </p14:section>
        <p14:section name="AlexNet" id="{90D5B6D7-2A1A-E54C-B7C4-1C229E469795}">
          <p14:sldIdLst>
            <p14:sldId id="326"/>
            <p14:sldId id="327"/>
            <p14:sldId id="328"/>
            <p14:sldId id="329"/>
            <p14:sldId id="330"/>
            <p14:sldId id="331"/>
          </p14:sldIdLst>
        </p14:section>
        <p14:section name="Transfer Learning" id="{44B17DC1-C1D4-AA44-8E77-3EB37A33633E}">
          <p14:sldIdLst>
            <p14:sldId id="309"/>
            <p14:sldId id="310"/>
            <p14:sldId id="315"/>
            <p14:sldId id="316"/>
            <p14:sldId id="319"/>
            <p14:sldId id="317"/>
            <p14:sldId id="314"/>
            <p14:sldId id="320"/>
            <p14:sldId id="321"/>
          </p14:sldIdLst>
        </p14:section>
        <p14:section name="Optimizers" id="{D23FAE10-49E2-7E49-928B-4BF598D1F3C4}">
          <p14:sldIdLst>
            <p14:sldId id="332"/>
            <p14:sldId id="333"/>
            <p14:sldId id="334"/>
            <p14:sldId id="335"/>
            <p14:sldId id="336"/>
            <p14:sldId id="337"/>
            <p14:sldId id="338"/>
            <p14:sldId id="339"/>
            <p14:sldId id="340"/>
            <p14:sldId id="341"/>
            <p14:sldId id="342"/>
            <p14:sldId id="343"/>
          </p14:sldIdLst>
        </p14:section>
      </p14:sectionLst>
    </p:ex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6B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716" autoAdjust="0"/>
    <p:restoredTop sz="68951"/>
  </p:normalViewPr>
  <p:slideViewPr>
    <p:cSldViewPr showGuides="1">
      <p:cViewPr varScale="1">
        <p:scale>
          <a:sx n="88" d="100"/>
          <a:sy n="88" d="100"/>
        </p:scale>
        <p:origin x="618" y="78"/>
      </p:cViewPr>
      <p:guideLst>
        <p:guide orient="horz" pos="2160"/>
        <p:guide pos="3839"/>
        <p:guide pos="1007"/>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1/25/2018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1/25/2018</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758686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split layers allowed the model</a:t>
            </a:r>
            <a:r>
              <a:rPr lang="en-US" baseline="0" dirty="0" smtClean="0"/>
              <a:t> to run on two different GPUs.  The 224s should be 227.  The shapes are very difficult to infer from the diagram.  We discuss this more in the notebook.</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1737619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There’s a bunch of distortion code on line, if you want to add that to your image processing pipeline.  In the notebooks, we simply</a:t>
            </a:r>
            <a:r>
              <a:rPr lang="en-US" baseline="0" dirty="0" smtClean="0"/>
              <a:t> rescale the images. But, you can replace that by rescale and distort </a:t>
            </a:r>
            <a:r>
              <a:rPr lang="is-IS" baseline="0" dirty="0" smtClean="0"/>
              <a:t>…. </a:t>
            </a:r>
            <a:r>
              <a:rPr lang="en-US" baseline="0" dirty="0" smtClean="0"/>
              <a:t>A</a:t>
            </a:r>
            <a:r>
              <a:rPr lang="is-IS" baseline="0" dirty="0" smtClean="0"/>
              <a:t>nd also generate pseudo-data from the originals.  Thus, you could have 100 input images and do 10 transofrms on each to get a total of 1000 images.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1469265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notebook, we get</a:t>
            </a:r>
            <a:r>
              <a:rPr lang="en-US" baseline="0" dirty="0" smtClean="0"/>
              <a:t> files like:</a:t>
            </a:r>
          </a:p>
          <a:p>
            <a:r>
              <a:rPr lang="en-US" sz="1200" kern="1200" dirty="0" smtClean="0">
                <a:solidFill>
                  <a:schemeClr val="tx2"/>
                </a:solidFill>
                <a:effectLst/>
                <a:latin typeface="+mn-lt"/>
                <a:ea typeface="+mn-ea"/>
                <a:cs typeface="+mn-cs"/>
              </a:rPr>
              <a:t>alexnet.data-00000-of-00001</a:t>
            </a:r>
          </a:p>
          <a:p>
            <a:r>
              <a:rPr lang="en-US" sz="1200" kern="1200" dirty="0" err="1" smtClean="0">
                <a:solidFill>
                  <a:schemeClr val="tx2"/>
                </a:solidFill>
                <a:effectLst/>
                <a:latin typeface="+mn-lt"/>
                <a:ea typeface="+mn-ea"/>
                <a:cs typeface="+mn-cs"/>
              </a:rPr>
              <a:t>alexnet.index</a:t>
            </a:r>
            <a:endParaRPr lang="en-US" sz="1200" kern="1200" dirty="0" smtClean="0">
              <a:solidFill>
                <a:schemeClr val="tx2"/>
              </a:solidFill>
              <a:effectLst/>
              <a:latin typeface="+mn-lt"/>
              <a:ea typeface="+mn-ea"/>
              <a:cs typeface="+mn-cs"/>
            </a:endParaRPr>
          </a:p>
          <a:p>
            <a:r>
              <a:rPr lang="en-US" sz="1200" kern="1200" dirty="0" err="1" smtClean="0">
                <a:solidFill>
                  <a:schemeClr val="tx2"/>
                </a:solidFill>
                <a:effectLst/>
                <a:latin typeface="+mn-lt"/>
                <a:ea typeface="+mn-ea"/>
                <a:cs typeface="+mn-cs"/>
              </a:rPr>
              <a:t>alexnet.meta</a:t>
            </a:r>
            <a:endParaRPr lang="en-US" sz="1200" kern="1200" dirty="0" smtClean="0">
              <a:solidFill>
                <a:schemeClr val="tx2"/>
              </a:solidFill>
              <a:effectLst/>
              <a:latin typeface="+mn-lt"/>
              <a:ea typeface="+mn-ea"/>
              <a:cs typeface="+mn-cs"/>
            </a:endParaRPr>
          </a:p>
          <a:p>
            <a:r>
              <a:rPr lang="en-US" sz="1200" kern="1200" dirty="0" smtClean="0">
                <a:solidFill>
                  <a:schemeClr val="tx2"/>
                </a:solidFill>
                <a:effectLst/>
                <a:latin typeface="+mn-lt"/>
                <a:ea typeface="+mn-ea"/>
                <a:cs typeface="+mn-cs"/>
              </a:rPr>
              <a:t>alexnet.meta.tmp0722f7c68ff64203b56731c9b801714a</a:t>
            </a:r>
          </a:p>
          <a:p>
            <a:r>
              <a:rPr lang="en-US" sz="1200" kern="1200" dirty="0" smtClean="0">
                <a:solidFill>
                  <a:schemeClr val="tx2"/>
                </a:solidFill>
                <a:effectLst/>
                <a:latin typeface="+mn-lt"/>
                <a:ea typeface="+mn-ea"/>
                <a:cs typeface="+mn-cs"/>
              </a:rPr>
              <a:t>alexnet.meta.tmp18f07137a89f4a4d9d87b63330f539c6</a:t>
            </a:r>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14</a:t>
            </a:fld>
            <a:endParaRPr lang="en-US"/>
          </a:p>
        </p:txBody>
      </p:sp>
    </p:spTree>
    <p:extLst>
      <p:ext uri="{BB962C8B-B14F-4D97-AF65-F5344CB8AC3E}">
        <p14:creationId xmlns:p14="http://schemas.microsoft.com/office/powerpoint/2010/main" val="993027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Saves</a:t>
            </a:r>
            <a:r>
              <a:rPr lang="en-US" baseline="0" dirty="0" smtClean="0"/>
              <a:t> files into the ./</a:t>
            </a:r>
            <a:r>
              <a:rPr lang="en-US" baseline="0" dirty="0" err="1" smtClean="0"/>
              <a:t>my_model</a:t>
            </a:r>
            <a:r>
              <a:rPr lang="en-US" baseline="0" dirty="0" smtClean="0"/>
              <a:t> directory</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15</a:t>
            </a:fld>
            <a:endParaRPr lang="en-US"/>
          </a:p>
        </p:txBody>
      </p:sp>
    </p:spTree>
    <p:extLst>
      <p:ext uri="{BB962C8B-B14F-4D97-AF65-F5344CB8AC3E}">
        <p14:creationId xmlns:p14="http://schemas.microsoft.com/office/powerpoint/2010/main" val="421690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“loads” the saved model</a:t>
            </a:r>
            <a:r>
              <a:rPr lang="en-US" baseline="0" dirty="0" smtClean="0"/>
              <a:t> into </a:t>
            </a:r>
            <a:r>
              <a:rPr lang="en-US" baseline="0" dirty="0" err="1" smtClean="0"/>
              <a:t>new_graph</a:t>
            </a:r>
            <a:r>
              <a:rPr lang="en-US" baseline="0" dirty="0" smtClean="0"/>
              <a:t>.  You can also </a:t>
            </a:r>
            <a:r>
              <a:rPr lang="en-US" baseline="0" dirty="0" err="1" smtClean="0"/>
              <a:t>import_meta_graph</a:t>
            </a:r>
            <a:r>
              <a:rPr lang="en-US" baseline="0" dirty="0" smtClean="0"/>
              <a:t> into the graph associated with a session (inside a with session: block)</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16</a:t>
            </a:fld>
            <a:endParaRPr lang="en-US"/>
          </a:p>
        </p:txBody>
      </p:sp>
    </p:spTree>
    <p:extLst>
      <p:ext uri="{BB962C8B-B14F-4D97-AF65-F5344CB8AC3E}">
        <p14:creationId xmlns:p14="http://schemas.microsoft.com/office/powerpoint/2010/main" val="260833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Linked at end:  for instructor reference I’ll</a:t>
            </a:r>
            <a:r>
              <a:rPr lang="en-US" baseline="0" dirty="0" smtClean="0"/>
              <a:t> put it here:  http://</a:t>
            </a:r>
            <a:r>
              <a:rPr lang="en-US" baseline="0" dirty="0" err="1" smtClean="0"/>
              <a:t>sebastianruder.com</a:t>
            </a:r>
            <a:r>
              <a:rPr lang="en-US" baseline="0" dirty="0" smtClean="0"/>
              <a:t>/optimizing-gradient-descent/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18</a:t>
            </a:fld>
            <a:endParaRPr lang="en-US"/>
          </a:p>
        </p:txBody>
      </p:sp>
    </p:spTree>
    <p:extLst>
      <p:ext uri="{BB962C8B-B14F-4D97-AF65-F5344CB8AC3E}">
        <p14:creationId xmlns:p14="http://schemas.microsoft.com/office/powerpoint/2010/main" val="484205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We’ve used momentum in</a:t>
            </a:r>
            <a:r>
              <a:rPr lang="en-US" baseline="0" dirty="0" smtClean="0"/>
              <a:t> a few models.   v_(t-1) is the prior direction </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20</a:t>
            </a:fld>
            <a:endParaRPr lang="en-US"/>
          </a:p>
        </p:txBody>
      </p:sp>
    </p:spTree>
    <p:extLst>
      <p:ext uri="{BB962C8B-B14F-4D97-AF65-F5344CB8AC3E}">
        <p14:creationId xmlns:p14="http://schemas.microsoft.com/office/powerpoint/2010/main" val="33903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idea being that we don’t make turns that are “as sharp” because we have some (eta) prefer to continue going the prior direction</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22</a:t>
            </a:fld>
            <a:endParaRPr lang="en-US"/>
          </a:p>
        </p:txBody>
      </p:sp>
    </p:spTree>
    <p:extLst>
      <p:ext uri="{BB962C8B-B14F-4D97-AF65-F5344CB8AC3E}">
        <p14:creationId xmlns:p14="http://schemas.microsoft.com/office/powerpoint/2010/main" val="1312731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U_t</a:t>
            </a:r>
            <a:r>
              <a:rPr lang="en-US" dirty="0" smtClean="0"/>
              <a:t> is our momentum step (brown vector).  </a:t>
            </a:r>
            <a:r>
              <a:rPr lang="en-US" dirty="0" err="1" smtClean="0"/>
              <a:t>V_t</a:t>
            </a:r>
            <a:r>
              <a:rPr lang="en-US" dirty="0" smtClean="0"/>
              <a:t> is a “correction” to that step (red vector).  See next slide.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23</a:t>
            </a:fld>
            <a:endParaRPr lang="en-US"/>
          </a:p>
        </p:txBody>
      </p:sp>
    </p:spTree>
    <p:extLst>
      <p:ext uri="{BB962C8B-B14F-4D97-AF65-F5344CB8AC3E}">
        <p14:creationId xmlns:p14="http://schemas.microsoft.com/office/powerpoint/2010/main" val="1983705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Basically we take a “momentum step” (the brown vector) and then a “gradient based step” (the red vector).  The red vector is our “correction” to our overactive</a:t>
            </a:r>
            <a:r>
              <a:rPr lang="en-US" baseline="0" dirty="0" smtClean="0"/>
              <a:t> momentum term.</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24</a:t>
            </a:fld>
            <a:endParaRPr lang="en-US"/>
          </a:p>
        </p:txBody>
      </p:sp>
    </p:spTree>
    <p:extLst>
      <p:ext uri="{BB962C8B-B14F-4D97-AF65-F5344CB8AC3E}">
        <p14:creationId xmlns:p14="http://schemas.microsoft.com/office/powerpoint/2010/main" val="402615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Aka, step size (learning rate) for different features</a:t>
            </a:r>
            <a:r>
              <a:rPr lang="en-US" baseline="0" dirty="0" smtClean="0"/>
              <a:t> can vary.  Great for sparse/rare data (they need bigger updates to maintain their importance).  Circle-dot is elementwise multiplication.</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25</a:t>
            </a:fld>
            <a:endParaRPr lang="en-US"/>
          </a:p>
        </p:txBody>
      </p:sp>
    </p:spTree>
    <p:extLst>
      <p:ext uri="{BB962C8B-B14F-4D97-AF65-F5344CB8AC3E}">
        <p14:creationId xmlns:p14="http://schemas.microsoft.com/office/powerpoint/2010/main" val="577701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Deals with </a:t>
            </a:r>
            <a:r>
              <a:rPr lang="en-US" dirty="0" err="1" smtClean="0"/>
              <a:t>AdaGrad’s</a:t>
            </a:r>
            <a:r>
              <a:rPr lang="en-US" dirty="0" smtClean="0"/>
              <a:t> history mechanism (for remembering past steps) by replacing memory of all steps with a decaying weighted average of those</a:t>
            </a:r>
            <a:r>
              <a:rPr lang="en-US" baseline="0" dirty="0" smtClean="0"/>
              <a:t> steps.  RMS is similar.</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26</a:t>
            </a:fld>
            <a:endParaRPr lang="en-US"/>
          </a:p>
        </p:txBody>
      </p:sp>
    </p:spTree>
    <p:extLst>
      <p:ext uri="{BB962C8B-B14F-4D97-AF65-F5344CB8AC3E}">
        <p14:creationId xmlns:p14="http://schemas.microsoft.com/office/powerpoint/2010/main" val="17184934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AdaDelta</a:t>
            </a:r>
            <a:r>
              <a:rPr lang="en-US" dirty="0" smtClean="0"/>
              <a:t> keeps a (decaying)</a:t>
            </a:r>
            <a:r>
              <a:rPr lang="en-US" baseline="0" dirty="0" smtClean="0"/>
              <a:t> history of squared gradients.  Adam keeps a decaying history of (sum-of)-squares </a:t>
            </a:r>
            <a:r>
              <a:rPr lang="en-US" i="1" baseline="0" dirty="0" smtClean="0"/>
              <a:t>and</a:t>
            </a:r>
            <a:r>
              <a:rPr lang="en-US" i="0" baseline="0" dirty="0" smtClean="0"/>
              <a:t> sum-of-gradients (unsquared).  Working together, they estimate the first two moments (mean and variance) of the gradients [think first and second order approximations].  Then, correct for biases.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27</a:t>
            </a:fld>
            <a:endParaRPr lang="en-US"/>
          </a:p>
        </p:txBody>
      </p:sp>
    </p:spTree>
    <p:extLst>
      <p:ext uri="{BB962C8B-B14F-4D97-AF65-F5344CB8AC3E}">
        <p14:creationId xmlns:p14="http://schemas.microsoft.com/office/powerpoint/2010/main" val="15496080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616665" y="533064"/>
            <a:ext cx="1640574" cy="1542997"/>
          </a:xfrm>
          <a:prstGeom prst="rect">
            <a:avLst/>
          </a:prstGeom>
        </p:spPr>
      </p:pic>
      <p:sp>
        <p:nvSpPr>
          <p:cNvPr id="12" name="Rectangle 11"/>
          <p:cNvSpPr/>
          <p:nvPr/>
        </p:nvSpPr>
        <p:spPr>
          <a:xfrm>
            <a:off x="626112" y="6498502"/>
            <a:ext cx="2672206" cy="164019"/>
          </a:xfrm>
          <a:prstGeom prst="rect">
            <a:avLst/>
          </a:prstGeom>
        </p:spPr>
        <p:txBody>
          <a:bodyPr wrap="none" lIns="0" tIns="0" rIns="0" bIns="0">
            <a:spAutoFit/>
          </a:bodyPr>
          <a:lstStyle/>
          <a:p>
            <a:pPr algn="l" rtl="0"/>
            <a:r>
              <a:rPr lang="en-US" sz="1066" b="0" i="0" u="none" strike="noStrike" kern="1200" baseline="0" dirty="0" smtClean="0">
                <a:solidFill>
                  <a:schemeClr val="bg1"/>
                </a:solidFill>
                <a:latin typeface="+mn-lt"/>
                <a:ea typeface="+mn-ea"/>
                <a:cs typeface="Neo Sans Intel"/>
              </a:rPr>
              <a:t>Intel® Confidential — INTERNAL USE ONLY</a:t>
            </a:r>
          </a:p>
        </p:txBody>
      </p:sp>
    </p:spTree>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88825" cy="6358467"/>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92449" y="301124"/>
            <a:ext cx="1875189" cy="1538477"/>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32"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33"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58" name="Picture 57" descr="StackedISWhite.png"/>
          <p:cNvPicPr>
            <a:picLocks noChangeAspect="1"/>
          </p:cNvPicPr>
          <p:nvPr/>
        </p:nvPicPr>
        <p:blipFill>
          <a:blip r:embed="rId3"/>
          <a:stretch>
            <a:fillRect/>
          </a:stretch>
        </p:blipFill>
        <p:spPr>
          <a:xfrm>
            <a:off x="11056288" y="6407851"/>
            <a:ext cx="419545" cy="394592"/>
          </a:xfrm>
          <a:prstGeom prst="rect">
            <a:avLst/>
          </a:prstGeom>
        </p:spPr>
      </p:pic>
      <p:cxnSp>
        <p:nvCxnSpPr>
          <p:cNvPr id="74" name="Straight Connector 73"/>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607326" y="1604434"/>
            <a:ext cx="10967826" cy="4567767"/>
          </a:xfrm>
        </p:spPr>
        <p:txBody>
          <a:bodyPr/>
          <a:lstStyle>
            <a:lvl1pPr>
              <a:defRPr>
                <a:solidFill>
                  <a:srgbClr val="0071C5"/>
                </a:solidFill>
              </a:defRPr>
            </a:lvl1pPr>
            <a:lvl2pPr>
              <a:defRPr sz="2399"/>
            </a:lvl2pPr>
            <a:lvl3pPr>
              <a:defRPr sz="2399"/>
            </a:lvl3pPr>
            <a:lvl4pPr>
              <a:defRPr sz="2133"/>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pPr/>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6439341" y="1257907"/>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
        <p:nvSpPr>
          <p:cNvPr id="10" name="Picture Placeholder 8"/>
          <p:cNvSpPr>
            <a:spLocks noGrp="1"/>
          </p:cNvSpPr>
          <p:nvPr>
            <p:ph type="pic" sz="quarter" idx="14"/>
          </p:nvPr>
        </p:nvSpPr>
        <p:spPr>
          <a:xfrm>
            <a:off x="6439341" y="3791863"/>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6236193" y="1604433"/>
            <a:ext cx="5338961"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326" y="1604434"/>
            <a:ext cx="10967827" cy="4567767"/>
          </a:xfrm>
        </p:spPr>
        <p:txBody>
          <a:bodyPr anchor="ctr" anchorCtr="0"/>
          <a:lstStyle>
            <a:lvl1pPr marL="253937" indent="-253937">
              <a:defRPr sz="4799" b="1" baseline="0">
                <a:solidFill>
                  <a:schemeClr val="accent2"/>
                </a:solidFill>
                <a:latin typeface="+mn-lt"/>
                <a:cs typeface="Intel Clear Light" panose="020B0404020203020204" pitchFamily="34" charset="0"/>
              </a:defRPr>
            </a:lvl1pPr>
            <a:lvl2pPr marL="556545" indent="-300492">
              <a:buFont typeface="Lucida Grande"/>
              <a:buChar char="−"/>
              <a:defRPr sz="1600" baseline="0">
                <a:latin typeface="+mn-lt"/>
                <a:cs typeface="Intel Clear" panose="020B0604020203020204" pitchFamily="34" charset="0"/>
              </a:defRPr>
            </a:lvl2pPr>
            <a:lvl3pPr marL="914171" indent="-304724">
              <a:defRPr sz="1600">
                <a:latin typeface="+mn-lt"/>
              </a:defRPr>
            </a:lvl3pPr>
            <a:lvl4pPr>
              <a:defRPr sz="1466">
                <a:latin typeface="+mn-lt"/>
              </a:defRPr>
            </a:lvl4pPr>
            <a:lvl5pPr>
              <a:defRPr sz="140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88825" cy="6350445"/>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88825" cy="2918271"/>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18" name="Content Placeholder 2"/>
          <p:cNvSpPr>
            <a:spLocks noGrp="1"/>
          </p:cNvSpPr>
          <p:nvPr>
            <p:ph sz="half" idx="1" hasCustomPrompt="1"/>
          </p:nvPr>
        </p:nvSpPr>
        <p:spPr>
          <a:xfrm>
            <a:off x="607326" y="1604433"/>
            <a:ext cx="5341077"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6236193" y="1604433"/>
            <a:ext cx="5338961"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345633" y="6634394"/>
            <a:ext cx="184731" cy="297454"/>
          </a:xfrm>
          <a:prstGeom prst="rect">
            <a:avLst/>
          </a:prstGeom>
          <a:noFill/>
        </p:spPr>
        <p:txBody>
          <a:bodyPr wrap="none" rtlCol="0">
            <a:spAutoFit/>
          </a:bodyPr>
          <a:lstStyle/>
          <a:p>
            <a:endParaRPr lang="en-US" sz="1333" dirty="0" smtClean="0">
              <a:solidFill>
                <a:schemeClr val="tx2"/>
              </a:solidFill>
              <a:cs typeface="Neo Sans Intel"/>
            </a:endParaRPr>
          </a:p>
        </p:txBody>
      </p:sp>
      <p:sp>
        <p:nvSpPr>
          <p:cNvPr id="10"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6194" y="3"/>
            <a:ext cx="5952632" cy="6340821"/>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607326" y="411797"/>
            <a:ext cx="5341075" cy="1158240"/>
          </a:xfrm>
        </p:spPr>
        <p:txBody>
          <a:bodyPr>
            <a:noAutofit/>
          </a:bodyPr>
          <a:lstStyle>
            <a:lvl1pPr>
              <a:defRPr sz="3732"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11631045" y="6394031"/>
            <a:ext cx="373763" cy="365125"/>
          </a:xfrm>
        </p:spPr>
        <p:txBody>
          <a:bodyPr/>
          <a:lstStyle/>
          <a:p>
            <a:fld id="{7DC1BBB0-96F0-4077-A278-0F3FB5C104D3}" type="slidenum">
              <a:rPr lang="en-US" smtClean="0"/>
              <a:pPr/>
              <a:t>‹#›</a:t>
            </a:fld>
            <a:endParaRPr lang="en-US"/>
          </a:p>
        </p:txBody>
      </p:sp>
      <p:sp>
        <p:nvSpPr>
          <p:cNvPr id="17" name="Content Placeholder 2"/>
          <p:cNvSpPr>
            <a:spLocks noGrp="1"/>
          </p:cNvSpPr>
          <p:nvPr>
            <p:ph sz="half" idx="1" hasCustomPrompt="1"/>
          </p:nvPr>
        </p:nvSpPr>
        <p:spPr>
          <a:xfrm>
            <a:off x="607327" y="1766992"/>
            <a:ext cx="5341075"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i="0" baseline="0">
                <a:solidFill>
                  <a:srgbClr val="F3D54E"/>
                </a:solidFill>
                <a:latin typeface="Intel Clear"/>
                <a:cs typeface="Intel Clear"/>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326" y="2979843"/>
            <a:ext cx="10360501" cy="1500187"/>
          </a:xfrm>
        </p:spPr>
        <p:txBody>
          <a:bodyPr anchor="t" anchorCtr="0">
            <a:noAutofit/>
          </a:bodyPr>
          <a:lstStyle>
            <a:lvl1pPr marL="0" indent="0">
              <a:buNone/>
              <a:defRPr sz="5332"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7" name="Title 1"/>
          <p:cNvSpPr>
            <a:spLocks noGrp="1"/>
          </p:cNvSpPr>
          <p:nvPr>
            <p:ph type="title" hasCustomPrompt="1"/>
          </p:nvPr>
        </p:nvSpPr>
        <p:spPr>
          <a:xfrm>
            <a:off x="607326" y="1469059"/>
            <a:ext cx="10360501" cy="1362075"/>
          </a:xfrm>
        </p:spPr>
        <p:txBody>
          <a:bodyPr anchor="b" anchorCtr="0">
            <a:noAutofit/>
          </a:bodyPr>
          <a:lstStyle>
            <a:lvl1pPr algn="l">
              <a:lnSpc>
                <a:spcPct val="80000"/>
              </a:lnSpc>
              <a:defRPr sz="5332"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3013451"/>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607326" y="4465049"/>
            <a:ext cx="10360501"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2"/>
            <a:ext cx="12188825" cy="3432175"/>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7DC1BBB0-96F0-4077-A278-0F3FB5C104D3}" type="slidenum">
              <a:rPr lang="en-US" smtClean="0"/>
              <a:t>‹#›</a:t>
            </a:fld>
            <a:endParaRPr lang="en-US"/>
          </a:p>
        </p:txBody>
      </p:sp>
      <p:sp>
        <p:nvSpPr>
          <p:cNvPr id="6"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12188825" cy="6358467"/>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a:solidFill>
                <a:srgbClr val="0071C5"/>
              </a:solidFill>
            </a:endParaRPr>
          </a:p>
        </p:txBody>
      </p:sp>
      <p:pic>
        <p:nvPicPr>
          <p:cNvPr id="5" name="Picture 4" descr="StackedISWhite.png"/>
          <p:cNvPicPr>
            <a:picLocks noChangeAspect="1"/>
          </p:cNvPicPr>
          <p:nvPr/>
        </p:nvPicPr>
        <p:blipFill>
          <a:blip r:embed="rId2"/>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5999"/>
            </a:lvl1pPr>
          </a:lstStyle>
          <a:p>
            <a:r>
              <a:rPr lang="en-US" smtClean="0"/>
              <a:t>Click to edit Master title style</a:t>
            </a:r>
            <a:endParaRPr lang="en-US"/>
          </a:p>
        </p:txBody>
      </p:sp>
      <p:sp>
        <p:nvSpPr>
          <p:cNvPr id="3" name="Subtitle 2"/>
          <p:cNvSpPr>
            <a:spLocks noGrp="1"/>
          </p:cNvSpPr>
          <p:nvPr>
            <p:ph type="subTitle" idx="1"/>
          </p:nvPr>
        </p:nvSpPr>
        <p:spPr>
          <a:xfrm>
            <a:off x="1523603" y="3602037"/>
            <a:ext cx="9141619" cy="1655763"/>
          </a:xfrm>
        </p:spPr>
        <p:txBody>
          <a:bodyPr/>
          <a:lstStyle>
            <a:lvl1pPr marL="0" indent="0" algn="ctr">
              <a:buNone/>
              <a:defRPr sz="2399"/>
            </a:lvl1pPr>
            <a:lvl2pPr marL="457086" indent="0" algn="ctr">
              <a:buNone/>
              <a:defRPr sz="2000"/>
            </a:lvl2pPr>
            <a:lvl3pPr marL="914171" indent="0" algn="ctr">
              <a:buNone/>
              <a:defRPr sz="1800"/>
            </a:lvl3pPr>
            <a:lvl4pPr marL="1371257" indent="0" algn="ctr">
              <a:buNone/>
              <a:defRPr sz="1600"/>
            </a:lvl4pPr>
            <a:lvl5pPr marL="1828343" indent="0" algn="ctr">
              <a:buNone/>
              <a:defRPr sz="1600"/>
            </a:lvl5pPr>
            <a:lvl6pPr marL="2285429" indent="0" algn="ctr">
              <a:buNone/>
              <a:defRPr sz="1600"/>
            </a:lvl6pPr>
            <a:lvl7pPr marL="2742514" indent="0" algn="ctr">
              <a:buNone/>
              <a:defRPr sz="1600"/>
            </a:lvl7pPr>
            <a:lvl8pPr marL="3199600" indent="0" algn="ctr">
              <a:buNone/>
              <a:defRPr sz="1600"/>
            </a:lvl8pPr>
            <a:lvl9pPr marL="3656686"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837982" y="6356351"/>
            <a:ext cx="2742486" cy="365125"/>
          </a:xfrm>
          <a:prstGeom prst="rect">
            <a:avLst/>
          </a:prstGeom>
        </p:spPr>
        <p:txBody>
          <a:bodyPr/>
          <a:lstStyle/>
          <a:p>
            <a:fld id="{C2C6F8EA-316C-41DE-B9A4-EDCC3A85ED9A}" type="datetimeFigureOut">
              <a:rPr lang="en-US" smtClean="0"/>
              <a:pPr/>
              <a:t>1/25/2018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5180250" y="6356351"/>
            <a:ext cx="1218883" cy="365125"/>
          </a:xfrm>
          <a:prstGeom prst="rect">
            <a:avLst/>
          </a:prstGeom>
        </p:spPr>
        <p:txBody>
          <a:bodyPr/>
          <a:lstStyle/>
          <a:p>
            <a:fld id="{C2C6F8EA-316C-41DE-B9A4-EDCC3A85ED9A}" type="datetimeFigureOut">
              <a:rPr lang="en-US"/>
              <a:t>1/25/2018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14999304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2" name="Title Placeholder 1"/>
          <p:cNvSpPr>
            <a:spLocks noGrp="1"/>
          </p:cNvSpPr>
          <p:nvPr>
            <p:ph type="title"/>
          </p:nvPr>
        </p:nvSpPr>
        <p:spPr>
          <a:xfrm>
            <a:off x="607326" y="413507"/>
            <a:ext cx="10969943" cy="115824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607326" y="1604434"/>
            <a:ext cx="10967826" cy="4567767"/>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6"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16" name="Picture 15" descr="StackedISWhite.png"/>
          <p:cNvPicPr>
            <a:picLocks noChangeAspect="1"/>
          </p:cNvPicPr>
          <p:nvPr/>
        </p:nvPicPr>
        <p:blipFill>
          <a:blip r:embed="rId21"/>
          <a:stretch>
            <a:fillRect/>
          </a:stretch>
        </p:blipFill>
        <p:spPr>
          <a:xfrm>
            <a:off x="11056288" y="6407851"/>
            <a:ext cx="419545" cy="394592"/>
          </a:xfrm>
          <a:prstGeom prst="rect">
            <a:avLst/>
          </a:prstGeom>
        </p:spPr>
      </p:pic>
      <p:cxnSp>
        <p:nvCxnSpPr>
          <p:cNvPr id="37" name="Straight Connector 36"/>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72678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iming>
    <p:tnLst>
      <p:par>
        <p:cTn id="1" dur="indefinite" restart="never" nodeType="tmRoot"/>
      </p:par>
    </p:tnLst>
  </p:timing>
  <p:txStyles>
    <p:titleStyle>
      <a:lvl1pPr algn="l" defTabSz="609448" rtl="0" eaLnBrk="1" latinLnBrk="0" hangingPunct="1">
        <a:lnSpc>
          <a:spcPct val="100000"/>
        </a:lnSpc>
        <a:spcBef>
          <a:spcPct val="0"/>
        </a:spcBef>
        <a:buNone/>
        <a:defRPr sz="3732"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609448" rtl="0" eaLnBrk="1" latinLnBrk="0" hangingPunct="1">
        <a:spcBef>
          <a:spcPts val="1600"/>
        </a:spcBef>
        <a:spcAft>
          <a:spcPts val="0"/>
        </a:spcAft>
        <a:buFont typeface="Wingdings" panose="05000000000000000000" pitchFamily="2" charset="2"/>
        <a:buNone/>
        <a:defRPr sz="2399" b="0" kern="1200">
          <a:solidFill>
            <a:srgbClr val="0071C5"/>
          </a:solidFill>
          <a:latin typeface="+mn-lt"/>
          <a:ea typeface="+mn-ea"/>
          <a:cs typeface="Intel Clear" panose="020B0604020203020204" pitchFamily="34" charset="0"/>
        </a:defRPr>
      </a:lvl1pPr>
      <a:lvl2pPr marL="300492" indent="-300492" algn="l" defTabSz="609448"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810" indent="-304724" algn="l" defTabSz="609448" rtl="0" eaLnBrk="1" latinLnBrk="0" hangingPunct="1">
        <a:spcBef>
          <a:spcPts val="1066"/>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2961" indent="-304724" algn="l" defTabSz="609448" rtl="0" eaLnBrk="1" latinLnBrk="0" hangingPunct="1">
        <a:spcBef>
          <a:spcPct val="20000"/>
        </a:spcBef>
        <a:buFont typeface="Arial"/>
        <a:buChar char="–"/>
        <a:defRPr sz="1866" kern="1200">
          <a:solidFill>
            <a:srgbClr val="003C71"/>
          </a:solidFill>
          <a:latin typeface="+mn-lt"/>
          <a:ea typeface="+mn-ea"/>
          <a:cs typeface="Intel Clear" panose="020B0604020203020204" pitchFamily="34" charset="0"/>
        </a:defRPr>
      </a:lvl4pPr>
      <a:lvl5pPr marL="1758511" indent="-304724" algn="l" defTabSz="609448" rtl="0" eaLnBrk="1" latinLnBrk="0" hangingPunct="1">
        <a:spcBef>
          <a:spcPct val="20000"/>
        </a:spcBef>
        <a:buFont typeface="Intel Clear" panose="020B0604020203020204" pitchFamily="34" charset="0"/>
        <a:buChar char="–"/>
        <a:defRPr sz="1866" kern="1200">
          <a:solidFill>
            <a:srgbClr val="003C71"/>
          </a:solidFill>
          <a:latin typeface="+mn-lt"/>
          <a:ea typeface="+mn-ea"/>
          <a:cs typeface="Intel Clear" panose="020B0604020203020204" pitchFamily="34" charset="0"/>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9.xml"/><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hyperlink" Target="http://www.cs.toronto.edu/~tijmen/csc321/slides/lecture_slides_lec6.pdf" TargetMode="External"/><Relationship Id="rId2" Type="http://schemas.openxmlformats.org/officeDocument/2006/relationships/notesSlide" Target="../notesSlides/notesSlide11.xml"/><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hyperlink" Target="https://www.tensorflow.org/api_guides/python/train#Optimizers" TargetMode="Externa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hyperlink" Target="http://sebastianruder.com/optimizing-gradient-descent/index.html" TargetMode="Externa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79612" y="1600200"/>
            <a:ext cx="9982199" cy="2680127"/>
          </a:xfrm>
        </p:spPr>
        <p:txBody>
          <a:bodyPr/>
          <a:lstStyle/>
          <a:p>
            <a:r>
              <a:rPr lang="en-US" sz="4800" dirty="0" err="1" smtClean="0"/>
              <a:t>AlexNet</a:t>
            </a:r>
            <a:r>
              <a:rPr lang="en-US" sz="4800" dirty="0" smtClean="0"/>
              <a:t> and Optimizers</a:t>
            </a:r>
            <a:endParaRPr lang="en-US" sz="4800" dirty="0"/>
          </a:p>
        </p:txBody>
      </p:sp>
      <p:sp>
        <p:nvSpPr>
          <p:cNvPr id="3" name="Subtitle 2"/>
          <p:cNvSpPr>
            <a:spLocks noGrp="1"/>
          </p:cNvSpPr>
          <p:nvPr>
            <p:ph type="subTitle" idx="1"/>
          </p:nvPr>
        </p:nvSpPr>
        <p:spPr>
          <a:xfrm>
            <a:off x="2428668" y="4344915"/>
            <a:ext cx="8085343" cy="1116085"/>
          </a:xfrm>
        </p:spPr>
        <p:txBody>
          <a:bodyPr/>
          <a:lstStyle/>
          <a:p>
            <a:r>
              <a:rPr lang="en-US" i="1" dirty="0" smtClean="0"/>
              <a:t>Deep Learning with </a:t>
            </a:r>
            <a:r>
              <a:rPr lang="en-US" i="1" dirty="0" err="1" smtClean="0"/>
              <a:t>TensorFlow</a:t>
            </a:r>
            <a:r>
              <a:rPr lang="en-US" dirty="0" smtClean="0"/>
              <a:t> - Day 6</a:t>
            </a:r>
            <a:endParaRPr lang="en-US" dirty="0"/>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2000" dirty="0"/>
              <a:t>This presentation is for informational purposes only. INTEL MAKES NO WARRANTIES, EXPRESS OR IMPLIED, IN THIS SUMMARY. </a:t>
            </a:r>
          </a:p>
          <a:p>
            <a:r>
              <a:rPr lang="en-US" sz="2000" dirty="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2000" dirty="0">
                <a:hlinkClick r:id="rId2"/>
              </a:rPr>
              <a:t>intel.com</a:t>
            </a:r>
            <a:r>
              <a:rPr lang="en-US" sz="2000" dirty="0"/>
              <a:t>. </a:t>
            </a:r>
          </a:p>
          <a:p>
            <a:r>
              <a:rPr lang="en-US" sz="2000" dirty="0"/>
              <a:t>This sample source code is released under the </a:t>
            </a:r>
            <a:r>
              <a:rPr lang="en-US" sz="2000" dirty="0">
                <a:hlinkClick r:id="rId3"/>
              </a:rPr>
              <a:t>Intel Sample Source Code License Agreement</a:t>
            </a:r>
            <a:r>
              <a:rPr lang="en-US" sz="2000" dirty="0"/>
              <a:t>. </a:t>
            </a:r>
          </a:p>
          <a:p>
            <a:r>
              <a:rPr lang="en-US" sz="2000" dirty="0"/>
              <a:t>Intel and the Intel logo are trademarks of Intel Corporation in the U.S. and/or other countries. </a:t>
            </a:r>
          </a:p>
          <a:p>
            <a:r>
              <a:rPr lang="en-US" sz="2000" dirty="0"/>
              <a:t>*Other names and brands may be claimed as the property of others. </a:t>
            </a:r>
          </a:p>
          <a:p>
            <a:r>
              <a:rPr lang="en-US" sz="2000" dirty="0"/>
              <a:t>Copyright © 2017, Intel Corporation. All rights reserved. </a:t>
            </a:r>
            <a:endParaRPr lang="en-US" sz="2000" dirty="0"/>
          </a:p>
        </p:txBody>
      </p:sp>
    </p:spTree>
    <p:extLst>
      <p:ext uri="{BB962C8B-B14F-4D97-AF65-F5344CB8AC3E}">
        <p14:creationId xmlns:p14="http://schemas.microsoft.com/office/powerpoint/2010/main" val="2733945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AlexNet</a:t>
            </a:r>
            <a:endParaRPr lang="en-US" dirty="0"/>
          </a:p>
        </p:txBody>
      </p:sp>
    </p:spTree>
    <p:extLst>
      <p:ext uri="{BB962C8B-B14F-4D97-AF65-F5344CB8AC3E}">
        <p14:creationId xmlns:p14="http://schemas.microsoft.com/office/powerpoint/2010/main" val="21232215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AlexNet</a:t>
            </a:r>
            <a:endParaRPr lang="en-US" dirty="0"/>
          </a:p>
        </p:txBody>
      </p:sp>
      <p:sp>
        <p:nvSpPr>
          <p:cNvPr id="3" name="Content Placeholder 2"/>
          <p:cNvSpPr>
            <a:spLocks noGrp="1"/>
          </p:cNvSpPr>
          <p:nvPr>
            <p:ph idx="1"/>
          </p:nvPr>
        </p:nvSpPr>
        <p:spPr/>
        <p:txBody>
          <a:bodyPr>
            <a:normAutofit/>
          </a:bodyPr>
          <a:lstStyle/>
          <a:p>
            <a:r>
              <a:rPr lang="en-US" dirty="0" smtClean="0"/>
              <a:t>Created in 2012 for the ImageNet Large Scale Visual Recognition Challenge (ILSVRC)</a:t>
            </a:r>
          </a:p>
          <a:p>
            <a:r>
              <a:rPr lang="en-US" dirty="0" smtClean="0"/>
              <a:t>Task: predict the correct label from among 1000 classes</a:t>
            </a:r>
          </a:p>
          <a:p>
            <a:r>
              <a:rPr lang="en-US" dirty="0" smtClean="0"/>
              <a:t>Dataset: around 1.2 million images</a:t>
            </a:r>
          </a:p>
          <a:p>
            <a:r>
              <a:rPr lang="en-US" dirty="0" smtClean="0"/>
              <a:t>Considered the “flash point” for modern deep learning</a:t>
            </a:r>
          </a:p>
          <a:p>
            <a:r>
              <a:rPr lang="en-US" dirty="0" smtClean="0"/>
              <a:t>Demolished the competition.</a:t>
            </a:r>
          </a:p>
          <a:p>
            <a:pPr lvl="1"/>
            <a:r>
              <a:rPr lang="en-US" dirty="0" smtClean="0"/>
              <a:t>Top 5 error rate of 15.4%</a:t>
            </a:r>
          </a:p>
          <a:p>
            <a:pPr lvl="1"/>
            <a:r>
              <a:rPr lang="en-US" dirty="0" smtClean="0"/>
              <a:t>Next best: 26.2%</a:t>
            </a:r>
            <a:endParaRPr lang="en-US" dirty="0"/>
          </a:p>
        </p:txBody>
      </p:sp>
    </p:spTree>
    <p:extLst>
      <p:ext uri="{BB962C8B-B14F-4D97-AF65-F5344CB8AC3E}">
        <p14:creationId xmlns:p14="http://schemas.microsoft.com/office/powerpoint/2010/main" val="2483916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diagram</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4773" y="1752600"/>
            <a:ext cx="9671464" cy="3413458"/>
          </a:xfrm>
          <a:prstGeom prst="rect">
            <a:avLst/>
          </a:prstGeom>
        </p:spPr>
      </p:pic>
    </p:spTree>
    <p:extLst>
      <p:ext uri="{BB962C8B-B14F-4D97-AF65-F5344CB8AC3E}">
        <p14:creationId xmlns:p14="http://schemas.microsoft.com/office/powerpoint/2010/main" val="105711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diagram</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4773" y="1752600"/>
            <a:ext cx="9671464" cy="3413458"/>
          </a:xfrm>
          <a:prstGeom prst="rect">
            <a:avLst/>
          </a:prstGeom>
        </p:spPr>
      </p:pic>
      <p:cxnSp>
        <p:nvCxnSpPr>
          <p:cNvPr id="5" name="Straight Arrow Connector 4"/>
          <p:cNvCxnSpPr/>
          <p:nvPr/>
        </p:nvCxnSpPr>
        <p:spPr>
          <a:xfrm flipV="1">
            <a:off x="1704773" y="4724400"/>
            <a:ext cx="198639" cy="77662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V="1">
            <a:off x="1704773" y="3810001"/>
            <a:ext cx="99319" cy="16910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382275" y="5501021"/>
            <a:ext cx="8375178" cy="369332"/>
          </a:xfrm>
          <a:prstGeom prst="rect">
            <a:avLst/>
          </a:prstGeom>
          <a:noFill/>
        </p:spPr>
        <p:txBody>
          <a:bodyPr wrap="none" rtlCol="0">
            <a:spAutoFit/>
          </a:bodyPr>
          <a:lstStyle/>
          <a:p>
            <a:r>
              <a:rPr lang="en-US" dirty="0" smtClean="0">
                <a:solidFill>
                  <a:srgbClr val="FF0000"/>
                </a:solidFill>
              </a:rPr>
              <a:t>Should be 227x227 (no one knows why it was written as 224x224 in the paper)</a:t>
            </a:r>
            <a:endParaRPr lang="en-US" dirty="0">
              <a:solidFill>
                <a:srgbClr val="FF0000"/>
              </a:solidFill>
            </a:endParaRPr>
          </a:p>
        </p:txBody>
      </p:sp>
    </p:spTree>
    <p:extLst>
      <p:ext uri="{BB962C8B-B14F-4D97-AF65-F5344CB8AC3E}">
        <p14:creationId xmlns:p14="http://schemas.microsoft.com/office/powerpoint/2010/main" val="15750707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a:t>
            </a:r>
            <a:endParaRPr lang="en-US" dirty="0"/>
          </a:p>
        </p:txBody>
      </p:sp>
      <p:sp>
        <p:nvSpPr>
          <p:cNvPr id="3" name="Content Placeholder 2"/>
          <p:cNvSpPr>
            <a:spLocks noGrp="1"/>
          </p:cNvSpPr>
          <p:nvPr>
            <p:ph idx="1"/>
          </p:nvPr>
        </p:nvSpPr>
        <p:spPr/>
        <p:txBody>
          <a:bodyPr/>
          <a:lstStyle/>
          <a:p>
            <a:r>
              <a:rPr lang="en-US" dirty="0" smtClean="0"/>
              <a:t>They perform data augmentation for training</a:t>
            </a:r>
          </a:p>
          <a:p>
            <a:pPr lvl="1"/>
            <a:r>
              <a:rPr lang="en-US" dirty="0" smtClean="0"/>
              <a:t>Cropping, horizontal flipping, and more</a:t>
            </a:r>
          </a:p>
          <a:p>
            <a:pPr lvl="1"/>
            <a:r>
              <a:rPr lang="en-US" dirty="0" smtClean="0"/>
              <a:t>Useful to help make more use out of given training data</a:t>
            </a:r>
          </a:p>
          <a:p>
            <a:endParaRPr lang="en-US" dirty="0" smtClean="0"/>
          </a:p>
          <a:p>
            <a:r>
              <a:rPr lang="en-US" dirty="0" smtClean="0"/>
              <a:t>They split up the model across two GPUs, as illustrated in previous image</a:t>
            </a:r>
          </a:p>
          <a:p>
            <a:pPr lvl="1"/>
            <a:r>
              <a:rPr lang="en-US" dirty="0" smtClean="0"/>
              <a:t>This generally doesn’t happen in modern CNN architectures</a:t>
            </a:r>
          </a:p>
          <a:p>
            <a:pPr lvl="1"/>
            <a:r>
              <a:rPr lang="en-US" dirty="0" smtClean="0"/>
              <a:t>We can replicate this effect by splitting Tensors in two</a:t>
            </a:r>
            <a:endParaRPr lang="en-US" dirty="0"/>
          </a:p>
        </p:txBody>
      </p:sp>
    </p:spTree>
    <p:extLst>
      <p:ext uri="{BB962C8B-B14F-4D97-AF65-F5344CB8AC3E}">
        <p14:creationId xmlns:p14="http://schemas.microsoft.com/office/powerpoint/2010/main" val="1831954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AlexNet</a:t>
            </a:r>
            <a:r>
              <a:rPr lang="en-US" dirty="0"/>
              <a:t>:</a:t>
            </a:r>
            <a:r>
              <a:rPr lang="en-US" dirty="0" smtClean="0"/>
              <a:t> main takeaways</a:t>
            </a:r>
            <a:endParaRPr lang="en-US" dirty="0"/>
          </a:p>
        </p:txBody>
      </p:sp>
      <p:sp>
        <p:nvSpPr>
          <p:cNvPr id="3" name="Content Placeholder 2"/>
          <p:cNvSpPr>
            <a:spLocks noGrp="1"/>
          </p:cNvSpPr>
          <p:nvPr>
            <p:ph idx="1"/>
          </p:nvPr>
        </p:nvSpPr>
        <p:spPr/>
        <p:txBody>
          <a:bodyPr/>
          <a:lstStyle/>
          <a:p>
            <a:r>
              <a:rPr lang="en-US" dirty="0" smtClean="0"/>
              <a:t>CNNs are </a:t>
            </a:r>
            <a:r>
              <a:rPr lang="en-US" i="1" dirty="0" smtClean="0"/>
              <a:t>very</a:t>
            </a:r>
            <a:r>
              <a:rPr lang="en-US" dirty="0" smtClean="0"/>
              <a:t> powerful for image processing</a:t>
            </a:r>
          </a:p>
          <a:p>
            <a:r>
              <a:rPr lang="en-US" dirty="0" smtClean="0"/>
              <a:t>Didn’t change too much about LeNet-5</a:t>
            </a:r>
          </a:p>
          <a:p>
            <a:pPr lvl="1"/>
            <a:r>
              <a:rPr lang="en-US" dirty="0" smtClean="0"/>
              <a:t>Added extra depth, computation</a:t>
            </a:r>
          </a:p>
          <a:p>
            <a:r>
              <a:rPr lang="en-US" dirty="0" smtClean="0"/>
              <a:t>Basic template: </a:t>
            </a:r>
          </a:p>
          <a:p>
            <a:pPr lvl="1"/>
            <a:r>
              <a:rPr lang="en-US" dirty="0" smtClean="0"/>
              <a:t>Convolutions with </a:t>
            </a:r>
            <a:r>
              <a:rPr lang="en-US" dirty="0" err="1" smtClean="0"/>
              <a:t>ReLUs</a:t>
            </a:r>
            <a:endParaRPr lang="en-US" dirty="0"/>
          </a:p>
          <a:p>
            <a:pPr lvl="1"/>
            <a:r>
              <a:rPr lang="en-US" dirty="0" smtClean="0"/>
              <a:t>Sometimes add </a:t>
            </a:r>
            <a:r>
              <a:rPr lang="en-US" dirty="0" err="1" smtClean="0"/>
              <a:t>maxpool</a:t>
            </a:r>
            <a:r>
              <a:rPr lang="en-US" dirty="0" smtClean="0"/>
              <a:t> after convolutional layer</a:t>
            </a:r>
          </a:p>
          <a:p>
            <a:pPr lvl="1"/>
            <a:r>
              <a:rPr lang="en-US" dirty="0" smtClean="0"/>
              <a:t>Fully connected layers at the end before a </a:t>
            </a:r>
            <a:r>
              <a:rPr lang="en-US" dirty="0" err="1" smtClean="0"/>
              <a:t>softmax</a:t>
            </a:r>
            <a:r>
              <a:rPr lang="en-US" dirty="0" smtClean="0"/>
              <a:t> classifier</a:t>
            </a:r>
          </a:p>
          <a:p>
            <a:r>
              <a:rPr lang="en-US" dirty="0" smtClean="0"/>
              <a:t>GPUs are really good for this sort of computation!</a:t>
            </a:r>
            <a:endParaRPr lang="en-US" dirty="0"/>
          </a:p>
        </p:txBody>
      </p:sp>
    </p:spTree>
    <p:extLst>
      <p:ext uri="{BB962C8B-B14F-4D97-AF65-F5344CB8AC3E}">
        <p14:creationId xmlns:p14="http://schemas.microsoft.com/office/powerpoint/2010/main" val="16225006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8612" y="1600201"/>
            <a:ext cx="8991599" cy="2654064"/>
          </a:xfrm>
        </p:spPr>
        <p:txBody>
          <a:bodyPr/>
          <a:lstStyle/>
          <a:p>
            <a:r>
              <a:rPr lang="en-US" dirty="0" smtClean="0"/>
              <a:t>Saving and Loading Models</a:t>
            </a:r>
            <a:endParaRPr lang="en-US" dirty="0"/>
          </a:p>
        </p:txBody>
      </p:sp>
    </p:spTree>
    <p:extLst>
      <p:ext uri="{BB962C8B-B14F-4D97-AF65-F5344CB8AC3E}">
        <p14:creationId xmlns:p14="http://schemas.microsoft.com/office/powerpoint/2010/main" val="6847215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Saving </a:t>
            </a:r>
            <a:r>
              <a:rPr lang="en-US" dirty="0" err="1" smtClean="0"/>
              <a:t>TensorFlow</a:t>
            </a:r>
            <a:r>
              <a:rPr lang="en-US" dirty="0" smtClean="0"/>
              <a:t> Models</a:t>
            </a:r>
            <a:endParaRPr lang="en-US" dirty="0"/>
          </a:p>
        </p:txBody>
      </p:sp>
      <p:sp>
        <p:nvSpPr>
          <p:cNvPr id="3" name="Content Placeholder 2"/>
          <p:cNvSpPr>
            <a:spLocks noGrp="1"/>
          </p:cNvSpPr>
          <p:nvPr>
            <p:ph idx="1"/>
          </p:nvPr>
        </p:nvSpPr>
        <p:spPr>
          <a:xfrm>
            <a:off x="1293812" y="1600200"/>
            <a:ext cx="10082425" cy="4572000"/>
          </a:xfrm>
        </p:spPr>
        <p:txBody>
          <a:bodyPr/>
          <a:lstStyle/>
          <a:p>
            <a:r>
              <a:rPr lang="en-US" dirty="0" smtClean="0"/>
              <a:t>So far: our </a:t>
            </a:r>
            <a:r>
              <a:rPr lang="en-US" dirty="0" err="1" smtClean="0"/>
              <a:t>TensorFlow</a:t>
            </a:r>
            <a:r>
              <a:rPr lang="en-US" dirty="0" smtClean="0"/>
              <a:t> models have been transient</a:t>
            </a:r>
          </a:p>
          <a:p>
            <a:pPr lvl="1"/>
            <a:r>
              <a:rPr lang="en-US" dirty="0" smtClean="0"/>
              <a:t>We build, train, and play with them. Then they poof into the ether</a:t>
            </a:r>
          </a:p>
          <a:p>
            <a:endParaRPr lang="en-US" dirty="0"/>
          </a:p>
          <a:p>
            <a:r>
              <a:rPr lang="en-US" dirty="0" smtClean="0"/>
              <a:t>We need to be able to save our models for later use!</a:t>
            </a:r>
          </a:p>
          <a:p>
            <a:endParaRPr lang="en-US" dirty="0"/>
          </a:p>
          <a:p>
            <a:r>
              <a:rPr lang="en-US" dirty="0" err="1" smtClean="0"/>
              <a:t>TensorFlow</a:t>
            </a:r>
            <a:r>
              <a:rPr lang="en-US" dirty="0" smtClean="0"/>
              <a:t> has built in mechanisms for saving/restoring</a:t>
            </a:r>
            <a:endParaRPr lang="en-US" dirty="0"/>
          </a:p>
        </p:txBody>
      </p:sp>
    </p:spTree>
    <p:extLst>
      <p:ext uri="{BB962C8B-B14F-4D97-AF65-F5344CB8AC3E}">
        <p14:creationId xmlns:p14="http://schemas.microsoft.com/office/powerpoint/2010/main" val="627377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t>
            </a:r>
            <a:r>
              <a:rPr lang="en-US" dirty="0" err="1" smtClean="0"/>
              <a:t>TensorFlow</a:t>
            </a:r>
            <a:r>
              <a:rPr lang="en-US" dirty="0" smtClean="0"/>
              <a:t> stores data</a:t>
            </a:r>
            <a:endParaRPr lang="en-US" dirty="0"/>
          </a:p>
        </p:txBody>
      </p:sp>
      <p:sp>
        <p:nvSpPr>
          <p:cNvPr id="3" name="Content Placeholder 2"/>
          <p:cNvSpPr>
            <a:spLocks noGrp="1"/>
          </p:cNvSpPr>
          <p:nvPr>
            <p:ph idx="1"/>
          </p:nvPr>
        </p:nvSpPr>
        <p:spPr>
          <a:xfrm>
            <a:off x="1593436" y="1600199"/>
            <a:ext cx="9782801" cy="1653919"/>
          </a:xfrm>
        </p:spPr>
        <p:txBody>
          <a:bodyPr>
            <a:normAutofit/>
          </a:bodyPr>
          <a:lstStyle/>
          <a:p>
            <a:r>
              <a:rPr lang="en-US" dirty="0" smtClean="0"/>
              <a:t>Recall that </a:t>
            </a:r>
            <a:r>
              <a:rPr lang="en-US" dirty="0" err="1" smtClean="0"/>
              <a:t>TensorFlow</a:t>
            </a:r>
            <a:r>
              <a:rPr lang="en-US" dirty="0" smtClean="0"/>
              <a:t> keeps the Graph definition separate from the current values of Variables</a:t>
            </a:r>
          </a:p>
          <a:p>
            <a:r>
              <a:rPr lang="en-US" dirty="0"/>
              <a:t>The same thing occurs with saving data to disk.</a:t>
            </a:r>
          </a:p>
          <a:p>
            <a:endParaRPr lang="en-US" dirty="0"/>
          </a:p>
        </p:txBody>
      </p:sp>
      <p:sp>
        <p:nvSpPr>
          <p:cNvPr id="4" name="Rectangle 3"/>
          <p:cNvSpPr/>
          <p:nvPr/>
        </p:nvSpPr>
        <p:spPr>
          <a:xfrm>
            <a:off x="2513012" y="3558849"/>
            <a:ext cx="3581400" cy="2819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5" name="Rectangle: Rounded Corners 30"/>
          <p:cNvSpPr/>
          <p:nvPr/>
        </p:nvSpPr>
        <p:spPr>
          <a:xfrm>
            <a:off x="2589212" y="4092250"/>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6" name="Rectangle: Rounded Corners 32"/>
          <p:cNvSpPr/>
          <p:nvPr/>
        </p:nvSpPr>
        <p:spPr>
          <a:xfrm>
            <a:off x="2589212" y="4711158"/>
            <a:ext cx="3429000" cy="1526248"/>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a:t>
            </a:r>
          </a:p>
          <a:p>
            <a:pPr marL="285750" indent="-285750">
              <a:buFont typeface="Arial" panose="020B0604020202020204" pitchFamily="34" charset="0"/>
              <a:buChar char="•"/>
            </a:pPr>
            <a:r>
              <a:rPr lang="en-US" dirty="0"/>
              <a:t>“</a:t>
            </a:r>
            <a:r>
              <a:rPr lang="en-US" dirty="0" err="1"/>
              <a:t>var</a:t>
            </a:r>
            <a:r>
              <a:rPr lang="en-US" dirty="0"/>
              <a:t>” :  </a:t>
            </a:r>
            <a:r>
              <a:rPr lang="en-US" dirty="0">
                <a:solidFill>
                  <a:schemeClr val="accent5">
                    <a:lumMod val="75000"/>
                  </a:schemeClr>
                </a:solidFill>
                <a:latin typeface="Consolas" panose="020B0609020204030204" pitchFamily="49" charset="0"/>
              </a:rPr>
              <a:t>0.0</a:t>
            </a:r>
            <a:r>
              <a:rPr lang="en-US" dirty="0"/>
              <a:t> </a:t>
            </a:r>
          </a:p>
          <a:p>
            <a:endParaRPr lang="en-US" dirty="0">
              <a:solidFill>
                <a:schemeClr val="accent5">
                  <a:lumMod val="75000"/>
                </a:schemeClr>
              </a:solidFill>
              <a:latin typeface="Consolas" panose="020B0609020204030204" pitchFamily="49" charset="0"/>
            </a:endParaRPr>
          </a:p>
        </p:txBody>
      </p:sp>
      <p:sp>
        <p:nvSpPr>
          <p:cNvPr id="7" name="Rectangle: Rounded Corners 25"/>
          <p:cNvSpPr/>
          <p:nvPr/>
        </p:nvSpPr>
        <p:spPr>
          <a:xfrm>
            <a:off x="6627812" y="3482649"/>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8" name="Oval 7"/>
          <p:cNvSpPr/>
          <p:nvPr/>
        </p:nvSpPr>
        <p:spPr>
          <a:xfrm>
            <a:off x="6721597" y="4608064"/>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9" name="Rectangle 8"/>
          <p:cNvSpPr/>
          <p:nvPr/>
        </p:nvSpPr>
        <p:spPr>
          <a:xfrm>
            <a:off x="7313612" y="4728885"/>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10" name="Oval 9"/>
          <p:cNvSpPr/>
          <p:nvPr/>
        </p:nvSpPr>
        <p:spPr>
          <a:xfrm>
            <a:off x="6721597" y="3576434"/>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11" name="Rectangle 10"/>
          <p:cNvSpPr/>
          <p:nvPr/>
        </p:nvSpPr>
        <p:spPr>
          <a:xfrm>
            <a:off x="7325393" y="3696568"/>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12" name="Oval 11"/>
          <p:cNvSpPr/>
          <p:nvPr/>
        </p:nvSpPr>
        <p:spPr>
          <a:xfrm>
            <a:off x="8081474" y="4092249"/>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13" name="Rectangle 12"/>
          <p:cNvSpPr/>
          <p:nvPr/>
        </p:nvSpPr>
        <p:spPr>
          <a:xfrm>
            <a:off x="8619735" y="4187712"/>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14" name="Straight Arrow Connector 13"/>
          <p:cNvCxnSpPr>
            <a:cxnSpLocks/>
          </p:cNvCxnSpPr>
          <p:nvPr/>
        </p:nvCxnSpPr>
        <p:spPr>
          <a:xfrm>
            <a:off x="7612551" y="4028997"/>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flipV="1">
            <a:off x="7524549" y="4521997"/>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9349568" y="4092249"/>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17" name="Rectangle 16"/>
          <p:cNvSpPr/>
          <p:nvPr/>
        </p:nvSpPr>
        <p:spPr>
          <a:xfrm>
            <a:off x="9902168" y="4207209"/>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18" name="Straight Arrow Connector 17"/>
          <p:cNvCxnSpPr>
            <a:cxnSpLocks/>
          </p:cNvCxnSpPr>
          <p:nvPr/>
        </p:nvCxnSpPr>
        <p:spPr>
          <a:xfrm>
            <a:off x="8880644" y="4420495"/>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41"/>
          <p:cNvCxnSpPr>
            <a:cxnSpLocks/>
          </p:cNvCxnSpPr>
          <p:nvPr/>
        </p:nvCxnSpPr>
        <p:spPr>
          <a:xfrm>
            <a:off x="7612551" y="3896890"/>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8105921" y="5311449"/>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1" name="Rectangle 20"/>
          <p:cNvSpPr/>
          <p:nvPr/>
        </p:nvSpPr>
        <p:spPr>
          <a:xfrm>
            <a:off x="8532812" y="5133591"/>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2" name="Oval 21"/>
          <p:cNvSpPr/>
          <p:nvPr/>
        </p:nvSpPr>
        <p:spPr>
          <a:xfrm>
            <a:off x="9348948" y="5311449"/>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23" name="Rectangle 22"/>
          <p:cNvSpPr/>
          <p:nvPr/>
        </p:nvSpPr>
        <p:spPr>
          <a:xfrm>
            <a:off x="9775839" y="5133591"/>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24" name="Straight Arrow Connector 23"/>
          <p:cNvCxnSpPr>
            <a:cxnSpLocks/>
          </p:cNvCxnSpPr>
          <p:nvPr/>
        </p:nvCxnSpPr>
        <p:spPr>
          <a:xfrm>
            <a:off x="8837612" y="5616249"/>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7529308" y="5960407"/>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
        <p:nvSpPr>
          <p:cNvPr id="26" name="Oval 25"/>
          <p:cNvSpPr/>
          <p:nvPr/>
        </p:nvSpPr>
        <p:spPr>
          <a:xfrm>
            <a:off x="6724437" y="5451183"/>
            <a:ext cx="609600" cy="6096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err="1">
                <a:solidFill>
                  <a:schemeClr val="tx1"/>
                </a:solidFill>
              </a:rPr>
              <a:t>init</a:t>
            </a:r>
            <a:endParaRPr lang="en-US" sz="1600" dirty="0">
              <a:solidFill>
                <a:schemeClr val="tx1"/>
              </a:solidFill>
            </a:endParaRPr>
          </a:p>
        </p:txBody>
      </p:sp>
      <p:sp>
        <p:nvSpPr>
          <p:cNvPr id="27" name="Rectangle 26"/>
          <p:cNvSpPr/>
          <p:nvPr/>
        </p:nvSpPr>
        <p:spPr>
          <a:xfrm>
            <a:off x="7162214" y="5291105"/>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init</a:t>
            </a:r>
            <a:endParaRPr lang="en-US" sz="1400" dirty="0"/>
          </a:p>
        </p:txBody>
      </p:sp>
      <p:cxnSp>
        <p:nvCxnSpPr>
          <p:cNvPr id="28" name="Straight Arrow Connector 27"/>
          <p:cNvCxnSpPr>
            <a:cxnSpLocks/>
          </p:cNvCxnSpPr>
          <p:nvPr/>
        </p:nvCxnSpPr>
        <p:spPr>
          <a:xfrm flipH="1">
            <a:off x="7409398" y="5639694"/>
            <a:ext cx="590014" cy="1162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74130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t>
            </a:r>
            <a:r>
              <a:rPr lang="en-US" dirty="0" err="1" smtClean="0"/>
              <a:t>TensorFlow</a:t>
            </a:r>
            <a:r>
              <a:rPr lang="en-US" dirty="0" smtClean="0"/>
              <a:t> stores data</a:t>
            </a:r>
            <a:endParaRPr lang="en-US" dirty="0"/>
          </a:p>
        </p:txBody>
      </p:sp>
      <p:sp>
        <p:nvSpPr>
          <p:cNvPr id="3" name="Content Placeholder 2"/>
          <p:cNvSpPr>
            <a:spLocks noGrp="1"/>
          </p:cNvSpPr>
          <p:nvPr>
            <p:ph idx="1"/>
          </p:nvPr>
        </p:nvSpPr>
        <p:spPr>
          <a:xfrm>
            <a:off x="1593436" y="1600200"/>
            <a:ext cx="9782801" cy="990600"/>
          </a:xfrm>
        </p:spPr>
        <p:txBody>
          <a:bodyPr/>
          <a:lstStyle/>
          <a:p>
            <a:r>
              <a:rPr lang="en-US" dirty="0" smtClean="0"/>
              <a:t>Graph info (ops, connections, </a:t>
            </a:r>
            <a:r>
              <a:rPr lang="en-US" dirty="0" err="1" smtClean="0"/>
              <a:t>etc</a:t>
            </a:r>
            <a:r>
              <a:rPr lang="en-US" dirty="0" smtClean="0"/>
              <a:t>) is stored in a </a:t>
            </a:r>
            <a:r>
              <a:rPr lang="en-US" dirty="0" err="1" smtClean="0"/>
              <a:t>GraphDef</a:t>
            </a:r>
            <a:r>
              <a:rPr lang="en-US" dirty="0" smtClean="0"/>
              <a:t> protocol buffer</a:t>
            </a:r>
            <a:endParaRPr lang="en-US" dirty="0"/>
          </a:p>
        </p:txBody>
      </p:sp>
      <p:sp>
        <p:nvSpPr>
          <p:cNvPr id="29" name="Rectangle 28"/>
          <p:cNvSpPr/>
          <p:nvPr/>
        </p:nvSpPr>
        <p:spPr>
          <a:xfrm>
            <a:off x="2513012" y="3558849"/>
            <a:ext cx="3581400" cy="2819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30" name="Rectangle: Rounded Corners 30"/>
          <p:cNvSpPr/>
          <p:nvPr/>
        </p:nvSpPr>
        <p:spPr>
          <a:xfrm>
            <a:off x="2589212" y="4092250"/>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1" name="Rectangle: Rounded Corners 32"/>
          <p:cNvSpPr/>
          <p:nvPr/>
        </p:nvSpPr>
        <p:spPr>
          <a:xfrm>
            <a:off x="2589212" y="4711158"/>
            <a:ext cx="3429000" cy="1526248"/>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a:t>
            </a:r>
          </a:p>
          <a:p>
            <a:pPr marL="285750" indent="-285750">
              <a:buFont typeface="Arial" panose="020B0604020202020204" pitchFamily="34" charset="0"/>
              <a:buChar char="•"/>
            </a:pPr>
            <a:r>
              <a:rPr lang="en-US" dirty="0"/>
              <a:t>“</a:t>
            </a:r>
            <a:r>
              <a:rPr lang="en-US" dirty="0" err="1"/>
              <a:t>var</a:t>
            </a:r>
            <a:r>
              <a:rPr lang="en-US" dirty="0"/>
              <a:t>” :  </a:t>
            </a:r>
            <a:r>
              <a:rPr lang="en-US" dirty="0">
                <a:solidFill>
                  <a:schemeClr val="accent5">
                    <a:lumMod val="75000"/>
                  </a:schemeClr>
                </a:solidFill>
                <a:latin typeface="Consolas" panose="020B0609020204030204" pitchFamily="49" charset="0"/>
              </a:rPr>
              <a:t>0.0</a:t>
            </a:r>
            <a:r>
              <a:rPr lang="en-US" dirty="0"/>
              <a:t> </a:t>
            </a:r>
          </a:p>
          <a:p>
            <a:endParaRPr lang="en-US" dirty="0">
              <a:solidFill>
                <a:schemeClr val="accent5">
                  <a:lumMod val="75000"/>
                </a:schemeClr>
              </a:solidFill>
              <a:latin typeface="Consolas" panose="020B0609020204030204" pitchFamily="49" charset="0"/>
            </a:endParaRPr>
          </a:p>
        </p:txBody>
      </p:sp>
      <p:sp>
        <p:nvSpPr>
          <p:cNvPr id="32" name="Rectangle: Rounded Corners 25"/>
          <p:cNvSpPr/>
          <p:nvPr/>
        </p:nvSpPr>
        <p:spPr>
          <a:xfrm>
            <a:off x="6627812" y="3482649"/>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33" name="Oval 32"/>
          <p:cNvSpPr/>
          <p:nvPr/>
        </p:nvSpPr>
        <p:spPr>
          <a:xfrm>
            <a:off x="6721597" y="4608064"/>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4" name="Rectangle 33"/>
          <p:cNvSpPr/>
          <p:nvPr/>
        </p:nvSpPr>
        <p:spPr>
          <a:xfrm>
            <a:off x="7313612" y="4728885"/>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5" name="Oval 34"/>
          <p:cNvSpPr/>
          <p:nvPr/>
        </p:nvSpPr>
        <p:spPr>
          <a:xfrm>
            <a:off x="6721597" y="3576434"/>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6" name="Rectangle 35"/>
          <p:cNvSpPr/>
          <p:nvPr/>
        </p:nvSpPr>
        <p:spPr>
          <a:xfrm>
            <a:off x="7325393" y="3696568"/>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7" name="Oval 36"/>
          <p:cNvSpPr/>
          <p:nvPr/>
        </p:nvSpPr>
        <p:spPr>
          <a:xfrm>
            <a:off x="8081474" y="4092249"/>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8" name="Rectangle 37"/>
          <p:cNvSpPr/>
          <p:nvPr/>
        </p:nvSpPr>
        <p:spPr>
          <a:xfrm>
            <a:off x="8619735" y="4187712"/>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9" name="Straight Arrow Connector 38"/>
          <p:cNvCxnSpPr>
            <a:cxnSpLocks/>
          </p:cNvCxnSpPr>
          <p:nvPr/>
        </p:nvCxnSpPr>
        <p:spPr>
          <a:xfrm>
            <a:off x="7612551" y="4028997"/>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cxnSpLocks/>
          </p:cNvCxnSpPr>
          <p:nvPr/>
        </p:nvCxnSpPr>
        <p:spPr>
          <a:xfrm flipV="1">
            <a:off x="7524549" y="4521997"/>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9349568" y="4092249"/>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2" name="Rectangle 41"/>
          <p:cNvSpPr/>
          <p:nvPr/>
        </p:nvSpPr>
        <p:spPr>
          <a:xfrm>
            <a:off x="9902168" y="4207209"/>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3" name="Straight Arrow Connector 42"/>
          <p:cNvCxnSpPr>
            <a:cxnSpLocks/>
          </p:cNvCxnSpPr>
          <p:nvPr/>
        </p:nvCxnSpPr>
        <p:spPr>
          <a:xfrm>
            <a:off x="8880644" y="4420495"/>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1"/>
          <p:cNvCxnSpPr>
            <a:cxnSpLocks/>
          </p:cNvCxnSpPr>
          <p:nvPr/>
        </p:nvCxnSpPr>
        <p:spPr>
          <a:xfrm>
            <a:off x="7612551" y="3896890"/>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Oval 44"/>
          <p:cNvSpPr/>
          <p:nvPr/>
        </p:nvSpPr>
        <p:spPr>
          <a:xfrm>
            <a:off x="8105921" y="5311449"/>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46" name="Rectangle 45"/>
          <p:cNvSpPr/>
          <p:nvPr/>
        </p:nvSpPr>
        <p:spPr>
          <a:xfrm>
            <a:off x="8532812" y="5133591"/>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47" name="Oval 46"/>
          <p:cNvSpPr/>
          <p:nvPr/>
        </p:nvSpPr>
        <p:spPr>
          <a:xfrm>
            <a:off x="9348948" y="5311449"/>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8" name="Rectangle 47"/>
          <p:cNvSpPr/>
          <p:nvPr/>
        </p:nvSpPr>
        <p:spPr>
          <a:xfrm>
            <a:off x="9775839" y="5133591"/>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9" name="Straight Arrow Connector 48"/>
          <p:cNvCxnSpPr>
            <a:cxnSpLocks/>
          </p:cNvCxnSpPr>
          <p:nvPr/>
        </p:nvCxnSpPr>
        <p:spPr>
          <a:xfrm>
            <a:off x="8837612" y="5616249"/>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7529308" y="5960407"/>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
        <p:nvSpPr>
          <p:cNvPr id="51" name="Oval 50"/>
          <p:cNvSpPr/>
          <p:nvPr/>
        </p:nvSpPr>
        <p:spPr>
          <a:xfrm>
            <a:off x="6724437" y="5451183"/>
            <a:ext cx="609600" cy="6096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err="1">
                <a:solidFill>
                  <a:schemeClr val="tx1"/>
                </a:solidFill>
              </a:rPr>
              <a:t>init</a:t>
            </a:r>
            <a:endParaRPr lang="en-US" sz="1600" dirty="0">
              <a:solidFill>
                <a:schemeClr val="tx1"/>
              </a:solidFill>
            </a:endParaRPr>
          </a:p>
        </p:txBody>
      </p:sp>
      <p:sp>
        <p:nvSpPr>
          <p:cNvPr id="52" name="Rectangle 51"/>
          <p:cNvSpPr/>
          <p:nvPr/>
        </p:nvSpPr>
        <p:spPr>
          <a:xfrm>
            <a:off x="7162214" y="5291105"/>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init</a:t>
            </a:r>
            <a:endParaRPr lang="en-US" sz="1400" dirty="0"/>
          </a:p>
        </p:txBody>
      </p:sp>
      <p:cxnSp>
        <p:nvCxnSpPr>
          <p:cNvPr id="53" name="Straight Arrow Connector 52"/>
          <p:cNvCxnSpPr>
            <a:cxnSpLocks/>
          </p:cNvCxnSpPr>
          <p:nvPr/>
        </p:nvCxnSpPr>
        <p:spPr>
          <a:xfrm flipH="1">
            <a:off x="7409398" y="5639694"/>
            <a:ext cx="590014" cy="1162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7162214" y="2438400"/>
            <a:ext cx="342970" cy="9144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6511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t>
            </a:r>
            <a:r>
              <a:rPr lang="en-US" dirty="0" err="1" smtClean="0"/>
              <a:t>TensorFlow</a:t>
            </a:r>
            <a:r>
              <a:rPr lang="en-US" dirty="0" smtClean="0"/>
              <a:t> stores data</a:t>
            </a:r>
            <a:endParaRPr lang="en-US" dirty="0"/>
          </a:p>
        </p:txBody>
      </p:sp>
      <p:sp>
        <p:nvSpPr>
          <p:cNvPr id="3" name="Content Placeholder 2"/>
          <p:cNvSpPr>
            <a:spLocks noGrp="1"/>
          </p:cNvSpPr>
          <p:nvPr>
            <p:ph idx="1"/>
          </p:nvPr>
        </p:nvSpPr>
        <p:spPr>
          <a:xfrm>
            <a:off x="1593436" y="1600200"/>
            <a:ext cx="9782801" cy="990600"/>
          </a:xfrm>
        </p:spPr>
        <p:txBody>
          <a:bodyPr/>
          <a:lstStyle/>
          <a:p>
            <a:r>
              <a:rPr lang="en-US" dirty="0" smtClean="0"/>
              <a:t>A </a:t>
            </a:r>
            <a:r>
              <a:rPr lang="en-US" dirty="0" err="1" smtClean="0"/>
              <a:t>MetaGraph</a:t>
            </a:r>
            <a:r>
              <a:rPr lang="en-US" dirty="0" smtClean="0"/>
              <a:t> encapsulates the graph definition along with relevant meta data. Stored as a .meta file</a:t>
            </a:r>
            <a:endParaRPr lang="en-US" dirty="0"/>
          </a:p>
        </p:txBody>
      </p:sp>
      <p:sp>
        <p:nvSpPr>
          <p:cNvPr id="29" name="Rectangle 28"/>
          <p:cNvSpPr/>
          <p:nvPr/>
        </p:nvSpPr>
        <p:spPr>
          <a:xfrm>
            <a:off x="2513012" y="3558849"/>
            <a:ext cx="3581400" cy="2819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30" name="Rectangle: Rounded Corners 30"/>
          <p:cNvSpPr/>
          <p:nvPr/>
        </p:nvSpPr>
        <p:spPr>
          <a:xfrm>
            <a:off x="2589212" y="4092250"/>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1" name="Rectangle: Rounded Corners 32"/>
          <p:cNvSpPr/>
          <p:nvPr/>
        </p:nvSpPr>
        <p:spPr>
          <a:xfrm>
            <a:off x="2589212" y="4711158"/>
            <a:ext cx="3429000" cy="1526248"/>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a:t>
            </a:r>
          </a:p>
          <a:p>
            <a:pPr marL="285750" indent="-285750">
              <a:buFont typeface="Arial" panose="020B0604020202020204" pitchFamily="34" charset="0"/>
              <a:buChar char="•"/>
            </a:pPr>
            <a:r>
              <a:rPr lang="en-US" dirty="0"/>
              <a:t>“</a:t>
            </a:r>
            <a:r>
              <a:rPr lang="en-US" dirty="0" err="1"/>
              <a:t>var</a:t>
            </a:r>
            <a:r>
              <a:rPr lang="en-US" dirty="0"/>
              <a:t>” :  </a:t>
            </a:r>
            <a:r>
              <a:rPr lang="en-US" dirty="0">
                <a:solidFill>
                  <a:schemeClr val="accent5">
                    <a:lumMod val="75000"/>
                  </a:schemeClr>
                </a:solidFill>
                <a:latin typeface="Consolas" panose="020B0609020204030204" pitchFamily="49" charset="0"/>
              </a:rPr>
              <a:t>0.0</a:t>
            </a:r>
            <a:r>
              <a:rPr lang="en-US" dirty="0"/>
              <a:t> </a:t>
            </a:r>
          </a:p>
          <a:p>
            <a:endParaRPr lang="en-US" dirty="0">
              <a:solidFill>
                <a:schemeClr val="accent5">
                  <a:lumMod val="75000"/>
                </a:schemeClr>
              </a:solidFill>
              <a:latin typeface="Consolas" panose="020B0609020204030204" pitchFamily="49" charset="0"/>
            </a:endParaRPr>
          </a:p>
        </p:txBody>
      </p:sp>
      <p:sp>
        <p:nvSpPr>
          <p:cNvPr id="32" name="Rectangle: Rounded Corners 25"/>
          <p:cNvSpPr/>
          <p:nvPr/>
        </p:nvSpPr>
        <p:spPr>
          <a:xfrm>
            <a:off x="6627812" y="3482649"/>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33" name="Oval 32"/>
          <p:cNvSpPr/>
          <p:nvPr/>
        </p:nvSpPr>
        <p:spPr>
          <a:xfrm>
            <a:off x="6721597" y="4608064"/>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4" name="Rectangle 33"/>
          <p:cNvSpPr/>
          <p:nvPr/>
        </p:nvSpPr>
        <p:spPr>
          <a:xfrm>
            <a:off x="7313612" y="4728885"/>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5" name="Oval 34"/>
          <p:cNvSpPr/>
          <p:nvPr/>
        </p:nvSpPr>
        <p:spPr>
          <a:xfrm>
            <a:off x="6721597" y="3576434"/>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6" name="Rectangle 35"/>
          <p:cNvSpPr/>
          <p:nvPr/>
        </p:nvSpPr>
        <p:spPr>
          <a:xfrm>
            <a:off x="7325393" y="3696568"/>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7" name="Oval 36"/>
          <p:cNvSpPr/>
          <p:nvPr/>
        </p:nvSpPr>
        <p:spPr>
          <a:xfrm>
            <a:off x="8081474" y="4092249"/>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8" name="Rectangle 37"/>
          <p:cNvSpPr/>
          <p:nvPr/>
        </p:nvSpPr>
        <p:spPr>
          <a:xfrm>
            <a:off x="8619735" y="4187712"/>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9" name="Straight Arrow Connector 38"/>
          <p:cNvCxnSpPr>
            <a:cxnSpLocks/>
          </p:cNvCxnSpPr>
          <p:nvPr/>
        </p:nvCxnSpPr>
        <p:spPr>
          <a:xfrm>
            <a:off x="7612551" y="4028997"/>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cxnSpLocks/>
          </p:cNvCxnSpPr>
          <p:nvPr/>
        </p:nvCxnSpPr>
        <p:spPr>
          <a:xfrm flipV="1">
            <a:off x="7524549" y="4521997"/>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9349568" y="4092249"/>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2" name="Rectangle 41"/>
          <p:cNvSpPr/>
          <p:nvPr/>
        </p:nvSpPr>
        <p:spPr>
          <a:xfrm>
            <a:off x="9902168" y="4207209"/>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3" name="Straight Arrow Connector 42"/>
          <p:cNvCxnSpPr>
            <a:cxnSpLocks/>
          </p:cNvCxnSpPr>
          <p:nvPr/>
        </p:nvCxnSpPr>
        <p:spPr>
          <a:xfrm>
            <a:off x="8880644" y="4420495"/>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1"/>
          <p:cNvCxnSpPr>
            <a:cxnSpLocks/>
          </p:cNvCxnSpPr>
          <p:nvPr/>
        </p:nvCxnSpPr>
        <p:spPr>
          <a:xfrm>
            <a:off x="7612551" y="3896890"/>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Oval 44"/>
          <p:cNvSpPr/>
          <p:nvPr/>
        </p:nvSpPr>
        <p:spPr>
          <a:xfrm>
            <a:off x="8105921" y="5311449"/>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46" name="Rectangle 45"/>
          <p:cNvSpPr/>
          <p:nvPr/>
        </p:nvSpPr>
        <p:spPr>
          <a:xfrm>
            <a:off x="8532812" y="5133591"/>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47" name="Oval 46"/>
          <p:cNvSpPr/>
          <p:nvPr/>
        </p:nvSpPr>
        <p:spPr>
          <a:xfrm>
            <a:off x="9348948" y="5311449"/>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8" name="Rectangle 47"/>
          <p:cNvSpPr/>
          <p:nvPr/>
        </p:nvSpPr>
        <p:spPr>
          <a:xfrm>
            <a:off x="9775839" y="5133591"/>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9" name="Straight Arrow Connector 48"/>
          <p:cNvCxnSpPr>
            <a:cxnSpLocks/>
          </p:cNvCxnSpPr>
          <p:nvPr/>
        </p:nvCxnSpPr>
        <p:spPr>
          <a:xfrm>
            <a:off x="8837612" y="5616249"/>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7529308" y="5960407"/>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
        <p:nvSpPr>
          <p:cNvPr id="51" name="Oval 50"/>
          <p:cNvSpPr/>
          <p:nvPr/>
        </p:nvSpPr>
        <p:spPr>
          <a:xfrm>
            <a:off x="6724437" y="5451183"/>
            <a:ext cx="609600" cy="6096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err="1">
                <a:solidFill>
                  <a:schemeClr val="tx1"/>
                </a:solidFill>
              </a:rPr>
              <a:t>init</a:t>
            </a:r>
            <a:endParaRPr lang="en-US" sz="1600" dirty="0">
              <a:solidFill>
                <a:schemeClr val="tx1"/>
              </a:solidFill>
            </a:endParaRPr>
          </a:p>
        </p:txBody>
      </p:sp>
      <p:sp>
        <p:nvSpPr>
          <p:cNvPr id="52" name="Rectangle 51"/>
          <p:cNvSpPr/>
          <p:nvPr/>
        </p:nvSpPr>
        <p:spPr>
          <a:xfrm>
            <a:off x="7162214" y="5291105"/>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init</a:t>
            </a:r>
            <a:endParaRPr lang="en-US" sz="1400" dirty="0"/>
          </a:p>
        </p:txBody>
      </p:sp>
      <p:cxnSp>
        <p:nvCxnSpPr>
          <p:cNvPr id="53" name="Straight Arrow Connector 52"/>
          <p:cNvCxnSpPr>
            <a:cxnSpLocks/>
          </p:cNvCxnSpPr>
          <p:nvPr/>
        </p:nvCxnSpPr>
        <p:spPr>
          <a:xfrm flipH="1">
            <a:off x="7409398" y="5639694"/>
            <a:ext cx="590014" cy="1162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6094412" y="2590800"/>
            <a:ext cx="404334" cy="4191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Rounded Rectangle 3"/>
          <p:cNvSpPr/>
          <p:nvPr/>
        </p:nvSpPr>
        <p:spPr>
          <a:xfrm>
            <a:off x="6498746" y="2773364"/>
            <a:ext cx="5248376" cy="3746392"/>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dirty="0" err="1" smtClean="0">
                <a:solidFill>
                  <a:srgbClr val="FF0000"/>
                </a:solidFill>
                <a:latin typeface="Consolas" charset="0"/>
                <a:ea typeface="Consolas" charset="0"/>
                <a:cs typeface="Consolas" charset="0"/>
              </a:rPr>
              <a:t>MetaGraph</a:t>
            </a:r>
            <a:endParaRPr lang="en-US" dirty="0">
              <a:solidFill>
                <a:srgbClr val="FF0000"/>
              </a:solidFill>
              <a:latin typeface="Consolas" charset="0"/>
              <a:ea typeface="Consolas" charset="0"/>
              <a:cs typeface="Consolas" charset="0"/>
            </a:endParaRPr>
          </a:p>
        </p:txBody>
      </p:sp>
      <p:sp>
        <p:nvSpPr>
          <p:cNvPr id="56" name="Rectangle: Rounded Corners 25"/>
          <p:cNvSpPr/>
          <p:nvPr/>
        </p:nvSpPr>
        <p:spPr>
          <a:xfrm>
            <a:off x="10356933" y="3482649"/>
            <a:ext cx="1242467"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2"/>
                </a:solidFill>
                <a:latin typeface="Consolas" panose="020B0609020204030204" pitchFamily="49" charset="0"/>
              </a:rPr>
              <a:t>Meta data</a:t>
            </a:r>
          </a:p>
          <a:p>
            <a:pPr algn="ctr"/>
            <a:r>
              <a:rPr lang="en-US" sz="1200" i="1" dirty="0" smtClean="0">
                <a:solidFill>
                  <a:schemeClr val="tx2"/>
                </a:solidFill>
                <a:latin typeface="Consolas" panose="020B0609020204030204" pitchFamily="49" charset="0"/>
              </a:rPr>
              <a:t>Collections</a:t>
            </a:r>
          </a:p>
          <a:p>
            <a:pPr algn="ctr"/>
            <a:r>
              <a:rPr lang="en-US" sz="1200" i="1" dirty="0" smtClean="0">
                <a:solidFill>
                  <a:schemeClr val="tx2"/>
                </a:solidFill>
                <a:latin typeface="Consolas" panose="020B0609020204030204" pitchFamily="49" charset="0"/>
              </a:rPr>
              <a:t>Saver info</a:t>
            </a:r>
            <a:endParaRPr lang="en-US" sz="1200" i="1" dirty="0">
              <a:solidFill>
                <a:schemeClr val="tx2"/>
              </a:solidFill>
              <a:latin typeface="Consolas" panose="020B0609020204030204" pitchFamily="49" charset="0"/>
            </a:endParaRPr>
          </a:p>
        </p:txBody>
      </p:sp>
    </p:spTree>
    <p:extLst>
      <p:ext uri="{BB962C8B-B14F-4D97-AF65-F5344CB8AC3E}">
        <p14:creationId xmlns:p14="http://schemas.microsoft.com/office/powerpoint/2010/main" val="8650488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t>
            </a:r>
            <a:r>
              <a:rPr lang="en-US" dirty="0" err="1" smtClean="0"/>
              <a:t>TensorFlow</a:t>
            </a:r>
            <a:r>
              <a:rPr lang="en-US" dirty="0" smtClean="0"/>
              <a:t> stores data</a:t>
            </a:r>
            <a:endParaRPr lang="en-US" dirty="0"/>
          </a:p>
        </p:txBody>
      </p:sp>
      <p:sp>
        <p:nvSpPr>
          <p:cNvPr id="3" name="Content Placeholder 2"/>
          <p:cNvSpPr>
            <a:spLocks noGrp="1"/>
          </p:cNvSpPr>
          <p:nvPr>
            <p:ph idx="1"/>
          </p:nvPr>
        </p:nvSpPr>
        <p:spPr>
          <a:xfrm>
            <a:off x="1593436" y="1600200"/>
            <a:ext cx="9782801" cy="990600"/>
          </a:xfrm>
        </p:spPr>
        <p:txBody>
          <a:bodyPr>
            <a:normAutofit/>
          </a:bodyPr>
          <a:lstStyle/>
          <a:p>
            <a:r>
              <a:rPr lang="en-US" dirty="0" smtClean="0"/>
              <a:t>Variable state (weights, biases, </a:t>
            </a:r>
            <a:r>
              <a:rPr lang="en-US" dirty="0" err="1" smtClean="0"/>
              <a:t>etc</a:t>
            </a:r>
            <a:r>
              <a:rPr lang="en-US" dirty="0" smtClean="0"/>
              <a:t>) is stored in two files: a .index file and a .data file (older file format = .</a:t>
            </a:r>
            <a:r>
              <a:rPr lang="en-US" dirty="0" err="1" smtClean="0"/>
              <a:t>ckpt</a:t>
            </a:r>
            <a:r>
              <a:rPr lang="en-US" dirty="0" smtClean="0"/>
              <a:t>)</a:t>
            </a:r>
            <a:endParaRPr lang="en-US" dirty="0"/>
          </a:p>
        </p:txBody>
      </p:sp>
      <p:sp>
        <p:nvSpPr>
          <p:cNvPr id="29" name="Rectangle 28"/>
          <p:cNvSpPr/>
          <p:nvPr/>
        </p:nvSpPr>
        <p:spPr>
          <a:xfrm>
            <a:off x="2513012" y="3558849"/>
            <a:ext cx="3581400" cy="2819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30" name="Rectangle: Rounded Corners 30"/>
          <p:cNvSpPr/>
          <p:nvPr/>
        </p:nvSpPr>
        <p:spPr>
          <a:xfrm>
            <a:off x="2589212" y="4092250"/>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1" name="Rectangle: Rounded Corners 32"/>
          <p:cNvSpPr/>
          <p:nvPr/>
        </p:nvSpPr>
        <p:spPr>
          <a:xfrm>
            <a:off x="2589212" y="4711158"/>
            <a:ext cx="3429000" cy="1526248"/>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a:t>
            </a:r>
          </a:p>
          <a:p>
            <a:pPr marL="285750" indent="-285750">
              <a:buFont typeface="Arial" panose="020B0604020202020204" pitchFamily="34" charset="0"/>
              <a:buChar char="•"/>
            </a:pPr>
            <a:r>
              <a:rPr lang="en-US" dirty="0"/>
              <a:t>“</a:t>
            </a:r>
            <a:r>
              <a:rPr lang="en-US" dirty="0" err="1"/>
              <a:t>var</a:t>
            </a:r>
            <a:r>
              <a:rPr lang="en-US" dirty="0"/>
              <a:t>” :  </a:t>
            </a:r>
            <a:r>
              <a:rPr lang="en-US" dirty="0">
                <a:solidFill>
                  <a:schemeClr val="accent5">
                    <a:lumMod val="75000"/>
                  </a:schemeClr>
                </a:solidFill>
                <a:latin typeface="Consolas" panose="020B0609020204030204" pitchFamily="49" charset="0"/>
              </a:rPr>
              <a:t>0.0</a:t>
            </a:r>
            <a:r>
              <a:rPr lang="en-US" dirty="0"/>
              <a:t> </a:t>
            </a:r>
          </a:p>
          <a:p>
            <a:endParaRPr lang="en-US" dirty="0">
              <a:solidFill>
                <a:schemeClr val="accent5">
                  <a:lumMod val="75000"/>
                </a:schemeClr>
              </a:solidFill>
              <a:latin typeface="Consolas" panose="020B0609020204030204" pitchFamily="49" charset="0"/>
            </a:endParaRPr>
          </a:p>
        </p:txBody>
      </p:sp>
      <p:sp>
        <p:nvSpPr>
          <p:cNvPr id="32" name="Rectangle: Rounded Corners 25"/>
          <p:cNvSpPr/>
          <p:nvPr/>
        </p:nvSpPr>
        <p:spPr>
          <a:xfrm>
            <a:off x="6627812" y="3482649"/>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33" name="Oval 32"/>
          <p:cNvSpPr/>
          <p:nvPr/>
        </p:nvSpPr>
        <p:spPr>
          <a:xfrm>
            <a:off x="6721597" y="4608064"/>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4" name="Rectangle 33"/>
          <p:cNvSpPr/>
          <p:nvPr/>
        </p:nvSpPr>
        <p:spPr>
          <a:xfrm>
            <a:off x="7313612" y="4728885"/>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5" name="Oval 34"/>
          <p:cNvSpPr/>
          <p:nvPr/>
        </p:nvSpPr>
        <p:spPr>
          <a:xfrm>
            <a:off x="6721597" y="3576434"/>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6" name="Rectangle 35"/>
          <p:cNvSpPr/>
          <p:nvPr/>
        </p:nvSpPr>
        <p:spPr>
          <a:xfrm>
            <a:off x="7325393" y="3696568"/>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7" name="Oval 36"/>
          <p:cNvSpPr/>
          <p:nvPr/>
        </p:nvSpPr>
        <p:spPr>
          <a:xfrm>
            <a:off x="8081474" y="4092249"/>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8" name="Rectangle 37"/>
          <p:cNvSpPr/>
          <p:nvPr/>
        </p:nvSpPr>
        <p:spPr>
          <a:xfrm>
            <a:off x="8619735" y="4187712"/>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9" name="Straight Arrow Connector 38"/>
          <p:cNvCxnSpPr>
            <a:cxnSpLocks/>
          </p:cNvCxnSpPr>
          <p:nvPr/>
        </p:nvCxnSpPr>
        <p:spPr>
          <a:xfrm>
            <a:off x="7612551" y="4028997"/>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cxnSpLocks/>
          </p:cNvCxnSpPr>
          <p:nvPr/>
        </p:nvCxnSpPr>
        <p:spPr>
          <a:xfrm flipV="1">
            <a:off x="7524549" y="4521997"/>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9349568" y="4092249"/>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2" name="Rectangle 41"/>
          <p:cNvSpPr/>
          <p:nvPr/>
        </p:nvSpPr>
        <p:spPr>
          <a:xfrm>
            <a:off x="9902168" y="4207209"/>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3" name="Straight Arrow Connector 42"/>
          <p:cNvCxnSpPr>
            <a:cxnSpLocks/>
          </p:cNvCxnSpPr>
          <p:nvPr/>
        </p:nvCxnSpPr>
        <p:spPr>
          <a:xfrm>
            <a:off x="8880644" y="4420495"/>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1"/>
          <p:cNvCxnSpPr>
            <a:cxnSpLocks/>
          </p:cNvCxnSpPr>
          <p:nvPr/>
        </p:nvCxnSpPr>
        <p:spPr>
          <a:xfrm>
            <a:off x="7612551" y="3896890"/>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Oval 44"/>
          <p:cNvSpPr/>
          <p:nvPr/>
        </p:nvSpPr>
        <p:spPr>
          <a:xfrm>
            <a:off x="8105921" y="5311449"/>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46" name="Rectangle 45"/>
          <p:cNvSpPr/>
          <p:nvPr/>
        </p:nvSpPr>
        <p:spPr>
          <a:xfrm>
            <a:off x="8532812" y="5133591"/>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47" name="Oval 46"/>
          <p:cNvSpPr/>
          <p:nvPr/>
        </p:nvSpPr>
        <p:spPr>
          <a:xfrm>
            <a:off x="9348948" y="5311449"/>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8" name="Rectangle 47"/>
          <p:cNvSpPr/>
          <p:nvPr/>
        </p:nvSpPr>
        <p:spPr>
          <a:xfrm>
            <a:off x="9775839" y="5133591"/>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9" name="Straight Arrow Connector 48"/>
          <p:cNvCxnSpPr>
            <a:cxnSpLocks/>
          </p:cNvCxnSpPr>
          <p:nvPr/>
        </p:nvCxnSpPr>
        <p:spPr>
          <a:xfrm>
            <a:off x="8837612" y="5616249"/>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7529308" y="5960407"/>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
        <p:nvSpPr>
          <p:cNvPr id="51" name="Oval 50"/>
          <p:cNvSpPr/>
          <p:nvPr/>
        </p:nvSpPr>
        <p:spPr>
          <a:xfrm>
            <a:off x="6724437" y="5451183"/>
            <a:ext cx="609600" cy="6096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err="1">
                <a:solidFill>
                  <a:schemeClr val="tx1"/>
                </a:solidFill>
              </a:rPr>
              <a:t>init</a:t>
            </a:r>
            <a:endParaRPr lang="en-US" sz="1600" dirty="0">
              <a:solidFill>
                <a:schemeClr val="tx1"/>
              </a:solidFill>
            </a:endParaRPr>
          </a:p>
        </p:txBody>
      </p:sp>
      <p:sp>
        <p:nvSpPr>
          <p:cNvPr id="52" name="Rectangle 51"/>
          <p:cNvSpPr/>
          <p:nvPr/>
        </p:nvSpPr>
        <p:spPr>
          <a:xfrm>
            <a:off x="7162214" y="5291105"/>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init</a:t>
            </a:r>
            <a:endParaRPr lang="en-US" sz="1400" dirty="0"/>
          </a:p>
        </p:txBody>
      </p:sp>
      <p:cxnSp>
        <p:nvCxnSpPr>
          <p:cNvPr id="53" name="Straight Arrow Connector 52"/>
          <p:cNvCxnSpPr>
            <a:cxnSpLocks/>
          </p:cNvCxnSpPr>
          <p:nvPr/>
        </p:nvCxnSpPr>
        <p:spPr>
          <a:xfrm flipH="1">
            <a:off x="7409398" y="5639694"/>
            <a:ext cx="590014" cy="1162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H="1">
            <a:off x="4875212" y="2590800"/>
            <a:ext cx="76200" cy="236536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4439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latin typeface="Consolas" charset="0"/>
                <a:ea typeface="Consolas" charset="0"/>
                <a:cs typeface="Consolas" charset="0"/>
              </a:rPr>
              <a:t>Saver</a:t>
            </a:r>
            <a:r>
              <a:rPr lang="en-US" dirty="0" smtClean="0"/>
              <a:t> class</a:t>
            </a:r>
            <a:endParaRPr lang="en-US" dirty="0"/>
          </a:p>
        </p:txBody>
      </p:sp>
      <p:sp>
        <p:nvSpPr>
          <p:cNvPr id="3" name="Content Placeholder 2"/>
          <p:cNvSpPr>
            <a:spLocks noGrp="1"/>
          </p:cNvSpPr>
          <p:nvPr>
            <p:ph idx="1"/>
          </p:nvPr>
        </p:nvSpPr>
        <p:spPr>
          <a:xfrm>
            <a:off x="1593436" y="1600200"/>
            <a:ext cx="9782801" cy="1524000"/>
          </a:xfrm>
        </p:spPr>
        <p:txBody>
          <a:bodyPr>
            <a:normAutofit/>
          </a:bodyPr>
          <a:lstStyle/>
          <a:p>
            <a:r>
              <a:rPr lang="en-US" dirty="0" smtClean="0"/>
              <a:t>The </a:t>
            </a:r>
            <a:r>
              <a:rPr lang="en-US" dirty="0" smtClean="0">
                <a:latin typeface="Consolas" charset="0"/>
                <a:ea typeface="Consolas" charset="0"/>
                <a:cs typeface="Consolas" charset="0"/>
              </a:rPr>
              <a:t>Saver </a:t>
            </a:r>
            <a:r>
              <a:rPr lang="en-US" dirty="0" smtClean="0"/>
              <a:t>class is designed to manage saving and loading both Variable checkpoints and </a:t>
            </a:r>
            <a:r>
              <a:rPr lang="en-US" dirty="0" err="1" smtClean="0"/>
              <a:t>MetaGraphs</a:t>
            </a:r>
            <a:endParaRPr lang="en-US" dirty="0"/>
          </a:p>
          <a:p>
            <a:r>
              <a:rPr lang="en-US" dirty="0" smtClean="0"/>
              <a:t>The simplest use case when saving:</a:t>
            </a:r>
            <a:endParaRPr lang="en-US" dirty="0"/>
          </a:p>
        </p:txBody>
      </p:sp>
      <p:sp>
        <p:nvSpPr>
          <p:cNvPr id="4" name="TextBox 3"/>
          <p:cNvSpPr txBox="1"/>
          <p:nvPr/>
        </p:nvSpPr>
        <p:spPr>
          <a:xfrm>
            <a:off x="2086035" y="3089970"/>
            <a:ext cx="8797601" cy="3539430"/>
          </a:xfrm>
          <a:prstGeom prst="rect">
            <a:avLst/>
          </a:prstGeom>
          <a:noFill/>
        </p:spPr>
        <p:txBody>
          <a:bodyPr wrap="none" rtlCol="0">
            <a:spAutoFit/>
          </a:bodyPr>
          <a:lstStyle/>
          <a:p>
            <a:r>
              <a:rPr lang="en-US" sz="2800" dirty="0" smtClean="0">
                <a:latin typeface="Consolas" charset="0"/>
                <a:ea typeface="Consolas" charset="0"/>
                <a:cs typeface="Consolas" charset="0"/>
              </a:rPr>
              <a:t>with </a:t>
            </a:r>
            <a:r>
              <a:rPr lang="en-US" sz="2800" dirty="0" err="1" smtClean="0">
                <a:latin typeface="Consolas" charset="0"/>
                <a:ea typeface="Consolas" charset="0"/>
                <a:cs typeface="Consolas" charset="0"/>
              </a:rPr>
              <a:t>graph.as_default</a:t>
            </a:r>
            <a:r>
              <a:rPr lang="en-US" sz="2800" dirty="0" smtClean="0">
                <a:latin typeface="Consolas" charset="0"/>
                <a:ea typeface="Consolas" charset="0"/>
                <a:cs typeface="Consolas" charset="0"/>
              </a:rPr>
              <a:t>():</a:t>
            </a:r>
          </a:p>
          <a:p>
            <a:r>
              <a:rPr lang="en-US" sz="2800" dirty="0">
                <a:latin typeface="Consolas" charset="0"/>
                <a:ea typeface="Consolas" charset="0"/>
                <a:cs typeface="Consolas" charset="0"/>
              </a:rPr>
              <a:t>	</a:t>
            </a:r>
            <a:r>
              <a:rPr lang="en-US" sz="2800" dirty="0" smtClean="0">
                <a:solidFill>
                  <a:schemeClr val="tx1">
                    <a:lumMod val="60000"/>
                    <a:lumOff val="40000"/>
                  </a:schemeClr>
                </a:solidFill>
                <a:latin typeface="Consolas" charset="0"/>
                <a:ea typeface="Consolas" charset="0"/>
                <a:cs typeface="Consolas" charset="0"/>
              </a:rPr>
              <a:t>..create a graph, define some variables</a:t>
            </a:r>
          </a:p>
          <a:p>
            <a:endParaRPr lang="en-US" sz="2800" dirty="0">
              <a:latin typeface="Consolas" charset="0"/>
              <a:ea typeface="Consolas" charset="0"/>
              <a:cs typeface="Consolas" charset="0"/>
            </a:endParaRPr>
          </a:p>
          <a:p>
            <a:r>
              <a:rPr lang="en-US" sz="2800" dirty="0" smtClean="0">
                <a:latin typeface="Consolas" charset="0"/>
                <a:ea typeface="Consolas" charset="0"/>
                <a:cs typeface="Consolas" charset="0"/>
              </a:rPr>
              <a:t>saver = </a:t>
            </a:r>
            <a:r>
              <a:rPr lang="en-US" sz="2800" dirty="0" err="1" smtClean="0">
                <a:latin typeface="Consolas" charset="0"/>
                <a:ea typeface="Consolas" charset="0"/>
                <a:cs typeface="Consolas" charset="0"/>
              </a:rPr>
              <a:t>tf.train.Saver</a:t>
            </a:r>
            <a:r>
              <a:rPr lang="en-US" sz="2800" dirty="0" smtClean="0">
                <a:latin typeface="Consolas" charset="0"/>
                <a:ea typeface="Consolas" charset="0"/>
                <a:cs typeface="Consolas" charset="0"/>
              </a:rPr>
              <a:t>()</a:t>
            </a:r>
          </a:p>
          <a:p>
            <a:endParaRPr lang="en-US" sz="2800" dirty="0" smtClean="0">
              <a:latin typeface="Consolas" charset="0"/>
              <a:ea typeface="Consolas" charset="0"/>
              <a:cs typeface="Consolas" charset="0"/>
            </a:endParaRPr>
          </a:p>
          <a:p>
            <a:r>
              <a:rPr lang="en-US" sz="2800" dirty="0" smtClean="0">
                <a:latin typeface="Consolas" charset="0"/>
                <a:ea typeface="Consolas" charset="0"/>
                <a:cs typeface="Consolas" charset="0"/>
              </a:rPr>
              <a:t>with </a:t>
            </a:r>
            <a:r>
              <a:rPr lang="en-US" sz="2800" dirty="0" err="1" smtClean="0">
                <a:latin typeface="Consolas" charset="0"/>
                <a:ea typeface="Consolas" charset="0"/>
                <a:cs typeface="Consolas" charset="0"/>
              </a:rPr>
              <a:t>tf.Session</a:t>
            </a:r>
            <a:r>
              <a:rPr lang="en-US" sz="2800" dirty="0" smtClean="0">
                <a:latin typeface="Consolas" charset="0"/>
                <a:ea typeface="Consolas" charset="0"/>
                <a:cs typeface="Consolas" charset="0"/>
              </a:rPr>
              <a:t>(graph=graph) as </a:t>
            </a:r>
            <a:r>
              <a:rPr lang="en-US" sz="2800" dirty="0" err="1" smtClean="0">
                <a:latin typeface="Consolas" charset="0"/>
                <a:ea typeface="Consolas" charset="0"/>
                <a:cs typeface="Consolas" charset="0"/>
              </a:rPr>
              <a:t>sess</a:t>
            </a:r>
            <a:r>
              <a:rPr lang="en-US" sz="2800" dirty="0" smtClean="0">
                <a:latin typeface="Consolas" charset="0"/>
                <a:ea typeface="Consolas" charset="0"/>
                <a:cs typeface="Consolas" charset="0"/>
              </a:rPr>
              <a:t>:</a:t>
            </a:r>
          </a:p>
          <a:p>
            <a:r>
              <a:rPr lang="en-US" sz="2800" dirty="0">
                <a:latin typeface="Consolas" charset="0"/>
                <a:ea typeface="Consolas" charset="0"/>
                <a:cs typeface="Consolas" charset="0"/>
              </a:rPr>
              <a:t>	</a:t>
            </a:r>
            <a:r>
              <a:rPr lang="en-US" sz="2800" dirty="0" smtClean="0">
                <a:solidFill>
                  <a:schemeClr val="tx1">
                    <a:lumMod val="60000"/>
                    <a:lumOff val="40000"/>
                  </a:schemeClr>
                </a:solidFill>
                <a:latin typeface="Consolas" charset="0"/>
                <a:ea typeface="Consolas" charset="0"/>
                <a:cs typeface="Consolas" charset="0"/>
              </a:rPr>
              <a:t>..train the model</a:t>
            </a:r>
          </a:p>
          <a:p>
            <a:r>
              <a:rPr lang="en-US" sz="2800" dirty="0">
                <a:latin typeface="Consolas" charset="0"/>
                <a:ea typeface="Consolas" charset="0"/>
                <a:cs typeface="Consolas" charset="0"/>
              </a:rPr>
              <a:t>	</a:t>
            </a:r>
            <a:r>
              <a:rPr lang="en-US" sz="2800" dirty="0" err="1" smtClean="0">
                <a:latin typeface="Consolas" charset="0"/>
                <a:ea typeface="Consolas" charset="0"/>
                <a:cs typeface="Consolas" charset="0"/>
              </a:rPr>
              <a:t>saver.save</a:t>
            </a:r>
            <a:r>
              <a:rPr lang="en-US" sz="2800" dirty="0" smtClean="0">
                <a:latin typeface="Consolas" charset="0"/>
                <a:ea typeface="Consolas" charset="0"/>
                <a:cs typeface="Consolas" charset="0"/>
              </a:rPr>
              <a:t>(</a:t>
            </a:r>
            <a:r>
              <a:rPr lang="en-US" sz="2800" dirty="0" err="1" smtClean="0">
                <a:latin typeface="Consolas" charset="0"/>
                <a:ea typeface="Consolas" charset="0"/>
                <a:cs typeface="Consolas" charset="0"/>
              </a:rPr>
              <a:t>sess</a:t>
            </a:r>
            <a:r>
              <a:rPr lang="en-US" sz="2800" dirty="0" smtClean="0">
                <a:latin typeface="Consolas" charset="0"/>
                <a:ea typeface="Consolas" charset="0"/>
                <a:cs typeface="Consolas" charset="0"/>
              </a:rPr>
              <a:t>, ‘./</a:t>
            </a:r>
            <a:r>
              <a:rPr lang="en-US" sz="2800" dirty="0" err="1" smtClean="0">
                <a:latin typeface="Consolas" charset="0"/>
                <a:ea typeface="Consolas" charset="0"/>
                <a:cs typeface="Consolas" charset="0"/>
              </a:rPr>
              <a:t>my_model</a:t>
            </a:r>
            <a:r>
              <a:rPr lang="en-US" sz="2800" dirty="0" smtClean="0">
                <a:latin typeface="Consolas" charset="0"/>
                <a:ea typeface="Consolas" charset="0"/>
                <a:cs typeface="Consolas" charset="0"/>
              </a:rPr>
              <a:t>’)</a:t>
            </a:r>
            <a:endParaRPr lang="en-US" sz="2800" dirty="0">
              <a:latin typeface="Consolas" charset="0"/>
              <a:ea typeface="Consolas" charset="0"/>
              <a:cs typeface="Consolas" charset="0"/>
            </a:endParaRPr>
          </a:p>
        </p:txBody>
      </p:sp>
    </p:spTree>
    <p:extLst>
      <p:ext uri="{BB962C8B-B14F-4D97-AF65-F5344CB8AC3E}">
        <p14:creationId xmlns:p14="http://schemas.microsoft.com/office/powerpoint/2010/main" val="3369614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latin typeface="Consolas" charset="0"/>
                <a:ea typeface="Consolas" charset="0"/>
                <a:cs typeface="Consolas" charset="0"/>
              </a:rPr>
              <a:t>Saver</a:t>
            </a:r>
            <a:r>
              <a:rPr lang="en-US" dirty="0" smtClean="0"/>
              <a:t> class</a:t>
            </a:r>
            <a:endParaRPr lang="en-US" dirty="0"/>
          </a:p>
        </p:txBody>
      </p:sp>
      <p:sp>
        <p:nvSpPr>
          <p:cNvPr id="3" name="Content Placeholder 2"/>
          <p:cNvSpPr>
            <a:spLocks noGrp="1"/>
          </p:cNvSpPr>
          <p:nvPr>
            <p:ph idx="1"/>
          </p:nvPr>
        </p:nvSpPr>
        <p:spPr>
          <a:xfrm>
            <a:off x="1593436" y="1600200"/>
            <a:ext cx="9782801" cy="762000"/>
          </a:xfrm>
        </p:spPr>
        <p:txBody>
          <a:bodyPr>
            <a:normAutofit/>
          </a:bodyPr>
          <a:lstStyle/>
          <a:p>
            <a:r>
              <a:rPr lang="en-US" smtClean="0"/>
              <a:t>Then, to load a model:</a:t>
            </a:r>
            <a:endParaRPr lang="en-US" dirty="0"/>
          </a:p>
        </p:txBody>
      </p:sp>
      <p:sp>
        <p:nvSpPr>
          <p:cNvPr id="4" name="TextBox 3"/>
          <p:cNvSpPr txBox="1"/>
          <p:nvPr/>
        </p:nvSpPr>
        <p:spPr>
          <a:xfrm>
            <a:off x="1428003" y="2895600"/>
            <a:ext cx="10113666" cy="3046988"/>
          </a:xfrm>
          <a:prstGeom prst="rect">
            <a:avLst/>
          </a:prstGeom>
          <a:noFill/>
        </p:spPr>
        <p:txBody>
          <a:bodyPr wrap="none" rtlCol="0">
            <a:spAutoFit/>
          </a:bodyPr>
          <a:lstStyle/>
          <a:p>
            <a:r>
              <a:rPr lang="en-US" sz="2400" dirty="0" err="1">
                <a:latin typeface="Consolas" charset="0"/>
                <a:ea typeface="Consolas" charset="0"/>
                <a:cs typeface="Consolas" charset="0"/>
              </a:rPr>
              <a:t>n</a:t>
            </a:r>
            <a:r>
              <a:rPr lang="en-US" sz="2400" dirty="0" err="1" smtClean="0">
                <a:latin typeface="Consolas" charset="0"/>
                <a:ea typeface="Consolas" charset="0"/>
                <a:cs typeface="Consolas" charset="0"/>
              </a:rPr>
              <a:t>ew_graph</a:t>
            </a:r>
            <a:r>
              <a:rPr lang="en-US" sz="2400" dirty="0" smtClean="0">
                <a:latin typeface="Consolas" charset="0"/>
                <a:ea typeface="Consolas" charset="0"/>
                <a:cs typeface="Consolas" charset="0"/>
              </a:rPr>
              <a:t> = </a:t>
            </a:r>
            <a:r>
              <a:rPr lang="en-US" sz="2400" dirty="0" err="1" smtClean="0">
                <a:latin typeface="Consolas" charset="0"/>
                <a:ea typeface="Consolas" charset="0"/>
                <a:cs typeface="Consolas" charset="0"/>
              </a:rPr>
              <a:t>tf.Graph</a:t>
            </a:r>
            <a:r>
              <a:rPr lang="en-US" sz="2400" dirty="0" smtClean="0">
                <a:latin typeface="Consolas" charset="0"/>
                <a:ea typeface="Consolas" charset="0"/>
                <a:cs typeface="Consolas" charset="0"/>
              </a:rPr>
              <a:t>()</a:t>
            </a:r>
          </a:p>
          <a:p>
            <a:endParaRPr lang="en-US" sz="2400" dirty="0" smtClean="0">
              <a:latin typeface="Consolas" charset="0"/>
              <a:ea typeface="Consolas" charset="0"/>
              <a:cs typeface="Consolas" charset="0"/>
            </a:endParaRPr>
          </a:p>
          <a:p>
            <a:r>
              <a:rPr lang="en-US" sz="2400" dirty="0" smtClean="0">
                <a:latin typeface="Consolas" charset="0"/>
                <a:ea typeface="Consolas" charset="0"/>
                <a:cs typeface="Consolas" charset="0"/>
              </a:rPr>
              <a:t>with </a:t>
            </a:r>
            <a:r>
              <a:rPr lang="en-US" sz="2400" dirty="0" err="1" smtClean="0">
                <a:latin typeface="Consolas" charset="0"/>
                <a:ea typeface="Consolas" charset="0"/>
                <a:cs typeface="Consolas" charset="0"/>
              </a:rPr>
              <a:t>new_graph.as_default</a:t>
            </a:r>
            <a:r>
              <a:rPr lang="en-US" sz="2400" dirty="0" smtClean="0">
                <a:latin typeface="Consolas" charset="0"/>
                <a:ea typeface="Consolas" charset="0"/>
                <a:cs typeface="Consolas" charset="0"/>
              </a:rPr>
              <a:t>():</a:t>
            </a:r>
          </a:p>
          <a:p>
            <a:r>
              <a:rPr lang="en-US" sz="2400" dirty="0" smtClean="0">
                <a:latin typeface="Consolas" charset="0"/>
                <a:ea typeface="Consolas" charset="0"/>
                <a:cs typeface="Consolas" charset="0"/>
              </a:rPr>
              <a:t>	saver = </a:t>
            </a:r>
            <a:r>
              <a:rPr lang="en-US" sz="2400" dirty="0" err="1" smtClean="0">
                <a:latin typeface="Consolas" charset="0"/>
                <a:ea typeface="Consolas" charset="0"/>
                <a:cs typeface="Consolas" charset="0"/>
              </a:rPr>
              <a:t>tf.train.import_meta_graph</a:t>
            </a:r>
            <a:r>
              <a:rPr lang="en-US" sz="2400" dirty="0" smtClean="0">
                <a:latin typeface="Consolas" charset="0"/>
                <a:ea typeface="Consolas" charset="0"/>
                <a:cs typeface="Consolas" charset="0"/>
              </a:rPr>
              <a:t>(‘./</a:t>
            </a:r>
            <a:r>
              <a:rPr lang="en-US" sz="2400" dirty="0" err="1" smtClean="0">
                <a:latin typeface="Consolas" charset="0"/>
                <a:ea typeface="Consolas" charset="0"/>
                <a:cs typeface="Consolas" charset="0"/>
              </a:rPr>
              <a:t>my_model.meta</a:t>
            </a:r>
            <a:r>
              <a:rPr lang="en-US" sz="2400" dirty="0" smtClean="0">
                <a:latin typeface="Consolas" charset="0"/>
                <a:ea typeface="Consolas" charset="0"/>
                <a:cs typeface="Consolas" charset="0"/>
              </a:rPr>
              <a:t>’)</a:t>
            </a:r>
          </a:p>
          <a:p>
            <a:endParaRPr lang="en-US" sz="2400" dirty="0" smtClean="0">
              <a:latin typeface="Consolas" charset="0"/>
              <a:ea typeface="Consolas" charset="0"/>
              <a:cs typeface="Consolas" charset="0"/>
            </a:endParaRPr>
          </a:p>
          <a:p>
            <a:r>
              <a:rPr lang="en-US" sz="2400" dirty="0" smtClean="0">
                <a:latin typeface="Consolas" charset="0"/>
                <a:ea typeface="Consolas" charset="0"/>
                <a:cs typeface="Consolas" charset="0"/>
              </a:rPr>
              <a:t>with </a:t>
            </a:r>
            <a:r>
              <a:rPr lang="en-US" sz="2400" dirty="0" err="1" smtClean="0">
                <a:latin typeface="Consolas" charset="0"/>
                <a:ea typeface="Consolas" charset="0"/>
                <a:cs typeface="Consolas" charset="0"/>
              </a:rPr>
              <a:t>tf.Session</a:t>
            </a:r>
            <a:r>
              <a:rPr lang="en-US" sz="2400" dirty="0" smtClean="0">
                <a:latin typeface="Consolas" charset="0"/>
                <a:ea typeface="Consolas" charset="0"/>
                <a:cs typeface="Consolas" charset="0"/>
              </a:rPr>
              <a:t>(graph=</a:t>
            </a:r>
            <a:r>
              <a:rPr lang="en-US" sz="2400" dirty="0" err="1" smtClean="0">
                <a:latin typeface="Consolas" charset="0"/>
                <a:ea typeface="Consolas" charset="0"/>
                <a:cs typeface="Consolas" charset="0"/>
              </a:rPr>
              <a:t>new_graph</a:t>
            </a:r>
            <a:r>
              <a:rPr lang="en-US" sz="2400" dirty="0" smtClean="0">
                <a:latin typeface="Consolas" charset="0"/>
                <a:ea typeface="Consolas" charset="0"/>
                <a:cs typeface="Consolas" charset="0"/>
              </a:rPr>
              <a:t>) as </a:t>
            </a:r>
            <a:r>
              <a:rPr lang="en-US" sz="2400" dirty="0" err="1" smtClean="0">
                <a:latin typeface="Consolas" charset="0"/>
                <a:ea typeface="Consolas" charset="0"/>
                <a:cs typeface="Consolas" charset="0"/>
              </a:rPr>
              <a:t>sess</a:t>
            </a:r>
            <a:r>
              <a:rPr lang="en-US" sz="2400" dirty="0" smtClean="0">
                <a:latin typeface="Consolas" charset="0"/>
                <a:ea typeface="Consolas" charset="0"/>
                <a:cs typeface="Consolas" charset="0"/>
              </a:rPr>
              <a:t>:</a:t>
            </a:r>
          </a:p>
          <a:p>
            <a:r>
              <a:rPr lang="en-US" sz="2400" dirty="0">
                <a:latin typeface="Consolas" charset="0"/>
                <a:ea typeface="Consolas" charset="0"/>
                <a:cs typeface="Consolas" charset="0"/>
              </a:rPr>
              <a:t>	</a:t>
            </a:r>
            <a:r>
              <a:rPr lang="en-US" sz="2400" dirty="0" err="1" smtClean="0">
                <a:latin typeface="Consolas" charset="0"/>
                <a:ea typeface="Consolas" charset="0"/>
                <a:cs typeface="Consolas" charset="0"/>
              </a:rPr>
              <a:t>saver.restore</a:t>
            </a:r>
            <a:r>
              <a:rPr lang="en-US" sz="2400" dirty="0" smtClean="0">
                <a:latin typeface="Consolas" charset="0"/>
                <a:ea typeface="Consolas" charset="0"/>
                <a:cs typeface="Consolas" charset="0"/>
              </a:rPr>
              <a:t>(</a:t>
            </a:r>
            <a:r>
              <a:rPr lang="en-US" sz="2400" dirty="0" err="1" smtClean="0">
                <a:latin typeface="Consolas" charset="0"/>
                <a:ea typeface="Consolas" charset="0"/>
                <a:cs typeface="Consolas" charset="0"/>
              </a:rPr>
              <a:t>sess</a:t>
            </a:r>
            <a:r>
              <a:rPr lang="en-US" sz="2400" dirty="0" smtClean="0">
                <a:latin typeface="Consolas" charset="0"/>
                <a:ea typeface="Consolas" charset="0"/>
                <a:cs typeface="Consolas" charset="0"/>
              </a:rPr>
              <a:t>, ‘./</a:t>
            </a:r>
            <a:r>
              <a:rPr lang="en-US" sz="2400" dirty="0" err="1" smtClean="0">
                <a:latin typeface="Consolas" charset="0"/>
                <a:ea typeface="Consolas" charset="0"/>
                <a:cs typeface="Consolas" charset="0"/>
              </a:rPr>
              <a:t>my_model</a:t>
            </a:r>
            <a:r>
              <a:rPr lang="en-US" sz="2400" dirty="0" smtClean="0">
                <a:latin typeface="Consolas" charset="0"/>
                <a:ea typeface="Consolas" charset="0"/>
                <a:cs typeface="Consolas" charset="0"/>
              </a:rPr>
              <a:t>’)</a:t>
            </a:r>
          </a:p>
          <a:p>
            <a:r>
              <a:rPr lang="en-US" sz="2400" dirty="0">
                <a:latin typeface="Consolas" charset="0"/>
                <a:ea typeface="Consolas" charset="0"/>
                <a:cs typeface="Consolas" charset="0"/>
              </a:rPr>
              <a:t>	</a:t>
            </a:r>
            <a:r>
              <a:rPr lang="en-US" sz="2400" dirty="0" smtClean="0">
                <a:solidFill>
                  <a:schemeClr val="tx1">
                    <a:lumMod val="60000"/>
                    <a:lumOff val="40000"/>
                  </a:schemeClr>
                </a:solidFill>
                <a:latin typeface="Consolas" charset="0"/>
                <a:ea typeface="Consolas" charset="0"/>
                <a:cs typeface="Consolas" charset="0"/>
              </a:rPr>
              <a:t>..continue training</a:t>
            </a:r>
            <a:endParaRPr lang="en-US" sz="2400" dirty="0">
              <a:solidFill>
                <a:schemeClr val="tx1">
                  <a:lumMod val="60000"/>
                  <a:lumOff val="40000"/>
                </a:schemeClr>
              </a:solidFill>
              <a:latin typeface="Consolas" charset="0"/>
              <a:ea typeface="Consolas" charset="0"/>
              <a:cs typeface="Consolas" charset="0"/>
            </a:endParaRPr>
          </a:p>
        </p:txBody>
      </p:sp>
    </p:spTree>
    <p:extLst>
      <p:ext uri="{BB962C8B-B14F-4D97-AF65-F5344CB8AC3E}">
        <p14:creationId xmlns:p14="http://schemas.microsoft.com/office/powerpoint/2010/main" val="3838807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Saving multiple checkpoints over time</a:t>
            </a:r>
            <a:endParaRPr lang="en-US" dirty="0"/>
          </a:p>
        </p:txBody>
      </p:sp>
      <p:sp>
        <p:nvSpPr>
          <p:cNvPr id="3" name="Content Placeholder 2"/>
          <p:cNvSpPr>
            <a:spLocks noGrp="1"/>
          </p:cNvSpPr>
          <p:nvPr>
            <p:ph idx="1"/>
          </p:nvPr>
        </p:nvSpPr>
        <p:spPr>
          <a:xfrm>
            <a:off x="1217612" y="1828800"/>
            <a:ext cx="10668000" cy="3346990"/>
          </a:xfrm>
        </p:spPr>
        <p:txBody>
          <a:bodyPr>
            <a:normAutofit fontScale="85000" lnSpcReduction="20000"/>
          </a:bodyPr>
          <a:lstStyle/>
          <a:p>
            <a:r>
              <a:rPr lang="en-US" dirty="0" smtClean="0"/>
              <a:t>You can pass in a </a:t>
            </a:r>
            <a:r>
              <a:rPr lang="en-US" dirty="0" err="1" smtClean="0"/>
              <a:t>global_step</a:t>
            </a:r>
            <a:r>
              <a:rPr lang="en-US" dirty="0" smtClean="0"/>
              <a:t> to the </a:t>
            </a:r>
            <a:r>
              <a:rPr lang="en-US" dirty="0" err="1" smtClean="0">
                <a:latin typeface="Consolas" charset="0"/>
                <a:ea typeface="Consolas" charset="0"/>
                <a:cs typeface="Consolas" charset="0"/>
              </a:rPr>
              <a:t>Saver.save</a:t>
            </a:r>
            <a:r>
              <a:rPr lang="en-US" dirty="0" smtClean="0">
                <a:latin typeface="Consolas" charset="0"/>
                <a:ea typeface="Consolas" charset="0"/>
                <a:cs typeface="Consolas" charset="0"/>
              </a:rPr>
              <a:t>()</a:t>
            </a:r>
            <a:r>
              <a:rPr lang="en-US" dirty="0" smtClean="0"/>
              <a:t> method</a:t>
            </a:r>
          </a:p>
          <a:p>
            <a:pPr lvl="1"/>
            <a:r>
              <a:rPr lang="en-US" dirty="0" smtClean="0"/>
              <a:t>Adds a numeric suffix to the exported files, e.g. ‘my_model-100’</a:t>
            </a:r>
          </a:p>
          <a:p>
            <a:pPr lvl="1"/>
            <a:r>
              <a:rPr lang="en-US" dirty="0" smtClean="0"/>
              <a:t>Allows you to easily save versions of a trained model over time</a:t>
            </a:r>
          </a:p>
          <a:p>
            <a:pPr lvl="1"/>
            <a:endParaRPr lang="en-US" dirty="0" smtClean="0"/>
          </a:p>
          <a:p>
            <a:pPr lvl="1"/>
            <a:endParaRPr lang="en-US" dirty="0"/>
          </a:p>
          <a:p>
            <a:pPr lvl="1"/>
            <a:endParaRPr lang="en-US" dirty="0" smtClean="0"/>
          </a:p>
          <a:p>
            <a:pPr lvl="1"/>
            <a:endParaRPr lang="en-US" dirty="0" smtClean="0"/>
          </a:p>
          <a:p>
            <a:r>
              <a:rPr lang="en-US" dirty="0" smtClean="0"/>
              <a:t>You can automatically get the latest version name with </a:t>
            </a:r>
            <a:r>
              <a:rPr lang="en-US" dirty="0" err="1" smtClean="0">
                <a:latin typeface="Consolas" charset="0"/>
                <a:ea typeface="Consolas" charset="0"/>
                <a:cs typeface="Consolas" charset="0"/>
              </a:rPr>
              <a:t>tf.train.latest_checkpoint</a:t>
            </a:r>
            <a:r>
              <a:rPr lang="en-US" dirty="0" smtClean="0">
                <a:latin typeface="Consolas" charset="0"/>
                <a:ea typeface="Consolas" charset="0"/>
                <a:cs typeface="Consolas" charset="0"/>
              </a:rPr>
              <a:t>()</a:t>
            </a:r>
            <a:endParaRPr lang="en-US" dirty="0" smtClean="0"/>
          </a:p>
        </p:txBody>
      </p:sp>
      <p:sp>
        <p:nvSpPr>
          <p:cNvPr id="4" name="TextBox 3"/>
          <p:cNvSpPr txBox="1"/>
          <p:nvPr/>
        </p:nvSpPr>
        <p:spPr>
          <a:xfrm>
            <a:off x="1446212" y="5340731"/>
            <a:ext cx="9870010" cy="492443"/>
          </a:xfrm>
          <a:prstGeom prst="rect">
            <a:avLst/>
          </a:prstGeom>
          <a:noFill/>
        </p:spPr>
        <p:txBody>
          <a:bodyPr wrap="none" rtlCol="0">
            <a:spAutoFit/>
          </a:bodyPr>
          <a:lstStyle/>
          <a:p>
            <a:r>
              <a:rPr lang="en-US" sz="2600" dirty="0" err="1" smtClean="0">
                <a:latin typeface="Consolas" charset="0"/>
                <a:ea typeface="Consolas" charset="0"/>
                <a:cs typeface="Consolas" charset="0"/>
              </a:rPr>
              <a:t>saver.restore</a:t>
            </a:r>
            <a:r>
              <a:rPr lang="en-US" sz="2600" dirty="0" smtClean="0">
                <a:latin typeface="Consolas" charset="0"/>
                <a:ea typeface="Consolas" charset="0"/>
                <a:cs typeface="Consolas" charset="0"/>
              </a:rPr>
              <a:t>(</a:t>
            </a:r>
            <a:r>
              <a:rPr lang="en-US" sz="2600" dirty="0" err="1" smtClean="0">
                <a:latin typeface="Consolas" charset="0"/>
                <a:ea typeface="Consolas" charset="0"/>
                <a:cs typeface="Consolas" charset="0"/>
              </a:rPr>
              <a:t>sess</a:t>
            </a:r>
            <a:r>
              <a:rPr lang="en-US" sz="2600" dirty="0">
                <a:latin typeface="Consolas" charset="0"/>
                <a:ea typeface="Consolas" charset="0"/>
                <a:cs typeface="Consolas" charset="0"/>
              </a:rPr>
              <a:t>, </a:t>
            </a:r>
            <a:r>
              <a:rPr lang="en-US" sz="2600" dirty="0" err="1">
                <a:latin typeface="Consolas" charset="0"/>
                <a:ea typeface="Consolas" charset="0"/>
                <a:cs typeface="Consolas" charset="0"/>
              </a:rPr>
              <a:t>tf.train.latest_checkpoint</a:t>
            </a:r>
            <a:r>
              <a:rPr lang="en-US" sz="2600" dirty="0" smtClean="0">
                <a:latin typeface="Consolas" charset="0"/>
                <a:ea typeface="Consolas" charset="0"/>
                <a:cs typeface="Consolas" charset="0"/>
              </a:rPr>
              <a:t>(‘./’))</a:t>
            </a:r>
            <a:endParaRPr lang="en-US" sz="2600" dirty="0">
              <a:latin typeface="Consolas" charset="0"/>
              <a:ea typeface="Consolas" charset="0"/>
              <a:cs typeface="Consolas" charset="0"/>
            </a:endParaRPr>
          </a:p>
        </p:txBody>
      </p:sp>
      <p:sp>
        <p:nvSpPr>
          <p:cNvPr id="6" name="TextBox 5"/>
          <p:cNvSpPr txBox="1"/>
          <p:nvPr/>
        </p:nvSpPr>
        <p:spPr>
          <a:xfrm>
            <a:off x="1446212" y="3062762"/>
            <a:ext cx="10235494" cy="492443"/>
          </a:xfrm>
          <a:prstGeom prst="rect">
            <a:avLst/>
          </a:prstGeom>
          <a:noFill/>
        </p:spPr>
        <p:txBody>
          <a:bodyPr wrap="none" rtlCol="0">
            <a:spAutoFit/>
          </a:bodyPr>
          <a:lstStyle/>
          <a:p>
            <a:r>
              <a:rPr lang="en-US" sz="2600" dirty="0" err="1">
                <a:latin typeface="Consolas" charset="0"/>
                <a:ea typeface="Consolas" charset="0"/>
                <a:cs typeface="Consolas" charset="0"/>
              </a:rPr>
              <a:t>saver.save</a:t>
            </a:r>
            <a:r>
              <a:rPr lang="en-US" sz="2600" dirty="0">
                <a:latin typeface="Consolas" charset="0"/>
                <a:ea typeface="Consolas" charset="0"/>
                <a:cs typeface="Consolas" charset="0"/>
              </a:rPr>
              <a:t>(</a:t>
            </a:r>
            <a:r>
              <a:rPr lang="en-US" sz="2600" dirty="0" err="1">
                <a:latin typeface="Consolas" charset="0"/>
                <a:ea typeface="Consolas" charset="0"/>
                <a:cs typeface="Consolas" charset="0"/>
              </a:rPr>
              <a:t>sess</a:t>
            </a:r>
            <a:r>
              <a:rPr lang="en-US" sz="2600" dirty="0">
                <a:latin typeface="Consolas" charset="0"/>
                <a:ea typeface="Consolas" charset="0"/>
                <a:cs typeface="Consolas" charset="0"/>
              </a:rPr>
              <a:t>, ‘./</a:t>
            </a:r>
            <a:r>
              <a:rPr lang="en-US" sz="2600" dirty="0" err="1">
                <a:latin typeface="Consolas" charset="0"/>
                <a:ea typeface="Consolas" charset="0"/>
                <a:cs typeface="Consolas" charset="0"/>
              </a:rPr>
              <a:t>my_model</a:t>
            </a:r>
            <a:r>
              <a:rPr lang="en-US" sz="2600" dirty="0">
                <a:latin typeface="Consolas" charset="0"/>
                <a:ea typeface="Consolas" charset="0"/>
                <a:cs typeface="Consolas" charset="0"/>
              </a:rPr>
              <a:t>’, </a:t>
            </a:r>
            <a:r>
              <a:rPr lang="en-US" sz="2600" dirty="0" err="1">
                <a:latin typeface="Consolas" charset="0"/>
                <a:ea typeface="Consolas" charset="0"/>
                <a:cs typeface="Consolas" charset="0"/>
              </a:rPr>
              <a:t>global_step</a:t>
            </a:r>
            <a:r>
              <a:rPr lang="en-US" sz="2600" dirty="0">
                <a:latin typeface="Consolas" charset="0"/>
                <a:ea typeface="Consolas" charset="0"/>
                <a:cs typeface="Consolas" charset="0"/>
              </a:rPr>
              <a:t>=</a:t>
            </a:r>
            <a:r>
              <a:rPr lang="en-US" sz="2600" dirty="0" err="1">
                <a:latin typeface="Consolas" charset="0"/>
                <a:ea typeface="Consolas" charset="0"/>
                <a:cs typeface="Consolas" charset="0"/>
              </a:rPr>
              <a:t>global_step</a:t>
            </a:r>
            <a:r>
              <a:rPr lang="en-US" sz="2600" dirty="0" smtClean="0">
                <a:latin typeface="Consolas" charset="0"/>
                <a:ea typeface="Consolas" charset="0"/>
                <a:cs typeface="Consolas" charset="0"/>
              </a:rPr>
              <a:t>)</a:t>
            </a:r>
            <a:endParaRPr lang="en-US" sz="2600" dirty="0">
              <a:latin typeface="Consolas" charset="0"/>
              <a:ea typeface="Consolas" charset="0"/>
              <a:cs typeface="Consolas" charset="0"/>
            </a:endParaRPr>
          </a:p>
        </p:txBody>
      </p:sp>
    </p:spTree>
    <p:extLst>
      <p:ext uri="{BB962C8B-B14F-4D97-AF65-F5344CB8AC3E}">
        <p14:creationId xmlns:p14="http://schemas.microsoft.com/office/powerpoint/2010/main" val="20923591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Optimizer Alternatives</a:t>
            </a:r>
            <a:endParaRPr lang="en-US" dirty="0"/>
          </a:p>
        </p:txBody>
      </p:sp>
    </p:spTree>
    <p:extLst>
      <p:ext uri="{BB962C8B-B14F-4D97-AF65-F5344CB8AC3E}">
        <p14:creationId xmlns:p14="http://schemas.microsoft.com/office/powerpoint/2010/main" val="19832676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Standard update rule for gradient descent</a:t>
            </a:r>
            <a:endParaRPr lang="en-US" dirty="0"/>
          </a:p>
        </p:txBody>
      </p:sp>
      <p:sp>
        <p:nvSpPr>
          <p:cNvPr id="3" name="Content Placeholder 2"/>
          <p:cNvSpPr>
            <a:spLocks noGrp="1"/>
          </p:cNvSpPr>
          <p:nvPr>
            <p:ph idx="1"/>
          </p:nvPr>
        </p:nvSpPr>
        <p:spPr>
          <a:xfrm>
            <a:off x="1593436" y="1600200"/>
            <a:ext cx="9782801" cy="685800"/>
          </a:xfrm>
        </p:spPr>
        <p:txBody>
          <a:bodyPr/>
          <a:lstStyle/>
          <a:p>
            <a:r>
              <a:rPr lang="en-US" dirty="0" smtClean="0"/>
              <a:t>Recall our weight update with gradient descent</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4423406" y="2819400"/>
                <a:ext cx="4122860"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4000" b="0" i="0" smtClean="0">
                          <a:latin typeface="Cambria Math" charset="0"/>
                        </a:rPr>
                        <m:t>W</m:t>
                      </m:r>
                      <m:r>
                        <a:rPr lang="en-US" sz="4000" b="0" i="1" smtClean="0">
                          <a:latin typeface="Cambria Math" charset="0"/>
                        </a:rPr>
                        <m:t>≔</m:t>
                      </m:r>
                      <m:r>
                        <a:rPr lang="en-US" sz="4000" b="0" i="1" smtClean="0">
                          <a:latin typeface="Cambria Math" charset="0"/>
                        </a:rPr>
                        <m:t>𝑊</m:t>
                      </m:r>
                      <m:r>
                        <a:rPr lang="en-US" sz="4000" b="0" i="1" smtClean="0">
                          <a:latin typeface="Cambria Math" charset="0"/>
                        </a:rPr>
                        <m:t>−</m:t>
                      </m:r>
                      <m:r>
                        <a:rPr lang="en-US" sz="4000" b="0" i="1" smtClean="0">
                          <a:latin typeface="Cambria Math" charset="0"/>
                        </a:rPr>
                        <m:t>𝛼</m:t>
                      </m:r>
                      <m:r>
                        <a:rPr lang="en-US" sz="4000" b="0" i="1" smtClean="0">
                          <a:latin typeface="Cambria Math" charset="0"/>
                        </a:rPr>
                        <m:t>⋅</m:t>
                      </m:r>
                      <m:r>
                        <m:rPr>
                          <m:sty m:val="p"/>
                        </m:rPr>
                        <a:rPr lang="el-GR" sz="4000" b="0" i="1" smtClean="0">
                          <a:latin typeface="Cambria Math" charset="0"/>
                          <a:ea typeface="Cambria Math" charset="0"/>
                          <a:cs typeface="Cambria Math" charset="0"/>
                        </a:rPr>
                        <m:t>Δ</m:t>
                      </m:r>
                      <m:r>
                        <a:rPr lang="en-US" sz="4000" b="0" i="1" smtClean="0">
                          <a:latin typeface="Cambria Math" charset="0"/>
                          <a:ea typeface="Cambria Math" charset="0"/>
                          <a:cs typeface="Cambria Math" charset="0"/>
                        </a:rPr>
                        <m:t>𝑊</m:t>
                      </m:r>
                    </m:oMath>
                  </m:oMathPara>
                </a14:m>
                <a:endParaRPr lang="en-US" sz="4000" dirty="0"/>
              </a:p>
            </p:txBody>
          </p:sp>
        </mc:Choice>
        <mc:Fallback xmlns="">
          <p:sp>
            <p:nvSpPr>
              <p:cNvPr id="4" name="TextBox 3"/>
              <p:cNvSpPr txBox="1">
                <a:spLocks noRot="1" noChangeAspect="1" noMove="1" noResize="1" noEditPoints="1" noAdjustHandles="1" noChangeArrowheads="1" noChangeShapeType="1" noTextEdit="1"/>
              </p:cNvSpPr>
              <p:nvPr/>
            </p:nvSpPr>
            <p:spPr>
              <a:xfrm>
                <a:off x="4423406" y="2819400"/>
                <a:ext cx="4122860" cy="615553"/>
              </a:xfrm>
              <a:prstGeom prst="rect">
                <a:avLst/>
              </a:prstGeom>
              <a:blipFill rotWithShape="0">
                <a:blip r:embed="rId2"/>
                <a:stretch>
                  <a:fillRect/>
                </a:stretch>
              </a:blipFill>
            </p:spPr>
            <p:txBody>
              <a:bodyPr/>
              <a:lstStyle/>
              <a:p>
                <a:r>
                  <a:rPr lang="en-US">
                    <a:noFill/>
                  </a:rPr>
                  <a:t> </a:t>
                </a:r>
              </a:p>
            </p:txBody>
          </p:sp>
        </mc:Fallback>
      </mc:AlternateContent>
      <p:sp>
        <p:nvSpPr>
          <p:cNvPr id="5" name="Content Placeholder 2"/>
          <p:cNvSpPr txBox="1">
            <a:spLocks/>
          </p:cNvSpPr>
          <p:nvPr/>
        </p:nvSpPr>
        <p:spPr>
          <a:xfrm>
            <a:off x="1593436" y="3968353"/>
            <a:ext cx="9782801" cy="68580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r>
              <a:rPr lang="en-US" dirty="0" smtClean="0"/>
              <a:t>Can we change this update rule to speed up training?</a:t>
            </a:r>
            <a:endParaRPr lang="en-US" dirty="0"/>
          </a:p>
        </p:txBody>
      </p:sp>
    </p:spTree>
    <p:extLst>
      <p:ext uri="{BB962C8B-B14F-4D97-AF65-F5344CB8AC3E}">
        <p14:creationId xmlns:p14="http://schemas.microsoft.com/office/powerpoint/2010/main" val="16854731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Idea 1: Momentum</a:t>
            </a:r>
            <a:endParaRPr lang="en-US" dirty="0"/>
          </a:p>
        </p:txBody>
      </p:sp>
      <p:sp>
        <p:nvSpPr>
          <p:cNvPr id="3" name="Content Placeholder 2"/>
          <p:cNvSpPr>
            <a:spLocks noGrp="1"/>
          </p:cNvSpPr>
          <p:nvPr>
            <p:ph idx="1"/>
          </p:nvPr>
        </p:nvSpPr>
        <p:spPr>
          <a:xfrm>
            <a:off x="1593436" y="1600200"/>
            <a:ext cx="10063576" cy="1752600"/>
          </a:xfrm>
        </p:spPr>
        <p:txBody>
          <a:bodyPr>
            <a:normAutofit/>
          </a:bodyPr>
          <a:lstStyle/>
          <a:p>
            <a:r>
              <a:rPr lang="en-US" dirty="0" smtClean="0"/>
              <a:t>Assuming our error curve is bowl-</a:t>
            </a:r>
            <a:r>
              <a:rPr lang="en-US" dirty="0" err="1" smtClean="0"/>
              <a:t>ish</a:t>
            </a:r>
            <a:r>
              <a:rPr lang="en-US" dirty="0" smtClean="0"/>
              <a:t> shaped, can assume we’ll be going in roughly the same direction over time</a:t>
            </a:r>
          </a:p>
          <a:p>
            <a:r>
              <a:rPr lang="en-US" dirty="0" smtClean="0"/>
              <a:t>We alter our weight update by a factor of previous update</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4037012" y="3429000"/>
                <a:ext cx="5199565"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b="0" i="1" smtClean="0">
                              <a:latin typeface="Cambria Math" panose="02040503050406030204" pitchFamily="18" charset="0"/>
                            </a:rPr>
                          </m:ctrlPr>
                        </m:sSubPr>
                        <m:e>
                          <m:r>
                            <a:rPr lang="en-US" sz="4000" b="0" i="1" smtClean="0">
                              <a:latin typeface="Cambria Math" charset="0"/>
                            </a:rPr>
                            <m:t>𝑣</m:t>
                          </m:r>
                        </m:e>
                        <m:sub>
                          <m:r>
                            <m:rPr>
                              <m:sty m:val="p"/>
                            </m:rPr>
                            <a:rPr lang="en-US" sz="4000" b="0" i="0" smtClean="0">
                              <a:latin typeface="Cambria Math" charset="0"/>
                            </a:rPr>
                            <m:t>t</m:t>
                          </m:r>
                        </m:sub>
                      </m:sSub>
                      <m:r>
                        <a:rPr lang="en-US" sz="4000" b="0" i="1" smtClean="0">
                          <a:latin typeface="Cambria Math" charset="0"/>
                        </a:rPr>
                        <m:t>≔</m:t>
                      </m:r>
                      <m:r>
                        <a:rPr lang="en-US" sz="4000" b="0" i="1" smtClean="0">
                          <a:latin typeface="Cambria Math" charset="0"/>
                          <a:ea typeface="Cambria Math" charset="0"/>
                          <a:cs typeface="Cambria Math" charset="0"/>
                        </a:rPr>
                        <m:t>𝜂</m:t>
                      </m:r>
                      <m:r>
                        <a:rPr lang="en-US" sz="4000" b="0" i="1" smtClean="0">
                          <a:latin typeface="Cambria Math" charset="0"/>
                        </a:rPr>
                        <m:t>⋅</m:t>
                      </m:r>
                      <m:sSub>
                        <m:sSubPr>
                          <m:ctrlPr>
                            <a:rPr lang="en-US" sz="4000" b="0" i="1" smtClean="0">
                              <a:latin typeface="Cambria Math" panose="02040503050406030204" pitchFamily="18" charset="0"/>
                            </a:rPr>
                          </m:ctrlPr>
                        </m:sSubPr>
                        <m:e>
                          <m:r>
                            <a:rPr lang="en-US" sz="4000" b="0" i="1" smtClean="0">
                              <a:latin typeface="Cambria Math" charset="0"/>
                            </a:rPr>
                            <m:t>𝑣</m:t>
                          </m:r>
                        </m:e>
                        <m:sub>
                          <m:r>
                            <a:rPr lang="en-US" sz="4000" b="0" i="1" smtClean="0">
                              <a:latin typeface="Cambria Math" charset="0"/>
                            </a:rPr>
                            <m:t>𝑡</m:t>
                          </m:r>
                          <m:r>
                            <a:rPr lang="en-US" sz="4000" b="0" i="1" smtClean="0">
                              <a:latin typeface="Cambria Math" charset="0"/>
                            </a:rPr>
                            <m:t>−1</m:t>
                          </m:r>
                        </m:sub>
                      </m:sSub>
                      <m:r>
                        <a:rPr lang="en-US" sz="4000" b="0" i="1" smtClean="0">
                          <a:latin typeface="Cambria Math" charset="0"/>
                        </a:rPr>
                        <m:t>−</m:t>
                      </m:r>
                      <m:r>
                        <a:rPr lang="en-US" sz="4000" b="0" i="1" smtClean="0">
                          <a:latin typeface="Cambria Math" charset="0"/>
                        </a:rPr>
                        <m:t>𝛼</m:t>
                      </m:r>
                      <m:r>
                        <a:rPr lang="en-US" sz="4000" b="0" i="1" smtClean="0">
                          <a:latin typeface="Cambria Math" charset="0"/>
                        </a:rPr>
                        <m:t>⋅</m:t>
                      </m:r>
                      <m:r>
                        <m:rPr>
                          <m:sty m:val="p"/>
                        </m:rPr>
                        <a:rPr lang="el-GR" sz="4000" b="0" i="1" smtClean="0">
                          <a:latin typeface="Cambria Math" charset="0"/>
                          <a:ea typeface="Cambria Math" charset="0"/>
                          <a:cs typeface="Cambria Math" charset="0"/>
                        </a:rPr>
                        <m:t>Δ</m:t>
                      </m:r>
                      <m:r>
                        <a:rPr lang="en-US" sz="4000" b="0" i="1" smtClean="0">
                          <a:latin typeface="Cambria Math" charset="0"/>
                          <a:ea typeface="Cambria Math" charset="0"/>
                          <a:cs typeface="Cambria Math" charset="0"/>
                        </a:rPr>
                        <m:t>𝑊</m:t>
                      </m:r>
                    </m:oMath>
                  </m:oMathPara>
                </a14:m>
                <a:endParaRPr lang="en-US" sz="4000" dirty="0"/>
              </a:p>
            </p:txBody>
          </p:sp>
        </mc:Choice>
        <mc:Fallback xmlns="">
          <p:sp>
            <p:nvSpPr>
              <p:cNvPr id="4" name="TextBox 3"/>
              <p:cNvSpPr txBox="1">
                <a:spLocks noRot="1" noChangeAspect="1" noMove="1" noResize="1" noEditPoints="1" noAdjustHandles="1" noChangeArrowheads="1" noChangeShapeType="1" noTextEdit="1"/>
              </p:cNvSpPr>
              <p:nvPr/>
            </p:nvSpPr>
            <p:spPr>
              <a:xfrm>
                <a:off x="4037012" y="3429000"/>
                <a:ext cx="5199565" cy="61555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037012" y="4389437"/>
                <a:ext cx="3084113"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4000" b="0" i="0" smtClean="0">
                          <a:latin typeface="Cambria Math" charset="0"/>
                        </a:rPr>
                        <m:t>W</m:t>
                      </m:r>
                      <m:r>
                        <a:rPr lang="en-US" sz="4000" b="0" i="1" smtClean="0">
                          <a:latin typeface="Cambria Math" charset="0"/>
                        </a:rPr>
                        <m:t>≔</m:t>
                      </m:r>
                      <m:r>
                        <a:rPr lang="en-US" sz="4000" b="0" i="1" smtClean="0">
                          <a:latin typeface="Cambria Math" charset="0"/>
                        </a:rPr>
                        <m:t>𝑊</m:t>
                      </m:r>
                      <m:r>
                        <a:rPr lang="en-US" sz="4000" b="0" i="1" smtClean="0">
                          <a:latin typeface="Cambria Math" charset="0"/>
                        </a:rPr>
                        <m:t>−</m:t>
                      </m:r>
                      <m:sSub>
                        <m:sSubPr>
                          <m:ctrlPr>
                            <a:rPr lang="en-US" sz="4000" b="0" i="1" smtClean="0">
                              <a:latin typeface="Cambria Math" panose="02040503050406030204" pitchFamily="18" charset="0"/>
                            </a:rPr>
                          </m:ctrlPr>
                        </m:sSubPr>
                        <m:e>
                          <m:r>
                            <a:rPr lang="en-US" sz="4000" b="0" i="1" smtClean="0">
                              <a:latin typeface="Cambria Math" charset="0"/>
                            </a:rPr>
                            <m:t>𝑣</m:t>
                          </m:r>
                        </m:e>
                        <m:sub>
                          <m:r>
                            <a:rPr lang="en-US" sz="4000" b="0" i="1" smtClean="0">
                              <a:latin typeface="Cambria Math" charset="0"/>
                            </a:rPr>
                            <m:t>𝑡</m:t>
                          </m:r>
                        </m:sub>
                      </m:sSub>
                    </m:oMath>
                  </m:oMathPara>
                </a14:m>
                <a:endParaRPr lang="en-US" sz="4000" dirty="0"/>
              </a:p>
            </p:txBody>
          </p:sp>
        </mc:Choice>
        <mc:Fallback xmlns="">
          <p:sp>
            <p:nvSpPr>
              <p:cNvPr id="5" name="TextBox 4"/>
              <p:cNvSpPr txBox="1">
                <a:spLocks noRot="1" noChangeAspect="1" noMove="1" noResize="1" noEditPoints="1" noAdjustHandles="1" noChangeArrowheads="1" noChangeShapeType="1" noTextEdit="1"/>
              </p:cNvSpPr>
              <p:nvPr/>
            </p:nvSpPr>
            <p:spPr>
              <a:xfrm>
                <a:off x="4037012" y="4389437"/>
                <a:ext cx="3084113" cy="615553"/>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894012" y="5562600"/>
                <a:ext cx="8310976" cy="523220"/>
              </a:xfrm>
              <a:prstGeom prst="rect">
                <a:avLst/>
              </a:prstGeom>
            </p:spPr>
            <p:txBody>
              <a:bodyPr wrap="square">
                <a:spAutoFit/>
              </a:bodyPr>
              <a:lstStyle/>
              <a:p>
                <a14:m>
                  <m:oMath xmlns:m="http://schemas.openxmlformats.org/officeDocument/2006/math">
                    <m:r>
                      <a:rPr lang="en-US" sz="2800" b="0" i="1" smtClean="0">
                        <a:latin typeface="Cambria Math" charset="0"/>
                      </a:rPr>
                      <m:t>𝜂</m:t>
                    </m:r>
                  </m:oMath>
                </a14:m>
                <a:r>
                  <a:rPr lang="en-US" sz="2800" dirty="0" smtClean="0"/>
                  <a:t> is often referred to as the “momentum”</a:t>
                </a:r>
                <a:endParaRPr lang="en-US" sz="2800" dirty="0"/>
              </a:p>
            </p:txBody>
          </p:sp>
        </mc:Choice>
        <mc:Fallback xmlns="">
          <p:sp>
            <p:nvSpPr>
              <p:cNvPr id="6" name="Rectangle 5"/>
              <p:cNvSpPr>
                <a:spLocks noRot="1" noChangeAspect="1" noMove="1" noResize="1" noEditPoints="1" noAdjustHandles="1" noChangeArrowheads="1" noChangeShapeType="1" noTextEdit="1"/>
              </p:cNvSpPr>
              <p:nvPr/>
            </p:nvSpPr>
            <p:spPr>
              <a:xfrm>
                <a:off x="2894012" y="5562600"/>
                <a:ext cx="8310976" cy="523220"/>
              </a:xfrm>
              <a:prstGeom prst="rect">
                <a:avLst/>
              </a:prstGeom>
              <a:blipFill rotWithShape="0">
                <a:blip r:embed="rId5"/>
                <a:stretch>
                  <a:fillRect t="-14118" b="-30588"/>
                </a:stretch>
              </a:blipFill>
            </p:spPr>
            <p:txBody>
              <a:bodyPr/>
              <a:lstStyle/>
              <a:p>
                <a:r>
                  <a:rPr lang="en-US">
                    <a:noFill/>
                  </a:rPr>
                  <a:t> </a:t>
                </a:r>
              </a:p>
            </p:txBody>
          </p:sp>
        </mc:Fallback>
      </mc:AlternateContent>
    </p:spTree>
    <p:extLst>
      <p:ext uri="{BB962C8B-B14F-4D97-AF65-F5344CB8AC3E}">
        <p14:creationId xmlns:p14="http://schemas.microsoft.com/office/powerpoint/2010/main" val="2906965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Without Momentum</a:t>
            </a:r>
            <a:endParaRPr lang="en-US" dirty="0"/>
          </a:p>
        </p:txBody>
      </p:sp>
      <p:pic>
        <p:nvPicPr>
          <p:cNvPr id="5" name="Shape 412"/>
          <p:cNvPicPr preferRelativeResize="0"/>
          <p:nvPr/>
        </p:nvPicPr>
        <p:blipFill>
          <a:blip r:embed="rId2">
            <a:alphaModFix/>
          </a:blip>
          <a:stretch>
            <a:fillRect/>
          </a:stretch>
        </p:blipFill>
        <p:spPr>
          <a:xfrm>
            <a:off x="2346112" y="1905000"/>
            <a:ext cx="8167900" cy="3968890"/>
          </a:xfrm>
          <a:prstGeom prst="rect">
            <a:avLst/>
          </a:prstGeom>
          <a:noFill/>
          <a:ln>
            <a:noFill/>
          </a:ln>
        </p:spPr>
      </p:pic>
    </p:spTree>
    <p:extLst>
      <p:ext uri="{BB962C8B-B14F-4D97-AF65-F5344CB8AC3E}">
        <p14:creationId xmlns:p14="http://schemas.microsoft.com/office/powerpoint/2010/main" val="2120895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With Momentum</a:t>
            </a:r>
            <a:endParaRPr lang="en-US" dirty="0"/>
          </a:p>
        </p:txBody>
      </p:sp>
      <p:pic>
        <p:nvPicPr>
          <p:cNvPr id="5" name="Shape 418"/>
          <p:cNvPicPr preferRelativeResize="0"/>
          <p:nvPr/>
        </p:nvPicPr>
        <p:blipFill>
          <a:blip r:embed="rId3">
            <a:alphaModFix/>
          </a:blip>
          <a:stretch>
            <a:fillRect/>
          </a:stretch>
        </p:blipFill>
        <p:spPr>
          <a:xfrm>
            <a:off x="2346112" y="1905000"/>
            <a:ext cx="8167900" cy="3968900"/>
          </a:xfrm>
          <a:prstGeom prst="rect">
            <a:avLst/>
          </a:prstGeom>
          <a:noFill/>
          <a:ln>
            <a:noFill/>
          </a:ln>
        </p:spPr>
      </p:pic>
    </p:spTree>
    <p:extLst>
      <p:ext uri="{BB962C8B-B14F-4D97-AF65-F5344CB8AC3E}">
        <p14:creationId xmlns:p14="http://schemas.microsoft.com/office/powerpoint/2010/main" val="19132090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Nesterov</a:t>
            </a:r>
            <a:r>
              <a:rPr lang="en-US" dirty="0" smtClean="0"/>
              <a:t> Momentum</a:t>
            </a:r>
            <a:endParaRPr lang="en-US" dirty="0"/>
          </a:p>
        </p:txBody>
      </p:sp>
      <p:sp>
        <p:nvSpPr>
          <p:cNvPr id="3" name="Content Placeholder 2"/>
          <p:cNvSpPr>
            <a:spLocks noGrp="1"/>
          </p:cNvSpPr>
          <p:nvPr>
            <p:ph idx="1"/>
          </p:nvPr>
        </p:nvSpPr>
        <p:spPr>
          <a:xfrm>
            <a:off x="1446212" y="1600200"/>
            <a:ext cx="10287000" cy="1752600"/>
          </a:xfrm>
        </p:spPr>
        <p:txBody>
          <a:bodyPr>
            <a:normAutofit/>
          </a:bodyPr>
          <a:lstStyle/>
          <a:p>
            <a:r>
              <a:rPr lang="en-US" dirty="0" smtClean="0"/>
              <a:t>Momentum might accidentally “roll up the other side of the hill”</a:t>
            </a:r>
          </a:p>
          <a:p>
            <a:r>
              <a:rPr lang="en-US" dirty="0" err="1" smtClean="0"/>
              <a:t>Nesterov</a:t>
            </a:r>
            <a:r>
              <a:rPr lang="en-US" dirty="0" smtClean="0"/>
              <a:t> momentum looks ahead before updating weights</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4113212" y="5498731"/>
                <a:ext cx="3084114"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4000" b="0" i="0" smtClean="0">
                          <a:latin typeface="Cambria Math" charset="0"/>
                        </a:rPr>
                        <m:t>W</m:t>
                      </m:r>
                      <m:r>
                        <a:rPr lang="en-US" sz="4000" b="0" i="1" smtClean="0">
                          <a:latin typeface="Cambria Math" charset="0"/>
                        </a:rPr>
                        <m:t>≔</m:t>
                      </m:r>
                      <m:r>
                        <a:rPr lang="en-US" sz="4000" b="0" i="1" smtClean="0">
                          <a:latin typeface="Cambria Math" charset="0"/>
                        </a:rPr>
                        <m:t>𝑊</m:t>
                      </m:r>
                      <m:r>
                        <a:rPr lang="en-US" sz="4000" b="0" i="1" smtClean="0">
                          <a:latin typeface="Cambria Math" charset="0"/>
                        </a:rPr>
                        <m:t>−</m:t>
                      </m:r>
                      <m:sSub>
                        <m:sSubPr>
                          <m:ctrlPr>
                            <a:rPr lang="en-US" sz="4000" b="0" i="1" smtClean="0">
                              <a:latin typeface="Cambria Math" panose="02040503050406030204" pitchFamily="18" charset="0"/>
                            </a:rPr>
                          </m:ctrlPr>
                        </m:sSubPr>
                        <m:e>
                          <m:r>
                            <a:rPr lang="en-US" sz="4000" b="0" i="1" smtClean="0">
                              <a:latin typeface="Cambria Math" charset="0"/>
                            </a:rPr>
                            <m:t>𝑣</m:t>
                          </m:r>
                        </m:e>
                        <m:sub>
                          <m:r>
                            <a:rPr lang="en-US" sz="4000" b="0" i="1" smtClean="0">
                              <a:latin typeface="Cambria Math" charset="0"/>
                            </a:rPr>
                            <m:t>𝑡</m:t>
                          </m:r>
                        </m:sub>
                      </m:sSub>
                    </m:oMath>
                  </m:oMathPara>
                </a14:m>
                <a:endParaRPr lang="en-US" sz="4000" dirty="0"/>
              </a:p>
            </p:txBody>
          </p:sp>
        </mc:Choice>
        <mc:Fallback xmlns="">
          <p:sp>
            <p:nvSpPr>
              <p:cNvPr id="4" name="TextBox 3"/>
              <p:cNvSpPr txBox="1">
                <a:spLocks noRot="1" noChangeAspect="1" noMove="1" noResize="1" noEditPoints="1" noAdjustHandles="1" noChangeArrowheads="1" noChangeShapeType="1" noTextEdit="1"/>
              </p:cNvSpPr>
              <p:nvPr/>
            </p:nvSpPr>
            <p:spPr>
              <a:xfrm>
                <a:off x="4113212" y="5498731"/>
                <a:ext cx="3084114" cy="61555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113212" y="4428955"/>
                <a:ext cx="5537157"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b="0" i="1" smtClean="0">
                              <a:latin typeface="Cambria Math" panose="02040503050406030204" pitchFamily="18" charset="0"/>
                            </a:rPr>
                          </m:ctrlPr>
                        </m:sSubPr>
                        <m:e>
                          <m:r>
                            <a:rPr lang="en-US" sz="4000" b="0" i="1" smtClean="0">
                              <a:latin typeface="Cambria Math" charset="0"/>
                            </a:rPr>
                            <m:t>𝑣</m:t>
                          </m:r>
                        </m:e>
                        <m:sub>
                          <m:r>
                            <a:rPr lang="en-US" sz="4000" b="0" i="1" smtClean="0">
                              <a:latin typeface="Cambria Math" charset="0"/>
                            </a:rPr>
                            <m:t>𝑡</m:t>
                          </m:r>
                        </m:sub>
                      </m:sSub>
                      <m:r>
                        <a:rPr lang="en-US" sz="4000" b="0" i="1" smtClean="0">
                          <a:latin typeface="Cambria Math" charset="0"/>
                        </a:rPr>
                        <m:t>=</m:t>
                      </m:r>
                      <m:sSub>
                        <m:sSubPr>
                          <m:ctrlPr>
                            <a:rPr lang="en-US" sz="4000" b="0" i="1" smtClean="0">
                              <a:latin typeface="Cambria Math" panose="02040503050406030204" pitchFamily="18" charset="0"/>
                            </a:rPr>
                          </m:ctrlPr>
                        </m:sSubPr>
                        <m:e>
                          <m:r>
                            <a:rPr lang="en-US" sz="4000" b="0" i="1" smtClean="0">
                              <a:latin typeface="Cambria Math" charset="0"/>
                            </a:rPr>
                            <m:t>𝑢</m:t>
                          </m:r>
                        </m:e>
                        <m:sub>
                          <m:r>
                            <a:rPr lang="en-US" sz="4000" b="0" i="1" smtClean="0">
                              <a:latin typeface="Cambria Math" charset="0"/>
                            </a:rPr>
                            <m:t>𝑡</m:t>
                          </m:r>
                        </m:sub>
                      </m:sSub>
                      <m:r>
                        <a:rPr lang="en-US" sz="4000" b="0" i="1" smtClean="0">
                          <a:latin typeface="Cambria Math" charset="0"/>
                        </a:rPr>
                        <m:t>−</m:t>
                      </m:r>
                      <m:r>
                        <a:rPr lang="en-US" sz="4000" b="0" i="1" smtClean="0">
                          <a:latin typeface="Cambria Math" charset="0"/>
                        </a:rPr>
                        <m:t>𝛼</m:t>
                      </m:r>
                      <m:r>
                        <a:rPr lang="en-US" sz="4000" b="0" i="1" smtClean="0">
                          <a:latin typeface="Cambria Math" charset="0"/>
                        </a:rPr>
                        <m:t>⋅</m:t>
                      </m:r>
                      <m:r>
                        <m:rPr>
                          <m:sty m:val="p"/>
                        </m:rPr>
                        <a:rPr lang="el-GR" sz="4000" b="0" i="1" smtClean="0">
                          <a:latin typeface="Cambria Math" charset="0"/>
                          <a:ea typeface="Cambria Math" charset="0"/>
                          <a:cs typeface="Cambria Math" charset="0"/>
                        </a:rPr>
                        <m:t>Δ</m:t>
                      </m:r>
                      <m:r>
                        <a:rPr lang="en-US" sz="4000" b="0" i="1" smtClean="0">
                          <a:latin typeface="Cambria Math" charset="0"/>
                          <a:ea typeface="Cambria Math" charset="0"/>
                          <a:cs typeface="Cambria Math" charset="0"/>
                        </a:rPr>
                        <m:t>(</m:t>
                      </m:r>
                      <m:r>
                        <a:rPr lang="en-US" sz="4000" b="0" i="1" smtClean="0">
                          <a:latin typeface="Cambria Math" charset="0"/>
                          <a:ea typeface="Cambria Math" charset="0"/>
                          <a:cs typeface="Cambria Math" charset="0"/>
                        </a:rPr>
                        <m:t>𝑊</m:t>
                      </m:r>
                      <m:r>
                        <a:rPr lang="en-US" sz="4000" b="0" i="1" smtClean="0">
                          <a:latin typeface="Cambria Math" charset="0"/>
                          <a:ea typeface="Cambria Math" charset="0"/>
                          <a:cs typeface="Cambria Math" charset="0"/>
                        </a:rPr>
                        <m:t>−</m:t>
                      </m:r>
                      <m:sSub>
                        <m:sSubPr>
                          <m:ctrlPr>
                            <a:rPr lang="en-US" sz="4000" b="0" i="1" smtClean="0">
                              <a:latin typeface="Cambria Math" panose="02040503050406030204" pitchFamily="18" charset="0"/>
                              <a:ea typeface="Cambria Math" charset="0"/>
                              <a:cs typeface="Cambria Math" charset="0"/>
                            </a:rPr>
                          </m:ctrlPr>
                        </m:sSubPr>
                        <m:e>
                          <m:r>
                            <a:rPr lang="en-US" sz="4000" b="0" i="1" smtClean="0">
                              <a:latin typeface="Cambria Math" charset="0"/>
                              <a:ea typeface="Cambria Math" charset="0"/>
                              <a:cs typeface="Cambria Math" charset="0"/>
                            </a:rPr>
                            <m:t>𝑢</m:t>
                          </m:r>
                        </m:e>
                        <m:sub>
                          <m:r>
                            <a:rPr lang="en-US" sz="4000" b="0" i="1" smtClean="0">
                              <a:latin typeface="Cambria Math" charset="0"/>
                              <a:ea typeface="Cambria Math" charset="0"/>
                              <a:cs typeface="Cambria Math" charset="0"/>
                            </a:rPr>
                            <m:t>𝑡</m:t>
                          </m:r>
                        </m:sub>
                      </m:sSub>
                      <m:r>
                        <a:rPr lang="en-US" sz="4000" b="0" i="1" smtClean="0">
                          <a:latin typeface="Cambria Math" charset="0"/>
                          <a:ea typeface="Cambria Math" charset="0"/>
                          <a:cs typeface="Cambria Math" charset="0"/>
                        </a:rPr>
                        <m:t>)</m:t>
                      </m:r>
                    </m:oMath>
                  </m:oMathPara>
                </a14:m>
                <a:endParaRPr lang="en-US" sz="4000" dirty="0"/>
              </a:p>
            </p:txBody>
          </p:sp>
        </mc:Choice>
        <mc:Fallback xmlns="">
          <p:sp>
            <p:nvSpPr>
              <p:cNvPr id="5" name="TextBox 4"/>
              <p:cNvSpPr txBox="1">
                <a:spLocks noRot="1" noChangeAspect="1" noMove="1" noResize="1" noEditPoints="1" noAdjustHandles="1" noChangeArrowheads="1" noChangeShapeType="1" noTextEdit="1"/>
              </p:cNvSpPr>
              <p:nvPr/>
            </p:nvSpPr>
            <p:spPr>
              <a:xfrm>
                <a:off x="4113212" y="4428955"/>
                <a:ext cx="5537157" cy="615553"/>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113212" y="3535363"/>
                <a:ext cx="3033458"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b="0" i="1" smtClean="0">
                              <a:latin typeface="Cambria Math" panose="02040503050406030204" pitchFamily="18" charset="0"/>
                            </a:rPr>
                          </m:ctrlPr>
                        </m:sSubPr>
                        <m:e>
                          <m:r>
                            <a:rPr lang="en-US" sz="4000" b="0" i="1" smtClean="0">
                              <a:latin typeface="Cambria Math" charset="0"/>
                            </a:rPr>
                            <m:t>𝑢</m:t>
                          </m:r>
                        </m:e>
                        <m:sub>
                          <m:r>
                            <a:rPr lang="en-US" sz="4000" b="0" i="1" smtClean="0">
                              <a:latin typeface="Cambria Math" charset="0"/>
                            </a:rPr>
                            <m:t>𝑡</m:t>
                          </m:r>
                        </m:sub>
                      </m:sSub>
                      <m:r>
                        <a:rPr lang="en-US" sz="4000" b="0" i="1" smtClean="0">
                          <a:latin typeface="Cambria Math" charset="0"/>
                        </a:rPr>
                        <m:t>=</m:t>
                      </m:r>
                      <m:r>
                        <a:rPr lang="en-US" sz="4000" b="0" i="1" smtClean="0">
                          <a:latin typeface="Cambria Math" charset="0"/>
                        </a:rPr>
                        <m:t>𝜂</m:t>
                      </m:r>
                      <m:r>
                        <a:rPr lang="en-US" sz="4000" b="0" i="1" smtClean="0">
                          <a:latin typeface="Cambria Math" charset="0"/>
                        </a:rPr>
                        <m:t>⋅</m:t>
                      </m:r>
                      <m:sSub>
                        <m:sSubPr>
                          <m:ctrlPr>
                            <a:rPr lang="en-US" sz="4000" b="0" i="1" smtClean="0">
                              <a:latin typeface="Cambria Math" panose="02040503050406030204" pitchFamily="18" charset="0"/>
                            </a:rPr>
                          </m:ctrlPr>
                        </m:sSubPr>
                        <m:e>
                          <m:r>
                            <a:rPr lang="en-US" sz="4000" b="0" i="1" smtClean="0">
                              <a:latin typeface="Cambria Math" charset="0"/>
                            </a:rPr>
                            <m:t>𝑣</m:t>
                          </m:r>
                        </m:e>
                        <m:sub>
                          <m:r>
                            <a:rPr lang="en-US" sz="4000" b="0" i="1" smtClean="0">
                              <a:latin typeface="Cambria Math" charset="0"/>
                            </a:rPr>
                            <m:t>𝑡</m:t>
                          </m:r>
                          <m:r>
                            <a:rPr lang="en-US" sz="4000" b="0" i="1" smtClean="0">
                              <a:latin typeface="Cambria Math" charset="0"/>
                            </a:rPr>
                            <m:t>−1</m:t>
                          </m:r>
                        </m:sub>
                      </m:sSub>
                    </m:oMath>
                  </m:oMathPara>
                </a14:m>
                <a:endParaRPr lang="en-US" sz="4000" dirty="0"/>
              </a:p>
            </p:txBody>
          </p:sp>
        </mc:Choice>
        <mc:Fallback xmlns="">
          <p:sp>
            <p:nvSpPr>
              <p:cNvPr id="6" name="TextBox 5"/>
              <p:cNvSpPr txBox="1">
                <a:spLocks noRot="1" noChangeAspect="1" noMove="1" noResize="1" noEditPoints="1" noAdjustHandles="1" noChangeArrowheads="1" noChangeShapeType="1" noTextEdit="1"/>
              </p:cNvSpPr>
              <p:nvPr/>
            </p:nvSpPr>
            <p:spPr>
              <a:xfrm>
                <a:off x="4113212" y="3535363"/>
                <a:ext cx="3033458" cy="615553"/>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322601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Nesterov</a:t>
            </a:r>
            <a:r>
              <a:rPr lang="en-US" dirty="0" smtClean="0"/>
              <a:t> Momentum</a:t>
            </a:r>
            <a:endParaRPr lang="en-US" dirty="0"/>
          </a:p>
        </p:txBody>
      </p:sp>
      <p:sp>
        <p:nvSpPr>
          <p:cNvPr id="5" name="Shape 433"/>
          <p:cNvSpPr txBox="1"/>
          <p:nvPr/>
        </p:nvSpPr>
        <p:spPr>
          <a:xfrm>
            <a:off x="4209862" y="6234300"/>
            <a:ext cx="4043700" cy="623700"/>
          </a:xfrm>
          <a:prstGeom prst="rect">
            <a:avLst/>
          </a:prstGeom>
          <a:noFill/>
          <a:ln>
            <a:noFill/>
          </a:ln>
        </p:spPr>
        <p:txBody>
          <a:bodyPr lIns="91425" tIns="91425" rIns="91425" bIns="91425" anchor="t" anchorCtr="0">
            <a:noAutofit/>
          </a:bodyPr>
          <a:lstStyle/>
          <a:p>
            <a:r>
              <a:rPr lang="en" u="sng">
                <a:solidFill>
                  <a:schemeClr val="hlink"/>
                </a:solidFill>
                <a:hlinkClick r:id="rId3"/>
              </a:rPr>
              <a:t>Source: Lecture by Geoffrey Hinton</a:t>
            </a:r>
          </a:p>
        </p:txBody>
      </p:sp>
      <p:pic>
        <p:nvPicPr>
          <p:cNvPr id="11" name="Shape 432"/>
          <p:cNvPicPr preferRelativeResize="0"/>
          <p:nvPr/>
        </p:nvPicPr>
        <p:blipFill>
          <a:blip r:embed="rId4">
            <a:alphaModFix/>
          </a:blip>
          <a:stretch>
            <a:fillRect/>
          </a:stretch>
        </p:blipFill>
        <p:spPr>
          <a:xfrm>
            <a:off x="2208212" y="1882900"/>
            <a:ext cx="8353825" cy="2407175"/>
          </a:xfrm>
          <a:prstGeom prst="rect">
            <a:avLst/>
          </a:prstGeom>
          <a:noFill/>
          <a:ln>
            <a:noFill/>
          </a:ln>
        </p:spPr>
      </p:pic>
      <p:cxnSp>
        <p:nvCxnSpPr>
          <p:cNvPr id="12" name="Shape 434"/>
          <p:cNvCxnSpPr/>
          <p:nvPr/>
        </p:nvCxnSpPr>
        <p:spPr>
          <a:xfrm>
            <a:off x="2944162" y="4741025"/>
            <a:ext cx="887400" cy="0"/>
          </a:xfrm>
          <a:prstGeom prst="straightConnector1">
            <a:avLst/>
          </a:prstGeom>
          <a:noFill/>
          <a:ln w="38100" cap="flat" cmpd="sng">
            <a:solidFill>
              <a:srgbClr val="7F6000"/>
            </a:solidFill>
            <a:prstDash val="solid"/>
            <a:round/>
            <a:headEnd type="none" w="lg" len="lg"/>
            <a:tailEnd type="stealth" w="lg" len="lg"/>
          </a:ln>
        </p:spPr>
      </p:cxnSp>
      <p:cxnSp>
        <p:nvCxnSpPr>
          <p:cNvPr id="13" name="Shape 435"/>
          <p:cNvCxnSpPr/>
          <p:nvPr/>
        </p:nvCxnSpPr>
        <p:spPr>
          <a:xfrm>
            <a:off x="2944162" y="5501600"/>
            <a:ext cx="887400" cy="0"/>
          </a:xfrm>
          <a:prstGeom prst="straightConnector1">
            <a:avLst/>
          </a:prstGeom>
          <a:noFill/>
          <a:ln w="38100" cap="flat" cmpd="sng">
            <a:solidFill>
              <a:srgbClr val="FF0000"/>
            </a:solidFill>
            <a:prstDash val="solid"/>
            <a:round/>
            <a:headEnd type="none" w="lg" len="lg"/>
            <a:tailEnd type="stealth" w="lg" len="lg"/>
          </a:ln>
        </p:spPr>
      </p:cxnSp>
      <p:cxnSp>
        <p:nvCxnSpPr>
          <p:cNvPr id="14" name="Shape 436"/>
          <p:cNvCxnSpPr/>
          <p:nvPr/>
        </p:nvCxnSpPr>
        <p:spPr>
          <a:xfrm>
            <a:off x="6665662" y="4741025"/>
            <a:ext cx="887400" cy="0"/>
          </a:xfrm>
          <a:prstGeom prst="straightConnector1">
            <a:avLst/>
          </a:prstGeom>
          <a:noFill/>
          <a:ln w="38100" cap="flat" cmpd="sng">
            <a:solidFill>
              <a:srgbClr val="38761D"/>
            </a:solidFill>
            <a:prstDash val="solid"/>
            <a:round/>
            <a:headEnd type="none" w="lg" len="lg"/>
            <a:tailEnd type="stealth" w="lg" len="lg"/>
          </a:ln>
        </p:spPr>
      </p:cxnSp>
      <p:cxnSp>
        <p:nvCxnSpPr>
          <p:cNvPr id="15" name="Shape 437"/>
          <p:cNvCxnSpPr/>
          <p:nvPr/>
        </p:nvCxnSpPr>
        <p:spPr>
          <a:xfrm>
            <a:off x="6665662" y="5501600"/>
            <a:ext cx="887400" cy="0"/>
          </a:xfrm>
          <a:prstGeom prst="straightConnector1">
            <a:avLst/>
          </a:prstGeom>
          <a:noFill/>
          <a:ln w="38100" cap="flat" cmpd="sng">
            <a:solidFill>
              <a:srgbClr val="0000FF"/>
            </a:solidFill>
            <a:prstDash val="solid"/>
            <a:round/>
            <a:headEnd type="none" w="lg" len="lg"/>
            <a:tailEnd type="stealth" w="lg" len="lg"/>
          </a:ln>
        </p:spPr>
      </p:cxnSp>
      <p:sp>
        <p:nvSpPr>
          <p:cNvPr id="16" name="Shape 438"/>
          <p:cNvSpPr txBox="1"/>
          <p:nvPr/>
        </p:nvSpPr>
        <p:spPr>
          <a:xfrm>
            <a:off x="3861041" y="4487500"/>
            <a:ext cx="2363400" cy="1191600"/>
          </a:xfrm>
          <a:prstGeom prst="rect">
            <a:avLst/>
          </a:prstGeom>
          <a:noFill/>
          <a:ln>
            <a:noFill/>
          </a:ln>
        </p:spPr>
        <p:txBody>
          <a:bodyPr lIns="91425" tIns="91425" rIns="91425" bIns="91425" anchor="t" anchorCtr="0">
            <a:noAutofit/>
          </a:bodyPr>
          <a:lstStyle/>
          <a:p>
            <a:pPr lvl="0">
              <a:spcBef>
                <a:spcPts val="0"/>
              </a:spcBef>
              <a:buNone/>
            </a:pPr>
            <a:r>
              <a:rPr lang="en" sz="1800"/>
              <a:t>Momentum Vector</a:t>
            </a:r>
          </a:p>
          <a:p>
            <a:pPr lvl="0">
              <a:spcBef>
                <a:spcPts val="0"/>
              </a:spcBef>
              <a:buNone/>
            </a:pPr>
            <a:endParaRPr sz="1800"/>
          </a:p>
          <a:p>
            <a:pPr lvl="0">
              <a:spcBef>
                <a:spcPts val="0"/>
              </a:spcBef>
              <a:buNone/>
            </a:pPr>
            <a:endParaRPr sz="1800"/>
          </a:p>
          <a:p>
            <a:pPr lvl="0">
              <a:spcBef>
                <a:spcPts val="0"/>
              </a:spcBef>
              <a:buNone/>
            </a:pPr>
            <a:r>
              <a:rPr lang="en" sz="1800"/>
              <a:t>Gradient/correction</a:t>
            </a:r>
          </a:p>
        </p:txBody>
      </p:sp>
      <p:sp>
        <p:nvSpPr>
          <p:cNvPr id="17" name="Shape 439"/>
          <p:cNvSpPr txBox="1"/>
          <p:nvPr/>
        </p:nvSpPr>
        <p:spPr>
          <a:xfrm>
            <a:off x="7614987" y="4487500"/>
            <a:ext cx="3086400" cy="1191600"/>
          </a:xfrm>
          <a:prstGeom prst="rect">
            <a:avLst/>
          </a:prstGeom>
          <a:noFill/>
          <a:ln>
            <a:noFill/>
          </a:ln>
        </p:spPr>
        <p:txBody>
          <a:bodyPr lIns="91425" tIns="91425" rIns="91425" bIns="91425" anchor="t" anchorCtr="0">
            <a:noAutofit/>
          </a:bodyPr>
          <a:lstStyle/>
          <a:p>
            <a:pPr lvl="0" rtl="0">
              <a:spcBef>
                <a:spcPts val="0"/>
              </a:spcBef>
              <a:buNone/>
            </a:pPr>
            <a:r>
              <a:rPr lang="en" sz="1800"/>
              <a:t>Nesterov steps</a:t>
            </a:r>
          </a:p>
          <a:p>
            <a:pPr lvl="0" rtl="0">
              <a:spcBef>
                <a:spcPts val="0"/>
              </a:spcBef>
              <a:buNone/>
            </a:pPr>
            <a:endParaRPr sz="1800"/>
          </a:p>
          <a:p>
            <a:pPr lvl="0" rtl="0">
              <a:spcBef>
                <a:spcPts val="0"/>
              </a:spcBef>
              <a:buNone/>
            </a:pPr>
            <a:endParaRPr sz="1800"/>
          </a:p>
          <a:p>
            <a:pPr lvl="0" rtl="0">
              <a:spcBef>
                <a:spcPts val="0"/>
              </a:spcBef>
              <a:buNone/>
            </a:pPr>
            <a:r>
              <a:rPr lang="en" sz="1800"/>
              <a:t>Standard momentum steps</a:t>
            </a:r>
          </a:p>
        </p:txBody>
      </p:sp>
    </p:spTree>
    <p:extLst>
      <p:ext uri="{BB962C8B-B14F-4D97-AF65-F5344CB8AC3E}">
        <p14:creationId xmlns:p14="http://schemas.microsoft.com/office/powerpoint/2010/main" val="18240624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AdaGrad</a:t>
            </a:r>
            <a:endParaRPr lang="en-US" dirty="0"/>
          </a:p>
        </p:txBody>
      </p:sp>
      <p:sp>
        <p:nvSpPr>
          <p:cNvPr id="3" name="Content Placeholder 2"/>
          <p:cNvSpPr>
            <a:spLocks noGrp="1"/>
          </p:cNvSpPr>
          <p:nvPr>
            <p:ph idx="1"/>
          </p:nvPr>
        </p:nvSpPr>
        <p:spPr>
          <a:xfrm>
            <a:off x="1593436" y="1600200"/>
            <a:ext cx="9782801" cy="2362200"/>
          </a:xfrm>
        </p:spPr>
        <p:txBody>
          <a:bodyPr/>
          <a:lstStyle/>
          <a:p>
            <a:r>
              <a:rPr lang="en-US" dirty="0" smtClean="0"/>
              <a:t>Idea: scale each weight’s updates separately</a:t>
            </a:r>
          </a:p>
          <a:p>
            <a:r>
              <a:rPr lang="en-US" dirty="0" smtClean="0"/>
              <a:t>Update frequently-updated weights less</a:t>
            </a:r>
          </a:p>
          <a:p>
            <a:r>
              <a:rPr lang="en-US" dirty="0" smtClean="0"/>
              <a:t>Keep running tally of previous updates</a:t>
            </a:r>
          </a:p>
          <a:p>
            <a:r>
              <a:rPr lang="en-US" dirty="0" smtClean="0"/>
              <a:t>Divide new updates by factor of previous tally</a:t>
            </a:r>
          </a:p>
          <a:p>
            <a:endParaRPr lang="en-US" dirty="0"/>
          </a:p>
        </p:txBody>
      </p:sp>
      <mc:AlternateContent xmlns:mc="http://schemas.openxmlformats.org/markup-compatibility/2006">
        <mc:Choice xmlns:a14="http://schemas.microsoft.com/office/drawing/2010/main" Requires="a14">
          <p:sp>
            <p:nvSpPr>
              <p:cNvPr id="4" name="Content Placeholder 2"/>
              <p:cNvSpPr txBox="1">
                <a:spLocks/>
              </p:cNvSpPr>
              <p:nvPr/>
            </p:nvSpPr>
            <p:spPr>
              <a:xfrm>
                <a:off x="1522412" y="5410200"/>
                <a:ext cx="9782801" cy="1051932"/>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a:buFont typeface="Arial"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𝐺</m:t>
                        </m:r>
                      </m:e>
                      <m:sub>
                        <m:r>
                          <a:rPr lang="en-US" b="0" i="1" smtClean="0">
                            <a:latin typeface="Cambria Math" charset="0"/>
                          </a:rPr>
                          <m:t>𝑡</m:t>
                        </m:r>
                      </m:sub>
                    </m:sSub>
                  </m:oMath>
                </a14:m>
                <a:r>
                  <a:rPr lang="en-US" dirty="0" smtClean="0"/>
                  <a:t> - Accumulated sum of squares for each individual </a:t>
                </a:r>
                <a14:m>
                  <m:oMath xmlns:m="http://schemas.openxmlformats.org/officeDocument/2006/math">
                    <m:r>
                      <m:rPr>
                        <m:sty m:val="p"/>
                      </m:rPr>
                      <a:rPr lang="el-GR" i="1">
                        <a:latin typeface="Cambria Math" charset="0"/>
                        <a:ea typeface="Cambria Math" charset="0"/>
                        <a:cs typeface="Cambria Math" charset="0"/>
                      </a:rPr>
                      <m:t>Δ</m:t>
                    </m:r>
                    <m:r>
                      <a:rPr lang="en-US" b="0" i="1" smtClean="0">
                        <a:latin typeface="Cambria Math" charset="0"/>
                      </a:rPr>
                      <m:t>𝑊</m:t>
                    </m:r>
                  </m:oMath>
                </a14:m>
                <a:endParaRPr lang="en-US" dirty="0" smtClean="0"/>
              </a:p>
              <a:p>
                <a:pPr>
                  <a:buFont typeface="Arial" charset="0"/>
                  <a:buChar char="•"/>
                </a:pPr>
                <a:r>
                  <a:rPr lang="en-US" dirty="0" smtClean="0"/>
                  <a:t>Downside: eventually, all weights diminish to zero</a:t>
                </a:r>
                <a:endParaRPr lang="en-US" dirty="0"/>
              </a:p>
            </p:txBody>
          </p:sp>
        </mc:Choice>
        <mc:Fallback>
          <p:sp>
            <p:nvSpPr>
              <p:cNvPr id="4" name="Content Placeholder 2"/>
              <p:cNvSpPr txBox="1">
                <a:spLocks noRot="1" noChangeAspect="1" noMove="1" noResize="1" noEditPoints="1" noAdjustHandles="1" noChangeArrowheads="1" noChangeShapeType="1" noTextEdit="1"/>
              </p:cNvSpPr>
              <p:nvPr/>
            </p:nvSpPr>
            <p:spPr>
              <a:xfrm>
                <a:off x="1522412" y="5410200"/>
                <a:ext cx="9782801" cy="1051932"/>
              </a:xfrm>
              <a:prstGeom prst="rect">
                <a:avLst/>
              </a:prstGeom>
              <a:blipFill rotWithShape="0">
                <a:blip r:embed="rId3"/>
                <a:stretch>
                  <a:fillRect l="-1121" t="-10465" b="-145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665412" y="3990278"/>
                <a:ext cx="5172763" cy="11810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charset="0"/>
                        </a:rPr>
                        <m:t>𝑊</m:t>
                      </m:r>
                      <m:r>
                        <a:rPr lang="en-US" sz="3600" b="0" i="1" smtClean="0">
                          <a:latin typeface="Cambria Math" charset="0"/>
                        </a:rPr>
                        <m:t>≔</m:t>
                      </m:r>
                      <m:r>
                        <a:rPr lang="en-US" sz="3600" b="0" i="1" smtClean="0">
                          <a:latin typeface="Cambria Math" charset="0"/>
                        </a:rPr>
                        <m:t>𝑊</m:t>
                      </m:r>
                      <m:r>
                        <a:rPr lang="en-US" sz="3600" b="0" i="1" smtClean="0">
                          <a:latin typeface="Cambria Math" charset="0"/>
                        </a:rPr>
                        <m:t>−</m:t>
                      </m:r>
                      <m:f>
                        <m:fPr>
                          <m:ctrlPr>
                            <a:rPr lang="mr-IN" sz="3600" b="0" i="1" smtClean="0">
                              <a:latin typeface="Cambria Math" panose="02040503050406030204" pitchFamily="18" charset="0"/>
                            </a:rPr>
                          </m:ctrlPr>
                        </m:fPr>
                        <m:num>
                          <m:r>
                            <a:rPr lang="en-US" sz="3600" b="0" i="1" smtClean="0">
                              <a:latin typeface="Cambria Math" charset="0"/>
                            </a:rPr>
                            <m:t>𝜂</m:t>
                          </m:r>
                        </m:num>
                        <m:den>
                          <m:rad>
                            <m:radPr>
                              <m:degHide m:val="on"/>
                              <m:ctrlPr>
                                <a:rPr lang="mr-IN" sz="3600" b="0" i="1" smtClean="0">
                                  <a:latin typeface="Cambria Math" panose="02040503050406030204" pitchFamily="18" charset="0"/>
                                </a:rPr>
                              </m:ctrlPr>
                            </m:radPr>
                            <m:deg/>
                            <m:e>
                              <m:sSub>
                                <m:sSubPr>
                                  <m:ctrlPr>
                                    <a:rPr lang="en-US" sz="3600" b="0" i="1" smtClean="0">
                                      <a:latin typeface="Cambria Math" panose="02040503050406030204" pitchFamily="18" charset="0"/>
                                    </a:rPr>
                                  </m:ctrlPr>
                                </m:sSubPr>
                                <m:e>
                                  <m:r>
                                    <a:rPr lang="en-US" sz="3600" b="0" i="1" smtClean="0">
                                      <a:latin typeface="Cambria Math" charset="0"/>
                                    </a:rPr>
                                    <m:t>𝐺</m:t>
                                  </m:r>
                                </m:e>
                                <m:sub>
                                  <m:r>
                                    <a:rPr lang="en-US" sz="3600" b="0" i="1" smtClean="0">
                                      <a:latin typeface="Cambria Math" charset="0"/>
                                    </a:rPr>
                                    <m:t>𝑡</m:t>
                                  </m:r>
                                </m:sub>
                              </m:sSub>
                            </m:e>
                          </m:rad>
                          <m:r>
                            <a:rPr lang="en-US" sz="3600" b="0" i="1" smtClean="0">
                              <a:latin typeface="Cambria Math" charset="0"/>
                            </a:rPr>
                            <m:t>+</m:t>
                          </m:r>
                          <m:r>
                            <a:rPr lang="en-US" sz="3600" b="0" i="1" smtClean="0">
                              <a:latin typeface="Cambria Math" charset="0"/>
                            </a:rPr>
                            <m:t>𝜖</m:t>
                          </m:r>
                        </m:den>
                      </m:f>
                      <m:r>
                        <a:rPr lang="mr-IN" sz="3600" b="0" i="1" smtClean="0">
                          <a:latin typeface="Cambria Math" charset="0"/>
                          <a:ea typeface="Cambria Math" charset="0"/>
                          <a:cs typeface="Cambria Math" charset="0"/>
                        </a:rPr>
                        <m:t>⨀</m:t>
                      </m:r>
                      <m:r>
                        <m:rPr>
                          <m:sty m:val="p"/>
                        </m:rPr>
                        <a:rPr lang="el-GR" sz="3600" i="1">
                          <a:latin typeface="Cambria Math" charset="0"/>
                          <a:ea typeface="Cambria Math" charset="0"/>
                          <a:cs typeface="Cambria Math" charset="0"/>
                        </a:rPr>
                        <m:t>Δ</m:t>
                      </m:r>
                      <m:r>
                        <a:rPr lang="en-US" sz="3600" i="1">
                          <a:latin typeface="Cambria Math" charset="0"/>
                          <a:ea typeface="Cambria Math" charset="0"/>
                          <a:cs typeface="Cambria Math" charset="0"/>
                        </a:rPr>
                        <m:t>𝑊</m:t>
                      </m:r>
                    </m:oMath>
                  </m:oMathPara>
                </a14:m>
                <a:endParaRPr lang="en-US" sz="3600" dirty="0"/>
              </a:p>
            </p:txBody>
          </p:sp>
        </mc:Choice>
        <mc:Fallback xmlns="">
          <p:sp>
            <p:nvSpPr>
              <p:cNvPr id="5" name="TextBox 4"/>
              <p:cNvSpPr txBox="1">
                <a:spLocks noRot="1" noChangeAspect="1" noMove="1" noResize="1" noEditPoints="1" noAdjustHandles="1" noChangeArrowheads="1" noChangeShapeType="1" noTextEdit="1"/>
              </p:cNvSpPr>
              <p:nvPr/>
            </p:nvSpPr>
            <p:spPr>
              <a:xfrm>
                <a:off x="2665412" y="3990278"/>
                <a:ext cx="5172763" cy="1181093"/>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884185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AdaDelta</a:t>
            </a:r>
            <a:r>
              <a:rPr lang="en-US" dirty="0" smtClean="0"/>
              <a:t> and </a:t>
            </a:r>
            <a:r>
              <a:rPr lang="en-US" dirty="0" err="1" smtClean="0"/>
              <a:t>RMSProp</a:t>
            </a:r>
            <a:endParaRPr lang="en-US" dirty="0"/>
          </a:p>
        </p:txBody>
      </p:sp>
      <p:sp>
        <p:nvSpPr>
          <p:cNvPr id="3" name="Content Placeholder 2"/>
          <p:cNvSpPr>
            <a:spLocks noGrp="1"/>
          </p:cNvSpPr>
          <p:nvPr>
            <p:ph idx="1"/>
          </p:nvPr>
        </p:nvSpPr>
        <p:spPr>
          <a:xfrm>
            <a:off x="1370012" y="1600200"/>
            <a:ext cx="10363200" cy="5105400"/>
          </a:xfrm>
        </p:spPr>
        <p:txBody>
          <a:bodyPr/>
          <a:lstStyle/>
          <a:p>
            <a:r>
              <a:rPr lang="en-US" dirty="0" smtClean="0"/>
              <a:t>Variation on </a:t>
            </a:r>
            <a:r>
              <a:rPr lang="en-US" dirty="0" err="1" smtClean="0"/>
              <a:t>AdaGrad</a:t>
            </a:r>
            <a:r>
              <a:rPr lang="en-US" dirty="0" smtClean="0"/>
              <a:t>- seeks to reduce diminishing gradients</a:t>
            </a:r>
          </a:p>
          <a:p>
            <a:pPr lvl="1"/>
            <a:r>
              <a:rPr lang="en-US" dirty="0" smtClean="0"/>
              <a:t>Developed separately, but very similar algorithms</a:t>
            </a:r>
          </a:p>
          <a:p>
            <a:r>
              <a:rPr lang="en-US" dirty="0" smtClean="0"/>
              <a:t>Basic idea: decay squared gradients (instead of full sum)</a:t>
            </a:r>
          </a:p>
          <a:p>
            <a:r>
              <a:rPr lang="en-US" dirty="0" err="1" smtClean="0"/>
              <a:t>RMSProp</a:t>
            </a:r>
            <a:r>
              <a:rPr lang="en-US" dirty="0" smtClean="0"/>
              <a:t> update:</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3623668" y="3876907"/>
                <a:ext cx="5722336" cy="2196755"/>
              </a:xfrm>
              <a:prstGeom prst="rect">
                <a:avLst/>
              </a:prstGeom>
              <a:noFill/>
            </p:spPr>
            <p:txBody>
              <a:bodyPr wrap="none" lIns="0" tIns="0" rIns="0" bIns="0" rtlCol="0">
                <a:spAutoFit/>
              </a:bodyPr>
              <a:lstStyle/>
              <a:p>
                <a:pPr>
                  <a:spcAft>
                    <a:spcPts val="1800"/>
                  </a:spcAft>
                </a:pPr>
                <a14:m>
                  <m:oMathPara xmlns:m="http://schemas.openxmlformats.org/officeDocument/2006/math">
                    <m:oMathParaPr>
                      <m:jc m:val="left"/>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charset="0"/>
                            </a:rPr>
                            <m:t>𝐺</m:t>
                          </m:r>
                        </m:e>
                        <m:sub>
                          <m:r>
                            <a:rPr lang="en-US" sz="3600" b="0" i="1" smtClean="0">
                              <a:latin typeface="Cambria Math" charset="0"/>
                            </a:rPr>
                            <m:t>𝑡</m:t>
                          </m:r>
                        </m:sub>
                      </m:sSub>
                      <m:r>
                        <a:rPr lang="en-US" sz="3600" b="0" i="1" smtClean="0">
                          <a:latin typeface="Cambria Math" charset="0"/>
                        </a:rPr>
                        <m:t>=</m:t>
                      </m:r>
                      <m:r>
                        <a:rPr lang="en-US" sz="3600" b="0" i="1" smtClean="0">
                          <a:latin typeface="Cambria Math" charset="0"/>
                          <a:ea typeface="Cambria Math" charset="0"/>
                          <a:cs typeface="Cambria Math" charset="0"/>
                        </a:rPr>
                        <m:t>𝛾</m:t>
                      </m:r>
                      <m:r>
                        <a:rPr lang="en-US" sz="3600" b="0" i="1" smtClean="0">
                          <a:latin typeface="Cambria Math" charset="0"/>
                          <a:ea typeface="Cambria Math" charset="0"/>
                          <a:cs typeface="Cambria Math" charset="0"/>
                        </a:rPr>
                        <m:t>⋅</m:t>
                      </m:r>
                      <m:sSub>
                        <m:sSubPr>
                          <m:ctrlPr>
                            <a:rPr lang="en-US" sz="3600" b="0" i="1" smtClean="0">
                              <a:latin typeface="Cambria Math" panose="02040503050406030204" pitchFamily="18" charset="0"/>
                              <a:ea typeface="Cambria Math" charset="0"/>
                              <a:cs typeface="Cambria Math" charset="0"/>
                            </a:rPr>
                          </m:ctrlPr>
                        </m:sSubPr>
                        <m:e>
                          <m:r>
                            <a:rPr lang="en-US" sz="3600" b="0" i="1" smtClean="0">
                              <a:latin typeface="Cambria Math" charset="0"/>
                              <a:ea typeface="Cambria Math" charset="0"/>
                              <a:cs typeface="Cambria Math" charset="0"/>
                            </a:rPr>
                            <m:t>𝐺</m:t>
                          </m:r>
                        </m:e>
                        <m:sub>
                          <m:r>
                            <a:rPr lang="en-US" sz="3600" b="0" i="1" smtClean="0">
                              <a:latin typeface="Cambria Math" charset="0"/>
                              <a:ea typeface="Cambria Math" charset="0"/>
                              <a:cs typeface="Cambria Math" charset="0"/>
                            </a:rPr>
                            <m:t>𝑡</m:t>
                          </m:r>
                          <m:r>
                            <a:rPr lang="en-US" sz="3600" b="0" i="1" smtClean="0">
                              <a:latin typeface="Cambria Math" charset="0"/>
                              <a:ea typeface="Cambria Math" charset="0"/>
                              <a:cs typeface="Cambria Math" charset="0"/>
                            </a:rPr>
                            <m:t>−1</m:t>
                          </m:r>
                        </m:sub>
                      </m:sSub>
                      <m:r>
                        <a:rPr lang="en-US" sz="3600" b="0" i="1" smtClean="0">
                          <a:latin typeface="Cambria Math" charset="0"/>
                          <a:ea typeface="Cambria Math" charset="0"/>
                          <a:cs typeface="Cambria Math" charset="0"/>
                        </a:rPr>
                        <m:t>+</m:t>
                      </m:r>
                      <m:d>
                        <m:dPr>
                          <m:ctrlPr>
                            <a:rPr lang="en-US" sz="3600" b="0" i="1" smtClean="0">
                              <a:latin typeface="Cambria Math" panose="02040503050406030204" pitchFamily="18" charset="0"/>
                              <a:ea typeface="Cambria Math" charset="0"/>
                              <a:cs typeface="Cambria Math" charset="0"/>
                            </a:rPr>
                          </m:ctrlPr>
                        </m:dPr>
                        <m:e>
                          <m:r>
                            <a:rPr lang="en-US" sz="3600" b="0" i="1" smtClean="0">
                              <a:latin typeface="Cambria Math" charset="0"/>
                              <a:ea typeface="Cambria Math" charset="0"/>
                              <a:cs typeface="Cambria Math" charset="0"/>
                            </a:rPr>
                            <m:t>1−</m:t>
                          </m:r>
                          <m:r>
                            <a:rPr lang="en-US" sz="3600" b="0" i="1" smtClean="0">
                              <a:latin typeface="Cambria Math" charset="0"/>
                              <a:ea typeface="Cambria Math" charset="0"/>
                              <a:cs typeface="Cambria Math" charset="0"/>
                            </a:rPr>
                            <m:t>𝛾</m:t>
                          </m:r>
                        </m:e>
                      </m:d>
                      <m:r>
                        <a:rPr lang="en-US" sz="3600" b="0" i="1" smtClean="0">
                          <a:latin typeface="Cambria Math" charset="0"/>
                          <a:ea typeface="Cambria Math" charset="0"/>
                          <a:cs typeface="Cambria Math" charset="0"/>
                        </a:rPr>
                        <m:t>∆</m:t>
                      </m:r>
                      <m:sSup>
                        <m:sSupPr>
                          <m:ctrlPr>
                            <a:rPr lang="en-US" sz="3600" b="0" i="1" smtClean="0">
                              <a:latin typeface="Cambria Math" panose="02040503050406030204" pitchFamily="18" charset="0"/>
                              <a:ea typeface="Cambria Math" charset="0"/>
                              <a:cs typeface="Cambria Math" charset="0"/>
                            </a:rPr>
                          </m:ctrlPr>
                        </m:sSupPr>
                        <m:e>
                          <m:r>
                            <a:rPr lang="en-US" sz="3600" b="0" i="1" smtClean="0">
                              <a:latin typeface="Cambria Math" charset="0"/>
                              <a:ea typeface="Cambria Math" charset="0"/>
                              <a:cs typeface="Cambria Math" charset="0"/>
                            </a:rPr>
                            <m:t>𝑊</m:t>
                          </m:r>
                        </m:e>
                        <m:sup>
                          <m:r>
                            <a:rPr lang="en-US" sz="3600" b="0" i="1" smtClean="0">
                              <a:latin typeface="Cambria Math" charset="0"/>
                              <a:ea typeface="Cambria Math" charset="0"/>
                              <a:cs typeface="Cambria Math" charset="0"/>
                            </a:rPr>
                            <m:t>2</m:t>
                          </m:r>
                        </m:sup>
                      </m:sSup>
                    </m:oMath>
                  </m:oMathPara>
                </a14:m>
                <a:endParaRPr lang="en-US" sz="3600" b="0" dirty="0" smtClean="0">
                  <a:ea typeface="Cambria Math" charset="0"/>
                  <a:cs typeface="Cambria Math" charset="0"/>
                </a:endParaRPr>
              </a:p>
              <a:p>
                <a:pPr>
                  <a:spcAft>
                    <a:spcPts val="1800"/>
                  </a:spcAft>
                </a:pPr>
                <a14:m>
                  <m:oMathPara xmlns:m="http://schemas.openxmlformats.org/officeDocument/2006/math">
                    <m:oMathParaPr>
                      <m:jc m:val="left"/>
                    </m:oMathParaPr>
                    <m:oMath xmlns:m="http://schemas.openxmlformats.org/officeDocument/2006/math">
                      <m:r>
                        <a:rPr lang="en-US" sz="3600" b="0" i="1" smtClean="0">
                          <a:latin typeface="Cambria Math" charset="0"/>
                        </a:rPr>
                        <m:t>𝑊</m:t>
                      </m:r>
                      <m:r>
                        <a:rPr lang="en-US" sz="3600" b="0" i="1" smtClean="0">
                          <a:latin typeface="Cambria Math" charset="0"/>
                        </a:rPr>
                        <m:t>≔</m:t>
                      </m:r>
                      <m:r>
                        <a:rPr lang="en-US" sz="3600" b="0" i="1" smtClean="0">
                          <a:latin typeface="Cambria Math" charset="0"/>
                        </a:rPr>
                        <m:t>𝑊</m:t>
                      </m:r>
                      <m:r>
                        <a:rPr lang="en-US" sz="3600" b="0" i="1" smtClean="0">
                          <a:latin typeface="Cambria Math" charset="0"/>
                        </a:rPr>
                        <m:t>−</m:t>
                      </m:r>
                      <m:f>
                        <m:fPr>
                          <m:ctrlPr>
                            <a:rPr lang="mr-IN" sz="3600" i="1">
                              <a:latin typeface="Cambria Math" panose="02040503050406030204" pitchFamily="18" charset="0"/>
                            </a:rPr>
                          </m:ctrlPr>
                        </m:fPr>
                        <m:num>
                          <m:r>
                            <a:rPr lang="en-US" sz="3600" i="1">
                              <a:latin typeface="Cambria Math" charset="0"/>
                            </a:rPr>
                            <m:t>𝜂</m:t>
                          </m:r>
                        </m:num>
                        <m:den>
                          <m:rad>
                            <m:radPr>
                              <m:degHide m:val="on"/>
                              <m:ctrlPr>
                                <a:rPr lang="mr-IN" sz="3600" i="1">
                                  <a:latin typeface="Cambria Math" panose="02040503050406030204" pitchFamily="18" charset="0"/>
                                </a:rPr>
                              </m:ctrlPr>
                            </m:radPr>
                            <m:deg/>
                            <m:e>
                              <m:sSub>
                                <m:sSubPr>
                                  <m:ctrlPr>
                                    <a:rPr lang="en-US" sz="3600" i="1">
                                      <a:latin typeface="Cambria Math" panose="02040503050406030204" pitchFamily="18" charset="0"/>
                                    </a:rPr>
                                  </m:ctrlPr>
                                </m:sSubPr>
                                <m:e>
                                  <m:r>
                                    <a:rPr lang="en-US" sz="3600" i="1">
                                      <a:latin typeface="Cambria Math" charset="0"/>
                                    </a:rPr>
                                    <m:t>𝐺</m:t>
                                  </m:r>
                                </m:e>
                                <m:sub>
                                  <m:r>
                                    <a:rPr lang="en-US" sz="3600" i="1">
                                      <a:latin typeface="Cambria Math" charset="0"/>
                                    </a:rPr>
                                    <m:t>𝑡</m:t>
                                  </m:r>
                                </m:sub>
                              </m:sSub>
                            </m:e>
                          </m:rad>
                          <m:r>
                            <a:rPr lang="en-US" sz="3600" i="1">
                              <a:latin typeface="Cambria Math" charset="0"/>
                            </a:rPr>
                            <m:t>+</m:t>
                          </m:r>
                          <m:r>
                            <a:rPr lang="en-US" sz="3600" i="1">
                              <a:latin typeface="Cambria Math" charset="0"/>
                            </a:rPr>
                            <m:t>𝜖</m:t>
                          </m:r>
                        </m:den>
                      </m:f>
                      <m:r>
                        <a:rPr lang="mr-IN" sz="3600" i="1">
                          <a:latin typeface="Cambria Math" charset="0"/>
                          <a:ea typeface="Cambria Math" charset="0"/>
                          <a:cs typeface="Cambria Math" charset="0"/>
                        </a:rPr>
                        <m:t>⨀</m:t>
                      </m:r>
                      <m:r>
                        <m:rPr>
                          <m:sty m:val="p"/>
                        </m:rPr>
                        <a:rPr lang="el-GR" sz="3600" i="1">
                          <a:latin typeface="Cambria Math" charset="0"/>
                          <a:ea typeface="Cambria Math" charset="0"/>
                          <a:cs typeface="Cambria Math" charset="0"/>
                        </a:rPr>
                        <m:t>Δ</m:t>
                      </m:r>
                      <m:r>
                        <a:rPr lang="en-US" sz="3600" i="1">
                          <a:latin typeface="Cambria Math" charset="0"/>
                          <a:ea typeface="Cambria Math" charset="0"/>
                          <a:cs typeface="Cambria Math" charset="0"/>
                        </a:rPr>
                        <m:t>𝑊</m:t>
                      </m:r>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3623668" y="3876907"/>
                <a:ext cx="5722336" cy="2196755"/>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819643" y="6256225"/>
                <a:ext cx="9463937" cy="369332"/>
              </a:xfrm>
              <a:prstGeom prst="rect">
                <a:avLst/>
              </a:prstGeom>
            </p:spPr>
            <p:txBody>
              <a:bodyPr wrap="none">
                <a:spAutoFit/>
              </a:bodyPr>
              <a:lstStyle/>
              <a:p>
                <a:r>
                  <a:rPr lang="en-US" dirty="0" smtClean="0">
                    <a:solidFill>
                      <a:srgbClr val="FF0000"/>
                    </a:solidFill>
                  </a:rPr>
                  <a:t>Note: In </a:t>
                </a:r>
                <a:r>
                  <a:rPr lang="en-US" dirty="0" err="1" smtClean="0">
                    <a:solidFill>
                      <a:srgbClr val="FF0000"/>
                    </a:solidFill>
                  </a:rPr>
                  <a:t>AdaDelta</a:t>
                </a:r>
                <a:r>
                  <a:rPr lang="en-US" dirty="0" smtClean="0">
                    <a:solidFill>
                      <a:srgbClr val="FF0000"/>
                    </a:solidFill>
                  </a:rPr>
                  <a:t>, </a:t>
                </a:r>
                <a14:m>
                  <m:oMath xmlns:m="http://schemas.openxmlformats.org/officeDocument/2006/math">
                    <m:r>
                      <a:rPr lang="en-US" i="1">
                        <a:solidFill>
                          <a:srgbClr val="FF0000"/>
                        </a:solidFill>
                        <a:latin typeface="Cambria Math" charset="0"/>
                        <a:ea typeface="Cambria Math" charset="0"/>
                        <a:cs typeface="Cambria Math" charset="0"/>
                      </a:rPr>
                      <m:t>𝛾</m:t>
                    </m:r>
                  </m:oMath>
                </a14:m>
                <a:r>
                  <a:rPr lang="en-US" dirty="0" smtClean="0">
                    <a:solidFill>
                      <a:srgbClr val="FF0000"/>
                    </a:solidFill>
                  </a:rPr>
                  <a:t> (gamma/momentum) is </a:t>
                </a:r>
                <a14:m>
                  <m:oMath xmlns:m="http://schemas.openxmlformats.org/officeDocument/2006/math">
                    <m:r>
                      <a:rPr lang="en-US" b="0" i="1" smtClean="0">
                        <a:solidFill>
                          <a:srgbClr val="FF0000"/>
                        </a:solidFill>
                        <a:latin typeface="Cambria Math" charset="0"/>
                      </a:rPr>
                      <m:t>𝜌</m:t>
                    </m:r>
                  </m:oMath>
                </a14:m>
                <a:r>
                  <a:rPr lang="en-US" dirty="0" smtClean="0">
                    <a:solidFill>
                      <a:srgbClr val="FF0000"/>
                    </a:solidFill>
                  </a:rPr>
                  <a:t> (rho) as named parameter in </a:t>
                </a:r>
                <a:r>
                  <a:rPr lang="en-US" dirty="0" err="1" smtClean="0">
                    <a:solidFill>
                      <a:srgbClr val="FF0000"/>
                    </a:solidFill>
                  </a:rPr>
                  <a:t>TensorFlow</a:t>
                </a:r>
                <a:endParaRPr lang="en-US" dirty="0">
                  <a:solidFill>
                    <a:srgbClr val="FF000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1819643" y="6256225"/>
                <a:ext cx="9463937" cy="369332"/>
              </a:xfrm>
              <a:prstGeom prst="rect">
                <a:avLst/>
              </a:prstGeom>
              <a:blipFill rotWithShape="0">
                <a:blip r:embed="rId4"/>
                <a:stretch>
                  <a:fillRect l="-515" t="-9836" b="-22951"/>
                </a:stretch>
              </a:blipFill>
            </p:spPr>
            <p:txBody>
              <a:bodyPr/>
              <a:lstStyle/>
              <a:p>
                <a:r>
                  <a:rPr lang="en-US">
                    <a:noFill/>
                  </a:rPr>
                  <a:t> </a:t>
                </a:r>
              </a:p>
            </p:txBody>
          </p:sp>
        </mc:Fallback>
      </mc:AlternateContent>
    </p:spTree>
    <p:extLst>
      <p:ext uri="{BB962C8B-B14F-4D97-AF65-F5344CB8AC3E}">
        <p14:creationId xmlns:p14="http://schemas.microsoft.com/office/powerpoint/2010/main" val="4020953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Adam</a:t>
            </a:r>
            <a:endParaRPr lang="en-US" dirty="0"/>
          </a:p>
        </p:txBody>
      </p:sp>
      <p:sp>
        <p:nvSpPr>
          <p:cNvPr id="3" name="Content Placeholder 2"/>
          <p:cNvSpPr>
            <a:spLocks noGrp="1"/>
          </p:cNvSpPr>
          <p:nvPr>
            <p:ph idx="1"/>
          </p:nvPr>
        </p:nvSpPr>
        <p:spPr>
          <a:xfrm>
            <a:off x="1593436" y="1600200"/>
            <a:ext cx="9782801" cy="990600"/>
          </a:xfrm>
        </p:spPr>
        <p:txBody>
          <a:bodyPr/>
          <a:lstStyle/>
          <a:p>
            <a:r>
              <a:rPr lang="en-US" dirty="0" smtClean="0"/>
              <a:t>Idea: decaying tally </a:t>
            </a:r>
            <a:r>
              <a:rPr lang="en-US" smtClean="0"/>
              <a:t>of both sum squares and regular sum of weight updates:</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1584414" y="2773363"/>
                <a:ext cx="449719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𝑚</m:t>
                          </m:r>
                        </m:e>
                        <m:sub>
                          <m:r>
                            <a:rPr lang="en-US" sz="2800" b="0" i="1" smtClean="0">
                              <a:latin typeface="Cambria Math" charset="0"/>
                            </a:rPr>
                            <m:t>𝑡</m:t>
                          </m:r>
                        </m:sub>
                      </m:sSub>
                      <m:r>
                        <a:rPr lang="en-US" sz="2800" b="0" i="1" smtClean="0">
                          <a:latin typeface="Cambria Math" charset="0"/>
                        </a:rPr>
                        <m:t>=</m:t>
                      </m:r>
                      <m:sSub>
                        <m:sSubPr>
                          <m:ctrlPr>
                            <a:rPr lang="en-US" sz="2800" b="0" i="1" smtClean="0">
                              <a:latin typeface="Cambria Math" panose="02040503050406030204" pitchFamily="18" charset="0"/>
                            </a:rPr>
                          </m:ctrlPr>
                        </m:sSubPr>
                        <m:e>
                          <m:r>
                            <a:rPr lang="en-US" sz="2800" b="0" i="1" smtClean="0">
                              <a:latin typeface="Cambria Math" charset="0"/>
                            </a:rPr>
                            <m:t>𝛽</m:t>
                          </m:r>
                        </m:e>
                        <m:sub>
                          <m:r>
                            <a:rPr lang="en-US" sz="2800" b="0" i="1" smtClean="0">
                              <a:latin typeface="Cambria Math" charset="0"/>
                            </a:rPr>
                            <m:t>1</m:t>
                          </m:r>
                        </m:sub>
                      </m:sSub>
                      <m:sSub>
                        <m:sSubPr>
                          <m:ctrlPr>
                            <a:rPr lang="en-US" sz="2800" b="0" i="1" smtClean="0">
                              <a:latin typeface="Cambria Math" panose="02040503050406030204" pitchFamily="18" charset="0"/>
                            </a:rPr>
                          </m:ctrlPr>
                        </m:sSubPr>
                        <m:e>
                          <m:r>
                            <a:rPr lang="en-US" sz="2800" b="0" i="1" smtClean="0">
                              <a:latin typeface="Cambria Math" charset="0"/>
                            </a:rPr>
                            <m:t>𝑚</m:t>
                          </m:r>
                        </m:e>
                        <m:sub>
                          <m:r>
                            <a:rPr lang="en-US" sz="2800" b="0" i="1" smtClean="0">
                              <a:latin typeface="Cambria Math" charset="0"/>
                            </a:rPr>
                            <m:t>𝑡</m:t>
                          </m:r>
                          <m:r>
                            <a:rPr lang="en-US" sz="2800" b="0" i="1" smtClean="0">
                              <a:latin typeface="Cambria Math" charset="0"/>
                            </a:rPr>
                            <m:t>−1</m:t>
                          </m:r>
                        </m:sub>
                      </m:sSub>
                      <m:r>
                        <a:rPr lang="en-US" sz="2800" b="0" i="1" smtClean="0">
                          <a:latin typeface="Cambria Math" charset="0"/>
                        </a:rPr>
                        <m:t>+(1−</m:t>
                      </m:r>
                      <m:sSub>
                        <m:sSubPr>
                          <m:ctrlPr>
                            <a:rPr lang="en-US" sz="2800" b="0" i="1" smtClean="0">
                              <a:latin typeface="Cambria Math" panose="02040503050406030204" pitchFamily="18" charset="0"/>
                            </a:rPr>
                          </m:ctrlPr>
                        </m:sSubPr>
                        <m:e>
                          <m:r>
                            <a:rPr lang="en-US" sz="2800" b="0" i="1" smtClean="0">
                              <a:latin typeface="Cambria Math" charset="0"/>
                            </a:rPr>
                            <m:t>𝛽</m:t>
                          </m:r>
                        </m:e>
                        <m:sub>
                          <m:r>
                            <a:rPr lang="en-US" sz="2800" b="0" i="1" smtClean="0">
                              <a:latin typeface="Cambria Math" charset="0"/>
                            </a:rPr>
                            <m:t>1</m:t>
                          </m:r>
                        </m:sub>
                      </m:sSub>
                      <m:r>
                        <a:rPr lang="en-US" sz="2800" b="0" i="1" smtClean="0">
                          <a:latin typeface="Cambria Math" charset="0"/>
                        </a:rPr>
                        <m:t>)</m:t>
                      </m:r>
                      <m:r>
                        <a:rPr lang="en-US" sz="2800" b="0" i="1" smtClean="0">
                          <a:latin typeface="Cambria Math" charset="0"/>
                          <a:ea typeface="Cambria Math" charset="0"/>
                          <a:cs typeface="Cambria Math" charset="0"/>
                        </a:rPr>
                        <m:t>∆</m:t>
                      </m:r>
                      <m:r>
                        <a:rPr lang="en-US" sz="2800" b="0" i="1" smtClean="0">
                          <a:latin typeface="Cambria Math" charset="0"/>
                          <a:ea typeface="Cambria Math" charset="0"/>
                          <a:cs typeface="Cambria Math" charset="0"/>
                        </a:rPr>
                        <m:t>𝑊</m:t>
                      </m:r>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1584414" y="2773363"/>
                <a:ext cx="4497192" cy="43088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085012" y="2773363"/>
                <a:ext cx="447051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𝑣</m:t>
                          </m:r>
                        </m:e>
                        <m:sub>
                          <m:r>
                            <a:rPr lang="en-US" sz="2800" b="0" i="1" smtClean="0">
                              <a:latin typeface="Cambria Math" charset="0"/>
                            </a:rPr>
                            <m:t>𝑡</m:t>
                          </m:r>
                        </m:sub>
                      </m:sSub>
                      <m:r>
                        <a:rPr lang="en-US" sz="2800" b="0" i="1" smtClean="0">
                          <a:latin typeface="Cambria Math" charset="0"/>
                        </a:rPr>
                        <m:t>=</m:t>
                      </m:r>
                      <m:sSub>
                        <m:sSubPr>
                          <m:ctrlPr>
                            <a:rPr lang="en-US" sz="2800" b="0" i="1" smtClean="0">
                              <a:latin typeface="Cambria Math" panose="02040503050406030204" pitchFamily="18" charset="0"/>
                            </a:rPr>
                          </m:ctrlPr>
                        </m:sSubPr>
                        <m:e>
                          <m:r>
                            <a:rPr lang="en-US" sz="2800" b="0" i="1" smtClean="0">
                              <a:latin typeface="Cambria Math" charset="0"/>
                            </a:rPr>
                            <m:t>𝛽</m:t>
                          </m:r>
                        </m:e>
                        <m:sub>
                          <m:r>
                            <a:rPr lang="en-US" sz="2800" b="0" i="1" smtClean="0">
                              <a:latin typeface="Cambria Math" charset="0"/>
                            </a:rPr>
                            <m:t>2</m:t>
                          </m:r>
                        </m:sub>
                      </m:sSub>
                      <m:sSub>
                        <m:sSubPr>
                          <m:ctrlPr>
                            <a:rPr lang="en-US" sz="2800" b="0" i="1" smtClean="0">
                              <a:latin typeface="Cambria Math" panose="02040503050406030204" pitchFamily="18" charset="0"/>
                            </a:rPr>
                          </m:ctrlPr>
                        </m:sSubPr>
                        <m:e>
                          <m:r>
                            <a:rPr lang="en-US" sz="2800" b="0" i="1" smtClean="0">
                              <a:latin typeface="Cambria Math" charset="0"/>
                            </a:rPr>
                            <m:t>𝑣</m:t>
                          </m:r>
                        </m:e>
                        <m:sub>
                          <m:r>
                            <a:rPr lang="en-US" sz="2800" b="0" i="1" smtClean="0">
                              <a:latin typeface="Cambria Math" charset="0"/>
                            </a:rPr>
                            <m:t>𝑡</m:t>
                          </m:r>
                          <m:r>
                            <a:rPr lang="en-US" sz="2800" b="0" i="1" smtClean="0">
                              <a:latin typeface="Cambria Math" charset="0"/>
                            </a:rPr>
                            <m:t>−1</m:t>
                          </m:r>
                        </m:sub>
                      </m:sSub>
                      <m:r>
                        <a:rPr lang="en-US" sz="2800" b="0" i="1" smtClean="0">
                          <a:latin typeface="Cambria Math" charset="0"/>
                        </a:rPr>
                        <m:t>+</m:t>
                      </m:r>
                      <m:d>
                        <m:dPr>
                          <m:ctrlPr>
                            <a:rPr lang="en-US" sz="2800" b="0" i="1" smtClean="0">
                              <a:latin typeface="Cambria Math" panose="02040503050406030204" pitchFamily="18" charset="0"/>
                            </a:rPr>
                          </m:ctrlPr>
                        </m:dPr>
                        <m:e>
                          <m:r>
                            <a:rPr lang="en-US" sz="2800" b="0" i="1" smtClean="0">
                              <a:latin typeface="Cambria Math" charset="0"/>
                            </a:rPr>
                            <m:t>1−</m:t>
                          </m:r>
                          <m:sSub>
                            <m:sSubPr>
                              <m:ctrlPr>
                                <a:rPr lang="en-US" sz="2800" b="0" i="1" smtClean="0">
                                  <a:latin typeface="Cambria Math" panose="02040503050406030204" pitchFamily="18" charset="0"/>
                                </a:rPr>
                              </m:ctrlPr>
                            </m:sSubPr>
                            <m:e>
                              <m:r>
                                <a:rPr lang="en-US" sz="2800" b="0" i="1" smtClean="0">
                                  <a:latin typeface="Cambria Math" charset="0"/>
                                </a:rPr>
                                <m:t>𝛽</m:t>
                              </m:r>
                            </m:e>
                            <m:sub>
                              <m:r>
                                <a:rPr lang="en-US" sz="2800" b="0" i="1" smtClean="0">
                                  <a:latin typeface="Cambria Math" charset="0"/>
                                </a:rPr>
                                <m:t>2</m:t>
                              </m:r>
                            </m:sub>
                          </m:sSub>
                        </m:e>
                      </m:d>
                      <m:r>
                        <a:rPr lang="en-US" sz="2800" b="0" i="1" smtClean="0">
                          <a:latin typeface="Cambria Math" charset="0"/>
                          <a:ea typeface="Cambria Math" charset="0"/>
                          <a:cs typeface="Cambria Math" charset="0"/>
                        </a:rPr>
                        <m:t>∆</m:t>
                      </m:r>
                      <m:sSup>
                        <m:sSupPr>
                          <m:ctrlPr>
                            <a:rPr lang="en-US" sz="2800" b="0" i="1" smtClean="0">
                              <a:latin typeface="Cambria Math" panose="02040503050406030204" pitchFamily="18" charset="0"/>
                              <a:ea typeface="Cambria Math" charset="0"/>
                              <a:cs typeface="Cambria Math" charset="0"/>
                            </a:rPr>
                          </m:ctrlPr>
                        </m:sSupPr>
                        <m:e>
                          <m:r>
                            <a:rPr lang="en-US" sz="2800" b="0" i="1" smtClean="0">
                              <a:latin typeface="Cambria Math" charset="0"/>
                              <a:ea typeface="Cambria Math" charset="0"/>
                              <a:cs typeface="Cambria Math" charset="0"/>
                            </a:rPr>
                            <m:t>𝑊</m:t>
                          </m:r>
                        </m:e>
                        <m:sup>
                          <m:r>
                            <a:rPr lang="en-US" sz="2800" b="0" i="1" smtClean="0">
                              <a:latin typeface="Cambria Math" charset="0"/>
                              <a:ea typeface="Cambria Math" charset="0"/>
                              <a:cs typeface="Cambria Math" charset="0"/>
                            </a:rPr>
                            <m:t>2</m:t>
                          </m:r>
                        </m:sup>
                      </m:sSup>
                    </m:oMath>
                  </m:oMathPara>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7085012" y="2773363"/>
                <a:ext cx="4470518" cy="43088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665412" y="3696834"/>
                <a:ext cx="2079352" cy="8391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charset="0"/>
                                </a:rPr>
                                <m:t>𝑚</m:t>
                              </m:r>
                            </m:e>
                          </m:acc>
                        </m:e>
                        <m:sub>
                          <m:r>
                            <a:rPr lang="en-US" sz="2800" b="0" i="1" smtClean="0">
                              <a:latin typeface="Cambria Math" charset="0"/>
                            </a:rPr>
                            <m:t>𝑡</m:t>
                          </m:r>
                        </m:sub>
                      </m:sSub>
                      <m:r>
                        <a:rPr lang="en-US" sz="2800" b="0" i="1" smtClean="0">
                          <a:latin typeface="Cambria Math" charset="0"/>
                        </a:rPr>
                        <m:t>=</m:t>
                      </m:r>
                      <m:f>
                        <m:fPr>
                          <m:ctrlPr>
                            <a:rPr lang="mr-IN"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charset="0"/>
                                </a:rPr>
                                <m:t>𝑚</m:t>
                              </m:r>
                            </m:e>
                            <m:sub>
                              <m:r>
                                <a:rPr lang="en-US" sz="2800" b="0" i="1" smtClean="0">
                                  <a:latin typeface="Cambria Math" charset="0"/>
                                </a:rPr>
                                <m:t>𝑡</m:t>
                              </m:r>
                            </m:sub>
                          </m:sSub>
                        </m:num>
                        <m:den>
                          <m:r>
                            <a:rPr lang="en-US" sz="2800" b="0" i="1" smtClean="0">
                              <a:latin typeface="Cambria Math" charset="0"/>
                            </a:rPr>
                            <m:t>1−</m:t>
                          </m:r>
                          <m:sSubSup>
                            <m:sSubSupPr>
                              <m:ctrlPr>
                                <a:rPr lang="en-US" sz="2800" b="0" i="1" smtClean="0">
                                  <a:latin typeface="Cambria Math" panose="02040503050406030204" pitchFamily="18" charset="0"/>
                                </a:rPr>
                              </m:ctrlPr>
                            </m:sSubSupPr>
                            <m:e>
                              <m:r>
                                <a:rPr lang="en-US" sz="2800" b="0" i="1" smtClean="0">
                                  <a:latin typeface="Cambria Math" charset="0"/>
                                </a:rPr>
                                <m:t>𝛽</m:t>
                              </m:r>
                            </m:e>
                            <m:sub>
                              <m:r>
                                <a:rPr lang="en-US" sz="2800" b="0" i="1" smtClean="0">
                                  <a:latin typeface="Cambria Math" charset="0"/>
                                </a:rPr>
                                <m:t>1</m:t>
                              </m:r>
                            </m:sub>
                            <m:sup>
                              <m:r>
                                <a:rPr lang="en-US" sz="2800" b="0" i="1" smtClean="0">
                                  <a:latin typeface="Cambria Math" charset="0"/>
                                </a:rPr>
                                <m:t>𝑡</m:t>
                              </m:r>
                            </m:sup>
                          </m:sSubSup>
                        </m:den>
                      </m:f>
                    </m:oMath>
                  </m:oMathPara>
                </a14:m>
                <a:endParaRPr lang="en-US"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2665412" y="3696834"/>
                <a:ext cx="2079352" cy="83914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8228012" y="3696834"/>
                <a:ext cx="1970026" cy="8397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charset="0"/>
                                </a:rPr>
                                <m:t>𝑣</m:t>
                              </m:r>
                            </m:e>
                          </m:acc>
                        </m:e>
                        <m:sub>
                          <m:r>
                            <a:rPr lang="en-US" sz="2800" b="0" i="1" smtClean="0">
                              <a:latin typeface="Cambria Math" charset="0"/>
                            </a:rPr>
                            <m:t>𝑡</m:t>
                          </m:r>
                        </m:sub>
                      </m:sSub>
                      <m:r>
                        <a:rPr lang="en-US" sz="2800" b="0" i="1" smtClean="0">
                          <a:latin typeface="Cambria Math" charset="0"/>
                        </a:rPr>
                        <m:t>=</m:t>
                      </m:r>
                      <m:f>
                        <m:fPr>
                          <m:ctrlPr>
                            <a:rPr lang="mr-IN"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charset="0"/>
                                </a:rPr>
                                <m:t>𝑣</m:t>
                              </m:r>
                            </m:e>
                            <m:sub>
                              <m:r>
                                <a:rPr lang="en-US" sz="2800" b="0" i="1" smtClean="0">
                                  <a:latin typeface="Cambria Math" charset="0"/>
                                </a:rPr>
                                <m:t>𝑡</m:t>
                              </m:r>
                            </m:sub>
                          </m:sSub>
                        </m:num>
                        <m:den>
                          <m:r>
                            <a:rPr lang="en-US" sz="2800" b="0" i="1" smtClean="0">
                              <a:latin typeface="Cambria Math" charset="0"/>
                            </a:rPr>
                            <m:t>1−</m:t>
                          </m:r>
                          <m:sSubSup>
                            <m:sSubSupPr>
                              <m:ctrlPr>
                                <a:rPr lang="en-US" sz="2800" b="0" i="1" smtClean="0">
                                  <a:latin typeface="Cambria Math" panose="02040503050406030204" pitchFamily="18" charset="0"/>
                                </a:rPr>
                              </m:ctrlPr>
                            </m:sSubSupPr>
                            <m:e>
                              <m:r>
                                <a:rPr lang="en-US" sz="2800" b="0" i="1" smtClean="0">
                                  <a:latin typeface="Cambria Math" charset="0"/>
                                </a:rPr>
                                <m:t>𝛽</m:t>
                              </m:r>
                            </m:e>
                            <m:sub>
                              <m:r>
                                <a:rPr lang="en-US" sz="2800" b="0" i="1" smtClean="0">
                                  <a:latin typeface="Cambria Math" charset="0"/>
                                </a:rPr>
                                <m:t>1</m:t>
                              </m:r>
                            </m:sub>
                            <m:sup>
                              <m:r>
                                <a:rPr lang="en-US" sz="2800" b="0" i="1" smtClean="0">
                                  <a:latin typeface="Cambria Math" charset="0"/>
                                </a:rPr>
                                <m:t>𝑡</m:t>
                              </m:r>
                            </m:sup>
                          </m:sSubSup>
                        </m:den>
                      </m:f>
                    </m:oMath>
                  </m:oMathPara>
                </a14:m>
                <a:endParaRPr lang="en-US"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8228012" y="3696834"/>
                <a:ext cx="1970026" cy="839782"/>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4189412" y="5029200"/>
                <a:ext cx="4601709" cy="1373196"/>
              </a:xfrm>
              <a:prstGeom prst="rect">
                <a:avLst/>
              </a:prstGeom>
            </p:spPr>
            <p:txBody>
              <a:bodyPr wrap="none">
                <a:spAutoFit/>
              </a:bodyPr>
              <a:lstStyle/>
              <a:p>
                <a:pPr>
                  <a:spcAft>
                    <a:spcPts val="1800"/>
                  </a:spcAft>
                </a:pPr>
                <a14:m>
                  <m:oMathPara xmlns:m="http://schemas.openxmlformats.org/officeDocument/2006/math">
                    <m:oMathParaPr>
                      <m:jc m:val="left"/>
                    </m:oMathParaPr>
                    <m:oMath xmlns:m="http://schemas.openxmlformats.org/officeDocument/2006/math">
                      <m:r>
                        <a:rPr lang="en-US" sz="3200" i="1" smtClean="0">
                          <a:latin typeface="Cambria Math" charset="0"/>
                        </a:rPr>
                        <m:t>𝑊</m:t>
                      </m:r>
                      <m:r>
                        <a:rPr lang="en-US" sz="3200" i="1" smtClean="0">
                          <a:latin typeface="Cambria Math" charset="0"/>
                        </a:rPr>
                        <m:t>≔</m:t>
                      </m:r>
                      <m:r>
                        <a:rPr lang="en-US" sz="3200" i="1" smtClean="0">
                          <a:latin typeface="Cambria Math" charset="0"/>
                        </a:rPr>
                        <m:t>𝑊</m:t>
                      </m:r>
                      <m:r>
                        <a:rPr lang="en-US" sz="3200" i="1" smtClean="0">
                          <a:latin typeface="Cambria Math" charset="0"/>
                        </a:rPr>
                        <m:t>−</m:t>
                      </m:r>
                      <m:f>
                        <m:fPr>
                          <m:ctrlPr>
                            <a:rPr lang="mr-IN" sz="3200" i="1">
                              <a:latin typeface="Cambria Math" panose="02040503050406030204" pitchFamily="18" charset="0"/>
                            </a:rPr>
                          </m:ctrlPr>
                        </m:fPr>
                        <m:num>
                          <m:r>
                            <a:rPr lang="en-US" sz="3200" i="1">
                              <a:latin typeface="Cambria Math" charset="0"/>
                            </a:rPr>
                            <m:t>𝜂</m:t>
                          </m:r>
                        </m:num>
                        <m:den>
                          <m:rad>
                            <m:radPr>
                              <m:degHide m:val="on"/>
                              <m:ctrlPr>
                                <a:rPr lang="mr-IN" sz="3200" i="1">
                                  <a:latin typeface="Cambria Math" panose="02040503050406030204" pitchFamily="18" charset="0"/>
                                </a:rPr>
                              </m:ctrlPr>
                            </m:radPr>
                            <m:deg/>
                            <m:e>
                              <m:sSub>
                                <m:sSubPr>
                                  <m:ctrlPr>
                                    <a:rPr lang="en-US" sz="3200" b="0" i="1" smtClean="0">
                                      <a:latin typeface="Cambria Math" panose="02040503050406030204" pitchFamily="18" charset="0"/>
                                    </a:rPr>
                                  </m:ctrlPr>
                                </m:sSubPr>
                                <m:e>
                                  <m:acc>
                                    <m:accPr>
                                      <m:chr m:val="̂"/>
                                      <m:ctrlPr>
                                        <a:rPr lang="mr-IN" sz="3200" i="1" smtClean="0">
                                          <a:latin typeface="Cambria Math" panose="02040503050406030204" pitchFamily="18" charset="0"/>
                                        </a:rPr>
                                      </m:ctrlPr>
                                    </m:accPr>
                                    <m:e>
                                      <m:r>
                                        <a:rPr lang="en-US" sz="3200" b="0" i="1" smtClean="0">
                                          <a:latin typeface="Cambria Math" charset="0"/>
                                        </a:rPr>
                                        <m:t>𝑣</m:t>
                                      </m:r>
                                    </m:e>
                                  </m:acc>
                                </m:e>
                                <m:sub>
                                  <m:r>
                                    <a:rPr lang="en-US" sz="3200" b="0" i="1" smtClean="0">
                                      <a:latin typeface="Cambria Math" charset="0"/>
                                    </a:rPr>
                                    <m:t>𝑡</m:t>
                                  </m:r>
                                </m:sub>
                              </m:sSub>
                            </m:e>
                          </m:rad>
                          <m:r>
                            <a:rPr lang="en-US" sz="3200" i="1">
                              <a:latin typeface="Cambria Math" charset="0"/>
                            </a:rPr>
                            <m:t>+</m:t>
                          </m:r>
                          <m:r>
                            <a:rPr lang="en-US" sz="3200" i="1">
                              <a:latin typeface="Cambria Math" charset="0"/>
                            </a:rPr>
                            <m:t>𝜖</m:t>
                          </m:r>
                        </m:den>
                      </m:f>
                      <m:r>
                        <a:rPr lang="mr-IN" sz="3200" i="1" smtClean="0">
                          <a:latin typeface="Cambria Math" charset="0"/>
                          <a:ea typeface="Cambria Math" charset="0"/>
                          <a:cs typeface="Cambria Math" charset="0"/>
                        </a:rPr>
                        <m:t>⨀</m:t>
                      </m:r>
                      <m:sSub>
                        <m:sSubPr>
                          <m:ctrlPr>
                            <a:rPr lang="en-US" sz="3200" b="0" i="1" smtClean="0">
                              <a:latin typeface="Cambria Math" panose="02040503050406030204" pitchFamily="18" charset="0"/>
                            </a:rPr>
                          </m:ctrlPr>
                        </m:sSubPr>
                        <m:e>
                          <m:acc>
                            <m:accPr>
                              <m:chr m:val="̂"/>
                              <m:ctrlPr>
                                <a:rPr lang="mr-IN" sz="3200" i="1" smtClean="0">
                                  <a:latin typeface="Cambria Math" panose="02040503050406030204" pitchFamily="18" charset="0"/>
                                  <a:ea typeface="Cambria Math" charset="0"/>
                                  <a:cs typeface="Cambria Math" charset="0"/>
                                </a:rPr>
                              </m:ctrlPr>
                            </m:accPr>
                            <m:e>
                              <m:r>
                                <a:rPr lang="en-US" sz="3200" b="0" i="1" smtClean="0">
                                  <a:latin typeface="Cambria Math" charset="0"/>
                                  <a:ea typeface="Cambria Math" charset="0"/>
                                  <a:cs typeface="Cambria Math" charset="0"/>
                                </a:rPr>
                                <m:t>𝑚</m:t>
                              </m:r>
                            </m:e>
                          </m:acc>
                        </m:e>
                        <m:sub>
                          <m:r>
                            <a:rPr lang="en-US" sz="3200" b="0" i="1" smtClean="0">
                              <a:latin typeface="Cambria Math" charset="0"/>
                            </a:rPr>
                            <m:t>𝑡</m:t>
                          </m:r>
                        </m:sub>
                      </m:sSub>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4189412" y="5029200"/>
                <a:ext cx="4601709" cy="1373196"/>
              </a:xfrm>
              <a:prstGeom prst="rect">
                <a:avLst/>
              </a:prstGeom>
              <a:blipFill rotWithShape="0">
                <a:blip r:embed="rId7"/>
                <a:stretch>
                  <a:fillRect/>
                </a:stretch>
              </a:blipFill>
            </p:spPr>
            <p:txBody>
              <a:bodyPr/>
              <a:lstStyle/>
              <a:p>
                <a:r>
                  <a:rPr lang="en-US">
                    <a:noFill/>
                  </a:rPr>
                  <a:t> </a:t>
                </a:r>
              </a:p>
            </p:txBody>
          </p:sp>
        </mc:Fallback>
      </mc:AlternateContent>
      <p:cxnSp>
        <p:nvCxnSpPr>
          <p:cNvPr id="12" name="Straight Arrow Connector 11"/>
          <p:cNvCxnSpPr/>
          <p:nvPr/>
        </p:nvCxnSpPr>
        <p:spPr>
          <a:xfrm>
            <a:off x="3833010" y="3297045"/>
            <a:ext cx="0" cy="3440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9447212" y="3297045"/>
            <a:ext cx="0" cy="3440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744764" y="4685166"/>
            <a:ext cx="206648" cy="2678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8304212" y="4685166"/>
            <a:ext cx="228600" cy="2678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33973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Good news!</a:t>
            </a:r>
            <a:endParaRPr lang="en-US" dirty="0"/>
          </a:p>
        </p:txBody>
      </p:sp>
      <p:sp>
        <p:nvSpPr>
          <p:cNvPr id="3" name="Content Placeholder 2"/>
          <p:cNvSpPr>
            <a:spLocks noGrp="1"/>
          </p:cNvSpPr>
          <p:nvPr>
            <p:ph idx="1"/>
          </p:nvPr>
        </p:nvSpPr>
        <p:spPr>
          <a:xfrm>
            <a:off x="1593436" y="1600200"/>
            <a:ext cx="10063576" cy="5029200"/>
          </a:xfrm>
        </p:spPr>
        <p:txBody>
          <a:bodyPr/>
          <a:lstStyle/>
          <a:p>
            <a:r>
              <a:rPr lang="en-US" dirty="0" err="1" smtClean="0"/>
              <a:t>TensorFlow</a:t>
            </a:r>
            <a:r>
              <a:rPr lang="en-US" dirty="0" smtClean="0"/>
              <a:t> has optimizers built in:</a:t>
            </a:r>
            <a:br>
              <a:rPr lang="en-US" dirty="0" smtClean="0"/>
            </a:br>
            <a:endParaRPr lang="en-US" dirty="0" smtClean="0"/>
          </a:p>
          <a:p>
            <a:r>
              <a:rPr lang="en-US" dirty="0" err="1" smtClean="0">
                <a:latin typeface="Consolas" charset="0"/>
                <a:ea typeface="Consolas" charset="0"/>
                <a:cs typeface="Consolas" charset="0"/>
              </a:rPr>
              <a:t>tf.train.MomentumOptimizer</a:t>
            </a:r>
            <a:r>
              <a:rPr lang="en-US" dirty="0" smtClean="0">
                <a:latin typeface="Consolas" charset="0"/>
                <a:ea typeface="Consolas" charset="0"/>
                <a:cs typeface="Consolas" charset="0"/>
              </a:rPr>
              <a:t>()</a:t>
            </a:r>
          </a:p>
          <a:p>
            <a:r>
              <a:rPr lang="en-US" dirty="0" err="1" smtClean="0">
                <a:latin typeface="Consolas" charset="0"/>
                <a:ea typeface="Consolas" charset="0"/>
                <a:cs typeface="Consolas" charset="0"/>
              </a:rPr>
              <a:t>tf.train.MomentumOptimizer</a:t>
            </a:r>
            <a:r>
              <a:rPr lang="en-US" dirty="0" smtClean="0">
                <a:latin typeface="Consolas" charset="0"/>
                <a:ea typeface="Consolas" charset="0"/>
                <a:cs typeface="Consolas" charset="0"/>
              </a:rPr>
              <a:t>(</a:t>
            </a:r>
            <a:r>
              <a:rPr lang="mr-IN" dirty="0" smtClean="0">
                <a:latin typeface="Consolas" charset="0"/>
                <a:ea typeface="Consolas" charset="0"/>
                <a:cs typeface="Consolas" charset="0"/>
              </a:rPr>
              <a:t>…</a:t>
            </a: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use_nesterov</a:t>
            </a:r>
            <a:r>
              <a:rPr lang="en-US" dirty="0" smtClean="0">
                <a:latin typeface="Consolas" charset="0"/>
                <a:ea typeface="Consolas" charset="0"/>
                <a:cs typeface="Consolas" charset="0"/>
              </a:rPr>
              <a:t>=True)</a:t>
            </a:r>
          </a:p>
          <a:p>
            <a:r>
              <a:rPr lang="en-US" dirty="0" err="1" smtClean="0">
                <a:latin typeface="Consolas" charset="0"/>
                <a:ea typeface="Consolas" charset="0"/>
                <a:cs typeface="Consolas" charset="0"/>
              </a:rPr>
              <a:t>tf.train.AdagradOptimizer</a:t>
            </a:r>
            <a:r>
              <a:rPr lang="en-US" dirty="0" smtClean="0">
                <a:latin typeface="Consolas" charset="0"/>
                <a:ea typeface="Consolas" charset="0"/>
                <a:cs typeface="Consolas" charset="0"/>
              </a:rPr>
              <a:t>()</a:t>
            </a:r>
          </a:p>
          <a:p>
            <a:r>
              <a:rPr lang="en-US" dirty="0" err="1" smtClean="0">
                <a:latin typeface="Consolas" charset="0"/>
                <a:ea typeface="Consolas" charset="0"/>
                <a:cs typeface="Consolas" charset="0"/>
              </a:rPr>
              <a:t>tf.train.AdadeltaOptimizer</a:t>
            </a:r>
            <a:r>
              <a:rPr lang="en-US" dirty="0">
                <a:latin typeface="Consolas" charset="0"/>
                <a:ea typeface="Consolas" charset="0"/>
                <a:cs typeface="Consolas" charset="0"/>
              </a:rPr>
              <a:t>()</a:t>
            </a:r>
          </a:p>
          <a:p>
            <a:r>
              <a:rPr lang="en-US" dirty="0" err="1" smtClean="0">
                <a:latin typeface="Consolas" charset="0"/>
                <a:ea typeface="Consolas" charset="0"/>
                <a:cs typeface="Consolas" charset="0"/>
              </a:rPr>
              <a:t>tf.train.AdamOptimizer</a:t>
            </a:r>
            <a:r>
              <a:rPr lang="en-US" dirty="0">
                <a:latin typeface="Consolas" charset="0"/>
                <a:ea typeface="Consolas" charset="0"/>
                <a:cs typeface="Consolas" charset="0"/>
              </a:rPr>
              <a:t>()</a:t>
            </a:r>
          </a:p>
          <a:p>
            <a:endParaRPr lang="en-US" dirty="0" smtClean="0"/>
          </a:p>
          <a:p>
            <a:r>
              <a:rPr lang="en-US" dirty="0" smtClean="0">
                <a:hlinkClick r:id="rId2"/>
              </a:rPr>
              <a:t>Link to API documentation</a:t>
            </a:r>
            <a:endParaRPr lang="en-US" dirty="0"/>
          </a:p>
        </p:txBody>
      </p:sp>
    </p:spTree>
    <p:extLst>
      <p:ext uri="{BB962C8B-B14F-4D97-AF65-F5344CB8AC3E}">
        <p14:creationId xmlns:p14="http://schemas.microsoft.com/office/powerpoint/2010/main" val="2546039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Which to use?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Many papers use vanilla momentum, with </a:t>
                </a:r>
                <a14:m>
                  <m:oMath xmlns:m="http://schemas.openxmlformats.org/officeDocument/2006/math">
                    <m:r>
                      <a:rPr lang="en-US" b="0" i="1" smtClean="0">
                        <a:latin typeface="Cambria Math" charset="0"/>
                      </a:rPr>
                      <m:t>𝜂</m:t>
                    </m:r>
                  </m:oMath>
                </a14:m>
                <a:r>
                  <a:rPr lang="en-US" dirty="0" smtClean="0"/>
                  <a:t> around 0.9</a:t>
                </a:r>
              </a:p>
              <a:p>
                <a:r>
                  <a:rPr lang="en-US" dirty="0" err="1" smtClean="0"/>
                  <a:t>RMSProp</a:t>
                </a:r>
                <a:r>
                  <a:rPr lang="en-US" dirty="0" smtClean="0"/>
                  <a:t> is supposedly good for RNNs</a:t>
                </a:r>
              </a:p>
              <a:p>
                <a:r>
                  <a:rPr lang="en-US" dirty="0" smtClean="0"/>
                  <a:t>Adam is generally a very strong choice overall</a:t>
                </a:r>
              </a:p>
              <a:p>
                <a:endParaRPr lang="en-US" dirty="0"/>
              </a:p>
              <a:p>
                <a:r>
                  <a:rPr lang="en-US" dirty="0" smtClean="0">
                    <a:hlinkClick r:id="rId2"/>
                  </a:rPr>
                  <a:t>Great blog post on optimizers by Sebastian Ruder </a:t>
                </a:r>
                <a:endParaRPr lang="en-US" dirty="0" smtClean="0"/>
              </a:p>
              <a:p>
                <a:pPr lvl="1"/>
                <a:r>
                  <a:rPr lang="en-US" dirty="0" smtClean="0"/>
                  <a:t>Really great visualizations of learning</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1246" t="-2533"/>
                </a:stretch>
              </a:blipFill>
            </p:spPr>
            <p:txBody>
              <a:bodyPr/>
              <a:lstStyle/>
              <a:p>
                <a:r>
                  <a:rPr lang="en-US">
                    <a:noFill/>
                  </a:rPr>
                  <a:t> </a:t>
                </a:r>
              </a:p>
            </p:txBody>
          </p:sp>
        </mc:Fallback>
      </mc:AlternateContent>
    </p:spTree>
    <p:extLst>
      <p:ext uri="{BB962C8B-B14F-4D97-AF65-F5344CB8AC3E}">
        <p14:creationId xmlns:p14="http://schemas.microsoft.com/office/powerpoint/2010/main" val="13408939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IS_PPT Template_ClearPro_16x9_051915">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S_External_Template_ClearPro_16x9.potx [Read-Only]" id="{6AFB86A7-0267-4CB1-9FC3-652CFE2BAB26}" vid="{5D3D9D23-DC57-4FBF-B0A2-198F4179BAD5}"/>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20C675A-9AD3-40BB-AC57-0E9EFA3E4F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IS_External_Template_ClearPro_16x9</Template>
  <TotalTime>0</TotalTime>
  <Words>1423</Words>
  <Application>Microsoft Office PowerPoint</Application>
  <PresentationFormat>Custom</PresentationFormat>
  <Paragraphs>271</Paragraphs>
  <Slides>29</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Cambria Math</vt:lpstr>
      <vt:lpstr>Consolas</vt:lpstr>
      <vt:lpstr>Euphemia</vt:lpstr>
      <vt:lpstr>Intel Clear</vt:lpstr>
      <vt:lpstr>Intel Clear Light</vt:lpstr>
      <vt:lpstr>Intel Clear Pro</vt:lpstr>
      <vt:lpstr>Lucida Grande</vt:lpstr>
      <vt:lpstr>Neo Sans Intel</vt:lpstr>
      <vt:lpstr>Wingdings</vt:lpstr>
      <vt:lpstr>IS_PPT Template_ClearPro_16x9_051915</vt:lpstr>
      <vt:lpstr>AlexNet and Optimizers</vt:lpstr>
      <vt:lpstr>Legal Notices and Disclaimers</vt:lpstr>
      <vt:lpstr>AlexNet</vt:lpstr>
      <vt:lpstr>AlexNet</vt:lpstr>
      <vt:lpstr>Model diagram</vt:lpstr>
      <vt:lpstr>Model diagram</vt:lpstr>
      <vt:lpstr>Notes:</vt:lpstr>
      <vt:lpstr>AlexNet: main takeaways</vt:lpstr>
      <vt:lpstr>Saving and Loading Models</vt:lpstr>
      <vt:lpstr>Saving TensorFlow Models</vt:lpstr>
      <vt:lpstr>How TensorFlow stores data</vt:lpstr>
      <vt:lpstr>How TensorFlow stores data</vt:lpstr>
      <vt:lpstr>How TensorFlow stores data</vt:lpstr>
      <vt:lpstr>How TensorFlow stores data</vt:lpstr>
      <vt:lpstr>The Saver class</vt:lpstr>
      <vt:lpstr>The Saver class</vt:lpstr>
      <vt:lpstr>Saving multiple checkpoints over time</vt:lpstr>
      <vt:lpstr>Optimizer Alternatives</vt:lpstr>
      <vt:lpstr>Standard update rule for gradient descent</vt:lpstr>
      <vt:lpstr>Idea 1: Momentum</vt:lpstr>
      <vt:lpstr>Without Momentum</vt:lpstr>
      <vt:lpstr>With Momentum</vt:lpstr>
      <vt:lpstr>Nesterov Momentum</vt:lpstr>
      <vt:lpstr>Nesterov Momentum</vt:lpstr>
      <vt:lpstr>AdaGrad</vt:lpstr>
      <vt:lpstr>AdaDelta and RMSProp</vt:lpstr>
      <vt:lpstr>Adam</vt:lpstr>
      <vt:lpstr>Good news!</vt:lpstr>
      <vt:lpstr>Which to use?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CTPClassification=CTP_NT</cp:keywords>
  <cp:lastModifiedBy/>
  <cp:revision>1</cp:revision>
  <cp:lastPrinted>2017-03-14T01:43:16Z</cp:lastPrinted>
  <dcterms:created xsi:type="dcterms:W3CDTF">2017-02-08T03:57:32Z</dcterms:created>
  <dcterms:modified xsi:type="dcterms:W3CDTF">2018-01-26T01:18:09Z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TC027879479991</vt:lpwstr>
  </property>
  <property fmtid="{D5CDD505-2E9C-101B-9397-08002B2CF9AE}" pid="3" name="TitusGUID">
    <vt:lpwstr>3b727f68-6c78-4479-b7c4-b0adcce19afe</vt:lpwstr>
  </property>
  <property fmtid="{D5CDD505-2E9C-101B-9397-08002B2CF9AE}" pid="4" name="CTP_TimeStamp">
    <vt:lpwstr>2018-01-26 01:18:09Z</vt:lpwstr>
  </property>
  <property fmtid="{D5CDD505-2E9C-101B-9397-08002B2CF9AE}" pid="5" name="CTP_BU">
    <vt:lpwstr>NA</vt:lpwstr>
  </property>
  <property fmtid="{D5CDD505-2E9C-101B-9397-08002B2CF9AE}" pid="6" name="CTP_IDSID">
    <vt:lpwstr>NA</vt:lpwstr>
  </property>
  <property fmtid="{D5CDD505-2E9C-101B-9397-08002B2CF9AE}" pid="7" name="CTP_WWID">
    <vt:lpwstr>NA</vt:lpwstr>
  </property>
  <property fmtid="{D5CDD505-2E9C-101B-9397-08002B2CF9AE}" pid="8" name="CTPClassification">
    <vt:lpwstr>CTP_NT</vt:lpwstr>
  </property>
</Properties>
</file>
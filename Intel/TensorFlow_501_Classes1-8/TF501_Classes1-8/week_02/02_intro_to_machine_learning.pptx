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7.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12.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60" r:id="rId2"/>
  </p:sldMasterIdLst>
  <p:notesMasterIdLst>
    <p:notesMasterId r:id="rId72"/>
  </p:notesMasterIdLst>
  <p:handoutMasterIdLst>
    <p:handoutMasterId r:id="rId73"/>
  </p:handoutMasterIdLst>
  <p:sldIdLst>
    <p:sldId id="256" r:id="rId3"/>
    <p:sldId id="336" r:id="rId4"/>
    <p:sldId id="257" r:id="rId5"/>
    <p:sldId id="302" r:id="rId6"/>
    <p:sldId id="260" r:id="rId7"/>
    <p:sldId id="261" r:id="rId8"/>
    <p:sldId id="262" r:id="rId9"/>
    <p:sldId id="263" r:id="rId10"/>
    <p:sldId id="265" r:id="rId11"/>
    <p:sldId id="268" r:id="rId12"/>
    <p:sldId id="266" r:id="rId13"/>
    <p:sldId id="267" r:id="rId14"/>
    <p:sldId id="264" r:id="rId15"/>
    <p:sldId id="303" r:id="rId16"/>
    <p:sldId id="304" r:id="rId17"/>
    <p:sldId id="305" r:id="rId18"/>
    <p:sldId id="306" r:id="rId19"/>
    <p:sldId id="307" r:id="rId20"/>
    <p:sldId id="269" r:id="rId21"/>
    <p:sldId id="270" r:id="rId22"/>
    <p:sldId id="280" r:id="rId23"/>
    <p:sldId id="281" r:id="rId24"/>
    <p:sldId id="282" r:id="rId25"/>
    <p:sldId id="283" r:id="rId26"/>
    <p:sldId id="284" r:id="rId27"/>
    <p:sldId id="286" r:id="rId28"/>
    <p:sldId id="285" r:id="rId29"/>
    <p:sldId id="287" r:id="rId30"/>
    <p:sldId id="288" r:id="rId31"/>
    <p:sldId id="289" r:id="rId32"/>
    <p:sldId id="290" r:id="rId33"/>
    <p:sldId id="291" r:id="rId34"/>
    <p:sldId id="292" r:id="rId35"/>
    <p:sldId id="293" r:id="rId36"/>
    <p:sldId id="294" r:id="rId37"/>
    <p:sldId id="298" r:id="rId38"/>
    <p:sldId id="299" r:id="rId39"/>
    <p:sldId id="297" r:id="rId40"/>
    <p:sldId id="300" r:id="rId41"/>
    <p:sldId id="301" r:id="rId42"/>
    <p:sldId id="295" r:id="rId43"/>
    <p:sldId id="296" r:id="rId44"/>
    <p:sldId id="308" r:id="rId45"/>
    <p:sldId id="309" r:id="rId46"/>
    <p:sldId id="310" r:id="rId47"/>
    <p:sldId id="311" r:id="rId48"/>
    <p:sldId id="312" r:id="rId49"/>
    <p:sldId id="314" r:id="rId50"/>
    <p:sldId id="315" r:id="rId51"/>
    <p:sldId id="316" r:id="rId52"/>
    <p:sldId id="317" r:id="rId53"/>
    <p:sldId id="318" r:id="rId54"/>
    <p:sldId id="319" r:id="rId55"/>
    <p:sldId id="320" r:id="rId56"/>
    <p:sldId id="321" r:id="rId57"/>
    <p:sldId id="322" r:id="rId58"/>
    <p:sldId id="324" r:id="rId59"/>
    <p:sldId id="325" r:id="rId60"/>
    <p:sldId id="326" r:id="rId61"/>
    <p:sldId id="329" r:id="rId62"/>
    <p:sldId id="330" r:id="rId63"/>
    <p:sldId id="328" r:id="rId64"/>
    <p:sldId id="327" r:id="rId65"/>
    <p:sldId id="331" r:id="rId66"/>
    <p:sldId id="332" r:id="rId67"/>
    <p:sldId id="333" r:id="rId68"/>
    <p:sldId id="334" r:id="rId69"/>
    <p:sldId id="259" r:id="rId70"/>
    <p:sldId id="335" r:id="rId71"/>
  </p:sldIdLst>
  <p:sldSz cx="12188825"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EF34F5BA-00A0-864B-8734-6CD7755AD377}">
          <p14:sldIdLst>
            <p14:sldId id="256"/>
            <p14:sldId id="336"/>
            <p14:sldId id="257"/>
            <p14:sldId id="302"/>
            <p14:sldId id="260"/>
            <p14:sldId id="261"/>
            <p14:sldId id="262"/>
            <p14:sldId id="263"/>
            <p14:sldId id="265"/>
            <p14:sldId id="268"/>
            <p14:sldId id="266"/>
            <p14:sldId id="267"/>
            <p14:sldId id="264"/>
            <p14:sldId id="303"/>
            <p14:sldId id="304"/>
            <p14:sldId id="305"/>
            <p14:sldId id="306"/>
          </p14:sldIdLst>
        </p14:section>
        <p14:section name="Gradient Descent Visualization" id="{5B6C5DA7-F257-EA43-9D0E-88A836CF4112}">
          <p14:sldIdLst>
            <p14:sldId id="307"/>
            <p14:sldId id="269"/>
            <p14:sldId id="270"/>
            <p14:sldId id="280"/>
            <p14:sldId id="281"/>
            <p14:sldId id="282"/>
            <p14:sldId id="283"/>
            <p14:sldId id="284"/>
            <p14:sldId id="286"/>
            <p14:sldId id="285"/>
            <p14:sldId id="287"/>
            <p14:sldId id="288"/>
          </p14:sldIdLst>
        </p14:section>
        <p14:section name="Gradient Descent Math" id="{44C5338D-372D-8F49-BEEE-0E6BF1FFA0B8}">
          <p14:sldIdLst>
            <p14:sldId id="289"/>
            <p14:sldId id="290"/>
            <p14:sldId id="291"/>
            <p14:sldId id="292"/>
            <p14:sldId id="293"/>
            <p14:sldId id="294"/>
            <p14:sldId id="298"/>
            <p14:sldId id="299"/>
            <p14:sldId id="297"/>
            <p14:sldId id="300"/>
            <p14:sldId id="301"/>
            <p14:sldId id="295"/>
            <p14:sldId id="296"/>
          </p14:sldIdLst>
        </p14:section>
        <p14:section name="Automatic Differentiation" id="{96D03802-8EB2-2C45-852E-E180CDBB9C1B}">
          <p14:sldIdLst>
            <p14:sldId id="308"/>
            <p14:sldId id="309"/>
            <p14:sldId id="310"/>
            <p14:sldId id="311"/>
            <p14:sldId id="312"/>
            <p14:sldId id="314"/>
            <p14:sldId id="315"/>
            <p14:sldId id="316"/>
            <p14:sldId id="317"/>
            <p14:sldId id="318"/>
            <p14:sldId id="319"/>
            <p14:sldId id="320"/>
            <p14:sldId id="321"/>
            <p14:sldId id="322"/>
          </p14:sldIdLst>
        </p14:section>
        <p14:section name="Vectorization" id="{73FB21A4-6573-454D-8D53-C52B81165386}">
          <p14:sldIdLst>
            <p14:sldId id="324"/>
            <p14:sldId id="325"/>
            <p14:sldId id="326"/>
            <p14:sldId id="329"/>
            <p14:sldId id="330"/>
            <p14:sldId id="328"/>
            <p14:sldId id="327"/>
            <p14:sldId id="331"/>
          </p14:sldIdLst>
        </p14:section>
        <p14:section name="Odds and Ends" id="{3C13D8D8-903D-FB4A-B0F5-C5AB96AFAE9F}">
          <p14:sldIdLst>
            <p14:sldId id="332"/>
            <p14:sldId id="333"/>
            <p14:sldId id="334"/>
            <p14:sldId id="259"/>
            <p14:sldId id="335"/>
          </p14:sldIdLst>
        </p14:section>
      </p14:sectionLst>
    </p:ext>
    <p:ext uri="{EFAFB233-063F-42B5-8137-9DF3F51BA10A}">
      <p15:sldGuideLst xmlns:p15="http://schemas.microsoft.com/office/powerpoint/2012/main">
        <p15:guide id="1" orient="horz" pos="2160">
          <p15:clr>
            <a:srgbClr val="A4A3A4"/>
          </p15:clr>
        </p15:guide>
        <p15:guide id="5" pos="3839">
          <p15:clr>
            <a:srgbClr val="A4A3A4"/>
          </p15:clr>
        </p15:guide>
        <p15:guide id="6" pos="1007">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97709"/>
    <a:srgbClr val="5B7AE4"/>
    <a:srgbClr val="9BAFDE"/>
    <a:srgbClr val="415DE8"/>
    <a:srgbClr val="5C6B7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802" autoAdjust="0"/>
    <p:restoredTop sz="77250"/>
  </p:normalViewPr>
  <p:slideViewPr>
    <p:cSldViewPr showGuides="1">
      <p:cViewPr varScale="1">
        <p:scale>
          <a:sx n="99" d="100"/>
          <a:sy n="99" d="100"/>
        </p:scale>
        <p:origin x="1248" y="72"/>
      </p:cViewPr>
      <p:guideLst>
        <p:guide orient="horz" pos="2160"/>
        <p:guide pos="3839"/>
        <p:guide pos="1007"/>
      </p:guideLst>
    </p:cSldViewPr>
  </p:slideViewPr>
  <p:notesTextViewPr>
    <p:cViewPr>
      <p:scale>
        <a:sx n="1" d="1"/>
        <a:sy n="1" d="1"/>
      </p:scale>
      <p:origin x="0" y="0"/>
    </p:cViewPr>
  </p:notesTextViewPr>
  <p:notesViewPr>
    <p:cSldViewPr showGuides="1">
      <p:cViewPr varScale="1">
        <p:scale>
          <a:sx n="63" d="100"/>
          <a:sy n="63" d="100"/>
        </p:scale>
        <p:origin x="2838" y="10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slide" Target="slides/slide61.xml"/><Relationship Id="rId68" Type="http://schemas.openxmlformats.org/officeDocument/2006/relationships/slide" Target="slides/slide66.xml"/><Relationship Id="rId76" Type="http://schemas.openxmlformats.org/officeDocument/2006/relationships/theme" Target="theme/theme1.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1.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61" Type="http://schemas.openxmlformats.org/officeDocument/2006/relationships/slide" Target="slides/slide59.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handoutMaster" Target="handoutMasters/handout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tableStyles" Target="tableStyle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notesMaster" Target="notesMasters/notesMaster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4.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5.xml"/><Relationship Id="rId1" Type="http://schemas.microsoft.com/office/2011/relationships/chartStyle" Target="style5.xm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Sheet1!$B$1</c:f>
              <c:strCache>
                <c:ptCount val="1"/>
                <c:pt idx="0">
                  <c:v>Y-Value 1</c:v>
                </c:pt>
              </c:strCache>
            </c:strRef>
          </c:tx>
          <c:spPr>
            <a:ln w="25400" cap="rnd">
              <a:noFill/>
              <a:round/>
            </a:ln>
            <a:effectLst>
              <a:outerShdw blurRad="40000" dist="23000" dir="5400000" rotWithShape="0">
                <a:srgbClr val="000000">
                  <a:alpha val="35000"/>
                </a:srgbClr>
              </a:outerShdw>
            </a:effectLst>
          </c:spPr>
          <c:marker>
            <c:symbol val="circle"/>
            <c:size val="5"/>
            <c:spPr>
              <a:solidFill>
                <a:srgbClr val="00B050"/>
              </a:solidFill>
              <a:ln w="9525">
                <a:noFill/>
                <a:round/>
              </a:ln>
              <a:effectLst>
                <a:outerShdw blurRad="40000" dist="23000" dir="5400000" rotWithShape="0">
                  <a:srgbClr val="000000">
                    <a:alpha val="35000"/>
                  </a:srgbClr>
                </a:outerShdw>
              </a:effectLst>
            </c:spPr>
          </c:marker>
          <c:xVal>
            <c:numRef>
              <c:f>Sheet1!$A$2:$A$30</c:f>
              <c:numCache>
                <c:formatCode>General</c:formatCode>
                <c:ptCount val="29"/>
                <c:pt idx="0">
                  <c:v>1.2109203979898751</c:v>
                </c:pt>
                <c:pt idx="1">
                  <c:v>6.4569721515766032</c:v>
                </c:pt>
                <c:pt idx="2">
                  <c:v>13.16248743273615</c:v>
                </c:pt>
                <c:pt idx="3">
                  <c:v>15.302449311411079</c:v>
                </c:pt>
                <c:pt idx="4">
                  <c:v>0</c:v>
                </c:pt>
                <c:pt idx="5">
                  <c:v>1.5863109451745701</c:v>
                </c:pt>
                <c:pt idx="6">
                  <c:v>5.7481329811533701</c:v>
                </c:pt>
                <c:pt idx="7">
                  <c:v>0.77199206038636603</c:v>
                </c:pt>
                <c:pt idx="8">
                  <c:v>11.818190487004131</c:v>
                </c:pt>
                <c:pt idx="9">
                  <c:v>22.55815337188076</c:v>
                </c:pt>
                <c:pt idx="10">
                  <c:v>0</c:v>
                </c:pt>
                <c:pt idx="11">
                  <c:v>23.860828126840051</c:v>
                </c:pt>
                <c:pt idx="12">
                  <c:v>1.3932424185061001</c:v>
                </c:pt>
                <c:pt idx="13">
                  <c:v>10.335084694126939</c:v>
                </c:pt>
                <c:pt idx="14">
                  <c:v>3.0049080794774432</c:v>
                </c:pt>
                <c:pt idx="15">
                  <c:v>26.50665595840119</c:v>
                </c:pt>
                <c:pt idx="16">
                  <c:v>1.7946242138949751</c:v>
                </c:pt>
                <c:pt idx="17">
                  <c:v>14.19864903215</c:v>
                </c:pt>
                <c:pt idx="18">
                  <c:v>1.0127703451536281</c:v>
                </c:pt>
                <c:pt idx="19">
                  <c:v>21.55696967306239</c:v>
                </c:pt>
                <c:pt idx="20">
                  <c:v>2.4106715734308128</c:v>
                </c:pt>
                <c:pt idx="21">
                  <c:v>0.748996467035145</c:v>
                </c:pt>
                <c:pt idx="22">
                  <c:v>0.43014352444695098</c:v>
                </c:pt>
                <c:pt idx="23">
                  <c:v>5.5893016883373479</c:v>
                </c:pt>
                <c:pt idx="24">
                  <c:v>12.85684314406681</c:v>
                </c:pt>
                <c:pt idx="25">
                  <c:v>0.22190985015029999</c:v>
                </c:pt>
                <c:pt idx="26">
                  <c:v>6.6308581277125249</c:v>
                </c:pt>
                <c:pt idx="27">
                  <c:v>10.22266762505885</c:v>
                </c:pt>
                <c:pt idx="28">
                  <c:v>15.722770503673919</c:v>
                </c:pt>
              </c:numCache>
            </c:numRef>
          </c:xVal>
          <c:yVal>
            <c:numRef>
              <c:f>Sheet1!$B$2:$B$30</c:f>
              <c:numCache>
                <c:formatCode>General</c:formatCode>
                <c:ptCount val="29"/>
                <c:pt idx="0">
                  <c:v>3.839103123990637</c:v>
                </c:pt>
                <c:pt idx="1">
                  <c:v>8.9664322989884102</c:v>
                </c:pt>
                <c:pt idx="2">
                  <c:v>30.747022495456541</c:v>
                </c:pt>
                <c:pt idx="3">
                  <c:v>35.996727472084302</c:v>
                </c:pt>
                <c:pt idx="4">
                  <c:v>5.0285876926068056</c:v>
                </c:pt>
                <c:pt idx="5">
                  <c:v>0.66639807128579898</c:v>
                </c:pt>
                <c:pt idx="6">
                  <c:v>13.305527356215039</c:v>
                </c:pt>
                <c:pt idx="7">
                  <c:v>0.196055417007821</c:v>
                </c:pt>
                <c:pt idx="8">
                  <c:v>22.72788328170201</c:v>
                </c:pt>
                <c:pt idx="9">
                  <c:v>48.199031703900332</c:v>
                </c:pt>
                <c:pt idx="10">
                  <c:v>3.6207838241784458</c:v>
                </c:pt>
                <c:pt idx="11">
                  <c:v>49.324613228525273</c:v>
                </c:pt>
                <c:pt idx="12">
                  <c:v>2.6568225315100191</c:v>
                </c:pt>
                <c:pt idx="13">
                  <c:v>29.682045465332092</c:v>
                </c:pt>
                <c:pt idx="14">
                  <c:v>14.52606455903981</c:v>
                </c:pt>
                <c:pt idx="15">
                  <c:v>56.047536809711367</c:v>
                </c:pt>
                <c:pt idx="16">
                  <c:v>-0.22210078617883999</c:v>
                </c:pt>
                <c:pt idx="17">
                  <c:v>38.351781063511723</c:v>
                </c:pt>
                <c:pt idx="18">
                  <c:v>10.93417154951225</c:v>
                </c:pt>
                <c:pt idx="19">
                  <c:v>50.988314075117543</c:v>
                </c:pt>
                <c:pt idx="20">
                  <c:v>12.2369648690857</c:v>
                </c:pt>
                <c:pt idx="21">
                  <c:v>5.5266513020058081</c:v>
                </c:pt>
                <c:pt idx="22">
                  <c:v>-3.3521488170715701</c:v>
                </c:pt>
                <c:pt idx="23">
                  <c:v>9.6973831764677527</c:v>
                </c:pt>
                <c:pt idx="24">
                  <c:v>28.16191080878669</c:v>
                </c:pt>
                <c:pt idx="25">
                  <c:v>-1.745305544852316</c:v>
                </c:pt>
                <c:pt idx="26">
                  <c:v>10.039349315384481</c:v>
                </c:pt>
                <c:pt idx="27">
                  <c:v>20.715820447254959</c:v>
                </c:pt>
                <c:pt idx="28">
                  <c:v>36.211839333506482</c:v>
                </c:pt>
              </c:numCache>
            </c:numRef>
          </c:yVal>
          <c:smooth val="0"/>
        </c:ser>
        <c:dLbls>
          <c:showLegendKey val="0"/>
          <c:showVal val="0"/>
          <c:showCatName val="0"/>
          <c:showSerName val="0"/>
          <c:showPercent val="0"/>
          <c:showBubbleSize val="0"/>
        </c:dLbls>
        <c:axId val="480494048"/>
        <c:axId val="480494440"/>
      </c:scatterChart>
      <c:valAx>
        <c:axId val="480494048"/>
        <c:scaling>
          <c:orientation val="minMax"/>
        </c:scaling>
        <c:delete val="0"/>
        <c:axPos val="b"/>
        <c:majorGridlines>
          <c:spPr>
            <a:ln w="9525" cap="flat" cmpd="sng" algn="ctr">
              <a:solidFill>
                <a:schemeClr val="tx2">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2">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480494440"/>
        <c:crosses val="autoZero"/>
        <c:crossBetween val="midCat"/>
      </c:valAx>
      <c:valAx>
        <c:axId val="480494440"/>
        <c:scaling>
          <c:orientation val="minMax"/>
        </c:scaling>
        <c:delete val="0"/>
        <c:axPos val="l"/>
        <c:majorGridlines>
          <c:spPr>
            <a:ln w="9525" cap="flat" cmpd="sng" algn="ctr">
              <a:solidFill>
                <a:schemeClr val="tx2">
                  <a:lumMod val="15000"/>
                  <a:lumOff val="85000"/>
                </a:schemeClr>
              </a:solidFill>
              <a:round/>
            </a:ln>
            <a:effectLst/>
          </c:spPr>
        </c:majorGridlines>
        <c:numFmt formatCode="General" sourceLinked="0"/>
        <c:majorTickMark val="none"/>
        <c:minorTickMark val="none"/>
        <c:tickLblPos val="nextTo"/>
        <c:spPr>
          <a:noFill/>
          <a:ln>
            <a:solidFill>
              <a:schemeClr val="tx2">
                <a:lumMod val="40000"/>
                <a:lumOff val="60000"/>
              </a:schemeClr>
            </a:solidFill>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480494048"/>
        <c:crosses val="autoZero"/>
        <c:crossBetween val="midCat"/>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Sheet1!$B$1</c:f>
              <c:strCache>
                <c:ptCount val="1"/>
                <c:pt idx="0">
                  <c:v>Y-Value 1</c:v>
                </c:pt>
              </c:strCache>
            </c:strRef>
          </c:tx>
          <c:spPr>
            <a:ln w="25400" cap="rnd">
              <a:noFill/>
              <a:round/>
            </a:ln>
            <a:effectLst>
              <a:outerShdw blurRad="40000" dist="23000" dir="5400000" rotWithShape="0">
                <a:srgbClr val="000000">
                  <a:alpha val="35000"/>
                </a:srgbClr>
              </a:outerShdw>
            </a:effectLst>
          </c:spPr>
          <c:marker>
            <c:symbol val="circle"/>
            <c:size val="5"/>
            <c:spPr>
              <a:solidFill>
                <a:srgbClr val="00B050"/>
              </a:solidFill>
              <a:ln w="9525">
                <a:noFill/>
                <a:round/>
              </a:ln>
              <a:effectLst>
                <a:outerShdw blurRad="40000" dist="23000" dir="5400000" rotWithShape="0">
                  <a:srgbClr val="000000">
                    <a:alpha val="35000"/>
                  </a:srgbClr>
                </a:outerShdw>
              </a:effectLst>
            </c:spPr>
          </c:marker>
          <c:trendline>
            <c:spPr>
              <a:ln w="34925" cap="rnd">
                <a:solidFill>
                  <a:srgbClr val="FF0000"/>
                </a:solidFill>
              </a:ln>
              <a:effectLst/>
            </c:spPr>
            <c:trendlineType val="linear"/>
            <c:dispRSqr val="0"/>
            <c:dispEq val="0"/>
          </c:trendline>
          <c:xVal>
            <c:numRef>
              <c:f>Sheet1!$A$2:$A$30</c:f>
              <c:numCache>
                <c:formatCode>General</c:formatCode>
                <c:ptCount val="29"/>
                <c:pt idx="0">
                  <c:v>1.2109203979898751</c:v>
                </c:pt>
                <c:pt idx="1">
                  <c:v>6.4569721515766032</c:v>
                </c:pt>
                <c:pt idx="2">
                  <c:v>13.16248743273615</c:v>
                </c:pt>
                <c:pt idx="3">
                  <c:v>15.302449311411079</c:v>
                </c:pt>
                <c:pt idx="4">
                  <c:v>0</c:v>
                </c:pt>
                <c:pt idx="5">
                  <c:v>1.5863109451745701</c:v>
                </c:pt>
                <c:pt idx="6">
                  <c:v>5.7481329811533701</c:v>
                </c:pt>
                <c:pt idx="7">
                  <c:v>0.77199206038636603</c:v>
                </c:pt>
                <c:pt idx="8">
                  <c:v>11.818190487004131</c:v>
                </c:pt>
                <c:pt idx="9">
                  <c:v>22.55815337188076</c:v>
                </c:pt>
                <c:pt idx="10">
                  <c:v>0</c:v>
                </c:pt>
                <c:pt idx="11">
                  <c:v>23.860828126840051</c:v>
                </c:pt>
                <c:pt idx="12">
                  <c:v>1.3932424185061001</c:v>
                </c:pt>
                <c:pt idx="13">
                  <c:v>10.335084694126939</c:v>
                </c:pt>
                <c:pt idx="14">
                  <c:v>3.0049080794774432</c:v>
                </c:pt>
                <c:pt idx="15">
                  <c:v>26.50665595840119</c:v>
                </c:pt>
                <c:pt idx="16">
                  <c:v>1.7946242138949751</c:v>
                </c:pt>
                <c:pt idx="17">
                  <c:v>14.19864903215</c:v>
                </c:pt>
                <c:pt idx="18">
                  <c:v>1.0127703451536281</c:v>
                </c:pt>
                <c:pt idx="19">
                  <c:v>21.55696967306239</c:v>
                </c:pt>
                <c:pt idx="20">
                  <c:v>2.4106715734308128</c:v>
                </c:pt>
                <c:pt idx="21">
                  <c:v>0.748996467035145</c:v>
                </c:pt>
                <c:pt idx="22">
                  <c:v>0.43014352444695098</c:v>
                </c:pt>
                <c:pt idx="23">
                  <c:v>5.5893016883373479</c:v>
                </c:pt>
                <c:pt idx="24">
                  <c:v>12.85684314406681</c:v>
                </c:pt>
                <c:pt idx="25">
                  <c:v>0.22190985015029999</c:v>
                </c:pt>
                <c:pt idx="26">
                  <c:v>6.6308581277125249</c:v>
                </c:pt>
                <c:pt idx="27">
                  <c:v>10.22266762505885</c:v>
                </c:pt>
                <c:pt idx="28">
                  <c:v>15.722770503673919</c:v>
                </c:pt>
              </c:numCache>
            </c:numRef>
          </c:xVal>
          <c:yVal>
            <c:numRef>
              <c:f>Sheet1!$B$2:$B$30</c:f>
              <c:numCache>
                <c:formatCode>General</c:formatCode>
                <c:ptCount val="29"/>
                <c:pt idx="0">
                  <c:v>3.839103123990637</c:v>
                </c:pt>
                <c:pt idx="1">
                  <c:v>8.9664322989884102</c:v>
                </c:pt>
                <c:pt idx="2">
                  <c:v>30.747022495456541</c:v>
                </c:pt>
                <c:pt idx="3">
                  <c:v>35.996727472084302</c:v>
                </c:pt>
                <c:pt idx="4">
                  <c:v>5.0285876926068056</c:v>
                </c:pt>
                <c:pt idx="5">
                  <c:v>0.66639807128579898</c:v>
                </c:pt>
                <c:pt idx="6">
                  <c:v>13.305527356215039</c:v>
                </c:pt>
                <c:pt idx="7">
                  <c:v>0.196055417007821</c:v>
                </c:pt>
                <c:pt idx="8">
                  <c:v>22.72788328170201</c:v>
                </c:pt>
                <c:pt idx="9">
                  <c:v>48.199031703900332</c:v>
                </c:pt>
                <c:pt idx="10">
                  <c:v>3.6207838241784458</c:v>
                </c:pt>
                <c:pt idx="11">
                  <c:v>49.324613228525273</c:v>
                </c:pt>
                <c:pt idx="12">
                  <c:v>2.6568225315100191</c:v>
                </c:pt>
                <c:pt idx="13">
                  <c:v>29.682045465332092</c:v>
                </c:pt>
                <c:pt idx="14">
                  <c:v>14.52606455903981</c:v>
                </c:pt>
                <c:pt idx="15">
                  <c:v>56.047536809711367</c:v>
                </c:pt>
                <c:pt idx="16">
                  <c:v>-0.22210078617883999</c:v>
                </c:pt>
                <c:pt idx="17">
                  <c:v>38.351781063511687</c:v>
                </c:pt>
                <c:pt idx="18">
                  <c:v>10.93417154951225</c:v>
                </c:pt>
                <c:pt idx="19">
                  <c:v>50.988314075117543</c:v>
                </c:pt>
                <c:pt idx="20">
                  <c:v>12.2369648690857</c:v>
                </c:pt>
                <c:pt idx="21">
                  <c:v>5.5266513020058081</c:v>
                </c:pt>
                <c:pt idx="22">
                  <c:v>-3.3521488170715701</c:v>
                </c:pt>
                <c:pt idx="23">
                  <c:v>9.6973831764677527</c:v>
                </c:pt>
                <c:pt idx="24">
                  <c:v>28.16191080878669</c:v>
                </c:pt>
                <c:pt idx="25">
                  <c:v>-1.745305544852316</c:v>
                </c:pt>
                <c:pt idx="26">
                  <c:v>10.039349315384481</c:v>
                </c:pt>
                <c:pt idx="27">
                  <c:v>20.715820447254959</c:v>
                </c:pt>
                <c:pt idx="28">
                  <c:v>36.211839333506482</c:v>
                </c:pt>
              </c:numCache>
            </c:numRef>
          </c:yVal>
          <c:smooth val="0"/>
        </c:ser>
        <c:dLbls>
          <c:showLegendKey val="0"/>
          <c:showVal val="0"/>
          <c:showCatName val="0"/>
          <c:showSerName val="0"/>
          <c:showPercent val="0"/>
          <c:showBubbleSize val="0"/>
        </c:dLbls>
        <c:axId val="480489344"/>
        <c:axId val="480493264"/>
      </c:scatterChart>
      <c:valAx>
        <c:axId val="480489344"/>
        <c:scaling>
          <c:orientation val="minMax"/>
        </c:scaling>
        <c:delete val="0"/>
        <c:axPos val="b"/>
        <c:majorGridlines>
          <c:spPr>
            <a:ln w="9525" cap="flat" cmpd="sng" algn="ctr">
              <a:solidFill>
                <a:schemeClr val="tx2">
                  <a:lumMod val="15000"/>
                  <a:lumOff val="85000"/>
                </a:schemeClr>
              </a:solidFill>
              <a:round/>
            </a:ln>
            <a:effectLst/>
          </c:spPr>
        </c:majorGridlines>
        <c:numFmt formatCode="General" sourceLinked="0"/>
        <c:majorTickMark val="none"/>
        <c:minorTickMark val="none"/>
        <c:tickLblPos val="nextTo"/>
        <c:spPr>
          <a:noFill/>
          <a:ln>
            <a:solidFill>
              <a:schemeClr val="tx2">
                <a:lumMod val="40000"/>
                <a:lumOff val="60000"/>
              </a:schemeClr>
            </a:solidFill>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480493264"/>
        <c:crosses val="autoZero"/>
        <c:crossBetween val="midCat"/>
      </c:valAx>
      <c:valAx>
        <c:axId val="480493264"/>
        <c:scaling>
          <c:orientation val="minMax"/>
          <c:max val="60"/>
        </c:scaling>
        <c:delete val="0"/>
        <c:axPos val="l"/>
        <c:majorGridlines>
          <c:spPr>
            <a:ln w="9525" cap="flat" cmpd="sng" algn="ctr">
              <a:solidFill>
                <a:schemeClr val="tx2">
                  <a:lumMod val="15000"/>
                  <a:lumOff val="85000"/>
                </a:schemeClr>
              </a:solidFill>
              <a:round/>
            </a:ln>
            <a:effectLst/>
          </c:spPr>
        </c:majorGridlines>
        <c:numFmt formatCode="General" sourceLinked="0"/>
        <c:majorTickMark val="none"/>
        <c:minorTickMark val="none"/>
        <c:tickLblPos val="nextTo"/>
        <c:spPr>
          <a:noFill/>
          <a:ln>
            <a:solidFill>
              <a:schemeClr val="tx2">
                <a:lumMod val="40000"/>
                <a:lumOff val="60000"/>
              </a:schemeClr>
            </a:solidFill>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480489344"/>
        <c:crosses val="autoZero"/>
        <c:crossBetween val="midCat"/>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Sheet1!$B$1</c:f>
              <c:strCache>
                <c:ptCount val="1"/>
                <c:pt idx="0">
                  <c:v>Y-Value 1</c:v>
                </c:pt>
              </c:strCache>
            </c:strRef>
          </c:tx>
          <c:spPr>
            <a:ln w="25400" cap="rnd">
              <a:noFill/>
              <a:round/>
            </a:ln>
            <a:effectLst>
              <a:outerShdw blurRad="40000" dist="23000" dir="5400000" rotWithShape="0">
                <a:srgbClr val="000000">
                  <a:alpha val="35000"/>
                </a:srgbClr>
              </a:outerShdw>
            </a:effectLst>
          </c:spPr>
          <c:marker>
            <c:symbol val="circle"/>
            <c:size val="5"/>
            <c:spPr>
              <a:solidFill>
                <a:srgbClr val="00B050"/>
              </a:solidFill>
              <a:ln w="9525">
                <a:noFill/>
                <a:round/>
              </a:ln>
              <a:effectLst>
                <a:outerShdw blurRad="40000" dist="23000" dir="5400000" rotWithShape="0">
                  <a:srgbClr val="000000">
                    <a:alpha val="35000"/>
                  </a:srgbClr>
                </a:outerShdw>
              </a:effectLst>
            </c:spPr>
          </c:marker>
          <c:trendline>
            <c:spPr>
              <a:ln w="34925" cap="rnd">
                <a:solidFill>
                  <a:srgbClr val="FF0000"/>
                </a:solidFill>
              </a:ln>
              <a:effectLst/>
            </c:spPr>
            <c:trendlineType val="linear"/>
            <c:dispRSqr val="0"/>
            <c:dispEq val="0"/>
          </c:trendline>
          <c:xVal>
            <c:numRef>
              <c:f>Sheet1!$A$2:$A$30</c:f>
              <c:numCache>
                <c:formatCode>General</c:formatCode>
                <c:ptCount val="29"/>
                <c:pt idx="0">
                  <c:v>1.2109203979898751</c:v>
                </c:pt>
                <c:pt idx="1">
                  <c:v>6.4569721515766032</c:v>
                </c:pt>
                <c:pt idx="2">
                  <c:v>13.16248743273615</c:v>
                </c:pt>
                <c:pt idx="3">
                  <c:v>15.302449311411079</c:v>
                </c:pt>
                <c:pt idx="4">
                  <c:v>0</c:v>
                </c:pt>
                <c:pt idx="5">
                  <c:v>1.5863109451745701</c:v>
                </c:pt>
                <c:pt idx="6">
                  <c:v>5.7481329811533701</c:v>
                </c:pt>
                <c:pt idx="7">
                  <c:v>0.77199206038636603</c:v>
                </c:pt>
                <c:pt idx="8">
                  <c:v>11.818190487004131</c:v>
                </c:pt>
                <c:pt idx="9">
                  <c:v>22.55815337188076</c:v>
                </c:pt>
                <c:pt idx="10">
                  <c:v>0</c:v>
                </c:pt>
                <c:pt idx="11">
                  <c:v>23.860828126840051</c:v>
                </c:pt>
                <c:pt idx="12">
                  <c:v>1.3932424185061001</c:v>
                </c:pt>
                <c:pt idx="13">
                  <c:v>10.335084694126939</c:v>
                </c:pt>
                <c:pt idx="14">
                  <c:v>3.0049080794774432</c:v>
                </c:pt>
                <c:pt idx="15">
                  <c:v>26.50665595840119</c:v>
                </c:pt>
                <c:pt idx="16">
                  <c:v>1.7946242138949751</c:v>
                </c:pt>
                <c:pt idx="17">
                  <c:v>14.19864903215</c:v>
                </c:pt>
                <c:pt idx="18">
                  <c:v>1.0127703451536281</c:v>
                </c:pt>
                <c:pt idx="19">
                  <c:v>21.55696967306239</c:v>
                </c:pt>
                <c:pt idx="20">
                  <c:v>2.4106715734308128</c:v>
                </c:pt>
                <c:pt idx="21">
                  <c:v>0.748996467035145</c:v>
                </c:pt>
                <c:pt idx="22">
                  <c:v>0.43014352444695098</c:v>
                </c:pt>
                <c:pt idx="23">
                  <c:v>5.5893016883373479</c:v>
                </c:pt>
                <c:pt idx="24">
                  <c:v>12.85684314406681</c:v>
                </c:pt>
                <c:pt idx="25">
                  <c:v>0.22190985015029999</c:v>
                </c:pt>
                <c:pt idx="26">
                  <c:v>6.6308581277125249</c:v>
                </c:pt>
                <c:pt idx="27">
                  <c:v>10.22266762505885</c:v>
                </c:pt>
                <c:pt idx="28">
                  <c:v>15.722770503673919</c:v>
                </c:pt>
              </c:numCache>
            </c:numRef>
          </c:xVal>
          <c:yVal>
            <c:numRef>
              <c:f>Sheet1!$B$2:$B$30</c:f>
              <c:numCache>
                <c:formatCode>General</c:formatCode>
                <c:ptCount val="29"/>
                <c:pt idx="0">
                  <c:v>3.839103123990637</c:v>
                </c:pt>
                <c:pt idx="1">
                  <c:v>8.9664322989884102</c:v>
                </c:pt>
                <c:pt idx="2">
                  <c:v>30.747022495456541</c:v>
                </c:pt>
                <c:pt idx="3">
                  <c:v>35.996727472084302</c:v>
                </c:pt>
                <c:pt idx="4">
                  <c:v>5.0285876926068056</c:v>
                </c:pt>
                <c:pt idx="5">
                  <c:v>0.66639807128579898</c:v>
                </c:pt>
                <c:pt idx="6">
                  <c:v>13.305527356215039</c:v>
                </c:pt>
                <c:pt idx="7">
                  <c:v>0.196055417007821</c:v>
                </c:pt>
                <c:pt idx="8">
                  <c:v>22.72788328170201</c:v>
                </c:pt>
                <c:pt idx="9">
                  <c:v>48.199031703900332</c:v>
                </c:pt>
                <c:pt idx="10">
                  <c:v>3.6207838241784458</c:v>
                </c:pt>
                <c:pt idx="11">
                  <c:v>49.324613228525273</c:v>
                </c:pt>
                <c:pt idx="12">
                  <c:v>2.6568225315100191</c:v>
                </c:pt>
                <c:pt idx="13">
                  <c:v>29.682045465332092</c:v>
                </c:pt>
                <c:pt idx="14">
                  <c:v>14.52606455903981</c:v>
                </c:pt>
                <c:pt idx="15">
                  <c:v>56.047536809711367</c:v>
                </c:pt>
                <c:pt idx="16">
                  <c:v>-0.22210078617883999</c:v>
                </c:pt>
                <c:pt idx="17">
                  <c:v>38.351781063511652</c:v>
                </c:pt>
                <c:pt idx="18">
                  <c:v>10.93417154951225</c:v>
                </c:pt>
                <c:pt idx="19">
                  <c:v>50.988314075117543</c:v>
                </c:pt>
                <c:pt idx="20">
                  <c:v>12.2369648690857</c:v>
                </c:pt>
                <c:pt idx="21">
                  <c:v>5.5266513020058081</c:v>
                </c:pt>
                <c:pt idx="22">
                  <c:v>-3.3521488170715701</c:v>
                </c:pt>
                <c:pt idx="23">
                  <c:v>9.6973831764677527</c:v>
                </c:pt>
                <c:pt idx="24">
                  <c:v>28.16191080878669</c:v>
                </c:pt>
                <c:pt idx="25">
                  <c:v>-1.745305544852316</c:v>
                </c:pt>
                <c:pt idx="26">
                  <c:v>10.039349315384481</c:v>
                </c:pt>
                <c:pt idx="27">
                  <c:v>20.715820447254959</c:v>
                </c:pt>
                <c:pt idx="28">
                  <c:v>36.211839333506482</c:v>
                </c:pt>
              </c:numCache>
            </c:numRef>
          </c:yVal>
          <c:smooth val="0"/>
        </c:ser>
        <c:dLbls>
          <c:showLegendKey val="0"/>
          <c:showVal val="0"/>
          <c:showCatName val="0"/>
          <c:showSerName val="0"/>
          <c:showPercent val="0"/>
          <c:showBubbleSize val="0"/>
        </c:dLbls>
        <c:axId val="480491696"/>
        <c:axId val="480492872"/>
      </c:scatterChart>
      <c:valAx>
        <c:axId val="480491696"/>
        <c:scaling>
          <c:orientation val="minMax"/>
        </c:scaling>
        <c:delete val="0"/>
        <c:axPos val="b"/>
        <c:majorGridlines>
          <c:spPr>
            <a:ln w="9525" cap="flat" cmpd="sng" algn="ctr">
              <a:solidFill>
                <a:schemeClr val="tx2">
                  <a:lumMod val="15000"/>
                  <a:lumOff val="85000"/>
                </a:schemeClr>
              </a:solidFill>
              <a:round/>
            </a:ln>
            <a:effectLst/>
          </c:spPr>
        </c:majorGridlines>
        <c:numFmt formatCode="General" sourceLinked="0"/>
        <c:majorTickMark val="none"/>
        <c:minorTickMark val="none"/>
        <c:tickLblPos val="nextTo"/>
        <c:spPr>
          <a:noFill/>
          <a:ln>
            <a:solidFill>
              <a:schemeClr val="tx2">
                <a:lumMod val="40000"/>
                <a:lumOff val="60000"/>
              </a:schemeClr>
            </a:solidFill>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480492872"/>
        <c:crosses val="autoZero"/>
        <c:crossBetween val="midCat"/>
      </c:valAx>
      <c:valAx>
        <c:axId val="480492872"/>
        <c:scaling>
          <c:orientation val="minMax"/>
          <c:max val="60"/>
        </c:scaling>
        <c:delete val="0"/>
        <c:axPos val="l"/>
        <c:majorGridlines>
          <c:spPr>
            <a:ln w="9525" cap="flat" cmpd="sng" algn="ctr">
              <a:solidFill>
                <a:schemeClr val="tx2">
                  <a:lumMod val="15000"/>
                  <a:lumOff val="85000"/>
                </a:schemeClr>
              </a:solidFill>
              <a:round/>
            </a:ln>
            <a:effectLst/>
          </c:spPr>
        </c:majorGridlines>
        <c:numFmt formatCode="General" sourceLinked="1"/>
        <c:majorTickMark val="none"/>
        <c:minorTickMark val="none"/>
        <c:tickLblPos val="nextTo"/>
        <c:spPr>
          <a:noFill/>
          <a:ln>
            <a:solidFill>
              <a:schemeClr val="tx2">
                <a:lumMod val="40000"/>
                <a:lumOff val="60000"/>
              </a:schemeClr>
            </a:solidFill>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480491696"/>
        <c:crosses val="autoZero"/>
        <c:crossBetween val="midCat"/>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Sheet1!$B$1</c:f>
              <c:strCache>
                <c:ptCount val="1"/>
                <c:pt idx="0">
                  <c:v>Y-Value 1</c:v>
                </c:pt>
              </c:strCache>
            </c:strRef>
          </c:tx>
          <c:spPr>
            <a:ln w="25400" cap="rnd">
              <a:noFill/>
              <a:round/>
            </a:ln>
            <a:effectLst>
              <a:outerShdw blurRad="40000" dist="23000" dir="5400000" rotWithShape="0">
                <a:srgbClr val="000000">
                  <a:alpha val="35000"/>
                </a:srgbClr>
              </a:outerShdw>
            </a:effectLst>
          </c:spPr>
          <c:marker>
            <c:symbol val="circle"/>
            <c:size val="5"/>
            <c:spPr>
              <a:solidFill>
                <a:srgbClr val="00B050"/>
              </a:solidFill>
              <a:ln w="9525">
                <a:noFill/>
                <a:round/>
              </a:ln>
              <a:effectLst>
                <a:outerShdw blurRad="40000" dist="23000" dir="5400000" rotWithShape="0">
                  <a:srgbClr val="000000">
                    <a:alpha val="35000"/>
                  </a:srgbClr>
                </a:outerShdw>
              </a:effectLst>
            </c:spPr>
          </c:marker>
          <c:trendline>
            <c:spPr>
              <a:ln w="34925" cap="rnd">
                <a:solidFill>
                  <a:srgbClr val="FF0000"/>
                </a:solidFill>
              </a:ln>
              <a:effectLst/>
            </c:spPr>
            <c:trendlineType val="linear"/>
            <c:dispRSqr val="0"/>
            <c:dispEq val="0"/>
          </c:trendline>
          <c:xVal>
            <c:numRef>
              <c:f>Sheet1!$A$2:$A$30</c:f>
              <c:numCache>
                <c:formatCode>General</c:formatCode>
                <c:ptCount val="29"/>
                <c:pt idx="0">
                  <c:v>1.2109203979898751</c:v>
                </c:pt>
                <c:pt idx="1">
                  <c:v>6.4569721515766032</c:v>
                </c:pt>
                <c:pt idx="2">
                  <c:v>13.16248743273615</c:v>
                </c:pt>
                <c:pt idx="3">
                  <c:v>15.302449311411079</c:v>
                </c:pt>
                <c:pt idx="4">
                  <c:v>0</c:v>
                </c:pt>
                <c:pt idx="5">
                  <c:v>1.5863109451745701</c:v>
                </c:pt>
                <c:pt idx="6">
                  <c:v>5.7481329811533701</c:v>
                </c:pt>
                <c:pt idx="7">
                  <c:v>0.77199206038636603</c:v>
                </c:pt>
                <c:pt idx="8">
                  <c:v>11.818190487004131</c:v>
                </c:pt>
                <c:pt idx="9">
                  <c:v>22.55815337188076</c:v>
                </c:pt>
                <c:pt idx="10">
                  <c:v>0</c:v>
                </c:pt>
                <c:pt idx="11">
                  <c:v>23.860828126840051</c:v>
                </c:pt>
                <c:pt idx="12">
                  <c:v>1.3932424185061001</c:v>
                </c:pt>
                <c:pt idx="13">
                  <c:v>10.335084694126939</c:v>
                </c:pt>
                <c:pt idx="14">
                  <c:v>3.0049080794774432</c:v>
                </c:pt>
                <c:pt idx="15">
                  <c:v>26.50665595840119</c:v>
                </c:pt>
                <c:pt idx="16">
                  <c:v>1.7946242138949751</c:v>
                </c:pt>
                <c:pt idx="17">
                  <c:v>14.19864903215</c:v>
                </c:pt>
                <c:pt idx="18">
                  <c:v>1.0127703451536281</c:v>
                </c:pt>
                <c:pt idx="19">
                  <c:v>21.55696967306239</c:v>
                </c:pt>
                <c:pt idx="20">
                  <c:v>2.4106715734308128</c:v>
                </c:pt>
                <c:pt idx="21">
                  <c:v>0.748996467035145</c:v>
                </c:pt>
                <c:pt idx="22">
                  <c:v>0.43014352444695098</c:v>
                </c:pt>
                <c:pt idx="23">
                  <c:v>5.5893016883373479</c:v>
                </c:pt>
                <c:pt idx="24">
                  <c:v>12.85684314406681</c:v>
                </c:pt>
                <c:pt idx="25">
                  <c:v>0.22190985015029999</c:v>
                </c:pt>
                <c:pt idx="26">
                  <c:v>6.6308581277125249</c:v>
                </c:pt>
                <c:pt idx="27">
                  <c:v>10.22266762505885</c:v>
                </c:pt>
                <c:pt idx="28">
                  <c:v>15.722770503673919</c:v>
                </c:pt>
              </c:numCache>
            </c:numRef>
          </c:xVal>
          <c:yVal>
            <c:numRef>
              <c:f>Sheet1!$B$2:$B$30</c:f>
              <c:numCache>
                <c:formatCode>General</c:formatCode>
                <c:ptCount val="29"/>
                <c:pt idx="0">
                  <c:v>3.839103123990637</c:v>
                </c:pt>
                <c:pt idx="1">
                  <c:v>8.9664322989884102</c:v>
                </c:pt>
                <c:pt idx="2">
                  <c:v>30.747022495456541</c:v>
                </c:pt>
                <c:pt idx="3">
                  <c:v>35.996727472084302</c:v>
                </c:pt>
                <c:pt idx="4">
                  <c:v>5.0285876926068056</c:v>
                </c:pt>
                <c:pt idx="5">
                  <c:v>0.66639807128579898</c:v>
                </c:pt>
                <c:pt idx="6">
                  <c:v>13.305527356215039</c:v>
                </c:pt>
                <c:pt idx="7">
                  <c:v>0.196055417007821</c:v>
                </c:pt>
                <c:pt idx="8">
                  <c:v>22.72788328170201</c:v>
                </c:pt>
                <c:pt idx="9">
                  <c:v>48.199031703900332</c:v>
                </c:pt>
                <c:pt idx="10">
                  <c:v>3.6207838241784458</c:v>
                </c:pt>
                <c:pt idx="11">
                  <c:v>49.324613228525273</c:v>
                </c:pt>
                <c:pt idx="12">
                  <c:v>2.6568225315100191</c:v>
                </c:pt>
                <c:pt idx="13">
                  <c:v>29.682045465332092</c:v>
                </c:pt>
                <c:pt idx="14">
                  <c:v>14.52606455903981</c:v>
                </c:pt>
                <c:pt idx="15">
                  <c:v>56.047536809711367</c:v>
                </c:pt>
                <c:pt idx="16">
                  <c:v>-0.22210078617883999</c:v>
                </c:pt>
                <c:pt idx="17">
                  <c:v>38.351781063511652</c:v>
                </c:pt>
                <c:pt idx="18">
                  <c:v>10.93417154951225</c:v>
                </c:pt>
                <c:pt idx="19">
                  <c:v>50.988314075117543</c:v>
                </c:pt>
                <c:pt idx="20">
                  <c:v>12.2369648690857</c:v>
                </c:pt>
                <c:pt idx="21">
                  <c:v>5.5266513020058081</c:v>
                </c:pt>
                <c:pt idx="22">
                  <c:v>-3.3521488170715701</c:v>
                </c:pt>
                <c:pt idx="23">
                  <c:v>9.6973831764677527</c:v>
                </c:pt>
                <c:pt idx="24">
                  <c:v>28.16191080878669</c:v>
                </c:pt>
                <c:pt idx="25">
                  <c:v>-1.745305544852316</c:v>
                </c:pt>
                <c:pt idx="26">
                  <c:v>10.039349315384481</c:v>
                </c:pt>
                <c:pt idx="27">
                  <c:v>20.715820447254959</c:v>
                </c:pt>
                <c:pt idx="28">
                  <c:v>36.211839333506482</c:v>
                </c:pt>
              </c:numCache>
            </c:numRef>
          </c:yVal>
          <c:smooth val="0"/>
        </c:ser>
        <c:dLbls>
          <c:showLegendKey val="0"/>
          <c:showVal val="0"/>
          <c:showCatName val="0"/>
          <c:showSerName val="0"/>
          <c:showPercent val="0"/>
          <c:showBubbleSize val="0"/>
        </c:dLbls>
        <c:axId val="480490128"/>
        <c:axId val="800089568"/>
      </c:scatterChart>
      <c:valAx>
        <c:axId val="480490128"/>
        <c:scaling>
          <c:orientation val="minMax"/>
        </c:scaling>
        <c:delete val="0"/>
        <c:axPos val="b"/>
        <c:majorGridlines>
          <c:spPr>
            <a:ln w="9525" cap="flat" cmpd="sng" algn="ctr">
              <a:solidFill>
                <a:schemeClr val="tx2">
                  <a:lumMod val="15000"/>
                  <a:lumOff val="85000"/>
                </a:schemeClr>
              </a:solidFill>
              <a:round/>
            </a:ln>
            <a:effectLst/>
          </c:spPr>
        </c:majorGridlines>
        <c:numFmt formatCode="General" sourceLinked="0"/>
        <c:majorTickMark val="none"/>
        <c:minorTickMark val="none"/>
        <c:tickLblPos val="nextTo"/>
        <c:spPr>
          <a:noFill/>
          <a:ln>
            <a:solidFill>
              <a:schemeClr val="tx2">
                <a:lumMod val="40000"/>
                <a:lumOff val="60000"/>
              </a:schemeClr>
            </a:solidFill>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800089568"/>
        <c:crosses val="autoZero"/>
        <c:crossBetween val="midCat"/>
      </c:valAx>
      <c:valAx>
        <c:axId val="800089568"/>
        <c:scaling>
          <c:orientation val="minMax"/>
          <c:max val="60"/>
        </c:scaling>
        <c:delete val="0"/>
        <c:axPos val="l"/>
        <c:majorGridlines>
          <c:spPr>
            <a:ln w="9525" cap="flat" cmpd="sng" algn="ctr">
              <a:solidFill>
                <a:schemeClr val="tx2">
                  <a:lumMod val="15000"/>
                  <a:lumOff val="85000"/>
                </a:schemeClr>
              </a:solidFill>
              <a:round/>
            </a:ln>
            <a:effectLst/>
          </c:spPr>
        </c:majorGridlines>
        <c:numFmt formatCode="General" sourceLinked="1"/>
        <c:majorTickMark val="none"/>
        <c:minorTickMark val="none"/>
        <c:tickLblPos val="nextTo"/>
        <c:spPr>
          <a:noFill/>
          <a:ln>
            <a:solidFill>
              <a:schemeClr val="tx2">
                <a:lumMod val="40000"/>
                <a:lumOff val="60000"/>
              </a:schemeClr>
            </a:solidFill>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480490128"/>
        <c:crosses val="autoZero"/>
        <c:crossBetween val="midCat"/>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Sheet1!$B$1</c:f>
              <c:strCache>
                <c:ptCount val="1"/>
                <c:pt idx="0">
                  <c:v>Y-Value 1</c:v>
                </c:pt>
              </c:strCache>
            </c:strRef>
          </c:tx>
          <c:spPr>
            <a:ln w="25400" cap="rnd">
              <a:noFill/>
              <a:round/>
            </a:ln>
            <a:effectLst>
              <a:outerShdw blurRad="40000" dist="23000" dir="5400000" rotWithShape="0">
                <a:srgbClr val="000000">
                  <a:alpha val="35000"/>
                </a:srgbClr>
              </a:outerShdw>
            </a:effectLst>
          </c:spPr>
          <c:marker>
            <c:symbol val="circle"/>
            <c:size val="5"/>
            <c:spPr>
              <a:solidFill>
                <a:srgbClr val="00B050"/>
              </a:solidFill>
              <a:ln w="9525">
                <a:noFill/>
                <a:round/>
              </a:ln>
              <a:effectLst>
                <a:outerShdw blurRad="40000" dist="23000" dir="5400000" rotWithShape="0">
                  <a:srgbClr val="000000">
                    <a:alpha val="35000"/>
                  </a:srgbClr>
                </a:outerShdw>
              </a:effectLst>
            </c:spPr>
          </c:marker>
          <c:trendline>
            <c:spPr>
              <a:ln w="34925" cap="rnd">
                <a:solidFill>
                  <a:srgbClr val="FF0000"/>
                </a:solidFill>
              </a:ln>
              <a:effectLst/>
            </c:spPr>
            <c:trendlineType val="linear"/>
            <c:dispRSqr val="0"/>
            <c:dispEq val="0"/>
          </c:trendline>
          <c:xVal>
            <c:numRef>
              <c:f>Sheet1!$A$2:$A$30</c:f>
              <c:numCache>
                <c:formatCode>General</c:formatCode>
                <c:ptCount val="29"/>
                <c:pt idx="0">
                  <c:v>1.2109203979898751</c:v>
                </c:pt>
                <c:pt idx="1">
                  <c:v>6.4569721515766032</c:v>
                </c:pt>
                <c:pt idx="2">
                  <c:v>13.16248743273615</c:v>
                </c:pt>
                <c:pt idx="3">
                  <c:v>15.302449311411079</c:v>
                </c:pt>
                <c:pt idx="4">
                  <c:v>0</c:v>
                </c:pt>
                <c:pt idx="5">
                  <c:v>1.5863109451745701</c:v>
                </c:pt>
                <c:pt idx="6">
                  <c:v>5.7481329811533701</c:v>
                </c:pt>
                <c:pt idx="7">
                  <c:v>0.77199206038636603</c:v>
                </c:pt>
                <c:pt idx="8">
                  <c:v>11.818190487004131</c:v>
                </c:pt>
                <c:pt idx="9">
                  <c:v>22.55815337188076</c:v>
                </c:pt>
                <c:pt idx="10">
                  <c:v>0</c:v>
                </c:pt>
                <c:pt idx="11">
                  <c:v>23.860828126840051</c:v>
                </c:pt>
                <c:pt idx="12">
                  <c:v>1.3932424185061001</c:v>
                </c:pt>
                <c:pt idx="13">
                  <c:v>10.335084694126939</c:v>
                </c:pt>
                <c:pt idx="14">
                  <c:v>3.0049080794774432</c:v>
                </c:pt>
                <c:pt idx="15">
                  <c:v>26.50665595840119</c:v>
                </c:pt>
                <c:pt idx="16">
                  <c:v>1.7946242138949751</c:v>
                </c:pt>
                <c:pt idx="17">
                  <c:v>14.19864903215</c:v>
                </c:pt>
                <c:pt idx="18">
                  <c:v>1.0127703451536281</c:v>
                </c:pt>
                <c:pt idx="19">
                  <c:v>21.55696967306239</c:v>
                </c:pt>
                <c:pt idx="20">
                  <c:v>2.4106715734308128</c:v>
                </c:pt>
                <c:pt idx="21">
                  <c:v>0.748996467035145</c:v>
                </c:pt>
                <c:pt idx="22">
                  <c:v>0.43014352444695098</c:v>
                </c:pt>
                <c:pt idx="23">
                  <c:v>5.5893016883373479</c:v>
                </c:pt>
                <c:pt idx="24">
                  <c:v>12.85684314406681</c:v>
                </c:pt>
                <c:pt idx="25">
                  <c:v>0.22190985015029999</c:v>
                </c:pt>
                <c:pt idx="26">
                  <c:v>6.6308581277125249</c:v>
                </c:pt>
                <c:pt idx="27">
                  <c:v>10.22266762505885</c:v>
                </c:pt>
                <c:pt idx="28">
                  <c:v>15.722770503673919</c:v>
                </c:pt>
              </c:numCache>
            </c:numRef>
          </c:xVal>
          <c:yVal>
            <c:numRef>
              <c:f>Sheet1!$B$2:$B$30</c:f>
              <c:numCache>
                <c:formatCode>General</c:formatCode>
                <c:ptCount val="29"/>
                <c:pt idx="0">
                  <c:v>3.839103123990637</c:v>
                </c:pt>
                <c:pt idx="1">
                  <c:v>8.9664322989884102</c:v>
                </c:pt>
                <c:pt idx="2">
                  <c:v>30.747022495456541</c:v>
                </c:pt>
                <c:pt idx="3">
                  <c:v>35.996727472084302</c:v>
                </c:pt>
                <c:pt idx="4">
                  <c:v>5.0285876926068056</c:v>
                </c:pt>
                <c:pt idx="5">
                  <c:v>0.66639807128579898</c:v>
                </c:pt>
                <c:pt idx="6">
                  <c:v>13.305527356215039</c:v>
                </c:pt>
                <c:pt idx="7">
                  <c:v>0.196055417007821</c:v>
                </c:pt>
                <c:pt idx="8">
                  <c:v>22.72788328170201</c:v>
                </c:pt>
                <c:pt idx="9">
                  <c:v>48.199031703900332</c:v>
                </c:pt>
                <c:pt idx="10">
                  <c:v>3.6207838241784458</c:v>
                </c:pt>
                <c:pt idx="11">
                  <c:v>49.324613228525273</c:v>
                </c:pt>
                <c:pt idx="12">
                  <c:v>2.6568225315100191</c:v>
                </c:pt>
                <c:pt idx="13">
                  <c:v>29.682045465332092</c:v>
                </c:pt>
                <c:pt idx="14">
                  <c:v>14.52606455903981</c:v>
                </c:pt>
                <c:pt idx="15">
                  <c:v>56.047536809711367</c:v>
                </c:pt>
                <c:pt idx="16">
                  <c:v>-0.22210078617883999</c:v>
                </c:pt>
                <c:pt idx="17">
                  <c:v>38.351781063511652</c:v>
                </c:pt>
                <c:pt idx="18">
                  <c:v>10.93417154951225</c:v>
                </c:pt>
                <c:pt idx="19">
                  <c:v>50.988314075117543</c:v>
                </c:pt>
                <c:pt idx="20">
                  <c:v>12.2369648690857</c:v>
                </c:pt>
                <c:pt idx="21">
                  <c:v>5.5266513020058081</c:v>
                </c:pt>
                <c:pt idx="22">
                  <c:v>-3.3521488170715701</c:v>
                </c:pt>
                <c:pt idx="23">
                  <c:v>9.6973831764677527</c:v>
                </c:pt>
                <c:pt idx="24">
                  <c:v>28.16191080878669</c:v>
                </c:pt>
                <c:pt idx="25">
                  <c:v>-1.745305544852316</c:v>
                </c:pt>
                <c:pt idx="26">
                  <c:v>10.039349315384481</c:v>
                </c:pt>
                <c:pt idx="27">
                  <c:v>20.715820447254959</c:v>
                </c:pt>
                <c:pt idx="28">
                  <c:v>36.211839333506482</c:v>
                </c:pt>
              </c:numCache>
            </c:numRef>
          </c:yVal>
          <c:smooth val="0"/>
        </c:ser>
        <c:dLbls>
          <c:showLegendKey val="0"/>
          <c:showVal val="0"/>
          <c:showCatName val="0"/>
          <c:showSerName val="0"/>
          <c:showPercent val="0"/>
          <c:showBubbleSize val="0"/>
        </c:dLbls>
        <c:axId val="800201944"/>
        <c:axId val="800209392"/>
      </c:scatterChart>
      <c:valAx>
        <c:axId val="800201944"/>
        <c:scaling>
          <c:orientation val="minMax"/>
        </c:scaling>
        <c:delete val="0"/>
        <c:axPos val="b"/>
        <c:majorGridlines>
          <c:spPr>
            <a:ln w="9525" cap="flat" cmpd="sng" algn="ctr">
              <a:solidFill>
                <a:schemeClr val="tx2">
                  <a:lumMod val="15000"/>
                  <a:lumOff val="85000"/>
                </a:schemeClr>
              </a:solidFill>
              <a:round/>
            </a:ln>
            <a:effectLst/>
          </c:spPr>
        </c:majorGridlines>
        <c:numFmt formatCode="General" sourceLinked="0"/>
        <c:majorTickMark val="none"/>
        <c:minorTickMark val="none"/>
        <c:tickLblPos val="nextTo"/>
        <c:spPr>
          <a:noFill/>
          <a:ln>
            <a:solidFill>
              <a:schemeClr val="tx2">
                <a:lumMod val="40000"/>
                <a:lumOff val="60000"/>
              </a:schemeClr>
            </a:solidFill>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800209392"/>
        <c:crosses val="autoZero"/>
        <c:crossBetween val="midCat"/>
      </c:valAx>
      <c:valAx>
        <c:axId val="800209392"/>
        <c:scaling>
          <c:orientation val="minMax"/>
          <c:max val="60"/>
        </c:scaling>
        <c:delete val="0"/>
        <c:axPos val="l"/>
        <c:majorGridlines>
          <c:spPr>
            <a:ln w="9525" cap="flat" cmpd="sng" algn="ctr">
              <a:solidFill>
                <a:schemeClr val="tx2">
                  <a:lumMod val="15000"/>
                  <a:lumOff val="85000"/>
                </a:schemeClr>
              </a:solidFill>
              <a:round/>
            </a:ln>
            <a:effectLst/>
          </c:spPr>
        </c:majorGridlines>
        <c:numFmt formatCode="General" sourceLinked="1"/>
        <c:majorTickMark val="none"/>
        <c:minorTickMark val="none"/>
        <c:tickLblPos val="nextTo"/>
        <c:spPr>
          <a:noFill/>
          <a:ln>
            <a:solidFill>
              <a:schemeClr val="tx2">
                <a:lumMod val="40000"/>
                <a:lumOff val="60000"/>
              </a:schemeClr>
            </a:solidFill>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800201944"/>
        <c:crosses val="autoZero"/>
        <c:crossBetween val="midCat"/>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2">
  <cs:axisTitle>
    <cs:lnRef idx="0"/>
    <cs:fillRef idx="0"/>
    <cs:effectRef idx="0"/>
    <cs:fontRef idx="minor">
      <a:schemeClr val="tx2"/>
    </cs:fontRef>
    <cs:defRPr sz="1197" b="1" kern="1200"/>
  </cs:axisTitle>
  <cs:categoryAxis>
    <cs:lnRef idx="0"/>
    <cs:fillRef idx="0"/>
    <cs:effectRef idx="0"/>
    <cs:fontRef idx="minor">
      <a:schemeClr val="tx2"/>
    </cs:fontRef>
    <cs:spPr>
      <a:ln w="9525" cap="flat" cmpd="sng" algn="ctr">
        <a:solidFill>
          <a:schemeClr val="tx2">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1197" kern="1200"/>
  </cs:chartArea>
  <cs:dataLabel>
    <cs:lnRef idx="0"/>
    <cs:fillRef idx="0"/>
    <cs:effectRef idx="0"/>
    <cs:fontRef idx="minor">
      <a:schemeClr val="tx2"/>
    </cs:fontRef>
    <cs:defRPr sz="1197" kern="1200"/>
  </cs:dataLabel>
  <cs:dataLabelCallout>
    <cs:lnRef idx="0"/>
    <cs:fillRef idx="0"/>
    <cs:effectRef idx="0"/>
    <cs:fontRef idx="minor">
      <a:schemeClr val="dk2">
        <a:lumMod val="7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chemeClr val="tx2"/>
    </cs:fontRef>
  </cs:dataPoint>
  <cs:dataPoint3D>
    <cs:lnRef idx="0"/>
    <cs:fillRef idx="3">
      <cs:styleClr val="auto"/>
    </cs:fillRef>
    <cs:effectRef idx="2"/>
    <cs:fontRef idx="minor">
      <a:schemeClr val="tx2"/>
    </cs:fontRef>
  </cs:dataPoint3D>
  <cs:dataPointLine>
    <cs:lnRef idx="0">
      <cs:styleClr val="auto"/>
    </cs:lnRef>
    <cs:fillRef idx="3"/>
    <cs:effectRef idx="2"/>
    <cs:fontRef idx="minor">
      <a:schemeClr val="tx2"/>
    </cs:fontRef>
    <cs:spPr>
      <a:ln w="9525" cap="rnd">
        <a:solidFill>
          <a:schemeClr val="phClr"/>
        </a:solidFill>
        <a:round/>
      </a:ln>
    </cs:spPr>
  </cs:dataPointLine>
  <cs:dataPointMarker>
    <cs:lnRef idx="0">
      <cs:styleClr val="auto"/>
    </cs:lnRef>
    <cs:fillRef idx="3">
      <cs:styleClr val="auto"/>
    </cs:fillRef>
    <cs:effectRef idx="2"/>
    <cs:fontRef idx="minor">
      <a:schemeClr val="tx2"/>
    </cs:fontRef>
    <cs:spPr>
      <a:ln w="9525">
        <a:solidFill>
          <a:schemeClr val="phClr"/>
        </a:solidFill>
        <a:round/>
      </a:ln>
    </cs:spPr>
  </cs:dataPointMarker>
  <cs:dataPointMarkerLayout symbol="circle" size="5"/>
  <cs:dataPointWireframe>
    <cs:lnRef idx="0">
      <cs:styleClr val="auto"/>
    </cs:lnRef>
    <cs:fillRef idx="3"/>
    <cs:effectRef idx="2"/>
    <cs:fontRef idx="minor">
      <a:schemeClr val="tx2"/>
    </cs:fontRef>
    <cs:spPr>
      <a:ln w="952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a:solidFill>
          <a:schemeClr val="tx2">
            <a:lumMod val="60000"/>
            <a:lumOff val="40000"/>
          </a:schemeClr>
        </a:solidFill>
        <a:prstDash val="dash"/>
      </a:ln>
    </cs:spPr>
  </cs:dropLine>
  <cs:errorBar>
    <cs:lnRef idx="0"/>
    <cs:fillRef idx="0"/>
    <cs:effectRef idx="0"/>
    <cs:fontRef idx="minor">
      <a:schemeClr val="tx2"/>
    </cs:fontRef>
    <cs:spPr>
      <a:ln w="9525">
        <a:solidFill>
          <a:schemeClr val="tx2">
            <a:lumMod val="7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5000"/>
            <a:lumOff val="95000"/>
          </a:schemeClr>
        </a:solidFill>
      </a:ln>
    </cs:spPr>
  </cs:gridlineMinor>
  <cs:hiLoLine>
    <cs:lnRef idx="0"/>
    <cs:fillRef idx="0"/>
    <cs:effectRef idx="0"/>
    <cs:fontRef idx="minor">
      <a:schemeClr val="tx2"/>
    </cs:fontRef>
    <cs:spPr>
      <a:ln w="9525">
        <a:solidFill>
          <a:schemeClr val="tx2">
            <a:lumMod val="60000"/>
            <a:lumOff val="40000"/>
          </a:schemeClr>
        </a:solidFill>
        <a:prstDash val="dash"/>
      </a:ln>
    </cs:spPr>
  </cs:hiLoLine>
  <cs:leaderLine>
    <cs:lnRef idx="0"/>
    <cs:fillRef idx="0"/>
    <cs:effectRef idx="0"/>
    <cs:fontRef idx="minor">
      <a:schemeClr val="tx2"/>
    </cs:fontRef>
    <cs:spPr>
      <a:ln w="9525">
        <a:solidFill>
          <a:schemeClr val="tx2">
            <a:lumMod val="35000"/>
            <a:lumOff val="65000"/>
          </a:schemeClr>
        </a:solidFill>
      </a:ln>
    </cs:spPr>
  </cs:leaderLine>
  <cs:legend>
    <cs:lnRef idx="0"/>
    <cs:fillRef idx="0"/>
    <cs:effectRef idx="0"/>
    <cs:fontRef idx="minor">
      <a:schemeClr val="tx2"/>
    </cs:fontRef>
    <cs:defRPr sz="1197" kern="12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1197" kern="1200"/>
  </cs:seriesAxis>
  <cs:seriesLine>
    <cs:lnRef idx="0"/>
    <cs:fillRef idx="0"/>
    <cs:effectRef idx="0"/>
    <cs:fontRef idx="minor">
      <a:schemeClr val="tx2"/>
    </cs:fontRef>
    <cs:spPr>
      <a:ln w="9525">
        <a:solidFill>
          <a:schemeClr val="tx2">
            <a:lumMod val="60000"/>
            <a:lumOff val="40000"/>
          </a:schemeClr>
        </a:solidFill>
        <a:prstDash val="dash"/>
      </a:ln>
    </cs:spPr>
  </cs:seriesLine>
  <cs:title>
    <cs:lnRef idx="0"/>
    <cs:fillRef idx="0"/>
    <cs:effectRef idx="0"/>
    <cs:fontRef idx="minor">
      <a:schemeClr val="tx2"/>
    </cs:fontRef>
    <cs:defRPr sz="2128" b="1" kern="1200"/>
  </cs:title>
  <cs:trendline>
    <cs:lnRef idx="0">
      <cs:styleClr val="auto"/>
    </cs:lnRef>
    <cs:fillRef idx="0"/>
    <cs:effectRef idx="0"/>
    <cs:fontRef idx="minor">
      <a:schemeClr val="tx2"/>
    </cs:fontRef>
    <cs:spPr>
      <a:ln w="9525" cap="rnd">
        <a:solidFill>
          <a:schemeClr val="phClr"/>
        </a:solidFill>
      </a:ln>
    </cs:spPr>
  </cs:trendline>
  <cs:trendlineLabel>
    <cs:lnRef idx="0"/>
    <cs:fillRef idx="0"/>
    <cs:effectRef idx="0"/>
    <cs:fontRef idx="minor">
      <a:schemeClr val="tx2"/>
    </cs:fontRef>
    <cs:defRPr sz="1197" kern="1200"/>
  </cs:trendlineLabel>
  <cs:upBar>
    <cs:lnRef idx="0"/>
    <cs:fillRef idx="0"/>
    <cs:effectRef idx="0"/>
    <cs:fontRef idx="minor">
      <a:schemeClr val="tx2"/>
    </cs:fontRef>
    <cs:spPr>
      <a:solidFill>
        <a:schemeClr val="lt1"/>
      </a:solidFill>
      <a:ln w="9525">
        <a:solidFill>
          <a:schemeClr val="tx1">
            <a:lumMod val="15000"/>
            <a:lumOff val="85000"/>
          </a:schemeClr>
        </a:solidFill>
      </a:ln>
    </cs:spPr>
  </cs:upBar>
  <cs:valueAxis>
    <cs:lnRef idx="0"/>
    <cs:fillRef idx="0"/>
    <cs:effectRef idx="0"/>
    <cs:fontRef idx="minor">
      <a:schemeClr val="tx2"/>
    </cs:fontRef>
    <cs:spPr>
      <a:ln>
        <a:solidFill>
          <a:schemeClr val="tx2">
            <a:lumMod val="40000"/>
            <a:lumOff val="60000"/>
          </a:schemeClr>
        </a:solidFill>
      </a:ln>
    </cs:spPr>
    <cs:defRPr sz="1197" kern="1200"/>
  </cs:valueAxis>
  <cs:wall>
    <cs:lnRef idx="0"/>
    <cs:fillRef idx="0"/>
    <cs:effectRef idx="0"/>
    <cs:fontRef idx="minor">
      <a:schemeClr val="tx2"/>
    </cs:fontRef>
  </cs:wall>
</cs:chartStyle>
</file>

<file path=ppt/charts/style2.xml><?xml version="1.0" encoding="utf-8"?>
<cs:chartStyle xmlns:cs="http://schemas.microsoft.com/office/drawing/2012/chartStyle" xmlns:a="http://schemas.openxmlformats.org/drawingml/2006/main" id="242">
  <cs:axisTitle>
    <cs:lnRef idx="0"/>
    <cs:fillRef idx="0"/>
    <cs:effectRef idx="0"/>
    <cs:fontRef idx="minor">
      <a:schemeClr val="tx2"/>
    </cs:fontRef>
    <cs:defRPr sz="1197" b="1" kern="1200"/>
  </cs:axisTitle>
  <cs:categoryAxis>
    <cs:lnRef idx="0"/>
    <cs:fillRef idx="0"/>
    <cs:effectRef idx="0"/>
    <cs:fontRef idx="minor">
      <a:schemeClr val="tx2"/>
    </cs:fontRef>
    <cs:spPr>
      <a:ln w="9525" cap="flat" cmpd="sng" algn="ctr">
        <a:solidFill>
          <a:schemeClr val="tx2">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1197" kern="1200"/>
  </cs:chartArea>
  <cs:dataLabel>
    <cs:lnRef idx="0"/>
    <cs:fillRef idx="0"/>
    <cs:effectRef idx="0"/>
    <cs:fontRef idx="minor">
      <a:schemeClr val="tx2"/>
    </cs:fontRef>
    <cs:defRPr sz="1197" kern="1200"/>
  </cs:dataLabel>
  <cs:dataLabelCallout>
    <cs:lnRef idx="0"/>
    <cs:fillRef idx="0"/>
    <cs:effectRef idx="0"/>
    <cs:fontRef idx="minor">
      <a:schemeClr val="dk2">
        <a:lumMod val="7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chemeClr val="tx2"/>
    </cs:fontRef>
  </cs:dataPoint>
  <cs:dataPoint3D>
    <cs:lnRef idx="0"/>
    <cs:fillRef idx="3">
      <cs:styleClr val="auto"/>
    </cs:fillRef>
    <cs:effectRef idx="2"/>
    <cs:fontRef idx="minor">
      <a:schemeClr val="tx2"/>
    </cs:fontRef>
  </cs:dataPoint3D>
  <cs:dataPointLine>
    <cs:lnRef idx="0">
      <cs:styleClr val="auto"/>
    </cs:lnRef>
    <cs:fillRef idx="3"/>
    <cs:effectRef idx="2"/>
    <cs:fontRef idx="minor">
      <a:schemeClr val="tx2"/>
    </cs:fontRef>
    <cs:spPr>
      <a:ln w="9525" cap="rnd">
        <a:solidFill>
          <a:schemeClr val="phClr"/>
        </a:solidFill>
        <a:round/>
      </a:ln>
    </cs:spPr>
  </cs:dataPointLine>
  <cs:dataPointMarker>
    <cs:lnRef idx="0">
      <cs:styleClr val="auto"/>
    </cs:lnRef>
    <cs:fillRef idx="3">
      <cs:styleClr val="auto"/>
    </cs:fillRef>
    <cs:effectRef idx="2"/>
    <cs:fontRef idx="minor">
      <a:schemeClr val="tx2"/>
    </cs:fontRef>
    <cs:spPr>
      <a:ln w="9525">
        <a:solidFill>
          <a:schemeClr val="phClr"/>
        </a:solidFill>
        <a:round/>
      </a:ln>
    </cs:spPr>
  </cs:dataPointMarker>
  <cs:dataPointMarkerLayout symbol="circle" size="5"/>
  <cs:dataPointWireframe>
    <cs:lnRef idx="0">
      <cs:styleClr val="auto"/>
    </cs:lnRef>
    <cs:fillRef idx="3"/>
    <cs:effectRef idx="2"/>
    <cs:fontRef idx="minor">
      <a:schemeClr val="tx2"/>
    </cs:fontRef>
    <cs:spPr>
      <a:ln w="952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a:solidFill>
          <a:schemeClr val="tx2">
            <a:lumMod val="60000"/>
            <a:lumOff val="40000"/>
          </a:schemeClr>
        </a:solidFill>
        <a:prstDash val="dash"/>
      </a:ln>
    </cs:spPr>
  </cs:dropLine>
  <cs:errorBar>
    <cs:lnRef idx="0"/>
    <cs:fillRef idx="0"/>
    <cs:effectRef idx="0"/>
    <cs:fontRef idx="minor">
      <a:schemeClr val="tx2"/>
    </cs:fontRef>
    <cs:spPr>
      <a:ln w="9525">
        <a:solidFill>
          <a:schemeClr val="tx2">
            <a:lumMod val="7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5000"/>
            <a:lumOff val="95000"/>
          </a:schemeClr>
        </a:solidFill>
      </a:ln>
    </cs:spPr>
  </cs:gridlineMinor>
  <cs:hiLoLine>
    <cs:lnRef idx="0"/>
    <cs:fillRef idx="0"/>
    <cs:effectRef idx="0"/>
    <cs:fontRef idx="minor">
      <a:schemeClr val="tx2"/>
    </cs:fontRef>
    <cs:spPr>
      <a:ln w="9525">
        <a:solidFill>
          <a:schemeClr val="tx2">
            <a:lumMod val="60000"/>
            <a:lumOff val="40000"/>
          </a:schemeClr>
        </a:solidFill>
        <a:prstDash val="dash"/>
      </a:ln>
    </cs:spPr>
  </cs:hiLoLine>
  <cs:leaderLine>
    <cs:lnRef idx="0"/>
    <cs:fillRef idx="0"/>
    <cs:effectRef idx="0"/>
    <cs:fontRef idx="minor">
      <a:schemeClr val="tx2"/>
    </cs:fontRef>
    <cs:spPr>
      <a:ln w="9525">
        <a:solidFill>
          <a:schemeClr val="tx2">
            <a:lumMod val="35000"/>
            <a:lumOff val="65000"/>
          </a:schemeClr>
        </a:solidFill>
      </a:ln>
    </cs:spPr>
  </cs:leaderLine>
  <cs:legend>
    <cs:lnRef idx="0"/>
    <cs:fillRef idx="0"/>
    <cs:effectRef idx="0"/>
    <cs:fontRef idx="minor">
      <a:schemeClr val="tx2"/>
    </cs:fontRef>
    <cs:defRPr sz="1197" kern="12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1197" kern="1200"/>
  </cs:seriesAxis>
  <cs:seriesLine>
    <cs:lnRef idx="0"/>
    <cs:fillRef idx="0"/>
    <cs:effectRef idx="0"/>
    <cs:fontRef idx="minor">
      <a:schemeClr val="tx2"/>
    </cs:fontRef>
    <cs:spPr>
      <a:ln w="9525">
        <a:solidFill>
          <a:schemeClr val="tx2">
            <a:lumMod val="60000"/>
            <a:lumOff val="40000"/>
          </a:schemeClr>
        </a:solidFill>
        <a:prstDash val="dash"/>
      </a:ln>
    </cs:spPr>
  </cs:seriesLine>
  <cs:title>
    <cs:lnRef idx="0"/>
    <cs:fillRef idx="0"/>
    <cs:effectRef idx="0"/>
    <cs:fontRef idx="minor">
      <a:schemeClr val="tx2"/>
    </cs:fontRef>
    <cs:defRPr sz="2128" b="1" kern="1200"/>
  </cs:title>
  <cs:trendline>
    <cs:lnRef idx="0">
      <cs:styleClr val="auto"/>
    </cs:lnRef>
    <cs:fillRef idx="0"/>
    <cs:effectRef idx="0"/>
    <cs:fontRef idx="minor">
      <a:schemeClr val="tx2"/>
    </cs:fontRef>
    <cs:spPr>
      <a:ln w="9525" cap="rnd">
        <a:solidFill>
          <a:schemeClr val="phClr"/>
        </a:solidFill>
      </a:ln>
    </cs:spPr>
  </cs:trendline>
  <cs:trendlineLabel>
    <cs:lnRef idx="0"/>
    <cs:fillRef idx="0"/>
    <cs:effectRef idx="0"/>
    <cs:fontRef idx="minor">
      <a:schemeClr val="tx2"/>
    </cs:fontRef>
    <cs:defRPr sz="1197" kern="1200"/>
  </cs:trendlineLabel>
  <cs:upBar>
    <cs:lnRef idx="0"/>
    <cs:fillRef idx="0"/>
    <cs:effectRef idx="0"/>
    <cs:fontRef idx="minor">
      <a:schemeClr val="tx2"/>
    </cs:fontRef>
    <cs:spPr>
      <a:solidFill>
        <a:schemeClr val="lt1"/>
      </a:solidFill>
      <a:ln w="9525">
        <a:solidFill>
          <a:schemeClr val="tx1">
            <a:lumMod val="15000"/>
            <a:lumOff val="85000"/>
          </a:schemeClr>
        </a:solidFill>
      </a:ln>
    </cs:spPr>
  </cs:upBar>
  <cs:valueAxis>
    <cs:lnRef idx="0"/>
    <cs:fillRef idx="0"/>
    <cs:effectRef idx="0"/>
    <cs:fontRef idx="minor">
      <a:schemeClr val="tx2"/>
    </cs:fontRef>
    <cs:spPr>
      <a:ln>
        <a:solidFill>
          <a:schemeClr val="tx2">
            <a:lumMod val="40000"/>
            <a:lumOff val="60000"/>
          </a:schemeClr>
        </a:solidFill>
      </a:ln>
    </cs:spPr>
    <cs:defRPr sz="1197" kern="1200"/>
  </cs:valueAxis>
  <cs:wall>
    <cs:lnRef idx="0"/>
    <cs:fillRef idx="0"/>
    <cs:effectRef idx="0"/>
    <cs:fontRef idx="minor">
      <a:schemeClr val="tx2"/>
    </cs:fontRef>
  </cs:wall>
</cs:chartStyle>
</file>

<file path=ppt/charts/style3.xml><?xml version="1.0" encoding="utf-8"?>
<cs:chartStyle xmlns:cs="http://schemas.microsoft.com/office/drawing/2012/chartStyle" xmlns:a="http://schemas.openxmlformats.org/drawingml/2006/main" id="242">
  <cs:axisTitle>
    <cs:lnRef idx="0"/>
    <cs:fillRef idx="0"/>
    <cs:effectRef idx="0"/>
    <cs:fontRef idx="minor">
      <a:schemeClr val="tx2"/>
    </cs:fontRef>
    <cs:defRPr sz="1197" b="1" kern="1200"/>
  </cs:axisTitle>
  <cs:categoryAxis>
    <cs:lnRef idx="0"/>
    <cs:fillRef idx="0"/>
    <cs:effectRef idx="0"/>
    <cs:fontRef idx="minor">
      <a:schemeClr val="tx2"/>
    </cs:fontRef>
    <cs:spPr>
      <a:ln w="9525" cap="flat" cmpd="sng" algn="ctr">
        <a:solidFill>
          <a:schemeClr val="tx2">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1197" kern="1200"/>
  </cs:chartArea>
  <cs:dataLabel>
    <cs:lnRef idx="0"/>
    <cs:fillRef idx="0"/>
    <cs:effectRef idx="0"/>
    <cs:fontRef idx="minor">
      <a:schemeClr val="tx2"/>
    </cs:fontRef>
    <cs:defRPr sz="1197" kern="1200"/>
  </cs:dataLabel>
  <cs:dataLabelCallout>
    <cs:lnRef idx="0"/>
    <cs:fillRef idx="0"/>
    <cs:effectRef idx="0"/>
    <cs:fontRef idx="minor">
      <a:schemeClr val="dk2">
        <a:lumMod val="7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chemeClr val="tx2"/>
    </cs:fontRef>
  </cs:dataPoint>
  <cs:dataPoint3D>
    <cs:lnRef idx="0"/>
    <cs:fillRef idx="3">
      <cs:styleClr val="auto"/>
    </cs:fillRef>
    <cs:effectRef idx="2"/>
    <cs:fontRef idx="minor">
      <a:schemeClr val="tx2"/>
    </cs:fontRef>
  </cs:dataPoint3D>
  <cs:dataPointLine>
    <cs:lnRef idx="0">
      <cs:styleClr val="auto"/>
    </cs:lnRef>
    <cs:fillRef idx="3"/>
    <cs:effectRef idx="2"/>
    <cs:fontRef idx="minor">
      <a:schemeClr val="tx2"/>
    </cs:fontRef>
    <cs:spPr>
      <a:ln w="9525" cap="rnd">
        <a:solidFill>
          <a:schemeClr val="phClr"/>
        </a:solidFill>
        <a:round/>
      </a:ln>
    </cs:spPr>
  </cs:dataPointLine>
  <cs:dataPointMarker>
    <cs:lnRef idx="0">
      <cs:styleClr val="auto"/>
    </cs:lnRef>
    <cs:fillRef idx="3">
      <cs:styleClr val="auto"/>
    </cs:fillRef>
    <cs:effectRef idx="2"/>
    <cs:fontRef idx="minor">
      <a:schemeClr val="tx2"/>
    </cs:fontRef>
    <cs:spPr>
      <a:ln w="9525">
        <a:solidFill>
          <a:schemeClr val="phClr"/>
        </a:solidFill>
        <a:round/>
      </a:ln>
    </cs:spPr>
  </cs:dataPointMarker>
  <cs:dataPointMarkerLayout symbol="circle" size="5"/>
  <cs:dataPointWireframe>
    <cs:lnRef idx="0">
      <cs:styleClr val="auto"/>
    </cs:lnRef>
    <cs:fillRef idx="3"/>
    <cs:effectRef idx="2"/>
    <cs:fontRef idx="minor">
      <a:schemeClr val="tx2"/>
    </cs:fontRef>
    <cs:spPr>
      <a:ln w="952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a:solidFill>
          <a:schemeClr val="tx2">
            <a:lumMod val="60000"/>
            <a:lumOff val="40000"/>
          </a:schemeClr>
        </a:solidFill>
        <a:prstDash val="dash"/>
      </a:ln>
    </cs:spPr>
  </cs:dropLine>
  <cs:errorBar>
    <cs:lnRef idx="0"/>
    <cs:fillRef idx="0"/>
    <cs:effectRef idx="0"/>
    <cs:fontRef idx="minor">
      <a:schemeClr val="tx2"/>
    </cs:fontRef>
    <cs:spPr>
      <a:ln w="9525">
        <a:solidFill>
          <a:schemeClr val="tx2">
            <a:lumMod val="7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5000"/>
            <a:lumOff val="95000"/>
          </a:schemeClr>
        </a:solidFill>
      </a:ln>
    </cs:spPr>
  </cs:gridlineMinor>
  <cs:hiLoLine>
    <cs:lnRef idx="0"/>
    <cs:fillRef idx="0"/>
    <cs:effectRef idx="0"/>
    <cs:fontRef idx="minor">
      <a:schemeClr val="tx2"/>
    </cs:fontRef>
    <cs:spPr>
      <a:ln w="9525">
        <a:solidFill>
          <a:schemeClr val="tx2">
            <a:lumMod val="60000"/>
            <a:lumOff val="40000"/>
          </a:schemeClr>
        </a:solidFill>
        <a:prstDash val="dash"/>
      </a:ln>
    </cs:spPr>
  </cs:hiLoLine>
  <cs:leaderLine>
    <cs:lnRef idx="0"/>
    <cs:fillRef idx="0"/>
    <cs:effectRef idx="0"/>
    <cs:fontRef idx="minor">
      <a:schemeClr val="tx2"/>
    </cs:fontRef>
    <cs:spPr>
      <a:ln w="9525">
        <a:solidFill>
          <a:schemeClr val="tx2">
            <a:lumMod val="35000"/>
            <a:lumOff val="65000"/>
          </a:schemeClr>
        </a:solidFill>
      </a:ln>
    </cs:spPr>
  </cs:leaderLine>
  <cs:legend>
    <cs:lnRef idx="0"/>
    <cs:fillRef idx="0"/>
    <cs:effectRef idx="0"/>
    <cs:fontRef idx="minor">
      <a:schemeClr val="tx2"/>
    </cs:fontRef>
    <cs:defRPr sz="1197" kern="12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1197" kern="1200"/>
  </cs:seriesAxis>
  <cs:seriesLine>
    <cs:lnRef idx="0"/>
    <cs:fillRef idx="0"/>
    <cs:effectRef idx="0"/>
    <cs:fontRef idx="minor">
      <a:schemeClr val="tx2"/>
    </cs:fontRef>
    <cs:spPr>
      <a:ln w="9525">
        <a:solidFill>
          <a:schemeClr val="tx2">
            <a:lumMod val="60000"/>
            <a:lumOff val="40000"/>
          </a:schemeClr>
        </a:solidFill>
        <a:prstDash val="dash"/>
      </a:ln>
    </cs:spPr>
  </cs:seriesLine>
  <cs:title>
    <cs:lnRef idx="0"/>
    <cs:fillRef idx="0"/>
    <cs:effectRef idx="0"/>
    <cs:fontRef idx="minor">
      <a:schemeClr val="tx2"/>
    </cs:fontRef>
    <cs:defRPr sz="2128" b="1" kern="1200"/>
  </cs:title>
  <cs:trendline>
    <cs:lnRef idx="0">
      <cs:styleClr val="auto"/>
    </cs:lnRef>
    <cs:fillRef idx="0"/>
    <cs:effectRef idx="0"/>
    <cs:fontRef idx="minor">
      <a:schemeClr val="tx2"/>
    </cs:fontRef>
    <cs:spPr>
      <a:ln w="9525" cap="rnd">
        <a:solidFill>
          <a:schemeClr val="phClr"/>
        </a:solidFill>
      </a:ln>
    </cs:spPr>
  </cs:trendline>
  <cs:trendlineLabel>
    <cs:lnRef idx="0"/>
    <cs:fillRef idx="0"/>
    <cs:effectRef idx="0"/>
    <cs:fontRef idx="minor">
      <a:schemeClr val="tx2"/>
    </cs:fontRef>
    <cs:defRPr sz="1197" kern="1200"/>
  </cs:trendlineLabel>
  <cs:upBar>
    <cs:lnRef idx="0"/>
    <cs:fillRef idx="0"/>
    <cs:effectRef idx="0"/>
    <cs:fontRef idx="minor">
      <a:schemeClr val="tx2"/>
    </cs:fontRef>
    <cs:spPr>
      <a:solidFill>
        <a:schemeClr val="lt1"/>
      </a:solidFill>
      <a:ln w="9525">
        <a:solidFill>
          <a:schemeClr val="tx1">
            <a:lumMod val="15000"/>
            <a:lumOff val="85000"/>
          </a:schemeClr>
        </a:solidFill>
      </a:ln>
    </cs:spPr>
  </cs:upBar>
  <cs:valueAxis>
    <cs:lnRef idx="0"/>
    <cs:fillRef idx="0"/>
    <cs:effectRef idx="0"/>
    <cs:fontRef idx="minor">
      <a:schemeClr val="tx2"/>
    </cs:fontRef>
    <cs:spPr>
      <a:ln>
        <a:solidFill>
          <a:schemeClr val="tx2">
            <a:lumMod val="40000"/>
            <a:lumOff val="60000"/>
          </a:schemeClr>
        </a:solidFill>
      </a:ln>
    </cs:spPr>
    <cs:defRPr sz="1197" kern="1200"/>
  </cs:valueAxis>
  <cs:wall>
    <cs:lnRef idx="0"/>
    <cs:fillRef idx="0"/>
    <cs:effectRef idx="0"/>
    <cs:fontRef idx="minor">
      <a:schemeClr val="tx2"/>
    </cs:fontRef>
  </cs:wall>
</cs:chartStyle>
</file>

<file path=ppt/charts/style4.xml><?xml version="1.0" encoding="utf-8"?>
<cs:chartStyle xmlns:cs="http://schemas.microsoft.com/office/drawing/2012/chartStyle" xmlns:a="http://schemas.openxmlformats.org/drawingml/2006/main" id="242">
  <cs:axisTitle>
    <cs:lnRef idx="0"/>
    <cs:fillRef idx="0"/>
    <cs:effectRef idx="0"/>
    <cs:fontRef idx="minor">
      <a:schemeClr val="tx2"/>
    </cs:fontRef>
    <cs:defRPr sz="1197" b="1" kern="1200"/>
  </cs:axisTitle>
  <cs:categoryAxis>
    <cs:lnRef idx="0"/>
    <cs:fillRef idx="0"/>
    <cs:effectRef idx="0"/>
    <cs:fontRef idx="minor">
      <a:schemeClr val="tx2"/>
    </cs:fontRef>
    <cs:spPr>
      <a:ln w="9525" cap="flat" cmpd="sng" algn="ctr">
        <a:solidFill>
          <a:schemeClr val="tx2">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1197" kern="1200"/>
  </cs:chartArea>
  <cs:dataLabel>
    <cs:lnRef idx="0"/>
    <cs:fillRef idx="0"/>
    <cs:effectRef idx="0"/>
    <cs:fontRef idx="minor">
      <a:schemeClr val="tx2"/>
    </cs:fontRef>
    <cs:defRPr sz="1197" kern="1200"/>
  </cs:dataLabel>
  <cs:dataLabelCallout>
    <cs:lnRef idx="0"/>
    <cs:fillRef idx="0"/>
    <cs:effectRef idx="0"/>
    <cs:fontRef idx="minor">
      <a:schemeClr val="dk2">
        <a:lumMod val="7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chemeClr val="tx2"/>
    </cs:fontRef>
  </cs:dataPoint>
  <cs:dataPoint3D>
    <cs:lnRef idx="0"/>
    <cs:fillRef idx="3">
      <cs:styleClr val="auto"/>
    </cs:fillRef>
    <cs:effectRef idx="2"/>
    <cs:fontRef idx="minor">
      <a:schemeClr val="tx2"/>
    </cs:fontRef>
  </cs:dataPoint3D>
  <cs:dataPointLine>
    <cs:lnRef idx="0">
      <cs:styleClr val="auto"/>
    </cs:lnRef>
    <cs:fillRef idx="3"/>
    <cs:effectRef idx="2"/>
    <cs:fontRef idx="minor">
      <a:schemeClr val="tx2"/>
    </cs:fontRef>
    <cs:spPr>
      <a:ln w="9525" cap="rnd">
        <a:solidFill>
          <a:schemeClr val="phClr"/>
        </a:solidFill>
        <a:round/>
      </a:ln>
    </cs:spPr>
  </cs:dataPointLine>
  <cs:dataPointMarker>
    <cs:lnRef idx="0">
      <cs:styleClr val="auto"/>
    </cs:lnRef>
    <cs:fillRef idx="3">
      <cs:styleClr val="auto"/>
    </cs:fillRef>
    <cs:effectRef idx="2"/>
    <cs:fontRef idx="minor">
      <a:schemeClr val="tx2"/>
    </cs:fontRef>
    <cs:spPr>
      <a:ln w="9525">
        <a:solidFill>
          <a:schemeClr val="phClr"/>
        </a:solidFill>
        <a:round/>
      </a:ln>
    </cs:spPr>
  </cs:dataPointMarker>
  <cs:dataPointMarkerLayout symbol="circle" size="5"/>
  <cs:dataPointWireframe>
    <cs:lnRef idx="0">
      <cs:styleClr val="auto"/>
    </cs:lnRef>
    <cs:fillRef idx="3"/>
    <cs:effectRef idx="2"/>
    <cs:fontRef idx="minor">
      <a:schemeClr val="tx2"/>
    </cs:fontRef>
    <cs:spPr>
      <a:ln w="952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a:solidFill>
          <a:schemeClr val="tx2">
            <a:lumMod val="60000"/>
            <a:lumOff val="40000"/>
          </a:schemeClr>
        </a:solidFill>
        <a:prstDash val="dash"/>
      </a:ln>
    </cs:spPr>
  </cs:dropLine>
  <cs:errorBar>
    <cs:lnRef idx="0"/>
    <cs:fillRef idx="0"/>
    <cs:effectRef idx="0"/>
    <cs:fontRef idx="minor">
      <a:schemeClr val="tx2"/>
    </cs:fontRef>
    <cs:spPr>
      <a:ln w="9525">
        <a:solidFill>
          <a:schemeClr val="tx2">
            <a:lumMod val="7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5000"/>
            <a:lumOff val="95000"/>
          </a:schemeClr>
        </a:solidFill>
      </a:ln>
    </cs:spPr>
  </cs:gridlineMinor>
  <cs:hiLoLine>
    <cs:lnRef idx="0"/>
    <cs:fillRef idx="0"/>
    <cs:effectRef idx="0"/>
    <cs:fontRef idx="minor">
      <a:schemeClr val="tx2"/>
    </cs:fontRef>
    <cs:spPr>
      <a:ln w="9525">
        <a:solidFill>
          <a:schemeClr val="tx2">
            <a:lumMod val="60000"/>
            <a:lumOff val="40000"/>
          </a:schemeClr>
        </a:solidFill>
        <a:prstDash val="dash"/>
      </a:ln>
    </cs:spPr>
  </cs:hiLoLine>
  <cs:leaderLine>
    <cs:lnRef idx="0"/>
    <cs:fillRef idx="0"/>
    <cs:effectRef idx="0"/>
    <cs:fontRef idx="minor">
      <a:schemeClr val="tx2"/>
    </cs:fontRef>
    <cs:spPr>
      <a:ln w="9525">
        <a:solidFill>
          <a:schemeClr val="tx2">
            <a:lumMod val="35000"/>
            <a:lumOff val="65000"/>
          </a:schemeClr>
        </a:solidFill>
      </a:ln>
    </cs:spPr>
  </cs:leaderLine>
  <cs:legend>
    <cs:lnRef idx="0"/>
    <cs:fillRef idx="0"/>
    <cs:effectRef idx="0"/>
    <cs:fontRef idx="minor">
      <a:schemeClr val="tx2"/>
    </cs:fontRef>
    <cs:defRPr sz="1197" kern="12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1197" kern="1200"/>
  </cs:seriesAxis>
  <cs:seriesLine>
    <cs:lnRef idx="0"/>
    <cs:fillRef idx="0"/>
    <cs:effectRef idx="0"/>
    <cs:fontRef idx="minor">
      <a:schemeClr val="tx2"/>
    </cs:fontRef>
    <cs:spPr>
      <a:ln w="9525">
        <a:solidFill>
          <a:schemeClr val="tx2">
            <a:lumMod val="60000"/>
            <a:lumOff val="40000"/>
          </a:schemeClr>
        </a:solidFill>
        <a:prstDash val="dash"/>
      </a:ln>
    </cs:spPr>
  </cs:seriesLine>
  <cs:title>
    <cs:lnRef idx="0"/>
    <cs:fillRef idx="0"/>
    <cs:effectRef idx="0"/>
    <cs:fontRef idx="minor">
      <a:schemeClr val="tx2"/>
    </cs:fontRef>
    <cs:defRPr sz="2128" b="1" kern="1200"/>
  </cs:title>
  <cs:trendline>
    <cs:lnRef idx="0">
      <cs:styleClr val="auto"/>
    </cs:lnRef>
    <cs:fillRef idx="0"/>
    <cs:effectRef idx="0"/>
    <cs:fontRef idx="minor">
      <a:schemeClr val="tx2"/>
    </cs:fontRef>
    <cs:spPr>
      <a:ln w="9525" cap="rnd">
        <a:solidFill>
          <a:schemeClr val="phClr"/>
        </a:solidFill>
      </a:ln>
    </cs:spPr>
  </cs:trendline>
  <cs:trendlineLabel>
    <cs:lnRef idx="0"/>
    <cs:fillRef idx="0"/>
    <cs:effectRef idx="0"/>
    <cs:fontRef idx="minor">
      <a:schemeClr val="tx2"/>
    </cs:fontRef>
    <cs:defRPr sz="1197" kern="1200"/>
  </cs:trendlineLabel>
  <cs:upBar>
    <cs:lnRef idx="0"/>
    <cs:fillRef idx="0"/>
    <cs:effectRef idx="0"/>
    <cs:fontRef idx="minor">
      <a:schemeClr val="tx2"/>
    </cs:fontRef>
    <cs:spPr>
      <a:solidFill>
        <a:schemeClr val="lt1"/>
      </a:solidFill>
      <a:ln w="9525">
        <a:solidFill>
          <a:schemeClr val="tx1">
            <a:lumMod val="15000"/>
            <a:lumOff val="85000"/>
          </a:schemeClr>
        </a:solidFill>
      </a:ln>
    </cs:spPr>
  </cs:upBar>
  <cs:valueAxis>
    <cs:lnRef idx="0"/>
    <cs:fillRef idx="0"/>
    <cs:effectRef idx="0"/>
    <cs:fontRef idx="minor">
      <a:schemeClr val="tx2"/>
    </cs:fontRef>
    <cs:spPr>
      <a:ln>
        <a:solidFill>
          <a:schemeClr val="tx2">
            <a:lumMod val="40000"/>
            <a:lumOff val="60000"/>
          </a:schemeClr>
        </a:solidFill>
      </a:ln>
    </cs:spPr>
    <cs:defRPr sz="1197" kern="1200"/>
  </cs:valueAxis>
  <cs:wall>
    <cs:lnRef idx="0"/>
    <cs:fillRef idx="0"/>
    <cs:effectRef idx="0"/>
    <cs:fontRef idx="minor">
      <a:schemeClr val="tx2"/>
    </cs:fontRef>
  </cs:wall>
</cs:chartStyle>
</file>

<file path=ppt/charts/style5.xml><?xml version="1.0" encoding="utf-8"?>
<cs:chartStyle xmlns:cs="http://schemas.microsoft.com/office/drawing/2012/chartStyle" xmlns:a="http://schemas.openxmlformats.org/drawingml/2006/main" id="242">
  <cs:axisTitle>
    <cs:lnRef idx="0"/>
    <cs:fillRef idx="0"/>
    <cs:effectRef idx="0"/>
    <cs:fontRef idx="minor">
      <a:schemeClr val="tx2"/>
    </cs:fontRef>
    <cs:defRPr sz="1197" b="1" kern="1200"/>
  </cs:axisTitle>
  <cs:categoryAxis>
    <cs:lnRef idx="0"/>
    <cs:fillRef idx="0"/>
    <cs:effectRef idx="0"/>
    <cs:fontRef idx="minor">
      <a:schemeClr val="tx2"/>
    </cs:fontRef>
    <cs:spPr>
      <a:ln w="9525" cap="flat" cmpd="sng" algn="ctr">
        <a:solidFill>
          <a:schemeClr val="tx2">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1197" kern="1200"/>
  </cs:chartArea>
  <cs:dataLabel>
    <cs:lnRef idx="0"/>
    <cs:fillRef idx="0"/>
    <cs:effectRef idx="0"/>
    <cs:fontRef idx="minor">
      <a:schemeClr val="tx2"/>
    </cs:fontRef>
    <cs:defRPr sz="1197" kern="1200"/>
  </cs:dataLabel>
  <cs:dataLabelCallout>
    <cs:lnRef idx="0"/>
    <cs:fillRef idx="0"/>
    <cs:effectRef idx="0"/>
    <cs:fontRef idx="minor">
      <a:schemeClr val="dk2">
        <a:lumMod val="7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chemeClr val="tx2"/>
    </cs:fontRef>
  </cs:dataPoint>
  <cs:dataPoint3D>
    <cs:lnRef idx="0"/>
    <cs:fillRef idx="3">
      <cs:styleClr val="auto"/>
    </cs:fillRef>
    <cs:effectRef idx="2"/>
    <cs:fontRef idx="minor">
      <a:schemeClr val="tx2"/>
    </cs:fontRef>
  </cs:dataPoint3D>
  <cs:dataPointLine>
    <cs:lnRef idx="0">
      <cs:styleClr val="auto"/>
    </cs:lnRef>
    <cs:fillRef idx="3"/>
    <cs:effectRef idx="2"/>
    <cs:fontRef idx="minor">
      <a:schemeClr val="tx2"/>
    </cs:fontRef>
    <cs:spPr>
      <a:ln w="9525" cap="rnd">
        <a:solidFill>
          <a:schemeClr val="phClr"/>
        </a:solidFill>
        <a:round/>
      </a:ln>
    </cs:spPr>
  </cs:dataPointLine>
  <cs:dataPointMarker>
    <cs:lnRef idx="0">
      <cs:styleClr val="auto"/>
    </cs:lnRef>
    <cs:fillRef idx="3">
      <cs:styleClr val="auto"/>
    </cs:fillRef>
    <cs:effectRef idx="2"/>
    <cs:fontRef idx="minor">
      <a:schemeClr val="tx2"/>
    </cs:fontRef>
    <cs:spPr>
      <a:ln w="9525">
        <a:solidFill>
          <a:schemeClr val="phClr"/>
        </a:solidFill>
        <a:round/>
      </a:ln>
    </cs:spPr>
  </cs:dataPointMarker>
  <cs:dataPointMarkerLayout symbol="circle" size="5"/>
  <cs:dataPointWireframe>
    <cs:lnRef idx="0">
      <cs:styleClr val="auto"/>
    </cs:lnRef>
    <cs:fillRef idx="3"/>
    <cs:effectRef idx="2"/>
    <cs:fontRef idx="minor">
      <a:schemeClr val="tx2"/>
    </cs:fontRef>
    <cs:spPr>
      <a:ln w="952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a:solidFill>
          <a:schemeClr val="tx2">
            <a:lumMod val="60000"/>
            <a:lumOff val="40000"/>
          </a:schemeClr>
        </a:solidFill>
        <a:prstDash val="dash"/>
      </a:ln>
    </cs:spPr>
  </cs:dropLine>
  <cs:errorBar>
    <cs:lnRef idx="0"/>
    <cs:fillRef idx="0"/>
    <cs:effectRef idx="0"/>
    <cs:fontRef idx="minor">
      <a:schemeClr val="tx2"/>
    </cs:fontRef>
    <cs:spPr>
      <a:ln w="9525">
        <a:solidFill>
          <a:schemeClr val="tx2">
            <a:lumMod val="7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5000"/>
            <a:lumOff val="95000"/>
          </a:schemeClr>
        </a:solidFill>
      </a:ln>
    </cs:spPr>
  </cs:gridlineMinor>
  <cs:hiLoLine>
    <cs:lnRef idx="0"/>
    <cs:fillRef idx="0"/>
    <cs:effectRef idx="0"/>
    <cs:fontRef idx="minor">
      <a:schemeClr val="tx2"/>
    </cs:fontRef>
    <cs:spPr>
      <a:ln w="9525">
        <a:solidFill>
          <a:schemeClr val="tx2">
            <a:lumMod val="60000"/>
            <a:lumOff val="40000"/>
          </a:schemeClr>
        </a:solidFill>
        <a:prstDash val="dash"/>
      </a:ln>
    </cs:spPr>
  </cs:hiLoLine>
  <cs:leaderLine>
    <cs:lnRef idx="0"/>
    <cs:fillRef idx="0"/>
    <cs:effectRef idx="0"/>
    <cs:fontRef idx="minor">
      <a:schemeClr val="tx2"/>
    </cs:fontRef>
    <cs:spPr>
      <a:ln w="9525">
        <a:solidFill>
          <a:schemeClr val="tx2">
            <a:lumMod val="35000"/>
            <a:lumOff val="65000"/>
          </a:schemeClr>
        </a:solidFill>
      </a:ln>
    </cs:spPr>
  </cs:leaderLine>
  <cs:legend>
    <cs:lnRef idx="0"/>
    <cs:fillRef idx="0"/>
    <cs:effectRef idx="0"/>
    <cs:fontRef idx="minor">
      <a:schemeClr val="tx2"/>
    </cs:fontRef>
    <cs:defRPr sz="1197" kern="12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1197" kern="1200"/>
  </cs:seriesAxis>
  <cs:seriesLine>
    <cs:lnRef idx="0"/>
    <cs:fillRef idx="0"/>
    <cs:effectRef idx="0"/>
    <cs:fontRef idx="minor">
      <a:schemeClr val="tx2"/>
    </cs:fontRef>
    <cs:spPr>
      <a:ln w="9525">
        <a:solidFill>
          <a:schemeClr val="tx2">
            <a:lumMod val="60000"/>
            <a:lumOff val="40000"/>
          </a:schemeClr>
        </a:solidFill>
        <a:prstDash val="dash"/>
      </a:ln>
    </cs:spPr>
  </cs:seriesLine>
  <cs:title>
    <cs:lnRef idx="0"/>
    <cs:fillRef idx="0"/>
    <cs:effectRef idx="0"/>
    <cs:fontRef idx="minor">
      <a:schemeClr val="tx2"/>
    </cs:fontRef>
    <cs:defRPr sz="2128" b="1" kern="1200"/>
  </cs:title>
  <cs:trendline>
    <cs:lnRef idx="0">
      <cs:styleClr val="auto"/>
    </cs:lnRef>
    <cs:fillRef idx="0"/>
    <cs:effectRef idx="0"/>
    <cs:fontRef idx="minor">
      <a:schemeClr val="tx2"/>
    </cs:fontRef>
    <cs:spPr>
      <a:ln w="9525" cap="rnd">
        <a:solidFill>
          <a:schemeClr val="phClr"/>
        </a:solidFill>
      </a:ln>
    </cs:spPr>
  </cs:trendline>
  <cs:trendlineLabel>
    <cs:lnRef idx="0"/>
    <cs:fillRef idx="0"/>
    <cs:effectRef idx="0"/>
    <cs:fontRef idx="minor">
      <a:schemeClr val="tx2"/>
    </cs:fontRef>
    <cs:defRPr sz="1197" kern="1200"/>
  </cs:trendlineLabel>
  <cs:upBar>
    <cs:lnRef idx="0"/>
    <cs:fillRef idx="0"/>
    <cs:effectRef idx="0"/>
    <cs:fontRef idx="minor">
      <a:schemeClr val="tx2"/>
    </cs:fontRef>
    <cs:spPr>
      <a:solidFill>
        <a:schemeClr val="lt1"/>
      </a:solidFill>
      <a:ln w="9525">
        <a:solidFill>
          <a:schemeClr val="tx1">
            <a:lumMod val="15000"/>
            <a:lumOff val="85000"/>
          </a:schemeClr>
        </a:solidFill>
      </a:ln>
    </cs:spPr>
  </cs:upBar>
  <cs:valueAxis>
    <cs:lnRef idx="0"/>
    <cs:fillRef idx="0"/>
    <cs:effectRef idx="0"/>
    <cs:fontRef idx="minor">
      <a:schemeClr val="tx2"/>
    </cs:fontRef>
    <cs:spPr>
      <a:ln>
        <a:solidFill>
          <a:schemeClr val="tx2">
            <a:lumMod val="40000"/>
            <a:lumOff val="60000"/>
          </a:schemeClr>
        </a:solidFill>
      </a:ln>
    </cs:spPr>
    <cs:defRPr sz="1197" kern="1200"/>
  </cs:valueAxis>
  <cs:wall>
    <cs:lnRef idx="0"/>
    <cs:fillRef idx="0"/>
    <cs:effectRef idx="0"/>
    <cs:fontRef idx="minor">
      <a:schemeClr val="tx2"/>
    </cs:fontRef>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BDB7646E-8811-423A-9C42-2CBFADA00A96}" type="datetimeFigureOut">
              <a:rPr lang="en-US" smtClean="0"/>
              <a:t>1/25/2018</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04360E59-1627-4404-ACC5-51C744AB0F27}" type="slidenum">
              <a:rPr lang="en-US" smtClean="0"/>
              <a:t>‹#›</a:t>
            </a:fld>
            <a:endParaRPr lang="en-US"/>
          </a:p>
        </p:txBody>
      </p:sp>
    </p:spTree>
    <p:extLst>
      <p:ext uri="{BB962C8B-B14F-4D97-AF65-F5344CB8AC3E}">
        <p14:creationId xmlns:p14="http://schemas.microsoft.com/office/powerpoint/2010/main" val="5162254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solidFill>
                  <a:schemeClr val="tx1"/>
                </a:solidFill>
              </a:defRPr>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solidFill>
                  <a:schemeClr val="tx1"/>
                </a:solidFill>
              </a:defRPr>
            </a:lvl1pPr>
          </a:lstStyle>
          <a:p>
            <a:fld id="{D677E230-58DD-43ED-96A1-552DDAB53532}" type="datetimeFigureOut">
              <a:rPr lang="en-US" smtClean="0"/>
              <a:pPr/>
              <a:t>1/25/2018</a:t>
            </a:fld>
            <a:endParaRPr lang="en-US"/>
          </a:p>
        </p:txBody>
      </p:sp>
      <p:sp>
        <p:nvSpPr>
          <p:cNvPr id="4" name="Slide Image Placeholder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solidFill>
                  <a:schemeClr val="tx1"/>
                </a:solidFill>
              </a:defRPr>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solidFill>
                  <a:schemeClr val="tx1"/>
                </a:solidFill>
              </a:defRPr>
            </a:lvl1pPr>
          </a:lstStyle>
          <a:p>
            <a:fld id="{841221E5-7225-48EB-A4EE-420E7BFCF705}" type="slidenum">
              <a:rPr lang="en-US" smtClean="0"/>
              <a:pPr/>
              <a:t>‹#›</a:t>
            </a:fld>
            <a:endParaRPr lang="en-US"/>
          </a:p>
        </p:txBody>
      </p:sp>
    </p:spTree>
    <p:extLst>
      <p:ext uri="{BB962C8B-B14F-4D97-AF65-F5344CB8AC3E}">
        <p14:creationId xmlns:p14="http://schemas.microsoft.com/office/powerpoint/2010/main" val="15566699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2"/>
        </a:solidFill>
        <a:latin typeface="+mn-lt"/>
        <a:ea typeface="+mn-ea"/>
        <a:cs typeface="+mn-cs"/>
      </a:defRPr>
    </a:lvl1pPr>
    <a:lvl2pPr marL="457200" algn="l" defTabSz="914400" rtl="0" eaLnBrk="1" latinLnBrk="0" hangingPunct="1">
      <a:defRPr sz="1200" kern="1200">
        <a:solidFill>
          <a:schemeClr val="tx2"/>
        </a:solidFill>
        <a:latin typeface="+mn-lt"/>
        <a:ea typeface="+mn-ea"/>
        <a:cs typeface="+mn-cs"/>
      </a:defRPr>
    </a:lvl2pPr>
    <a:lvl3pPr marL="914400" algn="l" defTabSz="914400" rtl="0" eaLnBrk="1" latinLnBrk="0" hangingPunct="1">
      <a:defRPr sz="1200" kern="1200">
        <a:solidFill>
          <a:schemeClr val="tx2"/>
        </a:solidFill>
        <a:latin typeface="+mn-lt"/>
        <a:ea typeface="+mn-ea"/>
        <a:cs typeface="+mn-cs"/>
      </a:defRPr>
    </a:lvl3pPr>
    <a:lvl4pPr marL="1371600" algn="l" defTabSz="914400" rtl="0" eaLnBrk="1" latinLnBrk="0" hangingPunct="1">
      <a:defRPr sz="1200" kern="1200">
        <a:solidFill>
          <a:schemeClr val="tx2"/>
        </a:solidFill>
        <a:latin typeface="+mn-lt"/>
        <a:ea typeface="+mn-ea"/>
        <a:cs typeface="+mn-cs"/>
      </a:defRPr>
    </a:lvl4pPr>
    <a:lvl5pPr marL="1828800" algn="l" defTabSz="914400" rtl="0" eaLnBrk="1" latinLnBrk="0" hangingPunct="1">
      <a:defRPr sz="1200" kern="1200">
        <a:solidFill>
          <a:schemeClr val="tx2"/>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41221E5-7225-48EB-A4EE-420E7BFCF705}" type="slidenum">
              <a:rPr lang="en-US" smtClean="0"/>
              <a:pPr/>
              <a:t>1</a:t>
            </a:fld>
            <a:endParaRPr lang="en-US"/>
          </a:p>
        </p:txBody>
      </p:sp>
    </p:spTree>
    <p:extLst>
      <p:ext uri="{BB962C8B-B14F-4D97-AF65-F5344CB8AC3E}">
        <p14:creationId xmlns:p14="http://schemas.microsoft.com/office/powerpoint/2010/main" val="3347561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41221E5-7225-48EB-A4EE-420E7BFCF705}" type="slidenum">
              <a:rPr lang="en-US" smtClean="0"/>
              <a:pPr/>
              <a:t>3</a:t>
            </a:fld>
            <a:endParaRPr lang="en-US"/>
          </a:p>
        </p:txBody>
      </p:sp>
    </p:spTree>
    <p:extLst>
      <p:ext uri="{BB962C8B-B14F-4D97-AF65-F5344CB8AC3E}">
        <p14:creationId xmlns:p14="http://schemas.microsoft.com/office/powerpoint/2010/main" val="7201880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41221E5-7225-48EB-A4EE-420E7BFCF705}" type="slidenum">
              <a:rPr lang="en-US" smtClean="0"/>
              <a:pPr/>
              <a:t>4</a:t>
            </a:fld>
            <a:endParaRPr lang="en-US"/>
          </a:p>
        </p:txBody>
      </p:sp>
    </p:spTree>
    <p:extLst>
      <p:ext uri="{BB962C8B-B14F-4D97-AF65-F5344CB8AC3E}">
        <p14:creationId xmlns:p14="http://schemas.microsoft.com/office/powerpoint/2010/main" val="6323195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41221E5-7225-48EB-A4EE-420E7BFCF705}" type="slidenum">
              <a:rPr lang="en-US" smtClean="0"/>
              <a:pPr/>
              <a:t>5</a:t>
            </a:fld>
            <a:endParaRPr lang="en-US"/>
          </a:p>
        </p:txBody>
      </p:sp>
    </p:spTree>
    <p:extLst>
      <p:ext uri="{BB962C8B-B14F-4D97-AF65-F5344CB8AC3E}">
        <p14:creationId xmlns:p14="http://schemas.microsoft.com/office/powerpoint/2010/main" val="12443498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41221E5-7225-48EB-A4EE-420E7BFCF705}" type="slidenum">
              <a:rPr lang="en-US" smtClean="0"/>
              <a:pPr/>
              <a:t>6</a:t>
            </a:fld>
            <a:endParaRPr lang="en-US"/>
          </a:p>
        </p:txBody>
      </p:sp>
    </p:spTree>
    <p:extLst>
      <p:ext uri="{BB962C8B-B14F-4D97-AF65-F5344CB8AC3E}">
        <p14:creationId xmlns:p14="http://schemas.microsoft.com/office/powerpoint/2010/main" val="11427691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41221E5-7225-48EB-A4EE-420E7BFCF705}" type="slidenum">
              <a:rPr lang="en-US" smtClean="0"/>
              <a:pPr/>
              <a:t>7</a:t>
            </a:fld>
            <a:endParaRPr lang="en-US"/>
          </a:p>
        </p:txBody>
      </p:sp>
    </p:spTree>
    <p:extLst>
      <p:ext uri="{BB962C8B-B14F-4D97-AF65-F5344CB8AC3E}">
        <p14:creationId xmlns:p14="http://schemas.microsoft.com/office/powerpoint/2010/main" val="5108457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41221E5-7225-48EB-A4EE-420E7BFCF705}" type="slidenum">
              <a:rPr lang="en-US" smtClean="0"/>
              <a:pPr/>
              <a:t>8</a:t>
            </a:fld>
            <a:endParaRPr lang="en-US"/>
          </a:p>
        </p:txBody>
      </p:sp>
    </p:spTree>
    <p:extLst>
      <p:ext uri="{BB962C8B-B14F-4D97-AF65-F5344CB8AC3E}">
        <p14:creationId xmlns:p14="http://schemas.microsoft.com/office/powerpoint/2010/main" val="7811780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41221E5-7225-48EB-A4EE-420E7BFCF705}" type="slidenum">
              <a:rPr lang="en-US" smtClean="0"/>
              <a:pPr/>
              <a:t>9</a:t>
            </a:fld>
            <a:endParaRPr lang="en-US"/>
          </a:p>
        </p:txBody>
      </p:sp>
    </p:spTree>
    <p:extLst>
      <p:ext uri="{BB962C8B-B14F-4D97-AF65-F5344CB8AC3E}">
        <p14:creationId xmlns:p14="http://schemas.microsoft.com/office/powerpoint/2010/main" val="13492765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41221E5-7225-48EB-A4EE-420E7BFCF705}" type="slidenum">
              <a:rPr lang="en-US" smtClean="0"/>
              <a:pPr/>
              <a:t>10</a:t>
            </a:fld>
            <a:endParaRPr lang="en-US"/>
          </a:p>
        </p:txBody>
      </p:sp>
    </p:spTree>
    <p:extLst>
      <p:ext uri="{BB962C8B-B14F-4D97-AF65-F5344CB8AC3E}">
        <p14:creationId xmlns:p14="http://schemas.microsoft.com/office/powerpoint/2010/main" val="4117827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Dimensionality reduction (PCA &amp; friends) </a:t>
            </a:r>
            <a:r>
              <a:rPr lang="en-US" dirty="0" err="1" smtClean="0"/>
              <a:t>andManifold</a:t>
            </a:r>
            <a:r>
              <a:rPr lang="en-US" dirty="0" smtClean="0"/>
              <a:t> learning/methods are also unsupervised.</a:t>
            </a:r>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11</a:t>
            </a:fld>
            <a:endParaRPr lang="en-US"/>
          </a:p>
        </p:txBody>
      </p:sp>
    </p:spTree>
    <p:extLst>
      <p:ext uri="{BB962C8B-B14F-4D97-AF65-F5344CB8AC3E}">
        <p14:creationId xmlns:p14="http://schemas.microsoft.com/office/powerpoint/2010/main" val="10589758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41221E5-7225-48EB-A4EE-420E7BFCF705}" type="slidenum">
              <a:rPr lang="en-US" smtClean="0"/>
              <a:pPr/>
              <a:t>12</a:t>
            </a:fld>
            <a:endParaRPr lang="en-US"/>
          </a:p>
        </p:txBody>
      </p:sp>
    </p:spTree>
    <p:extLst>
      <p:ext uri="{BB962C8B-B14F-4D97-AF65-F5344CB8AC3E}">
        <p14:creationId xmlns:p14="http://schemas.microsoft.com/office/powerpoint/2010/main" val="24555812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41221E5-7225-48EB-A4EE-420E7BFCF705}" type="slidenum">
              <a:rPr lang="en-US" smtClean="0"/>
              <a:pPr/>
              <a:t>13</a:t>
            </a:fld>
            <a:endParaRPr lang="en-US"/>
          </a:p>
        </p:txBody>
      </p:sp>
    </p:spTree>
    <p:extLst>
      <p:ext uri="{BB962C8B-B14F-4D97-AF65-F5344CB8AC3E}">
        <p14:creationId xmlns:p14="http://schemas.microsoft.com/office/powerpoint/2010/main" val="191149164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14</a:t>
            </a:fld>
            <a:endParaRPr lang="en-US"/>
          </a:p>
        </p:txBody>
      </p:sp>
    </p:spTree>
    <p:extLst>
      <p:ext uri="{BB962C8B-B14F-4D97-AF65-F5344CB8AC3E}">
        <p14:creationId xmlns:p14="http://schemas.microsoft.com/office/powerpoint/2010/main" val="18825283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41221E5-7225-48EB-A4EE-420E7BFCF705}" type="slidenum">
              <a:rPr lang="en-US" smtClean="0"/>
              <a:pPr/>
              <a:t>15</a:t>
            </a:fld>
            <a:endParaRPr lang="en-US"/>
          </a:p>
        </p:txBody>
      </p:sp>
    </p:spTree>
    <p:extLst>
      <p:ext uri="{BB962C8B-B14F-4D97-AF65-F5344CB8AC3E}">
        <p14:creationId xmlns:p14="http://schemas.microsoft.com/office/powerpoint/2010/main" val="68189256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41221E5-7225-48EB-A4EE-420E7BFCF705}" type="slidenum">
              <a:rPr lang="en-US" smtClean="0"/>
              <a:pPr/>
              <a:t>16</a:t>
            </a:fld>
            <a:endParaRPr lang="en-US"/>
          </a:p>
        </p:txBody>
      </p:sp>
    </p:spTree>
    <p:extLst>
      <p:ext uri="{BB962C8B-B14F-4D97-AF65-F5344CB8AC3E}">
        <p14:creationId xmlns:p14="http://schemas.microsoft.com/office/powerpoint/2010/main" val="119513575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Recall in many formulations,</a:t>
            </a:r>
            <a:r>
              <a:rPr lang="en-US" baseline="0" dirty="0" smtClean="0"/>
              <a:t> the data D = {x_1 </a:t>
            </a:r>
            <a:r>
              <a:rPr lang="mr-IN" baseline="0" dirty="0" smtClean="0"/>
              <a:t>…</a:t>
            </a:r>
            <a:r>
              <a:rPr lang="en-US" baseline="0" dirty="0" smtClean="0"/>
              <a:t> </a:t>
            </a:r>
            <a:r>
              <a:rPr lang="en-US" baseline="0" dirty="0" err="1" smtClean="0"/>
              <a:t>x_n</a:t>
            </a:r>
            <a:r>
              <a:rPr lang="en-US" baseline="0" dirty="0" smtClean="0"/>
              <a:t>} are “augmented” with a constant column vector x_0 = 1.  Then the b weight is simply w_0.  Most of our models *do not* do this (i.e., we keep b as a special, standalone weight.)</a:t>
            </a:r>
          </a:p>
          <a:p>
            <a:endParaRPr lang="en-US" baseline="0" dirty="0" smtClean="0"/>
          </a:p>
          <a:p>
            <a:r>
              <a:rPr lang="en-US" baseline="0" dirty="0" smtClean="0"/>
              <a:t>ill-conditioned means that the numerical calculations needed to find it will “blow up” and give inaccurate answers, even with the best care and attention to detail.  It’s a fundamental limitation of floating-point numbers.</a:t>
            </a:r>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17</a:t>
            </a:fld>
            <a:endParaRPr lang="en-US"/>
          </a:p>
        </p:txBody>
      </p:sp>
    </p:spTree>
    <p:extLst>
      <p:ext uri="{BB962C8B-B14F-4D97-AF65-F5344CB8AC3E}">
        <p14:creationId xmlns:p14="http://schemas.microsoft.com/office/powerpoint/2010/main" val="74317677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41221E5-7225-48EB-A4EE-420E7BFCF705}" type="slidenum">
              <a:rPr lang="en-US" smtClean="0"/>
              <a:pPr/>
              <a:t>18</a:t>
            </a:fld>
            <a:endParaRPr lang="en-US"/>
          </a:p>
        </p:txBody>
      </p:sp>
    </p:spTree>
    <p:extLst>
      <p:ext uri="{BB962C8B-B14F-4D97-AF65-F5344CB8AC3E}">
        <p14:creationId xmlns:p14="http://schemas.microsoft.com/office/powerpoint/2010/main" val="65449006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41221E5-7225-48EB-A4EE-420E7BFCF705}" type="slidenum">
              <a:rPr lang="en-US" smtClean="0"/>
              <a:pPr/>
              <a:t>19</a:t>
            </a:fld>
            <a:endParaRPr lang="en-US"/>
          </a:p>
        </p:txBody>
      </p:sp>
    </p:spTree>
    <p:extLst>
      <p:ext uri="{BB962C8B-B14F-4D97-AF65-F5344CB8AC3E}">
        <p14:creationId xmlns:p14="http://schemas.microsoft.com/office/powerpoint/2010/main" val="36712794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41221E5-7225-48EB-A4EE-420E7BFCF705}" type="slidenum">
              <a:rPr lang="en-US" smtClean="0"/>
              <a:pPr/>
              <a:t>20</a:t>
            </a:fld>
            <a:endParaRPr lang="en-US"/>
          </a:p>
        </p:txBody>
      </p:sp>
    </p:spTree>
    <p:extLst>
      <p:ext uri="{BB962C8B-B14F-4D97-AF65-F5344CB8AC3E}">
        <p14:creationId xmlns:p14="http://schemas.microsoft.com/office/powerpoint/2010/main" val="93488854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41221E5-7225-48EB-A4EE-420E7BFCF705}" type="slidenum">
              <a:rPr lang="en-US" smtClean="0"/>
              <a:pPr/>
              <a:t>21</a:t>
            </a:fld>
            <a:endParaRPr lang="en-US"/>
          </a:p>
        </p:txBody>
      </p:sp>
    </p:spTree>
    <p:extLst>
      <p:ext uri="{BB962C8B-B14F-4D97-AF65-F5344CB8AC3E}">
        <p14:creationId xmlns:p14="http://schemas.microsoft.com/office/powerpoint/2010/main" val="165867656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41221E5-7225-48EB-A4EE-420E7BFCF705}" type="slidenum">
              <a:rPr lang="en-US" smtClean="0"/>
              <a:pPr/>
              <a:t>22</a:t>
            </a:fld>
            <a:endParaRPr lang="en-US"/>
          </a:p>
        </p:txBody>
      </p:sp>
    </p:spTree>
    <p:extLst>
      <p:ext uri="{BB962C8B-B14F-4D97-AF65-F5344CB8AC3E}">
        <p14:creationId xmlns:p14="http://schemas.microsoft.com/office/powerpoint/2010/main" val="119952133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41221E5-7225-48EB-A4EE-420E7BFCF705}" type="slidenum">
              <a:rPr lang="en-US" smtClean="0"/>
              <a:pPr/>
              <a:t>23</a:t>
            </a:fld>
            <a:endParaRPr lang="en-US"/>
          </a:p>
        </p:txBody>
      </p:sp>
    </p:spTree>
    <p:extLst>
      <p:ext uri="{BB962C8B-B14F-4D97-AF65-F5344CB8AC3E}">
        <p14:creationId xmlns:p14="http://schemas.microsoft.com/office/powerpoint/2010/main" val="179296131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41221E5-7225-48EB-A4EE-420E7BFCF705}" type="slidenum">
              <a:rPr lang="en-US" smtClean="0"/>
              <a:pPr/>
              <a:t>24</a:t>
            </a:fld>
            <a:endParaRPr lang="en-US"/>
          </a:p>
        </p:txBody>
      </p:sp>
    </p:spTree>
    <p:extLst>
      <p:ext uri="{BB962C8B-B14F-4D97-AF65-F5344CB8AC3E}">
        <p14:creationId xmlns:p14="http://schemas.microsoft.com/office/powerpoint/2010/main" val="79590345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41221E5-7225-48EB-A4EE-420E7BFCF705}" type="slidenum">
              <a:rPr lang="en-US" smtClean="0"/>
              <a:pPr/>
              <a:t>25</a:t>
            </a:fld>
            <a:endParaRPr lang="en-US"/>
          </a:p>
        </p:txBody>
      </p:sp>
    </p:spTree>
    <p:extLst>
      <p:ext uri="{BB962C8B-B14F-4D97-AF65-F5344CB8AC3E}">
        <p14:creationId xmlns:p14="http://schemas.microsoft.com/office/powerpoint/2010/main" val="65932139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41221E5-7225-48EB-A4EE-420E7BFCF705}" type="slidenum">
              <a:rPr lang="en-US" smtClean="0"/>
              <a:pPr/>
              <a:t>26</a:t>
            </a:fld>
            <a:endParaRPr lang="en-US"/>
          </a:p>
        </p:txBody>
      </p:sp>
    </p:spTree>
    <p:extLst>
      <p:ext uri="{BB962C8B-B14F-4D97-AF65-F5344CB8AC3E}">
        <p14:creationId xmlns:p14="http://schemas.microsoft.com/office/powerpoint/2010/main" val="26086570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41221E5-7225-48EB-A4EE-420E7BFCF705}" type="slidenum">
              <a:rPr lang="en-US" smtClean="0"/>
              <a:pPr/>
              <a:t>27</a:t>
            </a:fld>
            <a:endParaRPr lang="en-US"/>
          </a:p>
        </p:txBody>
      </p:sp>
    </p:spTree>
    <p:extLst>
      <p:ext uri="{BB962C8B-B14F-4D97-AF65-F5344CB8AC3E}">
        <p14:creationId xmlns:p14="http://schemas.microsoft.com/office/powerpoint/2010/main" val="11540190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41221E5-7225-48EB-A4EE-420E7BFCF705}" type="slidenum">
              <a:rPr lang="en-US" smtClean="0"/>
              <a:pPr/>
              <a:t>28</a:t>
            </a:fld>
            <a:endParaRPr lang="en-US"/>
          </a:p>
        </p:txBody>
      </p:sp>
    </p:spTree>
    <p:extLst>
      <p:ext uri="{BB962C8B-B14F-4D97-AF65-F5344CB8AC3E}">
        <p14:creationId xmlns:p14="http://schemas.microsoft.com/office/powerpoint/2010/main" val="135692384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41221E5-7225-48EB-A4EE-420E7BFCF705}" type="slidenum">
              <a:rPr lang="en-US" smtClean="0"/>
              <a:pPr/>
              <a:t>29</a:t>
            </a:fld>
            <a:endParaRPr lang="en-US"/>
          </a:p>
        </p:txBody>
      </p:sp>
    </p:spTree>
    <p:extLst>
      <p:ext uri="{BB962C8B-B14F-4D97-AF65-F5344CB8AC3E}">
        <p14:creationId xmlns:p14="http://schemas.microsoft.com/office/powerpoint/2010/main" val="20475897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41221E5-7225-48EB-A4EE-420E7BFCF705}" type="slidenum">
              <a:rPr lang="en-US" smtClean="0"/>
              <a:pPr/>
              <a:t>30</a:t>
            </a:fld>
            <a:endParaRPr lang="en-US"/>
          </a:p>
        </p:txBody>
      </p:sp>
    </p:spTree>
    <p:extLst>
      <p:ext uri="{BB962C8B-B14F-4D97-AF65-F5344CB8AC3E}">
        <p14:creationId xmlns:p14="http://schemas.microsoft.com/office/powerpoint/2010/main" val="153270075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41221E5-7225-48EB-A4EE-420E7BFCF705}" type="slidenum">
              <a:rPr lang="en-US" smtClean="0"/>
              <a:pPr/>
              <a:t>31</a:t>
            </a:fld>
            <a:endParaRPr lang="en-US"/>
          </a:p>
        </p:txBody>
      </p:sp>
    </p:spTree>
    <p:extLst>
      <p:ext uri="{BB962C8B-B14F-4D97-AF65-F5344CB8AC3E}">
        <p14:creationId xmlns:p14="http://schemas.microsoft.com/office/powerpoint/2010/main" val="134005648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41221E5-7225-48EB-A4EE-420E7BFCF705}" type="slidenum">
              <a:rPr lang="en-US" smtClean="0"/>
              <a:pPr/>
              <a:t>32</a:t>
            </a:fld>
            <a:endParaRPr lang="en-US"/>
          </a:p>
        </p:txBody>
      </p:sp>
    </p:spTree>
    <p:extLst>
      <p:ext uri="{BB962C8B-B14F-4D97-AF65-F5344CB8AC3E}">
        <p14:creationId xmlns:p14="http://schemas.microsoft.com/office/powerpoint/2010/main" val="84791031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41221E5-7225-48EB-A4EE-420E7BFCF705}" type="slidenum">
              <a:rPr lang="en-US" smtClean="0"/>
              <a:pPr/>
              <a:t>33</a:t>
            </a:fld>
            <a:endParaRPr lang="en-US"/>
          </a:p>
        </p:txBody>
      </p:sp>
    </p:spTree>
    <p:extLst>
      <p:ext uri="{BB962C8B-B14F-4D97-AF65-F5344CB8AC3E}">
        <p14:creationId xmlns:p14="http://schemas.microsoft.com/office/powerpoint/2010/main" val="210462095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41221E5-7225-48EB-A4EE-420E7BFCF705}" type="slidenum">
              <a:rPr lang="en-US" smtClean="0"/>
              <a:pPr/>
              <a:t>34</a:t>
            </a:fld>
            <a:endParaRPr lang="en-US"/>
          </a:p>
        </p:txBody>
      </p:sp>
    </p:spTree>
    <p:extLst>
      <p:ext uri="{BB962C8B-B14F-4D97-AF65-F5344CB8AC3E}">
        <p14:creationId xmlns:p14="http://schemas.microsoft.com/office/powerpoint/2010/main" val="119571642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41221E5-7225-48EB-A4EE-420E7BFCF705}" type="slidenum">
              <a:rPr lang="en-US" smtClean="0"/>
              <a:pPr/>
              <a:t>35</a:t>
            </a:fld>
            <a:endParaRPr lang="en-US"/>
          </a:p>
        </p:txBody>
      </p:sp>
    </p:spTree>
    <p:extLst>
      <p:ext uri="{BB962C8B-B14F-4D97-AF65-F5344CB8AC3E}">
        <p14:creationId xmlns:p14="http://schemas.microsoft.com/office/powerpoint/2010/main" val="134034373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41221E5-7225-48EB-A4EE-420E7BFCF705}" type="slidenum">
              <a:rPr lang="en-US" smtClean="0"/>
              <a:pPr/>
              <a:t>36</a:t>
            </a:fld>
            <a:endParaRPr lang="en-US"/>
          </a:p>
        </p:txBody>
      </p:sp>
    </p:spTree>
    <p:extLst>
      <p:ext uri="{BB962C8B-B14F-4D97-AF65-F5344CB8AC3E}">
        <p14:creationId xmlns:p14="http://schemas.microsoft.com/office/powerpoint/2010/main" val="48438338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41221E5-7225-48EB-A4EE-420E7BFCF705}" type="slidenum">
              <a:rPr lang="en-US" smtClean="0"/>
              <a:pPr/>
              <a:t>37</a:t>
            </a:fld>
            <a:endParaRPr lang="en-US"/>
          </a:p>
        </p:txBody>
      </p:sp>
    </p:spTree>
    <p:extLst>
      <p:ext uri="{BB962C8B-B14F-4D97-AF65-F5344CB8AC3E}">
        <p14:creationId xmlns:p14="http://schemas.microsoft.com/office/powerpoint/2010/main" val="38146864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41221E5-7225-48EB-A4EE-420E7BFCF705}" type="slidenum">
              <a:rPr lang="en-US" smtClean="0"/>
              <a:pPr/>
              <a:t>38</a:t>
            </a:fld>
            <a:endParaRPr lang="en-US"/>
          </a:p>
        </p:txBody>
      </p:sp>
    </p:spTree>
    <p:extLst>
      <p:ext uri="{BB962C8B-B14F-4D97-AF65-F5344CB8AC3E}">
        <p14:creationId xmlns:p14="http://schemas.microsoft.com/office/powerpoint/2010/main" val="88589659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41221E5-7225-48EB-A4EE-420E7BFCF705}" type="slidenum">
              <a:rPr lang="en-US" smtClean="0"/>
              <a:pPr/>
              <a:t>39</a:t>
            </a:fld>
            <a:endParaRPr lang="en-US"/>
          </a:p>
        </p:txBody>
      </p:sp>
    </p:spTree>
    <p:extLst>
      <p:ext uri="{BB962C8B-B14F-4D97-AF65-F5344CB8AC3E}">
        <p14:creationId xmlns:p14="http://schemas.microsoft.com/office/powerpoint/2010/main" val="25529103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41221E5-7225-48EB-A4EE-420E7BFCF705}" type="slidenum">
              <a:rPr lang="en-US" smtClean="0"/>
              <a:pPr/>
              <a:t>40</a:t>
            </a:fld>
            <a:endParaRPr lang="en-US"/>
          </a:p>
        </p:txBody>
      </p:sp>
    </p:spTree>
    <p:extLst>
      <p:ext uri="{BB962C8B-B14F-4D97-AF65-F5344CB8AC3E}">
        <p14:creationId xmlns:p14="http://schemas.microsoft.com/office/powerpoint/2010/main" val="104767682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smtClean="0"/>
              <a:t>Compute_gradients</a:t>
            </a:r>
            <a:r>
              <a:rPr lang="en-US" dirty="0" smtClean="0"/>
              <a:t> and </a:t>
            </a:r>
            <a:r>
              <a:rPr lang="en-US" dirty="0" err="1" smtClean="0"/>
              <a:t>apply_gradients</a:t>
            </a:r>
            <a:r>
              <a:rPr lang="en-US" dirty="0" smtClean="0"/>
              <a:t> are normally</a:t>
            </a:r>
            <a:r>
              <a:rPr lang="en-US" baseline="0" dirty="0" smtClean="0"/>
              <a:t> invoked together with </a:t>
            </a:r>
            <a:r>
              <a:rPr lang="en-US" baseline="0" dirty="0" err="1" smtClean="0"/>
              <a:t>Optimizer.minimize</a:t>
            </a:r>
            <a:r>
              <a:rPr lang="en-US" baseline="0" dirty="0" smtClean="0"/>
              <a:t> which is on the next slide.  We would still use </a:t>
            </a:r>
            <a:r>
              <a:rPr lang="en-US" baseline="0" dirty="0" err="1" smtClean="0"/>
              <a:t>compute_gradients</a:t>
            </a:r>
            <a:r>
              <a:rPr lang="en-US" baseline="0" dirty="0" smtClean="0"/>
              <a:t> if we wanted an opportunity to update the gradients in some (non-</a:t>
            </a:r>
            <a:r>
              <a:rPr lang="en-US" baseline="0" dirty="0" err="1" smtClean="0"/>
              <a:t>builtin</a:t>
            </a:r>
            <a:r>
              <a:rPr lang="en-US" baseline="0" dirty="0" smtClean="0"/>
              <a:t>) way before applying them.  TL;DR </a:t>
            </a:r>
            <a:r>
              <a:rPr lang="mr-IN" baseline="0" dirty="0" smtClean="0"/>
              <a:t>–</a:t>
            </a:r>
            <a:r>
              <a:rPr lang="en-US" baseline="0" dirty="0" smtClean="0"/>
              <a:t> </a:t>
            </a:r>
            <a:r>
              <a:rPr lang="en-US" baseline="0" dirty="0" err="1" smtClean="0"/>
              <a:t>compute_grad</a:t>
            </a:r>
            <a:r>
              <a:rPr lang="en-US" baseline="0" dirty="0" smtClean="0"/>
              <a:t> + </a:t>
            </a:r>
            <a:r>
              <a:rPr lang="en-US" baseline="0" dirty="0" err="1" smtClean="0"/>
              <a:t>apply_grad</a:t>
            </a:r>
            <a:r>
              <a:rPr lang="en-US" baseline="0" dirty="0" smtClean="0"/>
              <a:t> = minimize</a:t>
            </a:r>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41</a:t>
            </a:fld>
            <a:endParaRPr lang="en-US"/>
          </a:p>
        </p:txBody>
      </p:sp>
    </p:spTree>
    <p:extLst>
      <p:ext uri="{BB962C8B-B14F-4D97-AF65-F5344CB8AC3E}">
        <p14:creationId xmlns:p14="http://schemas.microsoft.com/office/powerpoint/2010/main" val="1675573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41221E5-7225-48EB-A4EE-420E7BFCF705}" type="slidenum">
              <a:rPr lang="en-US" smtClean="0"/>
              <a:pPr/>
              <a:t>42</a:t>
            </a:fld>
            <a:endParaRPr lang="en-US"/>
          </a:p>
        </p:txBody>
      </p:sp>
    </p:spTree>
    <p:extLst>
      <p:ext uri="{BB962C8B-B14F-4D97-AF65-F5344CB8AC3E}">
        <p14:creationId xmlns:p14="http://schemas.microsoft.com/office/powerpoint/2010/main" val="15292031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41221E5-7225-48EB-A4EE-420E7BFCF705}" type="slidenum">
              <a:rPr lang="en-US" smtClean="0"/>
              <a:pPr/>
              <a:t>43</a:t>
            </a:fld>
            <a:endParaRPr lang="en-US"/>
          </a:p>
        </p:txBody>
      </p:sp>
    </p:spTree>
    <p:extLst>
      <p:ext uri="{BB962C8B-B14F-4D97-AF65-F5344CB8AC3E}">
        <p14:creationId xmlns:p14="http://schemas.microsoft.com/office/powerpoint/2010/main" val="93734245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41221E5-7225-48EB-A4EE-420E7BFCF705}" type="slidenum">
              <a:rPr lang="en-US" smtClean="0"/>
              <a:pPr/>
              <a:t>44</a:t>
            </a:fld>
            <a:endParaRPr lang="en-US"/>
          </a:p>
        </p:txBody>
      </p:sp>
    </p:spTree>
    <p:extLst>
      <p:ext uri="{BB962C8B-B14F-4D97-AF65-F5344CB8AC3E}">
        <p14:creationId xmlns:p14="http://schemas.microsoft.com/office/powerpoint/2010/main" val="44269900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41221E5-7225-48EB-A4EE-420E7BFCF705}" type="slidenum">
              <a:rPr lang="en-US" smtClean="0"/>
              <a:pPr/>
              <a:t>45</a:t>
            </a:fld>
            <a:endParaRPr lang="en-US"/>
          </a:p>
        </p:txBody>
      </p:sp>
    </p:spTree>
    <p:extLst>
      <p:ext uri="{BB962C8B-B14F-4D97-AF65-F5344CB8AC3E}">
        <p14:creationId xmlns:p14="http://schemas.microsoft.com/office/powerpoint/2010/main" val="176019843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41221E5-7225-48EB-A4EE-420E7BFCF705}" type="slidenum">
              <a:rPr lang="en-US" smtClean="0"/>
              <a:pPr/>
              <a:t>46</a:t>
            </a:fld>
            <a:endParaRPr lang="en-US"/>
          </a:p>
        </p:txBody>
      </p:sp>
    </p:spTree>
    <p:extLst>
      <p:ext uri="{BB962C8B-B14F-4D97-AF65-F5344CB8AC3E}">
        <p14:creationId xmlns:p14="http://schemas.microsoft.com/office/powerpoint/2010/main" val="70630409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41221E5-7225-48EB-A4EE-420E7BFCF705}" type="slidenum">
              <a:rPr lang="en-US" smtClean="0"/>
              <a:pPr/>
              <a:t>47</a:t>
            </a:fld>
            <a:endParaRPr lang="en-US"/>
          </a:p>
        </p:txBody>
      </p:sp>
    </p:spTree>
    <p:extLst>
      <p:ext uri="{BB962C8B-B14F-4D97-AF65-F5344CB8AC3E}">
        <p14:creationId xmlns:p14="http://schemas.microsoft.com/office/powerpoint/2010/main" val="62828423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41221E5-7225-48EB-A4EE-420E7BFCF705}" type="slidenum">
              <a:rPr lang="en-US" smtClean="0"/>
              <a:pPr/>
              <a:t>48</a:t>
            </a:fld>
            <a:endParaRPr lang="en-US"/>
          </a:p>
        </p:txBody>
      </p:sp>
    </p:spTree>
    <p:extLst>
      <p:ext uri="{BB962C8B-B14F-4D97-AF65-F5344CB8AC3E}">
        <p14:creationId xmlns:p14="http://schemas.microsoft.com/office/powerpoint/2010/main" val="35749096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41221E5-7225-48EB-A4EE-420E7BFCF705}" type="slidenum">
              <a:rPr lang="en-US" smtClean="0"/>
              <a:pPr/>
              <a:t>49</a:t>
            </a:fld>
            <a:endParaRPr lang="en-US"/>
          </a:p>
        </p:txBody>
      </p:sp>
    </p:spTree>
    <p:extLst>
      <p:ext uri="{BB962C8B-B14F-4D97-AF65-F5344CB8AC3E}">
        <p14:creationId xmlns:p14="http://schemas.microsoft.com/office/powerpoint/2010/main" val="7523284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41221E5-7225-48EB-A4EE-420E7BFCF705}" type="slidenum">
              <a:rPr lang="en-US" smtClean="0"/>
              <a:pPr/>
              <a:t>50</a:t>
            </a:fld>
            <a:endParaRPr lang="en-US"/>
          </a:p>
        </p:txBody>
      </p:sp>
    </p:spTree>
    <p:extLst>
      <p:ext uri="{BB962C8B-B14F-4D97-AF65-F5344CB8AC3E}">
        <p14:creationId xmlns:p14="http://schemas.microsoft.com/office/powerpoint/2010/main" val="128222949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Note:  this means</a:t>
            </a:r>
            <a:r>
              <a:rPr lang="en-US" baseline="0" dirty="0" smtClean="0"/>
              <a:t> that we replace our “abstract” derivative rules (partial of minus </a:t>
            </a:r>
            <a:r>
              <a:rPr lang="en-US" baseline="0" dirty="0" err="1" smtClean="0"/>
              <a:t>wrt</a:t>
            </a:r>
            <a:r>
              <a:rPr lang="en-US" baseline="0" dirty="0" smtClean="0"/>
              <a:t> a and b) with the specific inputs from the prior nodes (partial of minus </a:t>
            </a:r>
            <a:r>
              <a:rPr lang="en-US" baseline="0" dirty="0" err="1" smtClean="0"/>
              <a:t>wrt</a:t>
            </a:r>
            <a:r>
              <a:rPr lang="en-US" baseline="0" dirty="0" smtClean="0"/>
              <a:t> add and Y).</a:t>
            </a:r>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51</a:t>
            </a:fld>
            <a:endParaRPr lang="en-US"/>
          </a:p>
        </p:txBody>
      </p:sp>
    </p:spTree>
    <p:extLst>
      <p:ext uri="{BB962C8B-B14F-4D97-AF65-F5344CB8AC3E}">
        <p14:creationId xmlns:p14="http://schemas.microsoft.com/office/powerpoint/2010/main" val="207074485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52</a:t>
            </a:fld>
            <a:endParaRPr lang="en-US"/>
          </a:p>
        </p:txBody>
      </p:sp>
    </p:spTree>
    <p:extLst>
      <p:ext uri="{BB962C8B-B14F-4D97-AF65-F5344CB8AC3E}">
        <p14:creationId xmlns:p14="http://schemas.microsoft.com/office/powerpoint/2010/main" val="121967568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41221E5-7225-48EB-A4EE-420E7BFCF705}" type="slidenum">
              <a:rPr lang="en-US" smtClean="0"/>
              <a:pPr/>
              <a:t>53</a:t>
            </a:fld>
            <a:endParaRPr lang="en-US"/>
          </a:p>
        </p:txBody>
      </p:sp>
    </p:spTree>
    <p:extLst>
      <p:ext uri="{BB962C8B-B14F-4D97-AF65-F5344CB8AC3E}">
        <p14:creationId xmlns:p14="http://schemas.microsoft.com/office/powerpoint/2010/main" val="51760477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41221E5-7225-48EB-A4EE-420E7BFCF705}" type="slidenum">
              <a:rPr lang="en-US" smtClean="0"/>
              <a:pPr/>
              <a:t>54</a:t>
            </a:fld>
            <a:endParaRPr lang="en-US"/>
          </a:p>
        </p:txBody>
      </p:sp>
    </p:spTree>
    <p:extLst>
      <p:ext uri="{BB962C8B-B14F-4D97-AF65-F5344CB8AC3E}">
        <p14:creationId xmlns:p14="http://schemas.microsoft.com/office/powerpoint/2010/main" val="63134276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41221E5-7225-48EB-A4EE-420E7BFCF705}" type="slidenum">
              <a:rPr lang="en-US" smtClean="0"/>
              <a:pPr/>
              <a:t>55</a:t>
            </a:fld>
            <a:endParaRPr lang="en-US"/>
          </a:p>
        </p:txBody>
      </p:sp>
    </p:spTree>
    <p:extLst>
      <p:ext uri="{BB962C8B-B14F-4D97-AF65-F5344CB8AC3E}">
        <p14:creationId xmlns:p14="http://schemas.microsoft.com/office/powerpoint/2010/main" val="73209190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41221E5-7225-48EB-A4EE-420E7BFCF705}" type="slidenum">
              <a:rPr lang="en-US" smtClean="0"/>
              <a:pPr/>
              <a:t>56</a:t>
            </a:fld>
            <a:endParaRPr lang="en-US"/>
          </a:p>
        </p:txBody>
      </p:sp>
    </p:spTree>
    <p:extLst>
      <p:ext uri="{BB962C8B-B14F-4D97-AF65-F5344CB8AC3E}">
        <p14:creationId xmlns:p14="http://schemas.microsoft.com/office/powerpoint/2010/main" val="521172833"/>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41221E5-7225-48EB-A4EE-420E7BFCF705}" type="slidenum">
              <a:rPr lang="en-US" smtClean="0"/>
              <a:pPr/>
              <a:t>57</a:t>
            </a:fld>
            <a:endParaRPr lang="en-US"/>
          </a:p>
        </p:txBody>
      </p:sp>
    </p:spTree>
    <p:extLst>
      <p:ext uri="{BB962C8B-B14F-4D97-AF65-F5344CB8AC3E}">
        <p14:creationId xmlns:p14="http://schemas.microsoft.com/office/powerpoint/2010/main" val="131650404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41221E5-7225-48EB-A4EE-420E7BFCF705}" type="slidenum">
              <a:rPr lang="en-US" smtClean="0"/>
              <a:pPr/>
              <a:t>58</a:t>
            </a:fld>
            <a:endParaRPr lang="en-US"/>
          </a:p>
        </p:txBody>
      </p:sp>
    </p:spTree>
    <p:extLst>
      <p:ext uri="{BB962C8B-B14F-4D97-AF65-F5344CB8AC3E}">
        <p14:creationId xmlns:p14="http://schemas.microsoft.com/office/powerpoint/2010/main" val="177483844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41221E5-7225-48EB-A4EE-420E7BFCF705}" type="slidenum">
              <a:rPr lang="en-US" smtClean="0"/>
              <a:pPr/>
              <a:t>59</a:t>
            </a:fld>
            <a:endParaRPr lang="en-US"/>
          </a:p>
        </p:txBody>
      </p:sp>
    </p:spTree>
    <p:extLst>
      <p:ext uri="{BB962C8B-B14F-4D97-AF65-F5344CB8AC3E}">
        <p14:creationId xmlns:p14="http://schemas.microsoft.com/office/powerpoint/2010/main" val="1790919933"/>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41221E5-7225-48EB-A4EE-420E7BFCF705}" type="slidenum">
              <a:rPr lang="en-US" smtClean="0"/>
              <a:pPr/>
              <a:t>60</a:t>
            </a:fld>
            <a:endParaRPr lang="en-US"/>
          </a:p>
        </p:txBody>
      </p:sp>
    </p:spTree>
    <p:extLst>
      <p:ext uri="{BB962C8B-B14F-4D97-AF65-F5344CB8AC3E}">
        <p14:creationId xmlns:p14="http://schemas.microsoft.com/office/powerpoint/2010/main" val="929601646"/>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smtClean="0">
                <a:solidFill>
                  <a:schemeClr val="accent5">
                    <a:lumMod val="75000"/>
                  </a:schemeClr>
                </a:solidFill>
                <a:latin typeface="Consolas" panose="020B0609020204030204" pitchFamily="49" charset="0"/>
              </a:rPr>
              <a:t>Recall we used </a:t>
            </a:r>
            <a:r>
              <a:rPr lang="en-US" sz="1200" dirty="0" err="1" smtClean="0">
                <a:solidFill>
                  <a:schemeClr val="accent5">
                    <a:lumMod val="75000"/>
                  </a:schemeClr>
                </a:solidFill>
                <a:latin typeface="Consolas" panose="020B0609020204030204" pitchFamily="49" charset="0"/>
              </a:rPr>
              <a:t>tf.placeholder</a:t>
            </a:r>
            <a:r>
              <a:rPr lang="en-US" sz="1200" dirty="0" smtClean="0">
                <a:solidFill>
                  <a:schemeClr val="accent5">
                    <a:lumMod val="75000"/>
                  </a:schemeClr>
                </a:solidFill>
                <a:latin typeface="Consolas" panose="020B0609020204030204" pitchFamily="49" charset="0"/>
              </a:rPr>
              <a:t>(tf.float32, name=“input1”) for a scalar</a:t>
            </a:r>
            <a:r>
              <a:rPr lang="en-US" sz="1200" baseline="0" dirty="0" smtClean="0">
                <a:solidFill>
                  <a:schemeClr val="accent5">
                    <a:lumMod val="75000"/>
                  </a:schemeClr>
                </a:solidFill>
                <a:latin typeface="Consolas" panose="020B0609020204030204" pitchFamily="49" charset="0"/>
              </a:rPr>
              <a:t> input.  The shape of that would have been shape=[].  Also note, X.T is [1 x m] so X is [m x 1],</a:t>
            </a:r>
            <a:endParaRPr lang="en-US" sz="1200" dirty="0">
              <a:solidFill>
                <a:schemeClr val="accent5">
                  <a:lumMod val="75000"/>
                </a:schemeClr>
              </a:solidFill>
              <a:latin typeface="Consolas" panose="020B0609020204030204" pitchFamily="49" charset="0"/>
            </a:endParaRPr>
          </a:p>
        </p:txBody>
      </p:sp>
      <p:sp>
        <p:nvSpPr>
          <p:cNvPr id="4" name="Slide Number Placeholder 3"/>
          <p:cNvSpPr>
            <a:spLocks noGrp="1"/>
          </p:cNvSpPr>
          <p:nvPr>
            <p:ph type="sldNum" sz="quarter" idx="10"/>
          </p:nvPr>
        </p:nvSpPr>
        <p:spPr/>
        <p:txBody>
          <a:bodyPr/>
          <a:lstStyle/>
          <a:p>
            <a:fld id="{841221E5-7225-48EB-A4EE-420E7BFCF705}" type="slidenum">
              <a:rPr lang="en-US" smtClean="0"/>
              <a:pPr/>
              <a:t>61</a:t>
            </a:fld>
            <a:endParaRPr lang="en-US"/>
          </a:p>
        </p:txBody>
      </p:sp>
    </p:spTree>
    <p:extLst>
      <p:ext uri="{BB962C8B-B14F-4D97-AF65-F5344CB8AC3E}">
        <p14:creationId xmlns:p14="http://schemas.microsoft.com/office/powerpoint/2010/main" val="1789337680"/>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62</a:t>
            </a:fld>
            <a:endParaRPr lang="en-US"/>
          </a:p>
        </p:txBody>
      </p:sp>
    </p:spTree>
    <p:extLst>
      <p:ext uri="{BB962C8B-B14F-4D97-AF65-F5344CB8AC3E}">
        <p14:creationId xmlns:p14="http://schemas.microsoft.com/office/powerpoint/2010/main" val="455509762"/>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Warning, warning.  We do NOT have X.T any</a:t>
            </a:r>
            <a:r>
              <a:rPr lang="en-US" baseline="0" dirty="0" smtClean="0"/>
              <a:t> more.  This is just plain vanilla X.  So, the dims are swapped </a:t>
            </a:r>
            <a:r>
              <a:rPr lang="en-US" baseline="0" dirty="0" err="1" smtClean="0"/>
              <a:t>wrt</a:t>
            </a:r>
            <a:r>
              <a:rPr lang="en-US" baseline="0" dirty="0" smtClean="0"/>
              <a:t> the prior example.</a:t>
            </a:r>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63</a:t>
            </a:fld>
            <a:endParaRPr lang="en-US"/>
          </a:p>
        </p:txBody>
      </p:sp>
    </p:spTree>
    <p:extLst>
      <p:ext uri="{BB962C8B-B14F-4D97-AF65-F5344CB8AC3E}">
        <p14:creationId xmlns:p14="http://schemas.microsoft.com/office/powerpoint/2010/main" val="1854596294"/>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Warning, warning.  We do NOT have X.T any</a:t>
            </a:r>
            <a:r>
              <a:rPr lang="en-US" baseline="0" dirty="0" smtClean="0"/>
              <a:t> more.  This is just plain vanilla X.  So, the dims are swapped </a:t>
            </a:r>
            <a:r>
              <a:rPr lang="en-US" baseline="0" dirty="0" err="1" smtClean="0"/>
              <a:t>wrt</a:t>
            </a:r>
            <a:r>
              <a:rPr lang="en-US" baseline="0" smtClean="0"/>
              <a:t> the prior example.</a:t>
            </a:r>
            <a:endParaRPr lang="en-US" smtClean="0"/>
          </a:p>
          <a:p>
            <a:endParaRPr lang="en-US"/>
          </a:p>
        </p:txBody>
      </p:sp>
      <p:sp>
        <p:nvSpPr>
          <p:cNvPr id="4" name="Slide Number Placeholder 3"/>
          <p:cNvSpPr>
            <a:spLocks noGrp="1"/>
          </p:cNvSpPr>
          <p:nvPr>
            <p:ph type="sldNum" sz="quarter" idx="10"/>
          </p:nvPr>
        </p:nvSpPr>
        <p:spPr/>
        <p:txBody>
          <a:bodyPr/>
          <a:lstStyle/>
          <a:p>
            <a:fld id="{841221E5-7225-48EB-A4EE-420E7BFCF705}" type="slidenum">
              <a:rPr lang="en-US" smtClean="0"/>
              <a:pPr/>
              <a:t>64</a:t>
            </a:fld>
            <a:endParaRPr lang="en-US"/>
          </a:p>
        </p:txBody>
      </p:sp>
    </p:spTree>
    <p:extLst>
      <p:ext uri="{BB962C8B-B14F-4D97-AF65-F5344CB8AC3E}">
        <p14:creationId xmlns:p14="http://schemas.microsoft.com/office/powerpoint/2010/main" val="1404441803"/>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41221E5-7225-48EB-A4EE-420E7BFCF705}" type="slidenum">
              <a:rPr lang="en-US" smtClean="0"/>
              <a:pPr/>
              <a:t>65</a:t>
            </a:fld>
            <a:endParaRPr lang="en-US"/>
          </a:p>
        </p:txBody>
      </p:sp>
    </p:spTree>
    <p:extLst>
      <p:ext uri="{BB962C8B-B14F-4D97-AF65-F5344CB8AC3E}">
        <p14:creationId xmlns:p14="http://schemas.microsoft.com/office/powerpoint/2010/main" val="128824072"/>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This slide is a bit dogmatic.  If definitely</a:t>
            </a:r>
            <a:r>
              <a:rPr lang="en-US" baseline="0" dirty="0" smtClean="0"/>
              <a:t> represents one view of train/valid/test.  </a:t>
            </a:r>
            <a:r>
              <a:rPr lang="en-US" dirty="0" smtClean="0"/>
              <a:t>Another common scenario (in practice and in terminology as commonly used)</a:t>
            </a:r>
            <a:r>
              <a:rPr lang="en-US" baseline="0" dirty="0" smtClean="0"/>
              <a:t> is</a:t>
            </a:r>
            <a:r>
              <a:rPr lang="en-US" dirty="0" smtClean="0"/>
              <a:t>:  1. there is an</a:t>
            </a:r>
            <a:r>
              <a:rPr lang="en-US" baseline="0" dirty="0" smtClean="0"/>
              <a:t> initial hold out set (that is for “final” evaluation) 2. there may either be train/test or train/valid/test.  The choice in 2 is whether there are hyper parameters to optimize.</a:t>
            </a:r>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66</a:t>
            </a:fld>
            <a:endParaRPr lang="en-US"/>
          </a:p>
        </p:txBody>
      </p:sp>
    </p:spTree>
    <p:extLst>
      <p:ext uri="{BB962C8B-B14F-4D97-AF65-F5344CB8AC3E}">
        <p14:creationId xmlns:p14="http://schemas.microsoft.com/office/powerpoint/2010/main" val="923495618"/>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41221E5-7225-48EB-A4EE-420E7BFCF705}" type="slidenum">
              <a:rPr lang="en-US" smtClean="0"/>
              <a:pPr/>
              <a:t>67</a:t>
            </a:fld>
            <a:endParaRPr lang="en-US"/>
          </a:p>
        </p:txBody>
      </p:sp>
    </p:spTree>
    <p:extLst>
      <p:ext uri="{BB962C8B-B14F-4D97-AF65-F5344CB8AC3E}">
        <p14:creationId xmlns:p14="http://schemas.microsoft.com/office/powerpoint/2010/main" val="2114393773"/>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J is the cross-entropy loss;</a:t>
            </a:r>
            <a:r>
              <a:rPr lang="en-US" baseline="0" dirty="0" smtClean="0"/>
              <a:t> </a:t>
            </a:r>
            <a:r>
              <a:rPr lang="en-US" baseline="0" dirty="0" err="1" smtClean="0"/>
              <a:t>y^hat_i</a:t>
            </a:r>
            <a:r>
              <a:rPr lang="en-US" baseline="0" dirty="0" smtClean="0"/>
              <a:t> is the logistic function.  Note that </a:t>
            </a:r>
            <a:r>
              <a:rPr lang="en-US" baseline="0" dirty="0" err="1" smtClean="0"/>
              <a:t>z_i</a:t>
            </a:r>
            <a:r>
              <a:rPr lang="en-US" baseline="0" dirty="0" smtClean="0"/>
              <a:t> is a linear thing (linear regression and logistic regression are both “generalized linear models”.</a:t>
            </a:r>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68</a:t>
            </a:fld>
            <a:endParaRPr lang="en-US"/>
          </a:p>
        </p:txBody>
      </p:sp>
    </p:spTree>
    <p:extLst>
      <p:ext uri="{BB962C8B-B14F-4D97-AF65-F5344CB8AC3E}">
        <p14:creationId xmlns:p14="http://schemas.microsoft.com/office/powerpoint/2010/main" val="203660793"/>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41221E5-7225-48EB-A4EE-420E7BFCF705}" type="slidenum">
              <a:rPr lang="en-US" smtClean="0"/>
              <a:pPr/>
              <a:t>69</a:t>
            </a:fld>
            <a:endParaRPr lang="en-US"/>
          </a:p>
        </p:txBody>
      </p:sp>
    </p:spTree>
    <p:extLst>
      <p:ext uri="{BB962C8B-B14F-4D97-AF65-F5344CB8AC3E}">
        <p14:creationId xmlns:p14="http://schemas.microsoft.com/office/powerpoint/2010/main" val="24322607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1_Title Slide with Radial Gradient">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6" name="Title 1"/>
          <p:cNvSpPr>
            <a:spLocks noGrp="1"/>
          </p:cNvSpPr>
          <p:nvPr>
            <p:ph type="ctrTitle" hasCustomPrompt="1"/>
          </p:nvPr>
        </p:nvSpPr>
        <p:spPr>
          <a:xfrm>
            <a:off x="592762" y="3305897"/>
            <a:ext cx="10947663" cy="1470025"/>
          </a:xfrm>
        </p:spPr>
        <p:txBody>
          <a:bodyPr lIns="0" rIns="0" anchor="b" anchorCtr="0">
            <a:noAutofit/>
          </a:bodyPr>
          <a:lstStyle>
            <a:lvl1pPr>
              <a:lnSpc>
                <a:spcPct val="80000"/>
              </a:lnSpc>
              <a:defRPr sz="8665" b="0" spc="0" baseline="0">
                <a:solidFill>
                  <a:schemeClr val="bg1"/>
                </a:solidFill>
                <a:latin typeface="Intel Clear Pro" panose="020B0804020202060201" pitchFamily="34" charset="0"/>
                <a:cs typeface="Intel Clear Pro" panose="020B0804020202060201" pitchFamily="34" charset="0"/>
              </a:defRPr>
            </a:lvl1pPr>
          </a:lstStyle>
          <a:p>
            <a:r>
              <a:rPr lang="en-US" dirty="0" smtClean="0"/>
              <a:t>65pt Intel Clear pro Title</a:t>
            </a:r>
            <a:br>
              <a:rPr lang="en-US" dirty="0" smtClean="0"/>
            </a:br>
            <a:r>
              <a:rPr lang="en-US" dirty="0" smtClean="0"/>
              <a:t>with radial gradient</a:t>
            </a:r>
            <a:endParaRPr lang="en-US" dirty="0"/>
          </a:p>
        </p:txBody>
      </p:sp>
      <p:sp>
        <p:nvSpPr>
          <p:cNvPr id="9" name="Subtitle 2"/>
          <p:cNvSpPr>
            <a:spLocks noGrp="1"/>
          </p:cNvSpPr>
          <p:nvPr>
            <p:ph type="subTitle" idx="1" hasCustomPrompt="1"/>
          </p:nvPr>
        </p:nvSpPr>
        <p:spPr>
          <a:xfrm>
            <a:off x="607326" y="4657344"/>
            <a:ext cx="8438085" cy="1233813"/>
          </a:xfrm>
        </p:spPr>
        <p:txBody>
          <a:bodyPr lIns="0" rIns="0">
            <a:noAutofit/>
          </a:bodyPr>
          <a:lstStyle>
            <a:lvl1pPr marL="0" indent="0" algn="l">
              <a:buNone/>
              <a:defRPr sz="2133" b="0" i="0" baseline="0">
                <a:solidFill>
                  <a:srgbClr val="F3D54E"/>
                </a:solidFill>
                <a:latin typeface="Intel Clear"/>
                <a:cs typeface="Intel Clear"/>
              </a:defRPr>
            </a:lvl1pPr>
            <a:lvl2pPr marL="609448" indent="0" algn="ctr">
              <a:buNone/>
              <a:defRPr>
                <a:solidFill>
                  <a:schemeClr val="tx1">
                    <a:tint val="75000"/>
                  </a:schemeClr>
                </a:solidFill>
              </a:defRPr>
            </a:lvl2pPr>
            <a:lvl3pPr marL="1218895" indent="0" algn="ctr">
              <a:buNone/>
              <a:defRPr>
                <a:solidFill>
                  <a:schemeClr val="tx1">
                    <a:tint val="75000"/>
                  </a:schemeClr>
                </a:solidFill>
              </a:defRPr>
            </a:lvl3pPr>
            <a:lvl4pPr marL="1828343" indent="0" algn="ctr">
              <a:buNone/>
              <a:defRPr>
                <a:solidFill>
                  <a:schemeClr val="tx1">
                    <a:tint val="75000"/>
                  </a:schemeClr>
                </a:solidFill>
              </a:defRPr>
            </a:lvl4pPr>
            <a:lvl5pPr marL="2437790" indent="0" algn="ctr">
              <a:buNone/>
              <a:defRPr>
                <a:solidFill>
                  <a:schemeClr val="tx1">
                    <a:tint val="75000"/>
                  </a:schemeClr>
                </a:solidFill>
              </a:defRPr>
            </a:lvl5pPr>
            <a:lvl6pPr marL="3047238" indent="0" algn="ctr">
              <a:buNone/>
              <a:defRPr>
                <a:solidFill>
                  <a:schemeClr val="tx1">
                    <a:tint val="75000"/>
                  </a:schemeClr>
                </a:solidFill>
              </a:defRPr>
            </a:lvl6pPr>
            <a:lvl7pPr marL="3656686" indent="0" algn="ctr">
              <a:buNone/>
              <a:defRPr>
                <a:solidFill>
                  <a:schemeClr val="tx1">
                    <a:tint val="75000"/>
                  </a:schemeClr>
                </a:solidFill>
              </a:defRPr>
            </a:lvl7pPr>
            <a:lvl8pPr marL="4266133" indent="0" algn="ctr">
              <a:buNone/>
              <a:defRPr>
                <a:solidFill>
                  <a:schemeClr val="tx1">
                    <a:tint val="75000"/>
                  </a:schemeClr>
                </a:solidFill>
              </a:defRPr>
            </a:lvl8pPr>
            <a:lvl9pPr marL="4875581" indent="0" algn="ctr">
              <a:buNone/>
              <a:defRPr>
                <a:solidFill>
                  <a:schemeClr val="tx1">
                    <a:tint val="75000"/>
                  </a:schemeClr>
                </a:solidFill>
              </a:defRPr>
            </a:lvl9pPr>
          </a:lstStyle>
          <a:p>
            <a:r>
              <a:rPr lang="en-US" dirty="0" smtClean="0"/>
              <a:t>16pt Intel Clear Subhead, Date, Etc.</a:t>
            </a:r>
            <a:endParaRPr lang="en-US" dirty="0"/>
          </a:p>
        </p:txBody>
      </p:sp>
      <p:pic>
        <p:nvPicPr>
          <p:cNvPr id="11" name="Picture 10" descr="StackedISWhite.png"/>
          <p:cNvPicPr>
            <a:picLocks noChangeAspect="1"/>
          </p:cNvPicPr>
          <p:nvPr/>
        </p:nvPicPr>
        <p:blipFill>
          <a:blip r:embed="rId3"/>
          <a:stretch>
            <a:fillRect/>
          </a:stretch>
        </p:blipFill>
        <p:spPr>
          <a:xfrm>
            <a:off x="616665" y="533064"/>
            <a:ext cx="1640574" cy="1542997"/>
          </a:xfrm>
          <a:prstGeom prst="rect">
            <a:avLst/>
          </a:prstGeom>
        </p:spPr>
      </p:pic>
      <p:sp>
        <p:nvSpPr>
          <p:cNvPr id="12" name="Rectangle 11"/>
          <p:cNvSpPr/>
          <p:nvPr/>
        </p:nvSpPr>
        <p:spPr>
          <a:xfrm>
            <a:off x="626112" y="6498502"/>
            <a:ext cx="2672206" cy="164019"/>
          </a:xfrm>
          <a:prstGeom prst="rect">
            <a:avLst/>
          </a:prstGeom>
        </p:spPr>
        <p:txBody>
          <a:bodyPr wrap="none" lIns="0" tIns="0" rIns="0" bIns="0">
            <a:spAutoFit/>
          </a:bodyPr>
          <a:lstStyle/>
          <a:p>
            <a:pPr algn="l" rtl="0"/>
            <a:r>
              <a:rPr lang="en-US" sz="1066" b="0" i="0" u="none" strike="noStrike" kern="1200" baseline="0" dirty="0" smtClean="0">
                <a:solidFill>
                  <a:schemeClr val="bg1"/>
                </a:solidFill>
                <a:latin typeface="+mn-lt"/>
                <a:ea typeface="+mn-ea"/>
                <a:cs typeface="Neo Sans Intel"/>
              </a:rPr>
              <a:t>Intel® Confidential — INTERNAL USE ONLY</a:t>
            </a:r>
          </a:p>
        </p:txBody>
      </p:sp>
    </p:spTree>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Title Slide with Image">
    <p:bg>
      <p:bgPr>
        <a:gradFill>
          <a:gsLst>
            <a:gs pos="0">
              <a:schemeClr val="tx2"/>
            </a:gs>
            <a:gs pos="50000">
              <a:schemeClr val="accent2"/>
            </a:gs>
          </a:gsLst>
          <a:lin ang="18900000" scaled="1"/>
        </a:gradFill>
        <a:effectLst/>
      </p:bgPr>
    </p:bg>
    <p:spTree>
      <p:nvGrpSpPr>
        <p:cNvPr id="1" name=""/>
        <p:cNvGrpSpPr/>
        <p:nvPr/>
      </p:nvGrpSpPr>
      <p:grpSpPr>
        <a:xfrm>
          <a:off x="0" y="0"/>
          <a:ext cx="0" cy="0"/>
          <a:chOff x="0" y="0"/>
          <a:chExt cx="0" cy="0"/>
        </a:xfrm>
      </p:grpSpPr>
      <p:sp>
        <p:nvSpPr>
          <p:cNvPr id="10" name="Picture Placeholder 8"/>
          <p:cNvSpPr>
            <a:spLocks noGrp="1"/>
          </p:cNvSpPr>
          <p:nvPr>
            <p:ph type="pic" sz="quarter" idx="13" hasCustomPrompt="1"/>
          </p:nvPr>
        </p:nvSpPr>
        <p:spPr>
          <a:xfrm>
            <a:off x="0" y="0"/>
            <a:ext cx="12188825" cy="6358467"/>
          </a:xfrm>
          <a:solidFill>
            <a:schemeClr val="bg2">
              <a:lumMod val="60000"/>
              <a:lumOff val="40000"/>
            </a:schemeClr>
          </a:solidFill>
        </p:spPr>
        <p:txBody>
          <a:bodyPr/>
          <a:lstStyle>
            <a:lvl1pPr marL="0" marR="0" indent="0" algn="l" defTabSz="609448" rtl="0" eaLnBrk="1" fontAlgn="auto" latinLnBrk="0" hangingPunct="1">
              <a:lnSpc>
                <a:spcPct val="100000"/>
              </a:lnSpc>
              <a:spcBef>
                <a:spcPts val="1600"/>
              </a:spcBef>
              <a:spcAft>
                <a:spcPts val="0"/>
              </a:spcAft>
              <a:buClrTx/>
              <a:buSzTx/>
              <a:buFont typeface="Wingdings" panose="05000000000000000000" pitchFamily="2" charset="2"/>
              <a:buNone/>
              <a:tabLst/>
              <a:defRPr baseline="0"/>
            </a:lvl1pPr>
          </a:lstStyle>
          <a:p>
            <a:r>
              <a:rPr lang="en-US" dirty="0" smtClean="0"/>
              <a:t>Insert photo here. Drag picture to placeholder or click icon to add.</a:t>
            </a:r>
            <a:endParaRPr lang="en-US" dirty="0"/>
          </a:p>
        </p:txBody>
      </p:sp>
      <p:sp>
        <p:nvSpPr>
          <p:cNvPr id="13" name="Title 1"/>
          <p:cNvSpPr>
            <a:spLocks noGrp="1"/>
          </p:cNvSpPr>
          <p:nvPr>
            <p:ph type="ctrTitle" hasCustomPrompt="1"/>
          </p:nvPr>
        </p:nvSpPr>
        <p:spPr>
          <a:xfrm>
            <a:off x="592762" y="3305897"/>
            <a:ext cx="10947663" cy="1470025"/>
          </a:xfrm>
        </p:spPr>
        <p:txBody>
          <a:bodyPr lIns="0" rIns="0" anchor="b" anchorCtr="0">
            <a:noAutofit/>
          </a:bodyPr>
          <a:lstStyle>
            <a:lvl1pPr>
              <a:lnSpc>
                <a:spcPct val="80000"/>
              </a:lnSpc>
              <a:defRPr sz="8665" b="0" spc="0" baseline="0">
                <a:solidFill>
                  <a:schemeClr val="bg1"/>
                </a:solidFill>
                <a:latin typeface="Intel Clear Pro" panose="020B0804020202060201" pitchFamily="34" charset="0"/>
                <a:cs typeface="Intel Clear Pro" panose="020B0804020202060201" pitchFamily="34" charset="0"/>
              </a:defRPr>
            </a:lvl1pPr>
          </a:lstStyle>
          <a:p>
            <a:r>
              <a:rPr lang="en-US" dirty="0" smtClean="0"/>
              <a:t>65pt Intel Clear pro Title</a:t>
            </a:r>
            <a:br>
              <a:rPr lang="en-US" dirty="0" smtClean="0"/>
            </a:br>
            <a:r>
              <a:rPr lang="en-US" dirty="0" smtClean="0"/>
              <a:t>with image</a:t>
            </a:r>
            <a:endParaRPr lang="en-US" dirty="0"/>
          </a:p>
        </p:txBody>
      </p:sp>
      <p:sp>
        <p:nvSpPr>
          <p:cNvPr id="14" name="Subtitle 2"/>
          <p:cNvSpPr>
            <a:spLocks noGrp="1"/>
          </p:cNvSpPr>
          <p:nvPr>
            <p:ph type="subTitle" idx="1" hasCustomPrompt="1"/>
          </p:nvPr>
        </p:nvSpPr>
        <p:spPr>
          <a:xfrm>
            <a:off x="607326" y="4657344"/>
            <a:ext cx="8438085" cy="1233813"/>
          </a:xfrm>
        </p:spPr>
        <p:txBody>
          <a:bodyPr lIns="0" rIns="0">
            <a:noAutofit/>
          </a:bodyPr>
          <a:lstStyle>
            <a:lvl1pPr marL="0" indent="0" algn="l">
              <a:buNone/>
              <a:defRPr sz="2133" b="0" i="0" baseline="0">
                <a:solidFill>
                  <a:srgbClr val="F3D54E"/>
                </a:solidFill>
                <a:latin typeface="Intel Clear"/>
                <a:cs typeface="Intel Clear"/>
              </a:defRPr>
            </a:lvl1pPr>
            <a:lvl2pPr marL="609448" indent="0" algn="ctr">
              <a:buNone/>
              <a:defRPr>
                <a:solidFill>
                  <a:schemeClr val="tx1">
                    <a:tint val="75000"/>
                  </a:schemeClr>
                </a:solidFill>
              </a:defRPr>
            </a:lvl2pPr>
            <a:lvl3pPr marL="1218895" indent="0" algn="ctr">
              <a:buNone/>
              <a:defRPr>
                <a:solidFill>
                  <a:schemeClr val="tx1">
                    <a:tint val="75000"/>
                  </a:schemeClr>
                </a:solidFill>
              </a:defRPr>
            </a:lvl3pPr>
            <a:lvl4pPr marL="1828343" indent="0" algn="ctr">
              <a:buNone/>
              <a:defRPr>
                <a:solidFill>
                  <a:schemeClr val="tx1">
                    <a:tint val="75000"/>
                  </a:schemeClr>
                </a:solidFill>
              </a:defRPr>
            </a:lvl4pPr>
            <a:lvl5pPr marL="2437790" indent="0" algn="ctr">
              <a:buNone/>
              <a:defRPr>
                <a:solidFill>
                  <a:schemeClr val="tx1">
                    <a:tint val="75000"/>
                  </a:schemeClr>
                </a:solidFill>
              </a:defRPr>
            </a:lvl5pPr>
            <a:lvl6pPr marL="3047238" indent="0" algn="ctr">
              <a:buNone/>
              <a:defRPr>
                <a:solidFill>
                  <a:schemeClr val="tx1">
                    <a:tint val="75000"/>
                  </a:schemeClr>
                </a:solidFill>
              </a:defRPr>
            </a:lvl6pPr>
            <a:lvl7pPr marL="3656686" indent="0" algn="ctr">
              <a:buNone/>
              <a:defRPr>
                <a:solidFill>
                  <a:schemeClr val="tx1">
                    <a:tint val="75000"/>
                  </a:schemeClr>
                </a:solidFill>
              </a:defRPr>
            </a:lvl7pPr>
            <a:lvl8pPr marL="4266133" indent="0" algn="ctr">
              <a:buNone/>
              <a:defRPr>
                <a:solidFill>
                  <a:schemeClr val="tx1">
                    <a:tint val="75000"/>
                  </a:schemeClr>
                </a:solidFill>
              </a:defRPr>
            </a:lvl8pPr>
            <a:lvl9pPr marL="4875581" indent="0" algn="ctr">
              <a:buNone/>
              <a:defRPr>
                <a:solidFill>
                  <a:schemeClr val="tx1">
                    <a:tint val="75000"/>
                  </a:schemeClr>
                </a:solidFill>
              </a:defRPr>
            </a:lvl9pPr>
          </a:lstStyle>
          <a:p>
            <a:r>
              <a:rPr lang="en-US" dirty="0" smtClean="0"/>
              <a:t>16pt Intel Clear Subhead, Date, Etc.</a:t>
            </a:r>
            <a:endParaRPr lang="en-US" dirty="0"/>
          </a:p>
        </p:txBody>
      </p:sp>
      <p:pic>
        <p:nvPicPr>
          <p:cNvPr id="7" name="Picture 2"/>
          <p:cNvPicPr>
            <a:picLocks noChangeAspect="1" noChangeArrowheads="1"/>
          </p:cNvPicPr>
          <p:nvPr/>
        </p:nvPicPr>
        <p:blipFill>
          <a:blip r:embed="rId2" cstate="print">
            <a:extLst>
              <a:ext uri="{28A0092B-C50C-407E-A947-70E740481C1C}">
                <a14:useLocalDpi xmlns:a14="http://schemas.microsoft.com/office/drawing/2010/main"/>
              </a:ext>
            </a:extLst>
          </a:blip>
          <a:stretch>
            <a:fillRect/>
          </a:stretch>
        </p:blipFill>
        <p:spPr bwMode="auto">
          <a:xfrm>
            <a:off x="292449" y="301124"/>
            <a:ext cx="1875189" cy="1538477"/>
          </a:xfrm>
          <a:prstGeom prst="rect">
            <a:avLst/>
          </a:prstGeom>
          <a:noFill/>
          <a:extLst>
            <a:ext uri="{909E8E84-426E-40dd-AFC4-6F175D3DCCD1}">
              <a14:hiddenFill xmlns="" xmlns:a14="http://schemas.microsoft.com/office/drawing/2010/main">
                <a:solidFill>
                  <a:srgbClr val="FFFFFF"/>
                </a:solidFill>
              </a14:hiddenFill>
            </a:ext>
          </a:extLst>
        </p:spPr>
      </p:pic>
      <p:sp>
        <p:nvSpPr>
          <p:cNvPr id="30" name="Rectangle 29"/>
          <p:cNvSpPr/>
          <p:nvPr/>
        </p:nvSpPr>
        <p:spPr>
          <a:xfrm>
            <a:off x="0" y="6354803"/>
            <a:ext cx="12188825" cy="512064"/>
          </a:xfrm>
          <a:prstGeom prst="rect">
            <a:avLst/>
          </a:prstGeom>
          <a:gradFill flip="none" rotWithShape="1">
            <a:gsLst>
              <a:gs pos="0">
                <a:schemeClr val="tx2"/>
              </a:gs>
              <a:gs pos="50000">
                <a:schemeClr val="accent2"/>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399" dirty="0"/>
          </a:p>
        </p:txBody>
      </p:sp>
      <p:sp>
        <p:nvSpPr>
          <p:cNvPr id="32" name="Footer Placeholder 4"/>
          <p:cNvSpPr>
            <a:spLocks noGrp="1"/>
          </p:cNvSpPr>
          <p:nvPr>
            <p:ph type="ftr" sz="quarter" idx="3"/>
          </p:nvPr>
        </p:nvSpPr>
        <p:spPr>
          <a:xfrm>
            <a:off x="4164515" y="6501641"/>
            <a:ext cx="3859795" cy="334435"/>
          </a:xfrm>
          <a:prstGeom prst="rect">
            <a:avLst/>
          </a:prstGeom>
        </p:spPr>
        <p:txBody>
          <a:bodyPr vert="horz" lIns="91440" tIns="45720" rIns="91440" bIns="45720" rtlCol="0" anchor="ctr"/>
          <a:lstStyle>
            <a:lvl1pPr algn="ctr">
              <a:defRPr sz="1066">
                <a:solidFill>
                  <a:schemeClr val="bg1"/>
                </a:solidFill>
                <a:latin typeface="+mn-lt"/>
              </a:defRPr>
            </a:lvl1pPr>
          </a:lstStyle>
          <a:p>
            <a:endParaRPr lang="en-US"/>
          </a:p>
        </p:txBody>
      </p:sp>
      <p:sp>
        <p:nvSpPr>
          <p:cNvPr id="33" name="Slide Number Placeholder 5"/>
          <p:cNvSpPr>
            <a:spLocks noGrp="1"/>
          </p:cNvSpPr>
          <p:nvPr>
            <p:ph type="sldNum" sz="quarter" idx="4"/>
          </p:nvPr>
        </p:nvSpPr>
        <p:spPr>
          <a:xfrm>
            <a:off x="11655564" y="6417962"/>
            <a:ext cx="349244" cy="329447"/>
          </a:xfrm>
          <a:prstGeom prst="rect">
            <a:avLst/>
          </a:prstGeom>
        </p:spPr>
        <p:txBody>
          <a:bodyPr vert="horz" lIns="0" tIns="0" rIns="0" bIns="0" rtlCol="0" anchor="ctr"/>
          <a:lstStyle>
            <a:lvl1pPr algn="r">
              <a:defRPr sz="1066">
                <a:solidFill>
                  <a:schemeClr val="bg1"/>
                </a:solidFill>
                <a:latin typeface="+mn-lt"/>
                <a:cs typeface="Intel Clear Light" panose="020B0404020203020204" pitchFamily="34" charset="0"/>
              </a:defRPr>
            </a:lvl1pPr>
          </a:lstStyle>
          <a:p>
            <a:fld id="{7DC1BBB0-96F0-4077-A278-0F3FB5C104D3}" type="slidenum">
              <a:rPr lang="en-US" smtClean="0"/>
              <a:pPr/>
              <a:t>‹#›</a:t>
            </a:fld>
            <a:endParaRPr lang="en-US"/>
          </a:p>
        </p:txBody>
      </p:sp>
      <p:pic>
        <p:nvPicPr>
          <p:cNvPr id="58" name="Picture 57" descr="StackedISWhite.png"/>
          <p:cNvPicPr>
            <a:picLocks noChangeAspect="1"/>
          </p:cNvPicPr>
          <p:nvPr/>
        </p:nvPicPr>
        <p:blipFill>
          <a:blip r:embed="rId3"/>
          <a:stretch>
            <a:fillRect/>
          </a:stretch>
        </p:blipFill>
        <p:spPr>
          <a:xfrm>
            <a:off x="11056288" y="6407851"/>
            <a:ext cx="419545" cy="394592"/>
          </a:xfrm>
          <a:prstGeom prst="rect">
            <a:avLst/>
          </a:prstGeom>
        </p:spPr>
      </p:pic>
      <p:cxnSp>
        <p:nvCxnSpPr>
          <p:cNvPr id="74" name="Straight Connector 73"/>
          <p:cNvCxnSpPr/>
          <p:nvPr/>
        </p:nvCxnSpPr>
        <p:spPr>
          <a:xfrm rot="5400000">
            <a:off x="11448136" y="6608236"/>
            <a:ext cx="381004" cy="1"/>
          </a:xfrm>
          <a:prstGeom prst="line">
            <a:avLst/>
          </a:prstGeom>
          <a:ln w="9525" cap="flat" cmpd="sng" algn="ctr">
            <a:solidFill>
              <a:schemeClr val="bg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Tree>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nd Bulleted Text">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DC1BBB0-96F0-4077-A278-0F3FB5C104D3}" type="slidenum">
              <a:rPr lang="en-US" smtClean="0"/>
              <a:pPr/>
              <a:t>‹#›</a:t>
            </a:fld>
            <a:endParaRPr lang="en-US"/>
          </a:p>
        </p:txBody>
      </p:sp>
      <p:sp>
        <p:nvSpPr>
          <p:cNvPr id="7" name="Title 6"/>
          <p:cNvSpPr>
            <a:spLocks noGrp="1"/>
          </p:cNvSpPr>
          <p:nvPr>
            <p:ph type="title" hasCustomPrompt="1"/>
          </p:nvPr>
        </p:nvSpPr>
        <p:spPr>
          <a:xfrm>
            <a:off x="607326" y="411797"/>
            <a:ext cx="10969943" cy="1158240"/>
          </a:xfrm>
        </p:spPr>
        <p:txBody>
          <a:bodyPr/>
          <a:lstStyle>
            <a:lvl1pPr>
              <a:defRPr b="0" i="0" baseline="0">
                <a:solidFill>
                  <a:srgbClr val="003C71"/>
                </a:solidFill>
                <a:latin typeface="Intel Clear"/>
                <a:cs typeface="Intel Clear"/>
              </a:defRPr>
            </a:lvl1pPr>
          </a:lstStyle>
          <a:p>
            <a:r>
              <a:rPr lang="en-US" dirty="0" smtClean="0"/>
              <a:t>28pt Intel Clear Headline</a:t>
            </a:r>
            <a:endParaRPr lang="en-US" dirty="0"/>
          </a:p>
        </p:txBody>
      </p:sp>
      <p:sp>
        <p:nvSpPr>
          <p:cNvPr id="9" name="Content Placeholder 8"/>
          <p:cNvSpPr>
            <a:spLocks noGrp="1"/>
          </p:cNvSpPr>
          <p:nvPr>
            <p:ph sz="quarter" idx="13" hasCustomPrompt="1"/>
          </p:nvPr>
        </p:nvSpPr>
        <p:spPr>
          <a:xfrm>
            <a:off x="607326" y="1604434"/>
            <a:ext cx="10967826" cy="4567767"/>
          </a:xfrm>
        </p:spPr>
        <p:txBody>
          <a:bodyPr/>
          <a:lstStyle>
            <a:lvl1pPr>
              <a:defRPr>
                <a:solidFill>
                  <a:srgbClr val="0071C5"/>
                </a:solidFill>
              </a:defRPr>
            </a:lvl1pPr>
            <a:lvl2pPr>
              <a:defRPr sz="2399"/>
            </a:lvl2pPr>
            <a:lvl3pPr>
              <a:defRPr sz="2399"/>
            </a:lvl3pPr>
            <a:lvl4pPr>
              <a:defRPr sz="2133"/>
            </a:lvl4pPr>
          </a:lstStyle>
          <a:p>
            <a:pPr lvl="0"/>
            <a:r>
              <a:rPr lang="en-US" dirty="0" smtClean="0"/>
              <a:t>18pt Intel Clear body text</a:t>
            </a:r>
          </a:p>
          <a:p>
            <a:pPr lvl="1"/>
            <a:r>
              <a:rPr lang="en-US" dirty="0" smtClean="0"/>
              <a:t>18pt Intel Clear bullet one</a:t>
            </a:r>
          </a:p>
          <a:p>
            <a:pPr lvl="2"/>
            <a:r>
              <a:rPr lang="en-US" dirty="0" smtClean="0"/>
              <a:t>18pt Intel Clear sub-bullet</a:t>
            </a:r>
          </a:p>
          <a:p>
            <a:pPr lvl="3"/>
            <a:r>
              <a:rPr lang="en-US" dirty="0" smtClean="0"/>
              <a:t>16pt Intel Clear fourth level</a:t>
            </a:r>
          </a:p>
          <a:p>
            <a:pPr lvl="4"/>
            <a:r>
              <a:rPr lang="en-US" dirty="0" err="1" smtClean="0"/>
              <a:t>14pt</a:t>
            </a:r>
            <a:r>
              <a:rPr lang="en-US" dirty="0" smtClean="0"/>
              <a:t> Intel Clear fifth level</a:t>
            </a:r>
            <a:endParaRPr lang="en-US" dirty="0"/>
          </a:p>
        </p:txBody>
      </p:sp>
    </p:spTree>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wo Content with Image">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DC1BBB0-96F0-4077-A278-0F3FB5C104D3}" type="slidenum">
              <a:rPr lang="en-US" smtClean="0"/>
              <a:pPr/>
              <a:t>‹#›</a:t>
            </a:fld>
            <a:endParaRPr lang="en-US"/>
          </a:p>
        </p:txBody>
      </p:sp>
      <p:sp>
        <p:nvSpPr>
          <p:cNvPr id="15" name="Content Placeholder 2"/>
          <p:cNvSpPr>
            <a:spLocks noGrp="1"/>
          </p:cNvSpPr>
          <p:nvPr>
            <p:ph sz="half" idx="1" hasCustomPrompt="1"/>
          </p:nvPr>
        </p:nvSpPr>
        <p:spPr>
          <a:xfrm>
            <a:off x="607326" y="1604433"/>
            <a:ext cx="5341077" cy="4567767"/>
          </a:xfrm>
        </p:spPr>
        <p:txBody>
          <a:bodyPr vert="horz" lIns="0" tIns="0" rIns="0" bIns="0" rtlCol="0">
            <a:noAutofit/>
          </a:bodyPr>
          <a:lstStyle>
            <a:lvl1pPr>
              <a:defRPr lang="en-US" dirty="0" smtClean="0"/>
            </a:lvl1pPr>
            <a:lvl2pPr>
              <a:defRPr lang="en-US" dirty="0" smtClean="0"/>
            </a:lvl2pPr>
            <a:lvl3pPr>
              <a:defRPr lang="en-US" sz="1866" dirty="0" smtClean="0"/>
            </a:lvl3pPr>
            <a:lvl4pPr>
              <a:defRPr lang="en-US" sz="1600" dirty="0" smtClean="0"/>
            </a:lvl4pPr>
            <a:lvl5pPr>
              <a:defRPr lang="en-US" sz="1600" dirty="0"/>
            </a:lvl5pPr>
          </a:lstStyle>
          <a:p>
            <a:pPr marR="0" lvl="0" fontAlgn="auto">
              <a:lnSpc>
                <a:spcPct val="100000"/>
              </a:lnSpc>
              <a:buClrTx/>
              <a:buSzTx/>
              <a:tabLst/>
            </a:pPr>
            <a:r>
              <a:rPr lang="en-US" dirty="0" smtClean="0"/>
              <a:t>18pt Intel Clear body text</a:t>
            </a:r>
          </a:p>
          <a:p>
            <a:pPr marR="0" lvl="1" fontAlgn="auto">
              <a:lnSpc>
                <a:spcPct val="100000"/>
              </a:lnSpc>
              <a:spcAft>
                <a:spcPts val="0"/>
              </a:spcAft>
              <a:buClrTx/>
              <a:buSzTx/>
              <a:tabLst/>
            </a:pPr>
            <a:r>
              <a:rPr lang="en-US" dirty="0" smtClean="0"/>
              <a:t>16pt Intel Clear bullet one</a:t>
            </a:r>
          </a:p>
          <a:p>
            <a:pPr lvl="2"/>
            <a:r>
              <a:rPr lang="en-US" dirty="0" err="1" smtClean="0"/>
              <a:t>14pt</a:t>
            </a:r>
            <a:r>
              <a:rPr lang="en-US" dirty="0" smtClean="0"/>
              <a:t> Intel Clear third level</a:t>
            </a:r>
          </a:p>
          <a:p>
            <a:pPr lvl="3"/>
            <a:r>
              <a:rPr lang="en-US" dirty="0" err="1" smtClean="0"/>
              <a:t>12pt</a:t>
            </a:r>
            <a:r>
              <a:rPr lang="en-US" dirty="0" smtClean="0"/>
              <a:t> Intel Clear fourth level</a:t>
            </a:r>
          </a:p>
          <a:p>
            <a:pPr lvl="4"/>
            <a:r>
              <a:rPr lang="en-US" dirty="0" err="1" smtClean="0"/>
              <a:t>12pt</a:t>
            </a:r>
            <a:r>
              <a:rPr lang="en-US" dirty="0" smtClean="0"/>
              <a:t> Intel Clear fifth level</a:t>
            </a:r>
            <a:endParaRPr lang="en-US" dirty="0"/>
          </a:p>
        </p:txBody>
      </p:sp>
      <p:sp>
        <p:nvSpPr>
          <p:cNvPr id="8" name="Title 6"/>
          <p:cNvSpPr>
            <a:spLocks noGrp="1"/>
          </p:cNvSpPr>
          <p:nvPr>
            <p:ph type="title" hasCustomPrompt="1"/>
          </p:nvPr>
        </p:nvSpPr>
        <p:spPr>
          <a:xfrm>
            <a:off x="607326" y="411797"/>
            <a:ext cx="10969943" cy="1158240"/>
          </a:xfrm>
        </p:spPr>
        <p:txBody>
          <a:bodyPr/>
          <a:lstStyle>
            <a:lvl1pPr>
              <a:defRPr b="0" i="0" baseline="0">
                <a:solidFill>
                  <a:srgbClr val="003C71"/>
                </a:solidFill>
                <a:latin typeface="Intel Clear"/>
                <a:cs typeface="Intel Clear"/>
              </a:defRPr>
            </a:lvl1pPr>
          </a:lstStyle>
          <a:p>
            <a:r>
              <a:rPr lang="en-US" dirty="0" smtClean="0"/>
              <a:t>28pt Intel Clear Headline</a:t>
            </a:r>
            <a:endParaRPr lang="en-US" dirty="0"/>
          </a:p>
        </p:txBody>
      </p:sp>
      <p:sp>
        <p:nvSpPr>
          <p:cNvPr id="9" name="Picture Placeholder 8"/>
          <p:cNvSpPr>
            <a:spLocks noGrp="1"/>
          </p:cNvSpPr>
          <p:nvPr>
            <p:ph type="pic" sz="quarter" idx="13"/>
          </p:nvPr>
        </p:nvSpPr>
        <p:spPr>
          <a:xfrm>
            <a:off x="6439341" y="1257907"/>
            <a:ext cx="4240393" cy="2227933"/>
          </a:xfrm>
          <a:solidFill>
            <a:schemeClr val="bg2">
              <a:lumMod val="60000"/>
              <a:lumOff val="40000"/>
            </a:schemeClr>
          </a:solidFill>
        </p:spPr>
        <p:txBody>
          <a:bodyPr/>
          <a:lstStyle>
            <a:lvl1pPr>
              <a:defRPr sz="2399">
                <a:latin typeface="Intel Clear"/>
              </a:defRPr>
            </a:lvl1pPr>
          </a:lstStyle>
          <a:p>
            <a:r>
              <a:rPr lang="en-US" sz="1466" smtClean="0">
                <a:latin typeface="Arial"/>
              </a:rPr>
              <a:t>Drag picture to placeholder or click icon to add</a:t>
            </a:r>
            <a:endParaRPr lang="en-US" sz="1466" dirty="0">
              <a:latin typeface="Arial"/>
            </a:endParaRPr>
          </a:p>
        </p:txBody>
      </p:sp>
      <p:sp>
        <p:nvSpPr>
          <p:cNvPr id="10" name="Picture Placeholder 8"/>
          <p:cNvSpPr>
            <a:spLocks noGrp="1"/>
          </p:cNvSpPr>
          <p:nvPr>
            <p:ph type="pic" sz="quarter" idx="14"/>
          </p:nvPr>
        </p:nvSpPr>
        <p:spPr>
          <a:xfrm>
            <a:off x="6439341" y="3791863"/>
            <a:ext cx="4240393" cy="2227933"/>
          </a:xfrm>
          <a:solidFill>
            <a:schemeClr val="bg2">
              <a:lumMod val="60000"/>
              <a:lumOff val="40000"/>
            </a:schemeClr>
          </a:solidFill>
        </p:spPr>
        <p:txBody>
          <a:bodyPr/>
          <a:lstStyle>
            <a:lvl1pPr>
              <a:defRPr sz="2399">
                <a:latin typeface="Intel Clear"/>
              </a:defRPr>
            </a:lvl1pPr>
          </a:lstStyle>
          <a:p>
            <a:r>
              <a:rPr lang="en-US" sz="1466" smtClean="0">
                <a:latin typeface="Arial"/>
              </a:rPr>
              <a:t>Drag picture to placeholder or click icon to add</a:t>
            </a:r>
            <a:endParaRPr lang="en-US" sz="1466" dirty="0">
              <a:latin typeface="Arial"/>
            </a:endParaRPr>
          </a:p>
        </p:txBody>
      </p:sp>
    </p:spTree>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DC1BBB0-96F0-4077-A278-0F3FB5C104D3}" type="slidenum">
              <a:rPr lang="en-US" smtClean="0"/>
              <a:t>‹#›</a:t>
            </a:fld>
            <a:endParaRPr lang="en-US"/>
          </a:p>
        </p:txBody>
      </p:sp>
      <p:sp>
        <p:nvSpPr>
          <p:cNvPr id="15" name="Content Placeholder 2"/>
          <p:cNvSpPr>
            <a:spLocks noGrp="1"/>
          </p:cNvSpPr>
          <p:nvPr>
            <p:ph sz="half" idx="1" hasCustomPrompt="1"/>
          </p:nvPr>
        </p:nvSpPr>
        <p:spPr>
          <a:xfrm>
            <a:off x="607326" y="1604433"/>
            <a:ext cx="5341077" cy="4567767"/>
          </a:xfrm>
        </p:spPr>
        <p:txBody>
          <a:bodyPr vert="horz" lIns="0" tIns="0" rIns="0" bIns="0" rtlCol="0">
            <a:noAutofit/>
          </a:bodyPr>
          <a:lstStyle>
            <a:lvl1pPr>
              <a:defRPr lang="en-US" dirty="0" smtClean="0"/>
            </a:lvl1pPr>
            <a:lvl2pPr>
              <a:defRPr lang="en-US" dirty="0" smtClean="0"/>
            </a:lvl2pPr>
            <a:lvl3pPr>
              <a:defRPr lang="en-US" sz="1866" dirty="0" smtClean="0"/>
            </a:lvl3pPr>
            <a:lvl4pPr>
              <a:defRPr lang="en-US" sz="1600" dirty="0" smtClean="0"/>
            </a:lvl4pPr>
            <a:lvl5pPr>
              <a:defRPr lang="en-US" sz="1600" dirty="0"/>
            </a:lvl5pPr>
          </a:lstStyle>
          <a:p>
            <a:pPr marR="0" lvl="0" fontAlgn="auto">
              <a:lnSpc>
                <a:spcPct val="100000"/>
              </a:lnSpc>
              <a:buClrTx/>
              <a:buSzTx/>
              <a:tabLst/>
            </a:pPr>
            <a:r>
              <a:rPr lang="en-US" dirty="0" smtClean="0"/>
              <a:t>18pt Intel Clear body text</a:t>
            </a:r>
          </a:p>
          <a:p>
            <a:pPr marR="0" lvl="1" fontAlgn="auto">
              <a:lnSpc>
                <a:spcPct val="100000"/>
              </a:lnSpc>
              <a:spcAft>
                <a:spcPts val="0"/>
              </a:spcAft>
              <a:buClrTx/>
              <a:buSzTx/>
              <a:tabLst/>
            </a:pPr>
            <a:r>
              <a:rPr lang="en-US" dirty="0" smtClean="0"/>
              <a:t>16pt Intel Clear bullet one</a:t>
            </a:r>
          </a:p>
          <a:p>
            <a:pPr lvl="2"/>
            <a:r>
              <a:rPr lang="en-US" dirty="0" err="1" smtClean="0"/>
              <a:t>14pt</a:t>
            </a:r>
            <a:r>
              <a:rPr lang="en-US" dirty="0" smtClean="0"/>
              <a:t> Intel Clear third level</a:t>
            </a:r>
          </a:p>
          <a:p>
            <a:pPr lvl="3"/>
            <a:r>
              <a:rPr lang="en-US" dirty="0" err="1" smtClean="0"/>
              <a:t>12pt</a:t>
            </a:r>
            <a:r>
              <a:rPr lang="en-US" dirty="0" smtClean="0"/>
              <a:t> Intel Clear fourth level</a:t>
            </a:r>
          </a:p>
          <a:p>
            <a:pPr lvl="4"/>
            <a:r>
              <a:rPr lang="en-US" dirty="0" err="1" smtClean="0"/>
              <a:t>12pt</a:t>
            </a:r>
            <a:r>
              <a:rPr lang="en-US" dirty="0" smtClean="0"/>
              <a:t> Intel Clear fifth level</a:t>
            </a:r>
            <a:endParaRPr lang="en-US" dirty="0"/>
          </a:p>
        </p:txBody>
      </p:sp>
      <p:sp>
        <p:nvSpPr>
          <p:cNvPr id="16" name="Content Placeholder 2"/>
          <p:cNvSpPr>
            <a:spLocks noGrp="1"/>
          </p:cNvSpPr>
          <p:nvPr>
            <p:ph sz="half" idx="13" hasCustomPrompt="1"/>
          </p:nvPr>
        </p:nvSpPr>
        <p:spPr>
          <a:xfrm>
            <a:off x="6236193" y="1604433"/>
            <a:ext cx="5338961" cy="4567767"/>
          </a:xfrm>
        </p:spPr>
        <p:txBody>
          <a:bodyPr vert="horz" lIns="0" tIns="0" rIns="0" bIns="0" rtlCol="0">
            <a:noAutofit/>
          </a:bodyPr>
          <a:lstStyle>
            <a:lvl1pPr>
              <a:defRPr lang="en-US" dirty="0" smtClean="0"/>
            </a:lvl1pPr>
            <a:lvl2pPr>
              <a:defRPr lang="en-US" dirty="0" smtClean="0"/>
            </a:lvl2pPr>
            <a:lvl3pPr>
              <a:defRPr lang="en-US" sz="1866" dirty="0" smtClean="0"/>
            </a:lvl3pPr>
            <a:lvl4pPr>
              <a:defRPr lang="en-US" sz="1600" dirty="0" smtClean="0"/>
            </a:lvl4pPr>
            <a:lvl5pPr>
              <a:defRPr lang="en-US" sz="1600" dirty="0"/>
            </a:lvl5pPr>
          </a:lstStyle>
          <a:p>
            <a:pPr marR="0" lvl="0" fontAlgn="auto">
              <a:lnSpc>
                <a:spcPct val="100000"/>
              </a:lnSpc>
              <a:buClrTx/>
              <a:buSzTx/>
              <a:tabLst/>
            </a:pPr>
            <a:r>
              <a:rPr lang="en-US" dirty="0" smtClean="0"/>
              <a:t>18pt Intel Clear body text</a:t>
            </a:r>
          </a:p>
          <a:p>
            <a:pPr marR="0" lvl="1" fontAlgn="auto">
              <a:lnSpc>
                <a:spcPct val="100000"/>
              </a:lnSpc>
              <a:spcAft>
                <a:spcPts val="0"/>
              </a:spcAft>
              <a:buClrTx/>
              <a:buSzTx/>
              <a:tabLst/>
            </a:pPr>
            <a:r>
              <a:rPr lang="en-US" dirty="0" smtClean="0"/>
              <a:t>16pt Intel Clear bullet one</a:t>
            </a:r>
          </a:p>
          <a:p>
            <a:pPr lvl="2"/>
            <a:r>
              <a:rPr lang="en-US" dirty="0" err="1" smtClean="0"/>
              <a:t>14pt</a:t>
            </a:r>
            <a:r>
              <a:rPr lang="en-US" dirty="0" smtClean="0"/>
              <a:t> Intel Clear third level</a:t>
            </a:r>
          </a:p>
          <a:p>
            <a:pPr lvl="3"/>
            <a:r>
              <a:rPr lang="en-US" dirty="0" err="1" smtClean="0"/>
              <a:t>12pt</a:t>
            </a:r>
            <a:r>
              <a:rPr lang="en-US" dirty="0" smtClean="0"/>
              <a:t> Intel Clear fourth level</a:t>
            </a:r>
          </a:p>
          <a:p>
            <a:pPr lvl="4"/>
            <a:r>
              <a:rPr lang="en-US" dirty="0" err="1" smtClean="0"/>
              <a:t>12pt</a:t>
            </a:r>
            <a:r>
              <a:rPr lang="en-US" dirty="0" smtClean="0"/>
              <a:t> Intel Clear fifth level</a:t>
            </a:r>
            <a:endParaRPr lang="en-US" dirty="0"/>
          </a:p>
        </p:txBody>
      </p:sp>
      <p:sp>
        <p:nvSpPr>
          <p:cNvPr id="8" name="Title 6"/>
          <p:cNvSpPr>
            <a:spLocks noGrp="1"/>
          </p:cNvSpPr>
          <p:nvPr>
            <p:ph type="title" hasCustomPrompt="1"/>
          </p:nvPr>
        </p:nvSpPr>
        <p:spPr>
          <a:xfrm>
            <a:off x="607326" y="411797"/>
            <a:ext cx="10969943" cy="1158240"/>
          </a:xfrm>
        </p:spPr>
        <p:txBody>
          <a:bodyPr/>
          <a:lstStyle>
            <a:lvl1pPr>
              <a:defRPr b="0" i="0" baseline="0">
                <a:solidFill>
                  <a:srgbClr val="003C71"/>
                </a:solidFill>
                <a:latin typeface="Intel Clear"/>
                <a:cs typeface="Intel Clear"/>
              </a:defRPr>
            </a:lvl1pPr>
          </a:lstStyle>
          <a:p>
            <a:r>
              <a:rPr lang="en-US" dirty="0" smtClean="0"/>
              <a:t>28pt Intel Clear Headline</a:t>
            </a:r>
            <a:endParaRPr lang="en-US" dirty="0"/>
          </a:p>
        </p:txBody>
      </p:sp>
    </p:spTree>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Quote with Attribute">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607326" y="1604434"/>
            <a:ext cx="10967827" cy="4567767"/>
          </a:xfrm>
        </p:spPr>
        <p:txBody>
          <a:bodyPr anchor="ctr" anchorCtr="0"/>
          <a:lstStyle>
            <a:lvl1pPr marL="253937" indent="-253937">
              <a:defRPr sz="4799" b="1" baseline="0">
                <a:solidFill>
                  <a:schemeClr val="accent2"/>
                </a:solidFill>
                <a:latin typeface="+mn-lt"/>
                <a:cs typeface="Intel Clear Light" panose="020B0404020203020204" pitchFamily="34" charset="0"/>
              </a:defRPr>
            </a:lvl1pPr>
            <a:lvl2pPr marL="556545" indent="-300492">
              <a:buFont typeface="Lucida Grande"/>
              <a:buChar char="−"/>
              <a:defRPr sz="1600" baseline="0">
                <a:latin typeface="+mn-lt"/>
                <a:cs typeface="Intel Clear" panose="020B0604020203020204" pitchFamily="34" charset="0"/>
              </a:defRPr>
            </a:lvl2pPr>
            <a:lvl3pPr marL="914171" indent="-304724">
              <a:defRPr sz="1600">
                <a:latin typeface="+mn-lt"/>
              </a:defRPr>
            </a:lvl3pPr>
            <a:lvl4pPr>
              <a:defRPr sz="1466">
                <a:latin typeface="+mn-lt"/>
              </a:defRPr>
            </a:lvl4pPr>
            <a:lvl5pPr>
              <a:defRPr sz="1400">
                <a:latin typeface="+mn-lt"/>
              </a:defRPr>
            </a:lvl5pPr>
          </a:lstStyle>
          <a:p>
            <a:pPr lvl="0"/>
            <a:r>
              <a:rPr lang="en-US" dirty="0" smtClean="0"/>
              <a:t>“36pt Intel Clear Bold Text”</a:t>
            </a:r>
          </a:p>
          <a:p>
            <a:pPr lvl="1"/>
            <a:r>
              <a:rPr lang="en-US" dirty="0" err="1" smtClean="0"/>
              <a:t>12pt</a:t>
            </a:r>
            <a:r>
              <a:rPr lang="en-US" dirty="0" smtClean="0"/>
              <a:t> Attribution</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DC1BBB0-96F0-4077-A278-0F3FB5C104D3}" type="slidenum">
              <a:rPr lang="en-US" smtClean="0"/>
              <a:pPr/>
              <a:t>‹#›</a:t>
            </a:fld>
            <a:endParaRPr lang="en-US"/>
          </a:p>
        </p:txBody>
      </p:sp>
      <p:sp>
        <p:nvSpPr>
          <p:cNvPr id="7" name="Title 6"/>
          <p:cNvSpPr>
            <a:spLocks noGrp="1"/>
          </p:cNvSpPr>
          <p:nvPr>
            <p:ph type="title" hasCustomPrompt="1"/>
          </p:nvPr>
        </p:nvSpPr>
        <p:spPr>
          <a:xfrm>
            <a:off x="607326" y="411797"/>
            <a:ext cx="10969943" cy="1158240"/>
          </a:xfrm>
        </p:spPr>
        <p:txBody>
          <a:bodyPr/>
          <a:lstStyle>
            <a:lvl1pPr>
              <a:defRPr b="0" i="0" baseline="0">
                <a:solidFill>
                  <a:srgbClr val="003C71"/>
                </a:solidFill>
                <a:latin typeface="Intel Clear"/>
                <a:cs typeface="Intel Clear"/>
              </a:defRPr>
            </a:lvl1pPr>
          </a:lstStyle>
          <a:p>
            <a:r>
              <a:rPr lang="en-US" dirty="0" smtClean="0"/>
              <a:t>28pt Intel Clear Headline</a:t>
            </a:r>
            <a:endParaRPr lang="en-US" dirty="0"/>
          </a:p>
        </p:txBody>
      </p:sp>
    </p:spTree>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Full Bleed Image">
    <p:spTree>
      <p:nvGrpSpPr>
        <p:cNvPr id="1" name=""/>
        <p:cNvGrpSpPr/>
        <p:nvPr/>
      </p:nvGrpSpPr>
      <p:grpSpPr>
        <a:xfrm>
          <a:off x="0" y="0"/>
          <a:ext cx="0" cy="0"/>
          <a:chOff x="0" y="0"/>
          <a:chExt cx="0" cy="0"/>
        </a:xfrm>
      </p:grpSpPr>
      <p:sp>
        <p:nvSpPr>
          <p:cNvPr id="9" name="Picture Placeholder 8"/>
          <p:cNvSpPr>
            <a:spLocks noGrp="1"/>
          </p:cNvSpPr>
          <p:nvPr>
            <p:ph type="pic" sz="quarter" idx="13" hasCustomPrompt="1"/>
          </p:nvPr>
        </p:nvSpPr>
        <p:spPr>
          <a:xfrm>
            <a:off x="0" y="0"/>
            <a:ext cx="12188825" cy="6350445"/>
          </a:xfrm>
          <a:solidFill>
            <a:schemeClr val="bg2">
              <a:lumMod val="60000"/>
              <a:lumOff val="40000"/>
            </a:schemeClr>
          </a:solidFill>
        </p:spPr>
        <p:txBody>
          <a:bodyPr/>
          <a:lstStyle>
            <a:lvl1pPr marL="0" marR="0" indent="0" algn="l" defTabSz="609448" rtl="0" eaLnBrk="1" fontAlgn="auto" latinLnBrk="0" hangingPunct="1">
              <a:lnSpc>
                <a:spcPct val="100000"/>
              </a:lnSpc>
              <a:spcBef>
                <a:spcPts val="1600"/>
              </a:spcBef>
              <a:spcAft>
                <a:spcPts val="0"/>
              </a:spcAft>
              <a:buClrTx/>
              <a:buSzTx/>
              <a:buFont typeface="Wingdings" panose="05000000000000000000" pitchFamily="2" charset="2"/>
              <a:buNone/>
              <a:tabLst/>
              <a:defRPr baseline="0"/>
            </a:lvl1pPr>
          </a:lstStyle>
          <a:p>
            <a:r>
              <a:rPr lang="en-US" dirty="0" smtClean="0"/>
              <a:t>Insert photo here. Drag picture to placeholder or click icon to add.</a:t>
            </a:r>
            <a:endParaRPr lang="en-US" dirty="0"/>
          </a:p>
        </p:txBody>
      </p:sp>
      <p:sp>
        <p:nvSpPr>
          <p:cNvPr id="6" name="Slide Number Placeholder 5"/>
          <p:cNvSpPr>
            <a:spLocks noGrp="1"/>
          </p:cNvSpPr>
          <p:nvPr>
            <p:ph type="sldNum" sz="quarter" idx="12"/>
          </p:nvPr>
        </p:nvSpPr>
        <p:spPr>
          <a:xfrm>
            <a:off x="11620597" y="6394031"/>
            <a:ext cx="384212" cy="365125"/>
          </a:xfrm>
        </p:spPr>
        <p:txBody>
          <a:bodyPr/>
          <a:lstStyle/>
          <a:p>
            <a:fld id="{7DC1BBB0-96F0-4077-A278-0F3FB5C104D3}" type="slidenum">
              <a:rPr lang="en-US" smtClean="0"/>
              <a:pPr/>
              <a:t>‹#›</a:t>
            </a:fld>
            <a:endParaRPr lang="en-US"/>
          </a:p>
        </p:txBody>
      </p:sp>
      <p:sp>
        <p:nvSpPr>
          <p:cNvPr id="7" name="Title 6"/>
          <p:cNvSpPr>
            <a:spLocks noGrp="1"/>
          </p:cNvSpPr>
          <p:nvPr>
            <p:ph type="title" hasCustomPrompt="1"/>
          </p:nvPr>
        </p:nvSpPr>
        <p:spPr>
          <a:xfrm>
            <a:off x="607326" y="411797"/>
            <a:ext cx="10969943" cy="1158240"/>
          </a:xfrm>
        </p:spPr>
        <p:txBody>
          <a:bodyPr/>
          <a:lstStyle>
            <a:lvl1pPr>
              <a:defRPr b="0" i="0" baseline="0">
                <a:solidFill>
                  <a:srgbClr val="003C71"/>
                </a:solidFill>
                <a:latin typeface="Intel Clear"/>
                <a:cs typeface="Intel Clear"/>
              </a:defRPr>
            </a:lvl1pPr>
          </a:lstStyle>
          <a:p>
            <a:r>
              <a:rPr lang="en-US" dirty="0" smtClean="0"/>
              <a:t>28pt Intel Clear Headline</a:t>
            </a:r>
            <a:endParaRPr lang="en-US" dirty="0"/>
          </a:p>
        </p:txBody>
      </p:sp>
      <p:sp>
        <p:nvSpPr>
          <p:cNvPr id="8" name="Footer Placeholder 4"/>
          <p:cNvSpPr>
            <a:spLocks noGrp="1"/>
          </p:cNvSpPr>
          <p:nvPr>
            <p:ph type="ftr" sz="quarter" idx="3"/>
          </p:nvPr>
        </p:nvSpPr>
        <p:spPr>
          <a:xfrm>
            <a:off x="4164515" y="6501641"/>
            <a:ext cx="3859795" cy="334435"/>
          </a:xfrm>
          <a:prstGeom prst="rect">
            <a:avLst/>
          </a:prstGeom>
        </p:spPr>
        <p:txBody>
          <a:bodyPr vert="horz" lIns="91440" tIns="45720" rIns="91440" bIns="45720" rtlCol="0" anchor="ctr"/>
          <a:lstStyle>
            <a:lvl1pPr algn="ctr">
              <a:defRPr sz="1066">
                <a:solidFill>
                  <a:schemeClr val="bg1"/>
                </a:solidFill>
                <a:latin typeface="+mn-lt"/>
              </a:defRPr>
            </a:lvl1pPr>
          </a:lstStyle>
          <a:p>
            <a:endParaRPr lang="en-US"/>
          </a:p>
        </p:txBody>
      </p:sp>
    </p:spTree>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ext and Bottom Half Image">
    <p:spTree>
      <p:nvGrpSpPr>
        <p:cNvPr id="1" name=""/>
        <p:cNvGrpSpPr/>
        <p:nvPr/>
      </p:nvGrpSpPr>
      <p:grpSpPr>
        <a:xfrm>
          <a:off x="0" y="0"/>
          <a:ext cx="0" cy="0"/>
          <a:chOff x="0" y="0"/>
          <a:chExt cx="0" cy="0"/>
        </a:xfrm>
      </p:grpSpPr>
      <p:sp>
        <p:nvSpPr>
          <p:cNvPr id="9" name="Picture Placeholder 8"/>
          <p:cNvSpPr>
            <a:spLocks noGrp="1"/>
          </p:cNvSpPr>
          <p:nvPr>
            <p:ph type="pic" sz="quarter" idx="13" hasCustomPrompt="1"/>
          </p:nvPr>
        </p:nvSpPr>
        <p:spPr>
          <a:xfrm>
            <a:off x="0" y="3432175"/>
            <a:ext cx="12188825" cy="2918271"/>
          </a:xfrm>
          <a:solidFill>
            <a:schemeClr val="bg2">
              <a:lumMod val="60000"/>
              <a:lumOff val="40000"/>
            </a:schemeClr>
          </a:solidFill>
        </p:spPr>
        <p:txBody>
          <a:bodyPr/>
          <a:lstStyle>
            <a:lvl1pPr marL="0" marR="0" indent="0" algn="l" defTabSz="609448" rtl="0" eaLnBrk="1" fontAlgn="auto" latinLnBrk="0" hangingPunct="1">
              <a:lnSpc>
                <a:spcPct val="100000"/>
              </a:lnSpc>
              <a:spcBef>
                <a:spcPts val="1600"/>
              </a:spcBef>
              <a:spcAft>
                <a:spcPts val="0"/>
              </a:spcAft>
              <a:buClrTx/>
              <a:buSzTx/>
              <a:buFont typeface="Wingdings" panose="05000000000000000000" pitchFamily="2" charset="2"/>
              <a:buNone/>
              <a:tabLst/>
              <a:defRPr baseline="0"/>
            </a:lvl1pPr>
          </a:lstStyle>
          <a:p>
            <a:r>
              <a:rPr lang="en-US" dirty="0" smtClean="0"/>
              <a:t>Insert photo here. Drag picture to placeholder or click icon to add.</a:t>
            </a:r>
          </a:p>
        </p:txBody>
      </p:sp>
      <p:sp>
        <p:nvSpPr>
          <p:cNvPr id="6" name="Slide Number Placeholder 5"/>
          <p:cNvSpPr>
            <a:spLocks noGrp="1"/>
          </p:cNvSpPr>
          <p:nvPr>
            <p:ph type="sldNum" sz="quarter" idx="12"/>
          </p:nvPr>
        </p:nvSpPr>
        <p:spPr>
          <a:xfrm>
            <a:off x="11620597" y="6394031"/>
            <a:ext cx="384212" cy="365125"/>
          </a:xfrm>
        </p:spPr>
        <p:txBody>
          <a:bodyPr/>
          <a:lstStyle/>
          <a:p>
            <a:fld id="{7DC1BBB0-96F0-4077-A278-0F3FB5C104D3}" type="slidenum">
              <a:rPr lang="en-US" smtClean="0"/>
              <a:pPr/>
              <a:t>‹#›</a:t>
            </a:fld>
            <a:endParaRPr lang="en-US"/>
          </a:p>
        </p:txBody>
      </p:sp>
      <p:sp>
        <p:nvSpPr>
          <p:cNvPr id="18" name="Content Placeholder 2"/>
          <p:cNvSpPr>
            <a:spLocks noGrp="1"/>
          </p:cNvSpPr>
          <p:nvPr>
            <p:ph sz="half" idx="1" hasCustomPrompt="1"/>
          </p:nvPr>
        </p:nvSpPr>
        <p:spPr>
          <a:xfrm>
            <a:off x="607326" y="1604433"/>
            <a:ext cx="5341077" cy="1745720"/>
          </a:xfrm>
        </p:spPr>
        <p:txBody>
          <a:bodyPr vert="horz" lIns="0" tIns="0" rIns="0" bIns="0" rtlCol="0">
            <a:noAutofit/>
          </a:bodyPr>
          <a:lstStyle>
            <a:lvl1pPr>
              <a:defRPr lang="en-US" dirty="0" smtClean="0"/>
            </a:lvl1pPr>
            <a:lvl2pPr>
              <a:defRPr lang="en-US" dirty="0" smtClean="0"/>
            </a:lvl2pPr>
            <a:lvl3pPr>
              <a:defRPr lang="en-US" sz="1866" dirty="0" smtClean="0"/>
            </a:lvl3pPr>
            <a:lvl4pPr>
              <a:defRPr lang="en-US" sz="1600" dirty="0" smtClean="0"/>
            </a:lvl4pPr>
            <a:lvl5pPr>
              <a:defRPr lang="en-US" sz="1600" dirty="0"/>
            </a:lvl5pPr>
          </a:lstStyle>
          <a:p>
            <a:pPr marR="0" lvl="0" fontAlgn="auto">
              <a:lnSpc>
                <a:spcPct val="100000"/>
              </a:lnSpc>
              <a:buClrTx/>
              <a:buSzTx/>
              <a:tabLst/>
            </a:pPr>
            <a:r>
              <a:rPr lang="en-US" dirty="0" smtClean="0"/>
              <a:t>18pt Intel Clear body text</a:t>
            </a:r>
          </a:p>
          <a:p>
            <a:pPr marR="0" lvl="1" fontAlgn="auto">
              <a:lnSpc>
                <a:spcPct val="100000"/>
              </a:lnSpc>
              <a:spcAft>
                <a:spcPts val="0"/>
              </a:spcAft>
              <a:buClrTx/>
              <a:buSzTx/>
              <a:tabLst/>
            </a:pPr>
            <a:r>
              <a:rPr lang="en-US" dirty="0" smtClean="0"/>
              <a:t>16pt Intel Clear bullet one</a:t>
            </a:r>
          </a:p>
          <a:p>
            <a:pPr lvl="2"/>
            <a:r>
              <a:rPr lang="en-US" dirty="0" err="1" smtClean="0"/>
              <a:t>14pt</a:t>
            </a:r>
            <a:r>
              <a:rPr lang="en-US" dirty="0" smtClean="0"/>
              <a:t> Intel Clear third level</a:t>
            </a:r>
          </a:p>
          <a:p>
            <a:pPr lvl="3"/>
            <a:r>
              <a:rPr lang="en-US" dirty="0" err="1" smtClean="0"/>
              <a:t>12pt</a:t>
            </a:r>
            <a:r>
              <a:rPr lang="en-US" dirty="0" smtClean="0"/>
              <a:t> Intel Clear fourth level</a:t>
            </a:r>
          </a:p>
          <a:p>
            <a:pPr lvl="4"/>
            <a:r>
              <a:rPr lang="en-US" dirty="0" err="1" smtClean="0"/>
              <a:t>12pt</a:t>
            </a:r>
            <a:r>
              <a:rPr lang="en-US" dirty="0" smtClean="0"/>
              <a:t> Intel Clear fifth level</a:t>
            </a:r>
            <a:endParaRPr lang="en-US" dirty="0"/>
          </a:p>
        </p:txBody>
      </p:sp>
      <p:sp>
        <p:nvSpPr>
          <p:cNvPr id="19" name="Content Placeholder 2"/>
          <p:cNvSpPr>
            <a:spLocks noGrp="1"/>
          </p:cNvSpPr>
          <p:nvPr>
            <p:ph sz="half" idx="15" hasCustomPrompt="1"/>
          </p:nvPr>
        </p:nvSpPr>
        <p:spPr>
          <a:xfrm>
            <a:off x="6236193" y="1604433"/>
            <a:ext cx="5338961" cy="1745720"/>
          </a:xfrm>
        </p:spPr>
        <p:txBody>
          <a:bodyPr vert="horz" lIns="0" tIns="0" rIns="0" bIns="0" rtlCol="0">
            <a:noAutofit/>
          </a:bodyPr>
          <a:lstStyle>
            <a:lvl1pPr>
              <a:defRPr lang="en-US" dirty="0" smtClean="0"/>
            </a:lvl1pPr>
            <a:lvl2pPr>
              <a:defRPr lang="en-US" dirty="0" smtClean="0"/>
            </a:lvl2pPr>
            <a:lvl3pPr>
              <a:defRPr lang="en-US" sz="1866" dirty="0" smtClean="0"/>
            </a:lvl3pPr>
            <a:lvl4pPr>
              <a:defRPr lang="en-US" sz="1600" dirty="0" smtClean="0"/>
            </a:lvl4pPr>
            <a:lvl5pPr>
              <a:defRPr lang="en-US" sz="1600" dirty="0"/>
            </a:lvl5pPr>
          </a:lstStyle>
          <a:p>
            <a:pPr marR="0" lvl="0" fontAlgn="auto">
              <a:lnSpc>
                <a:spcPct val="100000"/>
              </a:lnSpc>
              <a:buClrTx/>
              <a:buSzTx/>
              <a:tabLst/>
            </a:pPr>
            <a:r>
              <a:rPr lang="en-US" dirty="0" smtClean="0"/>
              <a:t>18pt Intel Clear body text</a:t>
            </a:r>
          </a:p>
          <a:p>
            <a:pPr marR="0" lvl="1" fontAlgn="auto">
              <a:lnSpc>
                <a:spcPct val="100000"/>
              </a:lnSpc>
              <a:spcAft>
                <a:spcPts val="0"/>
              </a:spcAft>
              <a:buClrTx/>
              <a:buSzTx/>
              <a:tabLst/>
            </a:pPr>
            <a:r>
              <a:rPr lang="en-US" dirty="0" smtClean="0"/>
              <a:t>16pt Intel Clear bullet one</a:t>
            </a:r>
          </a:p>
          <a:p>
            <a:pPr lvl="2"/>
            <a:r>
              <a:rPr lang="en-US" dirty="0" err="1" smtClean="0"/>
              <a:t>14pt</a:t>
            </a:r>
            <a:r>
              <a:rPr lang="en-US" dirty="0" smtClean="0"/>
              <a:t> Intel Clear third level</a:t>
            </a:r>
          </a:p>
          <a:p>
            <a:pPr lvl="3"/>
            <a:r>
              <a:rPr lang="en-US" dirty="0" err="1" smtClean="0"/>
              <a:t>12pt</a:t>
            </a:r>
            <a:r>
              <a:rPr lang="en-US" dirty="0" smtClean="0"/>
              <a:t> Intel Clear fourth level</a:t>
            </a:r>
          </a:p>
          <a:p>
            <a:pPr lvl="4"/>
            <a:r>
              <a:rPr lang="en-US" dirty="0" err="1" smtClean="0"/>
              <a:t>12pt</a:t>
            </a:r>
            <a:r>
              <a:rPr lang="en-US" dirty="0" smtClean="0"/>
              <a:t> Intel Clear fifth level</a:t>
            </a:r>
            <a:endParaRPr lang="en-US" dirty="0"/>
          </a:p>
        </p:txBody>
      </p:sp>
      <p:sp>
        <p:nvSpPr>
          <p:cNvPr id="3" name="TextBox 2"/>
          <p:cNvSpPr txBox="1"/>
          <p:nvPr/>
        </p:nvSpPr>
        <p:spPr>
          <a:xfrm>
            <a:off x="1345633" y="6634394"/>
            <a:ext cx="184731" cy="297454"/>
          </a:xfrm>
          <a:prstGeom prst="rect">
            <a:avLst/>
          </a:prstGeom>
          <a:noFill/>
        </p:spPr>
        <p:txBody>
          <a:bodyPr wrap="none" rtlCol="0">
            <a:spAutoFit/>
          </a:bodyPr>
          <a:lstStyle/>
          <a:p>
            <a:endParaRPr lang="en-US" sz="1333" dirty="0" smtClean="0">
              <a:solidFill>
                <a:schemeClr val="tx2"/>
              </a:solidFill>
              <a:cs typeface="Neo Sans Intel"/>
            </a:endParaRPr>
          </a:p>
        </p:txBody>
      </p:sp>
      <p:sp>
        <p:nvSpPr>
          <p:cNvPr id="10" name="Title 6"/>
          <p:cNvSpPr>
            <a:spLocks noGrp="1"/>
          </p:cNvSpPr>
          <p:nvPr>
            <p:ph type="title" hasCustomPrompt="1"/>
          </p:nvPr>
        </p:nvSpPr>
        <p:spPr>
          <a:xfrm>
            <a:off x="607326" y="411797"/>
            <a:ext cx="10969943" cy="1158240"/>
          </a:xfrm>
        </p:spPr>
        <p:txBody>
          <a:bodyPr/>
          <a:lstStyle>
            <a:lvl1pPr>
              <a:defRPr b="0" i="0" baseline="0">
                <a:solidFill>
                  <a:srgbClr val="003C71"/>
                </a:solidFill>
                <a:latin typeface="Intel Clear"/>
                <a:cs typeface="Intel Clear"/>
              </a:defRPr>
            </a:lvl1pPr>
          </a:lstStyle>
          <a:p>
            <a:r>
              <a:rPr lang="en-US" dirty="0" smtClean="0"/>
              <a:t>28pt Intel Clear Headline</a:t>
            </a:r>
            <a:endParaRPr lang="en-US" dirty="0"/>
          </a:p>
        </p:txBody>
      </p:sp>
      <p:sp>
        <p:nvSpPr>
          <p:cNvPr id="11" name="Footer Placeholder 4"/>
          <p:cNvSpPr>
            <a:spLocks noGrp="1"/>
          </p:cNvSpPr>
          <p:nvPr>
            <p:ph type="ftr" sz="quarter" idx="3"/>
          </p:nvPr>
        </p:nvSpPr>
        <p:spPr>
          <a:xfrm>
            <a:off x="4164515" y="6501641"/>
            <a:ext cx="3859795" cy="334435"/>
          </a:xfrm>
          <a:prstGeom prst="rect">
            <a:avLst/>
          </a:prstGeom>
        </p:spPr>
        <p:txBody>
          <a:bodyPr vert="horz" lIns="91440" tIns="45720" rIns="91440" bIns="45720" rtlCol="0" anchor="ctr"/>
          <a:lstStyle>
            <a:lvl1pPr algn="ctr">
              <a:defRPr sz="1066">
                <a:solidFill>
                  <a:schemeClr val="bg1"/>
                </a:solidFill>
                <a:latin typeface="+mn-lt"/>
              </a:defRPr>
            </a:lvl1pPr>
          </a:lstStyle>
          <a:p>
            <a:endParaRPr lang="en-US"/>
          </a:p>
        </p:txBody>
      </p:sp>
    </p:spTree>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ext and Right Image">
    <p:spTree>
      <p:nvGrpSpPr>
        <p:cNvPr id="1" name=""/>
        <p:cNvGrpSpPr/>
        <p:nvPr/>
      </p:nvGrpSpPr>
      <p:grpSpPr>
        <a:xfrm>
          <a:off x="0" y="0"/>
          <a:ext cx="0" cy="0"/>
          <a:chOff x="0" y="0"/>
          <a:chExt cx="0" cy="0"/>
        </a:xfrm>
      </p:grpSpPr>
      <p:sp>
        <p:nvSpPr>
          <p:cNvPr id="9" name="Picture Placeholder 8"/>
          <p:cNvSpPr>
            <a:spLocks noGrp="1"/>
          </p:cNvSpPr>
          <p:nvPr>
            <p:ph type="pic" sz="quarter" idx="13" hasCustomPrompt="1"/>
          </p:nvPr>
        </p:nvSpPr>
        <p:spPr>
          <a:xfrm>
            <a:off x="6236194" y="3"/>
            <a:ext cx="5952632" cy="6340821"/>
          </a:xfrm>
          <a:solidFill>
            <a:schemeClr val="bg2">
              <a:lumMod val="60000"/>
              <a:lumOff val="40000"/>
            </a:schemeClr>
          </a:solidFill>
        </p:spPr>
        <p:txBody>
          <a:bodyPr/>
          <a:lstStyle>
            <a:lvl1pPr>
              <a:defRPr baseline="0"/>
            </a:lvl1pPr>
          </a:lstStyle>
          <a:p>
            <a:r>
              <a:rPr lang="en-US" dirty="0" smtClean="0"/>
              <a:t>Insert photo here. Drag picture to placeholder or click icon to add.</a:t>
            </a:r>
            <a:endParaRPr lang="en-US" dirty="0"/>
          </a:p>
        </p:txBody>
      </p:sp>
      <p:sp>
        <p:nvSpPr>
          <p:cNvPr id="2" name="Title 1"/>
          <p:cNvSpPr>
            <a:spLocks noGrp="1"/>
          </p:cNvSpPr>
          <p:nvPr>
            <p:ph type="title" hasCustomPrompt="1"/>
          </p:nvPr>
        </p:nvSpPr>
        <p:spPr>
          <a:xfrm>
            <a:off x="607326" y="411797"/>
            <a:ext cx="5341075" cy="1158240"/>
          </a:xfrm>
        </p:spPr>
        <p:txBody>
          <a:bodyPr>
            <a:noAutofit/>
          </a:bodyPr>
          <a:lstStyle>
            <a:lvl1pPr>
              <a:defRPr sz="3732" b="0" i="0" baseline="0">
                <a:latin typeface="Intel Clear"/>
                <a:cs typeface="Intel Clear"/>
              </a:defRPr>
            </a:lvl1pPr>
          </a:lstStyle>
          <a:p>
            <a:r>
              <a:rPr lang="en-US" dirty="0" smtClean="0"/>
              <a:t>28pt Intel Clear Headline</a:t>
            </a:r>
            <a:endParaRPr lang="en-US" dirty="0"/>
          </a:p>
        </p:txBody>
      </p:sp>
      <p:sp>
        <p:nvSpPr>
          <p:cNvPr id="6" name="Slide Number Placeholder 5"/>
          <p:cNvSpPr>
            <a:spLocks noGrp="1"/>
          </p:cNvSpPr>
          <p:nvPr>
            <p:ph type="sldNum" sz="quarter" idx="12"/>
          </p:nvPr>
        </p:nvSpPr>
        <p:spPr>
          <a:xfrm>
            <a:off x="11631045" y="6394031"/>
            <a:ext cx="373763" cy="365125"/>
          </a:xfrm>
        </p:spPr>
        <p:txBody>
          <a:bodyPr/>
          <a:lstStyle/>
          <a:p>
            <a:fld id="{7DC1BBB0-96F0-4077-A278-0F3FB5C104D3}" type="slidenum">
              <a:rPr lang="en-US" smtClean="0"/>
              <a:pPr/>
              <a:t>‹#›</a:t>
            </a:fld>
            <a:endParaRPr lang="en-US"/>
          </a:p>
        </p:txBody>
      </p:sp>
      <p:sp>
        <p:nvSpPr>
          <p:cNvPr id="17" name="Content Placeholder 2"/>
          <p:cNvSpPr>
            <a:spLocks noGrp="1"/>
          </p:cNvSpPr>
          <p:nvPr>
            <p:ph sz="half" idx="1" hasCustomPrompt="1"/>
          </p:nvPr>
        </p:nvSpPr>
        <p:spPr>
          <a:xfrm>
            <a:off x="607327" y="1766992"/>
            <a:ext cx="5341075" cy="4567767"/>
          </a:xfrm>
        </p:spPr>
        <p:txBody>
          <a:bodyPr vert="horz" lIns="0" tIns="0" rIns="0" bIns="0" rtlCol="0">
            <a:noAutofit/>
          </a:bodyPr>
          <a:lstStyle>
            <a:lvl1pPr>
              <a:defRPr lang="en-US" dirty="0" smtClean="0"/>
            </a:lvl1pPr>
            <a:lvl2pPr>
              <a:defRPr lang="en-US" dirty="0" smtClean="0"/>
            </a:lvl2pPr>
            <a:lvl3pPr>
              <a:defRPr lang="en-US" sz="1866" dirty="0" smtClean="0"/>
            </a:lvl3pPr>
            <a:lvl4pPr>
              <a:defRPr lang="en-US" sz="1600" dirty="0" smtClean="0"/>
            </a:lvl4pPr>
            <a:lvl5pPr>
              <a:defRPr lang="en-US" sz="1600" dirty="0"/>
            </a:lvl5pPr>
          </a:lstStyle>
          <a:p>
            <a:pPr marR="0" lvl="0" fontAlgn="auto">
              <a:lnSpc>
                <a:spcPct val="100000"/>
              </a:lnSpc>
              <a:buClrTx/>
              <a:buSzTx/>
              <a:tabLst/>
            </a:pPr>
            <a:r>
              <a:rPr lang="en-US" dirty="0" smtClean="0"/>
              <a:t>18pt Intel Clear body text</a:t>
            </a:r>
          </a:p>
          <a:p>
            <a:pPr marR="0" lvl="1" fontAlgn="auto">
              <a:lnSpc>
                <a:spcPct val="100000"/>
              </a:lnSpc>
              <a:spcAft>
                <a:spcPts val="0"/>
              </a:spcAft>
              <a:buClrTx/>
              <a:buSzTx/>
              <a:tabLst/>
            </a:pPr>
            <a:r>
              <a:rPr lang="en-US" dirty="0" smtClean="0"/>
              <a:t>16pt Intel Clear bullet one</a:t>
            </a:r>
          </a:p>
          <a:p>
            <a:pPr lvl="2"/>
            <a:r>
              <a:rPr lang="en-US" dirty="0" err="1" smtClean="0"/>
              <a:t>14pt</a:t>
            </a:r>
            <a:r>
              <a:rPr lang="en-US" dirty="0" smtClean="0"/>
              <a:t> Intel Clear third level</a:t>
            </a:r>
          </a:p>
          <a:p>
            <a:pPr lvl="3"/>
            <a:r>
              <a:rPr lang="en-US" dirty="0" err="1" smtClean="0"/>
              <a:t>12pt</a:t>
            </a:r>
            <a:r>
              <a:rPr lang="en-US" dirty="0" smtClean="0"/>
              <a:t> Intel Clear fourth level</a:t>
            </a:r>
          </a:p>
          <a:p>
            <a:pPr lvl="4"/>
            <a:r>
              <a:rPr lang="en-US" dirty="0" err="1" smtClean="0"/>
              <a:t>12pt</a:t>
            </a:r>
            <a:r>
              <a:rPr lang="en-US" dirty="0" smtClean="0"/>
              <a:t> Intel Clear fifth level</a:t>
            </a:r>
            <a:endParaRPr lang="en-US" dirty="0"/>
          </a:p>
        </p:txBody>
      </p:sp>
      <p:sp>
        <p:nvSpPr>
          <p:cNvPr id="7" name="Footer Placeholder 4"/>
          <p:cNvSpPr>
            <a:spLocks noGrp="1"/>
          </p:cNvSpPr>
          <p:nvPr>
            <p:ph type="ftr" sz="quarter" idx="3"/>
          </p:nvPr>
        </p:nvSpPr>
        <p:spPr>
          <a:xfrm>
            <a:off x="4164515" y="6501641"/>
            <a:ext cx="3859795" cy="334435"/>
          </a:xfrm>
          <a:prstGeom prst="rect">
            <a:avLst/>
          </a:prstGeom>
        </p:spPr>
        <p:txBody>
          <a:bodyPr vert="horz" lIns="91440" tIns="45720" rIns="91440" bIns="45720" rtlCol="0" anchor="ctr"/>
          <a:lstStyle>
            <a:lvl1pPr algn="ctr">
              <a:defRPr sz="1066">
                <a:solidFill>
                  <a:schemeClr val="bg1"/>
                </a:solidFill>
                <a:latin typeface="+mn-lt"/>
              </a:defRPr>
            </a:lvl1pPr>
          </a:lstStyle>
          <a:p>
            <a:endParaRPr lang="en-US"/>
          </a:p>
        </p:txBody>
      </p:sp>
    </p:spTree>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White Section Break">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7326" y="2810749"/>
            <a:ext cx="10360501" cy="1362075"/>
          </a:xfrm>
        </p:spPr>
        <p:txBody>
          <a:bodyPr anchor="b" anchorCtr="0">
            <a:noAutofit/>
          </a:bodyPr>
          <a:lstStyle>
            <a:lvl1pPr algn="l">
              <a:lnSpc>
                <a:spcPct val="80000"/>
              </a:lnSpc>
              <a:defRPr sz="7198" b="0" cap="none" spc="0" baseline="0">
                <a:solidFill>
                  <a:srgbClr val="003C71"/>
                </a:solidFill>
                <a:latin typeface="Intel Clear Pro" panose="020B0804020202060201" pitchFamily="34" charset="0"/>
                <a:cs typeface="Intel Clear Pro" panose="020B0804020202060201" pitchFamily="34" charset="0"/>
              </a:defRPr>
            </a:lvl1pPr>
          </a:lstStyle>
          <a:p>
            <a:r>
              <a:rPr lang="en-US" dirty="0" smtClean="0"/>
              <a:t>54pt Intel Clear Pro</a:t>
            </a:r>
            <a:br>
              <a:rPr lang="en-US" dirty="0" smtClean="0"/>
            </a:br>
            <a:r>
              <a:rPr lang="en-US" dirty="0" smtClean="0"/>
              <a:t>white section break</a:t>
            </a:r>
            <a:endParaRPr lang="en-US" dirty="0"/>
          </a:p>
        </p:txBody>
      </p:sp>
      <p:sp>
        <p:nvSpPr>
          <p:cNvPr id="3" name="Text Placeholder 2"/>
          <p:cNvSpPr>
            <a:spLocks noGrp="1"/>
          </p:cNvSpPr>
          <p:nvPr>
            <p:ph type="body" idx="1" hasCustomPrompt="1"/>
          </p:nvPr>
        </p:nvSpPr>
        <p:spPr>
          <a:xfrm>
            <a:off x="607326" y="4321533"/>
            <a:ext cx="10360501" cy="1500187"/>
          </a:xfrm>
        </p:spPr>
        <p:txBody>
          <a:bodyPr anchor="t" anchorCtr="0">
            <a:noAutofit/>
          </a:bodyPr>
          <a:lstStyle>
            <a:lvl1pPr marL="0" indent="0">
              <a:buNone/>
              <a:defRPr sz="2133" b="0" baseline="0">
                <a:solidFill>
                  <a:schemeClr val="accent2"/>
                </a:solidFill>
                <a:latin typeface="+mn-lt"/>
                <a:cs typeface="Intel Clear" panose="020B0604020203020204" pitchFamily="34" charset="0"/>
              </a:defRPr>
            </a:lvl1pPr>
            <a:lvl2pPr marL="609448" indent="0">
              <a:buNone/>
              <a:defRPr sz="2399">
                <a:solidFill>
                  <a:schemeClr val="tx1">
                    <a:tint val="75000"/>
                  </a:schemeClr>
                </a:solidFill>
              </a:defRPr>
            </a:lvl2pPr>
            <a:lvl3pPr marL="1218895" indent="0">
              <a:buNone/>
              <a:defRPr sz="2133">
                <a:solidFill>
                  <a:schemeClr val="tx1">
                    <a:tint val="75000"/>
                  </a:schemeClr>
                </a:solidFill>
              </a:defRPr>
            </a:lvl3pPr>
            <a:lvl4pPr marL="1828343" indent="0">
              <a:buNone/>
              <a:defRPr sz="1866">
                <a:solidFill>
                  <a:schemeClr val="tx1">
                    <a:tint val="75000"/>
                  </a:schemeClr>
                </a:solidFill>
              </a:defRPr>
            </a:lvl4pPr>
            <a:lvl5pPr marL="2437790" indent="0">
              <a:buNone/>
              <a:defRPr sz="1866">
                <a:solidFill>
                  <a:schemeClr val="tx1">
                    <a:tint val="75000"/>
                  </a:schemeClr>
                </a:solidFill>
              </a:defRPr>
            </a:lvl5pPr>
            <a:lvl6pPr marL="3047238" indent="0">
              <a:buNone/>
              <a:defRPr sz="1866">
                <a:solidFill>
                  <a:schemeClr val="tx1">
                    <a:tint val="75000"/>
                  </a:schemeClr>
                </a:solidFill>
              </a:defRPr>
            </a:lvl6pPr>
            <a:lvl7pPr marL="3656686" indent="0">
              <a:buNone/>
              <a:defRPr sz="1866">
                <a:solidFill>
                  <a:schemeClr val="tx1">
                    <a:tint val="75000"/>
                  </a:schemeClr>
                </a:solidFill>
              </a:defRPr>
            </a:lvl7pPr>
            <a:lvl8pPr marL="4266133" indent="0">
              <a:buNone/>
              <a:defRPr sz="1866">
                <a:solidFill>
                  <a:schemeClr val="tx1">
                    <a:tint val="75000"/>
                  </a:schemeClr>
                </a:solidFill>
              </a:defRPr>
            </a:lvl8pPr>
            <a:lvl9pPr marL="4875581" indent="0">
              <a:buNone/>
              <a:defRPr sz="1866">
                <a:solidFill>
                  <a:schemeClr val="tx1">
                    <a:tint val="75000"/>
                  </a:schemeClr>
                </a:solidFill>
              </a:defRPr>
            </a:lvl9pPr>
          </a:lstStyle>
          <a:p>
            <a:r>
              <a:rPr lang="en-US" dirty="0" smtClean="0"/>
              <a:t>16pt Intel Clear Subhead</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7DC1BBB0-96F0-4077-A278-0F3FB5C104D3}" type="slidenum">
              <a:rPr lang="en-US" smtClean="0"/>
              <a:pPr/>
              <a:t>‹#›</a:t>
            </a:fld>
            <a:endParaRPr lang="en-US"/>
          </a:p>
        </p:txBody>
      </p:sp>
      <p:sp>
        <p:nvSpPr>
          <p:cNvPr id="5" name="Footer Placeholder 4"/>
          <p:cNvSpPr>
            <a:spLocks noGrp="1"/>
          </p:cNvSpPr>
          <p:nvPr>
            <p:ph type="ftr" sz="quarter" idx="3"/>
          </p:nvPr>
        </p:nvSpPr>
        <p:spPr>
          <a:xfrm>
            <a:off x="4164515" y="6501641"/>
            <a:ext cx="3859795" cy="334435"/>
          </a:xfrm>
          <a:prstGeom prst="rect">
            <a:avLst/>
          </a:prstGeom>
        </p:spPr>
        <p:txBody>
          <a:bodyPr vert="horz" lIns="91440" tIns="45720" rIns="91440" bIns="45720" rtlCol="0" anchor="ctr"/>
          <a:lstStyle>
            <a:lvl1pPr algn="ctr">
              <a:defRPr sz="1066">
                <a:solidFill>
                  <a:schemeClr val="bg1"/>
                </a:solidFill>
                <a:latin typeface="+mn-lt"/>
              </a:defRPr>
            </a:lvl1pPr>
          </a:lstStyle>
          <a:p>
            <a:endParaRPr lang="en-US"/>
          </a:p>
        </p:txBody>
      </p:sp>
    </p:spTree>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secHead" preserve="1">
  <p:cSld name="Blue Section Break">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7326" y="2810749"/>
            <a:ext cx="10360501" cy="1362075"/>
          </a:xfrm>
        </p:spPr>
        <p:txBody>
          <a:bodyPr anchor="b" anchorCtr="0">
            <a:noAutofit/>
          </a:bodyPr>
          <a:lstStyle>
            <a:lvl1pPr algn="l">
              <a:lnSpc>
                <a:spcPct val="80000"/>
              </a:lnSpc>
              <a:defRPr sz="7198" b="0" cap="none" spc="0" baseline="0">
                <a:solidFill>
                  <a:schemeClr val="bg1"/>
                </a:solidFill>
                <a:latin typeface="Intel Clear Pro" panose="020B0804020202060201" pitchFamily="34" charset="0"/>
                <a:cs typeface="Intel Clear Pro" panose="020B0804020202060201" pitchFamily="34" charset="0"/>
              </a:defRPr>
            </a:lvl1pPr>
          </a:lstStyle>
          <a:p>
            <a:r>
              <a:rPr lang="en-US" dirty="0" smtClean="0"/>
              <a:t>54pt Intel Clear Pro</a:t>
            </a:r>
            <a:br>
              <a:rPr lang="en-US" dirty="0" smtClean="0"/>
            </a:br>
            <a:r>
              <a:rPr lang="en-US" dirty="0" smtClean="0"/>
              <a:t>blue section break</a:t>
            </a:r>
            <a:endParaRPr lang="en-US" dirty="0"/>
          </a:p>
        </p:txBody>
      </p:sp>
      <p:sp>
        <p:nvSpPr>
          <p:cNvPr id="3" name="Text Placeholder 2"/>
          <p:cNvSpPr>
            <a:spLocks noGrp="1"/>
          </p:cNvSpPr>
          <p:nvPr>
            <p:ph type="body" idx="1" hasCustomPrompt="1"/>
          </p:nvPr>
        </p:nvSpPr>
        <p:spPr>
          <a:xfrm>
            <a:off x="607326" y="4321533"/>
            <a:ext cx="10360501" cy="1500187"/>
          </a:xfrm>
        </p:spPr>
        <p:txBody>
          <a:bodyPr anchor="t" anchorCtr="0">
            <a:noAutofit/>
          </a:bodyPr>
          <a:lstStyle>
            <a:lvl1pPr marL="0" indent="0">
              <a:buNone/>
              <a:defRPr sz="2133" b="0" i="0" baseline="0">
                <a:solidFill>
                  <a:srgbClr val="F3D54E"/>
                </a:solidFill>
                <a:latin typeface="Intel Clear"/>
                <a:cs typeface="Intel Clear"/>
              </a:defRPr>
            </a:lvl1pPr>
            <a:lvl2pPr marL="609448" indent="0">
              <a:buNone/>
              <a:defRPr sz="2399">
                <a:solidFill>
                  <a:schemeClr val="tx1">
                    <a:tint val="75000"/>
                  </a:schemeClr>
                </a:solidFill>
              </a:defRPr>
            </a:lvl2pPr>
            <a:lvl3pPr marL="1218895" indent="0">
              <a:buNone/>
              <a:defRPr sz="2133">
                <a:solidFill>
                  <a:schemeClr val="tx1">
                    <a:tint val="75000"/>
                  </a:schemeClr>
                </a:solidFill>
              </a:defRPr>
            </a:lvl3pPr>
            <a:lvl4pPr marL="1828343" indent="0">
              <a:buNone/>
              <a:defRPr sz="1866">
                <a:solidFill>
                  <a:schemeClr val="tx1">
                    <a:tint val="75000"/>
                  </a:schemeClr>
                </a:solidFill>
              </a:defRPr>
            </a:lvl4pPr>
            <a:lvl5pPr marL="2437790" indent="0">
              <a:buNone/>
              <a:defRPr sz="1866">
                <a:solidFill>
                  <a:schemeClr val="tx1">
                    <a:tint val="75000"/>
                  </a:schemeClr>
                </a:solidFill>
              </a:defRPr>
            </a:lvl5pPr>
            <a:lvl6pPr marL="3047238" indent="0">
              <a:buNone/>
              <a:defRPr sz="1866">
                <a:solidFill>
                  <a:schemeClr val="tx1">
                    <a:tint val="75000"/>
                  </a:schemeClr>
                </a:solidFill>
              </a:defRPr>
            </a:lvl6pPr>
            <a:lvl7pPr marL="3656686" indent="0">
              <a:buNone/>
              <a:defRPr sz="1866">
                <a:solidFill>
                  <a:schemeClr val="tx1">
                    <a:tint val="75000"/>
                  </a:schemeClr>
                </a:solidFill>
              </a:defRPr>
            </a:lvl7pPr>
            <a:lvl8pPr marL="4266133" indent="0">
              <a:buNone/>
              <a:defRPr sz="1866">
                <a:solidFill>
                  <a:schemeClr val="tx1">
                    <a:tint val="75000"/>
                  </a:schemeClr>
                </a:solidFill>
              </a:defRPr>
            </a:lvl8pPr>
            <a:lvl9pPr marL="4875581" indent="0">
              <a:buNone/>
              <a:defRPr sz="1866">
                <a:solidFill>
                  <a:schemeClr val="tx1">
                    <a:tint val="75000"/>
                  </a:schemeClr>
                </a:solidFill>
              </a:defRPr>
            </a:lvl9pPr>
          </a:lstStyle>
          <a:p>
            <a:r>
              <a:rPr lang="en-US" dirty="0" smtClean="0"/>
              <a:t>16pt Intel Clear Subhead</a:t>
            </a:r>
            <a:endParaRPr lang="en-US" dirty="0"/>
          </a:p>
        </p:txBody>
      </p:sp>
    </p:spTree>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Hero Text">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607326" y="2979843"/>
            <a:ext cx="10360501" cy="1500187"/>
          </a:xfrm>
        </p:spPr>
        <p:txBody>
          <a:bodyPr anchor="t" anchorCtr="0">
            <a:noAutofit/>
          </a:bodyPr>
          <a:lstStyle>
            <a:lvl1pPr marL="0" indent="0">
              <a:buNone/>
              <a:defRPr sz="5332" b="0" baseline="0">
                <a:solidFill>
                  <a:schemeClr val="accent2"/>
                </a:solidFill>
                <a:latin typeface="Intel Clear Light" panose="020B0404020203020204" pitchFamily="34" charset="0"/>
                <a:ea typeface="Intel Clear Light" panose="020B0404020203020204" pitchFamily="34" charset="0"/>
                <a:cs typeface="Intel Clear Light" panose="020B0404020203020204" pitchFamily="34" charset="0"/>
              </a:defRPr>
            </a:lvl1pPr>
            <a:lvl2pPr marL="609448" indent="0">
              <a:buNone/>
              <a:defRPr sz="2399">
                <a:solidFill>
                  <a:schemeClr val="tx1">
                    <a:tint val="75000"/>
                  </a:schemeClr>
                </a:solidFill>
              </a:defRPr>
            </a:lvl2pPr>
            <a:lvl3pPr marL="1218895" indent="0">
              <a:buNone/>
              <a:defRPr sz="2133">
                <a:solidFill>
                  <a:schemeClr val="tx1">
                    <a:tint val="75000"/>
                  </a:schemeClr>
                </a:solidFill>
              </a:defRPr>
            </a:lvl3pPr>
            <a:lvl4pPr marL="1828343" indent="0">
              <a:buNone/>
              <a:defRPr sz="1866">
                <a:solidFill>
                  <a:schemeClr val="tx1">
                    <a:tint val="75000"/>
                  </a:schemeClr>
                </a:solidFill>
              </a:defRPr>
            </a:lvl4pPr>
            <a:lvl5pPr marL="2437790" indent="0">
              <a:buNone/>
              <a:defRPr sz="1866">
                <a:solidFill>
                  <a:schemeClr val="tx1">
                    <a:tint val="75000"/>
                  </a:schemeClr>
                </a:solidFill>
              </a:defRPr>
            </a:lvl5pPr>
            <a:lvl6pPr marL="3047238" indent="0">
              <a:buNone/>
              <a:defRPr sz="1866">
                <a:solidFill>
                  <a:schemeClr val="tx1">
                    <a:tint val="75000"/>
                  </a:schemeClr>
                </a:solidFill>
              </a:defRPr>
            </a:lvl6pPr>
            <a:lvl7pPr marL="3656686" indent="0">
              <a:buNone/>
              <a:defRPr sz="1866">
                <a:solidFill>
                  <a:schemeClr val="tx1">
                    <a:tint val="75000"/>
                  </a:schemeClr>
                </a:solidFill>
              </a:defRPr>
            </a:lvl7pPr>
            <a:lvl8pPr marL="4266133" indent="0">
              <a:buNone/>
              <a:defRPr sz="1866">
                <a:solidFill>
                  <a:schemeClr val="tx1">
                    <a:tint val="75000"/>
                  </a:schemeClr>
                </a:solidFill>
              </a:defRPr>
            </a:lvl8pPr>
            <a:lvl9pPr marL="4875581" indent="0">
              <a:buNone/>
              <a:defRPr sz="1866">
                <a:solidFill>
                  <a:schemeClr val="tx1">
                    <a:tint val="75000"/>
                  </a:schemeClr>
                </a:solidFill>
              </a:defRPr>
            </a:lvl9pPr>
          </a:lstStyle>
          <a:p>
            <a:r>
              <a:rPr lang="en-US" dirty="0" smtClean="0"/>
              <a:t>40pt Intel Clear Light Body.</a:t>
            </a:r>
            <a:br>
              <a:rPr lang="en-US" dirty="0" smtClean="0"/>
            </a:br>
            <a:r>
              <a:rPr lang="en-US" dirty="0" smtClean="0"/>
              <a:t>For content that is not a section, but has a big idea in text only.</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7DC1BBB0-96F0-4077-A278-0F3FB5C104D3}" type="slidenum">
              <a:rPr lang="en-US" smtClean="0"/>
              <a:pPr/>
              <a:t>‹#›</a:t>
            </a:fld>
            <a:endParaRPr lang="en-US"/>
          </a:p>
        </p:txBody>
      </p:sp>
      <p:sp>
        <p:nvSpPr>
          <p:cNvPr id="7" name="Title 1"/>
          <p:cNvSpPr>
            <a:spLocks noGrp="1"/>
          </p:cNvSpPr>
          <p:nvPr>
            <p:ph type="title" hasCustomPrompt="1"/>
          </p:nvPr>
        </p:nvSpPr>
        <p:spPr>
          <a:xfrm>
            <a:off x="607326" y="1469059"/>
            <a:ext cx="10360501" cy="1362075"/>
          </a:xfrm>
        </p:spPr>
        <p:txBody>
          <a:bodyPr anchor="b" anchorCtr="0">
            <a:noAutofit/>
          </a:bodyPr>
          <a:lstStyle>
            <a:lvl1pPr algn="l">
              <a:lnSpc>
                <a:spcPct val="80000"/>
              </a:lnSpc>
              <a:defRPr sz="5332" b="0" cap="none" spc="0" baseline="0">
                <a:solidFill>
                  <a:srgbClr val="003C71"/>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dirty="0" smtClean="0"/>
              <a:t>40pt Intel Clear Heading</a:t>
            </a:r>
            <a:endParaRPr lang="en-US" dirty="0"/>
          </a:p>
        </p:txBody>
      </p:sp>
      <p:sp>
        <p:nvSpPr>
          <p:cNvPr id="5" name="Footer Placeholder 4"/>
          <p:cNvSpPr>
            <a:spLocks noGrp="1"/>
          </p:cNvSpPr>
          <p:nvPr>
            <p:ph type="ftr" sz="quarter" idx="3"/>
          </p:nvPr>
        </p:nvSpPr>
        <p:spPr>
          <a:xfrm>
            <a:off x="4164515" y="6501641"/>
            <a:ext cx="3859795" cy="334435"/>
          </a:xfrm>
          <a:prstGeom prst="rect">
            <a:avLst/>
          </a:prstGeom>
        </p:spPr>
        <p:txBody>
          <a:bodyPr vert="horz" lIns="91440" tIns="45720" rIns="91440" bIns="45720" rtlCol="0" anchor="ctr"/>
          <a:lstStyle>
            <a:lvl1pPr algn="ctr">
              <a:defRPr sz="1066">
                <a:solidFill>
                  <a:schemeClr val="bg1"/>
                </a:solidFill>
                <a:latin typeface="+mn-lt"/>
              </a:defRPr>
            </a:lvl1pPr>
          </a:lstStyle>
          <a:p>
            <a:endParaRPr lang="en-US"/>
          </a:p>
        </p:txBody>
      </p:sp>
    </p:spTree>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Blue Section Break Image">
    <p:bg>
      <p:bgPr>
        <a:gradFill>
          <a:gsLst>
            <a:gs pos="0">
              <a:schemeClr val="tx2"/>
            </a:gs>
            <a:gs pos="50000">
              <a:schemeClr val="accent2"/>
            </a:gs>
          </a:gsLst>
          <a:lin ang="189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7326" y="3013451"/>
            <a:ext cx="10360501" cy="1362075"/>
          </a:xfrm>
        </p:spPr>
        <p:txBody>
          <a:bodyPr anchor="b" anchorCtr="0">
            <a:noAutofit/>
          </a:bodyPr>
          <a:lstStyle>
            <a:lvl1pPr algn="l">
              <a:lnSpc>
                <a:spcPct val="80000"/>
              </a:lnSpc>
              <a:defRPr sz="7198" b="0" cap="none" spc="0" baseline="0">
                <a:solidFill>
                  <a:schemeClr val="bg1"/>
                </a:solidFill>
                <a:latin typeface="Intel Clear Pro" panose="020B0804020202060201" pitchFamily="34" charset="0"/>
                <a:cs typeface="Intel Clear Pro" panose="020B0804020202060201" pitchFamily="34" charset="0"/>
              </a:defRPr>
            </a:lvl1pPr>
          </a:lstStyle>
          <a:p>
            <a:r>
              <a:rPr lang="en-US" dirty="0" smtClean="0"/>
              <a:t>54pt Intel Clear Pro blue section</a:t>
            </a:r>
            <a:endParaRPr lang="en-US" dirty="0"/>
          </a:p>
        </p:txBody>
      </p:sp>
      <p:sp>
        <p:nvSpPr>
          <p:cNvPr id="3" name="Text Placeholder 2"/>
          <p:cNvSpPr>
            <a:spLocks noGrp="1"/>
          </p:cNvSpPr>
          <p:nvPr>
            <p:ph type="body" idx="1" hasCustomPrompt="1"/>
          </p:nvPr>
        </p:nvSpPr>
        <p:spPr>
          <a:xfrm>
            <a:off x="607326" y="4465049"/>
            <a:ext cx="10360501" cy="1500187"/>
          </a:xfrm>
        </p:spPr>
        <p:txBody>
          <a:bodyPr anchor="t" anchorCtr="0">
            <a:noAutofit/>
          </a:bodyPr>
          <a:lstStyle>
            <a:lvl1pPr marL="0" indent="0">
              <a:buNone/>
              <a:defRPr sz="2133" b="0" baseline="0">
                <a:solidFill>
                  <a:srgbClr val="F3D54E"/>
                </a:solidFill>
                <a:latin typeface="+mn-lt"/>
                <a:cs typeface="Intel Clear" panose="020B0604020203020204" pitchFamily="34" charset="0"/>
              </a:defRPr>
            </a:lvl1pPr>
            <a:lvl2pPr marL="609448" indent="0">
              <a:buNone/>
              <a:defRPr sz="2399">
                <a:solidFill>
                  <a:schemeClr val="tx1">
                    <a:tint val="75000"/>
                  </a:schemeClr>
                </a:solidFill>
              </a:defRPr>
            </a:lvl2pPr>
            <a:lvl3pPr marL="1218895" indent="0">
              <a:buNone/>
              <a:defRPr sz="2133">
                <a:solidFill>
                  <a:schemeClr val="tx1">
                    <a:tint val="75000"/>
                  </a:schemeClr>
                </a:solidFill>
              </a:defRPr>
            </a:lvl3pPr>
            <a:lvl4pPr marL="1828343" indent="0">
              <a:buNone/>
              <a:defRPr sz="1866">
                <a:solidFill>
                  <a:schemeClr val="tx1">
                    <a:tint val="75000"/>
                  </a:schemeClr>
                </a:solidFill>
              </a:defRPr>
            </a:lvl4pPr>
            <a:lvl5pPr marL="2437790" indent="0">
              <a:buNone/>
              <a:defRPr sz="1866">
                <a:solidFill>
                  <a:schemeClr val="tx1">
                    <a:tint val="75000"/>
                  </a:schemeClr>
                </a:solidFill>
              </a:defRPr>
            </a:lvl5pPr>
            <a:lvl6pPr marL="3047238" indent="0">
              <a:buNone/>
              <a:defRPr sz="1866">
                <a:solidFill>
                  <a:schemeClr val="tx1">
                    <a:tint val="75000"/>
                  </a:schemeClr>
                </a:solidFill>
              </a:defRPr>
            </a:lvl6pPr>
            <a:lvl7pPr marL="3656686" indent="0">
              <a:buNone/>
              <a:defRPr sz="1866">
                <a:solidFill>
                  <a:schemeClr val="tx1">
                    <a:tint val="75000"/>
                  </a:schemeClr>
                </a:solidFill>
              </a:defRPr>
            </a:lvl7pPr>
            <a:lvl8pPr marL="4266133" indent="0">
              <a:buNone/>
              <a:defRPr sz="1866">
                <a:solidFill>
                  <a:schemeClr val="tx1">
                    <a:tint val="75000"/>
                  </a:schemeClr>
                </a:solidFill>
              </a:defRPr>
            </a:lvl8pPr>
            <a:lvl9pPr marL="4875581" indent="0">
              <a:buNone/>
              <a:defRPr sz="1866">
                <a:solidFill>
                  <a:schemeClr val="tx1">
                    <a:tint val="75000"/>
                  </a:schemeClr>
                </a:solidFill>
              </a:defRPr>
            </a:lvl9pPr>
          </a:lstStyle>
          <a:p>
            <a:r>
              <a:rPr lang="en-US" dirty="0" smtClean="0"/>
              <a:t>16pt Intel Clear Subhead</a:t>
            </a:r>
            <a:endParaRPr lang="en-US" dirty="0"/>
          </a:p>
        </p:txBody>
      </p:sp>
      <p:sp>
        <p:nvSpPr>
          <p:cNvPr id="5" name="Picture Placeholder 4"/>
          <p:cNvSpPr>
            <a:spLocks noGrp="1"/>
          </p:cNvSpPr>
          <p:nvPr>
            <p:ph type="pic" sz="quarter" idx="13" hasCustomPrompt="1"/>
          </p:nvPr>
        </p:nvSpPr>
        <p:spPr>
          <a:xfrm>
            <a:off x="0" y="2"/>
            <a:ext cx="12188825" cy="3432175"/>
          </a:xfrm>
          <a:solidFill>
            <a:schemeClr val="bg2">
              <a:lumMod val="60000"/>
              <a:lumOff val="40000"/>
            </a:schemeClr>
          </a:solidFill>
        </p:spPr>
        <p:txBody>
          <a:bodyPr/>
          <a:lstStyle>
            <a:lvl1pPr>
              <a:defRPr baseline="0">
                <a:solidFill>
                  <a:srgbClr val="0071C5"/>
                </a:solidFill>
              </a:defRPr>
            </a:lvl1pPr>
          </a:lstStyle>
          <a:p>
            <a:r>
              <a:rPr lang="en-US" dirty="0" smtClean="0"/>
              <a:t>Insert photo here. Drag picture to placeholder or click icon to add.</a:t>
            </a:r>
            <a:endParaRPr lang="en-US" dirty="0"/>
          </a:p>
        </p:txBody>
      </p:sp>
    </p:spTree>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7DC1BBB0-96F0-4077-A278-0F3FB5C104D3}" type="slidenum">
              <a:rPr lang="en-US" smtClean="0"/>
              <a:t>‹#›</a:t>
            </a:fld>
            <a:endParaRPr lang="en-US"/>
          </a:p>
        </p:txBody>
      </p:sp>
      <p:sp>
        <p:nvSpPr>
          <p:cNvPr id="6" name="Title 6"/>
          <p:cNvSpPr>
            <a:spLocks noGrp="1"/>
          </p:cNvSpPr>
          <p:nvPr>
            <p:ph type="title" hasCustomPrompt="1"/>
          </p:nvPr>
        </p:nvSpPr>
        <p:spPr>
          <a:xfrm>
            <a:off x="607326" y="411797"/>
            <a:ext cx="10969943" cy="1158240"/>
          </a:xfrm>
        </p:spPr>
        <p:txBody>
          <a:bodyPr/>
          <a:lstStyle>
            <a:lvl1pPr>
              <a:defRPr b="0" i="0" baseline="0">
                <a:solidFill>
                  <a:srgbClr val="003C71"/>
                </a:solidFill>
                <a:latin typeface="Intel Clear"/>
                <a:cs typeface="Intel Clear"/>
              </a:defRPr>
            </a:lvl1pPr>
          </a:lstStyle>
          <a:p>
            <a:r>
              <a:rPr lang="en-US" dirty="0" smtClean="0"/>
              <a:t>28pt Intel Clear Headline</a:t>
            </a:r>
            <a:endParaRPr lang="en-US" dirty="0"/>
          </a:p>
        </p:txBody>
      </p:sp>
      <p:sp>
        <p:nvSpPr>
          <p:cNvPr id="7" name="Footer Placeholder 4"/>
          <p:cNvSpPr>
            <a:spLocks noGrp="1"/>
          </p:cNvSpPr>
          <p:nvPr>
            <p:ph type="ftr" sz="quarter" idx="3"/>
          </p:nvPr>
        </p:nvSpPr>
        <p:spPr>
          <a:xfrm>
            <a:off x="4164515" y="6501641"/>
            <a:ext cx="3859795" cy="334435"/>
          </a:xfrm>
          <a:prstGeom prst="rect">
            <a:avLst/>
          </a:prstGeom>
        </p:spPr>
        <p:txBody>
          <a:bodyPr vert="horz" lIns="91440" tIns="45720" rIns="91440" bIns="45720" rtlCol="0" anchor="ctr"/>
          <a:lstStyle>
            <a:lvl1pPr algn="ctr">
              <a:defRPr sz="1066">
                <a:solidFill>
                  <a:schemeClr val="bg1"/>
                </a:solidFill>
                <a:latin typeface="+mn-lt"/>
              </a:defRPr>
            </a:lvl1pPr>
          </a:lstStyle>
          <a:p>
            <a:endParaRPr lang="en-US"/>
          </a:p>
        </p:txBody>
      </p:sp>
    </p:spTree>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DC1BBB0-96F0-4077-A278-0F3FB5C104D3}" type="slidenum">
              <a:rPr lang="en-US" smtClean="0"/>
              <a:pPr/>
              <a:t>‹#›</a:t>
            </a:fld>
            <a:endParaRPr lang="en-US"/>
          </a:p>
        </p:txBody>
      </p:sp>
    </p:spTree>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blank" preserve="1">
  <p:cSld name="Back Cover Radial Gradi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Picture 6" descr="StackedISWhite.png"/>
          <p:cNvPicPr>
            <a:picLocks noChangeAspect="1"/>
          </p:cNvPicPr>
          <p:nvPr/>
        </p:nvPicPr>
        <p:blipFill>
          <a:blip r:embed="rId3"/>
          <a:stretch>
            <a:fillRect/>
          </a:stretch>
        </p:blipFill>
        <p:spPr>
          <a:xfrm>
            <a:off x="4650433" y="2508544"/>
            <a:ext cx="2779643" cy="2614317"/>
          </a:xfrm>
          <a:prstGeom prst="rect">
            <a:avLst/>
          </a:prstGeom>
        </p:spPr>
      </p:pic>
    </p:spTree>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2_Title Slide with Photo">
    <p:bg>
      <p:bgPr>
        <a:gradFill>
          <a:gsLst>
            <a:gs pos="0">
              <a:schemeClr val="tx2"/>
            </a:gs>
            <a:gs pos="50000">
              <a:schemeClr val="accent2"/>
            </a:gs>
          </a:gsLst>
          <a:lin ang="18900000" scaled="1"/>
        </a:gradFill>
        <a:effectLst/>
      </p:bgPr>
    </p:bg>
    <p:spTree>
      <p:nvGrpSpPr>
        <p:cNvPr id="1" name=""/>
        <p:cNvGrpSpPr/>
        <p:nvPr/>
      </p:nvGrpSpPr>
      <p:grpSpPr>
        <a:xfrm>
          <a:off x="0" y="0"/>
          <a:ext cx="0" cy="0"/>
          <a:chOff x="0" y="0"/>
          <a:chExt cx="0" cy="0"/>
        </a:xfrm>
      </p:grpSpPr>
      <p:sp>
        <p:nvSpPr>
          <p:cNvPr id="10" name="Rectangle 9"/>
          <p:cNvSpPr/>
          <p:nvPr/>
        </p:nvSpPr>
        <p:spPr>
          <a:xfrm>
            <a:off x="0" y="0"/>
            <a:ext cx="12188825" cy="6358467"/>
          </a:xfrm>
          <a:prstGeom prst="rect">
            <a:avLst/>
          </a:prstGeom>
          <a:solidFill>
            <a:srgbClr val="0071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399">
              <a:solidFill>
                <a:srgbClr val="0071C5"/>
              </a:solidFill>
            </a:endParaRPr>
          </a:p>
        </p:txBody>
      </p:sp>
      <p:pic>
        <p:nvPicPr>
          <p:cNvPr id="5" name="Picture 4" descr="StackedISWhite.png"/>
          <p:cNvPicPr>
            <a:picLocks noChangeAspect="1"/>
          </p:cNvPicPr>
          <p:nvPr/>
        </p:nvPicPr>
        <p:blipFill>
          <a:blip r:embed="rId2"/>
          <a:stretch>
            <a:fillRect/>
          </a:stretch>
        </p:blipFill>
        <p:spPr>
          <a:xfrm>
            <a:off x="4650433" y="2508544"/>
            <a:ext cx="2779643" cy="2614317"/>
          </a:xfrm>
          <a:prstGeom prst="rect">
            <a:avLst/>
          </a:prstGeom>
        </p:spPr>
      </p:pic>
    </p:spTree>
    <p:extLst/>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3603" y="1122363"/>
            <a:ext cx="9141619" cy="2387600"/>
          </a:xfrm>
        </p:spPr>
        <p:txBody>
          <a:bodyPr anchor="b"/>
          <a:lstStyle>
            <a:lvl1pPr algn="ctr">
              <a:defRPr sz="5999"/>
            </a:lvl1pPr>
          </a:lstStyle>
          <a:p>
            <a:r>
              <a:rPr lang="en-US" smtClean="0"/>
              <a:t>Click to edit Master title style</a:t>
            </a:r>
            <a:endParaRPr lang="en-US"/>
          </a:p>
        </p:txBody>
      </p:sp>
      <p:sp>
        <p:nvSpPr>
          <p:cNvPr id="3" name="Subtitle 2"/>
          <p:cNvSpPr>
            <a:spLocks noGrp="1"/>
          </p:cNvSpPr>
          <p:nvPr>
            <p:ph type="subTitle" idx="1"/>
          </p:nvPr>
        </p:nvSpPr>
        <p:spPr>
          <a:xfrm>
            <a:off x="1523603" y="3602037"/>
            <a:ext cx="9141619" cy="1655763"/>
          </a:xfrm>
        </p:spPr>
        <p:txBody>
          <a:bodyPr/>
          <a:lstStyle>
            <a:lvl1pPr marL="0" indent="0" algn="ctr">
              <a:buNone/>
              <a:defRPr sz="2399"/>
            </a:lvl1pPr>
            <a:lvl2pPr marL="457086" indent="0" algn="ctr">
              <a:buNone/>
              <a:defRPr sz="2000"/>
            </a:lvl2pPr>
            <a:lvl3pPr marL="914171" indent="0" algn="ctr">
              <a:buNone/>
              <a:defRPr sz="1800"/>
            </a:lvl3pPr>
            <a:lvl4pPr marL="1371257" indent="0" algn="ctr">
              <a:buNone/>
              <a:defRPr sz="1600"/>
            </a:lvl4pPr>
            <a:lvl5pPr marL="1828343" indent="0" algn="ctr">
              <a:buNone/>
              <a:defRPr sz="1600"/>
            </a:lvl5pPr>
            <a:lvl6pPr marL="2285429" indent="0" algn="ctr">
              <a:buNone/>
              <a:defRPr sz="1600"/>
            </a:lvl6pPr>
            <a:lvl7pPr marL="2742514" indent="0" algn="ctr">
              <a:buNone/>
              <a:defRPr sz="1600"/>
            </a:lvl7pPr>
            <a:lvl8pPr marL="3199600" indent="0" algn="ctr">
              <a:buNone/>
              <a:defRPr sz="1600"/>
            </a:lvl8pPr>
            <a:lvl9pPr marL="3656686"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a:xfrm>
            <a:off x="837982" y="6356351"/>
            <a:ext cx="2742486" cy="365125"/>
          </a:xfrm>
          <a:prstGeom prst="rect">
            <a:avLst/>
          </a:prstGeom>
        </p:spPr>
        <p:txBody>
          <a:bodyPr/>
          <a:lstStyle/>
          <a:p>
            <a:fld id="{C2C6F8EA-316C-41DE-B9A4-EDCC3A85ED9A}" type="datetimeFigureOut">
              <a:rPr lang="en-US" smtClean="0"/>
              <a:pPr/>
              <a:t>1/25/2018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DC1BBB0-96F0-4077-A278-0F3FB5C104D3}" type="slidenum">
              <a:rPr lang="en-US" smtClean="0"/>
              <a:pPr/>
              <a:t>‹#›</a:t>
            </a:fld>
            <a:endParaRPr lang="en-US"/>
          </a:p>
        </p:txBody>
      </p:sp>
    </p:spTree>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dirty="0"/>
          </a:p>
        </p:txBody>
      </p:sp>
      <p:sp>
        <p:nvSpPr>
          <p:cNvPr id="3" name="Content Placeholder 2"/>
          <p:cNvSpPr>
            <a:spLocks noGrp="1"/>
          </p:cNvSpPr>
          <p:nvPr>
            <p:ph idx="1"/>
          </p:nvPr>
        </p:nvSpPr>
        <p:spPr/>
        <p:txBody>
          <a:bodyPr/>
          <a:lstStyle>
            <a:lvl1pPr marL="0" indent="0">
              <a:buFont typeface="Arial" charset="0"/>
              <a:buNone/>
              <a:defRPr/>
            </a:lvl1pPr>
            <a:lvl2pPr marL="612648" indent="-246888">
              <a:buFont typeface="Arial" charset="0"/>
              <a:buChar char="•"/>
              <a:defRPr/>
            </a:lvl2pPr>
            <a:lvl3pPr marL="978408" indent="-246888">
              <a:buFont typeface="Arial" charset="0"/>
              <a:buChar char="•"/>
              <a:defRPr/>
            </a:lvl3pPr>
            <a:lvl4pPr marL="1344168" indent="-246888">
              <a:buFont typeface="Arial" charset="0"/>
              <a:buChar char="•"/>
              <a:defRPr/>
            </a:lvl4pPr>
            <a:lvl5pPr marL="1709928" indent="-246888">
              <a:buFont typeface="Arial" charset="0"/>
              <a:buChar char="•"/>
              <a:defRPr/>
            </a:lvl5pPr>
            <a:lvl6pPr>
              <a:defRPr/>
            </a:lvl6pPr>
            <a:lvl7pPr>
              <a:defRPr/>
            </a:lvl7pPr>
            <a:lvl8pPr>
              <a:defRPr/>
            </a:lvl8pPr>
            <a:lvl9pPr>
              <a:defRPr/>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4" name="Date Placeholder 3"/>
          <p:cNvSpPr>
            <a:spLocks noGrp="1"/>
          </p:cNvSpPr>
          <p:nvPr>
            <p:ph type="dt" sz="half" idx="10"/>
          </p:nvPr>
        </p:nvSpPr>
        <p:spPr>
          <a:xfrm>
            <a:off x="5180250" y="6356351"/>
            <a:ext cx="1218883" cy="365125"/>
          </a:xfrm>
          <a:prstGeom prst="rect">
            <a:avLst/>
          </a:prstGeom>
        </p:spPr>
        <p:txBody>
          <a:bodyPr/>
          <a:lstStyle/>
          <a:p>
            <a:fld id="{C2C6F8EA-316C-41DE-B9A4-EDCC3A85ED9A}" type="datetimeFigureOut">
              <a:rPr lang="en-US"/>
              <a:t>1/25/2018</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7DC1BBB0-96F0-4077-A278-0F3FB5C104D3}" type="slidenum">
              <a:rPr/>
              <a:t>‹#›</a:t>
            </a:fld>
            <a:endParaRPr/>
          </a:p>
        </p:txBody>
      </p:sp>
    </p:spTree>
    <p:extLst>
      <p:ext uri="{BB962C8B-B14F-4D97-AF65-F5344CB8AC3E}">
        <p14:creationId xmlns:p14="http://schemas.microsoft.com/office/powerpoint/2010/main" val="246837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6354803"/>
            <a:ext cx="12188825" cy="512064"/>
          </a:xfrm>
          <a:prstGeom prst="rect">
            <a:avLst/>
          </a:prstGeom>
          <a:gradFill flip="none" rotWithShape="1">
            <a:gsLst>
              <a:gs pos="0">
                <a:schemeClr val="tx2"/>
              </a:gs>
              <a:gs pos="50000">
                <a:schemeClr val="accent2"/>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399" dirty="0"/>
          </a:p>
        </p:txBody>
      </p:sp>
      <p:sp>
        <p:nvSpPr>
          <p:cNvPr id="2" name="Title Placeholder 1"/>
          <p:cNvSpPr>
            <a:spLocks noGrp="1"/>
          </p:cNvSpPr>
          <p:nvPr>
            <p:ph type="title"/>
          </p:nvPr>
        </p:nvSpPr>
        <p:spPr>
          <a:xfrm>
            <a:off x="607326" y="413507"/>
            <a:ext cx="10969943" cy="1158240"/>
          </a:xfrm>
          <a:prstGeom prst="rect">
            <a:avLst/>
          </a:prstGeom>
        </p:spPr>
        <p:txBody>
          <a:bodyPr vert="horz" lIns="0" tIns="0" rIns="0" bIns="0" rtlCol="0" anchor="t" anchorCtr="0">
            <a:noAutofit/>
          </a:bodyPr>
          <a:lstStyle/>
          <a:p>
            <a:r>
              <a:rPr lang="en-US" dirty="0" smtClean="0"/>
              <a:t>28pt Intel Clear Headline</a:t>
            </a:r>
            <a:endParaRPr lang="en-US" dirty="0"/>
          </a:p>
        </p:txBody>
      </p:sp>
      <p:sp>
        <p:nvSpPr>
          <p:cNvPr id="3" name="Text Placeholder 2"/>
          <p:cNvSpPr>
            <a:spLocks noGrp="1"/>
          </p:cNvSpPr>
          <p:nvPr>
            <p:ph type="body" idx="1"/>
          </p:nvPr>
        </p:nvSpPr>
        <p:spPr>
          <a:xfrm>
            <a:off x="607326" y="1604434"/>
            <a:ext cx="10967826" cy="4567767"/>
          </a:xfrm>
          <a:prstGeom prst="rect">
            <a:avLst/>
          </a:prstGeom>
        </p:spPr>
        <p:txBody>
          <a:bodyPr vert="horz" lIns="0" tIns="0" rIns="0" bIns="0" rtlCol="0">
            <a:noAutofit/>
          </a:bodyPr>
          <a:lstStyle/>
          <a:p>
            <a:pPr lvl="0"/>
            <a:r>
              <a:rPr lang="en-US" dirty="0" smtClean="0"/>
              <a:t>18pt Intel Clear body text</a:t>
            </a:r>
          </a:p>
          <a:p>
            <a:pPr lvl="1"/>
            <a:r>
              <a:rPr lang="en-US" dirty="0" smtClean="0"/>
              <a:t>16pt Intel Clear bullet one</a:t>
            </a:r>
          </a:p>
          <a:p>
            <a:pPr lvl="2"/>
            <a:r>
              <a:rPr lang="en-US" dirty="0" smtClean="0"/>
              <a:t>16pt Intel Clear sub-bullet</a:t>
            </a:r>
          </a:p>
          <a:p>
            <a:pPr lvl="3"/>
            <a:r>
              <a:rPr lang="en-US" dirty="0" err="1" smtClean="0"/>
              <a:t>14pt</a:t>
            </a:r>
            <a:r>
              <a:rPr lang="en-US" dirty="0" smtClean="0"/>
              <a:t> Intel Clear fourth level</a:t>
            </a:r>
          </a:p>
          <a:p>
            <a:pPr lvl="4"/>
            <a:r>
              <a:rPr lang="en-US" dirty="0" err="1" smtClean="0"/>
              <a:t>14pt</a:t>
            </a:r>
            <a:r>
              <a:rPr lang="en-US" dirty="0" smtClean="0"/>
              <a:t> Intel Clear fifth level</a:t>
            </a:r>
            <a:endParaRPr lang="en-US" dirty="0"/>
          </a:p>
        </p:txBody>
      </p:sp>
      <p:sp>
        <p:nvSpPr>
          <p:cNvPr id="5" name="Footer Placeholder 4"/>
          <p:cNvSpPr>
            <a:spLocks noGrp="1"/>
          </p:cNvSpPr>
          <p:nvPr>
            <p:ph type="ftr" sz="quarter" idx="3"/>
          </p:nvPr>
        </p:nvSpPr>
        <p:spPr>
          <a:xfrm>
            <a:off x="4164515" y="6501641"/>
            <a:ext cx="3859795" cy="334435"/>
          </a:xfrm>
          <a:prstGeom prst="rect">
            <a:avLst/>
          </a:prstGeom>
        </p:spPr>
        <p:txBody>
          <a:bodyPr vert="horz" lIns="91440" tIns="45720" rIns="91440" bIns="45720" rtlCol="0" anchor="ctr"/>
          <a:lstStyle>
            <a:lvl1pPr algn="ctr">
              <a:defRPr sz="1066">
                <a:solidFill>
                  <a:schemeClr val="bg1"/>
                </a:solidFill>
                <a:latin typeface="+mn-lt"/>
              </a:defRPr>
            </a:lvl1pPr>
          </a:lstStyle>
          <a:p>
            <a:endParaRPr lang="en-US"/>
          </a:p>
        </p:txBody>
      </p:sp>
      <p:sp>
        <p:nvSpPr>
          <p:cNvPr id="6" name="Slide Number Placeholder 5"/>
          <p:cNvSpPr>
            <a:spLocks noGrp="1"/>
          </p:cNvSpPr>
          <p:nvPr>
            <p:ph type="sldNum" sz="quarter" idx="4"/>
          </p:nvPr>
        </p:nvSpPr>
        <p:spPr>
          <a:xfrm>
            <a:off x="11655564" y="6417962"/>
            <a:ext cx="349244" cy="329447"/>
          </a:xfrm>
          <a:prstGeom prst="rect">
            <a:avLst/>
          </a:prstGeom>
        </p:spPr>
        <p:txBody>
          <a:bodyPr vert="horz" lIns="0" tIns="0" rIns="0" bIns="0" rtlCol="0" anchor="ctr"/>
          <a:lstStyle>
            <a:lvl1pPr algn="r">
              <a:defRPr sz="1066">
                <a:solidFill>
                  <a:schemeClr val="bg1"/>
                </a:solidFill>
                <a:latin typeface="+mn-lt"/>
                <a:cs typeface="Intel Clear Light" panose="020B0404020203020204" pitchFamily="34" charset="0"/>
              </a:defRPr>
            </a:lvl1pPr>
          </a:lstStyle>
          <a:p>
            <a:fld id="{7DC1BBB0-96F0-4077-A278-0F3FB5C104D3}" type="slidenum">
              <a:rPr lang="en-US" smtClean="0"/>
              <a:pPr/>
              <a:t>‹#›</a:t>
            </a:fld>
            <a:endParaRPr lang="en-US"/>
          </a:p>
        </p:txBody>
      </p:sp>
      <p:pic>
        <p:nvPicPr>
          <p:cNvPr id="16" name="Picture 15" descr="StackedISWhite.png"/>
          <p:cNvPicPr>
            <a:picLocks noChangeAspect="1"/>
          </p:cNvPicPr>
          <p:nvPr/>
        </p:nvPicPr>
        <p:blipFill>
          <a:blip r:embed="rId21"/>
          <a:stretch>
            <a:fillRect/>
          </a:stretch>
        </p:blipFill>
        <p:spPr>
          <a:xfrm>
            <a:off x="11056288" y="6407851"/>
            <a:ext cx="419545" cy="394592"/>
          </a:xfrm>
          <a:prstGeom prst="rect">
            <a:avLst/>
          </a:prstGeom>
        </p:spPr>
      </p:pic>
      <p:cxnSp>
        <p:nvCxnSpPr>
          <p:cNvPr id="37" name="Straight Connector 36"/>
          <p:cNvCxnSpPr/>
          <p:nvPr/>
        </p:nvCxnSpPr>
        <p:spPr>
          <a:xfrm rot="5400000">
            <a:off x="11448136" y="6608236"/>
            <a:ext cx="381004" cy="1"/>
          </a:xfrm>
          <a:prstGeom prst="line">
            <a:avLst/>
          </a:prstGeom>
          <a:ln w="9525" cap="flat" cmpd="sng" algn="ctr">
            <a:solidFill>
              <a:schemeClr val="bg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800219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txStyles>
    <p:titleStyle>
      <a:lvl1pPr algn="l" defTabSz="609448" rtl="0" eaLnBrk="1" latinLnBrk="0" hangingPunct="1">
        <a:lnSpc>
          <a:spcPct val="100000"/>
        </a:lnSpc>
        <a:spcBef>
          <a:spcPct val="0"/>
        </a:spcBef>
        <a:buNone/>
        <a:defRPr sz="3732" b="0" i="0" kern="1200" spc="0" baseline="0">
          <a:solidFill>
            <a:srgbClr val="003C71"/>
          </a:solidFill>
          <a:latin typeface="Intel Clear"/>
          <a:ea typeface="Intel Clear Light" panose="020B0404020203020204" pitchFamily="34" charset="0"/>
          <a:cs typeface="Intel Clear"/>
        </a:defRPr>
      </a:lvl1pPr>
    </p:titleStyle>
    <p:bodyStyle>
      <a:lvl1pPr marL="0" indent="0" algn="l" defTabSz="609448" rtl="0" eaLnBrk="1" latinLnBrk="0" hangingPunct="1">
        <a:spcBef>
          <a:spcPts val="1600"/>
        </a:spcBef>
        <a:spcAft>
          <a:spcPts val="0"/>
        </a:spcAft>
        <a:buFont typeface="Wingdings" panose="05000000000000000000" pitchFamily="2" charset="2"/>
        <a:buNone/>
        <a:defRPr sz="2399" b="0" kern="1200">
          <a:solidFill>
            <a:srgbClr val="0071C5"/>
          </a:solidFill>
          <a:latin typeface="+mn-lt"/>
          <a:ea typeface="+mn-ea"/>
          <a:cs typeface="Intel Clear" panose="020B0604020203020204" pitchFamily="34" charset="0"/>
        </a:defRPr>
      </a:lvl1pPr>
      <a:lvl2pPr marL="300492" indent="-300492" algn="l" defTabSz="609448" rtl="0" eaLnBrk="1" latinLnBrk="0" hangingPunct="1">
        <a:spcBef>
          <a:spcPts val="1600"/>
        </a:spcBef>
        <a:buFont typeface="Wingdings" charset="2"/>
        <a:buChar char="§"/>
        <a:defRPr sz="2133" kern="1200" baseline="0">
          <a:solidFill>
            <a:srgbClr val="003C71"/>
          </a:solidFill>
          <a:latin typeface="+mn-lt"/>
          <a:ea typeface="+mn-ea"/>
          <a:cs typeface="Intel Clear" panose="020B0604020203020204" pitchFamily="34" charset="0"/>
        </a:defRPr>
      </a:lvl2pPr>
      <a:lvl3pPr marL="761810" indent="-304724" algn="l" defTabSz="609448" rtl="0" eaLnBrk="1" latinLnBrk="0" hangingPunct="1">
        <a:spcBef>
          <a:spcPts val="1066"/>
        </a:spcBef>
        <a:buFont typeface="Intel Clear" panose="020B0604020203020204" pitchFamily="34" charset="0"/>
        <a:buChar char="–"/>
        <a:defRPr sz="2133" kern="1200">
          <a:solidFill>
            <a:srgbClr val="003C71"/>
          </a:solidFill>
          <a:latin typeface="+mn-lt"/>
          <a:ea typeface="+mn-ea"/>
          <a:cs typeface="Intel Clear" panose="020B0604020203020204" pitchFamily="34" charset="0"/>
        </a:defRPr>
      </a:lvl3pPr>
      <a:lvl4pPr marL="1292961" indent="-304724" algn="l" defTabSz="609448" rtl="0" eaLnBrk="1" latinLnBrk="0" hangingPunct="1">
        <a:spcBef>
          <a:spcPct val="20000"/>
        </a:spcBef>
        <a:buFont typeface="Arial"/>
        <a:buChar char="–"/>
        <a:defRPr sz="1866" kern="1200">
          <a:solidFill>
            <a:srgbClr val="003C71"/>
          </a:solidFill>
          <a:latin typeface="+mn-lt"/>
          <a:ea typeface="+mn-ea"/>
          <a:cs typeface="Intel Clear" panose="020B0604020203020204" pitchFamily="34" charset="0"/>
        </a:defRPr>
      </a:lvl4pPr>
      <a:lvl5pPr marL="1758511" indent="-304724" algn="l" defTabSz="609448" rtl="0" eaLnBrk="1" latinLnBrk="0" hangingPunct="1">
        <a:spcBef>
          <a:spcPct val="20000"/>
        </a:spcBef>
        <a:buFont typeface="Intel Clear" panose="020B0604020203020204" pitchFamily="34" charset="0"/>
        <a:buChar char="–"/>
        <a:defRPr sz="1866" kern="1200">
          <a:solidFill>
            <a:srgbClr val="003C71"/>
          </a:solidFill>
          <a:latin typeface="+mn-lt"/>
          <a:ea typeface="+mn-ea"/>
          <a:cs typeface="Intel Clear" panose="020B0604020203020204" pitchFamily="34" charset="0"/>
        </a:defRPr>
      </a:lvl5pPr>
      <a:lvl6pPr marL="3351962" indent="-304724" algn="l" defTabSz="609448" rtl="0" eaLnBrk="1" latinLnBrk="0" hangingPunct="1">
        <a:spcBef>
          <a:spcPct val="20000"/>
        </a:spcBef>
        <a:buFont typeface="Arial"/>
        <a:buChar char="•"/>
        <a:defRPr sz="2666" kern="1200">
          <a:solidFill>
            <a:schemeClr val="tx1"/>
          </a:solidFill>
          <a:latin typeface="+mn-lt"/>
          <a:ea typeface="+mn-ea"/>
          <a:cs typeface="+mn-cs"/>
        </a:defRPr>
      </a:lvl6pPr>
      <a:lvl7pPr marL="3961409" indent="-304724" algn="l" defTabSz="609448" rtl="0" eaLnBrk="1" latinLnBrk="0" hangingPunct="1">
        <a:spcBef>
          <a:spcPct val="20000"/>
        </a:spcBef>
        <a:buFont typeface="Arial"/>
        <a:buChar char="•"/>
        <a:defRPr sz="2666" kern="1200">
          <a:solidFill>
            <a:schemeClr val="tx1"/>
          </a:solidFill>
          <a:latin typeface="+mn-lt"/>
          <a:ea typeface="+mn-ea"/>
          <a:cs typeface="+mn-cs"/>
        </a:defRPr>
      </a:lvl7pPr>
      <a:lvl8pPr marL="4570857" indent="-304724" algn="l" defTabSz="609448" rtl="0" eaLnBrk="1" latinLnBrk="0" hangingPunct="1">
        <a:spcBef>
          <a:spcPct val="20000"/>
        </a:spcBef>
        <a:buFont typeface="Arial"/>
        <a:buChar char="•"/>
        <a:defRPr sz="2666" kern="1200">
          <a:solidFill>
            <a:schemeClr val="tx1"/>
          </a:solidFill>
          <a:latin typeface="+mn-lt"/>
          <a:ea typeface="+mn-ea"/>
          <a:cs typeface="+mn-cs"/>
        </a:defRPr>
      </a:lvl8pPr>
      <a:lvl9pPr marL="5180305" indent="-304724" algn="l" defTabSz="609448" rtl="0" eaLnBrk="1" latinLnBrk="0" hangingPunct="1">
        <a:spcBef>
          <a:spcPct val="20000"/>
        </a:spcBef>
        <a:buFont typeface="Arial"/>
        <a:buChar char="•"/>
        <a:defRPr sz="2666" kern="1200">
          <a:solidFill>
            <a:schemeClr val="tx1"/>
          </a:solidFill>
          <a:latin typeface="+mn-lt"/>
          <a:ea typeface="+mn-ea"/>
          <a:cs typeface="+mn-cs"/>
        </a:defRPr>
      </a:lvl9pPr>
    </p:bodyStyle>
    <p:otherStyle>
      <a:defPPr>
        <a:defRPr lang="en-US"/>
      </a:defPPr>
      <a:lvl1pPr marL="0" algn="l" defTabSz="609448" rtl="0" eaLnBrk="1" latinLnBrk="0" hangingPunct="1">
        <a:defRPr sz="2399" kern="1200">
          <a:solidFill>
            <a:schemeClr val="tx1"/>
          </a:solidFill>
          <a:latin typeface="+mn-lt"/>
          <a:ea typeface="+mn-ea"/>
          <a:cs typeface="+mn-cs"/>
        </a:defRPr>
      </a:lvl1pPr>
      <a:lvl2pPr marL="609448" algn="l" defTabSz="609448" rtl="0" eaLnBrk="1" latinLnBrk="0" hangingPunct="1">
        <a:defRPr sz="2399" kern="1200">
          <a:solidFill>
            <a:schemeClr val="tx1"/>
          </a:solidFill>
          <a:latin typeface="+mn-lt"/>
          <a:ea typeface="+mn-ea"/>
          <a:cs typeface="+mn-cs"/>
        </a:defRPr>
      </a:lvl2pPr>
      <a:lvl3pPr marL="1218895" algn="l" defTabSz="609448" rtl="0" eaLnBrk="1" latinLnBrk="0" hangingPunct="1">
        <a:defRPr sz="2399" kern="1200">
          <a:solidFill>
            <a:schemeClr val="tx1"/>
          </a:solidFill>
          <a:latin typeface="+mn-lt"/>
          <a:ea typeface="+mn-ea"/>
          <a:cs typeface="+mn-cs"/>
        </a:defRPr>
      </a:lvl3pPr>
      <a:lvl4pPr marL="1828343" algn="l" defTabSz="609448" rtl="0" eaLnBrk="1" latinLnBrk="0" hangingPunct="1">
        <a:defRPr sz="2399" kern="1200">
          <a:solidFill>
            <a:schemeClr val="tx1"/>
          </a:solidFill>
          <a:latin typeface="+mn-lt"/>
          <a:ea typeface="+mn-ea"/>
          <a:cs typeface="+mn-cs"/>
        </a:defRPr>
      </a:lvl4pPr>
      <a:lvl5pPr marL="2437790" algn="l" defTabSz="609448" rtl="0" eaLnBrk="1" latinLnBrk="0" hangingPunct="1">
        <a:defRPr sz="2399" kern="1200">
          <a:solidFill>
            <a:schemeClr val="tx1"/>
          </a:solidFill>
          <a:latin typeface="+mn-lt"/>
          <a:ea typeface="+mn-ea"/>
          <a:cs typeface="+mn-cs"/>
        </a:defRPr>
      </a:lvl5pPr>
      <a:lvl6pPr marL="3047238" algn="l" defTabSz="609448" rtl="0" eaLnBrk="1" latinLnBrk="0" hangingPunct="1">
        <a:defRPr sz="2399" kern="1200">
          <a:solidFill>
            <a:schemeClr val="tx1"/>
          </a:solidFill>
          <a:latin typeface="+mn-lt"/>
          <a:ea typeface="+mn-ea"/>
          <a:cs typeface="+mn-cs"/>
        </a:defRPr>
      </a:lvl6pPr>
      <a:lvl7pPr marL="3656686" algn="l" defTabSz="609448" rtl="0" eaLnBrk="1" latinLnBrk="0" hangingPunct="1">
        <a:defRPr sz="2399" kern="1200">
          <a:solidFill>
            <a:schemeClr val="tx1"/>
          </a:solidFill>
          <a:latin typeface="+mn-lt"/>
          <a:ea typeface="+mn-ea"/>
          <a:cs typeface="+mn-cs"/>
        </a:defRPr>
      </a:lvl7pPr>
      <a:lvl8pPr marL="4266133" algn="l" defTabSz="609448" rtl="0" eaLnBrk="1" latinLnBrk="0" hangingPunct="1">
        <a:defRPr sz="2399" kern="1200">
          <a:solidFill>
            <a:schemeClr val="tx1"/>
          </a:solidFill>
          <a:latin typeface="+mn-lt"/>
          <a:ea typeface="+mn-ea"/>
          <a:cs typeface="+mn-cs"/>
        </a:defRPr>
      </a:lvl8pPr>
      <a:lvl9pPr marL="4875581" algn="l" defTabSz="609448" rtl="0" eaLnBrk="1" latinLnBrk="0" hangingPunct="1">
        <a:defRPr sz="2399"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3" Type="http://schemas.openxmlformats.org/officeDocument/2006/relationships/hyperlink" Target="https://software.intel.com/en-us/articles/intel-sample-source-code-license-agreement" TargetMode="External"/><Relationship Id="rId2" Type="http://schemas.openxmlformats.org/officeDocument/2006/relationships/hyperlink" Target="http://www.intel.com/" TargetMode="Externa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7.xml"/><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9.xml"/><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1.xml"/><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12.xml"/><Relationship Id="rId1" Type="http://schemas.openxmlformats.org/officeDocument/2006/relationships/slideLayout" Target="../slideLayouts/slideLayout19.xml"/><Relationship Id="rId4" Type="http://schemas.openxmlformats.org/officeDocument/2006/relationships/chart" Target="../charts/char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notesSlide" Target="../notesSlides/notesSlide14.xml"/><Relationship Id="rId1" Type="http://schemas.openxmlformats.org/officeDocument/2006/relationships/slideLayout" Target="../slideLayouts/slideLayout19.xml"/><Relationship Id="rId5" Type="http://schemas.openxmlformats.org/officeDocument/2006/relationships/image" Target="../media/image4.png"/><Relationship Id="rId4" Type="http://schemas.openxmlformats.org/officeDocument/2006/relationships/image" Target="../media/image310.png"/></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19.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19.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15.xml"/><Relationship Id="rId4" Type="http://schemas.openxmlformats.org/officeDocument/2006/relationships/image" Target="../media/image11.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15.xml"/><Relationship Id="rId4" Type="http://schemas.openxmlformats.org/officeDocument/2006/relationships/image" Target="../media/image12.png"/></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15.xml"/><Relationship Id="rId4" Type="http://schemas.openxmlformats.org/officeDocument/2006/relationships/image" Target="../media/image13.png"/></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15.xml"/><Relationship Id="rId5" Type="http://schemas.openxmlformats.org/officeDocument/2006/relationships/image" Target="../media/image14.png"/><Relationship Id="rId4" Type="http://schemas.openxmlformats.org/officeDocument/2006/relationships/image" Target="../media/image13.png"/></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15.xml"/><Relationship Id="rId4" Type="http://schemas.openxmlformats.org/officeDocument/2006/relationships/image" Target="../media/image15.png"/></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6.xml"/><Relationship Id="rId1" Type="http://schemas.openxmlformats.org/officeDocument/2006/relationships/slideLayout" Target="../slideLayouts/slideLayout15.xml"/><Relationship Id="rId4" Type="http://schemas.openxmlformats.org/officeDocument/2006/relationships/image" Target="../media/image16.png"/></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7.xml"/><Relationship Id="rId1" Type="http://schemas.openxmlformats.org/officeDocument/2006/relationships/slideLayout" Target="../slideLayouts/slideLayout15.xml"/><Relationship Id="rId4" Type="http://schemas.openxmlformats.org/officeDocument/2006/relationships/image" Target="../media/image17.png"/></Relationships>
</file>

<file path=ppt/slides/_rels/slide2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8.xml"/><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9.xml"/><Relationship Id="rId1" Type="http://schemas.openxmlformats.org/officeDocument/2006/relationships/slideLayout" Target="../slideLayouts/slideLayout19.xml"/><Relationship Id="rId4" Type="http://schemas.openxmlformats.org/officeDocument/2006/relationships/image" Target="../media/image19.png"/></Relationships>
</file>

<file path=ppt/slides/_rels/slide3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0.xml"/><Relationship Id="rId1" Type="http://schemas.openxmlformats.org/officeDocument/2006/relationships/slideLayout" Target="../slideLayouts/slideLayout19.xml"/><Relationship Id="rId4" Type="http://schemas.openxmlformats.org/officeDocument/2006/relationships/image" Target="../media/image21.png"/></Relationships>
</file>

<file path=ppt/slides/_rels/slide3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1.xml"/><Relationship Id="rId1" Type="http://schemas.openxmlformats.org/officeDocument/2006/relationships/slideLayout" Target="../slideLayouts/slideLayout15.xml"/><Relationship Id="rId5" Type="http://schemas.openxmlformats.org/officeDocument/2006/relationships/image" Target="../media/image22.png"/><Relationship Id="rId4" Type="http://schemas.openxmlformats.org/officeDocument/2006/relationships/image" Target="../media/image13.png"/></Relationships>
</file>

<file path=ppt/slides/_rels/slide3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2.xml"/><Relationship Id="rId1" Type="http://schemas.openxmlformats.org/officeDocument/2006/relationships/slideLayout" Target="../slideLayouts/slideLayout15.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13.png"/></Relationships>
</file>

<file path=ppt/slides/_rels/slide3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3.xml"/><Relationship Id="rId1" Type="http://schemas.openxmlformats.org/officeDocument/2006/relationships/slideLayout" Target="../slideLayouts/slideLayout15.xml"/><Relationship Id="rId6" Type="http://schemas.openxmlformats.org/officeDocument/2006/relationships/image" Target="../media/image25.png"/><Relationship Id="rId5" Type="http://schemas.openxmlformats.org/officeDocument/2006/relationships/image" Target="../media/image23.png"/><Relationship Id="rId4" Type="http://schemas.openxmlformats.org/officeDocument/2006/relationships/image" Target="../media/image13.png"/></Relationships>
</file>

<file path=ppt/slides/_rels/slide3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4.xml"/><Relationship Id="rId1" Type="http://schemas.openxmlformats.org/officeDocument/2006/relationships/slideLayout" Target="../slideLayouts/slideLayout19.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9.xml"/></Relationships>
</file>

<file path=ppt/slides/_rels/slide3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6.xml"/><Relationship Id="rId1" Type="http://schemas.openxmlformats.org/officeDocument/2006/relationships/slideLayout" Target="../slideLayouts/slideLayout19.xml"/></Relationships>
</file>

<file path=ppt/slides/_rels/slide3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7.xml"/><Relationship Id="rId1" Type="http://schemas.openxmlformats.org/officeDocument/2006/relationships/slideLayout" Target="../slideLayouts/slideLayout19.xml"/><Relationship Id="rId4" Type="http://schemas.openxmlformats.org/officeDocument/2006/relationships/image" Target="../media/image29.png"/></Relationships>
</file>

<file path=ppt/slides/_rels/slide3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8.xml"/><Relationship Id="rId1" Type="http://schemas.openxmlformats.org/officeDocument/2006/relationships/slideLayout" Target="../slideLayouts/slideLayout19.xml"/></Relationships>
</file>

<file path=ppt/slides/_rels/slide4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9.xml"/><Relationship Id="rId1" Type="http://schemas.openxmlformats.org/officeDocument/2006/relationships/slideLayout" Target="../slideLayouts/slideLayout19.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9.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9.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9.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9.xml"/></Relationships>
</file>

<file path=ppt/slides/_rels/slide4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4.xml"/><Relationship Id="rId1" Type="http://schemas.openxmlformats.org/officeDocument/2006/relationships/slideLayout" Target="../slideLayouts/slideLayout19.xml"/><Relationship Id="rId4" Type="http://schemas.openxmlformats.org/officeDocument/2006/relationships/image" Target="../media/image31.png"/></Relationships>
</file>

<file path=ppt/slides/_rels/slide4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5.xml"/><Relationship Id="rId1" Type="http://schemas.openxmlformats.org/officeDocument/2006/relationships/slideLayout" Target="../slideLayouts/slideLayout19.xml"/><Relationship Id="rId5" Type="http://schemas.openxmlformats.org/officeDocument/2006/relationships/image" Target="../media/image34.png"/><Relationship Id="rId4" Type="http://schemas.openxmlformats.org/officeDocument/2006/relationships/image" Target="../media/image33.png"/></Relationships>
</file>

<file path=ppt/slides/_rels/slide47.xml.rels><?xml version="1.0" encoding="UTF-8" standalone="yes"?>
<Relationships xmlns="http://schemas.openxmlformats.org/package/2006/relationships"><Relationship Id="rId3" Type="http://schemas.openxmlformats.org/officeDocument/2006/relationships/image" Target="../media/image35.png"/><Relationship Id="rId7" Type="http://schemas.openxmlformats.org/officeDocument/2006/relationships/image" Target="../media/image39.png"/><Relationship Id="rId2" Type="http://schemas.openxmlformats.org/officeDocument/2006/relationships/notesSlide" Target="../notesSlides/notesSlide46.xml"/><Relationship Id="rId1" Type="http://schemas.openxmlformats.org/officeDocument/2006/relationships/slideLayout" Target="../slideLayouts/slideLayout19.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48.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image" Target="../media/image40.png"/><Relationship Id="rId7" Type="http://schemas.openxmlformats.org/officeDocument/2006/relationships/image" Target="../media/image39.png"/><Relationship Id="rId2" Type="http://schemas.openxmlformats.org/officeDocument/2006/relationships/notesSlide" Target="../notesSlides/notesSlide47.xml"/><Relationship Id="rId1" Type="http://schemas.openxmlformats.org/officeDocument/2006/relationships/slideLayout" Target="../slideLayouts/slideLayout19.xml"/><Relationship Id="rId6" Type="http://schemas.openxmlformats.org/officeDocument/2006/relationships/image" Target="../media/image42.png"/><Relationship Id="rId5" Type="http://schemas.openxmlformats.org/officeDocument/2006/relationships/image" Target="../media/image37.png"/><Relationship Id="rId4" Type="http://schemas.openxmlformats.org/officeDocument/2006/relationships/image" Target="../media/image41.png"/><Relationship Id="rId9" Type="http://schemas.openxmlformats.org/officeDocument/2006/relationships/image" Target="../media/image44.png"/></Relationships>
</file>

<file path=ppt/slides/_rels/slide49.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image" Target="../media/image45.png"/><Relationship Id="rId7" Type="http://schemas.openxmlformats.org/officeDocument/2006/relationships/image" Target="../media/image39.png"/><Relationship Id="rId2" Type="http://schemas.openxmlformats.org/officeDocument/2006/relationships/notesSlide" Target="../notesSlides/notesSlide48.xml"/><Relationship Id="rId1" Type="http://schemas.openxmlformats.org/officeDocument/2006/relationships/slideLayout" Target="../slideLayouts/slideLayout19.xml"/><Relationship Id="rId6" Type="http://schemas.openxmlformats.org/officeDocument/2006/relationships/image" Target="../media/image47.png"/><Relationship Id="rId11" Type="http://schemas.openxmlformats.org/officeDocument/2006/relationships/image" Target="../media/image49.png"/><Relationship Id="rId5" Type="http://schemas.openxmlformats.org/officeDocument/2006/relationships/image" Target="../media/image37.png"/><Relationship Id="rId10" Type="http://schemas.openxmlformats.org/officeDocument/2006/relationships/image" Target="../media/image48.png"/><Relationship Id="rId4" Type="http://schemas.openxmlformats.org/officeDocument/2006/relationships/image" Target="../media/image46.png"/><Relationship Id="rId9" Type="http://schemas.openxmlformats.org/officeDocument/2006/relationships/image" Target="../media/image44.png"/></Relationships>
</file>

<file path=ppt/slides/_rels/slide50.xml.rels><?xml version="1.0" encoding="UTF-8" standalone="yes"?>
<Relationships xmlns="http://schemas.openxmlformats.org/package/2006/relationships"><Relationship Id="rId8" Type="http://schemas.openxmlformats.org/officeDocument/2006/relationships/image" Target="../media/image43.png"/><Relationship Id="rId13" Type="http://schemas.openxmlformats.org/officeDocument/2006/relationships/image" Target="../media/image51.png"/><Relationship Id="rId3" Type="http://schemas.openxmlformats.org/officeDocument/2006/relationships/image" Target="../media/image45.png"/><Relationship Id="rId7" Type="http://schemas.openxmlformats.org/officeDocument/2006/relationships/image" Target="../media/image39.png"/><Relationship Id="rId12" Type="http://schemas.openxmlformats.org/officeDocument/2006/relationships/image" Target="../media/image50.png"/><Relationship Id="rId2" Type="http://schemas.openxmlformats.org/officeDocument/2006/relationships/notesSlide" Target="../notesSlides/notesSlide49.xml"/><Relationship Id="rId1" Type="http://schemas.openxmlformats.org/officeDocument/2006/relationships/slideLayout" Target="../slideLayouts/slideLayout19.xml"/><Relationship Id="rId6" Type="http://schemas.openxmlformats.org/officeDocument/2006/relationships/image" Target="../media/image47.png"/><Relationship Id="rId11" Type="http://schemas.openxmlformats.org/officeDocument/2006/relationships/image" Target="../media/image49.png"/><Relationship Id="rId5" Type="http://schemas.openxmlformats.org/officeDocument/2006/relationships/image" Target="../media/image37.png"/><Relationship Id="rId10" Type="http://schemas.openxmlformats.org/officeDocument/2006/relationships/image" Target="../media/image48.png"/><Relationship Id="rId4" Type="http://schemas.openxmlformats.org/officeDocument/2006/relationships/image" Target="../media/image46.png"/><Relationship Id="rId9" Type="http://schemas.openxmlformats.org/officeDocument/2006/relationships/image" Target="../media/image44.png"/></Relationships>
</file>

<file path=ppt/slides/_rels/slide51.xml.rels><?xml version="1.0" encoding="UTF-8" standalone="yes"?>
<Relationships xmlns="http://schemas.openxmlformats.org/package/2006/relationships"><Relationship Id="rId8" Type="http://schemas.openxmlformats.org/officeDocument/2006/relationships/image" Target="../media/image56.png"/><Relationship Id="rId3" Type="http://schemas.openxmlformats.org/officeDocument/2006/relationships/image" Target="../media/image52.png"/><Relationship Id="rId7" Type="http://schemas.openxmlformats.org/officeDocument/2006/relationships/image" Target="../media/image48.png"/><Relationship Id="rId2" Type="http://schemas.openxmlformats.org/officeDocument/2006/relationships/notesSlide" Target="../notesSlides/notesSlide50.xml"/><Relationship Id="rId1" Type="http://schemas.openxmlformats.org/officeDocument/2006/relationships/slideLayout" Target="../slideLayouts/slideLayout19.xml"/><Relationship Id="rId6" Type="http://schemas.openxmlformats.org/officeDocument/2006/relationships/image" Target="../media/image55.png"/><Relationship Id="rId11" Type="http://schemas.openxmlformats.org/officeDocument/2006/relationships/image" Target="../media/image59.png"/><Relationship Id="rId5" Type="http://schemas.openxmlformats.org/officeDocument/2006/relationships/image" Target="../media/image54.png"/><Relationship Id="rId10" Type="http://schemas.openxmlformats.org/officeDocument/2006/relationships/image" Target="../media/image58.png"/><Relationship Id="rId4" Type="http://schemas.openxmlformats.org/officeDocument/2006/relationships/image" Target="../media/image53.png"/><Relationship Id="rId9" Type="http://schemas.openxmlformats.org/officeDocument/2006/relationships/image" Target="../media/image57.png"/></Relationships>
</file>

<file path=ppt/slides/_rels/slide52.xml.rels><?xml version="1.0" encoding="UTF-8" standalone="yes"?>
<Relationships xmlns="http://schemas.openxmlformats.org/package/2006/relationships"><Relationship Id="rId8" Type="http://schemas.openxmlformats.org/officeDocument/2006/relationships/image" Target="../media/image56.png"/><Relationship Id="rId3" Type="http://schemas.openxmlformats.org/officeDocument/2006/relationships/image" Target="../media/image52.png"/><Relationship Id="rId7" Type="http://schemas.openxmlformats.org/officeDocument/2006/relationships/image" Target="../media/image48.png"/><Relationship Id="rId2" Type="http://schemas.openxmlformats.org/officeDocument/2006/relationships/notesSlide" Target="../notesSlides/notesSlide51.xml"/><Relationship Id="rId1" Type="http://schemas.openxmlformats.org/officeDocument/2006/relationships/slideLayout" Target="../slideLayouts/slideLayout19.xml"/><Relationship Id="rId6" Type="http://schemas.openxmlformats.org/officeDocument/2006/relationships/image" Target="../media/image550.png"/><Relationship Id="rId5" Type="http://schemas.openxmlformats.org/officeDocument/2006/relationships/image" Target="../media/image54.png"/><Relationship Id="rId10" Type="http://schemas.openxmlformats.org/officeDocument/2006/relationships/image" Target="../media/image58.png"/><Relationship Id="rId4" Type="http://schemas.openxmlformats.org/officeDocument/2006/relationships/image" Target="../media/image53.png"/><Relationship Id="rId9" Type="http://schemas.openxmlformats.org/officeDocument/2006/relationships/image" Target="../media/image57.png"/></Relationships>
</file>

<file path=ppt/slides/_rels/slide53.xml.rels><?xml version="1.0" encoding="UTF-8" standalone="yes"?>
<Relationships xmlns="http://schemas.openxmlformats.org/package/2006/relationships"><Relationship Id="rId3" Type="http://schemas.openxmlformats.org/officeDocument/2006/relationships/image" Target="../media/image52.png"/><Relationship Id="rId7" Type="http://schemas.openxmlformats.org/officeDocument/2006/relationships/image" Target="../media/image60.png"/><Relationship Id="rId2" Type="http://schemas.openxmlformats.org/officeDocument/2006/relationships/notesSlide" Target="../notesSlides/notesSlide52.xml"/><Relationship Id="rId1" Type="http://schemas.openxmlformats.org/officeDocument/2006/relationships/slideLayout" Target="../slideLayouts/slideLayout19.xml"/><Relationship Id="rId6" Type="http://schemas.openxmlformats.org/officeDocument/2006/relationships/image" Target="../media/image48.png"/><Relationship Id="rId5" Type="http://schemas.openxmlformats.org/officeDocument/2006/relationships/image" Target="../media/image550.png"/><Relationship Id="rId4" Type="http://schemas.openxmlformats.org/officeDocument/2006/relationships/image" Target="../media/image53.png"/></Relationships>
</file>

<file path=ppt/slides/_rels/slide54.xml.rels><?xml version="1.0" encoding="UTF-8" standalone="yes"?>
<Relationships xmlns="http://schemas.openxmlformats.org/package/2006/relationships"><Relationship Id="rId3" Type="http://schemas.openxmlformats.org/officeDocument/2006/relationships/image" Target="../media/image52.png"/><Relationship Id="rId7" Type="http://schemas.openxmlformats.org/officeDocument/2006/relationships/image" Target="../media/image60.png"/><Relationship Id="rId2" Type="http://schemas.openxmlformats.org/officeDocument/2006/relationships/notesSlide" Target="../notesSlides/notesSlide53.xml"/><Relationship Id="rId1" Type="http://schemas.openxmlformats.org/officeDocument/2006/relationships/slideLayout" Target="../slideLayouts/slideLayout19.xml"/><Relationship Id="rId6" Type="http://schemas.openxmlformats.org/officeDocument/2006/relationships/image" Target="../media/image48.png"/><Relationship Id="rId5" Type="http://schemas.openxmlformats.org/officeDocument/2006/relationships/image" Target="../media/image550.png"/><Relationship Id="rId4" Type="http://schemas.openxmlformats.org/officeDocument/2006/relationships/image" Target="../media/image53.png"/></Relationships>
</file>

<file path=ppt/slides/_rels/slide55.xml.rels><?xml version="1.0" encoding="UTF-8" standalone="yes"?>
<Relationships xmlns="http://schemas.openxmlformats.org/package/2006/relationships"><Relationship Id="rId8" Type="http://schemas.openxmlformats.org/officeDocument/2006/relationships/image" Target="../media/image61.png"/><Relationship Id="rId3" Type="http://schemas.openxmlformats.org/officeDocument/2006/relationships/image" Target="../media/image52.png"/><Relationship Id="rId7" Type="http://schemas.openxmlformats.org/officeDocument/2006/relationships/image" Target="../media/image58.png"/><Relationship Id="rId2" Type="http://schemas.openxmlformats.org/officeDocument/2006/relationships/notesSlide" Target="../notesSlides/notesSlide54.xml"/><Relationship Id="rId1" Type="http://schemas.openxmlformats.org/officeDocument/2006/relationships/slideLayout" Target="../slideLayouts/slideLayout19.xml"/><Relationship Id="rId6" Type="http://schemas.openxmlformats.org/officeDocument/2006/relationships/image" Target="../media/image56.png"/><Relationship Id="rId5" Type="http://schemas.openxmlformats.org/officeDocument/2006/relationships/image" Target="../media/image550.png"/><Relationship Id="rId4" Type="http://schemas.openxmlformats.org/officeDocument/2006/relationships/image" Target="../media/image53.png"/></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9.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9.xml"/></Relationships>
</file>

<file path=ppt/slides/_rels/slide59.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58.xml"/><Relationship Id="rId1" Type="http://schemas.openxmlformats.org/officeDocument/2006/relationships/slideLayout" Target="../slideLayouts/slideLayout19.xml"/><Relationship Id="rId4" Type="http://schemas.openxmlformats.org/officeDocument/2006/relationships/image" Target="../media/image63.png"/></Relationships>
</file>

<file path=ppt/slides/_rels/slide60.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59.xml"/><Relationship Id="rId1" Type="http://schemas.openxmlformats.org/officeDocument/2006/relationships/slideLayout" Target="../slideLayouts/slideLayout19.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9.xml"/></Relationships>
</file>

<file path=ppt/slides/_rels/slide62.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61.xml"/><Relationship Id="rId1" Type="http://schemas.openxmlformats.org/officeDocument/2006/relationships/slideLayout" Target="../slideLayouts/slideLayout19.xml"/><Relationship Id="rId4" Type="http://schemas.openxmlformats.org/officeDocument/2006/relationships/image" Target="../media/image65.png"/></Relationships>
</file>

<file path=ppt/slides/_rels/slide63.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62.xml"/><Relationship Id="rId1" Type="http://schemas.openxmlformats.org/officeDocument/2006/relationships/slideLayout" Target="../slideLayouts/slideLayout19.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9.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9.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9.xml"/></Relationships>
</file>

<file path=ppt/slides/_rels/slide68.xml.rels><?xml version="1.0" encoding="UTF-8" standalone="yes"?>
<Relationships xmlns="http://schemas.openxmlformats.org/package/2006/relationships"><Relationship Id="rId3" Type="http://schemas.openxmlformats.org/officeDocument/2006/relationships/image" Target="../media/image660.png"/><Relationship Id="rId2" Type="http://schemas.openxmlformats.org/officeDocument/2006/relationships/notesSlide" Target="../notesSlides/notesSlide67.xml"/><Relationship Id="rId1" Type="http://schemas.openxmlformats.org/officeDocument/2006/relationships/slideLayout" Target="../slideLayouts/slideLayout19.xml"/><Relationship Id="rId5" Type="http://schemas.openxmlformats.org/officeDocument/2006/relationships/image" Target="../media/image68.png"/><Relationship Id="rId4" Type="http://schemas.openxmlformats.org/officeDocument/2006/relationships/image" Target="../media/image67.png"/></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z="4000" dirty="0" smtClean="0"/>
              <a:t>Machine Learning Fundamentals</a:t>
            </a:r>
            <a:endParaRPr lang="en-US" sz="4000" dirty="0"/>
          </a:p>
        </p:txBody>
      </p:sp>
      <p:sp>
        <p:nvSpPr>
          <p:cNvPr id="3" name="Subtitle 2"/>
          <p:cNvSpPr>
            <a:spLocks noGrp="1"/>
          </p:cNvSpPr>
          <p:nvPr>
            <p:ph type="subTitle" idx="1"/>
          </p:nvPr>
        </p:nvSpPr>
        <p:spPr/>
        <p:txBody>
          <a:bodyPr/>
          <a:lstStyle/>
          <a:p>
            <a:r>
              <a:rPr lang="en-US" i="1" dirty="0" smtClean="0"/>
              <a:t>Deep Learning with </a:t>
            </a:r>
            <a:r>
              <a:rPr lang="en-US" i="1" dirty="0" err="1" smtClean="0"/>
              <a:t>TensorFlow</a:t>
            </a:r>
            <a:r>
              <a:rPr lang="en-US" i="1" dirty="0" smtClean="0"/>
              <a:t> </a:t>
            </a:r>
            <a:r>
              <a:rPr lang="mr-IN" i="1" dirty="0" smtClean="0"/>
              <a:t>–</a:t>
            </a:r>
            <a:r>
              <a:rPr lang="en-US" i="1" dirty="0" smtClean="0"/>
              <a:t> Day 2</a:t>
            </a:r>
            <a:endParaRPr lang="en-US" i="1" dirty="0"/>
          </a:p>
        </p:txBody>
      </p:sp>
    </p:spTree>
    <p:extLst>
      <p:ext uri="{BB962C8B-B14F-4D97-AF65-F5344CB8AC3E}">
        <p14:creationId xmlns:p14="http://schemas.microsoft.com/office/powerpoint/2010/main" val="50676145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smtClean="0"/>
              <a:t>Legal Notices and Disclaimers</a:t>
            </a:r>
            <a:endParaRPr lang="en-US" dirty="0"/>
          </a:p>
        </p:txBody>
      </p:sp>
      <p:sp>
        <p:nvSpPr>
          <p:cNvPr id="9" name="Content Placeholder 8"/>
          <p:cNvSpPr>
            <a:spLocks noGrp="1"/>
          </p:cNvSpPr>
          <p:nvPr>
            <p:ph sz="quarter" idx="13"/>
          </p:nvPr>
        </p:nvSpPr>
        <p:spPr/>
        <p:txBody>
          <a:bodyPr/>
          <a:lstStyle/>
          <a:p>
            <a:r>
              <a:rPr lang="en-US" sz="2000" dirty="0"/>
              <a:t>This presentation is for informational purposes only. INTEL MAKES NO WARRANTIES, EXPRESS OR IMPLIED, IN THIS SUMMARY. </a:t>
            </a:r>
          </a:p>
          <a:p>
            <a:r>
              <a:rPr lang="en-US" sz="2000" dirty="0"/>
              <a:t>Intel technologies’ features and benefits depend on system configuration and may require enabled hardware, software or service activation. Performance varies depending on system configuration. Check with your system manufacturer or retailer or learn more at </a:t>
            </a:r>
            <a:r>
              <a:rPr lang="en-US" sz="2000" dirty="0">
                <a:hlinkClick r:id="rId2"/>
              </a:rPr>
              <a:t>intel.com</a:t>
            </a:r>
            <a:r>
              <a:rPr lang="en-US" sz="2000" dirty="0"/>
              <a:t>. </a:t>
            </a:r>
          </a:p>
          <a:p>
            <a:r>
              <a:rPr lang="en-US" sz="2000" dirty="0"/>
              <a:t>This sample source code is released under the </a:t>
            </a:r>
            <a:r>
              <a:rPr lang="en-US" sz="2000" dirty="0">
                <a:hlinkClick r:id="rId3"/>
              </a:rPr>
              <a:t>Intel Sample Source Code License Agreement</a:t>
            </a:r>
            <a:r>
              <a:rPr lang="en-US" sz="2000" dirty="0"/>
              <a:t>. </a:t>
            </a:r>
          </a:p>
          <a:p>
            <a:r>
              <a:rPr lang="en-US" sz="2000" dirty="0"/>
              <a:t>Intel and the Intel logo are trademarks of Intel Corporation in the U.S. and/or other countries. </a:t>
            </a:r>
          </a:p>
          <a:p>
            <a:r>
              <a:rPr lang="en-US" sz="2000" dirty="0"/>
              <a:t>*Other names and brands may be claimed as the property of others. </a:t>
            </a:r>
          </a:p>
          <a:p>
            <a:r>
              <a:rPr lang="en-US" sz="2000" dirty="0"/>
              <a:t>Copyright © 2017, Intel Corporation. All rights reserved. </a:t>
            </a:r>
            <a:endParaRPr lang="en-US" sz="2000" dirty="0"/>
          </a:p>
        </p:txBody>
      </p:sp>
    </p:spTree>
    <p:extLst>
      <p:ext uri="{BB962C8B-B14F-4D97-AF65-F5344CB8AC3E}">
        <p14:creationId xmlns:p14="http://schemas.microsoft.com/office/powerpoint/2010/main" val="7328061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Things to cover in slides</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Gradient descent</a:t>
            </a:r>
          </a:p>
          <a:p>
            <a:r>
              <a:rPr lang="en-US" dirty="0" smtClean="0"/>
              <a:t>Linear regression</a:t>
            </a:r>
          </a:p>
          <a:p>
            <a:r>
              <a:rPr lang="en-US" dirty="0" smtClean="0"/>
              <a:t>Logistic regression</a:t>
            </a:r>
          </a:p>
          <a:p>
            <a:r>
              <a:rPr lang="en-US" dirty="0" smtClean="0"/>
              <a:t>Training/validation/test splits</a:t>
            </a:r>
          </a:p>
          <a:p>
            <a:r>
              <a:rPr lang="en-US" dirty="0" smtClean="0"/>
              <a:t>Loss function, derivatives</a:t>
            </a:r>
          </a:p>
          <a:p>
            <a:r>
              <a:rPr lang="en-US" dirty="0" smtClean="0"/>
              <a:t>Full batch, mini batch/stochastic gradient descent</a:t>
            </a:r>
          </a:p>
          <a:p>
            <a:r>
              <a:rPr lang="en-US" dirty="0" smtClean="0"/>
              <a:t>Regularization</a:t>
            </a:r>
          </a:p>
          <a:p>
            <a:r>
              <a:rPr lang="en-US" dirty="0" smtClean="0"/>
              <a:t>Epoch</a:t>
            </a:r>
          </a:p>
          <a:p>
            <a:r>
              <a:rPr lang="en-US" dirty="0" smtClean="0"/>
              <a:t>Supervised vs unsupervised training</a:t>
            </a:r>
          </a:p>
          <a:p>
            <a:r>
              <a:rPr lang="en-US" dirty="0" err="1" smtClean="0"/>
              <a:t>TensorFlow</a:t>
            </a:r>
            <a:r>
              <a:rPr lang="en-US" dirty="0" smtClean="0"/>
              <a:t>: Optimizer class, global step</a:t>
            </a:r>
          </a:p>
        </p:txBody>
      </p:sp>
    </p:spTree>
    <p:extLst>
      <p:ext uri="{BB962C8B-B14F-4D97-AF65-F5344CB8AC3E}">
        <p14:creationId xmlns:p14="http://schemas.microsoft.com/office/powerpoint/2010/main" val="13283360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Key things to take away from today</a:t>
            </a:r>
            <a:endParaRPr lang="en-US" dirty="0"/>
          </a:p>
        </p:txBody>
      </p:sp>
      <p:sp>
        <p:nvSpPr>
          <p:cNvPr id="3" name="Content Placeholder 2"/>
          <p:cNvSpPr>
            <a:spLocks noGrp="1"/>
          </p:cNvSpPr>
          <p:nvPr>
            <p:ph idx="1"/>
          </p:nvPr>
        </p:nvSpPr>
        <p:spPr/>
        <p:txBody>
          <a:bodyPr>
            <a:normAutofit/>
          </a:bodyPr>
          <a:lstStyle/>
          <a:p>
            <a:pPr>
              <a:lnSpc>
                <a:spcPct val="200000"/>
              </a:lnSpc>
            </a:pPr>
            <a:r>
              <a:rPr lang="en-US" sz="3600" dirty="0" smtClean="0"/>
              <a:t>Loss functions</a:t>
            </a:r>
          </a:p>
          <a:p>
            <a:pPr>
              <a:lnSpc>
                <a:spcPct val="200000"/>
              </a:lnSpc>
            </a:pPr>
            <a:r>
              <a:rPr lang="en-US" sz="3600" dirty="0" smtClean="0"/>
              <a:t>Gradient descent</a:t>
            </a:r>
          </a:p>
          <a:p>
            <a:pPr>
              <a:lnSpc>
                <a:spcPct val="200000"/>
              </a:lnSpc>
            </a:pPr>
            <a:r>
              <a:rPr lang="en-US" sz="3600" dirty="0" smtClean="0"/>
              <a:t>Automatic differentiation</a:t>
            </a:r>
            <a:endParaRPr lang="en-US" sz="3600" dirty="0"/>
          </a:p>
        </p:txBody>
      </p:sp>
    </p:spTree>
    <p:extLst>
      <p:ext uri="{BB962C8B-B14F-4D97-AF65-F5344CB8AC3E}">
        <p14:creationId xmlns:p14="http://schemas.microsoft.com/office/powerpoint/2010/main" val="36223493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800" dirty="0" smtClean="0"/>
              <a:t>What is Machine Learning?</a:t>
            </a:r>
            <a:endParaRPr lang="en-US" sz="4800" dirty="0"/>
          </a:p>
        </p:txBody>
      </p:sp>
    </p:spTree>
    <p:extLst>
      <p:ext uri="{BB962C8B-B14F-4D97-AF65-F5344CB8AC3E}">
        <p14:creationId xmlns:p14="http://schemas.microsoft.com/office/powerpoint/2010/main" val="48748155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Machine Learning</a:t>
            </a:r>
            <a:endParaRPr lang="en-US" dirty="0"/>
          </a:p>
        </p:txBody>
      </p:sp>
      <p:sp>
        <p:nvSpPr>
          <p:cNvPr id="3" name="Content Placeholder 2"/>
          <p:cNvSpPr>
            <a:spLocks noGrp="1"/>
          </p:cNvSpPr>
          <p:nvPr>
            <p:ph idx="1"/>
          </p:nvPr>
        </p:nvSpPr>
        <p:spPr/>
        <p:txBody>
          <a:bodyPr/>
          <a:lstStyle/>
          <a:p>
            <a:pPr marL="0" indent="0">
              <a:buNone/>
            </a:pPr>
            <a:r>
              <a:rPr lang="en-US" b="1" dirty="0" smtClean="0"/>
              <a:t>Abstractly:</a:t>
            </a:r>
          </a:p>
          <a:p>
            <a:r>
              <a:rPr lang="en-US" dirty="0" smtClean="0"/>
              <a:t>Giving computers the ability to learn automatically</a:t>
            </a:r>
          </a:p>
          <a:p>
            <a:pPr marL="0" indent="0">
              <a:buNone/>
            </a:pPr>
            <a:endParaRPr lang="en-US" b="1" dirty="0" smtClean="0"/>
          </a:p>
          <a:p>
            <a:pPr marL="0" indent="0">
              <a:buNone/>
            </a:pPr>
            <a:r>
              <a:rPr lang="en-US" b="1" dirty="0" smtClean="0"/>
              <a:t>Concretely:</a:t>
            </a:r>
          </a:p>
          <a:p>
            <a:r>
              <a:rPr lang="en-US" dirty="0" smtClean="0"/>
              <a:t>Using math/stats to estimate a model by using data</a:t>
            </a:r>
            <a:endParaRPr lang="en-US" dirty="0"/>
          </a:p>
        </p:txBody>
      </p:sp>
    </p:spTree>
    <p:extLst>
      <p:ext uri="{BB962C8B-B14F-4D97-AF65-F5344CB8AC3E}">
        <p14:creationId xmlns:p14="http://schemas.microsoft.com/office/powerpoint/2010/main" val="135300103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Remember Excel?</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060619218"/>
              </p:ext>
            </p:extLst>
          </p:nvPr>
        </p:nvGraphicFramePr>
        <p:xfrm>
          <a:off x="608013" y="1604963"/>
          <a:ext cx="10966450" cy="4567237"/>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4411137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Remember Excel?</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142876547"/>
              </p:ext>
            </p:extLst>
          </p:nvPr>
        </p:nvGraphicFramePr>
        <p:xfrm>
          <a:off x="608013" y="1604963"/>
          <a:ext cx="10966450" cy="4567237"/>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95880109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Kinds of Machine Learning Tasks</a:t>
            </a:r>
            <a:endParaRPr lang="en-US" dirty="0"/>
          </a:p>
        </p:txBody>
      </p:sp>
      <p:sp>
        <p:nvSpPr>
          <p:cNvPr id="3" name="Content Placeholder 2"/>
          <p:cNvSpPr>
            <a:spLocks noGrp="1"/>
          </p:cNvSpPr>
          <p:nvPr>
            <p:ph idx="1"/>
          </p:nvPr>
        </p:nvSpPr>
        <p:spPr/>
        <p:txBody>
          <a:bodyPr/>
          <a:lstStyle/>
          <a:p>
            <a:r>
              <a:rPr lang="en-US" dirty="0" smtClean="0"/>
              <a:t>Regression: predict </a:t>
            </a:r>
            <a:r>
              <a:rPr lang="en-US" i="1" dirty="0" smtClean="0"/>
              <a:t>continuous valued</a:t>
            </a:r>
            <a:r>
              <a:rPr lang="en-US" dirty="0" smtClean="0"/>
              <a:t> output</a:t>
            </a:r>
          </a:p>
          <a:p>
            <a:pPr lvl="1"/>
            <a:r>
              <a:rPr lang="en-US" dirty="0" smtClean="0"/>
              <a:t>House $ based on attributes</a:t>
            </a:r>
          </a:p>
          <a:p>
            <a:pPr lvl="1"/>
            <a:r>
              <a:rPr lang="en-US" dirty="0" smtClean="0"/>
              <a:t>How far to the left or right to turn a car</a:t>
            </a:r>
          </a:p>
          <a:p>
            <a:pPr lvl="1"/>
            <a:endParaRPr lang="en-US" dirty="0" smtClean="0"/>
          </a:p>
          <a:p>
            <a:r>
              <a:rPr lang="en-US" dirty="0" smtClean="0"/>
              <a:t>Classification: predict </a:t>
            </a:r>
            <a:r>
              <a:rPr lang="en-US" i="1" dirty="0" smtClean="0"/>
              <a:t>discreet categories</a:t>
            </a:r>
            <a:r>
              <a:rPr lang="en-US" dirty="0" smtClean="0"/>
              <a:t> of output</a:t>
            </a:r>
          </a:p>
          <a:p>
            <a:pPr lvl="1"/>
            <a:r>
              <a:rPr lang="en-US" dirty="0" smtClean="0"/>
              <a:t>Which kind of animal is in a picture?</a:t>
            </a:r>
          </a:p>
          <a:p>
            <a:pPr lvl="1"/>
            <a:r>
              <a:rPr lang="en-US" dirty="0" smtClean="0"/>
              <a:t>What sort of anomaly is in an x-ray scan, if any?</a:t>
            </a:r>
            <a:endParaRPr lang="en-US" dirty="0"/>
          </a:p>
        </p:txBody>
      </p:sp>
    </p:spTree>
    <p:extLst>
      <p:ext uri="{BB962C8B-B14F-4D97-AF65-F5344CB8AC3E}">
        <p14:creationId xmlns:p14="http://schemas.microsoft.com/office/powerpoint/2010/main" val="63644928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 </a:t>
            </a:r>
            <a:r>
              <a:rPr lang="en-US" i="1" dirty="0" smtClean="0"/>
              <a:t>regression </a:t>
            </a:r>
            <a:r>
              <a:rPr lang="en-US" dirty="0" smtClean="0"/>
              <a:t>task </a:t>
            </a:r>
            <a:endParaRPr lang="en-US" dirty="0"/>
          </a:p>
        </p:txBody>
      </p:sp>
      <p:graphicFrame>
        <p:nvGraphicFramePr>
          <p:cNvPr id="4" name="Content Placeholder 3"/>
          <p:cNvGraphicFramePr>
            <a:graphicFrameLocks noGrp="1"/>
          </p:cNvGraphicFramePr>
          <p:nvPr>
            <p:ph idx="1"/>
            <p:extLst/>
          </p:nvPr>
        </p:nvGraphicFramePr>
        <p:xfrm>
          <a:off x="608013" y="1604963"/>
          <a:ext cx="10966450" cy="4567237"/>
        </p:xfrm>
        <a:graphic>
          <a:graphicData uri="http://schemas.openxmlformats.org/drawingml/2006/chart">
            <c:chart xmlns:c="http://schemas.openxmlformats.org/drawingml/2006/chart" xmlns:r="http://schemas.openxmlformats.org/officeDocument/2006/relationships" r:id="rId3"/>
          </a:graphicData>
        </a:graphic>
      </p:graphicFrame>
      <p:cxnSp>
        <p:nvCxnSpPr>
          <p:cNvPr id="5" name="Straight Arrow Connector 4"/>
          <p:cNvCxnSpPr/>
          <p:nvPr/>
        </p:nvCxnSpPr>
        <p:spPr>
          <a:xfrm flipH="1">
            <a:off x="1979612" y="2133600"/>
            <a:ext cx="1143000" cy="76200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3122612" y="1737022"/>
            <a:ext cx="2971800" cy="461665"/>
          </a:xfrm>
          <a:prstGeom prst="rect">
            <a:avLst/>
          </a:prstGeom>
          <a:noFill/>
        </p:spPr>
        <p:txBody>
          <a:bodyPr wrap="square" rtlCol="0">
            <a:spAutoFit/>
          </a:bodyPr>
          <a:lstStyle/>
          <a:p>
            <a:r>
              <a:rPr lang="en-US" sz="2400" dirty="0" smtClean="0">
                <a:solidFill>
                  <a:srgbClr val="FF0000"/>
                </a:solidFill>
              </a:rPr>
              <a:t>y is continuous</a:t>
            </a:r>
            <a:endParaRPr lang="en-US" sz="2400" dirty="0">
              <a:solidFill>
                <a:srgbClr val="FF0000"/>
              </a:solidFill>
            </a:endParaRPr>
          </a:p>
        </p:txBody>
      </p:sp>
    </p:spTree>
    <p:extLst>
      <p:ext uri="{BB962C8B-B14F-4D97-AF65-F5344CB8AC3E}">
        <p14:creationId xmlns:p14="http://schemas.microsoft.com/office/powerpoint/2010/main" val="9521549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Kinds of Machine Learning Methods</a:t>
            </a:r>
            <a:endParaRPr lang="en-US" dirty="0"/>
          </a:p>
        </p:txBody>
      </p:sp>
      <p:sp>
        <p:nvSpPr>
          <p:cNvPr id="3" name="Content Placeholder 2"/>
          <p:cNvSpPr>
            <a:spLocks noGrp="1"/>
          </p:cNvSpPr>
          <p:nvPr>
            <p:ph idx="1"/>
          </p:nvPr>
        </p:nvSpPr>
        <p:spPr>
          <a:xfrm>
            <a:off x="1593436" y="1600200"/>
            <a:ext cx="9782801" cy="4953000"/>
          </a:xfrm>
        </p:spPr>
        <p:txBody>
          <a:bodyPr>
            <a:normAutofit fontScale="77500" lnSpcReduction="20000"/>
          </a:bodyPr>
          <a:lstStyle/>
          <a:p>
            <a:r>
              <a:rPr lang="en-US" dirty="0" smtClean="0"/>
              <a:t>Supervised: train model using specific labeled or known data points</a:t>
            </a:r>
          </a:p>
          <a:p>
            <a:pPr lvl="1"/>
            <a:r>
              <a:rPr lang="en-US" dirty="0" smtClean="0"/>
              <a:t>The model is trying to hit a target</a:t>
            </a:r>
          </a:p>
          <a:p>
            <a:pPr lvl="1"/>
            <a:r>
              <a:rPr lang="en-US" dirty="0" smtClean="0"/>
              <a:t>Targets or Labels:</a:t>
            </a:r>
          </a:p>
          <a:p>
            <a:pPr lvl="2"/>
            <a:r>
              <a:rPr lang="en-US" dirty="0" smtClean="0"/>
              <a:t>Price of a house</a:t>
            </a:r>
          </a:p>
          <a:p>
            <a:pPr lvl="2"/>
            <a:r>
              <a:rPr lang="en-US" dirty="0" smtClean="0"/>
              <a:t>The correct steering angle for a car</a:t>
            </a:r>
          </a:p>
          <a:p>
            <a:pPr lvl="2"/>
            <a:r>
              <a:rPr lang="en-US" dirty="0" smtClean="0"/>
              <a:t>Category of an item</a:t>
            </a:r>
          </a:p>
          <a:p>
            <a:pPr lvl="2"/>
            <a:r>
              <a:rPr lang="en-US" dirty="0" smtClean="0"/>
              <a:t>Boolean: Yes/No, Risk/Safe</a:t>
            </a:r>
          </a:p>
          <a:p>
            <a:pPr lvl="1"/>
            <a:endParaRPr lang="en-US" dirty="0" smtClean="0"/>
          </a:p>
          <a:p>
            <a:r>
              <a:rPr lang="en-US" dirty="0" smtClean="0"/>
              <a:t>Unsupervised: train model without labels</a:t>
            </a:r>
          </a:p>
          <a:p>
            <a:pPr lvl="1"/>
            <a:r>
              <a:rPr lang="en-US" dirty="0" smtClean="0"/>
              <a:t>Model is trying to find patterns of input data</a:t>
            </a:r>
          </a:p>
          <a:p>
            <a:pPr lvl="1"/>
            <a:r>
              <a:rPr lang="en-US" dirty="0" smtClean="0"/>
              <a:t>Examples:</a:t>
            </a:r>
          </a:p>
          <a:p>
            <a:pPr lvl="2"/>
            <a:r>
              <a:rPr lang="en-US" dirty="0" smtClean="0"/>
              <a:t>Clustering</a:t>
            </a:r>
          </a:p>
          <a:p>
            <a:pPr lvl="2"/>
            <a:r>
              <a:rPr lang="en-US" dirty="0" err="1" smtClean="0"/>
              <a:t>Autoencoders</a:t>
            </a:r>
            <a:endParaRPr lang="en-US" dirty="0"/>
          </a:p>
        </p:txBody>
      </p:sp>
    </p:spTree>
    <p:extLst>
      <p:ext uri="{BB962C8B-B14F-4D97-AF65-F5344CB8AC3E}">
        <p14:creationId xmlns:p14="http://schemas.microsoft.com/office/powerpoint/2010/main" val="202368447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11" end="11"/>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 is </a:t>
            </a:r>
            <a:r>
              <a:rPr lang="en-US" i="1" dirty="0" smtClean="0"/>
              <a:t>supervised </a:t>
            </a:r>
            <a:r>
              <a:rPr lang="en-US" dirty="0" smtClean="0"/>
              <a:t>learning task</a:t>
            </a:r>
            <a:endParaRPr lang="en-US" dirty="0"/>
          </a:p>
        </p:txBody>
      </p:sp>
      <p:graphicFrame>
        <p:nvGraphicFramePr>
          <p:cNvPr id="4" name="Content Placeholder 3"/>
          <p:cNvGraphicFramePr>
            <a:graphicFrameLocks noGrp="1"/>
          </p:cNvGraphicFramePr>
          <p:nvPr>
            <p:ph idx="1"/>
            <p:extLst/>
          </p:nvPr>
        </p:nvGraphicFramePr>
        <p:xfrm>
          <a:off x="608013" y="1604963"/>
          <a:ext cx="10966450" cy="4567237"/>
        </p:xfrm>
        <a:graphic>
          <a:graphicData uri="http://schemas.openxmlformats.org/drawingml/2006/chart">
            <c:chart xmlns:c="http://schemas.openxmlformats.org/drawingml/2006/chart" xmlns:r="http://schemas.openxmlformats.org/officeDocument/2006/relationships" r:id="rId3"/>
          </a:graphicData>
        </a:graphic>
      </p:graphicFrame>
      <p:cxnSp>
        <p:nvCxnSpPr>
          <p:cNvPr id="5" name="Straight Arrow Connector 4"/>
          <p:cNvCxnSpPr/>
          <p:nvPr/>
        </p:nvCxnSpPr>
        <p:spPr>
          <a:xfrm flipH="1">
            <a:off x="1979612" y="2133600"/>
            <a:ext cx="1143000" cy="76200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3122612" y="1737022"/>
            <a:ext cx="1265796" cy="461665"/>
          </a:xfrm>
          <a:prstGeom prst="rect">
            <a:avLst/>
          </a:prstGeom>
          <a:noFill/>
        </p:spPr>
        <p:txBody>
          <a:bodyPr wrap="none" rtlCol="0">
            <a:spAutoFit/>
          </a:bodyPr>
          <a:lstStyle/>
          <a:p>
            <a:r>
              <a:rPr lang="en-US" sz="2400" dirty="0" smtClean="0">
                <a:solidFill>
                  <a:srgbClr val="FF0000"/>
                </a:solidFill>
              </a:rPr>
              <a:t>Label: y</a:t>
            </a:r>
            <a:endParaRPr lang="en-US" sz="2400" dirty="0">
              <a:solidFill>
                <a:srgbClr val="FF0000"/>
              </a:solidFill>
            </a:endParaRPr>
          </a:p>
        </p:txBody>
      </p:sp>
      <p:cxnSp>
        <p:nvCxnSpPr>
          <p:cNvPr id="8" name="Straight Arrow Connector 7"/>
          <p:cNvCxnSpPr/>
          <p:nvPr/>
        </p:nvCxnSpPr>
        <p:spPr>
          <a:xfrm flipH="1">
            <a:off x="6627812" y="4587578"/>
            <a:ext cx="1143000" cy="76200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7770812" y="4191000"/>
            <a:ext cx="1196866" cy="461665"/>
          </a:xfrm>
          <a:prstGeom prst="rect">
            <a:avLst/>
          </a:prstGeom>
          <a:noFill/>
        </p:spPr>
        <p:txBody>
          <a:bodyPr wrap="none" rtlCol="0">
            <a:spAutoFit/>
          </a:bodyPr>
          <a:lstStyle/>
          <a:p>
            <a:r>
              <a:rPr lang="en-US" sz="2400" dirty="0" smtClean="0">
                <a:solidFill>
                  <a:srgbClr val="FF0000"/>
                </a:solidFill>
              </a:rPr>
              <a:t>Input: </a:t>
            </a:r>
            <a:r>
              <a:rPr lang="en-US" sz="2400" dirty="0">
                <a:solidFill>
                  <a:srgbClr val="FF0000"/>
                </a:solidFill>
              </a:rPr>
              <a:t>x</a:t>
            </a:r>
          </a:p>
        </p:txBody>
      </p:sp>
    </p:spTree>
    <p:extLst>
      <p:ext uri="{BB962C8B-B14F-4D97-AF65-F5344CB8AC3E}">
        <p14:creationId xmlns:p14="http://schemas.microsoft.com/office/powerpoint/2010/main" val="8243691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Linear Regression</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593436" y="1600200"/>
                <a:ext cx="9782801" cy="4038600"/>
              </a:xfrm>
            </p:spPr>
            <p:txBody>
              <a:bodyPr/>
              <a:lstStyle/>
              <a:p>
                <a:r>
                  <a:rPr lang="en-US" dirty="0" smtClean="0"/>
                  <a:t>Best fit line: </a:t>
                </a:r>
                <a14:m>
                  <m:oMath xmlns:m="http://schemas.openxmlformats.org/officeDocument/2006/math">
                    <m:acc>
                      <m:accPr>
                        <m:chr m:val="̂"/>
                        <m:ctrlPr>
                          <a:rPr lang="en-US" i="1" smtClean="0">
                            <a:latin typeface="Cambria Math" panose="02040503050406030204" pitchFamily="18" charset="0"/>
                          </a:rPr>
                        </m:ctrlPr>
                      </m:accPr>
                      <m:e>
                        <m:r>
                          <a:rPr lang="en-US" b="0" i="1" smtClean="0">
                            <a:latin typeface="Cambria Math" charset="0"/>
                          </a:rPr>
                          <m:t>𝑦</m:t>
                        </m:r>
                      </m:e>
                    </m:acc>
                    <m:r>
                      <a:rPr lang="en-US" b="0" i="1" smtClean="0">
                        <a:latin typeface="Cambria Math" charset="0"/>
                      </a:rPr>
                      <m:t>=</m:t>
                    </m:r>
                    <m:r>
                      <a:rPr lang="en-US" b="0" i="1" smtClean="0">
                        <a:latin typeface="Cambria Math" charset="0"/>
                      </a:rPr>
                      <m:t>𝑊𝑥</m:t>
                    </m:r>
                    <m:r>
                      <a:rPr lang="en-US" b="0" i="1" smtClean="0">
                        <a:latin typeface="Cambria Math" charset="0"/>
                      </a:rPr>
                      <m:t>+</m:t>
                    </m:r>
                    <m:r>
                      <a:rPr lang="en-US" b="0" i="1" smtClean="0">
                        <a:latin typeface="Cambria Math" charset="0"/>
                      </a:rPr>
                      <m:t>𝑏</m:t>
                    </m:r>
                  </m:oMath>
                </a14:m>
                <a:endParaRPr lang="en-US" b="0" dirty="0" smtClean="0"/>
              </a:p>
              <a:p>
                <a:pPr marL="457200" indent="-457200">
                  <a:buFont typeface="Arial" charset="0"/>
                  <a:buChar char="•"/>
                </a:pPr>
                <a:r>
                  <a:rPr lang="en-US" dirty="0"/>
                  <a:t>L</a:t>
                </a:r>
                <a:r>
                  <a:rPr lang="en-US" dirty="0" smtClean="0"/>
                  <a:t>ine ‘through the middle’ of a scatter plot</a:t>
                </a:r>
              </a:p>
              <a:p>
                <a:pPr marL="457200" indent="-457200">
                  <a:buFont typeface="Arial" charset="0"/>
                  <a:buChar char="•"/>
                </a:pPr>
                <a:r>
                  <a:rPr lang="en-US" dirty="0" smtClean="0"/>
                  <a:t>How do we define “best fit”?</a:t>
                </a:r>
                <a:endParaRPr lang="en-US" dirty="0"/>
              </a:p>
              <a:p>
                <a:r>
                  <a:rPr lang="en-US" dirty="0" smtClean="0"/>
                  <a:t>Supervised regression task</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593436" y="1600200"/>
                <a:ext cx="9782801" cy="4038600"/>
              </a:xfrm>
              <a:blipFill rotWithShape="0">
                <a:blip r:embed="rId3"/>
                <a:stretch>
                  <a:fillRect l="-1246" t="-2870"/>
                </a:stretch>
              </a:blipFill>
            </p:spPr>
            <p:txBody>
              <a:bodyPr/>
              <a:lstStyle/>
              <a:p>
                <a:r>
                  <a:rPr lang="en-US">
                    <a:noFill/>
                  </a:rPr>
                  <a:t> </a:t>
                </a:r>
              </a:p>
            </p:txBody>
          </p:sp>
        </mc:Fallback>
      </mc:AlternateContent>
      <p:graphicFrame>
        <p:nvGraphicFramePr>
          <p:cNvPr id="4" name="Content Placeholder 3"/>
          <p:cNvGraphicFramePr>
            <a:graphicFrameLocks/>
          </p:cNvGraphicFramePr>
          <p:nvPr>
            <p:extLst>
              <p:ext uri="{D42A27DB-BD31-4B8C-83A1-F6EECF244321}">
                <p14:modId xmlns:p14="http://schemas.microsoft.com/office/powerpoint/2010/main" val="1743830151"/>
              </p:ext>
            </p:extLst>
          </p:nvPr>
        </p:nvGraphicFramePr>
        <p:xfrm>
          <a:off x="3198812" y="3810000"/>
          <a:ext cx="6043613" cy="2824668"/>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69550405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Cost </a:t>
            </a:r>
            <a:r>
              <a:rPr lang="en-US" dirty="0"/>
              <a:t>F</a:t>
            </a:r>
            <a:r>
              <a:rPr lang="en-US" dirty="0" smtClean="0"/>
              <a:t>unction: J</a:t>
            </a:r>
            <a:endParaRPr lang="en-US" dirty="0"/>
          </a:p>
        </p:txBody>
      </p:sp>
      <p:sp>
        <p:nvSpPr>
          <p:cNvPr id="3" name="Content Placeholder 2"/>
          <p:cNvSpPr>
            <a:spLocks noGrp="1"/>
          </p:cNvSpPr>
          <p:nvPr>
            <p:ph idx="1"/>
          </p:nvPr>
        </p:nvSpPr>
        <p:spPr>
          <a:xfrm>
            <a:off x="1593436" y="1600200"/>
            <a:ext cx="9782801" cy="4038600"/>
          </a:xfrm>
        </p:spPr>
        <p:txBody>
          <a:bodyPr>
            <a:normAutofit fontScale="85000" lnSpcReduction="20000"/>
          </a:bodyPr>
          <a:lstStyle/>
          <a:p>
            <a:r>
              <a:rPr lang="en-US" sz="2400" dirty="0" smtClean="0"/>
              <a:t>Idea: </a:t>
            </a:r>
          </a:p>
          <a:p>
            <a:pPr marL="342900" indent="-342900">
              <a:buFont typeface="Arial" charset="0"/>
              <a:buChar char="•"/>
            </a:pPr>
            <a:r>
              <a:rPr lang="en-US" sz="2400" dirty="0"/>
              <a:t>C</a:t>
            </a:r>
            <a:r>
              <a:rPr lang="en-US" sz="2400" dirty="0" smtClean="0"/>
              <a:t>reate a measure model wrongness: a </a:t>
            </a:r>
            <a:r>
              <a:rPr lang="en-US" sz="2400" i="1" dirty="0" smtClean="0"/>
              <a:t>cost function</a:t>
            </a:r>
            <a:r>
              <a:rPr lang="en-US" sz="2400" dirty="0" smtClean="0"/>
              <a:t> or </a:t>
            </a:r>
            <a:r>
              <a:rPr lang="en-US" sz="2400" i="1" dirty="0" smtClean="0"/>
              <a:t>J</a:t>
            </a:r>
            <a:r>
              <a:rPr lang="en-US" sz="2400" dirty="0"/>
              <a:t> </a:t>
            </a:r>
            <a:r>
              <a:rPr lang="en-US" sz="2400" dirty="0" smtClean="0"/>
              <a:t>and use math to minimize how wrong we are</a:t>
            </a:r>
          </a:p>
          <a:p>
            <a:endParaRPr lang="en-US" sz="2400" dirty="0" smtClean="0"/>
          </a:p>
          <a:p>
            <a:r>
              <a:rPr lang="en-US" sz="2400" dirty="0" smtClean="0"/>
              <a:t>Question: how to determine what cost function to use?</a:t>
            </a:r>
          </a:p>
          <a:p>
            <a:pPr marL="342900" indent="-342900">
              <a:buFont typeface="Arial" charset="0"/>
              <a:buChar char="•"/>
            </a:pPr>
            <a:r>
              <a:rPr lang="en-US" sz="2400" dirty="0" smtClean="0"/>
              <a:t>Answer A: </a:t>
            </a:r>
          </a:p>
          <a:p>
            <a:pPr marL="955548" lvl="1" indent="-342900"/>
            <a:r>
              <a:rPr lang="en-US" sz="2000" dirty="0" smtClean="0"/>
              <a:t>Use statistical theory to find an MLE, </a:t>
            </a:r>
          </a:p>
          <a:p>
            <a:pPr marL="955548" lvl="1" indent="-342900"/>
            <a:r>
              <a:rPr lang="en-US" sz="2000" dirty="0" smtClean="0"/>
              <a:t>create measure that empirically works, </a:t>
            </a:r>
          </a:p>
          <a:p>
            <a:pPr marL="955548" lvl="1" indent="-342900"/>
            <a:r>
              <a:rPr lang="en-US" sz="2000" dirty="0" smtClean="0"/>
              <a:t>think hard for a long time</a:t>
            </a:r>
          </a:p>
          <a:p>
            <a:pPr marL="342900" indent="-342900">
              <a:buFont typeface="Arial" charset="0"/>
              <a:buChar char="•"/>
            </a:pPr>
            <a:r>
              <a:rPr lang="en-US" sz="2400" dirty="0" smtClean="0"/>
              <a:t>Answer B: Reuse the work of smart people</a:t>
            </a:r>
            <a:endParaRPr lang="en-US" sz="2400" dirty="0"/>
          </a:p>
        </p:txBody>
      </p:sp>
    </p:spTree>
    <p:extLst>
      <p:ext uri="{BB962C8B-B14F-4D97-AF65-F5344CB8AC3E}">
        <p14:creationId xmlns:p14="http://schemas.microsoft.com/office/powerpoint/2010/main" val="70402237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Cost function for linear regression</a:t>
            </a:r>
            <a:endParaRPr lang="en-US" dirty="0"/>
          </a:p>
        </p:txBody>
      </p:sp>
      <p:sp>
        <p:nvSpPr>
          <p:cNvPr id="3" name="Content Placeholder 2"/>
          <p:cNvSpPr>
            <a:spLocks noGrp="1"/>
          </p:cNvSpPr>
          <p:nvPr>
            <p:ph idx="1"/>
          </p:nvPr>
        </p:nvSpPr>
        <p:spPr>
          <a:xfrm>
            <a:off x="1593436" y="1600200"/>
            <a:ext cx="9782801" cy="609600"/>
          </a:xfrm>
        </p:spPr>
        <p:txBody>
          <a:bodyPr>
            <a:normAutofit/>
          </a:bodyPr>
          <a:lstStyle/>
          <a:p>
            <a:r>
              <a:rPr lang="en-US" sz="2400" dirty="0" smtClean="0"/>
              <a:t>Classical: sum of squared errors, or SSE</a:t>
            </a:r>
            <a:endParaRPr lang="en-US" sz="2400" dirty="0"/>
          </a:p>
        </p:txBody>
      </p:sp>
      <p:sp>
        <p:nvSpPr>
          <p:cNvPr id="4" name="Content Placeholder 2"/>
          <p:cNvSpPr txBox="1">
            <a:spLocks/>
          </p:cNvSpPr>
          <p:nvPr/>
        </p:nvSpPr>
        <p:spPr>
          <a:xfrm>
            <a:off x="1593436" y="3874473"/>
            <a:ext cx="9782801" cy="1219200"/>
          </a:xfrm>
          <a:prstGeom prst="rect">
            <a:avLst/>
          </a:prstGeom>
        </p:spPr>
        <p:txBody>
          <a:bodyPr vert="horz" lIns="91440" tIns="45720" rIns="91440" bIns="45720" rtlCol="0">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r>
              <a:rPr lang="en-US" sz="2400" dirty="0" smtClean="0"/>
              <a:t>A little nicer: mean squared errors: MSE</a:t>
            </a:r>
          </a:p>
          <a:p>
            <a:pPr lvl="1">
              <a:buFont typeface="Arial" charset="0"/>
              <a:buChar char="•"/>
            </a:pPr>
            <a:r>
              <a:rPr lang="en-US" sz="2000" dirty="0" smtClean="0"/>
              <a:t>Simply divide error by the number of examples</a:t>
            </a:r>
          </a:p>
          <a:p>
            <a:pPr lvl="1">
              <a:buFont typeface="Arial" charset="0"/>
              <a:buChar char="•"/>
            </a:pPr>
            <a:r>
              <a:rPr lang="en-US" sz="2000" dirty="0"/>
              <a:t>I</a:t>
            </a:r>
            <a:r>
              <a:rPr lang="en-US" sz="2000" dirty="0" smtClean="0"/>
              <a:t>f # training examples increases, your error doesn’t</a:t>
            </a:r>
            <a:endParaRPr lang="en-US" sz="2000" dirty="0"/>
          </a:p>
        </p:txBody>
      </p:sp>
      <mc:AlternateContent xmlns:mc="http://schemas.openxmlformats.org/markup-compatibility/2006" xmlns:a14="http://schemas.microsoft.com/office/drawing/2010/main">
        <mc:Choice Requires="a14">
          <p:sp>
            <p:nvSpPr>
              <p:cNvPr id="5" name="TextBox 4"/>
              <p:cNvSpPr txBox="1"/>
              <p:nvPr/>
            </p:nvSpPr>
            <p:spPr>
              <a:xfrm>
                <a:off x="6424387" y="2195052"/>
                <a:ext cx="3642985" cy="151227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nor/>
                        </m:rPr>
                        <a:rPr lang="en-US" sz="3600" b="0" i="0" smtClean="0">
                          <a:latin typeface="Cambria Math" charset="0"/>
                        </a:rPr>
                        <m:t>J</m:t>
                      </m:r>
                      <m:r>
                        <a:rPr lang="en-US" sz="3600" b="0" i="1" smtClean="0">
                          <a:latin typeface="Cambria Math" charset="0"/>
                        </a:rPr>
                        <m:t>=</m:t>
                      </m:r>
                      <m:nary>
                        <m:naryPr>
                          <m:chr m:val="∑"/>
                          <m:ctrlPr>
                            <a:rPr lang="is-IS" sz="3600" b="0" i="1" smtClean="0">
                              <a:latin typeface="Cambria Math" panose="02040503050406030204" pitchFamily="18" charset="0"/>
                            </a:rPr>
                          </m:ctrlPr>
                        </m:naryPr>
                        <m:sub>
                          <m:r>
                            <m:rPr>
                              <m:brk m:alnAt="23"/>
                            </m:rPr>
                            <a:rPr lang="en-US" sz="3600" b="0" i="1" smtClean="0">
                              <a:latin typeface="Cambria Math" charset="0"/>
                            </a:rPr>
                            <m:t>𝑖</m:t>
                          </m:r>
                          <m:r>
                            <a:rPr lang="en-US" sz="3600" b="0" i="1" smtClean="0">
                              <a:latin typeface="Cambria Math" charset="0"/>
                            </a:rPr>
                            <m:t>=1</m:t>
                          </m:r>
                        </m:sub>
                        <m:sup>
                          <m:r>
                            <a:rPr lang="en-US" sz="3600" b="0" i="1" smtClean="0">
                              <a:latin typeface="Cambria Math" charset="0"/>
                            </a:rPr>
                            <m:t>𝑛</m:t>
                          </m:r>
                        </m:sup>
                        <m:e>
                          <m:sSup>
                            <m:sSupPr>
                              <m:ctrlPr>
                                <a:rPr lang="en-US" sz="3600" b="0" i="1" smtClean="0">
                                  <a:latin typeface="Cambria Math" panose="02040503050406030204" pitchFamily="18" charset="0"/>
                                </a:rPr>
                              </m:ctrlPr>
                            </m:sSupPr>
                            <m:e>
                              <m:d>
                                <m:dPr>
                                  <m:ctrlPr>
                                    <a:rPr lang="mr-IN" sz="3600" b="0" i="1" smtClean="0">
                                      <a:latin typeface="Cambria Math" panose="02040503050406030204" pitchFamily="18" charset="0"/>
                                    </a:rPr>
                                  </m:ctrlPr>
                                </m:dPr>
                                <m:e>
                                  <m:sSub>
                                    <m:sSubPr>
                                      <m:ctrlPr>
                                        <a:rPr lang="en-US" sz="3600" b="0" i="1" smtClean="0">
                                          <a:latin typeface="Cambria Math" panose="02040503050406030204" pitchFamily="18" charset="0"/>
                                        </a:rPr>
                                      </m:ctrlPr>
                                    </m:sSubPr>
                                    <m:e>
                                      <m:acc>
                                        <m:accPr>
                                          <m:chr m:val="̂"/>
                                          <m:ctrlPr>
                                            <a:rPr lang="mr-IN" sz="3600" b="0" i="1" smtClean="0">
                                              <a:latin typeface="Cambria Math" panose="02040503050406030204" pitchFamily="18" charset="0"/>
                                            </a:rPr>
                                          </m:ctrlPr>
                                        </m:accPr>
                                        <m:e>
                                          <m:r>
                                            <a:rPr lang="en-US" sz="3600" b="0" i="1" smtClean="0">
                                              <a:latin typeface="Cambria Math" charset="0"/>
                                            </a:rPr>
                                            <m:t>𝑦</m:t>
                                          </m:r>
                                        </m:e>
                                      </m:acc>
                                    </m:e>
                                    <m:sub>
                                      <m:r>
                                        <a:rPr lang="en-US" sz="3600" b="0" i="1" smtClean="0">
                                          <a:latin typeface="Cambria Math" charset="0"/>
                                        </a:rPr>
                                        <m:t>𝑖</m:t>
                                      </m:r>
                                    </m:sub>
                                  </m:sSub>
                                  <m:r>
                                    <a:rPr lang="en-US" sz="3600" b="0" i="1" smtClean="0">
                                      <a:latin typeface="Cambria Math" charset="0"/>
                                    </a:rPr>
                                    <m:t>−</m:t>
                                  </m:r>
                                  <m:sSub>
                                    <m:sSubPr>
                                      <m:ctrlPr>
                                        <a:rPr lang="en-US" sz="3600" b="0" i="1" smtClean="0">
                                          <a:latin typeface="Cambria Math" panose="02040503050406030204" pitchFamily="18" charset="0"/>
                                        </a:rPr>
                                      </m:ctrlPr>
                                    </m:sSubPr>
                                    <m:e>
                                      <m:r>
                                        <a:rPr lang="en-US" sz="3600" b="0" i="1" smtClean="0">
                                          <a:latin typeface="Cambria Math" charset="0"/>
                                        </a:rPr>
                                        <m:t>𝑦</m:t>
                                      </m:r>
                                    </m:e>
                                    <m:sub>
                                      <m:r>
                                        <a:rPr lang="en-US" sz="3600" b="0" i="1" smtClean="0">
                                          <a:latin typeface="Cambria Math" charset="0"/>
                                        </a:rPr>
                                        <m:t>𝑖</m:t>
                                      </m:r>
                                    </m:sub>
                                  </m:sSub>
                                </m:e>
                              </m:d>
                            </m:e>
                            <m:sup>
                              <m:r>
                                <a:rPr lang="en-US" sz="3600" b="0" i="1" smtClean="0">
                                  <a:latin typeface="Cambria Math" charset="0"/>
                                </a:rPr>
                                <m:t>2</m:t>
                              </m:r>
                            </m:sup>
                          </m:sSup>
                        </m:e>
                      </m:nary>
                    </m:oMath>
                  </m:oMathPara>
                </a14:m>
                <a:endParaRPr lang="en-US" sz="3600" dirty="0"/>
              </a:p>
            </p:txBody>
          </p:sp>
        </mc:Choice>
        <mc:Fallback xmlns="">
          <p:sp>
            <p:nvSpPr>
              <p:cNvPr id="5" name="TextBox 4"/>
              <p:cNvSpPr txBox="1">
                <a:spLocks noRot="1" noChangeAspect="1" noMove="1" noResize="1" noEditPoints="1" noAdjustHandles="1" noChangeArrowheads="1" noChangeShapeType="1" noTextEdit="1"/>
              </p:cNvSpPr>
              <p:nvPr/>
            </p:nvSpPr>
            <p:spPr>
              <a:xfrm>
                <a:off x="6424387" y="2195052"/>
                <a:ext cx="3642985" cy="1512273"/>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5942012" y="5216576"/>
                <a:ext cx="4125360" cy="151227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nor/>
                        </m:rPr>
                        <a:rPr lang="en-US" sz="3600" b="0" i="0" smtClean="0">
                          <a:latin typeface="Cambria Math" charset="0"/>
                        </a:rPr>
                        <m:t>J</m:t>
                      </m:r>
                      <m:r>
                        <a:rPr lang="en-US" sz="3600" b="0" i="1" smtClean="0">
                          <a:latin typeface="Cambria Math" charset="0"/>
                        </a:rPr>
                        <m:t>=</m:t>
                      </m:r>
                      <m:f>
                        <m:fPr>
                          <m:ctrlPr>
                            <a:rPr lang="mr-IN" sz="3600" b="0" i="1" smtClean="0">
                              <a:latin typeface="Cambria Math" panose="02040503050406030204" pitchFamily="18" charset="0"/>
                            </a:rPr>
                          </m:ctrlPr>
                        </m:fPr>
                        <m:num>
                          <m:r>
                            <a:rPr lang="en-US" sz="3600" b="0" i="1" smtClean="0">
                              <a:latin typeface="Cambria Math" charset="0"/>
                            </a:rPr>
                            <m:t>1</m:t>
                          </m:r>
                        </m:num>
                        <m:den>
                          <m:r>
                            <a:rPr lang="en-US" sz="3600" b="0" i="1" smtClean="0">
                              <a:latin typeface="Cambria Math" charset="0"/>
                            </a:rPr>
                            <m:t>2</m:t>
                          </m:r>
                          <m:r>
                            <a:rPr lang="en-US" sz="3600" b="0" i="1" smtClean="0">
                              <a:latin typeface="Cambria Math" charset="0"/>
                            </a:rPr>
                            <m:t>𝑛</m:t>
                          </m:r>
                        </m:den>
                      </m:f>
                      <m:nary>
                        <m:naryPr>
                          <m:chr m:val="∑"/>
                          <m:ctrlPr>
                            <a:rPr lang="is-IS" sz="3600" b="0" i="1" smtClean="0">
                              <a:latin typeface="Cambria Math" panose="02040503050406030204" pitchFamily="18" charset="0"/>
                            </a:rPr>
                          </m:ctrlPr>
                        </m:naryPr>
                        <m:sub>
                          <m:r>
                            <m:rPr>
                              <m:brk m:alnAt="23"/>
                            </m:rPr>
                            <a:rPr lang="en-US" sz="3600" b="0" i="1" smtClean="0">
                              <a:latin typeface="Cambria Math" charset="0"/>
                            </a:rPr>
                            <m:t>𝑖</m:t>
                          </m:r>
                          <m:r>
                            <a:rPr lang="en-US" sz="3600" b="0" i="1" smtClean="0">
                              <a:latin typeface="Cambria Math" charset="0"/>
                            </a:rPr>
                            <m:t>=1</m:t>
                          </m:r>
                        </m:sub>
                        <m:sup>
                          <m:r>
                            <a:rPr lang="en-US" sz="3600" b="0" i="1" smtClean="0">
                              <a:latin typeface="Cambria Math" charset="0"/>
                            </a:rPr>
                            <m:t>𝑛</m:t>
                          </m:r>
                        </m:sup>
                        <m:e>
                          <m:sSup>
                            <m:sSupPr>
                              <m:ctrlPr>
                                <a:rPr lang="en-US" sz="3600" b="0" i="1" smtClean="0">
                                  <a:latin typeface="Cambria Math" panose="02040503050406030204" pitchFamily="18" charset="0"/>
                                </a:rPr>
                              </m:ctrlPr>
                            </m:sSupPr>
                            <m:e>
                              <m:d>
                                <m:dPr>
                                  <m:ctrlPr>
                                    <a:rPr lang="mr-IN" sz="3600" b="0" i="1" smtClean="0">
                                      <a:latin typeface="Cambria Math" panose="02040503050406030204" pitchFamily="18" charset="0"/>
                                    </a:rPr>
                                  </m:ctrlPr>
                                </m:dPr>
                                <m:e>
                                  <m:sSub>
                                    <m:sSubPr>
                                      <m:ctrlPr>
                                        <a:rPr lang="en-US" sz="3600" b="0" i="1" smtClean="0">
                                          <a:latin typeface="Cambria Math" panose="02040503050406030204" pitchFamily="18" charset="0"/>
                                        </a:rPr>
                                      </m:ctrlPr>
                                    </m:sSubPr>
                                    <m:e>
                                      <m:acc>
                                        <m:accPr>
                                          <m:chr m:val="̂"/>
                                          <m:ctrlPr>
                                            <a:rPr lang="mr-IN" sz="3600" b="0" i="1" smtClean="0">
                                              <a:latin typeface="Cambria Math" panose="02040503050406030204" pitchFamily="18" charset="0"/>
                                            </a:rPr>
                                          </m:ctrlPr>
                                        </m:accPr>
                                        <m:e>
                                          <m:r>
                                            <a:rPr lang="en-US" sz="3600" b="0" i="1" smtClean="0">
                                              <a:latin typeface="Cambria Math" charset="0"/>
                                            </a:rPr>
                                            <m:t>𝑦</m:t>
                                          </m:r>
                                        </m:e>
                                      </m:acc>
                                    </m:e>
                                    <m:sub>
                                      <m:r>
                                        <a:rPr lang="en-US" sz="3600" b="0" i="1" smtClean="0">
                                          <a:latin typeface="Cambria Math" charset="0"/>
                                        </a:rPr>
                                        <m:t>𝑖</m:t>
                                      </m:r>
                                    </m:sub>
                                  </m:sSub>
                                  <m:r>
                                    <a:rPr lang="en-US" sz="3600" b="0" i="1" smtClean="0">
                                      <a:latin typeface="Cambria Math" charset="0"/>
                                    </a:rPr>
                                    <m:t>−</m:t>
                                  </m:r>
                                  <m:sSub>
                                    <m:sSubPr>
                                      <m:ctrlPr>
                                        <a:rPr lang="en-US" sz="3600" b="0" i="1" smtClean="0">
                                          <a:latin typeface="Cambria Math" panose="02040503050406030204" pitchFamily="18" charset="0"/>
                                        </a:rPr>
                                      </m:ctrlPr>
                                    </m:sSubPr>
                                    <m:e>
                                      <m:r>
                                        <a:rPr lang="en-US" sz="3600" b="0" i="1" smtClean="0">
                                          <a:latin typeface="Cambria Math" charset="0"/>
                                        </a:rPr>
                                        <m:t>𝑦</m:t>
                                      </m:r>
                                    </m:e>
                                    <m:sub>
                                      <m:r>
                                        <a:rPr lang="en-US" sz="3600" b="0" i="1" smtClean="0">
                                          <a:latin typeface="Cambria Math" charset="0"/>
                                        </a:rPr>
                                        <m:t>𝑖</m:t>
                                      </m:r>
                                    </m:sub>
                                  </m:sSub>
                                </m:e>
                              </m:d>
                            </m:e>
                            <m:sup>
                              <m:r>
                                <a:rPr lang="en-US" sz="3600" b="0" i="1" smtClean="0">
                                  <a:latin typeface="Cambria Math" charset="0"/>
                                </a:rPr>
                                <m:t>2</m:t>
                              </m:r>
                            </m:sup>
                          </m:sSup>
                        </m:e>
                      </m:nary>
                    </m:oMath>
                  </m:oMathPara>
                </a14:m>
                <a:endParaRPr lang="en-US" sz="3600" dirty="0"/>
              </a:p>
            </p:txBody>
          </p:sp>
        </mc:Choice>
        <mc:Fallback xmlns="">
          <p:sp>
            <p:nvSpPr>
              <p:cNvPr id="6" name="TextBox 5"/>
              <p:cNvSpPr txBox="1">
                <a:spLocks noRot="1" noChangeAspect="1" noMove="1" noResize="1" noEditPoints="1" noAdjustHandles="1" noChangeArrowheads="1" noChangeShapeType="1" noTextEdit="1"/>
              </p:cNvSpPr>
              <p:nvPr/>
            </p:nvSpPr>
            <p:spPr>
              <a:xfrm>
                <a:off x="5942012" y="5216576"/>
                <a:ext cx="4125360" cy="1512273"/>
              </a:xfrm>
              <a:prstGeom prst="rect">
                <a:avLst/>
              </a:prstGeom>
              <a:blipFill rotWithShape="0">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2817812" y="2590800"/>
                <a:ext cx="3004477" cy="55399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600" b="0" i="1" smtClean="0">
                              <a:latin typeface="Cambria Math" panose="02040503050406030204" pitchFamily="18" charset="0"/>
                            </a:rPr>
                          </m:ctrlPr>
                        </m:sSubPr>
                        <m:e>
                          <m:acc>
                            <m:accPr>
                              <m:chr m:val="̂"/>
                              <m:ctrlPr>
                                <a:rPr lang="en-US" sz="3600" i="1" smtClean="0">
                                  <a:latin typeface="Cambria Math" panose="02040503050406030204" pitchFamily="18" charset="0"/>
                                </a:rPr>
                              </m:ctrlPr>
                            </m:accPr>
                            <m:e>
                              <m:r>
                                <a:rPr lang="en-US" sz="3600" b="0" i="1" smtClean="0">
                                  <a:latin typeface="Cambria Math" charset="0"/>
                                </a:rPr>
                                <m:t>𝑦</m:t>
                              </m:r>
                            </m:e>
                          </m:acc>
                        </m:e>
                        <m:sub>
                          <m:r>
                            <a:rPr lang="en-US" sz="3600" b="0" i="1" smtClean="0">
                              <a:latin typeface="Cambria Math" charset="0"/>
                            </a:rPr>
                            <m:t>𝑖</m:t>
                          </m:r>
                        </m:sub>
                      </m:sSub>
                      <m:r>
                        <a:rPr lang="en-US" sz="3600" b="0" i="1" smtClean="0">
                          <a:latin typeface="Cambria Math" charset="0"/>
                        </a:rPr>
                        <m:t>=</m:t>
                      </m:r>
                      <m:r>
                        <a:rPr lang="en-US" sz="3600" b="0" i="1" smtClean="0">
                          <a:latin typeface="Cambria Math" charset="0"/>
                        </a:rPr>
                        <m:t>𝑊</m:t>
                      </m:r>
                      <m:sSub>
                        <m:sSubPr>
                          <m:ctrlPr>
                            <a:rPr lang="en-US" sz="3600" b="0" i="1" smtClean="0">
                              <a:latin typeface="Cambria Math" panose="02040503050406030204" pitchFamily="18" charset="0"/>
                            </a:rPr>
                          </m:ctrlPr>
                        </m:sSubPr>
                        <m:e>
                          <m:r>
                            <a:rPr lang="en-US" sz="3600" b="0" i="1" smtClean="0">
                              <a:latin typeface="Cambria Math" charset="0"/>
                            </a:rPr>
                            <m:t>𝑥</m:t>
                          </m:r>
                        </m:e>
                        <m:sub>
                          <m:r>
                            <a:rPr lang="en-US" sz="3600" b="0" i="1" smtClean="0">
                              <a:latin typeface="Cambria Math" charset="0"/>
                            </a:rPr>
                            <m:t>𝑖</m:t>
                          </m:r>
                        </m:sub>
                      </m:sSub>
                      <m:r>
                        <a:rPr lang="en-US" sz="3600" b="0" i="1" smtClean="0">
                          <a:latin typeface="Cambria Math" charset="0"/>
                        </a:rPr>
                        <m:t>+</m:t>
                      </m:r>
                      <m:r>
                        <a:rPr lang="en-US" sz="3600" b="0" i="1" smtClean="0">
                          <a:latin typeface="Cambria Math" charset="0"/>
                        </a:rPr>
                        <m:t>𝑏</m:t>
                      </m:r>
                      <m:r>
                        <a:rPr lang="en-US" sz="3600" b="0" i="1" smtClean="0">
                          <a:latin typeface="Cambria Math" charset="0"/>
                        </a:rPr>
                        <m:t>;</m:t>
                      </m:r>
                    </m:oMath>
                  </m:oMathPara>
                </a14:m>
                <a:endParaRPr lang="en-US" sz="3600" dirty="0"/>
              </a:p>
            </p:txBody>
          </p:sp>
        </mc:Choice>
        <mc:Fallback xmlns="">
          <p:sp>
            <p:nvSpPr>
              <p:cNvPr id="7" name="TextBox 6"/>
              <p:cNvSpPr txBox="1">
                <a:spLocks noRot="1" noChangeAspect="1" noMove="1" noResize="1" noEditPoints="1" noAdjustHandles="1" noChangeArrowheads="1" noChangeShapeType="1" noTextEdit="1"/>
              </p:cNvSpPr>
              <p:nvPr/>
            </p:nvSpPr>
            <p:spPr>
              <a:xfrm>
                <a:off x="2817812" y="2590800"/>
                <a:ext cx="3004477" cy="553998"/>
              </a:xfrm>
              <a:prstGeom prst="rect">
                <a:avLst/>
              </a:prstGeom>
              <a:blipFill rotWithShape="0">
                <a:blip r:embed="rId5"/>
                <a:stretch>
                  <a:fillRect/>
                </a:stretch>
              </a:blipFill>
            </p:spPr>
            <p:txBody>
              <a:bodyPr/>
              <a:lstStyle/>
              <a:p>
                <a:r>
                  <a:rPr lang="en-US">
                    <a:noFill/>
                  </a:rPr>
                  <a:t> </a:t>
                </a:r>
              </a:p>
            </p:txBody>
          </p:sp>
        </mc:Fallback>
      </mc:AlternateContent>
      <p:cxnSp>
        <p:nvCxnSpPr>
          <p:cNvPr id="9" name="Straight Arrow Connector 8"/>
          <p:cNvCxnSpPr/>
          <p:nvPr/>
        </p:nvCxnSpPr>
        <p:spPr>
          <a:xfrm>
            <a:off x="5637212" y="6172200"/>
            <a:ext cx="1021624" cy="15240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3561516" y="5582404"/>
            <a:ext cx="2075696" cy="646331"/>
          </a:xfrm>
          <a:prstGeom prst="rect">
            <a:avLst/>
          </a:prstGeom>
          <a:noFill/>
        </p:spPr>
        <p:txBody>
          <a:bodyPr wrap="none" rtlCol="0">
            <a:spAutoFit/>
          </a:bodyPr>
          <a:lstStyle/>
          <a:p>
            <a:pPr algn="r"/>
            <a:r>
              <a:rPr lang="en-US" dirty="0" smtClean="0">
                <a:solidFill>
                  <a:srgbClr val="FF0000"/>
                </a:solidFill>
              </a:rPr>
              <a:t>2 is here to make </a:t>
            </a:r>
          </a:p>
          <a:p>
            <a:pPr algn="r"/>
            <a:r>
              <a:rPr lang="en-US" dirty="0" smtClean="0">
                <a:solidFill>
                  <a:srgbClr val="FF0000"/>
                </a:solidFill>
              </a:rPr>
              <a:t>math nicer soon</a:t>
            </a:r>
            <a:endParaRPr lang="en-US" dirty="0">
              <a:solidFill>
                <a:srgbClr val="FF0000"/>
              </a:solidFill>
            </a:endParaRPr>
          </a:p>
        </p:txBody>
      </p:sp>
      <p:cxnSp>
        <p:nvCxnSpPr>
          <p:cNvPr id="18" name="Straight Arrow Connector 17"/>
          <p:cNvCxnSpPr/>
          <p:nvPr/>
        </p:nvCxnSpPr>
        <p:spPr>
          <a:xfrm flipH="1">
            <a:off x="7847012" y="1981200"/>
            <a:ext cx="533400" cy="30480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8380412" y="1441795"/>
            <a:ext cx="2033377" cy="646331"/>
          </a:xfrm>
          <a:prstGeom prst="rect">
            <a:avLst/>
          </a:prstGeom>
          <a:noFill/>
        </p:spPr>
        <p:txBody>
          <a:bodyPr wrap="none" rtlCol="0">
            <a:spAutoFit/>
          </a:bodyPr>
          <a:lstStyle/>
          <a:p>
            <a:r>
              <a:rPr lang="en-US" dirty="0" smtClean="0">
                <a:solidFill>
                  <a:srgbClr val="FF0000"/>
                </a:solidFill>
              </a:rPr>
              <a:t>Sum over all n</a:t>
            </a:r>
          </a:p>
          <a:p>
            <a:r>
              <a:rPr lang="en-US" dirty="0">
                <a:solidFill>
                  <a:srgbClr val="FF0000"/>
                </a:solidFill>
              </a:rPr>
              <a:t>t</a:t>
            </a:r>
            <a:r>
              <a:rPr lang="en-US" dirty="0" smtClean="0">
                <a:solidFill>
                  <a:srgbClr val="FF0000"/>
                </a:solidFill>
              </a:rPr>
              <a:t>raining examples</a:t>
            </a:r>
            <a:endParaRPr lang="en-US" dirty="0">
              <a:solidFill>
                <a:srgbClr val="FF0000"/>
              </a:solidFill>
            </a:endParaRPr>
          </a:p>
        </p:txBody>
      </p:sp>
    </p:spTree>
    <p:extLst>
      <p:ext uri="{BB962C8B-B14F-4D97-AF65-F5344CB8AC3E}">
        <p14:creationId xmlns:p14="http://schemas.microsoft.com/office/powerpoint/2010/main" val="131727732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0" end="0"/>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
                                            <p:txEl>
                                              <p:pRg st="1" end="1"/>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build="p"/>
      <p:bldP spid="5" grpId="0"/>
      <p:bldP spid="6" grpId="0"/>
      <p:bldP spid="7" grpId="0"/>
      <p:bldP spid="16" grpId="0"/>
      <p:bldP spid="19"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How to minimize loss?</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593436" y="1600200"/>
                <a:ext cx="9782801" cy="1600200"/>
              </a:xfrm>
            </p:spPr>
            <p:txBody>
              <a:bodyPr>
                <a:normAutofit/>
              </a:bodyPr>
              <a:lstStyle/>
              <a:p>
                <a:r>
                  <a:rPr lang="en-US" sz="2400" dirty="0" smtClean="0"/>
                  <a:t>Use calculus!</a:t>
                </a:r>
              </a:p>
              <a:p>
                <a:r>
                  <a:rPr lang="en-US" sz="2400" dirty="0" smtClean="0"/>
                  <a:t>Take derivative, find values for </a:t>
                </a:r>
                <a14:m>
                  <m:oMath xmlns:m="http://schemas.openxmlformats.org/officeDocument/2006/math">
                    <m:r>
                      <a:rPr lang="en-US" sz="2400" i="1">
                        <a:latin typeface="Cambria Math" charset="0"/>
                      </a:rPr>
                      <m:t>𝑊</m:t>
                    </m:r>
                    <m:r>
                      <a:rPr lang="en-US" sz="2400" b="0" i="1" smtClean="0">
                        <a:latin typeface="Cambria Math" charset="0"/>
                      </a:rPr>
                      <m:t>,</m:t>
                    </m:r>
                    <m:r>
                      <a:rPr lang="en-US" sz="2400" b="0" i="1" smtClean="0">
                        <a:latin typeface="Cambria Math" charset="0"/>
                      </a:rPr>
                      <m:t>𝑏</m:t>
                    </m:r>
                  </m:oMath>
                </a14:m>
                <a:r>
                  <a:rPr lang="en-US" sz="2400" dirty="0" smtClean="0"/>
                  <a:t> that make it equal zero!</a:t>
                </a:r>
                <a:endParaRPr lang="en-US" sz="24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593436" y="1600200"/>
                <a:ext cx="9782801" cy="1600200"/>
              </a:xfrm>
              <a:blipFill rotWithShape="0">
                <a:blip r:embed="rId3"/>
                <a:stretch>
                  <a:fillRect l="-1121" t="-801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2055812" y="2743200"/>
                <a:ext cx="9524274" cy="151227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nor/>
                        </m:rPr>
                        <a:rPr lang="en-US" sz="3600" b="0" i="0" smtClean="0">
                          <a:latin typeface="Cambria Math" charset="0"/>
                        </a:rPr>
                        <m:t>J</m:t>
                      </m:r>
                      <m:r>
                        <a:rPr lang="en-US" sz="3600" b="0" i="1" smtClean="0">
                          <a:latin typeface="Cambria Math" charset="0"/>
                        </a:rPr>
                        <m:t>=</m:t>
                      </m:r>
                      <m:f>
                        <m:fPr>
                          <m:ctrlPr>
                            <a:rPr lang="mr-IN" sz="3600" b="0" i="1" smtClean="0">
                              <a:latin typeface="Cambria Math" panose="02040503050406030204" pitchFamily="18" charset="0"/>
                            </a:rPr>
                          </m:ctrlPr>
                        </m:fPr>
                        <m:num>
                          <m:r>
                            <a:rPr lang="en-US" sz="3600" b="0" i="1" smtClean="0">
                              <a:latin typeface="Cambria Math" charset="0"/>
                            </a:rPr>
                            <m:t>1</m:t>
                          </m:r>
                        </m:num>
                        <m:den>
                          <m:r>
                            <a:rPr lang="en-US" sz="3600" b="0" i="1" smtClean="0">
                              <a:latin typeface="Cambria Math" charset="0"/>
                            </a:rPr>
                            <m:t>2</m:t>
                          </m:r>
                          <m:r>
                            <a:rPr lang="en-US" sz="3600" b="0" i="1" smtClean="0">
                              <a:latin typeface="Cambria Math" charset="0"/>
                            </a:rPr>
                            <m:t>𝑛</m:t>
                          </m:r>
                        </m:den>
                      </m:f>
                      <m:nary>
                        <m:naryPr>
                          <m:chr m:val="∑"/>
                          <m:ctrlPr>
                            <a:rPr lang="is-IS" sz="3600" b="0" i="1" smtClean="0">
                              <a:latin typeface="Cambria Math" panose="02040503050406030204" pitchFamily="18" charset="0"/>
                            </a:rPr>
                          </m:ctrlPr>
                        </m:naryPr>
                        <m:sub>
                          <m:r>
                            <m:rPr>
                              <m:brk m:alnAt="23"/>
                            </m:rPr>
                            <a:rPr lang="en-US" sz="3600" b="0" i="1" smtClean="0">
                              <a:latin typeface="Cambria Math" charset="0"/>
                            </a:rPr>
                            <m:t>𝑖</m:t>
                          </m:r>
                          <m:r>
                            <a:rPr lang="en-US" sz="3600" b="0" i="1" smtClean="0">
                              <a:latin typeface="Cambria Math" charset="0"/>
                            </a:rPr>
                            <m:t>=1</m:t>
                          </m:r>
                        </m:sub>
                        <m:sup>
                          <m:r>
                            <a:rPr lang="en-US" sz="3600" b="0" i="1" smtClean="0">
                              <a:latin typeface="Cambria Math" charset="0"/>
                            </a:rPr>
                            <m:t>𝑛</m:t>
                          </m:r>
                        </m:sup>
                        <m:e>
                          <m:sSup>
                            <m:sSupPr>
                              <m:ctrlPr>
                                <a:rPr lang="en-US" sz="3600" b="0" i="1" smtClean="0">
                                  <a:latin typeface="Cambria Math" panose="02040503050406030204" pitchFamily="18" charset="0"/>
                                </a:rPr>
                              </m:ctrlPr>
                            </m:sSupPr>
                            <m:e>
                              <m:d>
                                <m:dPr>
                                  <m:ctrlPr>
                                    <a:rPr lang="mr-IN" sz="3600" b="0" i="1" smtClean="0">
                                      <a:latin typeface="Cambria Math" panose="02040503050406030204" pitchFamily="18" charset="0"/>
                                    </a:rPr>
                                  </m:ctrlPr>
                                </m:dPr>
                                <m:e>
                                  <m:sSub>
                                    <m:sSubPr>
                                      <m:ctrlPr>
                                        <a:rPr lang="en-US" sz="3600" b="0" i="1" smtClean="0">
                                          <a:latin typeface="Cambria Math" panose="02040503050406030204" pitchFamily="18" charset="0"/>
                                        </a:rPr>
                                      </m:ctrlPr>
                                    </m:sSubPr>
                                    <m:e>
                                      <m:acc>
                                        <m:accPr>
                                          <m:chr m:val="̂"/>
                                          <m:ctrlPr>
                                            <a:rPr lang="mr-IN" sz="3600" b="0" i="1" smtClean="0">
                                              <a:latin typeface="Cambria Math" panose="02040503050406030204" pitchFamily="18" charset="0"/>
                                            </a:rPr>
                                          </m:ctrlPr>
                                        </m:accPr>
                                        <m:e>
                                          <m:r>
                                            <a:rPr lang="en-US" sz="3600" b="0" i="1" smtClean="0">
                                              <a:latin typeface="Cambria Math" charset="0"/>
                                            </a:rPr>
                                            <m:t>𝑦</m:t>
                                          </m:r>
                                        </m:e>
                                      </m:acc>
                                    </m:e>
                                    <m:sub>
                                      <m:r>
                                        <a:rPr lang="en-US" sz="3600" b="0" i="1" smtClean="0">
                                          <a:latin typeface="Cambria Math" charset="0"/>
                                        </a:rPr>
                                        <m:t>𝑖</m:t>
                                      </m:r>
                                    </m:sub>
                                  </m:sSub>
                                  <m:r>
                                    <a:rPr lang="en-US" sz="3600" b="0" i="1" smtClean="0">
                                      <a:latin typeface="Cambria Math" charset="0"/>
                                    </a:rPr>
                                    <m:t>−</m:t>
                                  </m:r>
                                  <m:sSub>
                                    <m:sSubPr>
                                      <m:ctrlPr>
                                        <a:rPr lang="en-US" sz="3600" b="0" i="1" smtClean="0">
                                          <a:latin typeface="Cambria Math" panose="02040503050406030204" pitchFamily="18" charset="0"/>
                                        </a:rPr>
                                      </m:ctrlPr>
                                    </m:sSubPr>
                                    <m:e>
                                      <m:r>
                                        <a:rPr lang="en-US" sz="3600" b="0" i="1" smtClean="0">
                                          <a:latin typeface="Cambria Math" charset="0"/>
                                        </a:rPr>
                                        <m:t>𝑦</m:t>
                                      </m:r>
                                    </m:e>
                                    <m:sub>
                                      <m:r>
                                        <a:rPr lang="en-US" sz="3600" b="0" i="1" smtClean="0">
                                          <a:latin typeface="Cambria Math" charset="0"/>
                                        </a:rPr>
                                        <m:t>𝑖</m:t>
                                      </m:r>
                                    </m:sub>
                                  </m:sSub>
                                </m:e>
                              </m:d>
                            </m:e>
                            <m:sup>
                              <m:r>
                                <a:rPr lang="en-US" sz="3600" b="0" i="1" smtClean="0">
                                  <a:latin typeface="Cambria Math" charset="0"/>
                                </a:rPr>
                                <m:t>2</m:t>
                              </m:r>
                            </m:sup>
                          </m:sSup>
                        </m:e>
                      </m:nary>
                      <m:r>
                        <a:rPr lang="en-US" sz="3600" b="0" i="1" smtClean="0">
                          <a:latin typeface="Cambria Math" charset="0"/>
                        </a:rPr>
                        <m:t>=</m:t>
                      </m:r>
                      <m:f>
                        <m:fPr>
                          <m:ctrlPr>
                            <a:rPr lang="mr-IN" sz="3600" i="1">
                              <a:latin typeface="Cambria Math" panose="02040503050406030204" pitchFamily="18" charset="0"/>
                            </a:rPr>
                          </m:ctrlPr>
                        </m:fPr>
                        <m:num>
                          <m:r>
                            <a:rPr lang="en-US" sz="3600" i="1">
                              <a:latin typeface="Cambria Math" charset="0"/>
                            </a:rPr>
                            <m:t>1</m:t>
                          </m:r>
                        </m:num>
                        <m:den>
                          <m:r>
                            <a:rPr lang="en-US" sz="3600" i="1">
                              <a:latin typeface="Cambria Math" charset="0"/>
                            </a:rPr>
                            <m:t>2</m:t>
                          </m:r>
                          <m:r>
                            <a:rPr lang="en-US" sz="3600" i="1">
                              <a:latin typeface="Cambria Math" charset="0"/>
                            </a:rPr>
                            <m:t>𝑛</m:t>
                          </m:r>
                        </m:den>
                      </m:f>
                      <m:nary>
                        <m:naryPr>
                          <m:chr m:val="∑"/>
                          <m:ctrlPr>
                            <a:rPr lang="is-IS" sz="3600" i="1">
                              <a:latin typeface="Cambria Math" panose="02040503050406030204" pitchFamily="18" charset="0"/>
                            </a:rPr>
                          </m:ctrlPr>
                        </m:naryPr>
                        <m:sub>
                          <m:r>
                            <m:rPr>
                              <m:brk m:alnAt="23"/>
                            </m:rPr>
                            <a:rPr lang="en-US" sz="3600" i="1">
                              <a:latin typeface="Cambria Math" charset="0"/>
                            </a:rPr>
                            <m:t>𝑖</m:t>
                          </m:r>
                          <m:r>
                            <a:rPr lang="en-US" sz="3600" i="1">
                              <a:latin typeface="Cambria Math" charset="0"/>
                            </a:rPr>
                            <m:t>=1</m:t>
                          </m:r>
                        </m:sub>
                        <m:sup>
                          <m:r>
                            <a:rPr lang="en-US" sz="3600" i="1">
                              <a:latin typeface="Cambria Math" charset="0"/>
                            </a:rPr>
                            <m:t>𝑛</m:t>
                          </m:r>
                        </m:sup>
                        <m:e>
                          <m:sSup>
                            <m:sSupPr>
                              <m:ctrlPr>
                                <a:rPr lang="en-US" sz="3600" i="1">
                                  <a:latin typeface="Cambria Math" panose="02040503050406030204" pitchFamily="18" charset="0"/>
                                </a:rPr>
                              </m:ctrlPr>
                            </m:sSupPr>
                            <m:e>
                              <m:d>
                                <m:dPr>
                                  <m:ctrlPr>
                                    <a:rPr lang="mr-IN" sz="3600" i="1">
                                      <a:latin typeface="Cambria Math" panose="02040503050406030204" pitchFamily="18" charset="0"/>
                                    </a:rPr>
                                  </m:ctrlPr>
                                </m:dPr>
                                <m:e>
                                  <m:r>
                                    <a:rPr lang="en-US" sz="3600" b="0" i="1" smtClean="0">
                                      <a:latin typeface="Cambria Math" charset="0"/>
                                    </a:rPr>
                                    <m:t>(</m:t>
                                  </m:r>
                                  <m:r>
                                    <a:rPr lang="en-US" sz="3600" b="0" i="1" smtClean="0">
                                      <a:latin typeface="Cambria Math" charset="0"/>
                                    </a:rPr>
                                    <m:t>𝑊</m:t>
                                  </m:r>
                                  <m:sSub>
                                    <m:sSubPr>
                                      <m:ctrlPr>
                                        <a:rPr lang="en-US" sz="3600" i="1">
                                          <a:latin typeface="Cambria Math" panose="02040503050406030204" pitchFamily="18" charset="0"/>
                                        </a:rPr>
                                      </m:ctrlPr>
                                    </m:sSubPr>
                                    <m:e>
                                      <m:r>
                                        <a:rPr lang="en-US" sz="3600" b="0" i="1" smtClean="0">
                                          <a:latin typeface="Cambria Math" charset="0"/>
                                        </a:rPr>
                                        <m:t>𝑥</m:t>
                                      </m:r>
                                    </m:e>
                                    <m:sub>
                                      <m:r>
                                        <a:rPr lang="en-US" sz="3600" i="1">
                                          <a:latin typeface="Cambria Math" charset="0"/>
                                        </a:rPr>
                                        <m:t>𝑖</m:t>
                                      </m:r>
                                    </m:sub>
                                  </m:sSub>
                                  <m:r>
                                    <a:rPr lang="en-US" sz="3600" b="0" i="1" smtClean="0">
                                      <a:latin typeface="Cambria Math" charset="0"/>
                                    </a:rPr>
                                    <m:t>+</m:t>
                                  </m:r>
                                  <m:r>
                                    <a:rPr lang="en-US" sz="3600" b="0" i="1" smtClean="0">
                                      <a:latin typeface="Cambria Math" charset="0"/>
                                    </a:rPr>
                                    <m:t>𝑏</m:t>
                                  </m:r>
                                  <m:r>
                                    <a:rPr lang="en-US" sz="3600" b="0" i="1" smtClean="0">
                                      <a:latin typeface="Cambria Math" charset="0"/>
                                    </a:rPr>
                                    <m:t>)−</m:t>
                                  </m:r>
                                  <m:sSub>
                                    <m:sSubPr>
                                      <m:ctrlPr>
                                        <a:rPr lang="en-US" sz="3600" i="1">
                                          <a:latin typeface="Cambria Math" panose="02040503050406030204" pitchFamily="18" charset="0"/>
                                        </a:rPr>
                                      </m:ctrlPr>
                                    </m:sSubPr>
                                    <m:e>
                                      <m:r>
                                        <a:rPr lang="en-US" sz="3600" i="1">
                                          <a:latin typeface="Cambria Math" charset="0"/>
                                        </a:rPr>
                                        <m:t>𝑦</m:t>
                                      </m:r>
                                    </m:e>
                                    <m:sub>
                                      <m:r>
                                        <a:rPr lang="en-US" sz="3600" i="1">
                                          <a:latin typeface="Cambria Math" charset="0"/>
                                        </a:rPr>
                                        <m:t>𝑖</m:t>
                                      </m:r>
                                    </m:sub>
                                  </m:sSub>
                                </m:e>
                              </m:d>
                            </m:e>
                            <m:sup>
                              <m:r>
                                <a:rPr lang="en-US" sz="3600" i="1">
                                  <a:latin typeface="Cambria Math" charset="0"/>
                                </a:rPr>
                                <m:t>2</m:t>
                              </m:r>
                            </m:sup>
                          </m:sSup>
                        </m:e>
                      </m:nary>
                    </m:oMath>
                  </m:oMathPara>
                </a14:m>
                <a:endParaRPr lang="en-US" sz="3600" dirty="0"/>
              </a:p>
            </p:txBody>
          </p:sp>
        </mc:Choice>
        <mc:Fallback xmlns="">
          <p:sp>
            <p:nvSpPr>
              <p:cNvPr id="6" name="TextBox 5"/>
              <p:cNvSpPr txBox="1">
                <a:spLocks noRot="1" noChangeAspect="1" noMove="1" noResize="1" noEditPoints="1" noAdjustHandles="1" noChangeArrowheads="1" noChangeShapeType="1" noTextEdit="1"/>
              </p:cNvSpPr>
              <p:nvPr/>
            </p:nvSpPr>
            <p:spPr>
              <a:xfrm>
                <a:off x="2055812" y="2743200"/>
                <a:ext cx="9524274" cy="1512273"/>
              </a:xfrm>
              <a:prstGeom prst="rect">
                <a:avLst/>
              </a:prstGeom>
              <a:blipFill rotWithShape="0">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1618887" y="4876800"/>
                <a:ext cx="4173707" cy="134434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mr-IN" sz="3200" i="1" smtClean="0">
                              <a:latin typeface="Cambria Math" panose="02040503050406030204" pitchFamily="18" charset="0"/>
                            </a:rPr>
                          </m:ctrlPr>
                        </m:fPr>
                        <m:num>
                          <m:r>
                            <a:rPr lang="mr-IN" sz="3200" i="1">
                              <a:latin typeface="Cambria Math" charset="0"/>
                            </a:rPr>
                            <m:t>𝜕</m:t>
                          </m:r>
                          <m:r>
                            <a:rPr lang="en-US" sz="3200" i="1">
                              <a:latin typeface="Cambria Math" charset="0"/>
                            </a:rPr>
                            <m:t>𝐽</m:t>
                          </m:r>
                        </m:num>
                        <m:den>
                          <m:r>
                            <a:rPr lang="mr-IN" sz="3200" i="1">
                              <a:latin typeface="Cambria Math" charset="0"/>
                            </a:rPr>
                            <m:t>𝜕</m:t>
                          </m:r>
                          <m:r>
                            <a:rPr lang="en-US" sz="3200" i="1">
                              <a:latin typeface="Cambria Math" charset="0"/>
                            </a:rPr>
                            <m:t>𝑊</m:t>
                          </m:r>
                        </m:den>
                      </m:f>
                      <m:r>
                        <a:rPr lang="en-US" sz="3200" b="0" i="1" smtClean="0">
                          <a:latin typeface="Cambria Math" charset="0"/>
                        </a:rPr>
                        <m:t>=</m:t>
                      </m:r>
                      <m:f>
                        <m:fPr>
                          <m:ctrlPr>
                            <a:rPr lang="mr-IN" sz="3200" b="0" i="1" smtClean="0">
                              <a:latin typeface="Cambria Math" panose="02040503050406030204" pitchFamily="18" charset="0"/>
                            </a:rPr>
                          </m:ctrlPr>
                        </m:fPr>
                        <m:num>
                          <m:r>
                            <a:rPr lang="en-US" sz="3200" b="0" i="1" smtClean="0">
                              <a:latin typeface="Cambria Math" charset="0"/>
                            </a:rPr>
                            <m:t>1</m:t>
                          </m:r>
                        </m:num>
                        <m:den>
                          <m:r>
                            <a:rPr lang="en-US" sz="3200" b="0" i="1" smtClean="0">
                              <a:latin typeface="Cambria Math" charset="0"/>
                            </a:rPr>
                            <m:t>𝑛</m:t>
                          </m:r>
                        </m:den>
                      </m:f>
                      <m:nary>
                        <m:naryPr>
                          <m:chr m:val="∑"/>
                          <m:ctrlPr>
                            <a:rPr lang="is-IS" sz="3200" b="0" i="1" smtClean="0">
                              <a:latin typeface="Cambria Math" panose="02040503050406030204" pitchFamily="18" charset="0"/>
                            </a:rPr>
                          </m:ctrlPr>
                        </m:naryPr>
                        <m:sub>
                          <m:r>
                            <m:rPr>
                              <m:brk m:alnAt="23"/>
                            </m:rPr>
                            <a:rPr lang="en-US" sz="3200" b="0" i="1" smtClean="0">
                              <a:latin typeface="Cambria Math" charset="0"/>
                            </a:rPr>
                            <m:t>𝑖</m:t>
                          </m:r>
                          <m:r>
                            <a:rPr lang="en-US" sz="3200" b="0" i="1" smtClean="0">
                              <a:latin typeface="Cambria Math" charset="0"/>
                            </a:rPr>
                            <m:t>=1</m:t>
                          </m:r>
                        </m:sub>
                        <m:sup>
                          <m:r>
                            <a:rPr lang="en-US" sz="3200" b="0" i="1" smtClean="0">
                              <a:latin typeface="Cambria Math" charset="0"/>
                            </a:rPr>
                            <m:t>𝑛</m:t>
                          </m:r>
                        </m:sup>
                        <m:e>
                          <m:sSub>
                            <m:sSubPr>
                              <m:ctrlPr>
                                <a:rPr lang="en-US" sz="3200" b="0" i="1" smtClean="0">
                                  <a:latin typeface="Cambria Math" panose="02040503050406030204" pitchFamily="18" charset="0"/>
                                </a:rPr>
                              </m:ctrlPr>
                            </m:sSubPr>
                            <m:e>
                              <m:r>
                                <a:rPr lang="en-US" sz="3200" b="0" i="1" smtClean="0">
                                  <a:latin typeface="Cambria Math" charset="0"/>
                                </a:rPr>
                                <m:t>𝑥</m:t>
                              </m:r>
                            </m:e>
                            <m:sub>
                              <m:r>
                                <a:rPr lang="en-US" sz="3200" b="0" i="1" smtClean="0">
                                  <a:latin typeface="Cambria Math" charset="0"/>
                                </a:rPr>
                                <m:t>𝑖</m:t>
                              </m:r>
                            </m:sub>
                          </m:sSub>
                          <m:d>
                            <m:dPr>
                              <m:ctrlPr>
                                <a:rPr lang="mr-IN" sz="3200" b="0" i="1" smtClean="0">
                                  <a:latin typeface="Cambria Math" panose="02040503050406030204" pitchFamily="18" charset="0"/>
                                </a:rPr>
                              </m:ctrlPr>
                            </m:dPr>
                            <m:e>
                              <m:sSub>
                                <m:sSubPr>
                                  <m:ctrlPr>
                                    <a:rPr lang="en-US" sz="3200" b="0" i="1" smtClean="0">
                                      <a:latin typeface="Cambria Math" panose="02040503050406030204" pitchFamily="18" charset="0"/>
                                    </a:rPr>
                                  </m:ctrlPr>
                                </m:sSubPr>
                                <m:e>
                                  <m:acc>
                                    <m:accPr>
                                      <m:chr m:val="̂"/>
                                      <m:ctrlPr>
                                        <a:rPr lang="mr-IN" sz="3200" b="0" i="1" smtClean="0">
                                          <a:latin typeface="Cambria Math" panose="02040503050406030204" pitchFamily="18" charset="0"/>
                                        </a:rPr>
                                      </m:ctrlPr>
                                    </m:accPr>
                                    <m:e>
                                      <m:r>
                                        <a:rPr lang="en-US" sz="3200" b="0" i="1" smtClean="0">
                                          <a:latin typeface="Cambria Math" charset="0"/>
                                        </a:rPr>
                                        <m:t>𝑦</m:t>
                                      </m:r>
                                    </m:e>
                                  </m:acc>
                                </m:e>
                                <m:sub>
                                  <m:r>
                                    <a:rPr lang="en-US" sz="3200" b="0" i="1" smtClean="0">
                                      <a:latin typeface="Cambria Math" charset="0"/>
                                    </a:rPr>
                                    <m:t>𝑖</m:t>
                                  </m:r>
                                </m:sub>
                              </m:sSub>
                              <m:r>
                                <a:rPr lang="en-US" sz="3200" b="0" i="1" smtClean="0">
                                  <a:latin typeface="Cambria Math" charset="0"/>
                                </a:rPr>
                                <m:t>−</m:t>
                              </m:r>
                              <m:sSub>
                                <m:sSubPr>
                                  <m:ctrlPr>
                                    <a:rPr lang="en-US" sz="3200" b="0" i="1" smtClean="0">
                                      <a:latin typeface="Cambria Math" panose="02040503050406030204" pitchFamily="18" charset="0"/>
                                    </a:rPr>
                                  </m:ctrlPr>
                                </m:sSubPr>
                                <m:e>
                                  <m:r>
                                    <a:rPr lang="en-US" sz="3200" b="0" i="1" smtClean="0">
                                      <a:latin typeface="Cambria Math" charset="0"/>
                                    </a:rPr>
                                    <m:t>𝑦</m:t>
                                  </m:r>
                                </m:e>
                                <m:sub>
                                  <m:r>
                                    <a:rPr lang="en-US" sz="3200" b="0" i="1" smtClean="0">
                                      <a:latin typeface="Cambria Math" charset="0"/>
                                    </a:rPr>
                                    <m:t>𝑖</m:t>
                                  </m:r>
                                </m:sub>
                              </m:sSub>
                            </m:e>
                          </m:d>
                        </m:e>
                      </m:nary>
                    </m:oMath>
                  </m:oMathPara>
                </a14:m>
                <a:endParaRPr lang="en-US" sz="3200" dirty="0"/>
              </a:p>
            </p:txBody>
          </p:sp>
        </mc:Choice>
        <mc:Fallback xmlns="">
          <p:sp>
            <p:nvSpPr>
              <p:cNvPr id="10" name="TextBox 9"/>
              <p:cNvSpPr txBox="1">
                <a:spLocks noRot="1" noChangeAspect="1" noMove="1" noResize="1" noEditPoints="1" noAdjustHandles="1" noChangeArrowheads="1" noChangeShapeType="1" noTextEdit="1"/>
              </p:cNvSpPr>
              <p:nvPr/>
            </p:nvSpPr>
            <p:spPr>
              <a:xfrm>
                <a:off x="1618887" y="4876800"/>
                <a:ext cx="4173707" cy="1344342"/>
              </a:xfrm>
              <a:prstGeom prst="rect">
                <a:avLst/>
              </a:prstGeom>
              <a:blipFill rotWithShape="0">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p:cNvSpPr txBox="1"/>
              <p:nvPr/>
            </p:nvSpPr>
            <p:spPr>
              <a:xfrm>
                <a:off x="7466012" y="4876800"/>
                <a:ext cx="3582839" cy="134434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mr-IN" sz="3200" i="1" smtClean="0">
                              <a:latin typeface="Cambria Math" panose="02040503050406030204" pitchFamily="18" charset="0"/>
                            </a:rPr>
                          </m:ctrlPr>
                        </m:fPr>
                        <m:num>
                          <m:r>
                            <a:rPr lang="mr-IN" sz="3200" i="1">
                              <a:latin typeface="Cambria Math" charset="0"/>
                            </a:rPr>
                            <m:t>𝜕</m:t>
                          </m:r>
                          <m:r>
                            <a:rPr lang="en-US" sz="3200" i="1">
                              <a:latin typeface="Cambria Math" charset="0"/>
                            </a:rPr>
                            <m:t>𝐽</m:t>
                          </m:r>
                        </m:num>
                        <m:den>
                          <m:r>
                            <a:rPr lang="mr-IN" sz="3200" i="1">
                              <a:latin typeface="Cambria Math" charset="0"/>
                            </a:rPr>
                            <m:t>𝜕</m:t>
                          </m:r>
                          <m:r>
                            <a:rPr lang="en-US" sz="3200" b="0" i="1" smtClean="0">
                              <a:latin typeface="Cambria Math" charset="0"/>
                            </a:rPr>
                            <m:t>𝑏</m:t>
                          </m:r>
                        </m:den>
                      </m:f>
                      <m:r>
                        <a:rPr lang="en-US" sz="3200" b="0" i="1" smtClean="0">
                          <a:latin typeface="Cambria Math" charset="0"/>
                        </a:rPr>
                        <m:t>=</m:t>
                      </m:r>
                      <m:f>
                        <m:fPr>
                          <m:ctrlPr>
                            <a:rPr lang="mr-IN" sz="3200" b="0" i="1" smtClean="0">
                              <a:latin typeface="Cambria Math" panose="02040503050406030204" pitchFamily="18" charset="0"/>
                            </a:rPr>
                          </m:ctrlPr>
                        </m:fPr>
                        <m:num>
                          <m:r>
                            <a:rPr lang="en-US" sz="3200" b="0" i="1" smtClean="0">
                              <a:latin typeface="Cambria Math" charset="0"/>
                            </a:rPr>
                            <m:t>1</m:t>
                          </m:r>
                        </m:num>
                        <m:den>
                          <m:r>
                            <a:rPr lang="en-US" sz="3200" b="0" i="1" smtClean="0">
                              <a:latin typeface="Cambria Math" charset="0"/>
                            </a:rPr>
                            <m:t>𝑛</m:t>
                          </m:r>
                        </m:den>
                      </m:f>
                      <m:nary>
                        <m:naryPr>
                          <m:chr m:val="∑"/>
                          <m:ctrlPr>
                            <a:rPr lang="is-IS" sz="3200" b="0" i="1" smtClean="0">
                              <a:latin typeface="Cambria Math" panose="02040503050406030204" pitchFamily="18" charset="0"/>
                            </a:rPr>
                          </m:ctrlPr>
                        </m:naryPr>
                        <m:sub>
                          <m:r>
                            <m:rPr>
                              <m:brk m:alnAt="23"/>
                            </m:rPr>
                            <a:rPr lang="en-US" sz="3200" b="0" i="1" smtClean="0">
                              <a:latin typeface="Cambria Math" charset="0"/>
                            </a:rPr>
                            <m:t>𝑖</m:t>
                          </m:r>
                          <m:r>
                            <a:rPr lang="en-US" sz="3200" b="0" i="1" smtClean="0">
                              <a:latin typeface="Cambria Math" charset="0"/>
                            </a:rPr>
                            <m:t>=1</m:t>
                          </m:r>
                        </m:sub>
                        <m:sup>
                          <m:r>
                            <a:rPr lang="en-US" sz="3200" b="0" i="1" smtClean="0">
                              <a:latin typeface="Cambria Math" charset="0"/>
                            </a:rPr>
                            <m:t>𝑛</m:t>
                          </m:r>
                        </m:sup>
                        <m:e>
                          <m:d>
                            <m:dPr>
                              <m:ctrlPr>
                                <a:rPr lang="mr-IN" sz="3200" b="0" i="1" smtClean="0">
                                  <a:latin typeface="Cambria Math" panose="02040503050406030204" pitchFamily="18" charset="0"/>
                                </a:rPr>
                              </m:ctrlPr>
                            </m:dPr>
                            <m:e>
                              <m:sSub>
                                <m:sSubPr>
                                  <m:ctrlPr>
                                    <a:rPr lang="en-US" sz="3200" b="0" i="1" smtClean="0">
                                      <a:latin typeface="Cambria Math" panose="02040503050406030204" pitchFamily="18" charset="0"/>
                                    </a:rPr>
                                  </m:ctrlPr>
                                </m:sSubPr>
                                <m:e>
                                  <m:acc>
                                    <m:accPr>
                                      <m:chr m:val="̂"/>
                                      <m:ctrlPr>
                                        <a:rPr lang="mr-IN" sz="3200" b="0" i="1" smtClean="0">
                                          <a:latin typeface="Cambria Math" panose="02040503050406030204" pitchFamily="18" charset="0"/>
                                        </a:rPr>
                                      </m:ctrlPr>
                                    </m:accPr>
                                    <m:e>
                                      <m:r>
                                        <a:rPr lang="en-US" sz="3200" b="0" i="1" smtClean="0">
                                          <a:latin typeface="Cambria Math" charset="0"/>
                                        </a:rPr>
                                        <m:t>𝑦</m:t>
                                      </m:r>
                                    </m:e>
                                  </m:acc>
                                </m:e>
                                <m:sub>
                                  <m:r>
                                    <a:rPr lang="en-US" sz="3200" b="0" i="1" smtClean="0">
                                      <a:latin typeface="Cambria Math" charset="0"/>
                                    </a:rPr>
                                    <m:t>𝑖</m:t>
                                  </m:r>
                                </m:sub>
                              </m:sSub>
                              <m:r>
                                <a:rPr lang="en-US" sz="3200" b="0" i="1" smtClean="0">
                                  <a:latin typeface="Cambria Math" charset="0"/>
                                </a:rPr>
                                <m:t>−</m:t>
                              </m:r>
                              <m:sSub>
                                <m:sSubPr>
                                  <m:ctrlPr>
                                    <a:rPr lang="en-US" sz="3200" b="0" i="1" smtClean="0">
                                      <a:latin typeface="Cambria Math" panose="02040503050406030204" pitchFamily="18" charset="0"/>
                                    </a:rPr>
                                  </m:ctrlPr>
                                </m:sSubPr>
                                <m:e>
                                  <m:r>
                                    <a:rPr lang="en-US" sz="3200" b="0" i="1" smtClean="0">
                                      <a:latin typeface="Cambria Math" charset="0"/>
                                    </a:rPr>
                                    <m:t>𝑦</m:t>
                                  </m:r>
                                </m:e>
                                <m:sub>
                                  <m:r>
                                    <a:rPr lang="en-US" sz="3200" b="0" i="1" smtClean="0">
                                      <a:latin typeface="Cambria Math" charset="0"/>
                                    </a:rPr>
                                    <m:t>𝑖</m:t>
                                  </m:r>
                                </m:sub>
                              </m:sSub>
                            </m:e>
                          </m:d>
                        </m:e>
                      </m:nary>
                    </m:oMath>
                  </m:oMathPara>
                </a14:m>
                <a:endParaRPr lang="en-US" sz="3200" dirty="0"/>
              </a:p>
            </p:txBody>
          </p:sp>
        </mc:Choice>
        <mc:Fallback xmlns="">
          <p:sp>
            <p:nvSpPr>
              <p:cNvPr id="11" name="TextBox 10"/>
              <p:cNvSpPr txBox="1">
                <a:spLocks noRot="1" noChangeAspect="1" noMove="1" noResize="1" noEditPoints="1" noAdjustHandles="1" noChangeArrowheads="1" noChangeShapeType="1" noTextEdit="1"/>
              </p:cNvSpPr>
              <p:nvPr/>
            </p:nvSpPr>
            <p:spPr>
              <a:xfrm>
                <a:off x="7466012" y="4876800"/>
                <a:ext cx="3582839" cy="1344342"/>
              </a:xfrm>
              <a:prstGeom prst="rect">
                <a:avLst/>
              </a:prstGeom>
              <a:blipFill rotWithShape="0">
                <a:blip r:embed="rId6"/>
                <a:stretch>
                  <a:fillRect/>
                </a:stretch>
              </a:blipFill>
            </p:spPr>
            <p:txBody>
              <a:bodyPr/>
              <a:lstStyle/>
              <a:p>
                <a:r>
                  <a:rPr lang="en-US">
                    <a:noFill/>
                  </a:rPr>
                  <a:t> </a:t>
                </a:r>
              </a:p>
            </p:txBody>
          </p:sp>
        </mc:Fallback>
      </mc:AlternateContent>
      <p:cxnSp>
        <p:nvCxnSpPr>
          <p:cNvPr id="12" name="Straight Arrow Connector 11"/>
          <p:cNvCxnSpPr/>
          <p:nvPr/>
        </p:nvCxnSpPr>
        <p:spPr>
          <a:xfrm flipH="1" flipV="1">
            <a:off x="4037012" y="6082371"/>
            <a:ext cx="914400" cy="318429"/>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flipV="1">
            <a:off x="7161212" y="6082371"/>
            <a:ext cx="992824" cy="318429"/>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4891175" y="6216134"/>
            <a:ext cx="2138662" cy="369332"/>
          </a:xfrm>
          <a:prstGeom prst="rect">
            <a:avLst/>
          </a:prstGeom>
          <a:noFill/>
        </p:spPr>
        <p:txBody>
          <a:bodyPr wrap="none" rtlCol="0">
            <a:spAutoFit/>
          </a:bodyPr>
          <a:lstStyle/>
          <a:p>
            <a:r>
              <a:rPr lang="en-US" smtClean="0">
                <a:solidFill>
                  <a:srgbClr val="FF0000"/>
                </a:solidFill>
              </a:rPr>
              <a:t>Make both equal 0</a:t>
            </a:r>
            <a:endParaRPr lang="en-US">
              <a:solidFill>
                <a:srgbClr val="FF0000"/>
              </a:solidFill>
            </a:endParaRPr>
          </a:p>
        </p:txBody>
      </p:sp>
    </p:spTree>
    <p:extLst>
      <p:ext uri="{BB962C8B-B14F-4D97-AF65-F5344CB8AC3E}">
        <p14:creationId xmlns:p14="http://schemas.microsoft.com/office/powerpoint/2010/main" val="72985191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p:bldP spid="10" grpId="0"/>
      <p:bldP spid="11" grpId="0"/>
      <p:bldP spid="19"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How to make derivative equal zero?</a:t>
            </a:r>
            <a:endParaRPr lang="en-US" dirty="0"/>
          </a:p>
        </p:txBody>
      </p:sp>
      <p:sp>
        <p:nvSpPr>
          <p:cNvPr id="3" name="Content Placeholder 2"/>
          <p:cNvSpPr>
            <a:spLocks noGrp="1"/>
          </p:cNvSpPr>
          <p:nvPr>
            <p:ph idx="1"/>
          </p:nvPr>
        </p:nvSpPr>
        <p:spPr>
          <a:xfrm>
            <a:off x="1593436" y="1600200"/>
            <a:ext cx="9782801" cy="609600"/>
          </a:xfrm>
        </p:spPr>
        <p:txBody>
          <a:bodyPr>
            <a:normAutofit/>
          </a:bodyPr>
          <a:lstStyle/>
          <a:p>
            <a:r>
              <a:rPr lang="en-US" sz="2400" dirty="0" smtClean="0"/>
              <a:t>For linear regression: can use linear algebra to solve exactly</a:t>
            </a:r>
            <a:endParaRPr lang="en-US" sz="2400" dirty="0"/>
          </a:p>
        </p:txBody>
      </p:sp>
      <mc:AlternateContent xmlns:mc="http://schemas.openxmlformats.org/markup-compatibility/2006" xmlns:a14="http://schemas.microsoft.com/office/drawing/2010/main">
        <mc:Choice Requires="a14">
          <p:sp>
            <p:nvSpPr>
              <p:cNvPr id="5" name="TextBox 4"/>
              <p:cNvSpPr txBox="1"/>
              <p:nvPr/>
            </p:nvSpPr>
            <p:spPr>
              <a:xfrm>
                <a:off x="4494212" y="2387447"/>
                <a:ext cx="3846502" cy="56906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sz="3600" i="1" smtClean="0">
                              <a:latin typeface="Cambria Math" panose="02040503050406030204" pitchFamily="18" charset="0"/>
                            </a:rPr>
                          </m:ctrlPr>
                        </m:accPr>
                        <m:e>
                          <m:r>
                            <a:rPr lang="en-US" sz="3600" b="0" i="1" smtClean="0">
                              <a:latin typeface="Cambria Math" charset="0"/>
                            </a:rPr>
                            <m:t>𝑊</m:t>
                          </m:r>
                        </m:e>
                      </m:acc>
                      <m:r>
                        <a:rPr lang="en-US" sz="3600" b="0" i="1" smtClean="0">
                          <a:latin typeface="Cambria Math" charset="0"/>
                        </a:rPr>
                        <m:t>=</m:t>
                      </m:r>
                      <m:sSup>
                        <m:sSupPr>
                          <m:ctrlPr>
                            <a:rPr lang="en-US" sz="3600" b="0" i="1" smtClean="0">
                              <a:latin typeface="Cambria Math" panose="02040503050406030204" pitchFamily="18" charset="0"/>
                            </a:rPr>
                          </m:ctrlPr>
                        </m:sSupPr>
                        <m:e>
                          <m:d>
                            <m:dPr>
                              <m:ctrlPr>
                                <a:rPr lang="en-US" sz="3600" b="0" i="1" smtClean="0">
                                  <a:latin typeface="Cambria Math" panose="02040503050406030204" pitchFamily="18" charset="0"/>
                                </a:rPr>
                              </m:ctrlPr>
                            </m:dPr>
                            <m:e>
                              <m:sSup>
                                <m:sSupPr>
                                  <m:ctrlPr>
                                    <a:rPr lang="en-US" sz="3600" b="0" i="1" smtClean="0">
                                      <a:latin typeface="Cambria Math" panose="02040503050406030204" pitchFamily="18" charset="0"/>
                                    </a:rPr>
                                  </m:ctrlPr>
                                </m:sSupPr>
                                <m:e>
                                  <m:r>
                                    <a:rPr lang="en-US" sz="3600" b="0" i="1" smtClean="0">
                                      <a:latin typeface="Cambria Math" charset="0"/>
                                    </a:rPr>
                                    <m:t>𝑋</m:t>
                                  </m:r>
                                </m:e>
                                <m:sup>
                                  <m:r>
                                    <a:rPr lang="en-US" sz="3600" b="0" i="1" smtClean="0">
                                      <a:latin typeface="Cambria Math" charset="0"/>
                                    </a:rPr>
                                    <m:t>𝑇</m:t>
                                  </m:r>
                                </m:sup>
                              </m:sSup>
                              <m:r>
                                <a:rPr lang="en-US" sz="3600" b="0" i="1" smtClean="0">
                                  <a:latin typeface="Cambria Math" charset="0"/>
                                </a:rPr>
                                <m:t>𝑋</m:t>
                              </m:r>
                            </m:e>
                          </m:d>
                        </m:e>
                        <m:sup>
                          <m:r>
                            <a:rPr lang="en-US" sz="3600" b="0" i="1" smtClean="0">
                              <a:latin typeface="Cambria Math" charset="0"/>
                            </a:rPr>
                            <m:t>−1</m:t>
                          </m:r>
                        </m:sup>
                      </m:sSup>
                      <m:sSup>
                        <m:sSupPr>
                          <m:ctrlPr>
                            <a:rPr lang="en-US" sz="3600" b="0" i="1" smtClean="0">
                              <a:latin typeface="Cambria Math" panose="02040503050406030204" pitchFamily="18" charset="0"/>
                            </a:rPr>
                          </m:ctrlPr>
                        </m:sSupPr>
                        <m:e>
                          <m:r>
                            <a:rPr lang="en-US" sz="3600" b="0" i="1" smtClean="0">
                              <a:latin typeface="Cambria Math" charset="0"/>
                            </a:rPr>
                            <m:t>𝑋</m:t>
                          </m:r>
                        </m:e>
                        <m:sup>
                          <m:r>
                            <a:rPr lang="en-US" sz="3600" b="0" i="1" smtClean="0">
                              <a:latin typeface="Cambria Math" charset="0"/>
                            </a:rPr>
                            <m:t>𝑇</m:t>
                          </m:r>
                        </m:sup>
                      </m:sSup>
                      <m:r>
                        <a:rPr lang="en-US" sz="3600" b="0" i="1" smtClean="0">
                          <a:latin typeface="Cambria Math" charset="0"/>
                        </a:rPr>
                        <m:t>𝑌</m:t>
                      </m:r>
                    </m:oMath>
                  </m:oMathPara>
                </a14:m>
                <a:endParaRPr lang="en-US" sz="3600" dirty="0"/>
              </a:p>
            </p:txBody>
          </p:sp>
        </mc:Choice>
        <mc:Fallback xmlns="">
          <p:sp>
            <p:nvSpPr>
              <p:cNvPr id="5" name="TextBox 4"/>
              <p:cNvSpPr txBox="1">
                <a:spLocks noRot="1" noChangeAspect="1" noMove="1" noResize="1" noEditPoints="1" noAdjustHandles="1" noChangeArrowheads="1" noChangeShapeType="1" noTextEdit="1"/>
              </p:cNvSpPr>
              <p:nvPr/>
            </p:nvSpPr>
            <p:spPr>
              <a:xfrm>
                <a:off x="4494212" y="2387447"/>
                <a:ext cx="3846502" cy="569067"/>
              </a:xfrm>
              <a:prstGeom prst="rect">
                <a:avLst/>
              </a:prstGeom>
              <a:blipFill rotWithShape="0">
                <a:blip r:embed="rId3"/>
                <a:stretch>
                  <a:fillRect/>
                </a:stretch>
              </a:blipFill>
            </p:spPr>
            <p:txBody>
              <a:bodyPr/>
              <a:lstStyle/>
              <a:p>
                <a:r>
                  <a:rPr lang="en-US">
                    <a:noFill/>
                  </a:rPr>
                  <a:t> </a:t>
                </a:r>
              </a:p>
            </p:txBody>
          </p:sp>
        </mc:Fallback>
      </mc:AlternateContent>
      <p:sp>
        <p:nvSpPr>
          <p:cNvPr id="13" name="Content Placeholder 2"/>
          <p:cNvSpPr txBox="1">
            <a:spLocks/>
          </p:cNvSpPr>
          <p:nvPr/>
        </p:nvSpPr>
        <p:spPr>
          <a:xfrm>
            <a:off x="1593436" y="4006334"/>
            <a:ext cx="9782801" cy="2354342"/>
          </a:xfrm>
          <a:prstGeom prst="rect">
            <a:avLst/>
          </a:prstGeom>
        </p:spPr>
        <p:txBody>
          <a:bodyPr vert="horz" lIns="91440" tIns="45720" rIns="91440" bIns="45720" rtlCol="0">
            <a:normAutofit lnSpcReduction="10000"/>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buNone/>
            </a:pPr>
            <a:r>
              <a:rPr lang="en-US" sz="2400" dirty="0" smtClean="0"/>
              <a:t>Problems</a:t>
            </a:r>
          </a:p>
          <a:p>
            <a:pPr marL="457200" indent="-457200">
              <a:buFont typeface="+mj-lt"/>
              <a:buAutoNum type="arabicPeriod"/>
            </a:pPr>
            <a:r>
              <a:rPr lang="en-US" sz="2400" dirty="0" smtClean="0"/>
              <a:t>For big X, hard to compute inverse</a:t>
            </a:r>
          </a:p>
          <a:p>
            <a:pPr marL="457200" indent="-457200">
              <a:buFont typeface="+mj-lt"/>
              <a:buAutoNum type="arabicPeriod"/>
            </a:pPr>
            <a:r>
              <a:rPr lang="en-US" sz="2400" dirty="0" smtClean="0"/>
              <a:t>Inverse is ill-conditioned</a:t>
            </a:r>
          </a:p>
          <a:p>
            <a:pPr marL="457200" indent="-457200">
              <a:buFont typeface="+mj-lt"/>
              <a:buAutoNum type="arabicPeriod"/>
            </a:pPr>
            <a:r>
              <a:rPr lang="en-US" sz="2400" dirty="0" smtClean="0"/>
              <a:t>Not all models have a nice closed form linear algebra solution!</a:t>
            </a:r>
          </a:p>
          <a:p>
            <a:pPr marL="0" indent="0">
              <a:buNone/>
            </a:pPr>
            <a:r>
              <a:rPr lang="en-US" sz="2400" dirty="0" smtClean="0"/>
              <a:t>What to do?</a:t>
            </a:r>
          </a:p>
        </p:txBody>
      </p:sp>
      <p:cxnSp>
        <p:nvCxnSpPr>
          <p:cNvPr id="8" name="Straight Arrow Connector 7"/>
          <p:cNvCxnSpPr/>
          <p:nvPr/>
        </p:nvCxnSpPr>
        <p:spPr>
          <a:xfrm flipH="1" flipV="1">
            <a:off x="4875212" y="3048000"/>
            <a:ext cx="304800" cy="30480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5180012" y="3259620"/>
            <a:ext cx="3792641" cy="369332"/>
          </a:xfrm>
          <a:prstGeom prst="rect">
            <a:avLst/>
          </a:prstGeom>
          <a:noFill/>
        </p:spPr>
        <p:txBody>
          <a:bodyPr wrap="none" rtlCol="0">
            <a:spAutoFit/>
          </a:bodyPr>
          <a:lstStyle/>
          <a:p>
            <a:r>
              <a:rPr lang="en-US" dirty="0" smtClean="0">
                <a:solidFill>
                  <a:srgbClr val="FF0000"/>
                </a:solidFill>
              </a:rPr>
              <a:t>W </a:t>
            </a:r>
            <a:r>
              <a:rPr lang="en-US" smtClean="0">
                <a:solidFill>
                  <a:srgbClr val="FF0000"/>
                </a:solidFill>
              </a:rPr>
              <a:t>and b are lumped together here</a:t>
            </a:r>
            <a:endParaRPr lang="en-US" dirty="0">
              <a:solidFill>
                <a:srgbClr val="FF0000"/>
              </a:solidFill>
            </a:endParaRPr>
          </a:p>
        </p:txBody>
      </p:sp>
    </p:spTree>
    <p:extLst>
      <p:ext uri="{BB962C8B-B14F-4D97-AF65-F5344CB8AC3E}">
        <p14:creationId xmlns:p14="http://schemas.microsoft.com/office/powerpoint/2010/main" val="174626609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3">
                                            <p:txEl>
                                              <p:pRg st="1" end="1"/>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3">
                                            <p:txEl>
                                              <p:pRg st="2" end="2"/>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3">
                                            <p:txEl>
                                              <p:pRg st="3" end="3"/>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p:bldP spid="13" grpId="0" build="p"/>
      <p:bldP spid="14"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Gradient Descent</a:t>
            </a:r>
            <a:endParaRPr lang="en-US" dirty="0"/>
          </a:p>
        </p:txBody>
      </p:sp>
      <p:sp>
        <p:nvSpPr>
          <p:cNvPr id="3" name="Text Placeholder 2"/>
          <p:cNvSpPr>
            <a:spLocks noGrp="1"/>
          </p:cNvSpPr>
          <p:nvPr>
            <p:ph type="body" idx="1"/>
          </p:nvPr>
        </p:nvSpPr>
        <p:spPr/>
        <p:txBody>
          <a:bodyPr/>
          <a:lstStyle/>
          <a:p>
            <a:r>
              <a:rPr lang="en-US" dirty="0" smtClean="0"/>
              <a:t>Guess and check for data scientists</a:t>
            </a:r>
            <a:endParaRPr lang="en-US" dirty="0"/>
          </a:p>
        </p:txBody>
      </p:sp>
    </p:spTree>
    <p:extLst>
      <p:ext uri="{BB962C8B-B14F-4D97-AF65-F5344CB8AC3E}">
        <p14:creationId xmlns:p14="http://schemas.microsoft.com/office/powerpoint/2010/main" val="135802202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p:cNvGrpSpPr/>
          <p:nvPr/>
        </p:nvGrpSpPr>
        <p:grpSpPr>
          <a:xfrm>
            <a:off x="989012" y="695802"/>
            <a:ext cx="9829800" cy="5633727"/>
            <a:chOff x="989012" y="695802"/>
            <a:chExt cx="9143997" cy="5240675"/>
          </a:xfrm>
        </p:grpSpPr>
        <p:pic>
          <p:nvPicPr>
            <p:cNvPr id="5" name="Shape 125"/>
            <p:cNvPicPr preferRelativeResize="0"/>
            <p:nvPr/>
          </p:nvPicPr>
          <p:blipFill>
            <a:blip r:embed="rId3">
              <a:alphaModFix/>
            </a:blip>
            <a:stretch>
              <a:fillRect/>
            </a:stretch>
          </p:blipFill>
          <p:spPr>
            <a:xfrm>
              <a:off x="989012" y="990600"/>
              <a:ext cx="9143997" cy="4644103"/>
            </a:xfrm>
            <a:prstGeom prst="rect">
              <a:avLst/>
            </a:prstGeom>
            <a:noFill/>
            <a:ln>
              <a:noFill/>
            </a:ln>
          </p:spPr>
        </p:pic>
        <p:sp>
          <p:nvSpPr>
            <p:cNvPr id="6" name="Shape 126"/>
            <p:cNvSpPr txBox="1"/>
            <p:nvPr/>
          </p:nvSpPr>
          <p:spPr>
            <a:xfrm>
              <a:off x="4596611" y="695802"/>
              <a:ext cx="784500" cy="486600"/>
            </a:xfrm>
            <a:prstGeom prst="rect">
              <a:avLst/>
            </a:prstGeom>
            <a:noFill/>
            <a:ln>
              <a:noFill/>
            </a:ln>
          </p:spPr>
          <p:txBody>
            <a:bodyPr lIns="91425" tIns="91425" rIns="91425" bIns="91425" anchor="t" anchorCtr="0">
              <a:noAutofit/>
            </a:bodyPr>
            <a:lstStyle/>
            <a:p>
              <a:pPr lvl="0" rtl="0">
                <a:spcBef>
                  <a:spcPts val="0"/>
                </a:spcBef>
                <a:buNone/>
              </a:pPr>
              <a:r>
                <a:rPr lang="en"/>
                <a:t>J (cost)</a:t>
              </a:r>
            </a:p>
          </p:txBody>
        </p:sp>
        <p:sp>
          <p:nvSpPr>
            <p:cNvPr id="7" name="Shape 127"/>
            <p:cNvSpPr txBox="1"/>
            <p:nvPr/>
          </p:nvSpPr>
          <p:spPr>
            <a:xfrm>
              <a:off x="9756211" y="5449877"/>
              <a:ext cx="224400" cy="486600"/>
            </a:xfrm>
            <a:prstGeom prst="rect">
              <a:avLst/>
            </a:prstGeom>
            <a:noFill/>
            <a:ln>
              <a:noFill/>
            </a:ln>
          </p:spPr>
          <p:txBody>
            <a:bodyPr lIns="91425" tIns="91425" rIns="91425" bIns="91425" anchor="t" anchorCtr="0">
              <a:noAutofit/>
            </a:bodyPr>
            <a:lstStyle/>
            <a:p>
              <a:pPr lvl="0" rtl="0">
                <a:spcBef>
                  <a:spcPts val="0"/>
                </a:spcBef>
                <a:buNone/>
              </a:pPr>
              <a:r>
                <a:rPr lang="en"/>
                <a:t>W</a:t>
              </a:r>
            </a:p>
          </p:txBody>
        </p:sp>
      </p:grpSp>
    </p:spTree>
    <p:extLst>
      <p:ext uri="{BB962C8B-B14F-4D97-AF65-F5344CB8AC3E}">
        <p14:creationId xmlns:p14="http://schemas.microsoft.com/office/powerpoint/2010/main" val="78110010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p:cNvGrpSpPr/>
          <p:nvPr/>
        </p:nvGrpSpPr>
        <p:grpSpPr>
          <a:xfrm>
            <a:off x="989012" y="695802"/>
            <a:ext cx="9829800" cy="5633727"/>
            <a:chOff x="989012" y="695802"/>
            <a:chExt cx="9143997" cy="5240675"/>
          </a:xfrm>
        </p:grpSpPr>
        <p:pic>
          <p:nvPicPr>
            <p:cNvPr id="5" name="Shape 125"/>
            <p:cNvPicPr preferRelativeResize="0"/>
            <p:nvPr/>
          </p:nvPicPr>
          <p:blipFill>
            <a:blip r:embed="rId3">
              <a:alphaModFix/>
            </a:blip>
            <a:stretch>
              <a:fillRect/>
            </a:stretch>
          </p:blipFill>
          <p:spPr>
            <a:xfrm>
              <a:off x="989012" y="990600"/>
              <a:ext cx="9143997" cy="4644103"/>
            </a:xfrm>
            <a:prstGeom prst="rect">
              <a:avLst/>
            </a:prstGeom>
            <a:noFill/>
            <a:ln>
              <a:noFill/>
            </a:ln>
          </p:spPr>
        </p:pic>
        <p:sp>
          <p:nvSpPr>
            <p:cNvPr id="6" name="Shape 126"/>
            <p:cNvSpPr txBox="1"/>
            <p:nvPr/>
          </p:nvSpPr>
          <p:spPr>
            <a:xfrm>
              <a:off x="4596611" y="695802"/>
              <a:ext cx="784500" cy="486600"/>
            </a:xfrm>
            <a:prstGeom prst="rect">
              <a:avLst/>
            </a:prstGeom>
            <a:noFill/>
            <a:ln>
              <a:noFill/>
            </a:ln>
          </p:spPr>
          <p:txBody>
            <a:bodyPr lIns="91425" tIns="91425" rIns="91425" bIns="91425" anchor="t" anchorCtr="0">
              <a:noAutofit/>
            </a:bodyPr>
            <a:lstStyle/>
            <a:p>
              <a:pPr lvl="0" rtl="0">
                <a:spcBef>
                  <a:spcPts val="0"/>
                </a:spcBef>
                <a:buNone/>
              </a:pPr>
              <a:r>
                <a:rPr lang="en"/>
                <a:t>J (cost)</a:t>
              </a:r>
            </a:p>
          </p:txBody>
        </p:sp>
        <p:sp>
          <p:nvSpPr>
            <p:cNvPr id="7" name="Shape 127"/>
            <p:cNvSpPr txBox="1"/>
            <p:nvPr/>
          </p:nvSpPr>
          <p:spPr>
            <a:xfrm>
              <a:off x="9756211" y="5449877"/>
              <a:ext cx="224400" cy="486600"/>
            </a:xfrm>
            <a:prstGeom prst="rect">
              <a:avLst/>
            </a:prstGeom>
            <a:noFill/>
            <a:ln>
              <a:noFill/>
            </a:ln>
          </p:spPr>
          <p:txBody>
            <a:bodyPr lIns="91425" tIns="91425" rIns="91425" bIns="91425" anchor="t" anchorCtr="0">
              <a:noAutofit/>
            </a:bodyPr>
            <a:lstStyle/>
            <a:p>
              <a:pPr lvl="0" rtl="0">
                <a:spcBef>
                  <a:spcPts val="0"/>
                </a:spcBef>
                <a:buNone/>
              </a:pPr>
              <a:r>
                <a:rPr lang="en"/>
                <a:t>W</a:t>
              </a:r>
            </a:p>
          </p:txBody>
        </p:sp>
      </p:grpSp>
      <p:sp>
        <p:nvSpPr>
          <p:cNvPr id="12" name="Shape 136"/>
          <p:cNvSpPr txBox="1"/>
          <p:nvPr/>
        </p:nvSpPr>
        <p:spPr>
          <a:xfrm>
            <a:off x="2545651" y="1609887"/>
            <a:ext cx="5486400" cy="640200"/>
          </a:xfrm>
          <a:prstGeom prst="rect">
            <a:avLst/>
          </a:prstGeom>
          <a:noFill/>
          <a:ln>
            <a:noFill/>
          </a:ln>
        </p:spPr>
        <p:txBody>
          <a:bodyPr lIns="91425" tIns="91425" rIns="91425" bIns="91425" anchor="t" anchorCtr="0">
            <a:noAutofit/>
          </a:bodyPr>
          <a:lstStyle/>
          <a:p>
            <a:pPr lvl="0">
              <a:spcBef>
                <a:spcPts val="0"/>
              </a:spcBef>
              <a:buNone/>
            </a:pPr>
            <a:r>
              <a:rPr lang="en" sz="1800" dirty="0">
                <a:solidFill>
                  <a:srgbClr val="FF0000"/>
                </a:solidFill>
                <a:latin typeface="Euphemia" charset="0"/>
                <a:ea typeface="Euphemia" charset="0"/>
                <a:cs typeface="Euphemia" charset="0"/>
                <a:sym typeface="Montserrat"/>
              </a:rPr>
              <a:t>Random guess put us here</a:t>
            </a:r>
          </a:p>
        </p:txBody>
      </p:sp>
      <p:cxnSp>
        <p:nvCxnSpPr>
          <p:cNvPr id="13" name="Shape 137"/>
          <p:cNvCxnSpPr/>
          <p:nvPr/>
        </p:nvCxnSpPr>
        <p:spPr>
          <a:xfrm flipH="1">
            <a:off x="2179737" y="2043900"/>
            <a:ext cx="762600" cy="272700"/>
          </a:xfrm>
          <a:prstGeom prst="straightConnector1">
            <a:avLst/>
          </a:prstGeom>
          <a:noFill/>
          <a:ln w="28575" cap="flat" cmpd="sng">
            <a:solidFill>
              <a:srgbClr val="FF0000"/>
            </a:solidFill>
            <a:prstDash val="solid"/>
            <a:round/>
            <a:headEnd type="none" w="lg" len="lg"/>
            <a:tailEnd type="triangle" w="lg" len="lg"/>
          </a:ln>
        </p:spPr>
      </p:cxnSp>
      <p:sp>
        <p:nvSpPr>
          <p:cNvPr id="14" name="Shape 147"/>
          <p:cNvSpPr/>
          <p:nvPr/>
        </p:nvSpPr>
        <p:spPr>
          <a:xfrm>
            <a:off x="1944772" y="2362200"/>
            <a:ext cx="98340" cy="89400"/>
          </a:xfrm>
          <a:prstGeom prst="ellipse">
            <a:avLst/>
          </a:prstGeom>
          <a:solidFill>
            <a:srgbClr val="351C75"/>
          </a:solidFill>
          <a:ln>
            <a:noFill/>
          </a:ln>
        </p:spPr>
        <p:txBody>
          <a:bodyPr lIns="91425" tIns="91425" rIns="91425" bIns="91425" anchor="ctr" anchorCtr="0">
            <a:noAutofit/>
          </a:bodyPr>
          <a:lstStyle/>
          <a:p>
            <a:pPr lvl="0">
              <a:spcBef>
                <a:spcPts val="0"/>
              </a:spcBef>
              <a:buNone/>
            </a:pPr>
            <a:r>
              <a:rPr lang="en"/>
              <a:t> </a:t>
            </a:r>
          </a:p>
        </p:txBody>
      </p:sp>
    </p:spTree>
    <p:extLst>
      <p:ext uri="{BB962C8B-B14F-4D97-AF65-F5344CB8AC3E}">
        <p14:creationId xmlns:p14="http://schemas.microsoft.com/office/powerpoint/2010/main" val="35861560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p:cNvGrpSpPr/>
          <p:nvPr/>
        </p:nvGrpSpPr>
        <p:grpSpPr>
          <a:xfrm>
            <a:off x="989012" y="695802"/>
            <a:ext cx="9829800" cy="5633727"/>
            <a:chOff x="989012" y="695802"/>
            <a:chExt cx="9143997" cy="5240675"/>
          </a:xfrm>
        </p:grpSpPr>
        <p:pic>
          <p:nvPicPr>
            <p:cNvPr id="5" name="Shape 125"/>
            <p:cNvPicPr preferRelativeResize="0"/>
            <p:nvPr/>
          </p:nvPicPr>
          <p:blipFill>
            <a:blip r:embed="rId3">
              <a:alphaModFix/>
            </a:blip>
            <a:stretch>
              <a:fillRect/>
            </a:stretch>
          </p:blipFill>
          <p:spPr>
            <a:xfrm>
              <a:off x="989012" y="990600"/>
              <a:ext cx="9143997" cy="4644103"/>
            </a:xfrm>
            <a:prstGeom prst="rect">
              <a:avLst/>
            </a:prstGeom>
            <a:noFill/>
            <a:ln>
              <a:noFill/>
            </a:ln>
          </p:spPr>
        </p:pic>
        <p:sp>
          <p:nvSpPr>
            <p:cNvPr id="6" name="Shape 126"/>
            <p:cNvSpPr txBox="1"/>
            <p:nvPr/>
          </p:nvSpPr>
          <p:spPr>
            <a:xfrm>
              <a:off x="4596611" y="695802"/>
              <a:ext cx="784500" cy="486600"/>
            </a:xfrm>
            <a:prstGeom prst="rect">
              <a:avLst/>
            </a:prstGeom>
            <a:noFill/>
            <a:ln>
              <a:noFill/>
            </a:ln>
          </p:spPr>
          <p:txBody>
            <a:bodyPr lIns="91425" tIns="91425" rIns="91425" bIns="91425" anchor="t" anchorCtr="0">
              <a:noAutofit/>
            </a:bodyPr>
            <a:lstStyle/>
            <a:p>
              <a:pPr lvl="0" rtl="0">
                <a:spcBef>
                  <a:spcPts val="0"/>
                </a:spcBef>
                <a:buNone/>
              </a:pPr>
              <a:r>
                <a:rPr lang="en"/>
                <a:t>J (cost)</a:t>
              </a:r>
            </a:p>
          </p:txBody>
        </p:sp>
        <p:sp>
          <p:nvSpPr>
            <p:cNvPr id="7" name="Shape 127"/>
            <p:cNvSpPr txBox="1"/>
            <p:nvPr/>
          </p:nvSpPr>
          <p:spPr>
            <a:xfrm>
              <a:off x="9756211" y="5449877"/>
              <a:ext cx="224400" cy="486600"/>
            </a:xfrm>
            <a:prstGeom prst="rect">
              <a:avLst/>
            </a:prstGeom>
            <a:noFill/>
            <a:ln>
              <a:noFill/>
            </a:ln>
          </p:spPr>
          <p:txBody>
            <a:bodyPr lIns="91425" tIns="91425" rIns="91425" bIns="91425" anchor="t" anchorCtr="0">
              <a:noAutofit/>
            </a:bodyPr>
            <a:lstStyle/>
            <a:p>
              <a:pPr lvl="0" rtl="0">
                <a:spcBef>
                  <a:spcPts val="0"/>
                </a:spcBef>
                <a:buNone/>
              </a:pPr>
              <a:r>
                <a:rPr lang="en"/>
                <a:t>W</a:t>
              </a:r>
            </a:p>
          </p:txBody>
        </p:sp>
      </p:grpSp>
      <p:cxnSp>
        <p:nvCxnSpPr>
          <p:cNvPr id="16" name="Shape 146"/>
          <p:cNvCxnSpPr/>
          <p:nvPr/>
        </p:nvCxnSpPr>
        <p:spPr>
          <a:xfrm>
            <a:off x="1590094" y="1778850"/>
            <a:ext cx="833400" cy="1345500"/>
          </a:xfrm>
          <a:prstGeom prst="straightConnector1">
            <a:avLst/>
          </a:prstGeom>
          <a:noFill/>
          <a:ln w="38100" cap="flat" cmpd="sng">
            <a:solidFill>
              <a:srgbClr val="FF0000"/>
            </a:solidFill>
            <a:prstDash val="solid"/>
            <a:round/>
            <a:headEnd type="none" w="lg" len="lg"/>
            <a:tailEnd type="none" w="lg" len="lg"/>
          </a:ln>
        </p:spPr>
      </p:cxnSp>
      <p:sp>
        <p:nvSpPr>
          <p:cNvPr id="17" name="Shape 147"/>
          <p:cNvSpPr/>
          <p:nvPr/>
        </p:nvSpPr>
        <p:spPr>
          <a:xfrm>
            <a:off x="1944772" y="2362200"/>
            <a:ext cx="98340" cy="89400"/>
          </a:xfrm>
          <a:prstGeom prst="ellipse">
            <a:avLst/>
          </a:prstGeom>
          <a:solidFill>
            <a:srgbClr val="351C75"/>
          </a:solidFill>
          <a:ln>
            <a:noFill/>
          </a:ln>
        </p:spPr>
        <p:txBody>
          <a:bodyPr lIns="91425" tIns="91425" rIns="91425" bIns="91425" anchor="ctr" anchorCtr="0">
            <a:noAutofit/>
          </a:bodyPr>
          <a:lstStyle/>
          <a:p>
            <a:pPr lvl="0">
              <a:spcBef>
                <a:spcPts val="0"/>
              </a:spcBef>
              <a:buNone/>
            </a:pPr>
            <a:r>
              <a:rPr lang="en"/>
              <a:t> </a:t>
            </a:r>
          </a:p>
        </p:txBody>
      </p:sp>
      <p:cxnSp>
        <p:nvCxnSpPr>
          <p:cNvPr id="18" name="Shape 150"/>
          <p:cNvCxnSpPr/>
          <p:nvPr/>
        </p:nvCxnSpPr>
        <p:spPr>
          <a:xfrm>
            <a:off x="1979612" y="5715000"/>
            <a:ext cx="0" cy="376794"/>
          </a:xfrm>
          <a:prstGeom prst="straightConnector1">
            <a:avLst/>
          </a:prstGeom>
          <a:noFill/>
          <a:ln w="28575" cap="flat" cmpd="sng">
            <a:solidFill>
              <a:schemeClr val="dk2"/>
            </a:solidFill>
            <a:prstDash val="solid"/>
            <a:round/>
            <a:headEnd type="none" w="lg" len="lg"/>
            <a:tailEnd type="none" w="lg" len="lg"/>
          </a:ln>
        </p:spPr>
      </p:cxnSp>
      <mc:AlternateContent xmlns:mc="http://schemas.openxmlformats.org/markup-compatibility/2006" xmlns:a14="http://schemas.microsoft.com/office/drawing/2010/main">
        <mc:Choice Requires="a14">
          <p:sp>
            <p:nvSpPr>
              <p:cNvPr id="2" name="TextBox 1"/>
              <p:cNvSpPr txBox="1"/>
              <p:nvPr/>
            </p:nvSpPr>
            <p:spPr>
              <a:xfrm>
                <a:off x="2141376" y="2098858"/>
                <a:ext cx="472309" cy="52668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mr-IN" i="1" smtClean="0">
                              <a:latin typeface="Cambria Math" panose="02040503050406030204" pitchFamily="18" charset="0"/>
                            </a:rPr>
                          </m:ctrlPr>
                        </m:fPr>
                        <m:num>
                          <m:r>
                            <a:rPr lang="mr-IN" i="1" smtClean="0">
                              <a:latin typeface="Cambria Math" charset="0"/>
                            </a:rPr>
                            <m:t>𝜕</m:t>
                          </m:r>
                          <m:r>
                            <a:rPr lang="en-US" b="0" i="1" smtClean="0">
                              <a:latin typeface="Cambria Math" charset="0"/>
                            </a:rPr>
                            <m:t>𝐽</m:t>
                          </m:r>
                        </m:num>
                        <m:den>
                          <m:r>
                            <a:rPr lang="mr-IN" i="1" smtClean="0">
                              <a:latin typeface="Cambria Math" charset="0"/>
                            </a:rPr>
                            <m:t>𝜕</m:t>
                          </m:r>
                          <m:r>
                            <a:rPr lang="en-US" b="0" i="1" smtClean="0">
                              <a:latin typeface="Cambria Math" charset="0"/>
                            </a:rPr>
                            <m:t>𝑊</m:t>
                          </m:r>
                        </m:den>
                      </m:f>
                    </m:oMath>
                  </m:oMathPara>
                </a14:m>
                <a:endParaRPr lang="en-US" dirty="0"/>
              </a:p>
            </p:txBody>
          </p:sp>
        </mc:Choice>
        <mc:Fallback xmlns="">
          <p:sp>
            <p:nvSpPr>
              <p:cNvPr id="2" name="TextBox 1"/>
              <p:cNvSpPr txBox="1">
                <a:spLocks noRot="1" noChangeAspect="1" noMove="1" noResize="1" noEditPoints="1" noAdjustHandles="1" noChangeArrowheads="1" noChangeShapeType="1" noTextEdit="1"/>
              </p:cNvSpPr>
              <p:nvPr/>
            </p:nvSpPr>
            <p:spPr>
              <a:xfrm>
                <a:off x="2141376" y="2098858"/>
                <a:ext cx="472309" cy="526683"/>
              </a:xfrm>
              <a:prstGeom prst="rect">
                <a:avLst/>
              </a:prstGeom>
              <a:blipFill rotWithShape="0">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02939107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p:cNvGrpSpPr/>
          <p:nvPr/>
        </p:nvGrpSpPr>
        <p:grpSpPr>
          <a:xfrm>
            <a:off x="989012" y="695802"/>
            <a:ext cx="9829800" cy="5633727"/>
            <a:chOff x="989012" y="695802"/>
            <a:chExt cx="9143997" cy="5240675"/>
          </a:xfrm>
        </p:grpSpPr>
        <p:pic>
          <p:nvPicPr>
            <p:cNvPr id="5" name="Shape 125"/>
            <p:cNvPicPr preferRelativeResize="0"/>
            <p:nvPr/>
          </p:nvPicPr>
          <p:blipFill>
            <a:blip r:embed="rId3">
              <a:alphaModFix/>
            </a:blip>
            <a:stretch>
              <a:fillRect/>
            </a:stretch>
          </p:blipFill>
          <p:spPr>
            <a:xfrm>
              <a:off x="989012" y="990600"/>
              <a:ext cx="9143997" cy="4644103"/>
            </a:xfrm>
            <a:prstGeom prst="rect">
              <a:avLst/>
            </a:prstGeom>
            <a:noFill/>
            <a:ln>
              <a:noFill/>
            </a:ln>
          </p:spPr>
        </p:pic>
        <p:sp>
          <p:nvSpPr>
            <p:cNvPr id="6" name="Shape 126"/>
            <p:cNvSpPr txBox="1"/>
            <p:nvPr/>
          </p:nvSpPr>
          <p:spPr>
            <a:xfrm>
              <a:off x="4596611" y="695802"/>
              <a:ext cx="784500" cy="486600"/>
            </a:xfrm>
            <a:prstGeom prst="rect">
              <a:avLst/>
            </a:prstGeom>
            <a:noFill/>
            <a:ln>
              <a:noFill/>
            </a:ln>
          </p:spPr>
          <p:txBody>
            <a:bodyPr lIns="91425" tIns="91425" rIns="91425" bIns="91425" anchor="t" anchorCtr="0">
              <a:noAutofit/>
            </a:bodyPr>
            <a:lstStyle/>
            <a:p>
              <a:pPr lvl="0" rtl="0">
                <a:spcBef>
                  <a:spcPts val="0"/>
                </a:spcBef>
                <a:buNone/>
              </a:pPr>
              <a:r>
                <a:rPr lang="en"/>
                <a:t>J (cost)</a:t>
              </a:r>
            </a:p>
          </p:txBody>
        </p:sp>
        <p:sp>
          <p:nvSpPr>
            <p:cNvPr id="7" name="Shape 127"/>
            <p:cNvSpPr txBox="1"/>
            <p:nvPr/>
          </p:nvSpPr>
          <p:spPr>
            <a:xfrm>
              <a:off x="9756211" y="5449877"/>
              <a:ext cx="224400" cy="486600"/>
            </a:xfrm>
            <a:prstGeom prst="rect">
              <a:avLst/>
            </a:prstGeom>
            <a:noFill/>
            <a:ln>
              <a:noFill/>
            </a:ln>
          </p:spPr>
          <p:txBody>
            <a:bodyPr lIns="91425" tIns="91425" rIns="91425" bIns="91425" anchor="t" anchorCtr="0">
              <a:noAutofit/>
            </a:bodyPr>
            <a:lstStyle/>
            <a:p>
              <a:pPr lvl="0" rtl="0">
                <a:spcBef>
                  <a:spcPts val="0"/>
                </a:spcBef>
                <a:buNone/>
              </a:pPr>
              <a:r>
                <a:rPr lang="en"/>
                <a:t>W</a:t>
              </a:r>
            </a:p>
          </p:txBody>
        </p:sp>
      </p:grpSp>
      <p:cxnSp>
        <p:nvCxnSpPr>
          <p:cNvPr id="16" name="Shape 146"/>
          <p:cNvCxnSpPr/>
          <p:nvPr/>
        </p:nvCxnSpPr>
        <p:spPr>
          <a:xfrm>
            <a:off x="1590094" y="1778850"/>
            <a:ext cx="833400" cy="1345500"/>
          </a:xfrm>
          <a:prstGeom prst="straightConnector1">
            <a:avLst/>
          </a:prstGeom>
          <a:noFill/>
          <a:ln w="38100" cap="flat" cmpd="sng">
            <a:solidFill>
              <a:srgbClr val="351C75"/>
            </a:solidFill>
            <a:prstDash val="solid"/>
            <a:round/>
            <a:headEnd type="none" w="lg" len="lg"/>
            <a:tailEnd type="none" w="lg" len="lg"/>
          </a:ln>
        </p:spPr>
      </p:cxnSp>
      <p:sp>
        <p:nvSpPr>
          <p:cNvPr id="17" name="Shape 147"/>
          <p:cNvSpPr/>
          <p:nvPr/>
        </p:nvSpPr>
        <p:spPr>
          <a:xfrm>
            <a:off x="1944772" y="2362200"/>
            <a:ext cx="98340" cy="89400"/>
          </a:xfrm>
          <a:prstGeom prst="ellipse">
            <a:avLst/>
          </a:prstGeom>
          <a:solidFill>
            <a:srgbClr val="351C75"/>
          </a:solidFill>
          <a:ln>
            <a:noFill/>
          </a:ln>
        </p:spPr>
        <p:txBody>
          <a:bodyPr lIns="91425" tIns="91425" rIns="91425" bIns="91425" anchor="ctr" anchorCtr="0">
            <a:noAutofit/>
          </a:bodyPr>
          <a:lstStyle/>
          <a:p>
            <a:pPr lvl="0">
              <a:spcBef>
                <a:spcPts val="0"/>
              </a:spcBef>
              <a:buNone/>
            </a:pPr>
            <a:r>
              <a:rPr lang="en"/>
              <a:t> </a:t>
            </a:r>
          </a:p>
        </p:txBody>
      </p:sp>
      <p:cxnSp>
        <p:nvCxnSpPr>
          <p:cNvPr id="18" name="Shape 150"/>
          <p:cNvCxnSpPr/>
          <p:nvPr/>
        </p:nvCxnSpPr>
        <p:spPr>
          <a:xfrm>
            <a:off x="1979612" y="5715000"/>
            <a:ext cx="0" cy="376794"/>
          </a:xfrm>
          <a:prstGeom prst="straightConnector1">
            <a:avLst/>
          </a:prstGeom>
          <a:noFill/>
          <a:ln w="28575" cap="flat" cmpd="sng">
            <a:solidFill>
              <a:schemeClr val="dk2"/>
            </a:solidFill>
            <a:prstDash val="solid"/>
            <a:round/>
            <a:headEnd type="none" w="lg" len="lg"/>
            <a:tailEnd type="none" w="lg" len="lg"/>
          </a:ln>
        </p:spPr>
      </p:cxnSp>
      <mc:AlternateContent xmlns:mc="http://schemas.openxmlformats.org/markup-compatibility/2006" xmlns:a14="http://schemas.microsoft.com/office/drawing/2010/main">
        <mc:Choice Requires="a14">
          <p:sp>
            <p:nvSpPr>
              <p:cNvPr id="2" name="TextBox 1"/>
              <p:cNvSpPr txBox="1"/>
              <p:nvPr/>
            </p:nvSpPr>
            <p:spPr>
              <a:xfrm>
                <a:off x="2141376" y="2098858"/>
                <a:ext cx="901914" cy="52668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mr-IN" i="1" smtClean="0">
                              <a:latin typeface="Cambria Math" panose="02040503050406030204" pitchFamily="18" charset="0"/>
                            </a:rPr>
                          </m:ctrlPr>
                        </m:fPr>
                        <m:num>
                          <m:r>
                            <a:rPr lang="mr-IN" i="1" smtClean="0">
                              <a:latin typeface="Cambria Math" charset="0"/>
                            </a:rPr>
                            <m:t>𝜕</m:t>
                          </m:r>
                          <m:r>
                            <a:rPr lang="en-US" b="0" i="1" smtClean="0">
                              <a:latin typeface="Cambria Math" charset="0"/>
                            </a:rPr>
                            <m:t>𝐽</m:t>
                          </m:r>
                        </m:num>
                        <m:den>
                          <m:r>
                            <a:rPr lang="mr-IN" i="1" smtClean="0">
                              <a:latin typeface="Cambria Math" charset="0"/>
                            </a:rPr>
                            <m:t>𝜕</m:t>
                          </m:r>
                          <m:r>
                            <a:rPr lang="en-US" b="0" i="1" smtClean="0">
                              <a:latin typeface="Cambria Math" charset="0"/>
                            </a:rPr>
                            <m:t>𝑊</m:t>
                          </m:r>
                        </m:den>
                      </m:f>
                      <m:r>
                        <a:rPr lang="en-US" b="0" i="1" smtClean="0">
                          <a:solidFill>
                            <a:srgbClr val="FF0000"/>
                          </a:solidFill>
                          <a:latin typeface="Cambria Math" charset="0"/>
                        </a:rPr>
                        <m:t>&lt;0</m:t>
                      </m:r>
                    </m:oMath>
                  </m:oMathPara>
                </a14:m>
                <a:endParaRPr lang="en-US" dirty="0"/>
              </a:p>
            </p:txBody>
          </p:sp>
        </mc:Choice>
        <mc:Fallback xmlns="">
          <p:sp>
            <p:nvSpPr>
              <p:cNvPr id="2" name="TextBox 1"/>
              <p:cNvSpPr txBox="1">
                <a:spLocks noRot="1" noChangeAspect="1" noMove="1" noResize="1" noEditPoints="1" noAdjustHandles="1" noChangeArrowheads="1" noChangeShapeType="1" noTextEdit="1"/>
              </p:cNvSpPr>
              <p:nvPr/>
            </p:nvSpPr>
            <p:spPr>
              <a:xfrm>
                <a:off x="2141376" y="2098858"/>
                <a:ext cx="901914" cy="526683"/>
              </a:xfrm>
              <a:prstGeom prst="rect">
                <a:avLst/>
              </a:prstGeom>
              <a:blipFill rotWithShape="0">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8959781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p:cNvGrpSpPr/>
          <p:nvPr/>
        </p:nvGrpSpPr>
        <p:grpSpPr>
          <a:xfrm>
            <a:off x="989012" y="695802"/>
            <a:ext cx="9829800" cy="5633727"/>
            <a:chOff x="989012" y="695802"/>
            <a:chExt cx="9143997" cy="5240675"/>
          </a:xfrm>
        </p:grpSpPr>
        <p:pic>
          <p:nvPicPr>
            <p:cNvPr id="5" name="Shape 125"/>
            <p:cNvPicPr preferRelativeResize="0"/>
            <p:nvPr/>
          </p:nvPicPr>
          <p:blipFill>
            <a:blip r:embed="rId3">
              <a:alphaModFix/>
            </a:blip>
            <a:stretch>
              <a:fillRect/>
            </a:stretch>
          </p:blipFill>
          <p:spPr>
            <a:xfrm>
              <a:off x="989012" y="990600"/>
              <a:ext cx="9143997" cy="4644103"/>
            </a:xfrm>
            <a:prstGeom prst="rect">
              <a:avLst/>
            </a:prstGeom>
            <a:noFill/>
            <a:ln>
              <a:noFill/>
            </a:ln>
          </p:spPr>
        </p:pic>
        <p:sp>
          <p:nvSpPr>
            <p:cNvPr id="6" name="Shape 126"/>
            <p:cNvSpPr txBox="1"/>
            <p:nvPr/>
          </p:nvSpPr>
          <p:spPr>
            <a:xfrm>
              <a:off x="4596611" y="695802"/>
              <a:ext cx="784500" cy="486600"/>
            </a:xfrm>
            <a:prstGeom prst="rect">
              <a:avLst/>
            </a:prstGeom>
            <a:noFill/>
            <a:ln>
              <a:noFill/>
            </a:ln>
          </p:spPr>
          <p:txBody>
            <a:bodyPr lIns="91425" tIns="91425" rIns="91425" bIns="91425" anchor="t" anchorCtr="0">
              <a:noAutofit/>
            </a:bodyPr>
            <a:lstStyle/>
            <a:p>
              <a:pPr lvl="0" rtl="0">
                <a:spcBef>
                  <a:spcPts val="0"/>
                </a:spcBef>
                <a:buNone/>
              </a:pPr>
              <a:r>
                <a:rPr lang="en"/>
                <a:t>J (cost)</a:t>
              </a:r>
            </a:p>
          </p:txBody>
        </p:sp>
        <p:sp>
          <p:nvSpPr>
            <p:cNvPr id="7" name="Shape 127"/>
            <p:cNvSpPr txBox="1"/>
            <p:nvPr/>
          </p:nvSpPr>
          <p:spPr>
            <a:xfrm>
              <a:off x="9756211" y="5449877"/>
              <a:ext cx="224400" cy="486600"/>
            </a:xfrm>
            <a:prstGeom prst="rect">
              <a:avLst/>
            </a:prstGeom>
            <a:noFill/>
            <a:ln>
              <a:noFill/>
            </a:ln>
          </p:spPr>
          <p:txBody>
            <a:bodyPr lIns="91425" tIns="91425" rIns="91425" bIns="91425" anchor="t" anchorCtr="0">
              <a:noAutofit/>
            </a:bodyPr>
            <a:lstStyle/>
            <a:p>
              <a:pPr lvl="0" rtl="0">
                <a:spcBef>
                  <a:spcPts val="0"/>
                </a:spcBef>
                <a:buNone/>
              </a:pPr>
              <a:r>
                <a:rPr lang="en"/>
                <a:t>W</a:t>
              </a:r>
            </a:p>
          </p:txBody>
        </p:sp>
      </p:grpSp>
      <p:cxnSp>
        <p:nvCxnSpPr>
          <p:cNvPr id="16" name="Shape 146"/>
          <p:cNvCxnSpPr/>
          <p:nvPr/>
        </p:nvCxnSpPr>
        <p:spPr>
          <a:xfrm>
            <a:off x="1590094" y="1778850"/>
            <a:ext cx="833400" cy="1345500"/>
          </a:xfrm>
          <a:prstGeom prst="straightConnector1">
            <a:avLst/>
          </a:prstGeom>
          <a:noFill/>
          <a:ln w="38100" cap="flat" cmpd="sng">
            <a:solidFill>
              <a:srgbClr val="351C75"/>
            </a:solidFill>
            <a:prstDash val="solid"/>
            <a:round/>
            <a:headEnd type="none" w="lg" len="lg"/>
            <a:tailEnd type="none" w="lg" len="lg"/>
          </a:ln>
        </p:spPr>
      </p:cxnSp>
      <p:sp>
        <p:nvSpPr>
          <p:cNvPr id="17" name="Shape 147"/>
          <p:cNvSpPr/>
          <p:nvPr/>
        </p:nvSpPr>
        <p:spPr>
          <a:xfrm>
            <a:off x="1944772" y="2362200"/>
            <a:ext cx="98340" cy="89400"/>
          </a:xfrm>
          <a:prstGeom prst="ellipse">
            <a:avLst/>
          </a:prstGeom>
          <a:solidFill>
            <a:srgbClr val="351C75"/>
          </a:solidFill>
          <a:ln>
            <a:noFill/>
          </a:ln>
        </p:spPr>
        <p:txBody>
          <a:bodyPr lIns="91425" tIns="91425" rIns="91425" bIns="91425" anchor="ctr" anchorCtr="0">
            <a:noAutofit/>
          </a:bodyPr>
          <a:lstStyle/>
          <a:p>
            <a:pPr lvl="0">
              <a:spcBef>
                <a:spcPts val="0"/>
              </a:spcBef>
              <a:buNone/>
            </a:pPr>
            <a:r>
              <a:rPr lang="en"/>
              <a:t> </a:t>
            </a:r>
          </a:p>
        </p:txBody>
      </p:sp>
      <p:cxnSp>
        <p:nvCxnSpPr>
          <p:cNvPr id="18" name="Shape 150"/>
          <p:cNvCxnSpPr/>
          <p:nvPr/>
        </p:nvCxnSpPr>
        <p:spPr>
          <a:xfrm>
            <a:off x="1979612" y="5715000"/>
            <a:ext cx="0" cy="376794"/>
          </a:xfrm>
          <a:prstGeom prst="straightConnector1">
            <a:avLst/>
          </a:prstGeom>
          <a:noFill/>
          <a:ln w="28575" cap="flat" cmpd="sng">
            <a:solidFill>
              <a:schemeClr val="dk2"/>
            </a:solidFill>
            <a:prstDash val="solid"/>
            <a:round/>
            <a:headEnd type="none" w="lg" len="lg"/>
            <a:tailEnd type="none" w="lg" len="lg"/>
          </a:ln>
        </p:spPr>
      </p:cxnSp>
      <mc:AlternateContent xmlns:mc="http://schemas.openxmlformats.org/markup-compatibility/2006" xmlns:a14="http://schemas.microsoft.com/office/drawing/2010/main">
        <mc:Choice Requires="a14">
          <p:sp>
            <p:nvSpPr>
              <p:cNvPr id="2" name="TextBox 1"/>
              <p:cNvSpPr txBox="1"/>
              <p:nvPr/>
            </p:nvSpPr>
            <p:spPr>
              <a:xfrm>
                <a:off x="2141376" y="2098858"/>
                <a:ext cx="901914" cy="52668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mr-IN" i="1" smtClean="0">
                              <a:latin typeface="Cambria Math" panose="02040503050406030204" pitchFamily="18" charset="0"/>
                            </a:rPr>
                          </m:ctrlPr>
                        </m:fPr>
                        <m:num>
                          <m:r>
                            <a:rPr lang="mr-IN" i="1" smtClean="0">
                              <a:latin typeface="Cambria Math" charset="0"/>
                            </a:rPr>
                            <m:t>𝜕</m:t>
                          </m:r>
                          <m:r>
                            <a:rPr lang="en-US" b="0" i="1" smtClean="0">
                              <a:latin typeface="Cambria Math" charset="0"/>
                            </a:rPr>
                            <m:t>𝐽</m:t>
                          </m:r>
                        </m:num>
                        <m:den>
                          <m:r>
                            <a:rPr lang="mr-IN" i="1" smtClean="0">
                              <a:latin typeface="Cambria Math" charset="0"/>
                            </a:rPr>
                            <m:t>𝜕</m:t>
                          </m:r>
                          <m:r>
                            <a:rPr lang="en-US" b="0" i="1" smtClean="0">
                              <a:latin typeface="Cambria Math" charset="0"/>
                            </a:rPr>
                            <m:t>𝑊</m:t>
                          </m:r>
                        </m:den>
                      </m:f>
                      <m:r>
                        <a:rPr lang="en-US" b="0" i="1" smtClean="0">
                          <a:latin typeface="Cambria Math" charset="0"/>
                        </a:rPr>
                        <m:t>&lt;0</m:t>
                      </m:r>
                    </m:oMath>
                  </m:oMathPara>
                </a14:m>
                <a:endParaRPr lang="en-US" dirty="0"/>
              </a:p>
            </p:txBody>
          </p:sp>
        </mc:Choice>
        <mc:Fallback xmlns="">
          <p:sp>
            <p:nvSpPr>
              <p:cNvPr id="2" name="TextBox 1"/>
              <p:cNvSpPr txBox="1">
                <a:spLocks noRot="1" noChangeAspect="1" noMove="1" noResize="1" noEditPoints="1" noAdjustHandles="1" noChangeArrowheads="1" noChangeShapeType="1" noTextEdit="1"/>
              </p:cNvSpPr>
              <p:nvPr/>
            </p:nvSpPr>
            <p:spPr>
              <a:xfrm>
                <a:off x="2141376" y="2098858"/>
                <a:ext cx="901914" cy="526683"/>
              </a:xfrm>
              <a:prstGeom prst="rect">
                <a:avLst/>
              </a:prstGeom>
              <a:blipFill rotWithShape="0">
                <a:blip r:embed="rId4"/>
                <a:stretch>
                  <a:fillRect/>
                </a:stretch>
              </a:blipFill>
            </p:spPr>
            <p:txBody>
              <a:bodyPr/>
              <a:lstStyle/>
              <a:p>
                <a:r>
                  <a:rPr lang="en-US">
                    <a:noFill/>
                  </a:rPr>
                  <a:t> </a:t>
                </a:r>
              </a:p>
            </p:txBody>
          </p:sp>
        </mc:Fallback>
      </mc:AlternateContent>
      <p:sp>
        <p:nvSpPr>
          <p:cNvPr id="3" name="TextBox 2"/>
          <p:cNvSpPr txBox="1"/>
          <p:nvPr/>
        </p:nvSpPr>
        <p:spPr>
          <a:xfrm>
            <a:off x="2592333" y="1729526"/>
            <a:ext cx="2028056" cy="369332"/>
          </a:xfrm>
          <a:prstGeom prst="rect">
            <a:avLst/>
          </a:prstGeom>
          <a:noFill/>
        </p:spPr>
        <p:txBody>
          <a:bodyPr wrap="none" rtlCol="0">
            <a:spAutoFit/>
          </a:bodyPr>
          <a:lstStyle/>
          <a:p>
            <a:r>
              <a:rPr lang="en-US" dirty="0" smtClean="0">
                <a:solidFill>
                  <a:srgbClr val="FF0000"/>
                </a:solidFill>
              </a:rPr>
              <a:t>Move to the right!</a:t>
            </a:r>
            <a:endParaRPr lang="en-US" dirty="0">
              <a:solidFill>
                <a:srgbClr val="FF0000"/>
              </a:solidFill>
            </a:endParaRPr>
          </a:p>
        </p:txBody>
      </p:sp>
    </p:spTree>
    <p:extLst>
      <p:ext uri="{BB962C8B-B14F-4D97-AF65-F5344CB8AC3E}">
        <p14:creationId xmlns:p14="http://schemas.microsoft.com/office/powerpoint/2010/main" val="13581085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p:cNvGrpSpPr/>
          <p:nvPr/>
        </p:nvGrpSpPr>
        <p:grpSpPr>
          <a:xfrm>
            <a:off x="989012" y="695802"/>
            <a:ext cx="9829800" cy="5633727"/>
            <a:chOff x="989012" y="695802"/>
            <a:chExt cx="9143997" cy="5240675"/>
          </a:xfrm>
        </p:grpSpPr>
        <p:pic>
          <p:nvPicPr>
            <p:cNvPr id="5" name="Shape 125"/>
            <p:cNvPicPr preferRelativeResize="0"/>
            <p:nvPr/>
          </p:nvPicPr>
          <p:blipFill>
            <a:blip r:embed="rId3">
              <a:alphaModFix/>
            </a:blip>
            <a:stretch>
              <a:fillRect/>
            </a:stretch>
          </p:blipFill>
          <p:spPr>
            <a:xfrm>
              <a:off x="989012" y="990600"/>
              <a:ext cx="9143997" cy="4644103"/>
            </a:xfrm>
            <a:prstGeom prst="rect">
              <a:avLst/>
            </a:prstGeom>
            <a:noFill/>
            <a:ln>
              <a:noFill/>
            </a:ln>
          </p:spPr>
        </p:pic>
        <p:sp>
          <p:nvSpPr>
            <p:cNvPr id="6" name="Shape 126"/>
            <p:cNvSpPr txBox="1"/>
            <p:nvPr/>
          </p:nvSpPr>
          <p:spPr>
            <a:xfrm>
              <a:off x="4596611" y="695802"/>
              <a:ext cx="784500" cy="486600"/>
            </a:xfrm>
            <a:prstGeom prst="rect">
              <a:avLst/>
            </a:prstGeom>
            <a:noFill/>
            <a:ln>
              <a:noFill/>
            </a:ln>
          </p:spPr>
          <p:txBody>
            <a:bodyPr lIns="91425" tIns="91425" rIns="91425" bIns="91425" anchor="t" anchorCtr="0">
              <a:noAutofit/>
            </a:bodyPr>
            <a:lstStyle/>
            <a:p>
              <a:pPr lvl="0" rtl="0">
                <a:spcBef>
                  <a:spcPts val="0"/>
                </a:spcBef>
                <a:buNone/>
              </a:pPr>
              <a:r>
                <a:rPr lang="en"/>
                <a:t>J (cost)</a:t>
              </a:r>
            </a:p>
          </p:txBody>
        </p:sp>
        <p:sp>
          <p:nvSpPr>
            <p:cNvPr id="7" name="Shape 127"/>
            <p:cNvSpPr txBox="1"/>
            <p:nvPr/>
          </p:nvSpPr>
          <p:spPr>
            <a:xfrm>
              <a:off x="9756211" y="5449877"/>
              <a:ext cx="224400" cy="486600"/>
            </a:xfrm>
            <a:prstGeom prst="rect">
              <a:avLst/>
            </a:prstGeom>
            <a:noFill/>
            <a:ln>
              <a:noFill/>
            </a:ln>
          </p:spPr>
          <p:txBody>
            <a:bodyPr lIns="91425" tIns="91425" rIns="91425" bIns="91425" anchor="t" anchorCtr="0">
              <a:noAutofit/>
            </a:bodyPr>
            <a:lstStyle/>
            <a:p>
              <a:pPr lvl="0" rtl="0">
                <a:spcBef>
                  <a:spcPts val="0"/>
                </a:spcBef>
                <a:buNone/>
              </a:pPr>
              <a:r>
                <a:rPr lang="en"/>
                <a:t>W</a:t>
              </a:r>
            </a:p>
          </p:txBody>
        </p:sp>
      </p:grpSp>
      <p:cxnSp>
        <p:nvCxnSpPr>
          <p:cNvPr id="16" name="Shape 146"/>
          <p:cNvCxnSpPr/>
          <p:nvPr/>
        </p:nvCxnSpPr>
        <p:spPr>
          <a:xfrm>
            <a:off x="1590094" y="1778850"/>
            <a:ext cx="833400" cy="1345500"/>
          </a:xfrm>
          <a:prstGeom prst="straightConnector1">
            <a:avLst/>
          </a:prstGeom>
          <a:noFill/>
          <a:ln w="38100" cap="flat" cmpd="sng">
            <a:solidFill>
              <a:srgbClr val="351C75"/>
            </a:solidFill>
            <a:prstDash val="solid"/>
            <a:round/>
            <a:headEnd type="none" w="lg" len="lg"/>
            <a:tailEnd type="none" w="lg" len="lg"/>
          </a:ln>
        </p:spPr>
      </p:cxnSp>
      <p:sp>
        <p:nvSpPr>
          <p:cNvPr id="17" name="Shape 147"/>
          <p:cNvSpPr/>
          <p:nvPr/>
        </p:nvSpPr>
        <p:spPr>
          <a:xfrm>
            <a:off x="1944772" y="2362200"/>
            <a:ext cx="98340" cy="89400"/>
          </a:xfrm>
          <a:prstGeom prst="ellipse">
            <a:avLst/>
          </a:prstGeom>
          <a:solidFill>
            <a:srgbClr val="351C75"/>
          </a:solidFill>
          <a:ln>
            <a:noFill/>
          </a:ln>
        </p:spPr>
        <p:txBody>
          <a:bodyPr lIns="91425" tIns="91425" rIns="91425" bIns="91425" anchor="ctr" anchorCtr="0">
            <a:noAutofit/>
          </a:bodyPr>
          <a:lstStyle/>
          <a:p>
            <a:pPr lvl="0">
              <a:spcBef>
                <a:spcPts val="0"/>
              </a:spcBef>
              <a:buNone/>
            </a:pPr>
            <a:r>
              <a:rPr lang="en"/>
              <a:t> </a:t>
            </a:r>
          </a:p>
        </p:txBody>
      </p:sp>
      <p:cxnSp>
        <p:nvCxnSpPr>
          <p:cNvPr id="18" name="Shape 150"/>
          <p:cNvCxnSpPr/>
          <p:nvPr/>
        </p:nvCxnSpPr>
        <p:spPr>
          <a:xfrm>
            <a:off x="1979612" y="5715000"/>
            <a:ext cx="0" cy="376794"/>
          </a:xfrm>
          <a:prstGeom prst="straightConnector1">
            <a:avLst/>
          </a:prstGeom>
          <a:noFill/>
          <a:ln w="28575" cap="flat" cmpd="sng">
            <a:solidFill>
              <a:schemeClr val="dk2"/>
            </a:solidFill>
            <a:prstDash val="solid"/>
            <a:round/>
            <a:headEnd type="none" w="lg" len="lg"/>
            <a:tailEnd type="none" w="lg" len="lg"/>
          </a:ln>
        </p:spPr>
      </p:cxnSp>
      <mc:AlternateContent xmlns:mc="http://schemas.openxmlformats.org/markup-compatibility/2006" xmlns:a14="http://schemas.microsoft.com/office/drawing/2010/main">
        <mc:Choice Requires="a14">
          <p:sp>
            <p:nvSpPr>
              <p:cNvPr id="2" name="TextBox 1"/>
              <p:cNvSpPr txBox="1"/>
              <p:nvPr/>
            </p:nvSpPr>
            <p:spPr>
              <a:xfrm>
                <a:off x="2141376" y="2098858"/>
                <a:ext cx="901914" cy="52668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mr-IN" i="1" smtClean="0">
                              <a:latin typeface="Cambria Math" panose="02040503050406030204" pitchFamily="18" charset="0"/>
                            </a:rPr>
                          </m:ctrlPr>
                        </m:fPr>
                        <m:num>
                          <m:r>
                            <a:rPr lang="mr-IN" i="1" smtClean="0">
                              <a:latin typeface="Cambria Math" charset="0"/>
                            </a:rPr>
                            <m:t>𝜕</m:t>
                          </m:r>
                          <m:r>
                            <a:rPr lang="en-US" b="0" i="1" smtClean="0">
                              <a:latin typeface="Cambria Math" charset="0"/>
                            </a:rPr>
                            <m:t>𝐽</m:t>
                          </m:r>
                        </m:num>
                        <m:den>
                          <m:r>
                            <a:rPr lang="mr-IN" i="1" smtClean="0">
                              <a:latin typeface="Cambria Math" charset="0"/>
                            </a:rPr>
                            <m:t>𝜕</m:t>
                          </m:r>
                          <m:r>
                            <a:rPr lang="en-US" b="0" i="1" smtClean="0">
                              <a:latin typeface="Cambria Math" charset="0"/>
                            </a:rPr>
                            <m:t>𝑊</m:t>
                          </m:r>
                        </m:den>
                      </m:f>
                      <m:r>
                        <a:rPr lang="en-US" b="0" i="1" smtClean="0">
                          <a:latin typeface="Cambria Math" charset="0"/>
                        </a:rPr>
                        <m:t>&lt;0</m:t>
                      </m:r>
                    </m:oMath>
                  </m:oMathPara>
                </a14:m>
                <a:endParaRPr lang="en-US" dirty="0"/>
              </a:p>
            </p:txBody>
          </p:sp>
        </mc:Choice>
        <mc:Fallback xmlns="">
          <p:sp>
            <p:nvSpPr>
              <p:cNvPr id="2" name="TextBox 1"/>
              <p:cNvSpPr txBox="1">
                <a:spLocks noRot="1" noChangeAspect="1" noMove="1" noResize="1" noEditPoints="1" noAdjustHandles="1" noChangeArrowheads="1" noChangeShapeType="1" noTextEdit="1"/>
              </p:cNvSpPr>
              <p:nvPr/>
            </p:nvSpPr>
            <p:spPr>
              <a:xfrm>
                <a:off x="2141376" y="2098858"/>
                <a:ext cx="901914" cy="526683"/>
              </a:xfrm>
              <a:prstGeom prst="rect">
                <a:avLst/>
              </a:prstGeom>
              <a:blipFill rotWithShape="0">
                <a:blip r:embed="rId4"/>
                <a:stretch>
                  <a:fillRect/>
                </a:stretch>
              </a:blipFill>
            </p:spPr>
            <p:txBody>
              <a:bodyPr/>
              <a:lstStyle/>
              <a:p>
                <a:r>
                  <a:rPr lang="en-US">
                    <a:noFill/>
                  </a:rPr>
                  <a:t> </a:t>
                </a:r>
              </a:p>
            </p:txBody>
          </p:sp>
        </mc:Fallback>
      </mc:AlternateContent>
      <p:cxnSp>
        <p:nvCxnSpPr>
          <p:cNvPr id="11" name="Shape 150"/>
          <p:cNvCxnSpPr/>
          <p:nvPr/>
        </p:nvCxnSpPr>
        <p:spPr>
          <a:xfrm>
            <a:off x="3427412" y="5715000"/>
            <a:ext cx="0" cy="376794"/>
          </a:xfrm>
          <a:prstGeom prst="straightConnector1">
            <a:avLst/>
          </a:prstGeom>
          <a:noFill/>
          <a:ln w="28575" cap="flat" cmpd="sng">
            <a:solidFill>
              <a:schemeClr val="dk2"/>
            </a:solidFill>
            <a:prstDash val="solid"/>
            <a:round/>
            <a:headEnd type="none" w="lg" len="lg"/>
            <a:tailEnd type="none" w="lg" len="lg"/>
          </a:ln>
        </p:spPr>
      </p:cxnSp>
      <p:sp>
        <p:nvSpPr>
          <p:cNvPr id="15" name="Shape 147"/>
          <p:cNvSpPr/>
          <p:nvPr/>
        </p:nvSpPr>
        <p:spPr>
          <a:xfrm>
            <a:off x="3405272" y="4254000"/>
            <a:ext cx="98340" cy="89400"/>
          </a:xfrm>
          <a:prstGeom prst="ellipse">
            <a:avLst/>
          </a:prstGeom>
          <a:solidFill>
            <a:srgbClr val="351C75"/>
          </a:solidFill>
          <a:ln>
            <a:noFill/>
          </a:ln>
        </p:spPr>
        <p:txBody>
          <a:bodyPr lIns="91425" tIns="91425" rIns="91425" bIns="91425" anchor="ctr" anchorCtr="0">
            <a:noAutofit/>
          </a:bodyPr>
          <a:lstStyle/>
          <a:p>
            <a:pPr lvl="0">
              <a:spcBef>
                <a:spcPts val="0"/>
              </a:spcBef>
              <a:buNone/>
            </a:pPr>
            <a:r>
              <a:rPr lang="en"/>
              <a:t> </a:t>
            </a:r>
          </a:p>
        </p:txBody>
      </p:sp>
      <p:cxnSp>
        <p:nvCxnSpPr>
          <p:cNvPr id="20" name="Shape 202"/>
          <p:cNvCxnSpPr/>
          <p:nvPr/>
        </p:nvCxnSpPr>
        <p:spPr>
          <a:xfrm>
            <a:off x="1979612" y="5918200"/>
            <a:ext cx="1447800" cy="0"/>
          </a:xfrm>
          <a:prstGeom prst="straightConnector1">
            <a:avLst/>
          </a:prstGeom>
          <a:noFill/>
          <a:ln w="38100" cap="flat" cmpd="sng">
            <a:solidFill>
              <a:srgbClr val="0000FF"/>
            </a:solidFill>
            <a:prstDash val="solid"/>
            <a:round/>
            <a:headEnd type="none" w="lg" len="lg"/>
            <a:tailEnd type="stealth" w="lg" len="lg"/>
          </a:ln>
        </p:spPr>
      </p:cxnSp>
      <mc:AlternateContent xmlns:mc="http://schemas.openxmlformats.org/markup-compatibility/2006" xmlns:a14="http://schemas.microsoft.com/office/drawing/2010/main">
        <mc:Choice Requires="a14">
          <p:sp>
            <p:nvSpPr>
              <p:cNvPr id="9" name="TextBox 8"/>
              <p:cNvSpPr txBox="1"/>
              <p:nvPr/>
            </p:nvSpPr>
            <p:spPr>
              <a:xfrm>
                <a:off x="2423494" y="5977527"/>
                <a:ext cx="48192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0000"/>
                          </a:solidFill>
                          <a:latin typeface="Cambria Math" charset="0"/>
                          <a:ea typeface="Cambria Math" charset="0"/>
                          <a:cs typeface="Cambria Math" charset="0"/>
                        </a:rPr>
                        <m:t>∆</m:t>
                      </m:r>
                      <m:r>
                        <a:rPr lang="en-US" b="0" i="1" smtClean="0">
                          <a:solidFill>
                            <a:srgbClr val="FF0000"/>
                          </a:solidFill>
                          <a:latin typeface="Cambria Math" charset="0"/>
                          <a:ea typeface="Cambria Math" charset="0"/>
                          <a:cs typeface="Cambria Math" charset="0"/>
                        </a:rPr>
                        <m:t>𝑊</m:t>
                      </m:r>
                    </m:oMath>
                  </m:oMathPara>
                </a14:m>
                <a:endParaRPr lang="en-US" dirty="0">
                  <a:solidFill>
                    <a:srgbClr val="FF0000"/>
                  </a:solidFill>
                </a:endParaRPr>
              </a:p>
            </p:txBody>
          </p:sp>
        </mc:Choice>
        <mc:Fallback xmlns="">
          <p:sp>
            <p:nvSpPr>
              <p:cNvPr id="9" name="TextBox 8"/>
              <p:cNvSpPr txBox="1">
                <a:spLocks noRot="1" noChangeAspect="1" noMove="1" noResize="1" noEditPoints="1" noAdjustHandles="1" noChangeArrowheads="1" noChangeShapeType="1" noTextEdit="1"/>
              </p:cNvSpPr>
              <p:nvPr/>
            </p:nvSpPr>
            <p:spPr>
              <a:xfrm>
                <a:off x="2423494" y="5977527"/>
                <a:ext cx="481927" cy="276999"/>
              </a:xfrm>
              <a:prstGeom prst="rect">
                <a:avLst/>
              </a:prstGeom>
              <a:blipFill rotWithShape="0">
                <a:blip r:embed="rId5"/>
                <a:stretch>
                  <a:fillRect l="-5063" r="-3797" b="-13333"/>
                </a:stretch>
              </a:blipFill>
            </p:spPr>
            <p:txBody>
              <a:bodyPr/>
              <a:lstStyle/>
              <a:p>
                <a:r>
                  <a:rPr lang="en-US">
                    <a:noFill/>
                  </a:rPr>
                  <a:t> </a:t>
                </a:r>
              </a:p>
            </p:txBody>
          </p:sp>
        </mc:Fallback>
      </mc:AlternateContent>
    </p:spTree>
    <p:extLst>
      <p:ext uri="{BB962C8B-B14F-4D97-AF65-F5344CB8AC3E}">
        <p14:creationId xmlns:p14="http://schemas.microsoft.com/office/powerpoint/2010/main" val="134869614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p:cNvGrpSpPr/>
          <p:nvPr/>
        </p:nvGrpSpPr>
        <p:grpSpPr>
          <a:xfrm>
            <a:off x="989012" y="695802"/>
            <a:ext cx="9829800" cy="5633727"/>
            <a:chOff x="989012" y="695802"/>
            <a:chExt cx="9143997" cy="5240675"/>
          </a:xfrm>
        </p:grpSpPr>
        <p:pic>
          <p:nvPicPr>
            <p:cNvPr id="5" name="Shape 125"/>
            <p:cNvPicPr preferRelativeResize="0"/>
            <p:nvPr/>
          </p:nvPicPr>
          <p:blipFill>
            <a:blip r:embed="rId3">
              <a:alphaModFix/>
            </a:blip>
            <a:stretch>
              <a:fillRect/>
            </a:stretch>
          </p:blipFill>
          <p:spPr>
            <a:xfrm>
              <a:off x="989012" y="990600"/>
              <a:ext cx="9143997" cy="4644103"/>
            </a:xfrm>
            <a:prstGeom prst="rect">
              <a:avLst/>
            </a:prstGeom>
            <a:noFill/>
            <a:ln>
              <a:noFill/>
            </a:ln>
          </p:spPr>
        </p:pic>
        <p:sp>
          <p:nvSpPr>
            <p:cNvPr id="6" name="Shape 126"/>
            <p:cNvSpPr txBox="1"/>
            <p:nvPr/>
          </p:nvSpPr>
          <p:spPr>
            <a:xfrm>
              <a:off x="4596611" y="695802"/>
              <a:ext cx="784500" cy="486600"/>
            </a:xfrm>
            <a:prstGeom prst="rect">
              <a:avLst/>
            </a:prstGeom>
            <a:noFill/>
            <a:ln>
              <a:noFill/>
            </a:ln>
          </p:spPr>
          <p:txBody>
            <a:bodyPr lIns="91425" tIns="91425" rIns="91425" bIns="91425" anchor="t" anchorCtr="0">
              <a:noAutofit/>
            </a:bodyPr>
            <a:lstStyle/>
            <a:p>
              <a:pPr lvl="0" rtl="0">
                <a:spcBef>
                  <a:spcPts val="0"/>
                </a:spcBef>
                <a:buNone/>
              </a:pPr>
              <a:r>
                <a:rPr lang="en"/>
                <a:t>J (cost)</a:t>
              </a:r>
            </a:p>
          </p:txBody>
        </p:sp>
        <p:sp>
          <p:nvSpPr>
            <p:cNvPr id="7" name="Shape 127"/>
            <p:cNvSpPr txBox="1"/>
            <p:nvPr/>
          </p:nvSpPr>
          <p:spPr>
            <a:xfrm>
              <a:off x="9756211" y="5449877"/>
              <a:ext cx="224400" cy="486600"/>
            </a:xfrm>
            <a:prstGeom prst="rect">
              <a:avLst/>
            </a:prstGeom>
            <a:noFill/>
            <a:ln>
              <a:noFill/>
            </a:ln>
          </p:spPr>
          <p:txBody>
            <a:bodyPr lIns="91425" tIns="91425" rIns="91425" bIns="91425" anchor="t" anchorCtr="0">
              <a:noAutofit/>
            </a:bodyPr>
            <a:lstStyle/>
            <a:p>
              <a:pPr lvl="0" rtl="0">
                <a:spcBef>
                  <a:spcPts val="0"/>
                </a:spcBef>
                <a:buNone/>
              </a:pPr>
              <a:r>
                <a:rPr lang="en"/>
                <a:t>W</a:t>
              </a:r>
            </a:p>
          </p:txBody>
        </p:sp>
      </p:grpSp>
      <p:sp>
        <p:nvSpPr>
          <p:cNvPr id="17" name="Shape 147"/>
          <p:cNvSpPr/>
          <p:nvPr/>
        </p:nvSpPr>
        <p:spPr>
          <a:xfrm>
            <a:off x="1944772" y="2362200"/>
            <a:ext cx="98340" cy="89400"/>
          </a:xfrm>
          <a:prstGeom prst="ellipse">
            <a:avLst/>
          </a:prstGeom>
          <a:solidFill>
            <a:srgbClr val="351C75"/>
          </a:solidFill>
          <a:ln>
            <a:noFill/>
          </a:ln>
        </p:spPr>
        <p:txBody>
          <a:bodyPr lIns="91425" tIns="91425" rIns="91425" bIns="91425" anchor="ctr" anchorCtr="0">
            <a:noAutofit/>
          </a:bodyPr>
          <a:lstStyle/>
          <a:p>
            <a:pPr lvl="0">
              <a:spcBef>
                <a:spcPts val="0"/>
              </a:spcBef>
              <a:buNone/>
            </a:pPr>
            <a:r>
              <a:rPr lang="en"/>
              <a:t> </a:t>
            </a:r>
          </a:p>
        </p:txBody>
      </p:sp>
      <p:cxnSp>
        <p:nvCxnSpPr>
          <p:cNvPr id="18" name="Shape 150"/>
          <p:cNvCxnSpPr/>
          <p:nvPr/>
        </p:nvCxnSpPr>
        <p:spPr>
          <a:xfrm>
            <a:off x="1979612" y="5715000"/>
            <a:ext cx="0" cy="376794"/>
          </a:xfrm>
          <a:prstGeom prst="straightConnector1">
            <a:avLst/>
          </a:prstGeom>
          <a:noFill/>
          <a:ln w="28575" cap="flat" cmpd="sng">
            <a:solidFill>
              <a:schemeClr val="dk2"/>
            </a:solidFill>
            <a:prstDash val="solid"/>
            <a:round/>
            <a:headEnd type="none" w="lg" len="lg"/>
            <a:tailEnd type="none" w="lg" len="lg"/>
          </a:ln>
        </p:spPr>
      </p:cxnSp>
      <p:sp>
        <p:nvSpPr>
          <p:cNvPr id="2" name="TextBox 1"/>
          <p:cNvSpPr txBox="1"/>
          <p:nvPr/>
        </p:nvSpPr>
        <p:spPr>
          <a:xfrm>
            <a:off x="3969113" y="3657600"/>
            <a:ext cx="2606419" cy="276999"/>
          </a:xfrm>
          <a:prstGeom prst="rect">
            <a:avLst/>
          </a:prstGeom>
          <a:noFill/>
        </p:spPr>
        <p:txBody>
          <a:bodyPr wrap="none" lIns="0" tIns="0" rIns="0" bIns="0" rtlCol="0">
            <a:spAutoFit/>
          </a:bodyPr>
          <a:lstStyle/>
          <a:p>
            <a:r>
              <a:rPr lang="en-US" dirty="0" smtClean="0">
                <a:solidFill>
                  <a:srgbClr val="FF0000"/>
                </a:solidFill>
              </a:rPr>
              <a:t>Cost at new weight value</a:t>
            </a:r>
            <a:endParaRPr lang="en-US" dirty="0">
              <a:solidFill>
                <a:srgbClr val="FF0000"/>
              </a:solidFill>
            </a:endParaRPr>
          </a:p>
        </p:txBody>
      </p:sp>
      <p:cxnSp>
        <p:nvCxnSpPr>
          <p:cNvPr id="11" name="Shape 150"/>
          <p:cNvCxnSpPr/>
          <p:nvPr/>
        </p:nvCxnSpPr>
        <p:spPr>
          <a:xfrm>
            <a:off x="3427412" y="5715000"/>
            <a:ext cx="0" cy="376794"/>
          </a:xfrm>
          <a:prstGeom prst="straightConnector1">
            <a:avLst/>
          </a:prstGeom>
          <a:noFill/>
          <a:ln w="28575" cap="flat" cmpd="sng">
            <a:solidFill>
              <a:schemeClr val="dk2"/>
            </a:solidFill>
            <a:prstDash val="solid"/>
            <a:round/>
            <a:headEnd type="none" w="lg" len="lg"/>
            <a:tailEnd type="none" w="lg" len="lg"/>
          </a:ln>
        </p:spPr>
      </p:cxnSp>
      <p:sp>
        <p:nvSpPr>
          <p:cNvPr id="15" name="Shape 147"/>
          <p:cNvSpPr/>
          <p:nvPr/>
        </p:nvSpPr>
        <p:spPr>
          <a:xfrm>
            <a:off x="3405272" y="4254000"/>
            <a:ext cx="98340" cy="89400"/>
          </a:xfrm>
          <a:prstGeom prst="ellipse">
            <a:avLst/>
          </a:prstGeom>
          <a:solidFill>
            <a:srgbClr val="351C75"/>
          </a:solidFill>
          <a:ln>
            <a:noFill/>
          </a:ln>
        </p:spPr>
        <p:txBody>
          <a:bodyPr lIns="91425" tIns="91425" rIns="91425" bIns="91425" anchor="ctr" anchorCtr="0">
            <a:noAutofit/>
          </a:bodyPr>
          <a:lstStyle/>
          <a:p>
            <a:pPr lvl="0">
              <a:spcBef>
                <a:spcPts val="0"/>
              </a:spcBef>
              <a:buNone/>
            </a:pPr>
            <a:r>
              <a:rPr lang="en"/>
              <a:t> </a:t>
            </a:r>
          </a:p>
        </p:txBody>
      </p:sp>
      <p:cxnSp>
        <p:nvCxnSpPr>
          <p:cNvPr id="20" name="Shape 202"/>
          <p:cNvCxnSpPr/>
          <p:nvPr/>
        </p:nvCxnSpPr>
        <p:spPr>
          <a:xfrm>
            <a:off x="1979612" y="5918200"/>
            <a:ext cx="1447800" cy="0"/>
          </a:xfrm>
          <a:prstGeom prst="straightConnector1">
            <a:avLst/>
          </a:prstGeom>
          <a:noFill/>
          <a:ln w="38100" cap="flat" cmpd="sng">
            <a:solidFill>
              <a:schemeClr val="tx1">
                <a:lumMod val="60000"/>
                <a:lumOff val="40000"/>
              </a:schemeClr>
            </a:solidFill>
            <a:prstDash val="solid"/>
            <a:round/>
            <a:headEnd type="none" w="lg" len="lg"/>
            <a:tailEnd type="stealth" w="lg" len="lg"/>
          </a:ln>
        </p:spPr>
      </p:cxnSp>
      <p:cxnSp>
        <p:nvCxnSpPr>
          <p:cNvPr id="22" name="Shape 137"/>
          <p:cNvCxnSpPr/>
          <p:nvPr/>
        </p:nvCxnSpPr>
        <p:spPr>
          <a:xfrm flipH="1">
            <a:off x="3587813" y="3934599"/>
            <a:ext cx="762600" cy="272700"/>
          </a:xfrm>
          <a:prstGeom prst="straightConnector1">
            <a:avLst/>
          </a:prstGeom>
          <a:noFill/>
          <a:ln w="28575" cap="flat" cmpd="sng">
            <a:solidFill>
              <a:srgbClr val="FF0000"/>
            </a:solidFill>
            <a:prstDash val="solid"/>
            <a:round/>
            <a:headEnd type="none" w="lg" len="lg"/>
            <a:tailEnd type="triangle" w="lg" len="lg"/>
          </a:ln>
        </p:spPr>
      </p:cxnSp>
    </p:spTree>
    <p:extLst>
      <p:ext uri="{BB962C8B-B14F-4D97-AF65-F5344CB8AC3E}">
        <p14:creationId xmlns:p14="http://schemas.microsoft.com/office/powerpoint/2010/main" val="118503281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p:cNvGrpSpPr/>
          <p:nvPr/>
        </p:nvGrpSpPr>
        <p:grpSpPr>
          <a:xfrm>
            <a:off x="989012" y="695802"/>
            <a:ext cx="9829800" cy="5633727"/>
            <a:chOff x="989012" y="695802"/>
            <a:chExt cx="9143997" cy="5240675"/>
          </a:xfrm>
        </p:grpSpPr>
        <p:pic>
          <p:nvPicPr>
            <p:cNvPr id="5" name="Shape 125"/>
            <p:cNvPicPr preferRelativeResize="0"/>
            <p:nvPr/>
          </p:nvPicPr>
          <p:blipFill>
            <a:blip r:embed="rId3">
              <a:alphaModFix/>
            </a:blip>
            <a:stretch>
              <a:fillRect/>
            </a:stretch>
          </p:blipFill>
          <p:spPr>
            <a:xfrm>
              <a:off x="989012" y="990600"/>
              <a:ext cx="9143997" cy="4644103"/>
            </a:xfrm>
            <a:prstGeom prst="rect">
              <a:avLst/>
            </a:prstGeom>
            <a:noFill/>
            <a:ln>
              <a:noFill/>
            </a:ln>
          </p:spPr>
        </p:pic>
        <p:sp>
          <p:nvSpPr>
            <p:cNvPr id="6" name="Shape 126"/>
            <p:cNvSpPr txBox="1"/>
            <p:nvPr/>
          </p:nvSpPr>
          <p:spPr>
            <a:xfrm>
              <a:off x="4596611" y="695802"/>
              <a:ext cx="784500" cy="486600"/>
            </a:xfrm>
            <a:prstGeom prst="rect">
              <a:avLst/>
            </a:prstGeom>
            <a:noFill/>
            <a:ln>
              <a:noFill/>
            </a:ln>
          </p:spPr>
          <p:txBody>
            <a:bodyPr lIns="91425" tIns="91425" rIns="91425" bIns="91425" anchor="t" anchorCtr="0">
              <a:noAutofit/>
            </a:bodyPr>
            <a:lstStyle/>
            <a:p>
              <a:pPr lvl="0" rtl="0">
                <a:spcBef>
                  <a:spcPts val="0"/>
                </a:spcBef>
                <a:buNone/>
              </a:pPr>
              <a:r>
                <a:rPr lang="en"/>
                <a:t>J (cost)</a:t>
              </a:r>
            </a:p>
          </p:txBody>
        </p:sp>
        <p:sp>
          <p:nvSpPr>
            <p:cNvPr id="7" name="Shape 127"/>
            <p:cNvSpPr txBox="1"/>
            <p:nvPr/>
          </p:nvSpPr>
          <p:spPr>
            <a:xfrm>
              <a:off x="9756211" y="5449877"/>
              <a:ext cx="224400" cy="486600"/>
            </a:xfrm>
            <a:prstGeom prst="rect">
              <a:avLst/>
            </a:prstGeom>
            <a:noFill/>
            <a:ln>
              <a:noFill/>
            </a:ln>
          </p:spPr>
          <p:txBody>
            <a:bodyPr lIns="91425" tIns="91425" rIns="91425" bIns="91425" anchor="t" anchorCtr="0">
              <a:noAutofit/>
            </a:bodyPr>
            <a:lstStyle/>
            <a:p>
              <a:pPr lvl="0" rtl="0">
                <a:spcBef>
                  <a:spcPts val="0"/>
                </a:spcBef>
                <a:buNone/>
              </a:pPr>
              <a:r>
                <a:rPr lang="en"/>
                <a:t>W</a:t>
              </a:r>
            </a:p>
          </p:txBody>
        </p:sp>
      </p:grpSp>
      <p:sp>
        <p:nvSpPr>
          <p:cNvPr id="17" name="Shape 147"/>
          <p:cNvSpPr/>
          <p:nvPr/>
        </p:nvSpPr>
        <p:spPr>
          <a:xfrm>
            <a:off x="1944772" y="2362200"/>
            <a:ext cx="98340" cy="89400"/>
          </a:xfrm>
          <a:prstGeom prst="ellipse">
            <a:avLst/>
          </a:prstGeom>
          <a:solidFill>
            <a:srgbClr val="351C75"/>
          </a:solidFill>
          <a:ln>
            <a:noFill/>
          </a:ln>
        </p:spPr>
        <p:txBody>
          <a:bodyPr lIns="91425" tIns="91425" rIns="91425" bIns="91425" anchor="ctr" anchorCtr="0">
            <a:noAutofit/>
          </a:bodyPr>
          <a:lstStyle/>
          <a:p>
            <a:pPr lvl="0">
              <a:spcBef>
                <a:spcPts val="0"/>
              </a:spcBef>
              <a:buNone/>
            </a:pPr>
            <a:r>
              <a:rPr lang="en"/>
              <a:t> </a:t>
            </a:r>
          </a:p>
        </p:txBody>
      </p:sp>
      <p:cxnSp>
        <p:nvCxnSpPr>
          <p:cNvPr id="18" name="Shape 150"/>
          <p:cNvCxnSpPr/>
          <p:nvPr/>
        </p:nvCxnSpPr>
        <p:spPr>
          <a:xfrm>
            <a:off x="1979612" y="5715000"/>
            <a:ext cx="0" cy="376794"/>
          </a:xfrm>
          <a:prstGeom prst="straightConnector1">
            <a:avLst/>
          </a:prstGeom>
          <a:noFill/>
          <a:ln w="28575" cap="flat" cmpd="sng">
            <a:solidFill>
              <a:schemeClr val="dk2"/>
            </a:solidFill>
            <a:prstDash val="solid"/>
            <a:round/>
            <a:headEnd type="none" w="lg" len="lg"/>
            <a:tailEnd type="none" w="lg" len="lg"/>
          </a:ln>
        </p:spPr>
      </p:cxnSp>
      <mc:AlternateContent xmlns:mc="http://schemas.openxmlformats.org/markup-compatibility/2006" xmlns:a14="http://schemas.microsoft.com/office/drawing/2010/main">
        <mc:Choice Requires="a14">
          <p:sp>
            <p:nvSpPr>
              <p:cNvPr id="2" name="TextBox 1"/>
              <p:cNvSpPr txBox="1"/>
              <p:nvPr/>
            </p:nvSpPr>
            <p:spPr>
              <a:xfrm>
                <a:off x="3559509" y="3539750"/>
                <a:ext cx="472309" cy="52668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mr-IN" i="1" smtClean="0">
                              <a:latin typeface="Cambria Math" panose="02040503050406030204" pitchFamily="18" charset="0"/>
                            </a:rPr>
                          </m:ctrlPr>
                        </m:fPr>
                        <m:num>
                          <m:r>
                            <a:rPr lang="mr-IN" i="1" smtClean="0">
                              <a:latin typeface="Cambria Math" charset="0"/>
                            </a:rPr>
                            <m:t>𝜕</m:t>
                          </m:r>
                          <m:r>
                            <a:rPr lang="en-US" b="0" i="1" smtClean="0">
                              <a:latin typeface="Cambria Math" charset="0"/>
                            </a:rPr>
                            <m:t>𝐽</m:t>
                          </m:r>
                        </m:num>
                        <m:den>
                          <m:r>
                            <a:rPr lang="mr-IN" i="1" smtClean="0">
                              <a:latin typeface="Cambria Math" charset="0"/>
                            </a:rPr>
                            <m:t>𝜕</m:t>
                          </m:r>
                          <m:r>
                            <a:rPr lang="en-US" b="0" i="1" smtClean="0">
                              <a:latin typeface="Cambria Math" charset="0"/>
                            </a:rPr>
                            <m:t>𝑊</m:t>
                          </m:r>
                        </m:den>
                      </m:f>
                    </m:oMath>
                  </m:oMathPara>
                </a14:m>
                <a:endParaRPr lang="en-US" dirty="0"/>
              </a:p>
            </p:txBody>
          </p:sp>
        </mc:Choice>
        <mc:Fallback xmlns="">
          <p:sp>
            <p:nvSpPr>
              <p:cNvPr id="2" name="TextBox 1"/>
              <p:cNvSpPr txBox="1">
                <a:spLocks noRot="1" noChangeAspect="1" noMove="1" noResize="1" noEditPoints="1" noAdjustHandles="1" noChangeArrowheads="1" noChangeShapeType="1" noTextEdit="1"/>
              </p:cNvSpPr>
              <p:nvPr/>
            </p:nvSpPr>
            <p:spPr>
              <a:xfrm>
                <a:off x="3559509" y="3539750"/>
                <a:ext cx="472309" cy="526683"/>
              </a:xfrm>
              <a:prstGeom prst="rect">
                <a:avLst/>
              </a:prstGeom>
              <a:blipFill rotWithShape="0">
                <a:blip r:embed="rId4"/>
                <a:stretch>
                  <a:fillRect/>
                </a:stretch>
              </a:blipFill>
            </p:spPr>
            <p:txBody>
              <a:bodyPr/>
              <a:lstStyle/>
              <a:p>
                <a:r>
                  <a:rPr lang="en-US">
                    <a:noFill/>
                  </a:rPr>
                  <a:t> </a:t>
                </a:r>
              </a:p>
            </p:txBody>
          </p:sp>
        </mc:Fallback>
      </mc:AlternateContent>
      <p:cxnSp>
        <p:nvCxnSpPr>
          <p:cNvPr id="11" name="Shape 150"/>
          <p:cNvCxnSpPr/>
          <p:nvPr/>
        </p:nvCxnSpPr>
        <p:spPr>
          <a:xfrm>
            <a:off x="3427412" y="5715000"/>
            <a:ext cx="0" cy="376794"/>
          </a:xfrm>
          <a:prstGeom prst="straightConnector1">
            <a:avLst/>
          </a:prstGeom>
          <a:noFill/>
          <a:ln w="28575" cap="flat" cmpd="sng">
            <a:solidFill>
              <a:schemeClr val="dk2"/>
            </a:solidFill>
            <a:prstDash val="solid"/>
            <a:round/>
            <a:headEnd type="none" w="lg" len="lg"/>
            <a:tailEnd type="none" w="lg" len="lg"/>
          </a:ln>
        </p:spPr>
      </p:cxnSp>
      <p:sp>
        <p:nvSpPr>
          <p:cNvPr id="15" name="Shape 147"/>
          <p:cNvSpPr/>
          <p:nvPr/>
        </p:nvSpPr>
        <p:spPr>
          <a:xfrm>
            <a:off x="3405272" y="4254000"/>
            <a:ext cx="98340" cy="89400"/>
          </a:xfrm>
          <a:prstGeom prst="ellipse">
            <a:avLst/>
          </a:prstGeom>
          <a:solidFill>
            <a:srgbClr val="351C75"/>
          </a:solidFill>
          <a:ln>
            <a:noFill/>
          </a:ln>
        </p:spPr>
        <p:txBody>
          <a:bodyPr lIns="91425" tIns="91425" rIns="91425" bIns="91425" anchor="ctr" anchorCtr="0">
            <a:noAutofit/>
          </a:bodyPr>
          <a:lstStyle/>
          <a:p>
            <a:pPr lvl="0">
              <a:spcBef>
                <a:spcPts val="0"/>
              </a:spcBef>
              <a:buNone/>
            </a:pPr>
            <a:r>
              <a:rPr lang="en"/>
              <a:t> </a:t>
            </a:r>
          </a:p>
        </p:txBody>
      </p:sp>
      <p:cxnSp>
        <p:nvCxnSpPr>
          <p:cNvPr id="20" name="Shape 202"/>
          <p:cNvCxnSpPr/>
          <p:nvPr/>
        </p:nvCxnSpPr>
        <p:spPr>
          <a:xfrm>
            <a:off x="1979612" y="5918200"/>
            <a:ext cx="1447800" cy="0"/>
          </a:xfrm>
          <a:prstGeom prst="straightConnector1">
            <a:avLst/>
          </a:prstGeom>
          <a:noFill/>
          <a:ln w="38100" cap="flat" cmpd="sng">
            <a:solidFill>
              <a:schemeClr val="tx1">
                <a:lumMod val="60000"/>
                <a:lumOff val="40000"/>
              </a:schemeClr>
            </a:solidFill>
            <a:prstDash val="solid"/>
            <a:round/>
            <a:headEnd type="none" w="lg" len="lg"/>
            <a:tailEnd type="stealth" w="lg" len="lg"/>
          </a:ln>
        </p:spPr>
      </p:cxnSp>
      <p:cxnSp>
        <p:nvCxnSpPr>
          <p:cNvPr id="14" name="Shape 213"/>
          <p:cNvCxnSpPr/>
          <p:nvPr/>
        </p:nvCxnSpPr>
        <p:spPr>
          <a:xfrm>
            <a:off x="2664457" y="3539750"/>
            <a:ext cx="1544340" cy="1517900"/>
          </a:xfrm>
          <a:prstGeom prst="straightConnector1">
            <a:avLst/>
          </a:prstGeom>
          <a:noFill/>
          <a:ln w="38100" cap="flat" cmpd="sng">
            <a:solidFill>
              <a:srgbClr val="FF0000"/>
            </a:solidFill>
            <a:prstDash val="solid"/>
            <a:round/>
            <a:headEnd type="none" w="lg" len="lg"/>
            <a:tailEnd type="none" w="lg" len="lg"/>
          </a:ln>
        </p:spPr>
      </p:cxnSp>
    </p:spTree>
    <p:extLst>
      <p:ext uri="{BB962C8B-B14F-4D97-AF65-F5344CB8AC3E}">
        <p14:creationId xmlns:p14="http://schemas.microsoft.com/office/powerpoint/2010/main" val="20446441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p:cNvGrpSpPr/>
          <p:nvPr/>
        </p:nvGrpSpPr>
        <p:grpSpPr>
          <a:xfrm>
            <a:off x="989012" y="695802"/>
            <a:ext cx="9829800" cy="5633727"/>
            <a:chOff x="989012" y="695802"/>
            <a:chExt cx="9143997" cy="5240675"/>
          </a:xfrm>
        </p:grpSpPr>
        <p:pic>
          <p:nvPicPr>
            <p:cNvPr id="5" name="Shape 125"/>
            <p:cNvPicPr preferRelativeResize="0"/>
            <p:nvPr/>
          </p:nvPicPr>
          <p:blipFill>
            <a:blip r:embed="rId3">
              <a:alphaModFix/>
            </a:blip>
            <a:stretch>
              <a:fillRect/>
            </a:stretch>
          </p:blipFill>
          <p:spPr>
            <a:xfrm>
              <a:off x="989012" y="990600"/>
              <a:ext cx="9143997" cy="4644103"/>
            </a:xfrm>
            <a:prstGeom prst="rect">
              <a:avLst/>
            </a:prstGeom>
            <a:noFill/>
            <a:ln>
              <a:noFill/>
            </a:ln>
          </p:spPr>
        </p:pic>
        <p:sp>
          <p:nvSpPr>
            <p:cNvPr id="6" name="Shape 126"/>
            <p:cNvSpPr txBox="1"/>
            <p:nvPr/>
          </p:nvSpPr>
          <p:spPr>
            <a:xfrm>
              <a:off x="4596611" y="695802"/>
              <a:ext cx="784500" cy="486600"/>
            </a:xfrm>
            <a:prstGeom prst="rect">
              <a:avLst/>
            </a:prstGeom>
            <a:noFill/>
            <a:ln>
              <a:noFill/>
            </a:ln>
          </p:spPr>
          <p:txBody>
            <a:bodyPr lIns="91425" tIns="91425" rIns="91425" bIns="91425" anchor="t" anchorCtr="0">
              <a:noAutofit/>
            </a:bodyPr>
            <a:lstStyle/>
            <a:p>
              <a:pPr lvl="0" rtl="0">
                <a:spcBef>
                  <a:spcPts val="0"/>
                </a:spcBef>
                <a:buNone/>
              </a:pPr>
              <a:r>
                <a:rPr lang="en"/>
                <a:t>J (cost)</a:t>
              </a:r>
            </a:p>
          </p:txBody>
        </p:sp>
        <p:sp>
          <p:nvSpPr>
            <p:cNvPr id="7" name="Shape 127"/>
            <p:cNvSpPr txBox="1"/>
            <p:nvPr/>
          </p:nvSpPr>
          <p:spPr>
            <a:xfrm>
              <a:off x="9756211" y="5449877"/>
              <a:ext cx="224400" cy="486600"/>
            </a:xfrm>
            <a:prstGeom prst="rect">
              <a:avLst/>
            </a:prstGeom>
            <a:noFill/>
            <a:ln>
              <a:noFill/>
            </a:ln>
          </p:spPr>
          <p:txBody>
            <a:bodyPr lIns="91425" tIns="91425" rIns="91425" bIns="91425" anchor="t" anchorCtr="0">
              <a:noAutofit/>
            </a:bodyPr>
            <a:lstStyle/>
            <a:p>
              <a:pPr lvl="0" rtl="0">
                <a:spcBef>
                  <a:spcPts val="0"/>
                </a:spcBef>
                <a:buNone/>
              </a:pPr>
              <a:r>
                <a:rPr lang="en"/>
                <a:t>W</a:t>
              </a:r>
            </a:p>
          </p:txBody>
        </p:sp>
      </p:grpSp>
      <p:sp>
        <p:nvSpPr>
          <p:cNvPr id="17" name="Shape 147"/>
          <p:cNvSpPr/>
          <p:nvPr/>
        </p:nvSpPr>
        <p:spPr>
          <a:xfrm>
            <a:off x="1944772" y="2362200"/>
            <a:ext cx="98340" cy="89400"/>
          </a:xfrm>
          <a:prstGeom prst="ellipse">
            <a:avLst/>
          </a:prstGeom>
          <a:solidFill>
            <a:srgbClr val="351C75"/>
          </a:solidFill>
          <a:ln>
            <a:noFill/>
          </a:ln>
        </p:spPr>
        <p:txBody>
          <a:bodyPr lIns="91425" tIns="91425" rIns="91425" bIns="91425" anchor="ctr" anchorCtr="0">
            <a:noAutofit/>
          </a:bodyPr>
          <a:lstStyle/>
          <a:p>
            <a:pPr lvl="0">
              <a:spcBef>
                <a:spcPts val="0"/>
              </a:spcBef>
              <a:buNone/>
            </a:pPr>
            <a:r>
              <a:rPr lang="en"/>
              <a:t> </a:t>
            </a:r>
          </a:p>
        </p:txBody>
      </p:sp>
      <p:cxnSp>
        <p:nvCxnSpPr>
          <p:cNvPr id="18" name="Shape 150"/>
          <p:cNvCxnSpPr/>
          <p:nvPr/>
        </p:nvCxnSpPr>
        <p:spPr>
          <a:xfrm>
            <a:off x="1979612" y="5715000"/>
            <a:ext cx="0" cy="376794"/>
          </a:xfrm>
          <a:prstGeom prst="straightConnector1">
            <a:avLst/>
          </a:prstGeom>
          <a:noFill/>
          <a:ln w="28575" cap="flat" cmpd="sng">
            <a:solidFill>
              <a:schemeClr val="dk2"/>
            </a:solidFill>
            <a:prstDash val="solid"/>
            <a:round/>
            <a:headEnd type="none" w="lg" len="lg"/>
            <a:tailEnd type="none" w="lg" len="lg"/>
          </a:ln>
        </p:spPr>
      </p:cxnSp>
      <mc:AlternateContent xmlns:mc="http://schemas.openxmlformats.org/markup-compatibility/2006" xmlns:a14="http://schemas.microsoft.com/office/drawing/2010/main">
        <mc:Choice Requires="a14">
          <p:sp>
            <p:nvSpPr>
              <p:cNvPr id="2" name="TextBox 1"/>
              <p:cNvSpPr txBox="1"/>
              <p:nvPr/>
            </p:nvSpPr>
            <p:spPr>
              <a:xfrm>
                <a:off x="3559509" y="3539750"/>
                <a:ext cx="901914" cy="52668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mr-IN" i="1" smtClean="0">
                              <a:solidFill>
                                <a:srgbClr val="FF0000"/>
                              </a:solidFill>
                              <a:latin typeface="Cambria Math" panose="02040503050406030204" pitchFamily="18" charset="0"/>
                            </a:rPr>
                          </m:ctrlPr>
                        </m:fPr>
                        <m:num>
                          <m:r>
                            <a:rPr lang="mr-IN" i="1" smtClean="0">
                              <a:solidFill>
                                <a:srgbClr val="FF0000"/>
                              </a:solidFill>
                              <a:latin typeface="Cambria Math" charset="0"/>
                            </a:rPr>
                            <m:t>𝜕</m:t>
                          </m:r>
                          <m:r>
                            <a:rPr lang="en-US" b="0" i="1" smtClean="0">
                              <a:solidFill>
                                <a:srgbClr val="FF0000"/>
                              </a:solidFill>
                              <a:latin typeface="Cambria Math" charset="0"/>
                            </a:rPr>
                            <m:t>𝐽</m:t>
                          </m:r>
                        </m:num>
                        <m:den>
                          <m:r>
                            <a:rPr lang="mr-IN" i="1" smtClean="0">
                              <a:solidFill>
                                <a:srgbClr val="FF0000"/>
                              </a:solidFill>
                              <a:latin typeface="Cambria Math" charset="0"/>
                            </a:rPr>
                            <m:t>𝜕</m:t>
                          </m:r>
                          <m:r>
                            <a:rPr lang="en-US" b="0" i="1" smtClean="0">
                              <a:solidFill>
                                <a:srgbClr val="FF0000"/>
                              </a:solidFill>
                              <a:latin typeface="Cambria Math" charset="0"/>
                            </a:rPr>
                            <m:t>𝑊</m:t>
                          </m:r>
                        </m:den>
                      </m:f>
                      <m:r>
                        <a:rPr lang="en-US" b="0" i="1" smtClean="0">
                          <a:solidFill>
                            <a:srgbClr val="FF0000"/>
                          </a:solidFill>
                          <a:latin typeface="Cambria Math" charset="0"/>
                        </a:rPr>
                        <m:t>&lt;0</m:t>
                      </m:r>
                    </m:oMath>
                  </m:oMathPara>
                </a14:m>
                <a:endParaRPr lang="en-US" dirty="0">
                  <a:solidFill>
                    <a:srgbClr val="FF0000"/>
                  </a:solidFill>
                </a:endParaRPr>
              </a:p>
            </p:txBody>
          </p:sp>
        </mc:Choice>
        <mc:Fallback xmlns="">
          <p:sp>
            <p:nvSpPr>
              <p:cNvPr id="2" name="TextBox 1"/>
              <p:cNvSpPr txBox="1">
                <a:spLocks noRot="1" noChangeAspect="1" noMove="1" noResize="1" noEditPoints="1" noAdjustHandles="1" noChangeArrowheads="1" noChangeShapeType="1" noTextEdit="1"/>
              </p:cNvSpPr>
              <p:nvPr/>
            </p:nvSpPr>
            <p:spPr>
              <a:xfrm>
                <a:off x="3559509" y="3539750"/>
                <a:ext cx="901914" cy="526683"/>
              </a:xfrm>
              <a:prstGeom prst="rect">
                <a:avLst/>
              </a:prstGeom>
              <a:blipFill rotWithShape="0">
                <a:blip r:embed="rId4"/>
                <a:stretch>
                  <a:fillRect/>
                </a:stretch>
              </a:blipFill>
            </p:spPr>
            <p:txBody>
              <a:bodyPr/>
              <a:lstStyle/>
              <a:p>
                <a:r>
                  <a:rPr lang="en-US">
                    <a:noFill/>
                  </a:rPr>
                  <a:t> </a:t>
                </a:r>
              </a:p>
            </p:txBody>
          </p:sp>
        </mc:Fallback>
      </mc:AlternateContent>
      <p:cxnSp>
        <p:nvCxnSpPr>
          <p:cNvPr id="11" name="Shape 150"/>
          <p:cNvCxnSpPr/>
          <p:nvPr/>
        </p:nvCxnSpPr>
        <p:spPr>
          <a:xfrm>
            <a:off x="3427412" y="5715000"/>
            <a:ext cx="0" cy="376794"/>
          </a:xfrm>
          <a:prstGeom prst="straightConnector1">
            <a:avLst/>
          </a:prstGeom>
          <a:noFill/>
          <a:ln w="28575" cap="flat" cmpd="sng">
            <a:solidFill>
              <a:schemeClr val="dk2"/>
            </a:solidFill>
            <a:prstDash val="solid"/>
            <a:round/>
            <a:headEnd type="none" w="lg" len="lg"/>
            <a:tailEnd type="none" w="lg" len="lg"/>
          </a:ln>
        </p:spPr>
      </p:cxnSp>
      <p:sp>
        <p:nvSpPr>
          <p:cNvPr id="15" name="Shape 147"/>
          <p:cNvSpPr/>
          <p:nvPr/>
        </p:nvSpPr>
        <p:spPr>
          <a:xfrm>
            <a:off x="3405272" y="4254000"/>
            <a:ext cx="98340" cy="89400"/>
          </a:xfrm>
          <a:prstGeom prst="ellipse">
            <a:avLst/>
          </a:prstGeom>
          <a:solidFill>
            <a:srgbClr val="351C75"/>
          </a:solidFill>
          <a:ln>
            <a:noFill/>
          </a:ln>
        </p:spPr>
        <p:txBody>
          <a:bodyPr lIns="91425" tIns="91425" rIns="91425" bIns="91425" anchor="ctr" anchorCtr="0">
            <a:noAutofit/>
          </a:bodyPr>
          <a:lstStyle/>
          <a:p>
            <a:pPr lvl="0">
              <a:spcBef>
                <a:spcPts val="0"/>
              </a:spcBef>
              <a:buNone/>
            </a:pPr>
            <a:r>
              <a:rPr lang="en"/>
              <a:t> </a:t>
            </a:r>
          </a:p>
        </p:txBody>
      </p:sp>
      <p:cxnSp>
        <p:nvCxnSpPr>
          <p:cNvPr id="20" name="Shape 202"/>
          <p:cNvCxnSpPr/>
          <p:nvPr/>
        </p:nvCxnSpPr>
        <p:spPr>
          <a:xfrm>
            <a:off x="1979612" y="5918200"/>
            <a:ext cx="1447800" cy="0"/>
          </a:xfrm>
          <a:prstGeom prst="straightConnector1">
            <a:avLst/>
          </a:prstGeom>
          <a:noFill/>
          <a:ln w="38100" cap="flat" cmpd="sng">
            <a:solidFill>
              <a:schemeClr val="tx1">
                <a:lumMod val="60000"/>
                <a:lumOff val="40000"/>
              </a:schemeClr>
            </a:solidFill>
            <a:prstDash val="solid"/>
            <a:round/>
            <a:headEnd type="none" w="lg" len="lg"/>
            <a:tailEnd type="stealth" w="lg" len="lg"/>
          </a:ln>
        </p:spPr>
      </p:cxnSp>
      <p:cxnSp>
        <p:nvCxnSpPr>
          <p:cNvPr id="14" name="Shape 213"/>
          <p:cNvCxnSpPr/>
          <p:nvPr/>
        </p:nvCxnSpPr>
        <p:spPr>
          <a:xfrm>
            <a:off x="2664457" y="3539750"/>
            <a:ext cx="1544340" cy="1517900"/>
          </a:xfrm>
          <a:prstGeom prst="straightConnector1">
            <a:avLst/>
          </a:prstGeom>
          <a:noFill/>
          <a:ln w="38100" cap="flat" cmpd="sng">
            <a:solidFill>
              <a:srgbClr val="351C75"/>
            </a:solidFill>
            <a:prstDash val="solid"/>
            <a:round/>
            <a:headEnd type="none" w="lg" len="lg"/>
            <a:tailEnd type="none" w="lg" len="lg"/>
          </a:ln>
        </p:spPr>
      </p:cxnSp>
    </p:spTree>
    <p:extLst>
      <p:ext uri="{BB962C8B-B14F-4D97-AF65-F5344CB8AC3E}">
        <p14:creationId xmlns:p14="http://schemas.microsoft.com/office/powerpoint/2010/main" val="141190568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p:cNvGrpSpPr/>
          <p:nvPr/>
        </p:nvGrpSpPr>
        <p:grpSpPr>
          <a:xfrm>
            <a:off x="989012" y="695802"/>
            <a:ext cx="9829800" cy="5633727"/>
            <a:chOff x="989012" y="695802"/>
            <a:chExt cx="9143997" cy="5240675"/>
          </a:xfrm>
        </p:grpSpPr>
        <p:pic>
          <p:nvPicPr>
            <p:cNvPr id="5" name="Shape 125"/>
            <p:cNvPicPr preferRelativeResize="0"/>
            <p:nvPr/>
          </p:nvPicPr>
          <p:blipFill>
            <a:blip r:embed="rId3">
              <a:alphaModFix/>
            </a:blip>
            <a:stretch>
              <a:fillRect/>
            </a:stretch>
          </p:blipFill>
          <p:spPr>
            <a:xfrm>
              <a:off x="989012" y="990600"/>
              <a:ext cx="9143997" cy="4644103"/>
            </a:xfrm>
            <a:prstGeom prst="rect">
              <a:avLst/>
            </a:prstGeom>
            <a:noFill/>
            <a:ln>
              <a:noFill/>
            </a:ln>
          </p:spPr>
        </p:pic>
        <p:sp>
          <p:nvSpPr>
            <p:cNvPr id="6" name="Shape 126"/>
            <p:cNvSpPr txBox="1"/>
            <p:nvPr/>
          </p:nvSpPr>
          <p:spPr>
            <a:xfrm>
              <a:off x="4596611" y="695802"/>
              <a:ext cx="784500" cy="486600"/>
            </a:xfrm>
            <a:prstGeom prst="rect">
              <a:avLst/>
            </a:prstGeom>
            <a:noFill/>
            <a:ln>
              <a:noFill/>
            </a:ln>
          </p:spPr>
          <p:txBody>
            <a:bodyPr lIns="91425" tIns="91425" rIns="91425" bIns="91425" anchor="t" anchorCtr="0">
              <a:noAutofit/>
            </a:bodyPr>
            <a:lstStyle/>
            <a:p>
              <a:pPr lvl="0" rtl="0">
                <a:spcBef>
                  <a:spcPts val="0"/>
                </a:spcBef>
                <a:buNone/>
              </a:pPr>
              <a:r>
                <a:rPr lang="en"/>
                <a:t>J (cost)</a:t>
              </a:r>
            </a:p>
          </p:txBody>
        </p:sp>
        <p:sp>
          <p:nvSpPr>
            <p:cNvPr id="7" name="Shape 127"/>
            <p:cNvSpPr txBox="1"/>
            <p:nvPr/>
          </p:nvSpPr>
          <p:spPr>
            <a:xfrm>
              <a:off x="9756211" y="5449877"/>
              <a:ext cx="224400" cy="486600"/>
            </a:xfrm>
            <a:prstGeom prst="rect">
              <a:avLst/>
            </a:prstGeom>
            <a:noFill/>
            <a:ln>
              <a:noFill/>
            </a:ln>
          </p:spPr>
          <p:txBody>
            <a:bodyPr lIns="91425" tIns="91425" rIns="91425" bIns="91425" anchor="t" anchorCtr="0">
              <a:noAutofit/>
            </a:bodyPr>
            <a:lstStyle/>
            <a:p>
              <a:pPr lvl="0" rtl="0">
                <a:spcBef>
                  <a:spcPts val="0"/>
                </a:spcBef>
                <a:buNone/>
              </a:pPr>
              <a:r>
                <a:rPr lang="en"/>
                <a:t>W</a:t>
              </a:r>
            </a:p>
          </p:txBody>
        </p:sp>
      </p:grpSp>
      <p:sp>
        <p:nvSpPr>
          <p:cNvPr id="17" name="Shape 147"/>
          <p:cNvSpPr/>
          <p:nvPr/>
        </p:nvSpPr>
        <p:spPr>
          <a:xfrm>
            <a:off x="1944772" y="2362200"/>
            <a:ext cx="98340" cy="89400"/>
          </a:xfrm>
          <a:prstGeom prst="ellipse">
            <a:avLst/>
          </a:prstGeom>
          <a:solidFill>
            <a:srgbClr val="351C75"/>
          </a:solidFill>
          <a:ln>
            <a:noFill/>
          </a:ln>
        </p:spPr>
        <p:txBody>
          <a:bodyPr lIns="91425" tIns="91425" rIns="91425" bIns="91425" anchor="ctr" anchorCtr="0">
            <a:noAutofit/>
          </a:bodyPr>
          <a:lstStyle/>
          <a:p>
            <a:pPr lvl="0">
              <a:spcBef>
                <a:spcPts val="0"/>
              </a:spcBef>
              <a:buNone/>
            </a:pPr>
            <a:r>
              <a:rPr lang="en"/>
              <a:t> </a:t>
            </a:r>
          </a:p>
        </p:txBody>
      </p:sp>
      <p:cxnSp>
        <p:nvCxnSpPr>
          <p:cNvPr id="18" name="Shape 150"/>
          <p:cNvCxnSpPr/>
          <p:nvPr/>
        </p:nvCxnSpPr>
        <p:spPr>
          <a:xfrm>
            <a:off x="1979612" y="5715000"/>
            <a:ext cx="0" cy="376794"/>
          </a:xfrm>
          <a:prstGeom prst="straightConnector1">
            <a:avLst/>
          </a:prstGeom>
          <a:noFill/>
          <a:ln w="28575" cap="flat" cmpd="sng">
            <a:solidFill>
              <a:schemeClr val="dk2"/>
            </a:solidFill>
            <a:prstDash val="solid"/>
            <a:round/>
            <a:headEnd type="none" w="lg" len="lg"/>
            <a:tailEnd type="none" w="lg" len="lg"/>
          </a:ln>
        </p:spPr>
      </p:cxnSp>
      <mc:AlternateContent xmlns:mc="http://schemas.openxmlformats.org/markup-compatibility/2006" xmlns:a14="http://schemas.microsoft.com/office/drawing/2010/main">
        <mc:Choice Requires="a14">
          <p:sp>
            <p:nvSpPr>
              <p:cNvPr id="2" name="TextBox 1"/>
              <p:cNvSpPr txBox="1"/>
              <p:nvPr/>
            </p:nvSpPr>
            <p:spPr>
              <a:xfrm>
                <a:off x="3559509" y="3539750"/>
                <a:ext cx="901914" cy="52668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mr-IN" i="1" smtClean="0">
                              <a:solidFill>
                                <a:schemeClr val="tx1"/>
                              </a:solidFill>
                              <a:latin typeface="Cambria Math" panose="02040503050406030204" pitchFamily="18" charset="0"/>
                            </a:rPr>
                          </m:ctrlPr>
                        </m:fPr>
                        <m:num>
                          <m:r>
                            <a:rPr lang="mr-IN" i="1" smtClean="0">
                              <a:solidFill>
                                <a:schemeClr val="tx1"/>
                              </a:solidFill>
                              <a:latin typeface="Cambria Math" charset="0"/>
                            </a:rPr>
                            <m:t>𝜕</m:t>
                          </m:r>
                          <m:r>
                            <a:rPr lang="en-US" b="0" i="1" smtClean="0">
                              <a:solidFill>
                                <a:schemeClr val="tx1"/>
                              </a:solidFill>
                              <a:latin typeface="Cambria Math" charset="0"/>
                            </a:rPr>
                            <m:t>𝐽</m:t>
                          </m:r>
                        </m:num>
                        <m:den>
                          <m:r>
                            <a:rPr lang="mr-IN" i="1" smtClean="0">
                              <a:solidFill>
                                <a:schemeClr val="tx1"/>
                              </a:solidFill>
                              <a:latin typeface="Cambria Math" charset="0"/>
                            </a:rPr>
                            <m:t>𝜕</m:t>
                          </m:r>
                          <m:r>
                            <a:rPr lang="en-US" b="0" i="1" smtClean="0">
                              <a:solidFill>
                                <a:schemeClr val="tx1"/>
                              </a:solidFill>
                              <a:latin typeface="Cambria Math" charset="0"/>
                            </a:rPr>
                            <m:t>𝑊</m:t>
                          </m:r>
                        </m:den>
                      </m:f>
                      <m:r>
                        <a:rPr lang="en-US" b="0" i="1" smtClean="0">
                          <a:solidFill>
                            <a:schemeClr val="tx1"/>
                          </a:solidFill>
                          <a:latin typeface="Cambria Math" charset="0"/>
                        </a:rPr>
                        <m:t>&lt;0</m:t>
                      </m:r>
                    </m:oMath>
                  </m:oMathPara>
                </a14:m>
                <a:endParaRPr lang="en-US" dirty="0">
                  <a:solidFill>
                    <a:schemeClr val="tx1"/>
                  </a:solidFill>
                </a:endParaRPr>
              </a:p>
            </p:txBody>
          </p:sp>
        </mc:Choice>
        <mc:Fallback xmlns="">
          <p:sp>
            <p:nvSpPr>
              <p:cNvPr id="2" name="TextBox 1"/>
              <p:cNvSpPr txBox="1">
                <a:spLocks noRot="1" noChangeAspect="1" noMove="1" noResize="1" noEditPoints="1" noAdjustHandles="1" noChangeArrowheads="1" noChangeShapeType="1" noTextEdit="1"/>
              </p:cNvSpPr>
              <p:nvPr/>
            </p:nvSpPr>
            <p:spPr>
              <a:xfrm>
                <a:off x="3559509" y="3539750"/>
                <a:ext cx="901914" cy="526683"/>
              </a:xfrm>
              <a:prstGeom prst="rect">
                <a:avLst/>
              </a:prstGeom>
              <a:blipFill rotWithShape="0">
                <a:blip r:embed="rId4"/>
                <a:stretch>
                  <a:fillRect/>
                </a:stretch>
              </a:blipFill>
            </p:spPr>
            <p:txBody>
              <a:bodyPr/>
              <a:lstStyle/>
              <a:p>
                <a:r>
                  <a:rPr lang="en-US">
                    <a:noFill/>
                  </a:rPr>
                  <a:t> </a:t>
                </a:r>
              </a:p>
            </p:txBody>
          </p:sp>
        </mc:Fallback>
      </mc:AlternateContent>
      <p:cxnSp>
        <p:nvCxnSpPr>
          <p:cNvPr id="11" name="Shape 150"/>
          <p:cNvCxnSpPr/>
          <p:nvPr/>
        </p:nvCxnSpPr>
        <p:spPr>
          <a:xfrm>
            <a:off x="3427412" y="5715000"/>
            <a:ext cx="0" cy="376794"/>
          </a:xfrm>
          <a:prstGeom prst="straightConnector1">
            <a:avLst/>
          </a:prstGeom>
          <a:noFill/>
          <a:ln w="28575" cap="flat" cmpd="sng">
            <a:solidFill>
              <a:schemeClr val="dk2"/>
            </a:solidFill>
            <a:prstDash val="solid"/>
            <a:round/>
            <a:headEnd type="none" w="lg" len="lg"/>
            <a:tailEnd type="none" w="lg" len="lg"/>
          </a:ln>
        </p:spPr>
      </p:cxnSp>
      <p:sp>
        <p:nvSpPr>
          <p:cNvPr id="15" name="Shape 147"/>
          <p:cNvSpPr/>
          <p:nvPr/>
        </p:nvSpPr>
        <p:spPr>
          <a:xfrm>
            <a:off x="3405272" y="4254000"/>
            <a:ext cx="98340" cy="89400"/>
          </a:xfrm>
          <a:prstGeom prst="ellipse">
            <a:avLst/>
          </a:prstGeom>
          <a:solidFill>
            <a:srgbClr val="351C75"/>
          </a:solidFill>
          <a:ln>
            <a:noFill/>
          </a:ln>
        </p:spPr>
        <p:txBody>
          <a:bodyPr lIns="91425" tIns="91425" rIns="91425" bIns="91425" anchor="ctr" anchorCtr="0">
            <a:noAutofit/>
          </a:bodyPr>
          <a:lstStyle/>
          <a:p>
            <a:pPr lvl="0">
              <a:spcBef>
                <a:spcPts val="0"/>
              </a:spcBef>
              <a:buNone/>
            </a:pPr>
            <a:r>
              <a:rPr lang="en"/>
              <a:t> </a:t>
            </a:r>
          </a:p>
        </p:txBody>
      </p:sp>
      <p:cxnSp>
        <p:nvCxnSpPr>
          <p:cNvPr id="20" name="Shape 202"/>
          <p:cNvCxnSpPr/>
          <p:nvPr/>
        </p:nvCxnSpPr>
        <p:spPr>
          <a:xfrm>
            <a:off x="1979612" y="5918200"/>
            <a:ext cx="1447800" cy="0"/>
          </a:xfrm>
          <a:prstGeom prst="straightConnector1">
            <a:avLst/>
          </a:prstGeom>
          <a:noFill/>
          <a:ln w="38100" cap="flat" cmpd="sng">
            <a:solidFill>
              <a:schemeClr val="tx1">
                <a:lumMod val="60000"/>
                <a:lumOff val="40000"/>
              </a:schemeClr>
            </a:solidFill>
            <a:prstDash val="solid"/>
            <a:round/>
            <a:headEnd type="none" w="lg" len="lg"/>
            <a:tailEnd type="stealth" w="lg" len="lg"/>
          </a:ln>
        </p:spPr>
      </p:cxnSp>
      <p:cxnSp>
        <p:nvCxnSpPr>
          <p:cNvPr id="14" name="Shape 213"/>
          <p:cNvCxnSpPr/>
          <p:nvPr/>
        </p:nvCxnSpPr>
        <p:spPr>
          <a:xfrm>
            <a:off x="2664457" y="3539750"/>
            <a:ext cx="1544340" cy="1517900"/>
          </a:xfrm>
          <a:prstGeom prst="straightConnector1">
            <a:avLst/>
          </a:prstGeom>
          <a:noFill/>
          <a:ln w="38100" cap="flat" cmpd="sng">
            <a:solidFill>
              <a:srgbClr val="351C75"/>
            </a:solidFill>
            <a:prstDash val="solid"/>
            <a:round/>
            <a:headEnd type="none" w="lg" len="lg"/>
            <a:tailEnd type="none" w="lg" len="lg"/>
          </a:ln>
        </p:spPr>
      </p:cxnSp>
      <p:sp>
        <p:nvSpPr>
          <p:cNvPr id="13" name="TextBox 12"/>
          <p:cNvSpPr txBox="1"/>
          <p:nvPr/>
        </p:nvSpPr>
        <p:spPr>
          <a:xfrm>
            <a:off x="4403020" y="3058011"/>
            <a:ext cx="2028056" cy="369332"/>
          </a:xfrm>
          <a:prstGeom prst="rect">
            <a:avLst/>
          </a:prstGeom>
          <a:noFill/>
        </p:spPr>
        <p:txBody>
          <a:bodyPr wrap="none" rtlCol="0">
            <a:spAutoFit/>
          </a:bodyPr>
          <a:lstStyle/>
          <a:p>
            <a:r>
              <a:rPr lang="en-US" dirty="0" smtClean="0">
                <a:solidFill>
                  <a:srgbClr val="FF0000"/>
                </a:solidFill>
              </a:rPr>
              <a:t>Move to the right!</a:t>
            </a:r>
            <a:endParaRPr lang="en-US" dirty="0">
              <a:solidFill>
                <a:srgbClr val="FF0000"/>
              </a:solidFill>
            </a:endParaRPr>
          </a:p>
        </p:txBody>
      </p:sp>
    </p:spTree>
    <p:extLst>
      <p:ext uri="{BB962C8B-B14F-4D97-AF65-F5344CB8AC3E}">
        <p14:creationId xmlns:p14="http://schemas.microsoft.com/office/powerpoint/2010/main" val="105658765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p:cNvGrpSpPr/>
          <p:nvPr/>
        </p:nvGrpSpPr>
        <p:grpSpPr>
          <a:xfrm>
            <a:off x="989012" y="695802"/>
            <a:ext cx="9829800" cy="5633727"/>
            <a:chOff x="989012" y="695802"/>
            <a:chExt cx="9143997" cy="5240675"/>
          </a:xfrm>
        </p:grpSpPr>
        <p:pic>
          <p:nvPicPr>
            <p:cNvPr id="5" name="Shape 125"/>
            <p:cNvPicPr preferRelativeResize="0"/>
            <p:nvPr/>
          </p:nvPicPr>
          <p:blipFill>
            <a:blip r:embed="rId3">
              <a:alphaModFix/>
            </a:blip>
            <a:stretch>
              <a:fillRect/>
            </a:stretch>
          </p:blipFill>
          <p:spPr>
            <a:xfrm>
              <a:off x="989012" y="990600"/>
              <a:ext cx="9143997" cy="4644103"/>
            </a:xfrm>
            <a:prstGeom prst="rect">
              <a:avLst/>
            </a:prstGeom>
            <a:noFill/>
            <a:ln>
              <a:noFill/>
            </a:ln>
          </p:spPr>
        </p:pic>
        <p:sp>
          <p:nvSpPr>
            <p:cNvPr id="6" name="Shape 126"/>
            <p:cNvSpPr txBox="1"/>
            <p:nvPr/>
          </p:nvSpPr>
          <p:spPr>
            <a:xfrm>
              <a:off x="4596611" y="695802"/>
              <a:ext cx="784500" cy="486600"/>
            </a:xfrm>
            <a:prstGeom prst="rect">
              <a:avLst/>
            </a:prstGeom>
            <a:noFill/>
            <a:ln>
              <a:noFill/>
            </a:ln>
          </p:spPr>
          <p:txBody>
            <a:bodyPr lIns="91425" tIns="91425" rIns="91425" bIns="91425" anchor="t" anchorCtr="0">
              <a:noAutofit/>
            </a:bodyPr>
            <a:lstStyle/>
            <a:p>
              <a:pPr lvl="0" rtl="0">
                <a:spcBef>
                  <a:spcPts val="0"/>
                </a:spcBef>
                <a:buNone/>
              </a:pPr>
              <a:r>
                <a:rPr lang="en"/>
                <a:t>J (cost)</a:t>
              </a:r>
            </a:p>
          </p:txBody>
        </p:sp>
        <p:sp>
          <p:nvSpPr>
            <p:cNvPr id="7" name="Shape 127"/>
            <p:cNvSpPr txBox="1"/>
            <p:nvPr/>
          </p:nvSpPr>
          <p:spPr>
            <a:xfrm>
              <a:off x="9756211" y="5449877"/>
              <a:ext cx="224400" cy="486600"/>
            </a:xfrm>
            <a:prstGeom prst="rect">
              <a:avLst/>
            </a:prstGeom>
            <a:noFill/>
            <a:ln>
              <a:noFill/>
            </a:ln>
          </p:spPr>
          <p:txBody>
            <a:bodyPr lIns="91425" tIns="91425" rIns="91425" bIns="91425" anchor="t" anchorCtr="0">
              <a:noAutofit/>
            </a:bodyPr>
            <a:lstStyle/>
            <a:p>
              <a:pPr lvl="0" rtl="0">
                <a:spcBef>
                  <a:spcPts val="0"/>
                </a:spcBef>
                <a:buNone/>
              </a:pPr>
              <a:r>
                <a:rPr lang="en"/>
                <a:t>W</a:t>
              </a:r>
            </a:p>
          </p:txBody>
        </p:sp>
      </p:grpSp>
      <p:sp>
        <p:nvSpPr>
          <p:cNvPr id="17" name="Shape 147"/>
          <p:cNvSpPr/>
          <p:nvPr/>
        </p:nvSpPr>
        <p:spPr>
          <a:xfrm>
            <a:off x="1944772" y="2362200"/>
            <a:ext cx="98340" cy="89400"/>
          </a:xfrm>
          <a:prstGeom prst="ellipse">
            <a:avLst/>
          </a:prstGeom>
          <a:solidFill>
            <a:srgbClr val="351C75"/>
          </a:solidFill>
          <a:ln>
            <a:noFill/>
          </a:ln>
        </p:spPr>
        <p:txBody>
          <a:bodyPr lIns="91425" tIns="91425" rIns="91425" bIns="91425" anchor="ctr" anchorCtr="0">
            <a:noAutofit/>
          </a:bodyPr>
          <a:lstStyle/>
          <a:p>
            <a:pPr lvl="0">
              <a:spcBef>
                <a:spcPts val="0"/>
              </a:spcBef>
              <a:buNone/>
            </a:pPr>
            <a:r>
              <a:rPr lang="en"/>
              <a:t> </a:t>
            </a:r>
          </a:p>
        </p:txBody>
      </p:sp>
      <p:cxnSp>
        <p:nvCxnSpPr>
          <p:cNvPr id="18" name="Shape 150"/>
          <p:cNvCxnSpPr/>
          <p:nvPr/>
        </p:nvCxnSpPr>
        <p:spPr>
          <a:xfrm>
            <a:off x="1979612" y="5715000"/>
            <a:ext cx="0" cy="376794"/>
          </a:xfrm>
          <a:prstGeom prst="straightConnector1">
            <a:avLst/>
          </a:prstGeom>
          <a:noFill/>
          <a:ln w="28575" cap="flat" cmpd="sng">
            <a:solidFill>
              <a:schemeClr val="dk2"/>
            </a:solidFill>
            <a:prstDash val="solid"/>
            <a:round/>
            <a:headEnd type="none" w="lg" len="lg"/>
            <a:tailEnd type="none" w="lg" len="lg"/>
          </a:ln>
        </p:spPr>
      </p:cxnSp>
      <p:cxnSp>
        <p:nvCxnSpPr>
          <p:cNvPr id="11" name="Shape 150"/>
          <p:cNvCxnSpPr/>
          <p:nvPr/>
        </p:nvCxnSpPr>
        <p:spPr>
          <a:xfrm>
            <a:off x="3427412" y="5715000"/>
            <a:ext cx="0" cy="376794"/>
          </a:xfrm>
          <a:prstGeom prst="straightConnector1">
            <a:avLst/>
          </a:prstGeom>
          <a:noFill/>
          <a:ln w="28575" cap="flat" cmpd="sng">
            <a:solidFill>
              <a:schemeClr val="dk2"/>
            </a:solidFill>
            <a:prstDash val="solid"/>
            <a:round/>
            <a:headEnd type="none" w="lg" len="lg"/>
            <a:tailEnd type="none" w="lg" len="lg"/>
          </a:ln>
        </p:spPr>
      </p:cxnSp>
      <p:sp>
        <p:nvSpPr>
          <p:cNvPr id="15" name="Shape 147"/>
          <p:cNvSpPr/>
          <p:nvPr/>
        </p:nvSpPr>
        <p:spPr>
          <a:xfrm>
            <a:off x="3405272" y="4254000"/>
            <a:ext cx="98340" cy="89400"/>
          </a:xfrm>
          <a:prstGeom prst="ellipse">
            <a:avLst/>
          </a:prstGeom>
          <a:solidFill>
            <a:srgbClr val="351C75"/>
          </a:solidFill>
          <a:ln>
            <a:noFill/>
          </a:ln>
        </p:spPr>
        <p:txBody>
          <a:bodyPr lIns="91425" tIns="91425" rIns="91425" bIns="91425" anchor="ctr" anchorCtr="0">
            <a:noAutofit/>
          </a:bodyPr>
          <a:lstStyle/>
          <a:p>
            <a:pPr lvl="0">
              <a:spcBef>
                <a:spcPts val="0"/>
              </a:spcBef>
              <a:buNone/>
            </a:pPr>
            <a:r>
              <a:rPr lang="en"/>
              <a:t> </a:t>
            </a:r>
          </a:p>
        </p:txBody>
      </p:sp>
      <p:cxnSp>
        <p:nvCxnSpPr>
          <p:cNvPr id="20" name="Shape 202"/>
          <p:cNvCxnSpPr/>
          <p:nvPr/>
        </p:nvCxnSpPr>
        <p:spPr>
          <a:xfrm>
            <a:off x="1979612" y="5918200"/>
            <a:ext cx="1447800" cy="0"/>
          </a:xfrm>
          <a:prstGeom prst="straightConnector1">
            <a:avLst/>
          </a:prstGeom>
          <a:noFill/>
          <a:ln w="38100" cap="flat" cmpd="sng">
            <a:solidFill>
              <a:schemeClr val="tx1">
                <a:lumMod val="60000"/>
                <a:lumOff val="40000"/>
              </a:schemeClr>
            </a:solidFill>
            <a:prstDash val="solid"/>
            <a:round/>
            <a:headEnd type="none" w="lg" len="lg"/>
            <a:tailEnd type="stealth" w="lg" len="lg"/>
          </a:ln>
        </p:spPr>
      </p:cxnSp>
      <p:cxnSp>
        <p:nvCxnSpPr>
          <p:cNvPr id="16" name="Shape 276"/>
          <p:cNvCxnSpPr/>
          <p:nvPr/>
        </p:nvCxnSpPr>
        <p:spPr>
          <a:xfrm>
            <a:off x="3405272" y="5918200"/>
            <a:ext cx="1012740" cy="0"/>
          </a:xfrm>
          <a:prstGeom prst="straightConnector1">
            <a:avLst/>
          </a:prstGeom>
          <a:noFill/>
          <a:ln w="28575" cap="flat" cmpd="sng">
            <a:solidFill>
              <a:schemeClr val="tx1">
                <a:lumMod val="60000"/>
                <a:lumOff val="40000"/>
              </a:schemeClr>
            </a:solidFill>
            <a:prstDash val="solid"/>
            <a:round/>
            <a:headEnd type="none" w="lg" len="lg"/>
            <a:tailEnd type="stealth" w="lg" len="lg"/>
          </a:ln>
        </p:spPr>
      </p:cxnSp>
      <p:sp>
        <p:nvSpPr>
          <p:cNvPr id="19" name="Shape 147"/>
          <p:cNvSpPr/>
          <p:nvPr/>
        </p:nvSpPr>
        <p:spPr>
          <a:xfrm>
            <a:off x="4354512" y="5029200"/>
            <a:ext cx="98340" cy="89400"/>
          </a:xfrm>
          <a:prstGeom prst="ellipse">
            <a:avLst/>
          </a:prstGeom>
          <a:solidFill>
            <a:srgbClr val="351C75"/>
          </a:solidFill>
          <a:ln>
            <a:noFill/>
          </a:ln>
        </p:spPr>
        <p:txBody>
          <a:bodyPr lIns="91425" tIns="91425" rIns="91425" bIns="91425" anchor="ctr" anchorCtr="0">
            <a:noAutofit/>
          </a:bodyPr>
          <a:lstStyle/>
          <a:p>
            <a:pPr lvl="0">
              <a:spcBef>
                <a:spcPts val="0"/>
              </a:spcBef>
              <a:buNone/>
            </a:pPr>
            <a:r>
              <a:rPr lang="en"/>
              <a:t> </a:t>
            </a:r>
          </a:p>
        </p:txBody>
      </p:sp>
      <p:cxnSp>
        <p:nvCxnSpPr>
          <p:cNvPr id="23" name="Shape 150"/>
          <p:cNvCxnSpPr/>
          <p:nvPr/>
        </p:nvCxnSpPr>
        <p:spPr>
          <a:xfrm>
            <a:off x="4418012" y="5715000"/>
            <a:ext cx="0" cy="376794"/>
          </a:xfrm>
          <a:prstGeom prst="straightConnector1">
            <a:avLst/>
          </a:prstGeom>
          <a:noFill/>
          <a:ln w="28575" cap="flat" cmpd="sng">
            <a:solidFill>
              <a:schemeClr val="dk2"/>
            </a:solidFill>
            <a:prstDash val="solid"/>
            <a:round/>
            <a:headEnd type="none" w="lg" len="lg"/>
            <a:tailEnd type="none" w="lg" len="lg"/>
          </a:ln>
        </p:spPr>
      </p:cxnSp>
      <p:cxnSp>
        <p:nvCxnSpPr>
          <p:cNvPr id="25" name="Shape 308"/>
          <p:cNvCxnSpPr/>
          <p:nvPr/>
        </p:nvCxnSpPr>
        <p:spPr>
          <a:xfrm>
            <a:off x="5053012" y="5522551"/>
            <a:ext cx="1633800" cy="0"/>
          </a:xfrm>
          <a:prstGeom prst="straightConnector1">
            <a:avLst/>
          </a:prstGeom>
          <a:noFill/>
          <a:ln w="38100" cap="flat" cmpd="sng">
            <a:solidFill>
              <a:srgbClr val="351C75"/>
            </a:solidFill>
            <a:prstDash val="solid"/>
            <a:round/>
            <a:headEnd type="none" w="lg" len="lg"/>
            <a:tailEnd type="none" w="lg" len="lg"/>
          </a:ln>
        </p:spPr>
      </p:cxnSp>
      <p:sp>
        <p:nvSpPr>
          <p:cNvPr id="26" name="Shape 309"/>
          <p:cNvSpPr/>
          <p:nvPr/>
        </p:nvSpPr>
        <p:spPr>
          <a:xfrm>
            <a:off x="5832312" y="5477851"/>
            <a:ext cx="89400" cy="89400"/>
          </a:xfrm>
          <a:prstGeom prst="ellipse">
            <a:avLst/>
          </a:prstGeom>
          <a:solidFill>
            <a:srgbClr val="351C75"/>
          </a:solidFill>
          <a:ln>
            <a:noFill/>
          </a:ln>
        </p:spPr>
        <p:txBody>
          <a:bodyPr lIns="91425" tIns="91425" rIns="91425" bIns="91425" anchor="ctr" anchorCtr="0">
            <a:noAutofit/>
          </a:bodyPr>
          <a:lstStyle/>
          <a:p>
            <a:pPr lvl="0" rtl="0">
              <a:spcBef>
                <a:spcPts val="0"/>
              </a:spcBef>
              <a:buNone/>
            </a:pPr>
            <a:r>
              <a:rPr lang="en"/>
              <a:t> </a:t>
            </a:r>
          </a:p>
        </p:txBody>
      </p:sp>
      <p:cxnSp>
        <p:nvCxnSpPr>
          <p:cNvPr id="27" name="Shape 318"/>
          <p:cNvCxnSpPr/>
          <p:nvPr/>
        </p:nvCxnSpPr>
        <p:spPr>
          <a:xfrm>
            <a:off x="5103812" y="5745926"/>
            <a:ext cx="0" cy="311400"/>
          </a:xfrm>
          <a:prstGeom prst="straightConnector1">
            <a:avLst/>
          </a:prstGeom>
          <a:noFill/>
          <a:ln w="28575" cap="flat" cmpd="sng">
            <a:solidFill>
              <a:schemeClr val="dk2"/>
            </a:solidFill>
            <a:prstDash val="solid"/>
            <a:round/>
            <a:headEnd type="none" w="lg" len="lg"/>
            <a:tailEnd type="none" w="lg" len="lg"/>
          </a:ln>
        </p:spPr>
      </p:cxnSp>
      <p:cxnSp>
        <p:nvCxnSpPr>
          <p:cNvPr id="28" name="Shape 319"/>
          <p:cNvCxnSpPr/>
          <p:nvPr/>
        </p:nvCxnSpPr>
        <p:spPr>
          <a:xfrm>
            <a:off x="5561012" y="5745926"/>
            <a:ext cx="0" cy="311400"/>
          </a:xfrm>
          <a:prstGeom prst="straightConnector1">
            <a:avLst/>
          </a:prstGeom>
          <a:noFill/>
          <a:ln w="28575" cap="flat" cmpd="sng">
            <a:solidFill>
              <a:schemeClr val="dk2"/>
            </a:solidFill>
            <a:prstDash val="solid"/>
            <a:round/>
            <a:headEnd type="none" w="lg" len="lg"/>
            <a:tailEnd type="none" w="lg" len="lg"/>
          </a:ln>
        </p:spPr>
      </p:cxnSp>
      <p:cxnSp>
        <p:nvCxnSpPr>
          <p:cNvPr id="29" name="Shape 320"/>
          <p:cNvCxnSpPr/>
          <p:nvPr/>
        </p:nvCxnSpPr>
        <p:spPr>
          <a:xfrm>
            <a:off x="5880439" y="5745926"/>
            <a:ext cx="0" cy="311400"/>
          </a:xfrm>
          <a:prstGeom prst="straightConnector1">
            <a:avLst/>
          </a:prstGeom>
          <a:noFill/>
          <a:ln w="28575" cap="flat" cmpd="sng">
            <a:solidFill>
              <a:schemeClr val="dk2"/>
            </a:solidFill>
            <a:prstDash val="solid"/>
            <a:round/>
            <a:headEnd type="none" w="lg" len="lg"/>
            <a:tailEnd type="none" w="lg" len="lg"/>
          </a:ln>
        </p:spPr>
      </p:cxnSp>
      <p:sp>
        <p:nvSpPr>
          <p:cNvPr id="30" name="Shape 321"/>
          <p:cNvSpPr/>
          <p:nvPr/>
        </p:nvSpPr>
        <p:spPr>
          <a:xfrm>
            <a:off x="4414777" y="5475451"/>
            <a:ext cx="40500" cy="40500"/>
          </a:xfrm>
          <a:prstGeom prst="ellipse">
            <a:avLst/>
          </a:prstGeom>
          <a:solidFill>
            <a:srgbClr val="CD5753"/>
          </a:solidFill>
          <a:ln>
            <a:noFill/>
          </a:ln>
        </p:spPr>
        <p:txBody>
          <a:bodyPr lIns="91425" tIns="91425" rIns="91425" bIns="91425" anchor="ctr" anchorCtr="0">
            <a:noAutofit/>
          </a:bodyPr>
          <a:lstStyle/>
          <a:p>
            <a:pPr lvl="0">
              <a:spcBef>
                <a:spcPts val="0"/>
              </a:spcBef>
              <a:buNone/>
            </a:pPr>
            <a:endParaRPr/>
          </a:p>
        </p:txBody>
      </p:sp>
      <p:cxnSp>
        <p:nvCxnSpPr>
          <p:cNvPr id="32" name="Shape 326"/>
          <p:cNvCxnSpPr/>
          <p:nvPr/>
        </p:nvCxnSpPr>
        <p:spPr>
          <a:xfrm>
            <a:off x="4452852" y="5910701"/>
            <a:ext cx="650960" cy="0"/>
          </a:xfrm>
          <a:prstGeom prst="straightConnector1">
            <a:avLst/>
          </a:prstGeom>
          <a:noFill/>
          <a:ln w="28575" cap="flat" cmpd="sng">
            <a:solidFill>
              <a:srgbClr val="5B7AE4"/>
            </a:solidFill>
            <a:prstDash val="solid"/>
            <a:round/>
            <a:headEnd type="none" w="lg" len="lg"/>
            <a:tailEnd type="stealth" w="lg" len="lg"/>
          </a:ln>
        </p:spPr>
      </p:cxnSp>
      <p:cxnSp>
        <p:nvCxnSpPr>
          <p:cNvPr id="33" name="Shape 327"/>
          <p:cNvCxnSpPr/>
          <p:nvPr/>
        </p:nvCxnSpPr>
        <p:spPr>
          <a:xfrm>
            <a:off x="5103812" y="5910701"/>
            <a:ext cx="457200" cy="0"/>
          </a:xfrm>
          <a:prstGeom prst="straightConnector1">
            <a:avLst/>
          </a:prstGeom>
          <a:noFill/>
          <a:ln w="28575" cap="flat" cmpd="sng">
            <a:solidFill>
              <a:srgbClr val="415DE8"/>
            </a:solidFill>
            <a:prstDash val="solid"/>
            <a:round/>
            <a:headEnd type="none" w="lg" len="lg"/>
            <a:tailEnd type="stealth" w="lg" len="lg"/>
          </a:ln>
        </p:spPr>
      </p:cxnSp>
      <p:cxnSp>
        <p:nvCxnSpPr>
          <p:cNvPr id="34" name="Shape 328"/>
          <p:cNvCxnSpPr/>
          <p:nvPr/>
        </p:nvCxnSpPr>
        <p:spPr>
          <a:xfrm>
            <a:off x="5561012" y="5910701"/>
            <a:ext cx="316000" cy="0"/>
          </a:xfrm>
          <a:prstGeom prst="straightConnector1">
            <a:avLst/>
          </a:prstGeom>
          <a:noFill/>
          <a:ln w="28575" cap="flat" cmpd="sng">
            <a:solidFill>
              <a:srgbClr val="0000FF"/>
            </a:solidFill>
            <a:prstDash val="solid"/>
            <a:round/>
            <a:headEnd type="none" w="lg" len="lg"/>
            <a:tailEnd type="stealth" w="lg" len="lg"/>
          </a:ln>
        </p:spPr>
      </p:cxnSp>
    </p:spTree>
    <p:extLst>
      <p:ext uri="{BB962C8B-B14F-4D97-AF65-F5344CB8AC3E}">
        <p14:creationId xmlns:p14="http://schemas.microsoft.com/office/powerpoint/2010/main" val="208868054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smtClean="0"/>
              <a:t>The process of doing gradient descent (math-version)</a:t>
            </a:r>
            <a:endParaRPr lang="en-US" sz="2800" dirty="0"/>
          </a:p>
        </p:txBody>
      </p:sp>
      <p:sp>
        <p:nvSpPr>
          <p:cNvPr id="3" name="Content Placeholder 2"/>
          <p:cNvSpPr>
            <a:spLocks noGrp="1"/>
          </p:cNvSpPr>
          <p:nvPr>
            <p:ph idx="1"/>
          </p:nvPr>
        </p:nvSpPr>
        <p:spPr>
          <a:xfrm>
            <a:off x="1593436" y="1600200"/>
            <a:ext cx="9782801" cy="990600"/>
          </a:xfrm>
        </p:spPr>
        <p:txBody>
          <a:bodyPr>
            <a:normAutofit/>
          </a:bodyPr>
          <a:lstStyle/>
          <a:p>
            <a:pPr marL="457200" indent="-457200">
              <a:buAutoNum type="arabicPeriod"/>
            </a:pPr>
            <a:r>
              <a:rPr lang="en-US" sz="2400" dirty="0" smtClean="0"/>
              <a:t>Find the derivative of loss </a:t>
            </a:r>
            <a:r>
              <a:rPr lang="en-US" sz="2400" dirty="0" err="1" smtClean="0"/>
              <a:t>w.r.t</a:t>
            </a:r>
            <a:r>
              <a:rPr lang="en-US" sz="2400" dirty="0" smtClean="0"/>
              <a:t> to weights over training data</a:t>
            </a:r>
          </a:p>
          <a:p>
            <a:pPr lvl="1"/>
            <a:r>
              <a:rPr lang="en-US" sz="2000" dirty="0" smtClean="0"/>
              <a:t>Plug data into our derivative function, and sum up over data points</a:t>
            </a:r>
            <a:endParaRPr lang="en-US" sz="2000" dirty="0"/>
          </a:p>
        </p:txBody>
      </p:sp>
      <mc:AlternateContent xmlns:mc="http://schemas.openxmlformats.org/markup-compatibility/2006" xmlns:a14="http://schemas.microsoft.com/office/drawing/2010/main">
        <mc:Choice Requires="a14">
          <p:sp>
            <p:nvSpPr>
              <p:cNvPr id="4" name="TextBox 3"/>
              <p:cNvSpPr txBox="1"/>
              <p:nvPr/>
            </p:nvSpPr>
            <p:spPr>
              <a:xfrm>
                <a:off x="2817812" y="2773363"/>
                <a:ext cx="6324600" cy="134434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mr-IN" sz="3200" i="1" smtClean="0">
                          <a:latin typeface="Cambria Math" charset="0"/>
                          <a:ea typeface="Cambria Math" charset="0"/>
                          <a:cs typeface="Cambria Math" charset="0"/>
                        </a:rPr>
                        <m:t>∆</m:t>
                      </m:r>
                      <m:r>
                        <a:rPr lang="en-US" sz="3200" b="0" i="1" smtClean="0">
                          <a:latin typeface="Cambria Math" charset="0"/>
                          <a:ea typeface="Cambria Math" charset="0"/>
                          <a:cs typeface="Cambria Math" charset="0"/>
                        </a:rPr>
                        <m:t>𝑊</m:t>
                      </m:r>
                      <m:r>
                        <a:rPr lang="en-US" sz="3200" b="0" i="1" smtClean="0">
                          <a:latin typeface="Cambria Math" charset="0"/>
                          <a:ea typeface="Cambria Math" charset="0"/>
                          <a:cs typeface="Cambria Math" charset="0"/>
                        </a:rPr>
                        <m:t>=</m:t>
                      </m:r>
                      <m:nary>
                        <m:naryPr>
                          <m:chr m:val="∑"/>
                          <m:ctrlPr>
                            <a:rPr lang="is-IS" sz="3200" b="0" i="1" smtClean="0">
                              <a:latin typeface="Cambria Math" panose="02040503050406030204" pitchFamily="18" charset="0"/>
                              <a:ea typeface="Cambria Math" charset="0"/>
                              <a:cs typeface="Cambria Math" charset="0"/>
                            </a:rPr>
                          </m:ctrlPr>
                        </m:naryPr>
                        <m:sub>
                          <m:r>
                            <m:rPr>
                              <m:brk m:alnAt="23"/>
                            </m:rPr>
                            <a:rPr lang="en-US" sz="3200" b="0" i="1" smtClean="0">
                              <a:latin typeface="Cambria Math" charset="0"/>
                              <a:ea typeface="Cambria Math" charset="0"/>
                              <a:cs typeface="Cambria Math" charset="0"/>
                            </a:rPr>
                            <m:t>𝑖</m:t>
                          </m:r>
                          <m:r>
                            <a:rPr lang="en-US" sz="3200" b="0" i="1" smtClean="0">
                              <a:latin typeface="Cambria Math" charset="0"/>
                              <a:ea typeface="Cambria Math" charset="0"/>
                              <a:cs typeface="Cambria Math" charset="0"/>
                            </a:rPr>
                            <m:t>=1</m:t>
                          </m:r>
                        </m:sub>
                        <m:sup>
                          <m:r>
                            <a:rPr lang="en-US" sz="3200" b="0" i="1" smtClean="0">
                              <a:latin typeface="Cambria Math" charset="0"/>
                              <a:ea typeface="Cambria Math" charset="0"/>
                              <a:cs typeface="Cambria Math" charset="0"/>
                            </a:rPr>
                            <m:t>𝑛</m:t>
                          </m:r>
                        </m:sup>
                        <m:e>
                          <m:f>
                            <m:fPr>
                              <m:ctrlPr>
                                <a:rPr lang="mr-IN" sz="3200" i="1">
                                  <a:latin typeface="Cambria Math" panose="02040503050406030204" pitchFamily="18" charset="0"/>
                                </a:rPr>
                              </m:ctrlPr>
                            </m:fPr>
                            <m:num>
                              <m:r>
                                <a:rPr lang="mr-IN" sz="3200" i="1">
                                  <a:latin typeface="Cambria Math" charset="0"/>
                                </a:rPr>
                                <m:t>𝜕</m:t>
                              </m:r>
                              <m:r>
                                <a:rPr lang="en-US" sz="3200" i="1">
                                  <a:latin typeface="Cambria Math" charset="0"/>
                                </a:rPr>
                                <m:t>𝐽</m:t>
                              </m:r>
                            </m:num>
                            <m:den>
                              <m:r>
                                <a:rPr lang="mr-IN" sz="3200" i="1">
                                  <a:latin typeface="Cambria Math" charset="0"/>
                                </a:rPr>
                                <m:t>𝜕</m:t>
                              </m:r>
                              <m:r>
                                <a:rPr lang="en-US" sz="3200" i="1">
                                  <a:latin typeface="Cambria Math" charset="0"/>
                                </a:rPr>
                                <m:t>𝑊</m:t>
                              </m:r>
                            </m:den>
                          </m:f>
                          <m:d>
                            <m:dPr>
                              <m:ctrlPr>
                                <a:rPr lang="mr-IN" sz="3200" i="1" smtClean="0">
                                  <a:latin typeface="Cambria Math" panose="02040503050406030204" pitchFamily="18" charset="0"/>
                                </a:rPr>
                              </m:ctrlPr>
                            </m:dPr>
                            <m:e>
                              <m:sSub>
                                <m:sSubPr>
                                  <m:ctrlPr>
                                    <a:rPr lang="en-US" sz="3200" b="0" i="1" smtClean="0">
                                      <a:latin typeface="Cambria Math" panose="02040503050406030204" pitchFamily="18" charset="0"/>
                                    </a:rPr>
                                  </m:ctrlPr>
                                </m:sSubPr>
                                <m:e>
                                  <m:r>
                                    <a:rPr lang="en-US" sz="3200" b="0" i="1" smtClean="0">
                                      <a:latin typeface="Cambria Math" charset="0"/>
                                    </a:rPr>
                                    <m:t>𝑥</m:t>
                                  </m:r>
                                </m:e>
                                <m:sub>
                                  <m:r>
                                    <a:rPr lang="en-US" sz="3200" b="0" i="1" smtClean="0">
                                      <a:latin typeface="Cambria Math" charset="0"/>
                                    </a:rPr>
                                    <m:t>𝑖</m:t>
                                  </m:r>
                                </m:sub>
                              </m:sSub>
                              <m:r>
                                <a:rPr lang="en-US" sz="3200" b="0" i="1" smtClean="0">
                                  <a:latin typeface="Cambria Math" charset="0"/>
                                </a:rPr>
                                <m:t>, </m:t>
                              </m:r>
                              <m:sSub>
                                <m:sSubPr>
                                  <m:ctrlPr>
                                    <a:rPr lang="en-US" sz="3200" b="0" i="1" smtClean="0">
                                      <a:latin typeface="Cambria Math" panose="02040503050406030204" pitchFamily="18" charset="0"/>
                                    </a:rPr>
                                  </m:ctrlPr>
                                </m:sSubPr>
                                <m:e>
                                  <m:r>
                                    <a:rPr lang="en-US" sz="3200" b="0" i="1" smtClean="0">
                                      <a:latin typeface="Cambria Math" charset="0"/>
                                    </a:rPr>
                                    <m:t>𝑦</m:t>
                                  </m:r>
                                </m:e>
                                <m:sub>
                                  <m:r>
                                    <a:rPr lang="en-US" sz="3200" b="0" i="1" smtClean="0">
                                      <a:latin typeface="Cambria Math" charset="0"/>
                                    </a:rPr>
                                    <m:t>𝑖</m:t>
                                  </m:r>
                                </m:sub>
                              </m:sSub>
                            </m:e>
                          </m:d>
                        </m:e>
                      </m:nary>
                    </m:oMath>
                  </m:oMathPara>
                </a14:m>
                <a:endParaRPr lang="en-US" sz="3200" dirty="0"/>
              </a:p>
            </p:txBody>
          </p:sp>
        </mc:Choice>
        <mc:Fallback xmlns="">
          <p:sp>
            <p:nvSpPr>
              <p:cNvPr id="4" name="TextBox 3"/>
              <p:cNvSpPr txBox="1">
                <a:spLocks noRot="1" noChangeAspect="1" noMove="1" noResize="1" noEditPoints="1" noAdjustHandles="1" noChangeArrowheads="1" noChangeShapeType="1" noTextEdit="1"/>
              </p:cNvSpPr>
              <p:nvPr/>
            </p:nvSpPr>
            <p:spPr>
              <a:xfrm>
                <a:off x="2817812" y="2773363"/>
                <a:ext cx="6324600" cy="1344342"/>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p:cNvSpPr txBox="1"/>
              <p:nvPr/>
            </p:nvSpPr>
            <p:spPr>
              <a:xfrm>
                <a:off x="2808850" y="4800600"/>
                <a:ext cx="5533694" cy="134434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mr-IN" sz="3200" i="1" smtClean="0">
                              <a:latin typeface="Cambria Math" panose="02040503050406030204" pitchFamily="18" charset="0"/>
                            </a:rPr>
                          </m:ctrlPr>
                        </m:fPr>
                        <m:num>
                          <m:r>
                            <a:rPr lang="mr-IN" sz="3200" i="1">
                              <a:latin typeface="Cambria Math" charset="0"/>
                            </a:rPr>
                            <m:t>𝜕</m:t>
                          </m:r>
                          <m:r>
                            <a:rPr lang="en-US" sz="3200" i="1">
                              <a:latin typeface="Cambria Math" charset="0"/>
                            </a:rPr>
                            <m:t>𝐽</m:t>
                          </m:r>
                        </m:num>
                        <m:den>
                          <m:r>
                            <a:rPr lang="mr-IN" sz="3200" i="1">
                              <a:latin typeface="Cambria Math" charset="0"/>
                            </a:rPr>
                            <m:t>𝜕</m:t>
                          </m:r>
                          <m:r>
                            <a:rPr lang="en-US" sz="3200" i="1">
                              <a:latin typeface="Cambria Math" charset="0"/>
                            </a:rPr>
                            <m:t>𝑊</m:t>
                          </m:r>
                        </m:den>
                      </m:f>
                      <m:r>
                        <a:rPr lang="en-US" sz="3200" i="1">
                          <a:latin typeface="Cambria Math" charset="0"/>
                        </a:rPr>
                        <m:t> </m:t>
                      </m:r>
                      <m:r>
                        <a:rPr lang="en-US" sz="3200" b="0" i="1" smtClean="0">
                          <a:latin typeface="Cambria Math" charset="0"/>
                        </a:rPr>
                        <m:t>(</m:t>
                      </m:r>
                      <m:sSub>
                        <m:sSubPr>
                          <m:ctrlPr>
                            <a:rPr lang="en-US" sz="3200" b="0" i="1" smtClean="0">
                              <a:latin typeface="Cambria Math" panose="02040503050406030204" pitchFamily="18" charset="0"/>
                            </a:rPr>
                          </m:ctrlPr>
                        </m:sSubPr>
                        <m:e>
                          <m:r>
                            <a:rPr lang="en-US" sz="3200" b="0" i="1" smtClean="0">
                              <a:latin typeface="Cambria Math" charset="0"/>
                            </a:rPr>
                            <m:t>𝑥</m:t>
                          </m:r>
                        </m:e>
                        <m:sub>
                          <m:r>
                            <a:rPr lang="en-US" sz="3200" b="0" i="1" smtClean="0">
                              <a:latin typeface="Cambria Math" charset="0"/>
                            </a:rPr>
                            <m:t>𝑖</m:t>
                          </m:r>
                        </m:sub>
                      </m:sSub>
                      <m:r>
                        <a:rPr lang="en-US" sz="3200" b="0" i="1" smtClean="0">
                          <a:latin typeface="Cambria Math" charset="0"/>
                        </a:rPr>
                        <m:t>,</m:t>
                      </m:r>
                      <m:sSub>
                        <m:sSubPr>
                          <m:ctrlPr>
                            <a:rPr lang="en-US" sz="3200" b="0" i="1" smtClean="0">
                              <a:latin typeface="Cambria Math" panose="02040503050406030204" pitchFamily="18" charset="0"/>
                            </a:rPr>
                          </m:ctrlPr>
                        </m:sSubPr>
                        <m:e>
                          <m:r>
                            <a:rPr lang="en-US" sz="3200" b="0" i="1" smtClean="0">
                              <a:latin typeface="Cambria Math" charset="0"/>
                            </a:rPr>
                            <m:t>𝑦</m:t>
                          </m:r>
                        </m:e>
                        <m:sub>
                          <m:r>
                            <a:rPr lang="en-US" sz="3200" b="0" i="1" smtClean="0">
                              <a:latin typeface="Cambria Math" charset="0"/>
                            </a:rPr>
                            <m:t>𝑖</m:t>
                          </m:r>
                        </m:sub>
                      </m:sSub>
                      <m:r>
                        <a:rPr lang="en-US" sz="3200" b="0" i="1" smtClean="0">
                          <a:latin typeface="Cambria Math" charset="0"/>
                        </a:rPr>
                        <m:t>)=</m:t>
                      </m:r>
                      <m:f>
                        <m:fPr>
                          <m:ctrlPr>
                            <a:rPr lang="mr-IN" sz="3200" b="0" i="1" smtClean="0">
                              <a:latin typeface="Cambria Math" panose="02040503050406030204" pitchFamily="18" charset="0"/>
                            </a:rPr>
                          </m:ctrlPr>
                        </m:fPr>
                        <m:num>
                          <m:r>
                            <a:rPr lang="en-US" sz="3200" b="0" i="1" smtClean="0">
                              <a:latin typeface="Cambria Math" charset="0"/>
                            </a:rPr>
                            <m:t>1</m:t>
                          </m:r>
                        </m:num>
                        <m:den>
                          <m:r>
                            <a:rPr lang="en-US" sz="3200" b="0" i="1" smtClean="0">
                              <a:latin typeface="Cambria Math" charset="0"/>
                            </a:rPr>
                            <m:t>𝑛</m:t>
                          </m:r>
                        </m:den>
                      </m:f>
                      <m:nary>
                        <m:naryPr>
                          <m:chr m:val="∑"/>
                          <m:ctrlPr>
                            <a:rPr lang="is-IS" sz="3200" b="0" i="1" smtClean="0">
                              <a:latin typeface="Cambria Math" panose="02040503050406030204" pitchFamily="18" charset="0"/>
                            </a:rPr>
                          </m:ctrlPr>
                        </m:naryPr>
                        <m:sub>
                          <m:r>
                            <m:rPr>
                              <m:brk m:alnAt="23"/>
                            </m:rPr>
                            <a:rPr lang="en-US" sz="3200" b="0" i="1" smtClean="0">
                              <a:latin typeface="Cambria Math" charset="0"/>
                            </a:rPr>
                            <m:t>𝑖</m:t>
                          </m:r>
                          <m:r>
                            <a:rPr lang="en-US" sz="3200" b="0" i="1" smtClean="0">
                              <a:latin typeface="Cambria Math" charset="0"/>
                            </a:rPr>
                            <m:t>=1</m:t>
                          </m:r>
                        </m:sub>
                        <m:sup>
                          <m:r>
                            <a:rPr lang="en-US" sz="3200" b="0" i="1" smtClean="0">
                              <a:latin typeface="Cambria Math" charset="0"/>
                            </a:rPr>
                            <m:t>𝑛</m:t>
                          </m:r>
                        </m:sup>
                        <m:e>
                          <m:sSub>
                            <m:sSubPr>
                              <m:ctrlPr>
                                <a:rPr lang="en-US" sz="3200" b="0" i="1" smtClean="0">
                                  <a:latin typeface="Cambria Math" panose="02040503050406030204" pitchFamily="18" charset="0"/>
                                </a:rPr>
                              </m:ctrlPr>
                            </m:sSubPr>
                            <m:e>
                              <m:r>
                                <a:rPr lang="en-US" sz="3200" b="0" i="1" smtClean="0">
                                  <a:latin typeface="Cambria Math" charset="0"/>
                                </a:rPr>
                                <m:t>𝑥</m:t>
                              </m:r>
                            </m:e>
                            <m:sub>
                              <m:r>
                                <a:rPr lang="en-US" sz="3200" b="0" i="1" smtClean="0">
                                  <a:latin typeface="Cambria Math" charset="0"/>
                                </a:rPr>
                                <m:t>𝑖</m:t>
                              </m:r>
                            </m:sub>
                          </m:sSub>
                          <m:d>
                            <m:dPr>
                              <m:ctrlPr>
                                <a:rPr lang="mr-IN" sz="3200" b="0" i="1" smtClean="0">
                                  <a:latin typeface="Cambria Math" panose="02040503050406030204" pitchFamily="18" charset="0"/>
                                </a:rPr>
                              </m:ctrlPr>
                            </m:dPr>
                            <m:e>
                              <m:sSub>
                                <m:sSubPr>
                                  <m:ctrlPr>
                                    <a:rPr lang="en-US" sz="3200" b="0" i="1" smtClean="0">
                                      <a:latin typeface="Cambria Math" panose="02040503050406030204" pitchFamily="18" charset="0"/>
                                    </a:rPr>
                                  </m:ctrlPr>
                                </m:sSubPr>
                                <m:e>
                                  <m:acc>
                                    <m:accPr>
                                      <m:chr m:val="̂"/>
                                      <m:ctrlPr>
                                        <a:rPr lang="mr-IN" sz="3200" b="0" i="1" smtClean="0">
                                          <a:latin typeface="Cambria Math" panose="02040503050406030204" pitchFamily="18" charset="0"/>
                                        </a:rPr>
                                      </m:ctrlPr>
                                    </m:accPr>
                                    <m:e>
                                      <m:r>
                                        <a:rPr lang="en-US" sz="3200" b="0" i="1" smtClean="0">
                                          <a:latin typeface="Cambria Math" charset="0"/>
                                        </a:rPr>
                                        <m:t>𝑦</m:t>
                                      </m:r>
                                    </m:e>
                                  </m:acc>
                                </m:e>
                                <m:sub>
                                  <m:r>
                                    <a:rPr lang="en-US" sz="3200" b="0" i="1" smtClean="0">
                                      <a:latin typeface="Cambria Math" charset="0"/>
                                    </a:rPr>
                                    <m:t>𝑖</m:t>
                                  </m:r>
                                </m:sub>
                              </m:sSub>
                              <m:r>
                                <a:rPr lang="en-US" sz="3200" b="0" i="1" smtClean="0">
                                  <a:latin typeface="Cambria Math" charset="0"/>
                                </a:rPr>
                                <m:t>−</m:t>
                              </m:r>
                              <m:sSub>
                                <m:sSubPr>
                                  <m:ctrlPr>
                                    <a:rPr lang="en-US" sz="3200" b="0" i="1" smtClean="0">
                                      <a:latin typeface="Cambria Math" panose="02040503050406030204" pitchFamily="18" charset="0"/>
                                    </a:rPr>
                                  </m:ctrlPr>
                                </m:sSubPr>
                                <m:e>
                                  <m:r>
                                    <a:rPr lang="en-US" sz="3200" b="0" i="1" smtClean="0">
                                      <a:latin typeface="Cambria Math" charset="0"/>
                                    </a:rPr>
                                    <m:t>𝑦</m:t>
                                  </m:r>
                                </m:e>
                                <m:sub>
                                  <m:r>
                                    <a:rPr lang="en-US" sz="3200" b="0" i="1" smtClean="0">
                                      <a:latin typeface="Cambria Math" charset="0"/>
                                    </a:rPr>
                                    <m:t>𝑖</m:t>
                                  </m:r>
                                </m:sub>
                              </m:sSub>
                            </m:e>
                          </m:d>
                        </m:e>
                      </m:nary>
                    </m:oMath>
                  </m:oMathPara>
                </a14:m>
                <a:endParaRPr lang="en-US" sz="3200" dirty="0"/>
              </a:p>
            </p:txBody>
          </p:sp>
        </mc:Choice>
        <mc:Fallback xmlns="">
          <p:sp>
            <p:nvSpPr>
              <p:cNvPr id="5" name="TextBox 4"/>
              <p:cNvSpPr txBox="1">
                <a:spLocks noRot="1" noChangeAspect="1" noMove="1" noResize="1" noEditPoints="1" noAdjustHandles="1" noChangeArrowheads="1" noChangeShapeType="1" noTextEdit="1"/>
              </p:cNvSpPr>
              <p:nvPr/>
            </p:nvSpPr>
            <p:spPr>
              <a:xfrm>
                <a:off x="2808850" y="4800600"/>
                <a:ext cx="5533694" cy="1344342"/>
              </a:xfrm>
              <a:prstGeom prst="rect">
                <a:avLst/>
              </a:prstGeom>
              <a:blipFill rotWithShape="0">
                <a:blip r:embed="rId4"/>
                <a:stretch>
                  <a:fillRect/>
                </a:stretch>
              </a:blipFill>
            </p:spPr>
            <p:txBody>
              <a:bodyPr/>
              <a:lstStyle/>
              <a:p>
                <a:r>
                  <a:rPr lang="en-US">
                    <a:noFill/>
                  </a:rPr>
                  <a:t> </a:t>
                </a:r>
              </a:p>
            </p:txBody>
          </p:sp>
        </mc:Fallback>
      </mc:AlternateContent>
      <p:cxnSp>
        <p:nvCxnSpPr>
          <p:cNvPr id="16" name="Straight Arrow Connector 15"/>
          <p:cNvCxnSpPr/>
          <p:nvPr/>
        </p:nvCxnSpPr>
        <p:spPr>
          <a:xfrm flipV="1">
            <a:off x="4113212" y="4038600"/>
            <a:ext cx="2286000" cy="106680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a:off x="3656012" y="3276600"/>
            <a:ext cx="457200" cy="7620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3" name="TextBox 22"/>
          <p:cNvSpPr txBox="1"/>
          <p:nvPr/>
        </p:nvSpPr>
        <p:spPr>
          <a:xfrm>
            <a:off x="1903412" y="2590800"/>
            <a:ext cx="3048000" cy="646331"/>
          </a:xfrm>
          <a:prstGeom prst="rect">
            <a:avLst/>
          </a:prstGeom>
          <a:noFill/>
        </p:spPr>
        <p:txBody>
          <a:bodyPr wrap="square" rtlCol="0">
            <a:spAutoFit/>
          </a:bodyPr>
          <a:lstStyle/>
          <a:p>
            <a:r>
              <a:rPr lang="en-US" dirty="0" smtClean="0">
                <a:solidFill>
                  <a:srgbClr val="FF0000"/>
                </a:solidFill>
              </a:rPr>
              <a:t>The number we’ll use to adjust the weight</a:t>
            </a:r>
            <a:endParaRPr lang="en-US" dirty="0">
              <a:solidFill>
                <a:srgbClr val="FF0000"/>
              </a:solidFill>
            </a:endParaRPr>
          </a:p>
        </p:txBody>
      </p:sp>
      <p:cxnSp>
        <p:nvCxnSpPr>
          <p:cNvPr id="25" name="Straight Arrow Connector 24"/>
          <p:cNvCxnSpPr/>
          <p:nvPr/>
        </p:nvCxnSpPr>
        <p:spPr>
          <a:xfrm flipH="1">
            <a:off x="8342544" y="4953000"/>
            <a:ext cx="1028468" cy="30480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6" name="TextBox 25"/>
          <p:cNvSpPr txBox="1"/>
          <p:nvPr/>
        </p:nvSpPr>
        <p:spPr>
          <a:xfrm>
            <a:off x="8761412" y="4572000"/>
            <a:ext cx="3048000" cy="369332"/>
          </a:xfrm>
          <a:prstGeom prst="rect">
            <a:avLst/>
          </a:prstGeom>
          <a:noFill/>
        </p:spPr>
        <p:txBody>
          <a:bodyPr wrap="square" rtlCol="0">
            <a:spAutoFit/>
          </a:bodyPr>
          <a:lstStyle/>
          <a:p>
            <a:r>
              <a:rPr lang="en-US" dirty="0" smtClean="0">
                <a:solidFill>
                  <a:srgbClr val="FF0000"/>
                </a:solidFill>
              </a:rPr>
              <a:t>Derivative of MSE</a:t>
            </a:r>
            <a:endParaRPr lang="en-US" dirty="0">
              <a:solidFill>
                <a:srgbClr val="FF0000"/>
              </a:solidFill>
            </a:endParaRPr>
          </a:p>
        </p:txBody>
      </p:sp>
    </p:spTree>
    <p:extLst>
      <p:ext uri="{BB962C8B-B14F-4D97-AF65-F5344CB8AC3E}">
        <p14:creationId xmlns:p14="http://schemas.microsoft.com/office/powerpoint/2010/main" val="47772101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5"/>
                                        </p:tgtEl>
                                        <p:attrNameLst>
                                          <p:attrName>style.visibility</p:attrName>
                                        </p:attrNameLst>
                                      </p:cBhvr>
                                      <p:to>
                                        <p:strVal val="visible"/>
                                      </p:to>
                                    </p:set>
                                  </p:childTnLst>
                                </p:cTn>
                              </p:par>
                              <p:par>
                                <p:cTn id="31" presetID="1" presetClass="entr" presetSubtype="0" fill="hold" grpId="1" nodeType="withEffect">
                                  <p:stCondLst>
                                    <p:cond delay="0"/>
                                  </p:stCondLst>
                                  <p:childTnLst>
                                    <p:set>
                                      <p:cBhvr>
                                        <p:cTn id="32"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P spid="5" grpId="0"/>
      <p:bldP spid="23" grpId="0"/>
      <p:bldP spid="26" grpId="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smtClean="0"/>
              <a:t>The process of doing gradient descent (math-version)</a:t>
            </a:r>
            <a:endParaRPr lang="en-US" sz="2800"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593436" y="1600200"/>
                <a:ext cx="9782801" cy="1447800"/>
              </a:xfrm>
            </p:spPr>
            <p:txBody>
              <a:bodyPr>
                <a:normAutofit/>
              </a:bodyPr>
              <a:lstStyle/>
              <a:p>
                <a:pPr marL="457200" lvl="0" indent="-457200">
                  <a:lnSpc>
                    <a:spcPct val="100000"/>
                  </a:lnSpc>
                  <a:spcBef>
                    <a:spcPts val="0"/>
                  </a:spcBef>
                  <a:buNone/>
                </a:pPr>
                <a:r>
                  <a:rPr lang="en-US" dirty="0" smtClean="0"/>
                  <a:t>2. Adjust the weight by subtracting some amount of</a:t>
                </a:r>
                <a:r>
                  <a:rPr lang="mr-IN" dirty="0" smtClean="0">
                    <a:ea typeface="Cambria Math" charset="0"/>
                    <a:cs typeface="Cambria Math" charset="0"/>
                  </a:rPr>
                  <a:t> </a:t>
                </a:r>
                <a14:m>
                  <m:oMath xmlns:m="http://schemas.openxmlformats.org/officeDocument/2006/math">
                    <m:r>
                      <a:rPr lang="mr-IN" i="1">
                        <a:latin typeface="Cambria Math" charset="0"/>
                        <a:ea typeface="Cambria Math" charset="0"/>
                        <a:cs typeface="Cambria Math" charset="0"/>
                      </a:rPr>
                      <m:t>∆</m:t>
                    </m:r>
                    <m:r>
                      <a:rPr lang="en-US" i="1">
                        <a:latin typeface="Cambria Math" charset="0"/>
                        <a:ea typeface="Cambria Math" charset="0"/>
                        <a:cs typeface="Cambria Math" charset="0"/>
                      </a:rPr>
                      <m:t>𝑊</m:t>
                    </m:r>
                  </m:oMath>
                </a14:m>
                <a:endParaRPr lang="en-US" dirty="0" smtClean="0"/>
              </a:p>
              <a:p>
                <a:pPr lvl="1">
                  <a:lnSpc>
                    <a:spcPct val="100000"/>
                  </a:lnSpc>
                  <a:spcBef>
                    <a:spcPts val="0"/>
                  </a:spcBef>
                </a:pPr>
                <a14:m>
                  <m:oMath xmlns:m="http://schemas.openxmlformats.org/officeDocument/2006/math">
                    <m:r>
                      <a:rPr lang="en-US" i="1">
                        <a:latin typeface="Cambria Math" charset="0"/>
                        <a:ea typeface="Cambria Math" charset="0"/>
                        <a:cs typeface="Cambria Math" charset="0"/>
                      </a:rPr>
                      <m:t>𝛼</m:t>
                    </m:r>
                  </m:oMath>
                </a14:m>
                <a:r>
                  <a:rPr lang="en-US" dirty="0" smtClean="0"/>
                  <a:t> (alpha) is known as the </a:t>
                </a:r>
                <a:r>
                  <a:rPr lang="en-US" i="1" dirty="0" smtClean="0"/>
                  <a:t>learning rate</a:t>
                </a:r>
                <a:endParaRPr lang="en-US" dirty="0"/>
              </a:p>
              <a:p>
                <a:pPr lvl="1">
                  <a:lnSpc>
                    <a:spcPct val="100000"/>
                  </a:lnSpc>
                  <a:spcBef>
                    <a:spcPts val="0"/>
                  </a:spcBef>
                </a:pPr>
                <a:r>
                  <a:rPr lang="en-US" dirty="0" smtClean="0"/>
                  <a:t>It’s the first </a:t>
                </a:r>
                <a:r>
                  <a:rPr lang="en-US" i="1" dirty="0" smtClean="0"/>
                  <a:t>hyper-parameter</a:t>
                </a:r>
                <a:r>
                  <a:rPr lang="en-US" dirty="0" smtClean="0"/>
                  <a:t> we’ve seen in the class</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593436" y="1600200"/>
                <a:ext cx="9782801" cy="1447800"/>
              </a:xfrm>
              <a:blipFill rotWithShape="0">
                <a:blip r:embed="rId3"/>
                <a:stretch>
                  <a:fillRect l="-1246" t="-506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p:cNvSpPr txBox="1"/>
              <p:nvPr/>
            </p:nvSpPr>
            <p:spPr>
              <a:xfrm>
                <a:off x="2817812" y="3200400"/>
                <a:ext cx="6324600" cy="49244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3200" b="0" i="1" smtClean="0">
                          <a:latin typeface="Cambria Math" charset="0"/>
                          <a:ea typeface="Cambria Math" charset="0"/>
                          <a:cs typeface="Cambria Math" charset="0"/>
                        </a:rPr>
                        <m:t>𝑊</m:t>
                      </m:r>
                      <m:r>
                        <a:rPr lang="en-US" sz="3200" b="0" i="1" smtClean="0">
                          <a:latin typeface="Cambria Math" charset="0"/>
                          <a:ea typeface="Cambria Math" charset="0"/>
                          <a:cs typeface="Cambria Math" charset="0"/>
                        </a:rPr>
                        <m:t>:=</m:t>
                      </m:r>
                      <m:r>
                        <a:rPr lang="en-US" sz="3200" b="0" i="1" smtClean="0">
                          <a:latin typeface="Cambria Math" charset="0"/>
                          <a:ea typeface="Cambria Math" charset="0"/>
                          <a:cs typeface="Cambria Math" charset="0"/>
                        </a:rPr>
                        <m:t>𝑊</m:t>
                      </m:r>
                      <m:r>
                        <a:rPr lang="en-US" sz="3200" b="0" i="1" smtClean="0">
                          <a:latin typeface="Cambria Math" charset="0"/>
                          <a:ea typeface="Cambria Math" charset="0"/>
                          <a:cs typeface="Cambria Math" charset="0"/>
                        </a:rPr>
                        <m:t>−</m:t>
                      </m:r>
                      <m:r>
                        <a:rPr lang="en-US" sz="3200" b="0" i="1" smtClean="0">
                          <a:latin typeface="Cambria Math" charset="0"/>
                          <a:ea typeface="Cambria Math" charset="0"/>
                          <a:cs typeface="Cambria Math" charset="0"/>
                        </a:rPr>
                        <m:t>𝛼</m:t>
                      </m:r>
                      <m:r>
                        <a:rPr lang="en-US" sz="3200" b="0" i="1" smtClean="0">
                          <a:latin typeface="Cambria Math" charset="0"/>
                          <a:ea typeface="Cambria Math" charset="0"/>
                          <a:cs typeface="Cambria Math" charset="0"/>
                        </a:rPr>
                        <m:t>∙∆</m:t>
                      </m:r>
                      <m:r>
                        <a:rPr lang="en-US" sz="3200" b="0" i="1" smtClean="0">
                          <a:latin typeface="Cambria Math" charset="0"/>
                          <a:ea typeface="Cambria Math" charset="0"/>
                          <a:cs typeface="Cambria Math" charset="0"/>
                        </a:rPr>
                        <m:t>𝑊</m:t>
                      </m:r>
                    </m:oMath>
                  </m:oMathPara>
                </a14:m>
                <a:endParaRPr lang="en-US" sz="3200" dirty="0"/>
              </a:p>
            </p:txBody>
          </p:sp>
        </mc:Choice>
        <mc:Fallback xmlns="">
          <p:sp>
            <p:nvSpPr>
              <p:cNvPr id="4" name="TextBox 3"/>
              <p:cNvSpPr txBox="1">
                <a:spLocks noRot="1" noChangeAspect="1" noMove="1" noResize="1" noEditPoints="1" noAdjustHandles="1" noChangeArrowheads="1" noChangeShapeType="1" noTextEdit="1"/>
              </p:cNvSpPr>
              <p:nvPr/>
            </p:nvSpPr>
            <p:spPr>
              <a:xfrm>
                <a:off x="2817812" y="3200400"/>
                <a:ext cx="6324600" cy="492443"/>
              </a:xfrm>
              <a:prstGeom prst="rect">
                <a:avLst/>
              </a:prstGeom>
              <a:blipFill rotWithShape="0">
                <a:blip r:embed="rId4"/>
                <a:stretch>
                  <a:fillRect/>
                </a:stretch>
              </a:blipFill>
            </p:spPr>
            <p:txBody>
              <a:bodyPr/>
              <a:lstStyle/>
              <a:p>
                <a:r>
                  <a:rPr lang="en-US">
                    <a:noFill/>
                  </a:rPr>
                  <a:t> </a:t>
                </a:r>
              </a:p>
            </p:txBody>
          </p:sp>
        </mc:Fallback>
      </mc:AlternateContent>
      <p:sp>
        <p:nvSpPr>
          <p:cNvPr id="9" name="Content Placeholder 2"/>
          <p:cNvSpPr txBox="1">
            <a:spLocks/>
          </p:cNvSpPr>
          <p:nvPr/>
        </p:nvSpPr>
        <p:spPr>
          <a:xfrm>
            <a:off x="1593436" y="4419600"/>
            <a:ext cx="9782801" cy="1447800"/>
          </a:xfrm>
          <a:prstGeom prst="rect">
            <a:avLst/>
          </a:prstGeom>
        </p:spPr>
        <p:txBody>
          <a:bodyPr vert="horz" lIns="91440" tIns="45720" rIns="91440" bIns="45720" rtlCol="0">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457200" indent="-457200">
              <a:lnSpc>
                <a:spcPct val="100000"/>
              </a:lnSpc>
              <a:spcBef>
                <a:spcPts val="0"/>
              </a:spcBef>
              <a:buFont typeface="Euphemia" pitchFamily="34" charset="0"/>
              <a:buNone/>
            </a:pPr>
            <a:r>
              <a:rPr lang="en-US" dirty="0"/>
              <a:t>3</a:t>
            </a:r>
            <a:r>
              <a:rPr lang="en-US" dirty="0" smtClean="0"/>
              <a:t>. Repeat until model is “done training”</a:t>
            </a:r>
          </a:p>
          <a:p>
            <a:pPr lvl="1">
              <a:lnSpc>
                <a:spcPct val="100000"/>
              </a:lnSpc>
              <a:spcBef>
                <a:spcPts val="0"/>
              </a:spcBef>
            </a:pPr>
            <a:r>
              <a:rPr lang="en-US" dirty="0" smtClean="0"/>
              <a:t>We can also adjust the learning rate as we train</a:t>
            </a:r>
          </a:p>
        </p:txBody>
      </p:sp>
      <p:cxnSp>
        <p:nvCxnSpPr>
          <p:cNvPr id="7" name="Straight Arrow Connector 6"/>
          <p:cNvCxnSpPr/>
          <p:nvPr/>
        </p:nvCxnSpPr>
        <p:spPr>
          <a:xfrm flipH="1" flipV="1">
            <a:off x="6094412" y="3581400"/>
            <a:ext cx="152400" cy="30480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6231198" y="3810000"/>
            <a:ext cx="4359014" cy="369332"/>
          </a:xfrm>
          <a:prstGeom prst="rect">
            <a:avLst/>
          </a:prstGeom>
          <a:noFill/>
        </p:spPr>
        <p:txBody>
          <a:bodyPr wrap="none" rtlCol="0">
            <a:spAutoFit/>
          </a:bodyPr>
          <a:lstStyle/>
          <a:p>
            <a:r>
              <a:rPr lang="en-US" dirty="0" smtClean="0">
                <a:solidFill>
                  <a:srgbClr val="FF0000"/>
                </a:solidFill>
              </a:rPr>
              <a:t>Minus adjusts W in the correct direction</a:t>
            </a:r>
            <a:endParaRPr lang="en-US" dirty="0">
              <a:solidFill>
                <a:srgbClr val="FF0000"/>
              </a:solidFill>
            </a:endParaRPr>
          </a:p>
        </p:txBody>
      </p:sp>
    </p:spTree>
    <p:extLst>
      <p:ext uri="{BB962C8B-B14F-4D97-AF65-F5344CB8AC3E}">
        <p14:creationId xmlns:p14="http://schemas.microsoft.com/office/powerpoint/2010/main" val="211522965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9">
                                            <p:txEl>
                                              <p:pRg st="0" end="0"/>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P spid="9" grpId="0" build="p"/>
      <p:bldP spid="11"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p:cNvGrpSpPr/>
          <p:nvPr/>
        </p:nvGrpSpPr>
        <p:grpSpPr>
          <a:xfrm>
            <a:off x="989012" y="695802"/>
            <a:ext cx="9829800" cy="5633727"/>
            <a:chOff x="989012" y="695802"/>
            <a:chExt cx="9143997" cy="5240675"/>
          </a:xfrm>
        </p:grpSpPr>
        <p:pic>
          <p:nvPicPr>
            <p:cNvPr id="5" name="Shape 125"/>
            <p:cNvPicPr preferRelativeResize="0"/>
            <p:nvPr/>
          </p:nvPicPr>
          <p:blipFill>
            <a:blip r:embed="rId3">
              <a:alphaModFix/>
            </a:blip>
            <a:stretch>
              <a:fillRect/>
            </a:stretch>
          </p:blipFill>
          <p:spPr>
            <a:xfrm>
              <a:off x="989012" y="990600"/>
              <a:ext cx="9143997" cy="4644103"/>
            </a:xfrm>
            <a:prstGeom prst="rect">
              <a:avLst/>
            </a:prstGeom>
            <a:noFill/>
            <a:ln>
              <a:noFill/>
            </a:ln>
          </p:spPr>
        </p:pic>
        <p:sp>
          <p:nvSpPr>
            <p:cNvPr id="6" name="Shape 126"/>
            <p:cNvSpPr txBox="1"/>
            <p:nvPr/>
          </p:nvSpPr>
          <p:spPr>
            <a:xfrm>
              <a:off x="4596611" y="695802"/>
              <a:ext cx="784500" cy="486600"/>
            </a:xfrm>
            <a:prstGeom prst="rect">
              <a:avLst/>
            </a:prstGeom>
            <a:noFill/>
            <a:ln>
              <a:noFill/>
            </a:ln>
          </p:spPr>
          <p:txBody>
            <a:bodyPr lIns="91425" tIns="91425" rIns="91425" bIns="91425" anchor="t" anchorCtr="0">
              <a:noAutofit/>
            </a:bodyPr>
            <a:lstStyle/>
            <a:p>
              <a:pPr lvl="0" rtl="0">
                <a:spcBef>
                  <a:spcPts val="0"/>
                </a:spcBef>
                <a:buNone/>
              </a:pPr>
              <a:r>
                <a:rPr lang="en"/>
                <a:t>J (cost)</a:t>
              </a:r>
            </a:p>
          </p:txBody>
        </p:sp>
        <p:sp>
          <p:nvSpPr>
            <p:cNvPr id="7" name="Shape 127"/>
            <p:cNvSpPr txBox="1"/>
            <p:nvPr/>
          </p:nvSpPr>
          <p:spPr>
            <a:xfrm>
              <a:off x="9756211" y="5449877"/>
              <a:ext cx="224400" cy="486600"/>
            </a:xfrm>
            <a:prstGeom prst="rect">
              <a:avLst/>
            </a:prstGeom>
            <a:noFill/>
            <a:ln>
              <a:noFill/>
            </a:ln>
          </p:spPr>
          <p:txBody>
            <a:bodyPr lIns="91425" tIns="91425" rIns="91425" bIns="91425" anchor="t" anchorCtr="0">
              <a:noAutofit/>
            </a:bodyPr>
            <a:lstStyle/>
            <a:p>
              <a:pPr lvl="0" rtl="0">
                <a:spcBef>
                  <a:spcPts val="0"/>
                </a:spcBef>
                <a:buNone/>
              </a:pPr>
              <a:r>
                <a:rPr lang="en"/>
                <a:t>W</a:t>
              </a:r>
            </a:p>
          </p:txBody>
        </p:sp>
      </p:grpSp>
      <p:cxnSp>
        <p:nvCxnSpPr>
          <p:cNvPr id="16" name="Shape 146"/>
          <p:cNvCxnSpPr/>
          <p:nvPr/>
        </p:nvCxnSpPr>
        <p:spPr>
          <a:xfrm>
            <a:off x="1590094" y="1778850"/>
            <a:ext cx="833400" cy="1345500"/>
          </a:xfrm>
          <a:prstGeom prst="straightConnector1">
            <a:avLst/>
          </a:prstGeom>
          <a:noFill/>
          <a:ln w="38100" cap="flat" cmpd="sng">
            <a:solidFill>
              <a:srgbClr val="351C75"/>
            </a:solidFill>
            <a:prstDash val="solid"/>
            <a:round/>
            <a:headEnd type="none" w="lg" len="lg"/>
            <a:tailEnd type="none" w="lg" len="lg"/>
          </a:ln>
        </p:spPr>
      </p:cxnSp>
      <p:sp>
        <p:nvSpPr>
          <p:cNvPr id="17" name="Shape 147"/>
          <p:cNvSpPr/>
          <p:nvPr/>
        </p:nvSpPr>
        <p:spPr>
          <a:xfrm>
            <a:off x="1944772" y="2362200"/>
            <a:ext cx="98340" cy="89400"/>
          </a:xfrm>
          <a:prstGeom prst="ellipse">
            <a:avLst/>
          </a:prstGeom>
          <a:solidFill>
            <a:srgbClr val="351C75"/>
          </a:solidFill>
          <a:ln>
            <a:noFill/>
          </a:ln>
        </p:spPr>
        <p:txBody>
          <a:bodyPr lIns="91425" tIns="91425" rIns="91425" bIns="91425" anchor="ctr" anchorCtr="0">
            <a:noAutofit/>
          </a:bodyPr>
          <a:lstStyle/>
          <a:p>
            <a:pPr lvl="0">
              <a:spcBef>
                <a:spcPts val="0"/>
              </a:spcBef>
              <a:buNone/>
            </a:pPr>
            <a:r>
              <a:rPr lang="en"/>
              <a:t> </a:t>
            </a:r>
          </a:p>
        </p:txBody>
      </p:sp>
      <p:cxnSp>
        <p:nvCxnSpPr>
          <p:cNvPr id="18" name="Shape 150"/>
          <p:cNvCxnSpPr/>
          <p:nvPr/>
        </p:nvCxnSpPr>
        <p:spPr>
          <a:xfrm>
            <a:off x="1979612" y="5715000"/>
            <a:ext cx="0" cy="376794"/>
          </a:xfrm>
          <a:prstGeom prst="straightConnector1">
            <a:avLst/>
          </a:prstGeom>
          <a:noFill/>
          <a:ln w="28575" cap="flat" cmpd="sng">
            <a:solidFill>
              <a:schemeClr val="dk2"/>
            </a:solidFill>
            <a:prstDash val="solid"/>
            <a:round/>
            <a:headEnd type="none" w="lg" len="lg"/>
            <a:tailEnd type="none" w="lg" len="lg"/>
          </a:ln>
        </p:spPr>
      </p:cxnSp>
      <mc:AlternateContent xmlns:mc="http://schemas.openxmlformats.org/markup-compatibility/2006" xmlns:a14="http://schemas.microsoft.com/office/drawing/2010/main">
        <mc:Choice Requires="a14">
          <p:sp>
            <p:nvSpPr>
              <p:cNvPr id="2" name="TextBox 1"/>
              <p:cNvSpPr txBox="1"/>
              <p:nvPr/>
            </p:nvSpPr>
            <p:spPr>
              <a:xfrm>
                <a:off x="2141376" y="2098858"/>
                <a:ext cx="901914" cy="52668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mr-IN" i="1" smtClean="0">
                              <a:latin typeface="Cambria Math" panose="02040503050406030204" pitchFamily="18" charset="0"/>
                            </a:rPr>
                          </m:ctrlPr>
                        </m:fPr>
                        <m:num>
                          <m:r>
                            <a:rPr lang="mr-IN" i="1" smtClean="0">
                              <a:latin typeface="Cambria Math" charset="0"/>
                            </a:rPr>
                            <m:t>𝜕</m:t>
                          </m:r>
                          <m:r>
                            <a:rPr lang="en-US" b="0" i="1" smtClean="0">
                              <a:latin typeface="Cambria Math" charset="0"/>
                            </a:rPr>
                            <m:t>𝐽</m:t>
                          </m:r>
                        </m:num>
                        <m:den>
                          <m:r>
                            <a:rPr lang="mr-IN" i="1" smtClean="0">
                              <a:latin typeface="Cambria Math" charset="0"/>
                            </a:rPr>
                            <m:t>𝜕</m:t>
                          </m:r>
                          <m:r>
                            <a:rPr lang="en-US" b="0" i="1" smtClean="0">
                              <a:latin typeface="Cambria Math" charset="0"/>
                            </a:rPr>
                            <m:t>𝑊</m:t>
                          </m:r>
                        </m:den>
                      </m:f>
                      <m:r>
                        <a:rPr lang="en-US" b="0" i="1" smtClean="0">
                          <a:latin typeface="Cambria Math" charset="0"/>
                        </a:rPr>
                        <m:t>&lt;0</m:t>
                      </m:r>
                    </m:oMath>
                  </m:oMathPara>
                </a14:m>
                <a:endParaRPr lang="en-US" dirty="0"/>
              </a:p>
            </p:txBody>
          </p:sp>
        </mc:Choice>
        <mc:Fallback xmlns="">
          <p:sp>
            <p:nvSpPr>
              <p:cNvPr id="2" name="TextBox 1"/>
              <p:cNvSpPr txBox="1">
                <a:spLocks noRot="1" noChangeAspect="1" noMove="1" noResize="1" noEditPoints="1" noAdjustHandles="1" noChangeArrowheads="1" noChangeShapeType="1" noTextEdit="1"/>
              </p:cNvSpPr>
              <p:nvPr/>
            </p:nvSpPr>
            <p:spPr>
              <a:xfrm>
                <a:off x="2141376" y="2098858"/>
                <a:ext cx="901914" cy="526683"/>
              </a:xfrm>
              <a:prstGeom prst="rect">
                <a:avLst/>
              </a:prstGeom>
              <a:blipFill rotWithShape="0">
                <a:blip r:embed="rId4"/>
                <a:stretch>
                  <a:fillRect/>
                </a:stretch>
              </a:blipFill>
            </p:spPr>
            <p:txBody>
              <a:bodyPr/>
              <a:lstStyle/>
              <a:p>
                <a:r>
                  <a:rPr lang="en-US">
                    <a:noFill/>
                  </a:rPr>
                  <a:t> </a:t>
                </a:r>
              </a:p>
            </p:txBody>
          </p:sp>
        </mc:Fallback>
      </mc:AlternateContent>
      <p:cxnSp>
        <p:nvCxnSpPr>
          <p:cNvPr id="11" name="Shape 150"/>
          <p:cNvCxnSpPr/>
          <p:nvPr/>
        </p:nvCxnSpPr>
        <p:spPr>
          <a:xfrm>
            <a:off x="3427412" y="5715000"/>
            <a:ext cx="0" cy="376794"/>
          </a:xfrm>
          <a:prstGeom prst="straightConnector1">
            <a:avLst/>
          </a:prstGeom>
          <a:noFill/>
          <a:ln w="28575" cap="flat" cmpd="sng">
            <a:solidFill>
              <a:schemeClr val="dk2"/>
            </a:solidFill>
            <a:prstDash val="solid"/>
            <a:round/>
            <a:headEnd type="none" w="lg" len="lg"/>
            <a:tailEnd type="none" w="lg" len="lg"/>
          </a:ln>
        </p:spPr>
      </p:cxnSp>
      <p:sp>
        <p:nvSpPr>
          <p:cNvPr id="15" name="Shape 147"/>
          <p:cNvSpPr/>
          <p:nvPr/>
        </p:nvSpPr>
        <p:spPr>
          <a:xfrm>
            <a:off x="3405272" y="4254000"/>
            <a:ext cx="98340" cy="89400"/>
          </a:xfrm>
          <a:prstGeom prst="ellipse">
            <a:avLst/>
          </a:prstGeom>
          <a:solidFill>
            <a:srgbClr val="351C75"/>
          </a:solidFill>
          <a:ln>
            <a:noFill/>
          </a:ln>
        </p:spPr>
        <p:txBody>
          <a:bodyPr lIns="91425" tIns="91425" rIns="91425" bIns="91425" anchor="ctr" anchorCtr="0">
            <a:noAutofit/>
          </a:bodyPr>
          <a:lstStyle/>
          <a:p>
            <a:pPr lvl="0">
              <a:spcBef>
                <a:spcPts val="0"/>
              </a:spcBef>
              <a:buNone/>
            </a:pPr>
            <a:r>
              <a:rPr lang="en"/>
              <a:t> </a:t>
            </a:r>
          </a:p>
        </p:txBody>
      </p:sp>
      <p:cxnSp>
        <p:nvCxnSpPr>
          <p:cNvPr id="20" name="Shape 202"/>
          <p:cNvCxnSpPr/>
          <p:nvPr/>
        </p:nvCxnSpPr>
        <p:spPr>
          <a:xfrm>
            <a:off x="1979612" y="5918200"/>
            <a:ext cx="1447800" cy="0"/>
          </a:xfrm>
          <a:prstGeom prst="straightConnector1">
            <a:avLst/>
          </a:prstGeom>
          <a:noFill/>
          <a:ln w="38100" cap="flat" cmpd="sng">
            <a:solidFill>
              <a:srgbClr val="0000FF"/>
            </a:solidFill>
            <a:prstDash val="solid"/>
            <a:round/>
            <a:headEnd type="none" w="lg" len="lg"/>
            <a:tailEnd type="stealth" w="lg" len="lg"/>
          </a:ln>
        </p:spPr>
      </p:cxnSp>
      <mc:AlternateContent xmlns:mc="http://schemas.openxmlformats.org/markup-compatibility/2006" xmlns:a14="http://schemas.microsoft.com/office/drawing/2010/main">
        <mc:Choice Requires="a14">
          <p:sp>
            <p:nvSpPr>
              <p:cNvPr id="9" name="TextBox 8"/>
              <p:cNvSpPr txBox="1"/>
              <p:nvPr/>
            </p:nvSpPr>
            <p:spPr>
              <a:xfrm>
                <a:off x="2316694" y="5977527"/>
                <a:ext cx="79508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0000"/>
                          </a:solidFill>
                          <a:latin typeface="Cambria Math" charset="0"/>
                          <a:ea typeface="Cambria Math" charset="0"/>
                          <a:cs typeface="Cambria Math" charset="0"/>
                        </a:rPr>
                        <m:t>𝛼</m:t>
                      </m:r>
                      <m:r>
                        <a:rPr lang="en-US" i="1" smtClean="0">
                          <a:solidFill>
                            <a:srgbClr val="FF0000"/>
                          </a:solidFill>
                          <a:latin typeface="Cambria Math" charset="0"/>
                          <a:ea typeface="Cambria Math" charset="0"/>
                          <a:cs typeface="Cambria Math" charset="0"/>
                        </a:rPr>
                        <m:t>∙∆</m:t>
                      </m:r>
                      <m:r>
                        <a:rPr lang="en-US" b="0" i="1" smtClean="0">
                          <a:solidFill>
                            <a:srgbClr val="FF0000"/>
                          </a:solidFill>
                          <a:latin typeface="Cambria Math" charset="0"/>
                          <a:ea typeface="Cambria Math" charset="0"/>
                          <a:cs typeface="Cambria Math" charset="0"/>
                        </a:rPr>
                        <m:t>𝑊</m:t>
                      </m:r>
                    </m:oMath>
                  </m:oMathPara>
                </a14:m>
                <a:endParaRPr lang="en-US" dirty="0">
                  <a:solidFill>
                    <a:srgbClr val="FF0000"/>
                  </a:solidFill>
                </a:endParaRPr>
              </a:p>
            </p:txBody>
          </p:sp>
        </mc:Choice>
        <mc:Fallback xmlns="">
          <p:sp>
            <p:nvSpPr>
              <p:cNvPr id="9" name="TextBox 8"/>
              <p:cNvSpPr txBox="1">
                <a:spLocks noRot="1" noChangeAspect="1" noMove="1" noResize="1" noEditPoints="1" noAdjustHandles="1" noChangeArrowheads="1" noChangeShapeType="1" noTextEdit="1"/>
              </p:cNvSpPr>
              <p:nvPr/>
            </p:nvSpPr>
            <p:spPr>
              <a:xfrm>
                <a:off x="2316694" y="5977527"/>
                <a:ext cx="795089" cy="276999"/>
              </a:xfrm>
              <a:prstGeom prst="rect">
                <a:avLst/>
              </a:prstGeom>
              <a:blipFill rotWithShape="0">
                <a:blip r:embed="rId5"/>
                <a:stretch>
                  <a:fillRect r="-3077" b="-13333"/>
                </a:stretch>
              </a:blipFill>
            </p:spPr>
            <p:txBody>
              <a:bodyPr/>
              <a:lstStyle/>
              <a:p>
                <a:r>
                  <a:rPr lang="en-US">
                    <a:noFill/>
                  </a:rPr>
                  <a:t> </a:t>
                </a:r>
              </a:p>
            </p:txBody>
          </p:sp>
        </mc:Fallback>
      </mc:AlternateContent>
      <p:sp>
        <p:nvSpPr>
          <p:cNvPr id="14" name="Title 1"/>
          <p:cNvSpPr txBox="1">
            <a:spLocks/>
          </p:cNvSpPr>
          <p:nvPr/>
        </p:nvSpPr>
        <p:spPr>
          <a:xfrm>
            <a:off x="1593436" y="177800"/>
            <a:ext cx="9782801" cy="1239837"/>
          </a:xfrm>
          <a:prstGeom prst="rect">
            <a:avLst/>
          </a:prstGeom>
        </p:spPr>
        <p:txBody>
          <a:bodyPr>
            <a:normAutofit/>
          </a:bodyPr>
          <a:lstStyle>
            <a:lvl1pPr algn="l" defTabSz="914400" rtl="0" eaLnBrk="1" latinLnBrk="0" hangingPunct="1">
              <a:lnSpc>
                <a:spcPct val="90000"/>
              </a:lnSpc>
              <a:spcBef>
                <a:spcPct val="0"/>
              </a:spcBef>
              <a:buNone/>
              <a:defRPr sz="3600" kern="1200">
                <a:solidFill>
                  <a:schemeClr val="tx1">
                    <a:lumMod val="75000"/>
                  </a:schemeClr>
                </a:solidFill>
                <a:latin typeface="+mj-lt"/>
                <a:ea typeface="+mj-ea"/>
                <a:cs typeface="+mj-cs"/>
              </a:defRPr>
            </a:lvl1pPr>
          </a:lstStyle>
          <a:p>
            <a:r>
              <a:rPr lang="en-US" sz="2800" dirty="0" smtClean="0"/>
              <a:t>Adjusting the learning rate</a:t>
            </a:r>
            <a:endParaRPr lang="en-US" sz="2800" dirty="0"/>
          </a:p>
        </p:txBody>
      </p:sp>
    </p:spTree>
    <p:extLst>
      <p:ext uri="{BB962C8B-B14F-4D97-AF65-F5344CB8AC3E}">
        <p14:creationId xmlns:p14="http://schemas.microsoft.com/office/powerpoint/2010/main" val="110505707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p:cNvGrpSpPr/>
          <p:nvPr/>
        </p:nvGrpSpPr>
        <p:grpSpPr>
          <a:xfrm>
            <a:off x="989012" y="695802"/>
            <a:ext cx="9829800" cy="5633727"/>
            <a:chOff x="989012" y="695802"/>
            <a:chExt cx="9143997" cy="5240675"/>
          </a:xfrm>
        </p:grpSpPr>
        <p:pic>
          <p:nvPicPr>
            <p:cNvPr id="5" name="Shape 125"/>
            <p:cNvPicPr preferRelativeResize="0"/>
            <p:nvPr/>
          </p:nvPicPr>
          <p:blipFill>
            <a:blip r:embed="rId3">
              <a:alphaModFix/>
            </a:blip>
            <a:stretch>
              <a:fillRect/>
            </a:stretch>
          </p:blipFill>
          <p:spPr>
            <a:xfrm>
              <a:off x="989012" y="990600"/>
              <a:ext cx="9143997" cy="4644103"/>
            </a:xfrm>
            <a:prstGeom prst="rect">
              <a:avLst/>
            </a:prstGeom>
            <a:noFill/>
            <a:ln>
              <a:noFill/>
            </a:ln>
          </p:spPr>
        </p:pic>
        <p:sp>
          <p:nvSpPr>
            <p:cNvPr id="6" name="Shape 126"/>
            <p:cNvSpPr txBox="1"/>
            <p:nvPr/>
          </p:nvSpPr>
          <p:spPr>
            <a:xfrm>
              <a:off x="4596611" y="695802"/>
              <a:ext cx="784500" cy="486600"/>
            </a:xfrm>
            <a:prstGeom prst="rect">
              <a:avLst/>
            </a:prstGeom>
            <a:noFill/>
            <a:ln>
              <a:noFill/>
            </a:ln>
          </p:spPr>
          <p:txBody>
            <a:bodyPr lIns="91425" tIns="91425" rIns="91425" bIns="91425" anchor="t" anchorCtr="0">
              <a:noAutofit/>
            </a:bodyPr>
            <a:lstStyle/>
            <a:p>
              <a:pPr lvl="0" rtl="0">
                <a:spcBef>
                  <a:spcPts val="0"/>
                </a:spcBef>
                <a:buNone/>
              </a:pPr>
              <a:r>
                <a:rPr lang="en"/>
                <a:t>J (cost)</a:t>
              </a:r>
            </a:p>
          </p:txBody>
        </p:sp>
        <p:sp>
          <p:nvSpPr>
            <p:cNvPr id="7" name="Shape 127"/>
            <p:cNvSpPr txBox="1"/>
            <p:nvPr/>
          </p:nvSpPr>
          <p:spPr>
            <a:xfrm>
              <a:off x="9756211" y="5449877"/>
              <a:ext cx="224400" cy="486600"/>
            </a:xfrm>
            <a:prstGeom prst="rect">
              <a:avLst/>
            </a:prstGeom>
            <a:noFill/>
            <a:ln>
              <a:noFill/>
            </a:ln>
          </p:spPr>
          <p:txBody>
            <a:bodyPr lIns="91425" tIns="91425" rIns="91425" bIns="91425" anchor="t" anchorCtr="0">
              <a:noAutofit/>
            </a:bodyPr>
            <a:lstStyle/>
            <a:p>
              <a:pPr lvl="0" rtl="0">
                <a:spcBef>
                  <a:spcPts val="0"/>
                </a:spcBef>
                <a:buNone/>
              </a:pPr>
              <a:r>
                <a:rPr lang="en"/>
                <a:t>W</a:t>
              </a:r>
            </a:p>
          </p:txBody>
        </p:sp>
      </p:grpSp>
      <p:cxnSp>
        <p:nvCxnSpPr>
          <p:cNvPr id="16" name="Shape 146"/>
          <p:cNvCxnSpPr/>
          <p:nvPr/>
        </p:nvCxnSpPr>
        <p:spPr>
          <a:xfrm>
            <a:off x="1590094" y="1778850"/>
            <a:ext cx="833400" cy="1345500"/>
          </a:xfrm>
          <a:prstGeom prst="straightConnector1">
            <a:avLst/>
          </a:prstGeom>
          <a:noFill/>
          <a:ln w="38100" cap="flat" cmpd="sng">
            <a:solidFill>
              <a:srgbClr val="351C75"/>
            </a:solidFill>
            <a:prstDash val="solid"/>
            <a:round/>
            <a:headEnd type="none" w="lg" len="lg"/>
            <a:tailEnd type="none" w="lg" len="lg"/>
          </a:ln>
        </p:spPr>
      </p:cxnSp>
      <p:sp>
        <p:nvSpPr>
          <p:cNvPr id="17" name="Shape 147"/>
          <p:cNvSpPr/>
          <p:nvPr/>
        </p:nvSpPr>
        <p:spPr>
          <a:xfrm>
            <a:off x="1944772" y="2362200"/>
            <a:ext cx="98340" cy="89400"/>
          </a:xfrm>
          <a:prstGeom prst="ellipse">
            <a:avLst/>
          </a:prstGeom>
          <a:solidFill>
            <a:srgbClr val="351C75"/>
          </a:solidFill>
          <a:ln>
            <a:noFill/>
          </a:ln>
        </p:spPr>
        <p:txBody>
          <a:bodyPr lIns="91425" tIns="91425" rIns="91425" bIns="91425" anchor="ctr" anchorCtr="0">
            <a:noAutofit/>
          </a:bodyPr>
          <a:lstStyle/>
          <a:p>
            <a:pPr lvl="0">
              <a:spcBef>
                <a:spcPts val="0"/>
              </a:spcBef>
              <a:buNone/>
            </a:pPr>
            <a:r>
              <a:rPr lang="en"/>
              <a:t> </a:t>
            </a:r>
          </a:p>
        </p:txBody>
      </p:sp>
      <p:cxnSp>
        <p:nvCxnSpPr>
          <p:cNvPr id="18" name="Shape 150"/>
          <p:cNvCxnSpPr/>
          <p:nvPr/>
        </p:nvCxnSpPr>
        <p:spPr>
          <a:xfrm>
            <a:off x="1979612" y="5715000"/>
            <a:ext cx="0" cy="376794"/>
          </a:xfrm>
          <a:prstGeom prst="straightConnector1">
            <a:avLst/>
          </a:prstGeom>
          <a:noFill/>
          <a:ln w="28575" cap="flat" cmpd="sng">
            <a:solidFill>
              <a:schemeClr val="dk2"/>
            </a:solidFill>
            <a:prstDash val="solid"/>
            <a:round/>
            <a:headEnd type="none" w="lg" len="lg"/>
            <a:tailEnd type="none" w="lg" len="lg"/>
          </a:ln>
        </p:spPr>
      </p:cxnSp>
      <mc:AlternateContent xmlns:mc="http://schemas.openxmlformats.org/markup-compatibility/2006" xmlns:a14="http://schemas.microsoft.com/office/drawing/2010/main">
        <mc:Choice Requires="a14">
          <p:sp>
            <p:nvSpPr>
              <p:cNvPr id="2" name="TextBox 1"/>
              <p:cNvSpPr txBox="1"/>
              <p:nvPr/>
            </p:nvSpPr>
            <p:spPr>
              <a:xfrm>
                <a:off x="2141376" y="2098858"/>
                <a:ext cx="901914" cy="52668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mr-IN" i="1" smtClean="0">
                              <a:latin typeface="Cambria Math" panose="02040503050406030204" pitchFamily="18" charset="0"/>
                            </a:rPr>
                          </m:ctrlPr>
                        </m:fPr>
                        <m:num>
                          <m:r>
                            <a:rPr lang="mr-IN" i="1" smtClean="0">
                              <a:latin typeface="Cambria Math" charset="0"/>
                            </a:rPr>
                            <m:t>𝜕</m:t>
                          </m:r>
                          <m:r>
                            <a:rPr lang="en-US" b="0" i="1" smtClean="0">
                              <a:latin typeface="Cambria Math" charset="0"/>
                            </a:rPr>
                            <m:t>𝐽</m:t>
                          </m:r>
                        </m:num>
                        <m:den>
                          <m:r>
                            <a:rPr lang="mr-IN" i="1" smtClean="0">
                              <a:latin typeface="Cambria Math" charset="0"/>
                            </a:rPr>
                            <m:t>𝜕</m:t>
                          </m:r>
                          <m:r>
                            <a:rPr lang="en-US" b="0" i="1" smtClean="0">
                              <a:latin typeface="Cambria Math" charset="0"/>
                            </a:rPr>
                            <m:t>𝑊</m:t>
                          </m:r>
                        </m:den>
                      </m:f>
                      <m:r>
                        <a:rPr lang="en-US" b="0" i="1" smtClean="0">
                          <a:latin typeface="Cambria Math" charset="0"/>
                        </a:rPr>
                        <m:t>&lt;0</m:t>
                      </m:r>
                    </m:oMath>
                  </m:oMathPara>
                </a14:m>
                <a:endParaRPr lang="en-US" dirty="0"/>
              </a:p>
            </p:txBody>
          </p:sp>
        </mc:Choice>
        <mc:Fallback xmlns="">
          <p:sp>
            <p:nvSpPr>
              <p:cNvPr id="2" name="TextBox 1"/>
              <p:cNvSpPr txBox="1">
                <a:spLocks noRot="1" noChangeAspect="1" noMove="1" noResize="1" noEditPoints="1" noAdjustHandles="1" noChangeArrowheads="1" noChangeShapeType="1" noTextEdit="1"/>
              </p:cNvSpPr>
              <p:nvPr/>
            </p:nvSpPr>
            <p:spPr>
              <a:xfrm>
                <a:off x="2141376" y="2098858"/>
                <a:ext cx="901914" cy="526683"/>
              </a:xfrm>
              <a:prstGeom prst="rect">
                <a:avLst/>
              </a:prstGeom>
              <a:blipFill rotWithShape="0">
                <a:blip r:embed="rId4"/>
                <a:stretch>
                  <a:fillRect/>
                </a:stretch>
              </a:blipFill>
            </p:spPr>
            <p:txBody>
              <a:bodyPr/>
              <a:lstStyle/>
              <a:p>
                <a:r>
                  <a:rPr lang="en-US">
                    <a:noFill/>
                  </a:rPr>
                  <a:t> </a:t>
                </a:r>
              </a:p>
            </p:txBody>
          </p:sp>
        </mc:Fallback>
      </mc:AlternateContent>
      <p:cxnSp>
        <p:nvCxnSpPr>
          <p:cNvPr id="11" name="Shape 150"/>
          <p:cNvCxnSpPr/>
          <p:nvPr/>
        </p:nvCxnSpPr>
        <p:spPr>
          <a:xfrm>
            <a:off x="4418012" y="5715000"/>
            <a:ext cx="0" cy="376794"/>
          </a:xfrm>
          <a:prstGeom prst="straightConnector1">
            <a:avLst/>
          </a:prstGeom>
          <a:noFill/>
          <a:ln w="28575" cap="flat" cmpd="sng">
            <a:solidFill>
              <a:schemeClr val="dk2"/>
            </a:solidFill>
            <a:prstDash val="solid"/>
            <a:round/>
            <a:headEnd type="none" w="lg" len="lg"/>
            <a:tailEnd type="none" w="lg" len="lg"/>
          </a:ln>
        </p:spPr>
      </p:cxnSp>
      <p:sp>
        <p:nvSpPr>
          <p:cNvPr id="15" name="Shape 147"/>
          <p:cNvSpPr/>
          <p:nvPr/>
        </p:nvSpPr>
        <p:spPr>
          <a:xfrm>
            <a:off x="4366376" y="5016000"/>
            <a:ext cx="98340" cy="89400"/>
          </a:xfrm>
          <a:prstGeom prst="ellipse">
            <a:avLst/>
          </a:prstGeom>
          <a:solidFill>
            <a:srgbClr val="351C75"/>
          </a:solidFill>
          <a:ln>
            <a:noFill/>
          </a:ln>
        </p:spPr>
        <p:txBody>
          <a:bodyPr lIns="91425" tIns="91425" rIns="91425" bIns="91425" anchor="ctr" anchorCtr="0">
            <a:noAutofit/>
          </a:bodyPr>
          <a:lstStyle/>
          <a:p>
            <a:pPr lvl="0">
              <a:spcBef>
                <a:spcPts val="0"/>
              </a:spcBef>
              <a:buNone/>
            </a:pPr>
            <a:r>
              <a:rPr lang="en"/>
              <a:t> </a:t>
            </a:r>
          </a:p>
        </p:txBody>
      </p:sp>
      <p:cxnSp>
        <p:nvCxnSpPr>
          <p:cNvPr id="20" name="Shape 202"/>
          <p:cNvCxnSpPr/>
          <p:nvPr/>
        </p:nvCxnSpPr>
        <p:spPr>
          <a:xfrm>
            <a:off x="1979612" y="5918200"/>
            <a:ext cx="2438400" cy="0"/>
          </a:xfrm>
          <a:prstGeom prst="straightConnector1">
            <a:avLst/>
          </a:prstGeom>
          <a:noFill/>
          <a:ln w="38100" cap="flat" cmpd="sng">
            <a:solidFill>
              <a:srgbClr val="0000FF"/>
            </a:solidFill>
            <a:prstDash val="solid"/>
            <a:round/>
            <a:headEnd type="none" w="lg" len="lg"/>
            <a:tailEnd type="stealth" w="lg" len="lg"/>
          </a:ln>
        </p:spPr>
      </p:cxnSp>
      <mc:AlternateContent xmlns:mc="http://schemas.openxmlformats.org/markup-compatibility/2006" xmlns:a14="http://schemas.microsoft.com/office/drawing/2010/main">
        <mc:Choice Requires="a14">
          <p:sp>
            <p:nvSpPr>
              <p:cNvPr id="9" name="TextBox 8"/>
              <p:cNvSpPr txBox="1"/>
              <p:nvPr/>
            </p:nvSpPr>
            <p:spPr>
              <a:xfrm>
                <a:off x="2801267" y="5977527"/>
                <a:ext cx="79508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0000"/>
                          </a:solidFill>
                          <a:latin typeface="Cambria Math" charset="0"/>
                          <a:ea typeface="Cambria Math" charset="0"/>
                          <a:cs typeface="Cambria Math" charset="0"/>
                        </a:rPr>
                        <m:t>𝛼</m:t>
                      </m:r>
                      <m:r>
                        <a:rPr lang="en-US" i="1" smtClean="0">
                          <a:solidFill>
                            <a:srgbClr val="FF0000"/>
                          </a:solidFill>
                          <a:latin typeface="Cambria Math" charset="0"/>
                          <a:ea typeface="Cambria Math" charset="0"/>
                          <a:cs typeface="Cambria Math" charset="0"/>
                        </a:rPr>
                        <m:t>∙∆</m:t>
                      </m:r>
                      <m:r>
                        <a:rPr lang="en-US" b="0" i="1" smtClean="0">
                          <a:solidFill>
                            <a:srgbClr val="FF0000"/>
                          </a:solidFill>
                          <a:latin typeface="Cambria Math" charset="0"/>
                          <a:ea typeface="Cambria Math" charset="0"/>
                          <a:cs typeface="Cambria Math" charset="0"/>
                        </a:rPr>
                        <m:t>𝑊</m:t>
                      </m:r>
                    </m:oMath>
                  </m:oMathPara>
                </a14:m>
                <a:endParaRPr lang="en-US" dirty="0">
                  <a:solidFill>
                    <a:srgbClr val="FF0000"/>
                  </a:solidFill>
                </a:endParaRPr>
              </a:p>
            </p:txBody>
          </p:sp>
        </mc:Choice>
        <mc:Fallback xmlns="">
          <p:sp>
            <p:nvSpPr>
              <p:cNvPr id="9" name="TextBox 8"/>
              <p:cNvSpPr txBox="1">
                <a:spLocks noRot="1" noChangeAspect="1" noMove="1" noResize="1" noEditPoints="1" noAdjustHandles="1" noChangeArrowheads="1" noChangeShapeType="1" noTextEdit="1"/>
              </p:cNvSpPr>
              <p:nvPr/>
            </p:nvSpPr>
            <p:spPr>
              <a:xfrm>
                <a:off x="2801267" y="5977527"/>
                <a:ext cx="795089" cy="276999"/>
              </a:xfrm>
              <a:prstGeom prst="rect">
                <a:avLst/>
              </a:prstGeom>
              <a:blipFill rotWithShape="0">
                <a:blip r:embed="rId5"/>
                <a:stretch>
                  <a:fillRect r="-2308" b="-13333"/>
                </a:stretch>
              </a:blipFill>
            </p:spPr>
            <p:txBody>
              <a:bodyPr/>
              <a:lstStyle/>
              <a:p>
                <a:r>
                  <a:rPr lang="en-US">
                    <a:noFill/>
                  </a:rPr>
                  <a:t> </a:t>
                </a:r>
              </a:p>
            </p:txBody>
          </p:sp>
        </mc:Fallback>
      </mc:AlternateContent>
      <p:sp>
        <p:nvSpPr>
          <p:cNvPr id="14" name="Title 1"/>
          <p:cNvSpPr txBox="1">
            <a:spLocks/>
          </p:cNvSpPr>
          <p:nvPr/>
        </p:nvSpPr>
        <p:spPr>
          <a:xfrm>
            <a:off x="1593436" y="177800"/>
            <a:ext cx="9782801" cy="1239837"/>
          </a:xfrm>
          <a:prstGeom prst="rect">
            <a:avLst/>
          </a:prstGeom>
        </p:spPr>
        <p:txBody>
          <a:bodyPr>
            <a:normAutofit/>
          </a:bodyPr>
          <a:lstStyle>
            <a:lvl1pPr algn="l" defTabSz="914400" rtl="0" eaLnBrk="1" latinLnBrk="0" hangingPunct="1">
              <a:lnSpc>
                <a:spcPct val="90000"/>
              </a:lnSpc>
              <a:spcBef>
                <a:spcPct val="0"/>
              </a:spcBef>
              <a:buNone/>
              <a:defRPr sz="3600" kern="1200">
                <a:solidFill>
                  <a:schemeClr val="tx1">
                    <a:lumMod val="75000"/>
                  </a:schemeClr>
                </a:solidFill>
                <a:latin typeface="+mj-lt"/>
                <a:ea typeface="+mj-ea"/>
                <a:cs typeface="+mj-cs"/>
              </a:defRPr>
            </a:lvl1pPr>
          </a:lstStyle>
          <a:p>
            <a:r>
              <a:rPr lang="en-US" sz="2800" dirty="0" smtClean="0"/>
              <a:t>Adjusting the learning rate</a:t>
            </a:r>
            <a:endParaRPr lang="en-US" sz="2800" dirty="0"/>
          </a:p>
        </p:txBody>
      </p:sp>
      <mc:AlternateContent xmlns:mc="http://schemas.openxmlformats.org/markup-compatibility/2006" xmlns:a14="http://schemas.microsoft.com/office/drawing/2010/main">
        <mc:Choice Requires="a14">
          <p:sp>
            <p:nvSpPr>
              <p:cNvPr id="4" name="TextBox 3"/>
              <p:cNvSpPr txBox="1"/>
              <p:nvPr/>
            </p:nvSpPr>
            <p:spPr>
              <a:xfrm>
                <a:off x="2686291" y="5437102"/>
                <a:ext cx="1174296" cy="369332"/>
              </a:xfrm>
              <a:prstGeom prst="rect">
                <a:avLst/>
              </a:prstGeom>
              <a:noFill/>
            </p:spPr>
            <p:txBody>
              <a:bodyPr wrap="none" rtlCol="0">
                <a:spAutoFit/>
              </a:bodyPr>
              <a:lstStyle/>
              <a:p>
                <a:r>
                  <a:rPr lang="en-US" dirty="0" smtClean="0">
                    <a:solidFill>
                      <a:srgbClr val="FF0000"/>
                    </a:solidFill>
                  </a:rPr>
                  <a:t>Bigger </a:t>
                </a:r>
                <a14:m>
                  <m:oMath xmlns:m="http://schemas.openxmlformats.org/officeDocument/2006/math">
                    <m:r>
                      <a:rPr lang="en-US" i="1">
                        <a:solidFill>
                          <a:srgbClr val="FF0000"/>
                        </a:solidFill>
                        <a:latin typeface="Cambria Math" charset="0"/>
                        <a:ea typeface="Cambria Math" charset="0"/>
                        <a:cs typeface="Cambria Math" charset="0"/>
                      </a:rPr>
                      <m:t>𝛼</m:t>
                    </m:r>
                  </m:oMath>
                </a14:m>
                <a:r>
                  <a:rPr lang="en-US" dirty="0" smtClean="0">
                    <a:solidFill>
                      <a:srgbClr val="FF0000"/>
                    </a:solidFill>
                  </a:rPr>
                  <a:t> </a:t>
                </a:r>
                <a:endParaRPr lang="en-US" dirty="0">
                  <a:solidFill>
                    <a:srgbClr val="FF0000"/>
                  </a:solidFill>
                </a:endParaRPr>
              </a:p>
            </p:txBody>
          </p:sp>
        </mc:Choice>
        <mc:Fallback xmlns="">
          <p:sp>
            <p:nvSpPr>
              <p:cNvPr id="4" name="TextBox 3"/>
              <p:cNvSpPr txBox="1">
                <a:spLocks noRot="1" noChangeAspect="1" noMove="1" noResize="1" noEditPoints="1" noAdjustHandles="1" noChangeArrowheads="1" noChangeShapeType="1" noTextEdit="1"/>
              </p:cNvSpPr>
              <p:nvPr/>
            </p:nvSpPr>
            <p:spPr>
              <a:xfrm>
                <a:off x="2686291" y="5437102"/>
                <a:ext cx="1174296" cy="369332"/>
              </a:xfrm>
              <a:prstGeom prst="rect">
                <a:avLst/>
              </a:prstGeom>
              <a:blipFill rotWithShape="0">
                <a:blip r:embed="rId6"/>
                <a:stretch>
                  <a:fillRect l="-4688" t="-11667" b="-25000"/>
                </a:stretch>
              </a:blipFill>
            </p:spPr>
            <p:txBody>
              <a:bodyPr/>
              <a:lstStyle/>
              <a:p>
                <a:r>
                  <a:rPr lang="en-US">
                    <a:noFill/>
                  </a:rPr>
                  <a:t> </a:t>
                </a:r>
              </a:p>
            </p:txBody>
          </p:sp>
        </mc:Fallback>
      </mc:AlternateContent>
    </p:spTree>
    <p:extLst>
      <p:ext uri="{BB962C8B-B14F-4D97-AF65-F5344CB8AC3E}">
        <p14:creationId xmlns:p14="http://schemas.microsoft.com/office/powerpoint/2010/main" val="184139843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p:cNvGrpSpPr/>
          <p:nvPr/>
        </p:nvGrpSpPr>
        <p:grpSpPr>
          <a:xfrm>
            <a:off x="989012" y="695802"/>
            <a:ext cx="9829800" cy="5633727"/>
            <a:chOff x="989012" y="695802"/>
            <a:chExt cx="9143997" cy="5240675"/>
          </a:xfrm>
        </p:grpSpPr>
        <p:pic>
          <p:nvPicPr>
            <p:cNvPr id="5" name="Shape 125"/>
            <p:cNvPicPr preferRelativeResize="0"/>
            <p:nvPr/>
          </p:nvPicPr>
          <p:blipFill>
            <a:blip r:embed="rId3">
              <a:alphaModFix/>
            </a:blip>
            <a:stretch>
              <a:fillRect/>
            </a:stretch>
          </p:blipFill>
          <p:spPr>
            <a:xfrm>
              <a:off x="989012" y="990600"/>
              <a:ext cx="9143997" cy="4644103"/>
            </a:xfrm>
            <a:prstGeom prst="rect">
              <a:avLst/>
            </a:prstGeom>
            <a:noFill/>
            <a:ln>
              <a:noFill/>
            </a:ln>
          </p:spPr>
        </p:pic>
        <p:sp>
          <p:nvSpPr>
            <p:cNvPr id="6" name="Shape 126"/>
            <p:cNvSpPr txBox="1"/>
            <p:nvPr/>
          </p:nvSpPr>
          <p:spPr>
            <a:xfrm>
              <a:off x="4596611" y="695802"/>
              <a:ext cx="784500" cy="486600"/>
            </a:xfrm>
            <a:prstGeom prst="rect">
              <a:avLst/>
            </a:prstGeom>
            <a:noFill/>
            <a:ln>
              <a:noFill/>
            </a:ln>
          </p:spPr>
          <p:txBody>
            <a:bodyPr lIns="91425" tIns="91425" rIns="91425" bIns="91425" anchor="t" anchorCtr="0">
              <a:noAutofit/>
            </a:bodyPr>
            <a:lstStyle/>
            <a:p>
              <a:pPr lvl="0" rtl="0">
                <a:spcBef>
                  <a:spcPts val="0"/>
                </a:spcBef>
                <a:buNone/>
              </a:pPr>
              <a:r>
                <a:rPr lang="en"/>
                <a:t>J (cost)</a:t>
              </a:r>
            </a:p>
          </p:txBody>
        </p:sp>
        <p:sp>
          <p:nvSpPr>
            <p:cNvPr id="7" name="Shape 127"/>
            <p:cNvSpPr txBox="1"/>
            <p:nvPr/>
          </p:nvSpPr>
          <p:spPr>
            <a:xfrm>
              <a:off x="9756211" y="5449877"/>
              <a:ext cx="224400" cy="486600"/>
            </a:xfrm>
            <a:prstGeom prst="rect">
              <a:avLst/>
            </a:prstGeom>
            <a:noFill/>
            <a:ln>
              <a:noFill/>
            </a:ln>
          </p:spPr>
          <p:txBody>
            <a:bodyPr lIns="91425" tIns="91425" rIns="91425" bIns="91425" anchor="t" anchorCtr="0">
              <a:noAutofit/>
            </a:bodyPr>
            <a:lstStyle/>
            <a:p>
              <a:pPr lvl="0" rtl="0">
                <a:spcBef>
                  <a:spcPts val="0"/>
                </a:spcBef>
                <a:buNone/>
              </a:pPr>
              <a:r>
                <a:rPr lang="en"/>
                <a:t>W</a:t>
              </a:r>
            </a:p>
          </p:txBody>
        </p:sp>
      </p:grpSp>
      <p:cxnSp>
        <p:nvCxnSpPr>
          <p:cNvPr id="16" name="Shape 146"/>
          <p:cNvCxnSpPr/>
          <p:nvPr/>
        </p:nvCxnSpPr>
        <p:spPr>
          <a:xfrm>
            <a:off x="1590094" y="1778850"/>
            <a:ext cx="833400" cy="1345500"/>
          </a:xfrm>
          <a:prstGeom prst="straightConnector1">
            <a:avLst/>
          </a:prstGeom>
          <a:noFill/>
          <a:ln w="38100" cap="flat" cmpd="sng">
            <a:solidFill>
              <a:srgbClr val="351C75"/>
            </a:solidFill>
            <a:prstDash val="solid"/>
            <a:round/>
            <a:headEnd type="none" w="lg" len="lg"/>
            <a:tailEnd type="none" w="lg" len="lg"/>
          </a:ln>
        </p:spPr>
      </p:cxnSp>
      <p:sp>
        <p:nvSpPr>
          <p:cNvPr id="17" name="Shape 147"/>
          <p:cNvSpPr/>
          <p:nvPr/>
        </p:nvSpPr>
        <p:spPr>
          <a:xfrm>
            <a:off x="1944772" y="2362200"/>
            <a:ext cx="98340" cy="89400"/>
          </a:xfrm>
          <a:prstGeom prst="ellipse">
            <a:avLst/>
          </a:prstGeom>
          <a:solidFill>
            <a:srgbClr val="351C75"/>
          </a:solidFill>
          <a:ln>
            <a:noFill/>
          </a:ln>
        </p:spPr>
        <p:txBody>
          <a:bodyPr lIns="91425" tIns="91425" rIns="91425" bIns="91425" anchor="ctr" anchorCtr="0">
            <a:noAutofit/>
          </a:bodyPr>
          <a:lstStyle/>
          <a:p>
            <a:pPr lvl="0">
              <a:spcBef>
                <a:spcPts val="0"/>
              </a:spcBef>
              <a:buNone/>
            </a:pPr>
            <a:r>
              <a:rPr lang="en"/>
              <a:t> </a:t>
            </a:r>
          </a:p>
        </p:txBody>
      </p:sp>
      <p:cxnSp>
        <p:nvCxnSpPr>
          <p:cNvPr id="18" name="Shape 150"/>
          <p:cNvCxnSpPr/>
          <p:nvPr/>
        </p:nvCxnSpPr>
        <p:spPr>
          <a:xfrm>
            <a:off x="1979612" y="5715000"/>
            <a:ext cx="0" cy="376794"/>
          </a:xfrm>
          <a:prstGeom prst="straightConnector1">
            <a:avLst/>
          </a:prstGeom>
          <a:noFill/>
          <a:ln w="28575" cap="flat" cmpd="sng">
            <a:solidFill>
              <a:schemeClr val="dk2"/>
            </a:solidFill>
            <a:prstDash val="solid"/>
            <a:round/>
            <a:headEnd type="none" w="lg" len="lg"/>
            <a:tailEnd type="none" w="lg" len="lg"/>
          </a:ln>
        </p:spPr>
      </p:cxnSp>
      <mc:AlternateContent xmlns:mc="http://schemas.openxmlformats.org/markup-compatibility/2006" xmlns:a14="http://schemas.microsoft.com/office/drawing/2010/main">
        <mc:Choice Requires="a14">
          <p:sp>
            <p:nvSpPr>
              <p:cNvPr id="2" name="TextBox 1"/>
              <p:cNvSpPr txBox="1"/>
              <p:nvPr/>
            </p:nvSpPr>
            <p:spPr>
              <a:xfrm>
                <a:off x="2141376" y="2098858"/>
                <a:ext cx="901914" cy="52668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mr-IN" i="1" smtClean="0">
                              <a:latin typeface="Cambria Math" panose="02040503050406030204" pitchFamily="18" charset="0"/>
                            </a:rPr>
                          </m:ctrlPr>
                        </m:fPr>
                        <m:num>
                          <m:r>
                            <a:rPr lang="mr-IN" i="1" smtClean="0">
                              <a:latin typeface="Cambria Math" charset="0"/>
                            </a:rPr>
                            <m:t>𝜕</m:t>
                          </m:r>
                          <m:r>
                            <a:rPr lang="en-US" b="0" i="1" smtClean="0">
                              <a:latin typeface="Cambria Math" charset="0"/>
                            </a:rPr>
                            <m:t>𝐽</m:t>
                          </m:r>
                        </m:num>
                        <m:den>
                          <m:r>
                            <a:rPr lang="mr-IN" i="1" smtClean="0">
                              <a:latin typeface="Cambria Math" charset="0"/>
                            </a:rPr>
                            <m:t>𝜕</m:t>
                          </m:r>
                          <m:r>
                            <a:rPr lang="en-US" b="0" i="1" smtClean="0">
                              <a:latin typeface="Cambria Math" charset="0"/>
                            </a:rPr>
                            <m:t>𝑊</m:t>
                          </m:r>
                        </m:den>
                      </m:f>
                      <m:r>
                        <a:rPr lang="en-US" b="0" i="1" smtClean="0">
                          <a:latin typeface="Cambria Math" charset="0"/>
                        </a:rPr>
                        <m:t>&lt;0</m:t>
                      </m:r>
                    </m:oMath>
                  </m:oMathPara>
                </a14:m>
                <a:endParaRPr lang="en-US" dirty="0"/>
              </a:p>
            </p:txBody>
          </p:sp>
        </mc:Choice>
        <mc:Fallback xmlns="">
          <p:sp>
            <p:nvSpPr>
              <p:cNvPr id="2" name="TextBox 1"/>
              <p:cNvSpPr txBox="1">
                <a:spLocks noRot="1" noChangeAspect="1" noMove="1" noResize="1" noEditPoints="1" noAdjustHandles="1" noChangeArrowheads="1" noChangeShapeType="1" noTextEdit="1"/>
              </p:cNvSpPr>
              <p:nvPr/>
            </p:nvSpPr>
            <p:spPr>
              <a:xfrm>
                <a:off x="2141376" y="2098858"/>
                <a:ext cx="901914" cy="526683"/>
              </a:xfrm>
              <a:prstGeom prst="rect">
                <a:avLst/>
              </a:prstGeom>
              <a:blipFill rotWithShape="0">
                <a:blip r:embed="rId4"/>
                <a:stretch>
                  <a:fillRect/>
                </a:stretch>
              </a:blipFill>
            </p:spPr>
            <p:txBody>
              <a:bodyPr/>
              <a:lstStyle/>
              <a:p>
                <a:r>
                  <a:rPr lang="en-US">
                    <a:noFill/>
                  </a:rPr>
                  <a:t> </a:t>
                </a:r>
              </a:p>
            </p:txBody>
          </p:sp>
        </mc:Fallback>
      </mc:AlternateContent>
      <p:cxnSp>
        <p:nvCxnSpPr>
          <p:cNvPr id="11" name="Shape 150"/>
          <p:cNvCxnSpPr/>
          <p:nvPr/>
        </p:nvCxnSpPr>
        <p:spPr>
          <a:xfrm>
            <a:off x="2970212" y="5715000"/>
            <a:ext cx="0" cy="376794"/>
          </a:xfrm>
          <a:prstGeom prst="straightConnector1">
            <a:avLst/>
          </a:prstGeom>
          <a:noFill/>
          <a:ln w="28575" cap="flat" cmpd="sng">
            <a:solidFill>
              <a:schemeClr val="dk2"/>
            </a:solidFill>
            <a:prstDash val="solid"/>
            <a:round/>
            <a:headEnd type="none" w="lg" len="lg"/>
            <a:tailEnd type="none" w="lg" len="lg"/>
          </a:ln>
        </p:spPr>
      </p:cxnSp>
      <p:sp>
        <p:nvSpPr>
          <p:cNvPr id="15" name="Shape 147"/>
          <p:cNvSpPr/>
          <p:nvPr/>
        </p:nvSpPr>
        <p:spPr>
          <a:xfrm>
            <a:off x="2903844" y="3733800"/>
            <a:ext cx="98340" cy="89400"/>
          </a:xfrm>
          <a:prstGeom prst="ellipse">
            <a:avLst/>
          </a:prstGeom>
          <a:solidFill>
            <a:srgbClr val="351C75"/>
          </a:solidFill>
          <a:ln>
            <a:noFill/>
          </a:ln>
        </p:spPr>
        <p:txBody>
          <a:bodyPr lIns="91425" tIns="91425" rIns="91425" bIns="91425" anchor="ctr" anchorCtr="0">
            <a:noAutofit/>
          </a:bodyPr>
          <a:lstStyle/>
          <a:p>
            <a:pPr lvl="0">
              <a:spcBef>
                <a:spcPts val="0"/>
              </a:spcBef>
              <a:buNone/>
            </a:pPr>
            <a:r>
              <a:rPr lang="en"/>
              <a:t> </a:t>
            </a:r>
          </a:p>
        </p:txBody>
      </p:sp>
      <p:cxnSp>
        <p:nvCxnSpPr>
          <p:cNvPr id="20" name="Shape 202"/>
          <p:cNvCxnSpPr/>
          <p:nvPr/>
        </p:nvCxnSpPr>
        <p:spPr>
          <a:xfrm>
            <a:off x="1979612" y="5918200"/>
            <a:ext cx="990600" cy="0"/>
          </a:xfrm>
          <a:prstGeom prst="straightConnector1">
            <a:avLst/>
          </a:prstGeom>
          <a:noFill/>
          <a:ln w="38100" cap="flat" cmpd="sng">
            <a:solidFill>
              <a:srgbClr val="0000FF"/>
            </a:solidFill>
            <a:prstDash val="solid"/>
            <a:round/>
            <a:headEnd type="none" w="lg" len="lg"/>
            <a:tailEnd type="stealth" w="lg" len="lg"/>
          </a:ln>
        </p:spPr>
      </p:cxnSp>
      <mc:AlternateContent xmlns:mc="http://schemas.openxmlformats.org/markup-compatibility/2006" xmlns:a14="http://schemas.microsoft.com/office/drawing/2010/main">
        <mc:Choice Requires="a14">
          <p:sp>
            <p:nvSpPr>
              <p:cNvPr id="9" name="TextBox 8"/>
              <p:cNvSpPr txBox="1"/>
              <p:nvPr/>
            </p:nvSpPr>
            <p:spPr>
              <a:xfrm>
                <a:off x="2077367" y="5977527"/>
                <a:ext cx="79508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0000"/>
                          </a:solidFill>
                          <a:latin typeface="Cambria Math" charset="0"/>
                          <a:ea typeface="Cambria Math" charset="0"/>
                          <a:cs typeface="Cambria Math" charset="0"/>
                        </a:rPr>
                        <m:t>𝛼</m:t>
                      </m:r>
                      <m:r>
                        <a:rPr lang="en-US" i="1" smtClean="0">
                          <a:solidFill>
                            <a:srgbClr val="FF0000"/>
                          </a:solidFill>
                          <a:latin typeface="Cambria Math" charset="0"/>
                          <a:ea typeface="Cambria Math" charset="0"/>
                          <a:cs typeface="Cambria Math" charset="0"/>
                        </a:rPr>
                        <m:t>∙∆</m:t>
                      </m:r>
                      <m:r>
                        <a:rPr lang="en-US" b="0" i="1" smtClean="0">
                          <a:solidFill>
                            <a:srgbClr val="FF0000"/>
                          </a:solidFill>
                          <a:latin typeface="Cambria Math" charset="0"/>
                          <a:ea typeface="Cambria Math" charset="0"/>
                          <a:cs typeface="Cambria Math" charset="0"/>
                        </a:rPr>
                        <m:t>𝑊</m:t>
                      </m:r>
                    </m:oMath>
                  </m:oMathPara>
                </a14:m>
                <a:endParaRPr lang="en-US" dirty="0">
                  <a:solidFill>
                    <a:srgbClr val="FF0000"/>
                  </a:solidFill>
                </a:endParaRPr>
              </a:p>
            </p:txBody>
          </p:sp>
        </mc:Choice>
        <mc:Fallback xmlns="">
          <p:sp>
            <p:nvSpPr>
              <p:cNvPr id="9" name="TextBox 8"/>
              <p:cNvSpPr txBox="1">
                <a:spLocks noRot="1" noChangeAspect="1" noMove="1" noResize="1" noEditPoints="1" noAdjustHandles="1" noChangeArrowheads="1" noChangeShapeType="1" noTextEdit="1"/>
              </p:cNvSpPr>
              <p:nvPr/>
            </p:nvSpPr>
            <p:spPr>
              <a:xfrm>
                <a:off x="2077367" y="5977527"/>
                <a:ext cx="795089" cy="276999"/>
              </a:xfrm>
              <a:prstGeom prst="rect">
                <a:avLst/>
              </a:prstGeom>
              <a:blipFill rotWithShape="0">
                <a:blip r:embed="rId5"/>
                <a:stretch>
                  <a:fillRect r="-2308" b="-13333"/>
                </a:stretch>
              </a:blipFill>
            </p:spPr>
            <p:txBody>
              <a:bodyPr/>
              <a:lstStyle/>
              <a:p>
                <a:r>
                  <a:rPr lang="en-US">
                    <a:noFill/>
                  </a:rPr>
                  <a:t> </a:t>
                </a:r>
              </a:p>
            </p:txBody>
          </p:sp>
        </mc:Fallback>
      </mc:AlternateContent>
      <p:sp>
        <p:nvSpPr>
          <p:cNvPr id="14" name="Title 1"/>
          <p:cNvSpPr txBox="1">
            <a:spLocks/>
          </p:cNvSpPr>
          <p:nvPr/>
        </p:nvSpPr>
        <p:spPr>
          <a:xfrm>
            <a:off x="1593436" y="177800"/>
            <a:ext cx="9782801" cy="1239837"/>
          </a:xfrm>
          <a:prstGeom prst="rect">
            <a:avLst/>
          </a:prstGeom>
        </p:spPr>
        <p:txBody>
          <a:bodyPr>
            <a:normAutofit/>
          </a:bodyPr>
          <a:lstStyle>
            <a:lvl1pPr algn="l" defTabSz="914400" rtl="0" eaLnBrk="1" latinLnBrk="0" hangingPunct="1">
              <a:lnSpc>
                <a:spcPct val="90000"/>
              </a:lnSpc>
              <a:spcBef>
                <a:spcPct val="0"/>
              </a:spcBef>
              <a:buNone/>
              <a:defRPr sz="3600" kern="1200">
                <a:solidFill>
                  <a:schemeClr val="tx1">
                    <a:lumMod val="75000"/>
                  </a:schemeClr>
                </a:solidFill>
                <a:latin typeface="+mj-lt"/>
                <a:ea typeface="+mj-ea"/>
                <a:cs typeface="+mj-cs"/>
              </a:defRPr>
            </a:lvl1pPr>
          </a:lstStyle>
          <a:p>
            <a:r>
              <a:rPr lang="en-US" sz="2800" dirty="0" smtClean="0"/>
              <a:t>Adjusting the learning rate</a:t>
            </a:r>
            <a:endParaRPr lang="en-US" sz="2800" dirty="0"/>
          </a:p>
        </p:txBody>
      </p:sp>
      <mc:AlternateContent xmlns:mc="http://schemas.openxmlformats.org/markup-compatibility/2006" xmlns:a14="http://schemas.microsoft.com/office/drawing/2010/main">
        <mc:Choice Requires="a14">
          <p:sp>
            <p:nvSpPr>
              <p:cNvPr id="24" name="TextBox 23"/>
              <p:cNvSpPr txBox="1"/>
              <p:nvPr/>
            </p:nvSpPr>
            <p:spPr>
              <a:xfrm>
                <a:off x="1940726" y="5390414"/>
                <a:ext cx="1303049" cy="369332"/>
              </a:xfrm>
              <a:prstGeom prst="rect">
                <a:avLst/>
              </a:prstGeom>
              <a:noFill/>
            </p:spPr>
            <p:txBody>
              <a:bodyPr wrap="none" rtlCol="0">
                <a:spAutoFit/>
              </a:bodyPr>
              <a:lstStyle/>
              <a:p>
                <a:r>
                  <a:rPr lang="en-US" dirty="0">
                    <a:solidFill>
                      <a:srgbClr val="FF0000"/>
                    </a:solidFill>
                  </a:rPr>
                  <a:t>S</a:t>
                </a:r>
                <a:r>
                  <a:rPr lang="en-US" dirty="0" smtClean="0">
                    <a:solidFill>
                      <a:srgbClr val="FF0000"/>
                    </a:solidFill>
                  </a:rPr>
                  <a:t>maller </a:t>
                </a:r>
                <a14:m>
                  <m:oMath xmlns:m="http://schemas.openxmlformats.org/officeDocument/2006/math">
                    <m:r>
                      <a:rPr lang="en-US" i="1">
                        <a:solidFill>
                          <a:srgbClr val="FF0000"/>
                        </a:solidFill>
                        <a:latin typeface="Cambria Math" charset="0"/>
                        <a:ea typeface="Cambria Math" charset="0"/>
                        <a:cs typeface="Cambria Math" charset="0"/>
                      </a:rPr>
                      <m:t>𝛼</m:t>
                    </m:r>
                  </m:oMath>
                </a14:m>
                <a:r>
                  <a:rPr lang="en-US" dirty="0" smtClean="0">
                    <a:solidFill>
                      <a:srgbClr val="FF0000"/>
                    </a:solidFill>
                  </a:rPr>
                  <a:t> </a:t>
                </a:r>
                <a:endParaRPr lang="en-US" dirty="0">
                  <a:solidFill>
                    <a:srgbClr val="FF0000"/>
                  </a:solidFill>
                </a:endParaRPr>
              </a:p>
            </p:txBody>
          </p:sp>
        </mc:Choice>
        <mc:Fallback xmlns="">
          <p:sp>
            <p:nvSpPr>
              <p:cNvPr id="24" name="TextBox 23"/>
              <p:cNvSpPr txBox="1">
                <a:spLocks noRot="1" noChangeAspect="1" noMove="1" noResize="1" noEditPoints="1" noAdjustHandles="1" noChangeArrowheads="1" noChangeShapeType="1" noTextEdit="1"/>
              </p:cNvSpPr>
              <p:nvPr/>
            </p:nvSpPr>
            <p:spPr>
              <a:xfrm>
                <a:off x="1940726" y="5390414"/>
                <a:ext cx="1303049" cy="369332"/>
              </a:xfrm>
              <a:prstGeom prst="rect">
                <a:avLst/>
              </a:prstGeom>
              <a:blipFill rotWithShape="0">
                <a:blip r:embed="rId6"/>
                <a:stretch>
                  <a:fillRect l="-3738" t="-9836" b="-22951"/>
                </a:stretch>
              </a:blipFill>
            </p:spPr>
            <p:txBody>
              <a:bodyPr/>
              <a:lstStyle/>
              <a:p>
                <a:r>
                  <a:rPr lang="en-US">
                    <a:noFill/>
                  </a:rPr>
                  <a:t> </a:t>
                </a:r>
              </a:p>
            </p:txBody>
          </p:sp>
        </mc:Fallback>
      </mc:AlternateContent>
    </p:spTree>
    <p:extLst>
      <p:ext uri="{BB962C8B-B14F-4D97-AF65-F5344CB8AC3E}">
        <p14:creationId xmlns:p14="http://schemas.microsoft.com/office/powerpoint/2010/main" val="121777563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smtClean="0"/>
              <a:t>Process of gradient decent (computation graph)</a:t>
            </a:r>
            <a:endParaRPr lang="en-US" sz="2800"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593436" y="1600199"/>
                <a:ext cx="9782801" cy="1310563"/>
              </a:xfrm>
            </p:spPr>
            <p:txBody>
              <a:bodyPr/>
              <a:lstStyle/>
              <a:p>
                <a:pPr marL="514350" marR="0" lvl="0" indent="-514350" defTabSz="914400" eaLnBrk="1" fontAlgn="auto" latinLnBrk="0" hangingPunct="1">
                  <a:lnSpc>
                    <a:spcPct val="100000"/>
                  </a:lnSpc>
                  <a:spcBef>
                    <a:spcPts val="0"/>
                  </a:spcBef>
                  <a:spcAft>
                    <a:spcPts val="0"/>
                  </a:spcAft>
                  <a:buClrTx/>
                  <a:buSzTx/>
                  <a:buFontTx/>
                  <a:buAutoNum type="arabicPeriod"/>
                  <a:tabLst/>
                  <a:defRPr/>
                </a:pPr>
                <a:r>
                  <a:rPr lang="en-US" dirty="0" smtClean="0"/>
                  <a:t>Start with our basic model</a:t>
                </a:r>
              </a:p>
              <a:p>
                <a:pPr lvl="1">
                  <a:lnSpc>
                    <a:spcPct val="100000"/>
                  </a:lnSpc>
                  <a:spcBef>
                    <a:spcPts val="0"/>
                  </a:spcBef>
                </a:pPr>
                <a14:m>
                  <m:oMath xmlns:m="http://schemas.openxmlformats.org/officeDocument/2006/math">
                    <m:r>
                      <a:rPr lang="en-US" b="0" i="1" smtClean="0">
                        <a:latin typeface="Cambria Math" charset="0"/>
                        <a:ea typeface="Consolas" charset="0"/>
                        <a:cs typeface="Consolas" charset="0"/>
                      </a:rPr>
                      <m:t>𝑌</m:t>
                    </m:r>
                    <m:r>
                      <a:rPr lang="en-US" b="0" i="1" smtClean="0">
                        <a:latin typeface="Cambria Math" charset="0"/>
                        <a:ea typeface="Consolas" charset="0"/>
                        <a:cs typeface="Consolas" charset="0"/>
                      </a:rPr>
                      <m:t>=</m:t>
                    </m:r>
                    <m:r>
                      <a:rPr lang="en-US" b="0" i="1" smtClean="0">
                        <a:latin typeface="Cambria Math" charset="0"/>
                        <a:ea typeface="Consolas" charset="0"/>
                        <a:cs typeface="Consolas" charset="0"/>
                      </a:rPr>
                      <m:t>𝑊𝑥</m:t>
                    </m:r>
                    <m:r>
                      <a:rPr lang="en-US" b="0" i="1" smtClean="0">
                        <a:latin typeface="Cambria Math" charset="0"/>
                        <a:ea typeface="Consolas" charset="0"/>
                        <a:cs typeface="Consolas" charset="0"/>
                      </a:rPr>
                      <m:t>+</m:t>
                    </m:r>
                    <m:r>
                      <a:rPr lang="en-US" b="0" i="1" smtClean="0">
                        <a:latin typeface="Cambria Math" charset="0"/>
                        <a:ea typeface="Consolas" charset="0"/>
                        <a:cs typeface="Consolas" charset="0"/>
                      </a:rPr>
                      <m:t>𝑏</m:t>
                    </m:r>
                  </m:oMath>
                </a14:m>
                <a:endParaRPr lang="en-US" dirty="0">
                  <a:latin typeface="Consolas" charset="0"/>
                  <a:ea typeface="Consolas" charset="0"/>
                  <a:cs typeface="Consolas"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593436" y="1600199"/>
                <a:ext cx="9782801" cy="1310563"/>
              </a:xfrm>
              <a:blipFill rotWithShape="0">
                <a:blip r:embed="rId3"/>
                <a:stretch>
                  <a:fillRect l="-1433" t="-7442"/>
                </a:stretch>
              </a:blipFill>
            </p:spPr>
            <p:txBody>
              <a:bodyPr/>
              <a:lstStyle/>
              <a:p>
                <a:r>
                  <a:rPr lang="en-US">
                    <a:noFill/>
                  </a:rPr>
                  <a:t> </a:t>
                </a:r>
              </a:p>
            </p:txBody>
          </p:sp>
        </mc:Fallback>
      </mc:AlternateContent>
      <p:grpSp>
        <p:nvGrpSpPr>
          <p:cNvPr id="27" name="Group 26"/>
          <p:cNvGrpSpPr/>
          <p:nvPr/>
        </p:nvGrpSpPr>
        <p:grpSpPr>
          <a:xfrm>
            <a:off x="2284412" y="3200400"/>
            <a:ext cx="4700818" cy="2906183"/>
            <a:chOff x="2152022" y="2966508"/>
            <a:chExt cx="4700818" cy="2906183"/>
          </a:xfrm>
        </p:grpSpPr>
        <p:sp>
          <p:nvSpPr>
            <p:cNvPr id="5" name="Oval 4"/>
            <p:cNvSpPr/>
            <p:nvPr/>
          </p:nvSpPr>
          <p:spPr>
            <a:xfrm>
              <a:off x="2869704" y="4150254"/>
              <a:ext cx="574146" cy="574146"/>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wrap="none" rtlCol="0" anchor="ctr"/>
            <a:lstStyle/>
            <a:p>
              <a:pPr algn="ctr"/>
              <a:r>
                <a:rPr lang="en-US" sz="1600" dirty="0" smtClean="0">
                  <a:solidFill>
                    <a:schemeClr val="tx2"/>
                  </a:solidFill>
                </a:rPr>
                <a:t>X</a:t>
              </a:r>
              <a:endParaRPr lang="en-US" sz="1600" dirty="0">
                <a:solidFill>
                  <a:schemeClr val="tx2"/>
                </a:solidFill>
              </a:endParaRPr>
            </a:p>
          </p:txBody>
        </p:sp>
        <p:sp>
          <p:nvSpPr>
            <p:cNvPr id="6" name="Oval 5"/>
            <p:cNvSpPr/>
            <p:nvPr/>
          </p:nvSpPr>
          <p:spPr>
            <a:xfrm>
              <a:off x="2869704" y="5298545"/>
              <a:ext cx="574146" cy="574146"/>
            </a:xfrm>
            <a:prstGeom prst="ellipse">
              <a:avLst/>
            </a:prstGeom>
            <a:ln>
              <a:solidFill>
                <a:schemeClr val="bg1"/>
              </a:solidFill>
            </a:ln>
          </p:spPr>
          <p:style>
            <a:lnRef idx="3">
              <a:schemeClr val="lt1"/>
            </a:lnRef>
            <a:fillRef idx="1">
              <a:schemeClr val="dk1"/>
            </a:fillRef>
            <a:effectRef idx="1">
              <a:schemeClr val="dk1"/>
            </a:effectRef>
            <a:fontRef idx="minor">
              <a:schemeClr val="lt1"/>
            </a:fontRef>
          </p:style>
          <p:txBody>
            <a:bodyPr wrap="none" rtlCol="0" anchor="ctr"/>
            <a:lstStyle/>
            <a:p>
              <a:pPr algn="ctr"/>
              <a:r>
                <a:rPr lang="en-US" sz="1600" dirty="0" smtClean="0">
                  <a:solidFill>
                    <a:schemeClr val="bg1"/>
                  </a:solidFill>
                </a:rPr>
                <a:t>W</a:t>
              </a:r>
            </a:p>
            <a:p>
              <a:pPr algn="ctr"/>
              <a:r>
                <a:rPr lang="en-US" sz="1600" dirty="0" err="1" smtClean="0">
                  <a:solidFill>
                    <a:schemeClr val="bg1"/>
                  </a:solidFill>
                </a:rPr>
                <a:t>var</a:t>
              </a:r>
              <a:endParaRPr lang="en-US" sz="1600" dirty="0">
                <a:solidFill>
                  <a:schemeClr val="bg1"/>
                </a:solidFill>
              </a:endParaRPr>
            </a:p>
          </p:txBody>
        </p:sp>
        <p:sp>
          <p:nvSpPr>
            <p:cNvPr id="8" name="Oval 7"/>
            <p:cNvSpPr/>
            <p:nvPr/>
          </p:nvSpPr>
          <p:spPr>
            <a:xfrm>
              <a:off x="4269184" y="4150254"/>
              <a:ext cx="574146" cy="574146"/>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wrap="none" rtlCol="0" anchor="ctr"/>
            <a:lstStyle/>
            <a:p>
              <a:pPr algn="ctr"/>
              <a:r>
                <a:rPr lang="en-US" sz="1600" dirty="0" err="1" smtClean="0">
                  <a:solidFill>
                    <a:schemeClr val="tx2"/>
                  </a:solidFill>
                </a:rPr>
                <a:t>mul</a:t>
              </a:r>
              <a:endParaRPr lang="en-US" sz="1600" dirty="0">
                <a:solidFill>
                  <a:schemeClr val="tx2"/>
                </a:solidFill>
              </a:endParaRPr>
            </a:p>
          </p:txBody>
        </p:sp>
        <p:sp>
          <p:nvSpPr>
            <p:cNvPr id="9" name="Oval 8"/>
            <p:cNvSpPr/>
            <p:nvPr/>
          </p:nvSpPr>
          <p:spPr>
            <a:xfrm>
              <a:off x="4269184" y="5298545"/>
              <a:ext cx="574146" cy="574146"/>
            </a:xfrm>
            <a:prstGeom prst="ellipse">
              <a:avLst/>
            </a:prstGeom>
          </p:spPr>
          <p:style>
            <a:lnRef idx="3">
              <a:schemeClr val="lt1"/>
            </a:lnRef>
            <a:fillRef idx="1">
              <a:schemeClr val="dk1"/>
            </a:fillRef>
            <a:effectRef idx="1">
              <a:schemeClr val="dk1"/>
            </a:effectRef>
            <a:fontRef idx="minor">
              <a:schemeClr val="lt1"/>
            </a:fontRef>
          </p:style>
          <p:txBody>
            <a:bodyPr wrap="none" rtlCol="0" anchor="ctr"/>
            <a:lstStyle/>
            <a:p>
              <a:pPr algn="ctr"/>
              <a:r>
                <a:rPr lang="en-US" sz="1600" dirty="0" smtClean="0">
                  <a:solidFill>
                    <a:schemeClr val="bg1"/>
                  </a:solidFill>
                </a:rPr>
                <a:t>b</a:t>
              </a:r>
            </a:p>
            <a:p>
              <a:pPr algn="ctr"/>
              <a:r>
                <a:rPr lang="en-US" sz="1600" dirty="0" err="1" smtClean="0">
                  <a:solidFill>
                    <a:schemeClr val="bg1"/>
                  </a:solidFill>
                </a:rPr>
                <a:t>var</a:t>
              </a:r>
              <a:endParaRPr lang="en-US" sz="1600" dirty="0">
                <a:solidFill>
                  <a:schemeClr val="bg1"/>
                </a:solidFill>
              </a:endParaRPr>
            </a:p>
          </p:txBody>
        </p:sp>
        <p:sp>
          <p:nvSpPr>
            <p:cNvPr id="10" name="Oval 9"/>
            <p:cNvSpPr/>
            <p:nvPr/>
          </p:nvSpPr>
          <p:spPr>
            <a:xfrm>
              <a:off x="5561012" y="4724400"/>
              <a:ext cx="574146" cy="574146"/>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wrap="none" rtlCol="0" anchor="ctr"/>
            <a:lstStyle/>
            <a:p>
              <a:pPr algn="ctr"/>
              <a:r>
                <a:rPr lang="en-US" sz="1600" dirty="0" smtClean="0">
                  <a:solidFill>
                    <a:schemeClr val="tx2"/>
                  </a:solidFill>
                </a:rPr>
                <a:t>add</a:t>
              </a:r>
              <a:endParaRPr lang="en-US" sz="1600" dirty="0">
                <a:solidFill>
                  <a:schemeClr val="tx2"/>
                </a:solidFill>
              </a:endParaRPr>
            </a:p>
          </p:txBody>
        </p:sp>
        <p:cxnSp>
          <p:nvCxnSpPr>
            <p:cNvPr id="11" name="Straight Arrow Connector 10"/>
            <p:cNvCxnSpPr>
              <a:cxnSpLocks/>
              <a:endCxn id="9" idx="2"/>
            </p:cNvCxnSpPr>
            <p:nvPr/>
          </p:nvCxnSpPr>
          <p:spPr>
            <a:xfrm>
              <a:off x="2152022" y="4437327"/>
              <a:ext cx="717682"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a:cxnSpLocks/>
            </p:cNvCxnSpPr>
            <p:nvPr/>
          </p:nvCxnSpPr>
          <p:spPr>
            <a:xfrm>
              <a:off x="2152022" y="5585618"/>
              <a:ext cx="717682"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a:stCxn id="9" idx="6"/>
              <a:endCxn id="11" idx="2"/>
            </p:cNvCxnSpPr>
            <p:nvPr/>
          </p:nvCxnSpPr>
          <p:spPr>
            <a:xfrm>
              <a:off x="3443850" y="4437327"/>
              <a:ext cx="825334"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cxnSpLocks/>
              <a:stCxn id="10" idx="6"/>
              <a:endCxn id="11" idx="3"/>
            </p:cNvCxnSpPr>
            <p:nvPr/>
          </p:nvCxnSpPr>
          <p:spPr>
            <a:xfrm flipV="1">
              <a:off x="3443850" y="4640318"/>
              <a:ext cx="909416" cy="94530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stCxn id="11" idx="6"/>
              <a:endCxn id="13" idx="1"/>
            </p:cNvCxnSpPr>
            <p:nvPr/>
          </p:nvCxnSpPr>
          <p:spPr>
            <a:xfrm>
              <a:off x="4843330" y="4437327"/>
              <a:ext cx="801764" cy="371155"/>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stCxn id="12" idx="6"/>
              <a:endCxn id="13" idx="3"/>
            </p:cNvCxnSpPr>
            <p:nvPr/>
          </p:nvCxnSpPr>
          <p:spPr>
            <a:xfrm flipV="1">
              <a:off x="4843330" y="5214464"/>
              <a:ext cx="801764" cy="371155"/>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a:cxnSpLocks/>
              <a:stCxn id="13" idx="6"/>
            </p:cNvCxnSpPr>
            <p:nvPr/>
          </p:nvCxnSpPr>
          <p:spPr>
            <a:xfrm>
              <a:off x="6135158" y="5011473"/>
              <a:ext cx="717682"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24" name="Oval 23"/>
            <p:cNvSpPr/>
            <p:nvPr/>
          </p:nvSpPr>
          <p:spPr>
            <a:xfrm>
              <a:off x="2869704" y="2966508"/>
              <a:ext cx="574146" cy="574146"/>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wrap="none" rtlCol="0" anchor="ctr"/>
            <a:lstStyle/>
            <a:p>
              <a:pPr algn="ctr"/>
              <a:r>
                <a:rPr lang="en-US" sz="1600" dirty="0" smtClean="0">
                  <a:solidFill>
                    <a:schemeClr val="tx2"/>
                  </a:solidFill>
                </a:rPr>
                <a:t>Y</a:t>
              </a:r>
              <a:endParaRPr lang="en-US" sz="1600" dirty="0">
                <a:solidFill>
                  <a:schemeClr val="tx2"/>
                </a:solidFill>
              </a:endParaRPr>
            </a:p>
          </p:txBody>
        </p:sp>
        <p:cxnSp>
          <p:nvCxnSpPr>
            <p:cNvPr id="25" name="Straight Arrow Connector 24"/>
            <p:cNvCxnSpPr>
              <a:cxnSpLocks/>
            </p:cNvCxnSpPr>
            <p:nvPr/>
          </p:nvCxnSpPr>
          <p:spPr>
            <a:xfrm>
              <a:off x="2152022" y="3253581"/>
              <a:ext cx="717682"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67882673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smtClean="0"/>
              <a:t>Process of gradient decent (computation graph)</a:t>
            </a:r>
            <a:endParaRPr lang="en-US" sz="2800" dirty="0"/>
          </a:p>
        </p:txBody>
      </p:sp>
      <p:sp>
        <p:nvSpPr>
          <p:cNvPr id="3" name="Content Placeholder 2"/>
          <p:cNvSpPr>
            <a:spLocks noGrp="1"/>
          </p:cNvSpPr>
          <p:nvPr>
            <p:ph idx="1"/>
          </p:nvPr>
        </p:nvSpPr>
        <p:spPr>
          <a:xfrm>
            <a:off x="1593436" y="1600199"/>
            <a:ext cx="9782801" cy="1310563"/>
          </a:xfrm>
        </p:spPr>
        <p:txBody>
          <a:bodyPr/>
          <a:lstStyle/>
          <a:p>
            <a:pPr marL="0" indent="0">
              <a:lnSpc>
                <a:spcPct val="100000"/>
              </a:lnSpc>
              <a:spcBef>
                <a:spcPts val="0"/>
              </a:spcBef>
              <a:buNone/>
            </a:pPr>
            <a:r>
              <a:rPr lang="en-US" dirty="0" smtClean="0"/>
              <a:t>2. Define our cost function</a:t>
            </a:r>
          </a:p>
          <a:p>
            <a:pPr lvl="1">
              <a:lnSpc>
                <a:spcPct val="100000"/>
              </a:lnSpc>
              <a:spcBef>
                <a:spcPts val="0"/>
              </a:spcBef>
            </a:pPr>
            <a:r>
              <a:rPr lang="en-US" dirty="0" smtClean="0"/>
              <a:t>In this case </a:t>
            </a:r>
            <a:r>
              <a:rPr lang="en-US" dirty="0" err="1" smtClean="0">
                <a:latin typeface="Consolas" charset="0"/>
                <a:ea typeface="Consolas" charset="0"/>
                <a:cs typeface="Consolas" charset="0"/>
              </a:rPr>
              <a:t>tf.square</a:t>
            </a:r>
            <a:r>
              <a:rPr lang="en-US" dirty="0" smtClean="0">
                <a:latin typeface="Consolas" charset="0"/>
                <a:ea typeface="Consolas" charset="0"/>
                <a:cs typeface="Consolas" charset="0"/>
              </a:rPr>
              <a:t>(add </a:t>
            </a:r>
            <a:r>
              <a:rPr lang="mr-IN" dirty="0" smtClean="0">
                <a:latin typeface="Consolas" charset="0"/>
                <a:ea typeface="Consolas" charset="0"/>
                <a:cs typeface="Consolas" charset="0"/>
              </a:rPr>
              <a:t>–</a:t>
            </a:r>
            <a:r>
              <a:rPr lang="en-US" dirty="0" smtClean="0">
                <a:latin typeface="Consolas" charset="0"/>
                <a:ea typeface="Consolas" charset="0"/>
                <a:cs typeface="Consolas" charset="0"/>
              </a:rPr>
              <a:t> y)</a:t>
            </a:r>
          </a:p>
          <a:p>
            <a:pPr lvl="1">
              <a:lnSpc>
                <a:spcPct val="100000"/>
              </a:lnSpc>
              <a:spcBef>
                <a:spcPts val="0"/>
              </a:spcBef>
            </a:pPr>
            <a:r>
              <a:rPr lang="en-US" dirty="0" smtClean="0"/>
              <a:t>Built in: </a:t>
            </a:r>
            <a:r>
              <a:rPr lang="en-US" dirty="0" err="1" smtClean="0">
                <a:latin typeface="Consolas" charset="0"/>
                <a:ea typeface="Consolas" charset="0"/>
                <a:cs typeface="Consolas" charset="0"/>
              </a:rPr>
              <a:t>tf.squared_difference</a:t>
            </a:r>
            <a:r>
              <a:rPr lang="en-US" dirty="0" smtClean="0">
                <a:latin typeface="Consolas" charset="0"/>
                <a:ea typeface="Consolas" charset="0"/>
                <a:cs typeface="Consolas" charset="0"/>
              </a:rPr>
              <a:t>(add, y)</a:t>
            </a:r>
            <a:endParaRPr lang="en-US" dirty="0">
              <a:latin typeface="Consolas" charset="0"/>
              <a:ea typeface="Consolas" charset="0"/>
              <a:cs typeface="Consolas" charset="0"/>
            </a:endParaRPr>
          </a:p>
        </p:txBody>
      </p:sp>
      <p:grpSp>
        <p:nvGrpSpPr>
          <p:cNvPr id="31" name="Group 30"/>
          <p:cNvGrpSpPr/>
          <p:nvPr/>
        </p:nvGrpSpPr>
        <p:grpSpPr>
          <a:xfrm>
            <a:off x="2284412" y="3200400"/>
            <a:ext cx="4700818" cy="2906183"/>
            <a:chOff x="2152022" y="2966508"/>
            <a:chExt cx="4700818" cy="2906183"/>
          </a:xfrm>
        </p:grpSpPr>
        <p:sp>
          <p:nvSpPr>
            <p:cNvPr id="32" name="Oval 31"/>
            <p:cNvSpPr/>
            <p:nvPr/>
          </p:nvSpPr>
          <p:spPr>
            <a:xfrm>
              <a:off x="2869704" y="4150254"/>
              <a:ext cx="574146" cy="574146"/>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wrap="none" rtlCol="0" anchor="ctr"/>
            <a:lstStyle/>
            <a:p>
              <a:pPr algn="ctr"/>
              <a:r>
                <a:rPr lang="en-US" sz="1600" dirty="0" smtClean="0">
                  <a:solidFill>
                    <a:schemeClr val="tx2"/>
                  </a:solidFill>
                </a:rPr>
                <a:t>X</a:t>
              </a:r>
              <a:endParaRPr lang="en-US" sz="1600" dirty="0">
                <a:solidFill>
                  <a:schemeClr val="tx2"/>
                </a:solidFill>
              </a:endParaRPr>
            </a:p>
          </p:txBody>
        </p:sp>
        <p:sp>
          <p:nvSpPr>
            <p:cNvPr id="33" name="Oval 32"/>
            <p:cNvSpPr/>
            <p:nvPr/>
          </p:nvSpPr>
          <p:spPr>
            <a:xfrm>
              <a:off x="2869704" y="5298545"/>
              <a:ext cx="574146" cy="574146"/>
            </a:xfrm>
            <a:prstGeom prst="ellipse">
              <a:avLst/>
            </a:prstGeom>
            <a:ln>
              <a:solidFill>
                <a:schemeClr val="bg1"/>
              </a:solidFill>
            </a:ln>
          </p:spPr>
          <p:style>
            <a:lnRef idx="3">
              <a:schemeClr val="lt1"/>
            </a:lnRef>
            <a:fillRef idx="1">
              <a:schemeClr val="dk1"/>
            </a:fillRef>
            <a:effectRef idx="1">
              <a:schemeClr val="dk1"/>
            </a:effectRef>
            <a:fontRef idx="minor">
              <a:schemeClr val="lt1"/>
            </a:fontRef>
          </p:style>
          <p:txBody>
            <a:bodyPr wrap="none" rtlCol="0" anchor="ctr"/>
            <a:lstStyle/>
            <a:p>
              <a:pPr algn="ctr"/>
              <a:r>
                <a:rPr lang="en-US" sz="1600" dirty="0" smtClean="0">
                  <a:solidFill>
                    <a:schemeClr val="bg1"/>
                  </a:solidFill>
                </a:rPr>
                <a:t>W</a:t>
              </a:r>
            </a:p>
            <a:p>
              <a:pPr algn="ctr"/>
              <a:r>
                <a:rPr lang="en-US" sz="1600" dirty="0" err="1" smtClean="0">
                  <a:solidFill>
                    <a:schemeClr val="bg1"/>
                  </a:solidFill>
                </a:rPr>
                <a:t>var</a:t>
              </a:r>
              <a:endParaRPr lang="en-US" sz="1600" dirty="0">
                <a:solidFill>
                  <a:schemeClr val="bg1"/>
                </a:solidFill>
              </a:endParaRPr>
            </a:p>
          </p:txBody>
        </p:sp>
        <p:sp>
          <p:nvSpPr>
            <p:cNvPr id="35" name="Oval 34"/>
            <p:cNvSpPr/>
            <p:nvPr/>
          </p:nvSpPr>
          <p:spPr>
            <a:xfrm>
              <a:off x="4269184" y="4150254"/>
              <a:ext cx="574146" cy="574146"/>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wrap="none" rtlCol="0" anchor="ctr"/>
            <a:lstStyle/>
            <a:p>
              <a:pPr algn="ctr"/>
              <a:r>
                <a:rPr lang="en-US" sz="1600" dirty="0" err="1" smtClean="0">
                  <a:solidFill>
                    <a:schemeClr val="tx2"/>
                  </a:solidFill>
                </a:rPr>
                <a:t>mul</a:t>
              </a:r>
              <a:endParaRPr lang="en-US" sz="1600" dirty="0">
                <a:solidFill>
                  <a:schemeClr val="tx2"/>
                </a:solidFill>
              </a:endParaRPr>
            </a:p>
          </p:txBody>
        </p:sp>
        <p:sp>
          <p:nvSpPr>
            <p:cNvPr id="37" name="Oval 36"/>
            <p:cNvSpPr/>
            <p:nvPr/>
          </p:nvSpPr>
          <p:spPr>
            <a:xfrm>
              <a:off x="4269184" y="5298545"/>
              <a:ext cx="574146" cy="574146"/>
            </a:xfrm>
            <a:prstGeom prst="ellipse">
              <a:avLst/>
            </a:prstGeom>
          </p:spPr>
          <p:style>
            <a:lnRef idx="3">
              <a:schemeClr val="lt1"/>
            </a:lnRef>
            <a:fillRef idx="1">
              <a:schemeClr val="dk1"/>
            </a:fillRef>
            <a:effectRef idx="1">
              <a:schemeClr val="dk1"/>
            </a:effectRef>
            <a:fontRef idx="minor">
              <a:schemeClr val="lt1"/>
            </a:fontRef>
          </p:style>
          <p:txBody>
            <a:bodyPr wrap="none" rtlCol="0" anchor="ctr"/>
            <a:lstStyle/>
            <a:p>
              <a:pPr algn="ctr"/>
              <a:r>
                <a:rPr lang="en-US" sz="1600" dirty="0" smtClean="0">
                  <a:solidFill>
                    <a:schemeClr val="bg1"/>
                  </a:solidFill>
                </a:rPr>
                <a:t>b</a:t>
              </a:r>
            </a:p>
            <a:p>
              <a:pPr algn="ctr"/>
              <a:r>
                <a:rPr lang="en-US" sz="1600" dirty="0" err="1" smtClean="0">
                  <a:solidFill>
                    <a:schemeClr val="bg1"/>
                  </a:solidFill>
                </a:rPr>
                <a:t>var</a:t>
              </a:r>
              <a:endParaRPr lang="en-US" sz="1600" dirty="0">
                <a:solidFill>
                  <a:schemeClr val="bg1"/>
                </a:solidFill>
              </a:endParaRPr>
            </a:p>
          </p:txBody>
        </p:sp>
        <p:sp>
          <p:nvSpPr>
            <p:cNvPr id="38" name="Oval 37"/>
            <p:cNvSpPr/>
            <p:nvPr/>
          </p:nvSpPr>
          <p:spPr>
            <a:xfrm>
              <a:off x="5561012" y="4724400"/>
              <a:ext cx="574146" cy="574146"/>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wrap="none" rtlCol="0" anchor="ctr"/>
            <a:lstStyle/>
            <a:p>
              <a:pPr algn="ctr"/>
              <a:r>
                <a:rPr lang="en-US" sz="1600" dirty="0" smtClean="0">
                  <a:solidFill>
                    <a:schemeClr val="tx2"/>
                  </a:solidFill>
                </a:rPr>
                <a:t>add</a:t>
              </a:r>
              <a:endParaRPr lang="en-US" sz="1600" dirty="0">
                <a:solidFill>
                  <a:schemeClr val="tx2"/>
                </a:solidFill>
              </a:endParaRPr>
            </a:p>
          </p:txBody>
        </p:sp>
        <p:cxnSp>
          <p:nvCxnSpPr>
            <p:cNvPr id="39" name="Straight Arrow Connector 38"/>
            <p:cNvCxnSpPr>
              <a:cxnSpLocks/>
              <a:endCxn id="42" idx="2"/>
            </p:cNvCxnSpPr>
            <p:nvPr/>
          </p:nvCxnSpPr>
          <p:spPr>
            <a:xfrm>
              <a:off x="2152022" y="4437327"/>
              <a:ext cx="717682"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a:cxnSpLocks/>
            </p:cNvCxnSpPr>
            <p:nvPr/>
          </p:nvCxnSpPr>
          <p:spPr>
            <a:xfrm>
              <a:off x="2152022" y="5585618"/>
              <a:ext cx="717682"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a:stCxn id="42" idx="6"/>
              <a:endCxn id="44" idx="2"/>
            </p:cNvCxnSpPr>
            <p:nvPr/>
          </p:nvCxnSpPr>
          <p:spPr>
            <a:xfrm>
              <a:off x="3443850" y="4437327"/>
              <a:ext cx="825334"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a:cxnSpLocks/>
              <a:stCxn id="43" idx="6"/>
              <a:endCxn id="44" idx="3"/>
            </p:cNvCxnSpPr>
            <p:nvPr/>
          </p:nvCxnSpPr>
          <p:spPr>
            <a:xfrm flipV="1">
              <a:off x="3443850" y="4640318"/>
              <a:ext cx="909416" cy="94530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p:cNvCxnSpPr>
              <a:stCxn id="44" idx="6"/>
              <a:endCxn id="48" idx="1"/>
            </p:cNvCxnSpPr>
            <p:nvPr/>
          </p:nvCxnSpPr>
          <p:spPr>
            <a:xfrm>
              <a:off x="4843330" y="4437327"/>
              <a:ext cx="801764" cy="371155"/>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p:cNvCxnSpPr>
              <a:stCxn id="47" idx="6"/>
              <a:endCxn id="48" idx="3"/>
            </p:cNvCxnSpPr>
            <p:nvPr/>
          </p:nvCxnSpPr>
          <p:spPr>
            <a:xfrm flipV="1">
              <a:off x="4843330" y="5214464"/>
              <a:ext cx="801764" cy="371155"/>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p:cNvCxnSpPr>
              <a:cxnSpLocks/>
              <a:stCxn id="48" idx="6"/>
            </p:cNvCxnSpPr>
            <p:nvPr/>
          </p:nvCxnSpPr>
          <p:spPr>
            <a:xfrm>
              <a:off x="6135158" y="5011473"/>
              <a:ext cx="717682"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51" name="Oval 50"/>
            <p:cNvSpPr/>
            <p:nvPr/>
          </p:nvSpPr>
          <p:spPr>
            <a:xfrm>
              <a:off x="2869704" y="2966508"/>
              <a:ext cx="574146" cy="574146"/>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wrap="none" rtlCol="0" anchor="ctr"/>
            <a:lstStyle/>
            <a:p>
              <a:pPr algn="ctr"/>
              <a:r>
                <a:rPr lang="en-US" sz="1600" dirty="0" smtClean="0">
                  <a:solidFill>
                    <a:schemeClr val="tx2"/>
                  </a:solidFill>
                </a:rPr>
                <a:t>Y</a:t>
              </a:r>
              <a:endParaRPr lang="en-US" sz="1600" dirty="0">
                <a:solidFill>
                  <a:schemeClr val="tx2"/>
                </a:solidFill>
              </a:endParaRPr>
            </a:p>
          </p:txBody>
        </p:sp>
        <p:cxnSp>
          <p:nvCxnSpPr>
            <p:cNvPr id="52" name="Straight Arrow Connector 51"/>
            <p:cNvCxnSpPr>
              <a:cxnSpLocks/>
            </p:cNvCxnSpPr>
            <p:nvPr/>
          </p:nvCxnSpPr>
          <p:spPr>
            <a:xfrm>
              <a:off x="2152022" y="3253581"/>
              <a:ext cx="717682"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grpSp>
      <p:cxnSp>
        <p:nvCxnSpPr>
          <p:cNvPr id="56" name="Elbow Connector 55"/>
          <p:cNvCxnSpPr/>
          <p:nvPr/>
        </p:nvCxnSpPr>
        <p:spPr>
          <a:xfrm>
            <a:off x="3576240" y="3487473"/>
            <a:ext cx="3820357" cy="1087173"/>
          </a:xfrm>
          <a:prstGeom prst="bentConnector2">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58" name="Rounded Rectangle 57"/>
          <p:cNvSpPr/>
          <p:nvPr/>
        </p:nvSpPr>
        <p:spPr>
          <a:xfrm>
            <a:off x="7015597" y="4574646"/>
            <a:ext cx="762000" cy="1341437"/>
          </a:xfrm>
          <a:prstGeom prst="roundRect">
            <a:avLst/>
          </a:prstGeom>
          <a:solidFill>
            <a:schemeClr val="accent5">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r>
              <a:rPr lang="en-US" dirty="0" smtClean="0"/>
              <a:t>ost</a:t>
            </a:r>
          </a:p>
          <a:p>
            <a:pPr algn="ctr"/>
            <a:r>
              <a:rPr lang="en-US" dirty="0" smtClean="0"/>
              <a:t>(J)</a:t>
            </a:r>
            <a:endParaRPr lang="en-US" dirty="0"/>
          </a:p>
        </p:txBody>
      </p:sp>
      <p:cxnSp>
        <p:nvCxnSpPr>
          <p:cNvPr id="61" name="Straight Arrow Connector 60"/>
          <p:cNvCxnSpPr>
            <a:cxnSpLocks/>
          </p:cNvCxnSpPr>
          <p:nvPr/>
        </p:nvCxnSpPr>
        <p:spPr>
          <a:xfrm flipV="1">
            <a:off x="7777597" y="5220782"/>
            <a:ext cx="540738" cy="968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8391456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smtClean="0"/>
              <a:t>Process of gradient decent (computation graph)</a:t>
            </a:r>
            <a:endParaRPr lang="en-US" sz="2800"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593436" y="1600199"/>
                <a:ext cx="9782801" cy="1587710"/>
              </a:xfrm>
            </p:spPr>
            <p:txBody>
              <a:bodyPr>
                <a:normAutofit/>
              </a:bodyPr>
              <a:lstStyle/>
              <a:p>
                <a:pPr marL="0" indent="0">
                  <a:lnSpc>
                    <a:spcPct val="100000"/>
                  </a:lnSpc>
                  <a:spcBef>
                    <a:spcPts val="0"/>
                  </a:spcBef>
                  <a:buNone/>
                </a:pPr>
                <a:r>
                  <a:rPr lang="en-US" dirty="0" smtClean="0"/>
                  <a:t>3. Get the derivatives of the cost </a:t>
                </a:r>
                <a:r>
                  <a:rPr lang="en-US" dirty="0" err="1" smtClean="0"/>
                  <a:t>w.r.t</a:t>
                </a:r>
                <a:r>
                  <a:rPr lang="en-US" dirty="0" smtClean="0"/>
                  <a:t> Variables</a:t>
                </a:r>
              </a:p>
              <a:p>
                <a:pPr lvl="1">
                  <a:lnSpc>
                    <a:spcPct val="100000"/>
                  </a:lnSpc>
                  <a:spcBef>
                    <a:spcPts val="0"/>
                  </a:spcBef>
                  <a:buFont typeface="Arial" charset="0"/>
                  <a:buChar char="•"/>
                </a:pPr>
                <a14:m>
                  <m:oMath xmlns:m="http://schemas.openxmlformats.org/officeDocument/2006/math">
                    <m:f>
                      <m:fPr>
                        <m:ctrlPr>
                          <a:rPr lang="mr-IN" i="1" dirty="0">
                            <a:latin typeface="Cambria Math" panose="02040503050406030204" pitchFamily="18" charset="0"/>
                            <a:ea typeface="Consolas" charset="0"/>
                            <a:cs typeface="Consolas" charset="0"/>
                          </a:rPr>
                        </m:ctrlPr>
                      </m:fPr>
                      <m:num>
                        <m:r>
                          <a:rPr lang="mr-IN" i="1" dirty="0">
                            <a:latin typeface="Cambria Math" charset="0"/>
                            <a:ea typeface="Consolas" charset="0"/>
                            <a:cs typeface="Consolas" charset="0"/>
                          </a:rPr>
                          <m:t>𝜕</m:t>
                        </m:r>
                        <m:r>
                          <a:rPr lang="en-US" b="0" i="1" dirty="0" smtClean="0">
                            <a:latin typeface="Cambria Math" charset="0"/>
                            <a:ea typeface="Consolas" charset="0"/>
                            <a:cs typeface="Consolas" charset="0"/>
                          </a:rPr>
                          <m:t>𝐽</m:t>
                        </m:r>
                      </m:num>
                      <m:den>
                        <m:r>
                          <a:rPr lang="mr-IN" i="1" dirty="0">
                            <a:latin typeface="Cambria Math" charset="0"/>
                            <a:ea typeface="Consolas" charset="0"/>
                            <a:cs typeface="Consolas" charset="0"/>
                          </a:rPr>
                          <m:t>𝜕</m:t>
                        </m:r>
                        <m:r>
                          <a:rPr lang="en-US" b="0" i="1" dirty="0" smtClean="0">
                            <a:latin typeface="Cambria Math" charset="0"/>
                            <a:ea typeface="Consolas" charset="0"/>
                            <a:cs typeface="Consolas" charset="0"/>
                          </a:rPr>
                          <m:t>𝑊</m:t>
                        </m:r>
                      </m:den>
                    </m:f>
                  </m:oMath>
                </a14:m>
                <a:r>
                  <a:rPr lang="en-US" dirty="0" smtClean="0">
                    <a:latin typeface="Consolas" charset="0"/>
                    <a:ea typeface="Consolas" charset="0"/>
                    <a:cs typeface="Consolas" charset="0"/>
                  </a:rPr>
                  <a:t>, </a:t>
                </a:r>
                <a14:m>
                  <m:oMath xmlns:m="http://schemas.openxmlformats.org/officeDocument/2006/math">
                    <m:f>
                      <m:fPr>
                        <m:ctrlPr>
                          <a:rPr lang="mr-IN" i="1" dirty="0" smtClean="0">
                            <a:latin typeface="Cambria Math" panose="02040503050406030204" pitchFamily="18" charset="0"/>
                            <a:ea typeface="Consolas" charset="0"/>
                            <a:cs typeface="Consolas" charset="0"/>
                          </a:rPr>
                        </m:ctrlPr>
                      </m:fPr>
                      <m:num>
                        <m:r>
                          <a:rPr lang="mr-IN" i="1" dirty="0" smtClean="0">
                            <a:latin typeface="Cambria Math" charset="0"/>
                            <a:ea typeface="Consolas" charset="0"/>
                            <a:cs typeface="Consolas" charset="0"/>
                          </a:rPr>
                          <m:t>𝜕</m:t>
                        </m:r>
                        <m:r>
                          <a:rPr lang="en-US" b="0" i="1" dirty="0" smtClean="0">
                            <a:latin typeface="Cambria Math" charset="0"/>
                            <a:ea typeface="Consolas" charset="0"/>
                            <a:cs typeface="Consolas" charset="0"/>
                          </a:rPr>
                          <m:t>𝐽</m:t>
                        </m:r>
                      </m:num>
                      <m:den>
                        <m:r>
                          <a:rPr lang="mr-IN" i="1" dirty="0" smtClean="0">
                            <a:latin typeface="Cambria Math" charset="0"/>
                            <a:ea typeface="Consolas" charset="0"/>
                            <a:cs typeface="Consolas" charset="0"/>
                          </a:rPr>
                          <m:t>𝜕</m:t>
                        </m:r>
                        <m:r>
                          <a:rPr lang="en-US" b="0" i="1" dirty="0" smtClean="0">
                            <a:latin typeface="Cambria Math" charset="0"/>
                            <a:ea typeface="Consolas" charset="0"/>
                            <a:cs typeface="Consolas" charset="0"/>
                          </a:rPr>
                          <m:t>𝑏</m:t>
                        </m:r>
                      </m:den>
                    </m:f>
                  </m:oMath>
                </a14:m>
                <a:endParaRPr lang="en-US" dirty="0" smtClean="0">
                  <a:latin typeface="Euphemia" charset="0"/>
                  <a:ea typeface="Euphemia" charset="0"/>
                  <a:cs typeface="Euphemia" charset="0"/>
                </a:endParaRPr>
              </a:p>
              <a:p>
                <a:pPr lvl="1">
                  <a:lnSpc>
                    <a:spcPct val="100000"/>
                  </a:lnSpc>
                  <a:spcBef>
                    <a:spcPts val="0"/>
                  </a:spcBef>
                  <a:buFont typeface="Arial" charset="0"/>
                  <a:buChar char="•"/>
                </a:pPr>
                <a:r>
                  <a:rPr lang="en-US" dirty="0" smtClean="0">
                    <a:latin typeface="Euphemia" charset="0"/>
                    <a:ea typeface="Euphemia" charset="0"/>
                    <a:cs typeface="Euphemia" charset="0"/>
                  </a:rPr>
                  <a:t>Sum over all examples = </a:t>
                </a:r>
                <a14:m>
                  <m:oMath xmlns:m="http://schemas.openxmlformats.org/officeDocument/2006/math">
                    <m:r>
                      <a:rPr lang="en-US" i="1" smtClean="0">
                        <a:latin typeface="Cambria Math" charset="0"/>
                        <a:ea typeface="Cambria Math" charset="0"/>
                        <a:cs typeface="Cambria Math" charset="0"/>
                      </a:rPr>
                      <m:t>∆</m:t>
                    </m:r>
                    <m:r>
                      <a:rPr lang="en-US" b="0" i="1" smtClean="0">
                        <a:latin typeface="Cambria Math" charset="0"/>
                        <a:ea typeface="Cambria Math" charset="0"/>
                        <a:cs typeface="Cambria Math" charset="0"/>
                      </a:rPr>
                      <m:t>𝑊</m:t>
                    </m:r>
                    <m:r>
                      <a:rPr lang="en-US" b="0" i="1" smtClean="0">
                        <a:latin typeface="Cambria Math" charset="0"/>
                        <a:ea typeface="Cambria Math" charset="0"/>
                        <a:cs typeface="Cambria Math" charset="0"/>
                      </a:rPr>
                      <m:t>, ∆</m:t>
                    </m:r>
                    <m:r>
                      <a:rPr lang="en-US" b="0" i="1" smtClean="0">
                        <a:latin typeface="Cambria Math" charset="0"/>
                        <a:ea typeface="Cambria Math" charset="0"/>
                        <a:cs typeface="Cambria Math" charset="0"/>
                      </a:rPr>
                      <m:t>𝑏</m:t>
                    </m:r>
                  </m:oMath>
                </a14:m>
                <a:endParaRPr lang="en-US" dirty="0">
                  <a:latin typeface="Euphemia" charset="0"/>
                  <a:ea typeface="Euphemia" charset="0"/>
                  <a:cs typeface="Euphemia"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593436" y="1600199"/>
                <a:ext cx="9782801" cy="1587710"/>
              </a:xfrm>
              <a:blipFill rotWithShape="0">
                <a:blip r:embed="rId3"/>
                <a:stretch>
                  <a:fillRect l="-1246" t="-3831"/>
                </a:stretch>
              </a:blipFill>
            </p:spPr>
            <p:txBody>
              <a:bodyPr/>
              <a:lstStyle/>
              <a:p>
                <a:r>
                  <a:rPr lang="en-US">
                    <a:noFill/>
                  </a:rPr>
                  <a:t> </a:t>
                </a:r>
              </a:p>
            </p:txBody>
          </p:sp>
        </mc:Fallback>
      </mc:AlternateContent>
      <p:grpSp>
        <p:nvGrpSpPr>
          <p:cNvPr id="31" name="Group 30"/>
          <p:cNvGrpSpPr/>
          <p:nvPr/>
        </p:nvGrpSpPr>
        <p:grpSpPr>
          <a:xfrm>
            <a:off x="2284412" y="3200400"/>
            <a:ext cx="4700818" cy="2906183"/>
            <a:chOff x="2152022" y="2966508"/>
            <a:chExt cx="4700818" cy="2906183"/>
          </a:xfrm>
        </p:grpSpPr>
        <p:sp>
          <p:nvSpPr>
            <p:cNvPr id="32" name="Oval 31"/>
            <p:cNvSpPr/>
            <p:nvPr/>
          </p:nvSpPr>
          <p:spPr>
            <a:xfrm>
              <a:off x="2869704" y="4150254"/>
              <a:ext cx="574146" cy="574146"/>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wrap="none" rtlCol="0" anchor="ctr"/>
            <a:lstStyle/>
            <a:p>
              <a:pPr algn="ctr"/>
              <a:r>
                <a:rPr lang="en-US" sz="1600" dirty="0" smtClean="0">
                  <a:solidFill>
                    <a:schemeClr val="tx2"/>
                  </a:solidFill>
                </a:rPr>
                <a:t>X</a:t>
              </a:r>
              <a:endParaRPr lang="en-US" sz="1600" dirty="0">
                <a:solidFill>
                  <a:schemeClr val="tx2"/>
                </a:solidFill>
              </a:endParaRPr>
            </a:p>
          </p:txBody>
        </p:sp>
        <p:sp>
          <p:nvSpPr>
            <p:cNvPr id="33" name="Oval 32"/>
            <p:cNvSpPr/>
            <p:nvPr/>
          </p:nvSpPr>
          <p:spPr>
            <a:xfrm>
              <a:off x="2869704" y="5298545"/>
              <a:ext cx="574146" cy="574146"/>
            </a:xfrm>
            <a:prstGeom prst="ellipse">
              <a:avLst/>
            </a:prstGeom>
            <a:ln>
              <a:solidFill>
                <a:schemeClr val="bg1"/>
              </a:solidFill>
            </a:ln>
          </p:spPr>
          <p:style>
            <a:lnRef idx="3">
              <a:schemeClr val="lt1"/>
            </a:lnRef>
            <a:fillRef idx="1">
              <a:schemeClr val="dk1"/>
            </a:fillRef>
            <a:effectRef idx="1">
              <a:schemeClr val="dk1"/>
            </a:effectRef>
            <a:fontRef idx="minor">
              <a:schemeClr val="lt1"/>
            </a:fontRef>
          </p:style>
          <p:txBody>
            <a:bodyPr wrap="none" rtlCol="0" anchor="ctr"/>
            <a:lstStyle/>
            <a:p>
              <a:pPr algn="ctr"/>
              <a:r>
                <a:rPr lang="en-US" sz="1600" dirty="0" smtClean="0">
                  <a:solidFill>
                    <a:schemeClr val="bg1"/>
                  </a:solidFill>
                </a:rPr>
                <a:t>W</a:t>
              </a:r>
            </a:p>
            <a:p>
              <a:pPr algn="ctr"/>
              <a:r>
                <a:rPr lang="en-US" sz="1600" dirty="0" err="1" smtClean="0">
                  <a:solidFill>
                    <a:schemeClr val="bg1"/>
                  </a:solidFill>
                </a:rPr>
                <a:t>var</a:t>
              </a:r>
              <a:endParaRPr lang="en-US" sz="1600" dirty="0">
                <a:solidFill>
                  <a:schemeClr val="bg1"/>
                </a:solidFill>
              </a:endParaRPr>
            </a:p>
          </p:txBody>
        </p:sp>
        <p:sp>
          <p:nvSpPr>
            <p:cNvPr id="35" name="Oval 34"/>
            <p:cNvSpPr/>
            <p:nvPr/>
          </p:nvSpPr>
          <p:spPr>
            <a:xfrm>
              <a:off x="4269184" y="4150254"/>
              <a:ext cx="574146" cy="574146"/>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wrap="none" rtlCol="0" anchor="ctr"/>
            <a:lstStyle/>
            <a:p>
              <a:pPr algn="ctr"/>
              <a:r>
                <a:rPr lang="en-US" sz="1600" dirty="0" err="1" smtClean="0">
                  <a:solidFill>
                    <a:schemeClr val="tx2"/>
                  </a:solidFill>
                </a:rPr>
                <a:t>mul</a:t>
              </a:r>
              <a:endParaRPr lang="en-US" sz="1600" dirty="0">
                <a:solidFill>
                  <a:schemeClr val="tx2"/>
                </a:solidFill>
              </a:endParaRPr>
            </a:p>
          </p:txBody>
        </p:sp>
        <p:sp>
          <p:nvSpPr>
            <p:cNvPr id="37" name="Oval 36"/>
            <p:cNvSpPr/>
            <p:nvPr/>
          </p:nvSpPr>
          <p:spPr>
            <a:xfrm>
              <a:off x="4269184" y="5298545"/>
              <a:ext cx="574146" cy="574146"/>
            </a:xfrm>
            <a:prstGeom prst="ellipse">
              <a:avLst/>
            </a:prstGeom>
          </p:spPr>
          <p:style>
            <a:lnRef idx="3">
              <a:schemeClr val="lt1"/>
            </a:lnRef>
            <a:fillRef idx="1">
              <a:schemeClr val="dk1"/>
            </a:fillRef>
            <a:effectRef idx="1">
              <a:schemeClr val="dk1"/>
            </a:effectRef>
            <a:fontRef idx="minor">
              <a:schemeClr val="lt1"/>
            </a:fontRef>
          </p:style>
          <p:txBody>
            <a:bodyPr wrap="none" rtlCol="0" anchor="ctr"/>
            <a:lstStyle/>
            <a:p>
              <a:pPr algn="ctr"/>
              <a:r>
                <a:rPr lang="en-US" sz="1600" dirty="0" smtClean="0">
                  <a:solidFill>
                    <a:schemeClr val="bg1"/>
                  </a:solidFill>
                </a:rPr>
                <a:t>b</a:t>
              </a:r>
            </a:p>
            <a:p>
              <a:pPr algn="ctr"/>
              <a:r>
                <a:rPr lang="en-US" sz="1600" dirty="0" err="1" smtClean="0">
                  <a:solidFill>
                    <a:schemeClr val="bg1"/>
                  </a:solidFill>
                </a:rPr>
                <a:t>var</a:t>
              </a:r>
              <a:endParaRPr lang="en-US" sz="1600" dirty="0">
                <a:solidFill>
                  <a:schemeClr val="bg1"/>
                </a:solidFill>
              </a:endParaRPr>
            </a:p>
          </p:txBody>
        </p:sp>
        <p:sp>
          <p:nvSpPr>
            <p:cNvPr id="38" name="Oval 37"/>
            <p:cNvSpPr/>
            <p:nvPr/>
          </p:nvSpPr>
          <p:spPr>
            <a:xfrm>
              <a:off x="5561012" y="4724400"/>
              <a:ext cx="574146" cy="574146"/>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wrap="none" rtlCol="0" anchor="ctr"/>
            <a:lstStyle/>
            <a:p>
              <a:pPr algn="ctr"/>
              <a:r>
                <a:rPr lang="en-US" sz="1600" dirty="0" smtClean="0">
                  <a:solidFill>
                    <a:schemeClr val="tx2"/>
                  </a:solidFill>
                </a:rPr>
                <a:t>add</a:t>
              </a:r>
              <a:endParaRPr lang="en-US" sz="1600" dirty="0">
                <a:solidFill>
                  <a:schemeClr val="tx2"/>
                </a:solidFill>
              </a:endParaRPr>
            </a:p>
          </p:txBody>
        </p:sp>
        <p:cxnSp>
          <p:nvCxnSpPr>
            <p:cNvPr id="39" name="Straight Arrow Connector 38"/>
            <p:cNvCxnSpPr>
              <a:cxnSpLocks/>
              <a:endCxn id="42" idx="2"/>
            </p:cNvCxnSpPr>
            <p:nvPr/>
          </p:nvCxnSpPr>
          <p:spPr>
            <a:xfrm>
              <a:off x="2152022" y="4437327"/>
              <a:ext cx="717682"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a:cxnSpLocks/>
            </p:cNvCxnSpPr>
            <p:nvPr/>
          </p:nvCxnSpPr>
          <p:spPr>
            <a:xfrm>
              <a:off x="2152022" y="5585618"/>
              <a:ext cx="717682"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a:stCxn id="42" idx="6"/>
              <a:endCxn id="44" idx="2"/>
            </p:cNvCxnSpPr>
            <p:nvPr/>
          </p:nvCxnSpPr>
          <p:spPr>
            <a:xfrm>
              <a:off x="3443850" y="4437327"/>
              <a:ext cx="825334"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a:cxnSpLocks/>
              <a:stCxn id="43" idx="6"/>
              <a:endCxn id="44" idx="3"/>
            </p:cNvCxnSpPr>
            <p:nvPr/>
          </p:nvCxnSpPr>
          <p:spPr>
            <a:xfrm flipV="1">
              <a:off x="3443850" y="4640318"/>
              <a:ext cx="909416" cy="94530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p:cNvCxnSpPr>
              <a:stCxn id="44" idx="6"/>
              <a:endCxn id="48" idx="1"/>
            </p:cNvCxnSpPr>
            <p:nvPr/>
          </p:nvCxnSpPr>
          <p:spPr>
            <a:xfrm>
              <a:off x="4843330" y="4437327"/>
              <a:ext cx="801764" cy="371155"/>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p:cNvCxnSpPr>
              <a:stCxn id="47" idx="6"/>
              <a:endCxn id="48" idx="3"/>
            </p:cNvCxnSpPr>
            <p:nvPr/>
          </p:nvCxnSpPr>
          <p:spPr>
            <a:xfrm flipV="1">
              <a:off x="4843330" y="5214464"/>
              <a:ext cx="801764" cy="371155"/>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p:cNvCxnSpPr>
              <a:cxnSpLocks/>
              <a:stCxn id="48" idx="6"/>
            </p:cNvCxnSpPr>
            <p:nvPr/>
          </p:nvCxnSpPr>
          <p:spPr>
            <a:xfrm>
              <a:off x="6135158" y="5011473"/>
              <a:ext cx="717682"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51" name="Oval 50"/>
            <p:cNvSpPr/>
            <p:nvPr/>
          </p:nvSpPr>
          <p:spPr>
            <a:xfrm>
              <a:off x="2869704" y="2966508"/>
              <a:ext cx="574146" cy="574146"/>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wrap="none" rtlCol="0" anchor="ctr"/>
            <a:lstStyle/>
            <a:p>
              <a:pPr algn="ctr"/>
              <a:r>
                <a:rPr lang="en-US" sz="1600" dirty="0" smtClean="0">
                  <a:solidFill>
                    <a:schemeClr val="tx2"/>
                  </a:solidFill>
                </a:rPr>
                <a:t>Y</a:t>
              </a:r>
              <a:endParaRPr lang="en-US" sz="1600" dirty="0">
                <a:solidFill>
                  <a:schemeClr val="tx2"/>
                </a:solidFill>
              </a:endParaRPr>
            </a:p>
          </p:txBody>
        </p:sp>
        <p:cxnSp>
          <p:nvCxnSpPr>
            <p:cNvPr id="52" name="Straight Arrow Connector 51"/>
            <p:cNvCxnSpPr>
              <a:cxnSpLocks/>
            </p:cNvCxnSpPr>
            <p:nvPr/>
          </p:nvCxnSpPr>
          <p:spPr>
            <a:xfrm>
              <a:off x="2152022" y="3253581"/>
              <a:ext cx="717682"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grpSp>
      <p:cxnSp>
        <p:nvCxnSpPr>
          <p:cNvPr id="56" name="Elbow Connector 55"/>
          <p:cNvCxnSpPr>
            <a:stCxn id="63" idx="6"/>
          </p:cNvCxnSpPr>
          <p:nvPr/>
        </p:nvCxnSpPr>
        <p:spPr>
          <a:xfrm>
            <a:off x="3576240" y="3487473"/>
            <a:ext cx="3820357" cy="1087173"/>
          </a:xfrm>
          <a:prstGeom prst="bentConnector2">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58" name="Rounded Rectangle 57"/>
          <p:cNvSpPr/>
          <p:nvPr/>
        </p:nvSpPr>
        <p:spPr>
          <a:xfrm>
            <a:off x="7015597" y="4574646"/>
            <a:ext cx="762000" cy="1341437"/>
          </a:xfrm>
          <a:prstGeom prst="roundRect">
            <a:avLst/>
          </a:prstGeom>
          <a:solidFill>
            <a:schemeClr val="accent5">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r>
              <a:rPr lang="en-US" dirty="0" smtClean="0"/>
              <a:t>ost</a:t>
            </a:r>
          </a:p>
          <a:p>
            <a:pPr algn="ctr"/>
            <a:r>
              <a:rPr lang="en-US" dirty="0" smtClean="0"/>
              <a:t>(J)</a:t>
            </a:r>
            <a:endParaRPr lang="en-US" dirty="0"/>
          </a:p>
        </p:txBody>
      </p:sp>
      <p:sp>
        <p:nvSpPr>
          <p:cNvPr id="60" name="Rounded Rectangle 59"/>
          <p:cNvSpPr/>
          <p:nvPr/>
        </p:nvSpPr>
        <p:spPr>
          <a:xfrm rot="5400000">
            <a:off x="8660524" y="4513031"/>
            <a:ext cx="697375" cy="1341437"/>
          </a:xfrm>
          <a:prstGeom prst="round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vert="vert270" wrap="none" rtlCol="0" anchor="ctr"/>
          <a:lstStyle/>
          <a:p>
            <a:pPr algn="ctr"/>
            <a:r>
              <a:rPr lang="en-US" dirty="0" smtClean="0"/>
              <a:t>derivatives</a:t>
            </a:r>
            <a:endParaRPr lang="en-US" dirty="0"/>
          </a:p>
        </p:txBody>
      </p:sp>
      <p:cxnSp>
        <p:nvCxnSpPr>
          <p:cNvPr id="61" name="Straight Arrow Connector 60"/>
          <p:cNvCxnSpPr>
            <a:cxnSpLocks/>
          </p:cNvCxnSpPr>
          <p:nvPr/>
        </p:nvCxnSpPr>
        <p:spPr>
          <a:xfrm flipV="1">
            <a:off x="7777597" y="5220782"/>
            <a:ext cx="540738" cy="968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p:cNvCxnSpPr>
            <a:cxnSpLocks/>
          </p:cNvCxnSpPr>
          <p:nvPr/>
        </p:nvCxnSpPr>
        <p:spPr>
          <a:xfrm flipV="1">
            <a:off x="9679930" y="5181187"/>
            <a:ext cx="609364" cy="2563"/>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1612130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smtClean="0"/>
              <a:t>Process of doing gradient decent (computation graph)</a:t>
            </a:r>
            <a:endParaRPr lang="en-US" sz="2800"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593436" y="1600199"/>
                <a:ext cx="9782801" cy="1310563"/>
              </a:xfrm>
            </p:spPr>
            <p:txBody>
              <a:bodyPr>
                <a:normAutofit/>
              </a:bodyPr>
              <a:lstStyle/>
              <a:p>
                <a:pPr marL="0" indent="0">
                  <a:lnSpc>
                    <a:spcPct val="100000"/>
                  </a:lnSpc>
                  <a:spcBef>
                    <a:spcPts val="0"/>
                  </a:spcBef>
                  <a:buNone/>
                </a:pPr>
                <a:r>
                  <a:rPr lang="en-US" dirty="0" smtClean="0"/>
                  <a:t>4. Use derivatives and learning rate to update Variables</a:t>
                </a:r>
              </a:p>
              <a:p>
                <a:pPr lvl="1">
                  <a:lnSpc>
                    <a:spcPct val="100000"/>
                  </a:lnSpc>
                  <a:spcBef>
                    <a:spcPts val="0"/>
                  </a:spcBef>
                </a:pPr>
                <a14:m>
                  <m:oMath xmlns:m="http://schemas.openxmlformats.org/officeDocument/2006/math">
                    <m:r>
                      <a:rPr lang="en-US" b="0" i="1" smtClean="0">
                        <a:latin typeface="Cambria Math" charset="0"/>
                        <a:ea typeface="Cambria Math" charset="0"/>
                        <a:cs typeface="Cambria Math" charset="0"/>
                      </a:rPr>
                      <m:t>𝑊</m:t>
                    </m:r>
                    <m:r>
                      <a:rPr lang="en-US" b="0" i="1" smtClean="0">
                        <a:latin typeface="Cambria Math" charset="0"/>
                        <a:ea typeface="Cambria Math" charset="0"/>
                        <a:cs typeface="Cambria Math" charset="0"/>
                      </a:rPr>
                      <m:t> ≔</m:t>
                    </m:r>
                    <m:r>
                      <a:rPr lang="en-US" b="0" i="1" smtClean="0">
                        <a:latin typeface="Cambria Math" charset="0"/>
                        <a:ea typeface="Cambria Math" charset="0"/>
                        <a:cs typeface="Cambria Math" charset="0"/>
                      </a:rPr>
                      <m:t>𝑊</m:t>
                    </m:r>
                    <m:r>
                      <a:rPr lang="en-US" b="0" i="1" smtClean="0">
                        <a:latin typeface="Cambria Math" charset="0"/>
                        <a:ea typeface="Cambria Math" charset="0"/>
                        <a:cs typeface="Cambria Math" charset="0"/>
                      </a:rPr>
                      <m:t>  − </m:t>
                    </m:r>
                    <m:r>
                      <a:rPr lang="en-US" b="0" i="1" smtClean="0">
                        <a:latin typeface="Cambria Math" charset="0"/>
                        <a:ea typeface="Cambria Math" charset="0"/>
                        <a:cs typeface="Cambria Math" charset="0"/>
                      </a:rPr>
                      <m:t>𝛼</m:t>
                    </m:r>
                    <m:r>
                      <a:rPr lang="en-US" b="0" i="1" smtClean="0">
                        <a:latin typeface="Cambria Math" charset="0"/>
                        <a:ea typeface="Cambria Math" charset="0"/>
                        <a:cs typeface="Cambria Math" charset="0"/>
                      </a:rPr>
                      <m:t>∙∆</m:t>
                    </m:r>
                    <m:r>
                      <a:rPr lang="en-US" i="1" smtClean="0">
                        <a:latin typeface="Cambria Math" charset="0"/>
                        <a:ea typeface="Cambria Math" charset="0"/>
                        <a:cs typeface="Cambria Math" charset="0"/>
                      </a:rPr>
                      <m:t>𝑊</m:t>
                    </m:r>
                  </m:oMath>
                </a14:m>
                <a:endParaRPr lang="en-US" dirty="0" smtClean="0">
                  <a:latin typeface="Consolas" charset="0"/>
                  <a:ea typeface="Consolas" charset="0"/>
                  <a:cs typeface="Consolas" charset="0"/>
                </a:endParaRPr>
              </a:p>
              <a:p>
                <a:pPr lvl="1">
                  <a:lnSpc>
                    <a:spcPct val="100000"/>
                  </a:lnSpc>
                  <a:spcBef>
                    <a:spcPts val="0"/>
                  </a:spcBef>
                </a:pPr>
                <a14:m>
                  <m:oMath xmlns:m="http://schemas.openxmlformats.org/officeDocument/2006/math">
                    <m:r>
                      <a:rPr lang="en-US" i="1">
                        <a:latin typeface="Cambria Math" charset="0"/>
                        <a:ea typeface="Cambria Math" charset="0"/>
                        <a:cs typeface="Cambria Math" charset="0"/>
                      </a:rPr>
                      <m:t>𝑏</m:t>
                    </m:r>
                    <m:r>
                      <a:rPr lang="en-US" b="0" i="1" smtClean="0">
                        <a:latin typeface="Cambria Math" charset="0"/>
                        <a:ea typeface="Cambria Math" charset="0"/>
                        <a:cs typeface="Cambria Math" charset="0"/>
                      </a:rPr>
                      <m:t>≔</m:t>
                    </m:r>
                    <m:r>
                      <a:rPr lang="en-US" b="0" i="1" smtClean="0">
                        <a:latin typeface="Cambria Math" charset="0"/>
                        <a:ea typeface="Cambria Math" charset="0"/>
                        <a:cs typeface="Cambria Math" charset="0"/>
                      </a:rPr>
                      <m:t>𝑏</m:t>
                    </m:r>
                    <m:r>
                      <a:rPr lang="en-US" b="0" i="1" smtClean="0">
                        <a:latin typeface="Cambria Math" charset="0"/>
                        <a:ea typeface="Cambria Math" charset="0"/>
                        <a:cs typeface="Cambria Math" charset="0"/>
                      </a:rPr>
                      <m:t> −</m:t>
                    </m:r>
                    <m:r>
                      <a:rPr lang="en-US" b="0" i="1" smtClean="0">
                        <a:latin typeface="Cambria Math" charset="0"/>
                        <a:ea typeface="Cambria Math" charset="0"/>
                        <a:cs typeface="Cambria Math" charset="0"/>
                      </a:rPr>
                      <m:t>𝛼</m:t>
                    </m:r>
                    <m:r>
                      <a:rPr lang="en-US" b="0" i="1" smtClean="0">
                        <a:latin typeface="Cambria Math" charset="0"/>
                        <a:ea typeface="Cambria Math" charset="0"/>
                        <a:cs typeface="Cambria Math" charset="0"/>
                      </a:rPr>
                      <m:t>∙∆</m:t>
                    </m:r>
                    <m:r>
                      <a:rPr lang="en-US" i="1">
                        <a:latin typeface="Cambria Math" charset="0"/>
                        <a:ea typeface="Cambria Math" charset="0"/>
                        <a:cs typeface="Cambria Math" charset="0"/>
                      </a:rPr>
                      <m:t>𝑏</m:t>
                    </m:r>
                  </m:oMath>
                </a14:m>
                <a:endParaRPr lang="en-US" dirty="0">
                  <a:latin typeface="Euphemia" charset="0"/>
                  <a:ea typeface="Euphemia" charset="0"/>
                  <a:cs typeface="Euphemia" charset="0"/>
                </a:endParaRPr>
              </a:p>
              <a:p>
                <a:pPr lvl="1">
                  <a:lnSpc>
                    <a:spcPct val="100000"/>
                  </a:lnSpc>
                  <a:spcBef>
                    <a:spcPts val="0"/>
                  </a:spcBef>
                </a:pPr>
                <a:endParaRPr lang="en-US" dirty="0">
                  <a:latin typeface="Consolas" charset="0"/>
                  <a:ea typeface="Consolas" charset="0"/>
                  <a:cs typeface="Consolas"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593436" y="1600199"/>
                <a:ext cx="9782801" cy="1310563"/>
              </a:xfrm>
              <a:blipFill rotWithShape="0">
                <a:blip r:embed="rId3"/>
                <a:stretch>
                  <a:fillRect l="-1869" t="-7907" b="-22791"/>
                </a:stretch>
              </a:blipFill>
            </p:spPr>
            <p:txBody>
              <a:bodyPr/>
              <a:lstStyle/>
              <a:p>
                <a:r>
                  <a:rPr lang="en-US">
                    <a:noFill/>
                  </a:rPr>
                  <a:t> </a:t>
                </a:r>
              </a:p>
            </p:txBody>
          </p:sp>
        </mc:Fallback>
      </mc:AlternateContent>
      <p:grpSp>
        <p:nvGrpSpPr>
          <p:cNvPr id="31" name="Group 30"/>
          <p:cNvGrpSpPr/>
          <p:nvPr/>
        </p:nvGrpSpPr>
        <p:grpSpPr>
          <a:xfrm>
            <a:off x="2284412" y="3200400"/>
            <a:ext cx="4700818" cy="2906183"/>
            <a:chOff x="2152022" y="2966508"/>
            <a:chExt cx="4700818" cy="2906183"/>
          </a:xfrm>
        </p:grpSpPr>
        <p:sp>
          <p:nvSpPr>
            <p:cNvPr id="32" name="Oval 31"/>
            <p:cNvSpPr/>
            <p:nvPr/>
          </p:nvSpPr>
          <p:spPr>
            <a:xfrm>
              <a:off x="2869704" y="4150254"/>
              <a:ext cx="574146" cy="574146"/>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wrap="none" rtlCol="0" anchor="ctr"/>
            <a:lstStyle/>
            <a:p>
              <a:pPr algn="ctr"/>
              <a:r>
                <a:rPr lang="en-US" sz="1600" dirty="0" smtClean="0">
                  <a:solidFill>
                    <a:schemeClr val="tx2"/>
                  </a:solidFill>
                </a:rPr>
                <a:t>X</a:t>
              </a:r>
              <a:endParaRPr lang="en-US" sz="1600" dirty="0">
                <a:solidFill>
                  <a:schemeClr val="tx2"/>
                </a:solidFill>
              </a:endParaRPr>
            </a:p>
          </p:txBody>
        </p:sp>
        <p:sp>
          <p:nvSpPr>
            <p:cNvPr id="33" name="Oval 32"/>
            <p:cNvSpPr/>
            <p:nvPr/>
          </p:nvSpPr>
          <p:spPr>
            <a:xfrm>
              <a:off x="2869704" y="5298545"/>
              <a:ext cx="574146" cy="574146"/>
            </a:xfrm>
            <a:prstGeom prst="ellipse">
              <a:avLst/>
            </a:prstGeom>
            <a:ln>
              <a:solidFill>
                <a:schemeClr val="bg1"/>
              </a:solidFill>
            </a:ln>
          </p:spPr>
          <p:style>
            <a:lnRef idx="3">
              <a:schemeClr val="lt1"/>
            </a:lnRef>
            <a:fillRef idx="1">
              <a:schemeClr val="dk1"/>
            </a:fillRef>
            <a:effectRef idx="1">
              <a:schemeClr val="dk1"/>
            </a:effectRef>
            <a:fontRef idx="minor">
              <a:schemeClr val="lt1"/>
            </a:fontRef>
          </p:style>
          <p:txBody>
            <a:bodyPr wrap="none" rtlCol="0" anchor="ctr"/>
            <a:lstStyle/>
            <a:p>
              <a:pPr algn="ctr"/>
              <a:r>
                <a:rPr lang="en-US" sz="1600" dirty="0" smtClean="0">
                  <a:solidFill>
                    <a:schemeClr val="bg1"/>
                  </a:solidFill>
                </a:rPr>
                <a:t>W</a:t>
              </a:r>
            </a:p>
            <a:p>
              <a:pPr algn="ctr"/>
              <a:r>
                <a:rPr lang="en-US" sz="1600" dirty="0" err="1" smtClean="0">
                  <a:solidFill>
                    <a:schemeClr val="bg1"/>
                  </a:solidFill>
                </a:rPr>
                <a:t>var</a:t>
              </a:r>
              <a:endParaRPr lang="en-US" sz="1600" dirty="0">
                <a:solidFill>
                  <a:schemeClr val="bg1"/>
                </a:solidFill>
              </a:endParaRPr>
            </a:p>
          </p:txBody>
        </p:sp>
        <p:sp>
          <p:nvSpPr>
            <p:cNvPr id="35" name="Oval 34"/>
            <p:cNvSpPr/>
            <p:nvPr/>
          </p:nvSpPr>
          <p:spPr>
            <a:xfrm>
              <a:off x="4269184" y="4150254"/>
              <a:ext cx="574146" cy="574146"/>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wrap="none" rtlCol="0" anchor="ctr"/>
            <a:lstStyle/>
            <a:p>
              <a:pPr algn="ctr"/>
              <a:r>
                <a:rPr lang="en-US" sz="1600" dirty="0" err="1" smtClean="0">
                  <a:solidFill>
                    <a:schemeClr val="tx2"/>
                  </a:solidFill>
                </a:rPr>
                <a:t>mul</a:t>
              </a:r>
              <a:endParaRPr lang="en-US" sz="1600" dirty="0">
                <a:solidFill>
                  <a:schemeClr val="tx2"/>
                </a:solidFill>
              </a:endParaRPr>
            </a:p>
          </p:txBody>
        </p:sp>
        <p:sp>
          <p:nvSpPr>
            <p:cNvPr id="37" name="Oval 36"/>
            <p:cNvSpPr/>
            <p:nvPr/>
          </p:nvSpPr>
          <p:spPr>
            <a:xfrm>
              <a:off x="4269184" y="5298545"/>
              <a:ext cx="574146" cy="574146"/>
            </a:xfrm>
            <a:prstGeom prst="ellipse">
              <a:avLst/>
            </a:prstGeom>
          </p:spPr>
          <p:style>
            <a:lnRef idx="3">
              <a:schemeClr val="lt1"/>
            </a:lnRef>
            <a:fillRef idx="1">
              <a:schemeClr val="dk1"/>
            </a:fillRef>
            <a:effectRef idx="1">
              <a:schemeClr val="dk1"/>
            </a:effectRef>
            <a:fontRef idx="minor">
              <a:schemeClr val="lt1"/>
            </a:fontRef>
          </p:style>
          <p:txBody>
            <a:bodyPr wrap="none" rtlCol="0" anchor="ctr"/>
            <a:lstStyle/>
            <a:p>
              <a:pPr algn="ctr"/>
              <a:r>
                <a:rPr lang="en-US" sz="1600" dirty="0" smtClean="0">
                  <a:solidFill>
                    <a:schemeClr val="bg1"/>
                  </a:solidFill>
                </a:rPr>
                <a:t>b</a:t>
              </a:r>
            </a:p>
            <a:p>
              <a:pPr algn="ctr"/>
              <a:r>
                <a:rPr lang="en-US" sz="1600" dirty="0" err="1" smtClean="0">
                  <a:solidFill>
                    <a:schemeClr val="bg1"/>
                  </a:solidFill>
                </a:rPr>
                <a:t>var</a:t>
              </a:r>
              <a:endParaRPr lang="en-US" sz="1600" dirty="0">
                <a:solidFill>
                  <a:schemeClr val="bg1"/>
                </a:solidFill>
              </a:endParaRPr>
            </a:p>
          </p:txBody>
        </p:sp>
        <p:sp>
          <p:nvSpPr>
            <p:cNvPr id="38" name="Oval 37"/>
            <p:cNvSpPr/>
            <p:nvPr/>
          </p:nvSpPr>
          <p:spPr>
            <a:xfrm>
              <a:off x="5561012" y="4724400"/>
              <a:ext cx="574146" cy="574146"/>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wrap="none" rtlCol="0" anchor="ctr"/>
            <a:lstStyle/>
            <a:p>
              <a:pPr algn="ctr"/>
              <a:r>
                <a:rPr lang="en-US" sz="1600" dirty="0" smtClean="0">
                  <a:solidFill>
                    <a:schemeClr val="tx2"/>
                  </a:solidFill>
                </a:rPr>
                <a:t>add</a:t>
              </a:r>
              <a:endParaRPr lang="en-US" sz="1600" dirty="0">
                <a:solidFill>
                  <a:schemeClr val="tx2"/>
                </a:solidFill>
              </a:endParaRPr>
            </a:p>
          </p:txBody>
        </p:sp>
        <p:cxnSp>
          <p:nvCxnSpPr>
            <p:cNvPr id="39" name="Straight Arrow Connector 38"/>
            <p:cNvCxnSpPr>
              <a:cxnSpLocks/>
              <a:endCxn id="42" idx="2"/>
            </p:cNvCxnSpPr>
            <p:nvPr/>
          </p:nvCxnSpPr>
          <p:spPr>
            <a:xfrm>
              <a:off x="2152022" y="4437327"/>
              <a:ext cx="717682"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a:cxnSpLocks/>
            </p:cNvCxnSpPr>
            <p:nvPr/>
          </p:nvCxnSpPr>
          <p:spPr>
            <a:xfrm>
              <a:off x="2152022" y="5585618"/>
              <a:ext cx="717682"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a:stCxn id="42" idx="6"/>
              <a:endCxn id="44" idx="2"/>
            </p:cNvCxnSpPr>
            <p:nvPr/>
          </p:nvCxnSpPr>
          <p:spPr>
            <a:xfrm>
              <a:off x="3443850" y="4437327"/>
              <a:ext cx="825334"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a:cxnSpLocks/>
              <a:stCxn id="43" idx="6"/>
              <a:endCxn id="44" idx="3"/>
            </p:cNvCxnSpPr>
            <p:nvPr/>
          </p:nvCxnSpPr>
          <p:spPr>
            <a:xfrm flipV="1">
              <a:off x="3443850" y="4640318"/>
              <a:ext cx="909416" cy="94530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p:cNvCxnSpPr>
              <a:stCxn id="44" idx="6"/>
              <a:endCxn id="48" idx="1"/>
            </p:cNvCxnSpPr>
            <p:nvPr/>
          </p:nvCxnSpPr>
          <p:spPr>
            <a:xfrm>
              <a:off x="4843330" y="4437327"/>
              <a:ext cx="801764" cy="371155"/>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p:cNvCxnSpPr>
              <a:stCxn id="47" idx="6"/>
              <a:endCxn id="48" idx="3"/>
            </p:cNvCxnSpPr>
            <p:nvPr/>
          </p:nvCxnSpPr>
          <p:spPr>
            <a:xfrm flipV="1">
              <a:off x="4843330" y="5214464"/>
              <a:ext cx="801764" cy="371155"/>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p:cNvCxnSpPr>
              <a:cxnSpLocks/>
              <a:stCxn id="48" idx="6"/>
            </p:cNvCxnSpPr>
            <p:nvPr/>
          </p:nvCxnSpPr>
          <p:spPr>
            <a:xfrm>
              <a:off x="6135158" y="5011473"/>
              <a:ext cx="717682"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51" name="Oval 50"/>
            <p:cNvSpPr/>
            <p:nvPr/>
          </p:nvSpPr>
          <p:spPr>
            <a:xfrm>
              <a:off x="2869704" y="2966508"/>
              <a:ext cx="574146" cy="574146"/>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wrap="none" rtlCol="0" anchor="ctr"/>
            <a:lstStyle/>
            <a:p>
              <a:pPr algn="ctr"/>
              <a:r>
                <a:rPr lang="en-US" sz="1600" dirty="0" smtClean="0">
                  <a:solidFill>
                    <a:schemeClr val="tx2"/>
                  </a:solidFill>
                </a:rPr>
                <a:t>Y</a:t>
              </a:r>
              <a:endParaRPr lang="en-US" sz="1600" dirty="0">
                <a:solidFill>
                  <a:schemeClr val="tx2"/>
                </a:solidFill>
              </a:endParaRPr>
            </a:p>
          </p:txBody>
        </p:sp>
        <p:cxnSp>
          <p:nvCxnSpPr>
            <p:cNvPr id="52" name="Straight Arrow Connector 51"/>
            <p:cNvCxnSpPr>
              <a:cxnSpLocks/>
            </p:cNvCxnSpPr>
            <p:nvPr/>
          </p:nvCxnSpPr>
          <p:spPr>
            <a:xfrm>
              <a:off x="2152022" y="3253581"/>
              <a:ext cx="717682"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grpSp>
      <p:grpSp>
        <p:nvGrpSpPr>
          <p:cNvPr id="54" name="Group 53"/>
          <p:cNvGrpSpPr/>
          <p:nvPr/>
        </p:nvGrpSpPr>
        <p:grpSpPr>
          <a:xfrm>
            <a:off x="3289168" y="3200400"/>
            <a:ext cx="8341563" cy="3276600"/>
            <a:chOff x="3289168" y="3200400"/>
            <a:chExt cx="8341563" cy="3276600"/>
          </a:xfrm>
        </p:grpSpPr>
        <p:cxnSp>
          <p:nvCxnSpPr>
            <p:cNvPr id="56" name="Elbow Connector 55"/>
            <p:cNvCxnSpPr>
              <a:stCxn id="63" idx="6"/>
            </p:cNvCxnSpPr>
            <p:nvPr/>
          </p:nvCxnSpPr>
          <p:spPr>
            <a:xfrm>
              <a:off x="3576240" y="3487473"/>
              <a:ext cx="3820357" cy="1087173"/>
            </a:xfrm>
            <a:prstGeom prst="bentConnector2">
              <a:avLst/>
            </a:prstGeom>
            <a:ln w="57150">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7" name="Oval 56"/>
                <p:cNvSpPr/>
                <p:nvPr/>
              </p:nvSpPr>
              <p:spPr>
                <a:xfrm>
                  <a:off x="10672939" y="3200400"/>
                  <a:ext cx="574146" cy="574146"/>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wrap="none" rtlCol="0" anchor="ctr"/>
                <a:lstStyle/>
                <a:p>
                  <a:pPr algn="ctr"/>
                  <a14:m>
                    <m:oMathPara xmlns:m="http://schemas.openxmlformats.org/officeDocument/2006/math">
                      <m:oMathParaPr>
                        <m:jc m:val="right"/>
                      </m:oMathParaPr>
                      <m:oMath xmlns:m="http://schemas.openxmlformats.org/officeDocument/2006/math">
                        <m:r>
                          <a:rPr lang="en-US" sz="1600" i="1" smtClean="0">
                            <a:solidFill>
                              <a:schemeClr val="tx2"/>
                            </a:solidFill>
                            <a:latin typeface="Cambria Math" charset="0"/>
                            <a:ea typeface="Cambria Math" charset="0"/>
                            <a:cs typeface="Cambria Math" charset="0"/>
                          </a:rPr>
                          <m:t>𝛼</m:t>
                        </m:r>
                        <m:r>
                          <a:rPr lang="en-US" sz="1600" b="0" i="1" smtClean="0">
                            <a:solidFill>
                              <a:schemeClr val="tx2"/>
                            </a:solidFill>
                            <a:latin typeface="Cambria Math" charset="0"/>
                            <a:ea typeface="Cambria Math" charset="0"/>
                            <a:cs typeface="Cambria Math" charset="0"/>
                          </a:rPr>
                          <m:t> </m:t>
                        </m:r>
                      </m:oMath>
                    </m:oMathPara>
                  </a14:m>
                  <a:endParaRPr lang="en-US" sz="1600" dirty="0">
                    <a:solidFill>
                      <a:schemeClr val="tx2"/>
                    </a:solidFill>
                  </a:endParaRPr>
                </a:p>
              </p:txBody>
            </p:sp>
          </mc:Choice>
          <mc:Fallback xmlns="">
            <p:sp>
              <p:nvSpPr>
                <p:cNvPr id="57" name="Oval 56"/>
                <p:cNvSpPr>
                  <a:spLocks noRot="1" noChangeAspect="1" noMove="1" noResize="1" noEditPoints="1" noAdjustHandles="1" noChangeArrowheads="1" noChangeShapeType="1" noTextEdit="1"/>
                </p:cNvSpPr>
                <p:nvPr/>
              </p:nvSpPr>
              <p:spPr>
                <a:xfrm>
                  <a:off x="10672939" y="3200400"/>
                  <a:ext cx="574146" cy="574146"/>
                </a:xfrm>
                <a:prstGeom prst="ellipse">
                  <a:avLst/>
                </a:prstGeom>
                <a:blipFill rotWithShape="0">
                  <a:blip r:embed="rId4"/>
                  <a:stretch>
                    <a:fillRect t="-28125" b="-46875"/>
                  </a:stretch>
                </a:blipFill>
              </p:spPr>
              <p:txBody>
                <a:bodyPr/>
                <a:lstStyle/>
                <a:p>
                  <a:r>
                    <a:rPr lang="en-US">
                      <a:noFill/>
                    </a:rPr>
                    <a:t> </a:t>
                  </a:r>
                </a:p>
              </p:txBody>
            </p:sp>
          </mc:Fallback>
        </mc:AlternateContent>
        <p:sp>
          <p:nvSpPr>
            <p:cNvPr id="58" name="Rounded Rectangle 57"/>
            <p:cNvSpPr/>
            <p:nvPr/>
          </p:nvSpPr>
          <p:spPr>
            <a:xfrm>
              <a:off x="7015597" y="4574646"/>
              <a:ext cx="762000" cy="1341437"/>
            </a:xfrm>
            <a:prstGeom prst="roundRect">
              <a:avLst/>
            </a:prstGeom>
            <a:solidFill>
              <a:schemeClr val="accent5">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r>
                <a:rPr lang="en-US" dirty="0" smtClean="0"/>
                <a:t>ost</a:t>
              </a:r>
            </a:p>
            <a:p>
              <a:pPr algn="ctr"/>
              <a:r>
                <a:rPr lang="en-US" dirty="0" smtClean="0"/>
                <a:t>(J)</a:t>
              </a:r>
              <a:endParaRPr lang="en-US" dirty="0"/>
            </a:p>
          </p:txBody>
        </p:sp>
        <p:sp>
          <p:nvSpPr>
            <p:cNvPr id="60" name="Rounded Rectangle 59"/>
            <p:cNvSpPr/>
            <p:nvPr/>
          </p:nvSpPr>
          <p:spPr>
            <a:xfrm rot="5400000">
              <a:off x="8660524" y="4513031"/>
              <a:ext cx="697375" cy="1341437"/>
            </a:xfrm>
            <a:prstGeom prst="round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vert="vert270" wrap="none" rtlCol="0" anchor="ctr"/>
            <a:lstStyle/>
            <a:p>
              <a:pPr algn="ctr"/>
              <a:r>
                <a:rPr lang="en-US" dirty="0" smtClean="0"/>
                <a:t>derivatives</a:t>
              </a:r>
              <a:endParaRPr lang="en-US" dirty="0"/>
            </a:p>
          </p:txBody>
        </p:sp>
        <p:cxnSp>
          <p:nvCxnSpPr>
            <p:cNvPr id="61" name="Straight Arrow Connector 60"/>
            <p:cNvCxnSpPr>
              <a:cxnSpLocks/>
            </p:cNvCxnSpPr>
            <p:nvPr/>
          </p:nvCxnSpPr>
          <p:spPr>
            <a:xfrm flipV="1">
              <a:off x="7777597" y="5220782"/>
              <a:ext cx="540738" cy="968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62" name="Rounded Rectangle 61"/>
            <p:cNvSpPr/>
            <p:nvPr/>
          </p:nvSpPr>
          <p:spPr>
            <a:xfrm rot="5400000">
              <a:off x="10611325" y="4510468"/>
              <a:ext cx="697375" cy="1341437"/>
            </a:xfrm>
            <a:prstGeom prst="round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vert="vert270" wrap="none" rtlCol="0" anchor="ctr"/>
            <a:lstStyle/>
            <a:p>
              <a:pPr algn="ctr"/>
              <a:r>
                <a:rPr lang="en-US" dirty="0" smtClean="0"/>
                <a:t>Weight</a:t>
              </a:r>
            </a:p>
            <a:p>
              <a:pPr algn="ctr"/>
              <a:r>
                <a:rPr lang="en-US" dirty="0" smtClean="0"/>
                <a:t>updates</a:t>
              </a:r>
              <a:endParaRPr lang="en-US" dirty="0"/>
            </a:p>
          </p:txBody>
        </p:sp>
        <p:cxnSp>
          <p:nvCxnSpPr>
            <p:cNvPr id="63" name="Straight Arrow Connector 62"/>
            <p:cNvCxnSpPr>
              <a:cxnSpLocks/>
            </p:cNvCxnSpPr>
            <p:nvPr/>
          </p:nvCxnSpPr>
          <p:spPr>
            <a:xfrm flipV="1">
              <a:off x="9679930" y="5181187"/>
              <a:ext cx="609364" cy="2563"/>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p:cNvCxnSpPr>
              <a:cxnSpLocks/>
            </p:cNvCxnSpPr>
            <p:nvPr/>
          </p:nvCxnSpPr>
          <p:spPr>
            <a:xfrm>
              <a:off x="10960012" y="3774546"/>
              <a:ext cx="0" cy="1057953"/>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65" name="Elbow Connector 64"/>
            <p:cNvCxnSpPr>
              <a:endCxn id="37" idx="4"/>
            </p:cNvCxnSpPr>
            <p:nvPr/>
          </p:nvCxnSpPr>
          <p:spPr>
            <a:xfrm rot="5400000">
              <a:off x="6836236" y="1982806"/>
              <a:ext cx="576709" cy="7670845"/>
            </a:xfrm>
            <a:prstGeom prst="bentConnector3">
              <a:avLst>
                <a:gd name="adj1" fmla="val 163508"/>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p:cNvCxnSpPr>
              <a:cxnSpLocks/>
              <a:endCxn id="42" idx="4"/>
            </p:cNvCxnSpPr>
            <p:nvPr/>
          </p:nvCxnSpPr>
          <p:spPr>
            <a:xfrm flipV="1">
              <a:off x="4688647" y="6106583"/>
              <a:ext cx="0" cy="370417"/>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62830004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smtClean="0"/>
              <a:t>Cost needs to be defined like other operations in TF</a:t>
            </a:r>
            <a:endParaRPr lang="en-US" sz="2800" dirty="0"/>
          </a:p>
        </p:txBody>
      </p:sp>
      <p:sp>
        <p:nvSpPr>
          <p:cNvPr id="4" name="Content Placeholder 3"/>
          <p:cNvSpPr>
            <a:spLocks noGrp="1"/>
          </p:cNvSpPr>
          <p:nvPr>
            <p:ph idx="1"/>
          </p:nvPr>
        </p:nvSpPr>
        <p:spPr>
          <a:xfrm>
            <a:off x="1217612" y="1600200"/>
            <a:ext cx="10668000" cy="929481"/>
          </a:xfrm>
        </p:spPr>
        <p:txBody>
          <a:bodyPr>
            <a:normAutofit/>
          </a:bodyPr>
          <a:lstStyle/>
          <a:p>
            <a:r>
              <a:rPr lang="en-US" dirty="0">
                <a:latin typeface="Consolas" charset="0"/>
                <a:ea typeface="Consolas" charset="0"/>
                <a:cs typeface="Consolas" charset="0"/>
              </a:rPr>
              <a:t>c</a:t>
            </a:r>
            <a:r>
              <a:rPr lang="en-US" dirty="0" smtClean="0">
                <a:latin typeface="Consolas" charset="0"/>
                <a:ea typeface="Consolas" charset="0"/>
                <a:cs typeface="Consolas" charset="0"/>
              </a:rPr>
              <a:t>ost = </a:t>
            </a:r>
            <a:r>
              <a:rPr lang="en-US" dirty="0" err="1" smtClean="0">
                <a:latin typeface="Consolas" charset="0"/>
                <a:ea typeface="Consolas" charset="0"/>
                <a:cs typeface="Consolas" charset="0"/>
              </a:rPr>
              <a:t>tf.reduce_mean</a:t>
            </a:r>
            <a:r>
              <a:rPr lang="en-US" dirty="0" smtClean="0">
                <a:latin typeface="Consolas" charset="0"/>
                <a:ea typeface="Consolas" charset="0"/>
                <a:cs typeface="Consolas" charset="0"/>
              </a:rPr>
              <a:t>(</a:t>
            </a:r>
            <a:r>
              <a:rPr lang="en-US" dirty="0" err="1" smtClean="0">
                <a:latin typeface="Consolas" charset="0"/>
                <a:ea typeface="Consolas" charset="0"/>
                <a:cs typeface="Consolas" charset="0"/>
              </a:rPr>
              <a:t>tf.squared_difference</a:t>
            </a:r>
            <a:r>
              <a:rPr lang="en-US" dirty="0" smtClean="0">
                <a:latin typeface="Consolas" charset="0"/>
                <a:ea typeface="Consolas" charset="0"/>
                <a:cs typeface="Consolas" charset="0"/>
              </a:rPr>
              <a:t>(add, Y))</a:t>
            </a:r>
            <a:endParaRPr lang="en-US" dirty="0">
              <a:latin typeface="Consolas" charset="0"/>
              <a:ea typeface="Consolas" charset="0"/>
              <a:cs typeface="Consolas" charset="0"/>
            </a:endParaRPr>
          </a:p>
        </p:txBody>
      </p:sp>
      <p:grpSp>
        <p:nvGrpSpPr>
          <p:cNvPr id="31" name="Group 30"/>
          <p:cNvGrpSpPr/>
          <p:nvPr/>
        </p:nvGrpSpPr>
        <p:grpSpPr>
          <a:xfrm>
            <a:off x="2284412" y="3200400"/>
            <a:ext cx="4700818" cy="2906183"/>
            <a:chOff x="2152022" y="2966508"/>
            <a:chExt cx="4700818" cy="2906183"/>
          </a:xfrm>
        </p:grpSpPr>
        <p:sp>
          <p:nvSpPr>
            <p:cNvPr id="32" name="Oval 31"/>
            <p:cNvSpPr/>
            <p:nvPr/>
          </p:nvSpPr>
          <p:spPr>
            <a:xfrm>
              <a:off x="2869704" y="4150254"/>
              <a:ext cx="574146" cy="574146"/>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wrap="none" rtlCol="0" anchor="ctr"/>
            <a:lstStyle/>
            <a:p>
              <a:pPr algn="ctr"/>
              <a:r>
                <a:rPr lang="en-US" sz="1600" dirty="0" smtClean="0">
                  <a:solidFill>
                    <a:schemeClr val="tx2"/>
                  </a:solidFill>
                </a:rPr>
                <a:t>X</a:t>
              </a:r>
              <a:endParaRPr lang="en-US" sz="1600" dirty="0">
                <a:solidFill>
                  <a:schemeClr val="tx2"/>
                </a:solidFill>
              </a:endParaRPr>
            </a:p>
          </p:txBody>
        </p:sp>
        <p:sp>
          <p:nvSpPr>
            <p:cNvPr id="33" name="Oval 32"/>
            <p:cNvSpPr/>
            <p:nvPr/>
          </p:nvSpPr>
          <p:spPr>
            <a:xfrm>
              <a:off x="2869704" y="5298545"/>
              <a:ext cx="574146" cy="574146"/>
            </a:xfrm>
            <a:prstGeom prst="ellipse">
              <a:avLst/>
            </a:prstGeom>
            <a:ln>
              <a:solidFill>
                <a:schemeClr val="bg1"/>
              </a:solidFill>
            </a:ln>
          </p:spPr>
          <p:style>
            <a:lnRef idx="3">
              <a:schemeClr val="lt1"/>
            </a:lnRef>
            <a:fillRef idx="1">
              <a:schemeClr val="dk1"/>
            </a:fillRef>
            <a:effectRef idx="1">
              <a:schemeClr val="dk1"/>
            </a:effectRef>
            <a:fontRef idx="minor">
              <a:schemeClr val="lt1"/>
            </a:fontRef>
          </p:style>
          <p:txBody>
            <a:bodyPr wrap="none" rtlCol="0" anchor="ctr"/>
            <a:lstStyle/>
            <a:p>
              <a:pPr algn="ctr"/>
              <a:r>
                <a:rPr lang="en-US" sz="1600" dirty="0" smtClean="0">
                  <a:solidFill>
                    <a:schemeClr val="bg1"/>
                  </a:solidFill>
                </a:rPr>
                <a:t>W</a:t>
              </a:r>
            </a:p>
            <a:p>
              <a:pPr algn="ctr"/>
              <a:r>
                <a:rPr lang="en-US" sz="1600" dirty="0" err="1" smtClean="0">
                  <a:solidFill>
                    <a:schemeClr val="bg1"/>
                  </a:solidFill>
                </a:rPr>
                <a:t>var</a:t>
              </a:r>
              <a:endParaRPr lang="en-US" sz="1600" dirty="0">
                <a:solidFill>
                  <a:schemeClr val="bg1"/>
                </a:solidFill>
              </a:endParaRPr>
            </a:p>
          </p:txBody>
        </p:sp>
        <p:sp>
          <p:nvSpPr>
            <p:cNvPr id="35" name="Oval 34"/>
            <p:cNvSpPr/>
            <p:nvPr/>
          </p:nvSpPr>
          <p:spPr>
            <a:xfrm>
              <a:off x="4269184" y="4150254"/>
              <a:ext cx="574146" cy="574146"/>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wrap="none" rtlCol="0" anchor="ctr"/>
            <a:lstStyle/>
            <a:p>
              <a:pPr algn="ctr"/>
              <a:r>
                <a:rPr lang="en-US" sz="1600" dirty="0" err="1" smtClean="0">
                  <a:solidFill>
                    <a:schemeClr val="tx2"/>
                  </a:solidFill>
                </a:rPr>
                <a:t>mul</a:t>
              </a:r>
              <a:endParaRPr lang="en-US" sz="1600" dirty="0">
                <a:solidFill>
                  <a:schemeClr val="tx2"/>
                </a:solidFill>
              </a:endParaRPr>
            </a:p>
          </p:txBody>
        </p:sp>
        <p:sp>
          <p:nvSpPr>
            <p:cNvPr id="37" name="Oval 36"/>
            <p:cNvSpPr/>
            <p:nvPr/>
          </p:nvSpPr>
          <p:spPr>
            <a:xfrm>
              <a:off x="4269184" y="5298545"/>
              <a:ext cx="574146" cy="574146"/>
            </a:xfrm>
            <a:prstGeom prst="ellipse">
              <a:avLst/>
            </a:prstGeom>
          </p:spPr>
          <p:style>
            <a:lnRef idx="3">
              <a:schemeClr val="lt1"/>
            </a:lnRef>
            <a:fillRef idx="1">
              <a:schemeClr val="dk1"/>
            </a:fillRef>
            <a:effectRef idx="1">
              <a:schemeClr val="dk1"/>
            </a:effectRef>
            <a:fontRef idx="minor">
              <a:schemeClr val="lt1"/>
            </a:fontRef>
          </p:style>
          <p:txBody>
            <a:bodyPr wrap="none" rtlCol="0" anchor="ctr"/>
            <a:lstStyle/>
            <a:p>
              <a:pPr algn="ctr"/>
              <a:r>
                <a:rPr lang="en-US" sz="1600" dirty="0" smtClean="0">
                  <a:solidFill>
                    <a:schemeClr val="bg1"/>
                  </a:solidFill>
                </a:rPr>
                <a:t>b</a:t>
              </a:r>
            </a:p>
            <a:p>
              <a:pPr algn="ctr"/>
              <a:r>
                <a:rPr lang="en-US" sz="1600" dirty="0" err="1" smtClean="0">
                  <a:solidFill>
                    <a:schemeClr val="bg1"/>
                  </a:solidFill>
                </a:rPr>
                <a:t>var</a:t>
              </a:r>
              <a:endParaRPr lang="en-US" sz="1600" dirty="0">
                <a:solidFill>
                  <a:schemeClr val="bg1"/>
                </a:solidFill>
              </a:endParaRPr>
            </a:p>
          </p:txBody>
        </p:sp>
        <p:sp>
          <p:nvSpPr>
            <p:cNvPr id="38" name="Oval 37"/>
            <p:cNvSpPr/>
            <p:nvPr/>
          </p:nvSpPr>
          <p:spPr>
            <a:xfrm>
              <a:off x="5561012" y="4724400"/>
              <a:ext cx="574146" cy="574146"/>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wrap="none" rtlCol="0" anchor="ctr"/>
            <a:lstStyle/>
            <a:p>
              <a:pPr algn="ctr"/>
              <a:r>
                <a:rPr lang="en-US" sz="1600" dirty="0" smtClean="0">
                  <a:solidFill>
                    <a:schemeClr val="tx2"/>
                  </a:solidFill>
                </a:rPr>
                <a:t>add</a:t>
              </a:r>
              <a:endParaRPr lang="en-US" sz="1600" dirty="0">
                <a:solidFill>
                  <a:schemeClr val="tx2"/>
                </a:solidFill>
              </a:endParaRPr>
            </a:p>
          </p:txBody>
        </p:sp>
        <p:cxnSp>
          <p:nvCxnSpPr>
            <p:cNvPr id="39" name="Straight Arrow Connector 38"/>
            <p:cNvCxnSpPr>
              <a:cxnSpLocks/>
              <a:endCxn id="42" idx="2"/>
            </p:cNvCxnSpPr>
            <p:nvPr/>
          </p:nvCxnSpPr>
          <p:spPr>
            <a:xfrm>
              <a:off x="2152022" y="4437327"/>
              <a:ext cx="717682"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a:cxnSpLocks/>
            </p:cNvCxnSpPr>
            <p:nvPr/>
          </p:nvCxnSpPr>
          <p:spPr>
            <a:xfrm>
              <a:off x="2152022" y="5585618"/>
              <a:ext cx="717682"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a:stCxn id="42" idx="6"/>
              <a:endCxn id="44" idx="2"/>
            </p:cNvCxnSpPr>
            <p:nvPr/>
          </p:nvCxnSpPr>
          <p:spPr>
            <a:xfrm>
              <a:off x="3443850" y="4437327"/>
              <a:ext cx="825334"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a:cxnSpLocks/>
              <a:stCxn id="43" idx="6"/>
              <a:endCxn id="44" idx="3"/>
            </p:cNvCxnSpPr>
            <p:nvPr/>
          </p:nvCxnSpPr>
          <p:spPr>
            <a:xfrm flipV="1">
              <a:off x="3443850" y="4640318"/>
              <a:ext cx="909416" cy="94530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p:cNvCxnSpPr>
              <a:stCxn id="44" idx="6"/>
              <a:endCxn id="48" idx="1"/>
            </p:cNvCxnSpPr>
            <p:nvPr/>
          </p:nvCxnSpPr>
          <p:spPr>
            <a:xfrm>
              <a:off x="4843330" y="4437327"/>
              <a:ext cx="801764" cy="371155"/>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p:cNvCxnSpPr>
              <a:stCxn id="47" idx="6"/>
              <a:endCxn id="48" idx="3"/>
            </p:cNvCxnSpPr>
            <p:nvPr/>
          </p:nvCxnSpPr>
          <p:spPr>
            <a:xfrm flipV="1">
              <a:off x="4843330" y="5214464"/>
              <a:ext cx="801764" cy="371155"/>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p:cNvCxnSpPr>
              <a:cxnSpLocks/>
              <a:stCxn id="48" idx="6"/>
            </p:cNvCxnSpPr>
            <p:nvPr/>
          </p:nvCxnSpPr>
          <p:spPr>
            <a:xfrm>
              <a:off x="6135158" y="5011473"/>
              <a:ext cx="717682"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51" name="Oval 50"/>
            <p:cNvSpPr/>
            <p:nvPr/>
          </p:nvSpPr>
          <p:spPr>
            <a:xfrm>
              <a:off x="2869704" y="2966508"/>
              <a:ext cx="574146" cy="574146"/>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wrap="none" rtlCol="0" anchor="ctr"/>
            <a:lstStyle/>
            <a:p>
              <a:pPr algn="ctr"/>
              <a:r>
                <a:rPr lang="en-US" sz="1600" dirty="0" smtClean="0">
                  <a:solidFill>
                    <a:schemeClr val="tx2"/>
                  </a:solidFill>
                </a:rPr>
                <a:t>Y</a:t>
              </a:r>
              <a:endParaRPr lang="en-US" sz="1600" dirty="0">
                <a:solidFill>
                  <a:schemeClr val="tx2"/>
                </a:solidFill>
              </a:endParaRPr>
            </a:p>
          </p:txBody>
        </p:sp>
        <p:cxnSp>
          <p:nvCxnSpPr>
            <p:cNvPr id="52" name="Straight Arrow Connector 51"/>
            <p:cNvCxnSpPr>
              <a:cxnSpLocks/>
            </p:cNvCxnSpPr>
            <p:nvPr/>
          </p:nvCxnSpPr>
          <p:spPr>
            <a:xfrm>
              <a:off x="2152022" y="3253581"/>
              <a:ext cx="717682"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grpSp>
      <p:grpSp>
        <p:nvGrpSpPr>
          <p:cNvPr id="54" name="Group 53"/>
          <p:cNvGrpSpPr/>
          <p:nvPr/>
        </p:nvGrpSpPr>
        <p:grpSpPr>
          <a:xfrm>
            <a:off x="3289168" y="3200400"/>
            <a:ext cx="8341563" cy="3276600"/>
            <a:chOff x="3289168" y="3200400"/>
            <a:chExt cx="8341563" cy="3276600"/>
          </a:xfrm>
        </p:grpSpPr>
        <p:cxnSp>
          <p:nvCxnSpPr>
            <p:cNvPr id="56" name="Elbow Connector 55"/>
            <p:cNvCxnSpPr>
              <a:stCxn id="63" idx="6"/>
            </p:cNvCxnSpPr>
            <p:nvPr/>
          </p:nvCxnSpPr>
          <p:spPr>
            <a:xfrm>
              <a:off x="3576240" y="3487473"/>
              <a:ext cx="3820357" cy="1087173"/>
            </a:xfrm>
            <a:prstGeom prst="bentConnector2">
              <a:avLst/>
            </a:prstGeom>
            <a:ln w="57150">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7" name="Oval 56"/>
                <p:cNvSpPr/>
                <p:nvPr/>
              </p:nvSpPr>
              <p:spPr>
                <a:xfrm>
                  <a:off x="10672939" y="3200400"/>
                  <a:ext cx="574146" cy="574146"/>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wrap="none" rtlCol="0" anchor="ctr"/>
                <a:lstStyle/>
                <a:p>
                  <a:pPr algn="ctr"/>
                  <a14:m>
                    <m:oMathPara xmlns:m="http://schemas.openxmlformats.org/officeDocument/2006/math">
                      <m:oMathParaPr>
                        <m:jc m:val="right"/>
                      </m:oMathParaPr>
                      <m:oMath xmlns:m="http://schemas.openxmlformats.org/officeDocument/2006/math">
                        <m:r>
                          <a:rPr lang="en-US" sz="1600" i="1" smtClean="0">
                            <a:solidFill>
                              <a:schemeClr val="tx2"/>
                            </a:solidFill>
                            <a:latin typeface="Cambria Math" charset="0"/>
                            <a:ea typeface="Cambria Math" charset="0"/>
                            <a:cs typeface="Cambria Math" charset="0"/>
                          </a:rPr>
                          <m:t>𝛼</m:t>
                        </m:r>
                        <m:r>
                          <a:rPr lang="en-US" sz="1600" b="0" i="1" smtClean="0">
                            <a:solidFill>
                              <a:schemeClr val="tx2"/>
                            </a:solidFill>
                            <a:latin typeface="Cambria Math" charset="0"/>
                            <a:ea typeface="Cambria Math" charset="0"/>
                            <a:cs typeface="Cambria Math" charset="0"/>
                          </a:rPr>
                          <m:t> </m:t>
                        </m:r>
                      </m:oMath>
                    </m:oMathPara>
                  </a14:m>
                  <a:endParaRPr lang="en-US" sz="1600" dirty="0">
                    <a:solidFill>
                      <a:schemeClr val="tx2"/>
                    </a:solidFill>
                  </a:endParaRPr>
                </a:p>
              </p:txBody>
            </p:sp>
          </mc:Choice>
          <mc:Fallback xmlns="">
            <p:sp>
              <p:nvSpPr>
                <p:cNvPr id="57" name="Oval 56"/>
                <p:cNvSpPr>
                  <a:spLocks noRot="1" noChangeAspect="1" noMove="1" noResize="1" noEditPoints="1" noAdjustHandles="1" noChangeArrowheads="1" noChangeShapeType="1" noTextEdit="1"/>
                </p:cNvSpPr>
                <p:nvPr/>
              </p:nvSpPr>
              <p:spPr>
                <a:xfrm>
                  <a:off x="10672939" y="3200400"/>
                  <a:ext cx="574146" cy="574146"/>
                </a:xfrm>
                <a:prstGeom prst="ellipse">
                  <a:avLst/>
                </a:prstGeom>
                <a:blipFill rotWithShape="0">
                  <a:blip r:embed="rId3"/>
                  <a:stretch>
                    <a:fillRect t="-28125" b="-46875"/>
                  </a:stretch>
                </a:blipFill>
              </p:spPr>
              <p:txBody>
                <a:bodyPr/>
                <a:lstStyle/>
                <a:p>
                  <a:r>
                    <a:rPr lang="en-US">
                      <a:noFill/>
                    </a:rPr>
                    <a:t> </a:t>
                  </a:r>
                </a:p>
              </p:txBody>
            </p:sp>
          </mc:Fallback>
        </mc:AlternateContent>
        <p:sp>
          <p:nvSpPr>
            <p:cNvPr id="58" name="Rounded Rectangle 57"/>
            <p:cNvSpPr/>
            <p:nvPr/>
          </p:nvSpPr>
          <p:spPr>
            <a:xfrm>
              <a:off x="7015597" y="4574646"/>
              <a:ext cx="762000" cy="1341437"/>
            </a:xfrm>
            <a:prstGeom prst="roundRect">
              <a:avLst/>
            </a:prstGeom>
            <a:solidFill>
              <a:schemeClr val="accent5">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r>
                <a:rPr lang="en-US" dirty="0" smtClean="0"/>
                <a:t>ost</a:t>
              </a:r>
            </a:p>
            <a:p>
              <a:pPr algn="ctr"/>
              <a:r>
                <a:rPr lang="en-US" dirty="0" smtClean="0"/>
                <a:t>(J)</a:t>
              </a:r>
              <a:endParaRPr lang="en-US" dirty="0"/>
            </a:p>
          </p:txBody>
        </p:sp>
        <p:sp>
          <p:nvSpPr>
            <p:cNvPr id="60" name="Rounded Rectangle 59"/>
            <p:cNvSpPr/>
            <p:nvPr/>
          </p:nvSpPr>
          <p:spPr>
            <a:xfrm rot="5400000">
              <a:off x="8660524" y="4513031"/>
              <a:ext cx="697375" cy="1341437"/>
            </a:xfrm>
            <a:prstGeom prst="round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vert="vert270" wrap="none" rtlCol="0" anchor="ctr"/>
            <a:lstStyle/>
            <a:p>
              <a:pPr algn="ctr"/>
              <a:r>
                <a:rPr lang="en-US" dirty="0" smtClean="0"/>
                <a:t>derivatives</a:t>
              </a:r>
              <a:endParaRPr lang="en-US" dirty="0"/>
            </a:p>
          </p:txBody>
        </p:sp>
        <p:cxnSp>
          <p:nvCxnSpPr>
            <p:cNvPr id="61" name="Straight Arrow Connector 60"/>
            <p:cNvCxnSpPr>
              <a:cxnSpLocks/>
            </p:cNvCxnSpPr>
            <p:nvPr/>
          </p:nvCxnSpPr>
          <p:spPr>
            <a:xfrm flipV="1">
              <a:off x="7777597" y="5220782"/>
              <a:ext cx="540738" cy="968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62" name="Rounded Rectangle 61"/>
            <p:cNvSpPr/>
            <p:nvPr/>
          </p:nvSpPr>
          <p:spPr>
            <a:xfrm rot="5400000">
              <a:off x="10611325" y="4510468"/>
              <a:ext cx="697375" cy="1341437"/>
            </a:xfrm>
            <a:prstGeom prst="round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vert="vert270" wrap="none" rtlCol="0" anchor="ctr"/>
            <a:lstStyle/>
            <a:p>
              <a:pPr algn="ctr"/>
              <a:r>
                <a:rPr lang="en-US" dirty="0" smtClean="0"/>
                <a:t>Weight</a:t>
              </a:r>
            </a:p>
            <a:p>
              <a:pPr algn="ctr"/>
              <a:r>
                <a:rPr lang="en-US" dirty="0" smtClean="0"/>
                <a:t>updates</a:t>
              </a:r>
              <a:endParaRPr lang="en-US" dirty="0"/>
            </a:p>
          </p:txBody>
        </p:sp>
        <p:cxnSp>
          <p:nvCxnSpPr>
            <p:cNvPr id="63" name="Straight Arrow Connector 62"/>
            <p:cNvCxnSpPr>
              <a:cxnSpLocks/>
            </p:cNvCxnSpPr>
            <p:nvPr/>
          </p:nvCxnSpPr>
          <p:spPr>
            <a:xfrm flipV="1">
              <a:off x="9679930" y="5181187"/>
              <a:ext cx="609364" cy="2563"/>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p:cNvCxnSpPr>
              <a:cxnSpLocks/>
            </p:cNvCxnSpPr>
            <p:nvPr/>
          </p:nvCxnSpPr>
          <p:spPr>
            <a:xfrm>
              <a:off x="10960012" y="3774546"/>
              <a:ext cx="0" cy="1057953"/>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65" name="Elbow Connector 64"/>
            <p:cNvCxnSpPr>
              <a:endCxn id="37" idx="4"/>
            </p:cNvCxnSpPr>
            <p:nvPr/>
          </p:nvCxnSpPr>
          <p:spPr>
            <a:xfrm rot="5400000">
              <a:off x="6836236" y="1982806"/>
              <a:ext cx="576709" cy="7670845"/>
            </a:xfrm>
            <a:prstGeom prst="bentConnector3">
              <a:avLst>
                <a:gd name="adj1" fmla="val 163508"/>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p:cNvCxnSpPr>
              <a:cxnSpLocks/>
              <a:endCxn id="42" idx="4"/>
            </p:cNvCxnSpPr>
            <p:nvPr/>
          </p:nvCxnSpPr>
          <p:spPr>
            <a:xfrm flipV="1">
              <a:off x="4688647" y="6106583"/>
              <a:ext cx="0" cy="370417"/>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grpSp>
      <p:cxnSp>
        <p:nvCxnSpPr>
          <p:cNvPr id="6" name="Straight Arrow Connector 5"/>
          <p:cNvCxnSpPr/>
          <p:nvPr/>
        </p:nvCxnSpPr>
        <p:spPr>
          <a:xfrm flipH="1">
            <a:off x="7777598" y="3657600"/>
            <a:ext cx="380537" cy="917046"/>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7763949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smtClean="0"/>
              <a:t>Derivatives and updates use a </a:t>
            </a:r>
            <a:r>
              <a:rPr lang="en-US" sz="2800" dirty="0" err="1" smtClean="0">
                <a:latin typeface="Consolas" charset="0"/>
                <a:ea typeface="Consolas" charset="0"/>
                <a:cs typeface="Consolas" charset="0"/>
              </a:rPr>
              <a:t>tf.Optimizer</a:t>
            </a:r>
            <a:endParaRPr lang="en-US" sz="2800" dirty="0">
              <a:latin typeface="Consolas" charset="0"/>
              <a:ea typeface="Consolas" charset="0"/>
              <a:cs typeface="Consolas" charset="0"/>
            </a:endParaRPr>
          </a:p>
        </p:txBody>
      </p:sp>
      <p:sp>
        <p:nvSpPr>
          <p:cNvPr id="4" name="Content Placeholder 3"/>
          <p:cNvSpPr>
            <a:spLocks noGrp="1"/>
          </p:cNvSpPr>
          <p:nvPr>
            <p:ph idx="1"/>
          </p:nvPr>
        </p:nvSpPr>
        <p:spPr>
          <a:xfrm>
            <a:off x="1370012" y="1600200"/>
            <a:ext cx="10409904" cy="929481"/>
          </a:xfrm>
        </p:spPr>
        <p:txBody>
          <a:bodyPr>
            <a:normAutofit/>
          </a:bodyPr>
          <a:lstStyle/>
          <a:p>
            <a:r>
              <a:rPr lang="en-US" sz="2400" dirty="0" smtClean="0">
                <a:latin typeface="Consolas" charset="0"/>
                <a:ea typeface="Consolas" charset="0"/>
                <a:cs typeface="Consolas" charset="0"/>
              </a:rPr>
              <a:t>Optimizer</a:t>
            </a:r>
            <a:r>
              <a:rPr lang="en-US" sz="2400" dirty="0" smtClean="0"/>
              <a:t> computes derivatives and applies them to </a:t>
            </a:r>
            <a:r>
              <a:rPr lang="en-US" sz="2400" dirty="0" smtClean="0">
                <a:latin typeface="Consolas" charset="0"/>
                <a:ea typeface="Consolas" charset="0"/>
                <a:cs typeface="Consolas" charset="0"/>
              </a:rPr>
              <a:t>Variable</a:t>
            </a:r>
            <a:r>
              <a:rPr lang="en-US" sz="2400" dirty="0" smtClean="0"/>
              <a:t>s</a:t>
            </a:r>
            <a:endParaRPr lang="en-US" sz="2400" dirty="0"/>
          </a:p>
        </p:txBody>
      </p:sp>
      <p:grpSp>
        <p:nvGrpSpPr>
          <p:cNvPr id="31" name="Group 30"/>
          <p:cNvGrpSpPr/>
          <p:nvPr/>
        </p:nvGrpSpPr>
        <p:grpSpPr>
          <a:xfrm>
            <a:off x="2284412" y="3200400"/>
            <a:ext cx="4700818" cy="2906183"/>
            <a:chOff x="2152022" y="2966508"/>
            <a:chExt cx="4700818" cy="2906183"/>
          </a:xfrm>
        </p:grpSpPr>
        <p:sp>
          <p:nvSpPr>
            <p:cNvPr id="32" name="Oval 31"/>
            <p:cNvSpPr/>
            <p:nvPr/>
          </p:nvSpPr>
          <p:spPr>
            <a:xfrm>
              <a:off x="2869704" y="4150254"/>
              <a:ext cx="574146" cy="574146"/>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wrap="none" rtlCol="0" anchor="ctr"/>
            <a:lstStyle/>
            <a:p>
              <a:pPr algn="ctr"/>
              <a:r>
                <a:rPr lang="en-US" sz="1600" dirty="0" smtClean="0">
                  <a:solidFill>
                    <a:schemeClr val="tx2"/>
                  </a:solidFill>
                </a:rPr>
                <a:t>X</a:t>
              </a:r>
              <a:endParaRPr lang="en-US" sz="1600" dirty="0">
                <a:solidFill>
                  <a:schemeClr val="tx2"/>
                </a:solidFill>
              </a:endParaRPr>
            </a:p>
          </p:txBody>
        </p:sp>
        <p:sp>
          <p:nvSpPr>
            <p:cNvPr id="33" name="Oval 32"/>
            <p:cNvSpPr/>
            <p:nvPr/>
          </p:nvSpPr>
          <p:spPr>
            <a:xfrm>
              <a:off x="2869704" y="5298545"/>
              <a:ext cx="574146" cy="574146"/>
            </a:xfrm>
            <a:prstGeom prst="ellipse">
              <a:avLst/>
            </a:prstGeom>
            <a:ln>
              <a:solidFill>
                <a:schemeClr val="bg1"/>
              </a:solidFill>
            </a:ln>
          </p:spPr>
          <p:style>
            <a:lnRef idx="3">
              <a:schemeClr val="lt1"/>
            </a:lnRef>
            <a:fillRef idx="1">
              <a:schemeClr val="dk1"/>
            </a:fillRef>
            <a:effectRef idx="1">
              <a:schemeClr val="dk1"/>
            </a:effectRef>
            <a:fontRef idx="minor">
              <a:schemeClr val="lt1"/>
            </a:fontRef>
          </p:style>
          <p:txBody>
            <a:bodyPr wrap="none" rtlCol="0" anchor="ctr"/>
            <a:lstStyle/>
            <a:p>
              <a:pPr algn="ctr"/>
              <a:r>
                <a:rPr lang="en-US" sz="1600" dirty="0" smtClean="0">
                  <a:solidFill>
                    <a:schemeClr val="bg1"/>
                  </a:solidFill>
                </a:rPr>
                <a:t>W</a:t>
              </a:r>
            </a:p>
            <a:p>
              <a:pPr algn="ctr"/>
              <a:r>
                <a:rPr lang="en-US" sz="1600" dirty="0" err="1" smtClean="0">
                  <a:solidFill>
                    <a:schemeClr val="bg1"/>
                  </a:solidFill>
                </a:rPr>
                <a:t>var</a:t>
              </a:r>
              <a:endParaRPr lang="en-US" sz="1600" dirty="0">
                <a:solidFill>
                  <a:schemeClr val="bg1"/>
                </a:solidFill>
              </a:endParaRPr>
            </a:p>
          </p:txBody>
        </p:sp>
        <p:sp>
          <p:nvSpPr>
            <p:cNvPr id="35" name="Oval 34"/>
            <p:cNvSpPr/>
            <p:nvPr/>
          </p:nvSpPr>
          <p:spPr>
            <a:xfrm>
              <a:off x="4269184" y="4150254"/>
              <a:ext cx="574146" cy="574146"/>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wrap="none" rtlCol="0" anchor="ctr"/>
            <a:lstStyle/>
            <a:p>
              <a:pPr algn="ctr"/>
              <a:r>
                <a:rPr lang="en-US" sz="1600" dirty="0" err="1" smtClean="0">
                  <a:solidFill>
                    <a:schemeClr val="tx2"/>
                  </a:solidFill>
                </a:rPr>
                <a:t>mul</a:t>
              </a:r>
              <a:endParaRPr lang="en-US" sz="1600" dirty="0">
                <a:solidFill>
                  <a:schemeClr val="tx2"/>
                </a:solidFill>
              </a:endParaRPr>
            </a:p>
          </p:txBody>
        </p:sp>
        <p:sp>
          <p:nvSpPr>
            <p:cNvPr id="37" name="Oval 36"/>
            <p:cNvSpPr/>
            <p:nvPr/>
          </p:nvSpPr>
          <p:spPr>
            <a:xfrm>
              <a:off x="4269184" y="5298545"/>
              <a:ext cx="574146" cy="574146"/>
            </a:xfrm>
            <a:prstGeom prst="ellipse">
              <a:avLst/>
            </a:prstGeom>
          </p:spPr>
          <p:style>
            <a:lnRef idx="3">
              <a:schemeClr val="lt1"/>
            </a:lnRef>
            <a:fillRef idx="1">
              <a:schemeClr val="dk1"/>
            </a:fillRef>
            <a:effectRef idx="1">
              <a:schemeClr val="dk1"/>
            </a:effectRef>
            <a:fontRef idx="minor">
              <a:schemeClr val="lt1"/>
            </a:fontRef>
          </p:style>
          <p:txBody>
            <a:bodyPr wrap="none" rtlCol="0" anchor="ctr"/>
            <a:lstStyle/>
            <a:p>
              <a:pPr algn="ctr"/>
              <a:r>
                <a:rPr lang="en-US" sz="1600" dirty="0" smtClean="0">
                  <a:solidFill>
                    <a:schemeClr val="bg1"/>
                  </a:solidFill>
                </a:rPr>
                <a:t>b</a:t>
              </a:r>
            </a:p>
            <a:p>
              <a:pPr algn="ctr"/>
              <a:r>
                <a:rPr lang="en-US" sz="1600" dirty="0" err="1" smtClean="0">
                  <a:solidFill>
                    <a:schemeClr val="bg1"/>
                  </a:solidFill>
                </a:rPr>
                <a:t>var</a:t>
              </a:r>
              <a:endParaRPr lang="en-US" sz="1600" dirty="0">
                <a:solidFill>
                  <a:schemeClr val="bg1"/>
                </a:solidFill>
              </a:endParaRPr>
            </a:p>
          </p:txBody>
        </p:sp>
        <p:sp>
          <p:nvSpPr>
            <p:cNvPr id="38" name="Oval 37"/>
            <p:cNvSpPr/>
            <p:nvPr/>
          </p:nvSpPr>
          <p:spPr>
            <a:xfrm>
              <a:off x="5561012" y="4724400"/>
              <a:ext cx="574146" cy="574146"/>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wrap="none" rtlCol="0" anchor="ctr"/>
            <a:lstStyle/>
            <a:p>
              <a:pPr algn="ctr"/>
              <a:r>
                <a:rPr lang="en-US" sz="1600" dirty="0" smtClean="0">
                  <a:solidFill>
                    <a:schemeClr val="tx2"/>
                  </a:solidFill>
                </a:rPr>
                <a:t>add</a:t>
              </a:r>
              <a:endParaRPr lang="en-US" sz="1600" dirty="0">
                <a:solidFill>
                  <a:schemeClr val="tx2"/>
                </a:solidFill>
              </a:endParaRPr>
            </a:p>
          </p:txBody>
        </p:sp>
        <p:cxnSp>
          <p:nvCxnSpPr>
            <p:cNvPr id="39" name="Straight Arrow Connector 38"/>
            <p:cNvCxnSpPr>
              <a:cxnSpLocks/>
              <a:endCxn id="42" idx="2"/>
            </p:cNvCxnSpPr>
            <p:nvPr/>
          </p:nvCxnSpPr>
          <p:spPr>
            <a:xfrm>
              <a:off x="2152022" y="4437327"/>
              <a:ext cx="717682"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a:cxnSpLocks/>
            </p:cNvCxnSpPr>
            <p:nvPr/>
          </p:nvCxnSpPr>
          <p:spPr>
            <a:xfrm>
              <a:off x="2152022" y="5585618"/>
              <a:ext cx="717682"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a:stCxn id="42" idx="6"/>
              <a:endCxn id="44" idx="2"/>
            </p:cNvCxnSpPr>
            <p:nvPr/>
          </p:nvCxnSpPr>
          <p:spPr>
            <a:xfrm>
              <a:off x="3443850" y="4437327"/>
              <a:ext cx="825334"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a:cxnSpLocks/>
              <a:stCxn id="43" idx="6"/>
              <a:endCxn id="44" idx="3"/>
            </p:cNvCxnSpPr>
            <p:nvPr/>
          </p:nvCxnSpPr>
          <p:spPr>
            <a:xfrm flipV="1">
              <a:off x="3443850" y="4640318"/>
              <a:ext cx="909416" cy="94530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p:cNvCxnSpPr>
              <a:stCxn id="44" idx="6"/>
              <a:endCxn id="48" idx="1"/>
            </p:cNvCxnSpPr>
            <p:nvPr/>
          </p:nvCxnSpPr>
          <p:spPr>
            <a:xfrm>
              <a:off x="4843330" y="4437327"/>
              <a:ext cx="801764" cy="371155"/>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p:cNvCxnSpPr>
              <a:stCxn id="47" idx="6"/>
              <a:endCxn id="48" idx="3"/>
            </p:cNvCxnSpPr>
            <p:nvPr/>
          </p:nvCxnSpPr>
          <p:spPr>
            <a:xfrm flipV="1">
              <a:off x="4843330" y="5214464"/>
              <a:ext cx="801764" cy="371155"/>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p:cNvCxnSpPr>
              <a:cxnSpLocks/>
              <a:stCxn id="48" idx="6"/>
            </p:cNvCxnSpPr>
            <p:nvPr/>
          </p:nvCxnSpPr>
          <p:spPr>
            <a:xfrm>
              <a:off x="6135158" y="5011473"/>
              <a:ext cx="717682"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51" name="Oval 50"/>
            <p:cNvSpPr/>
            <p:nvPr/>
          </p:nvSpPr>
          <p:spPr>
            <a:xfrm>
              <a:off x="2869704" y="2966508"/>
              <a:ext cx="574146" cy="574146"/>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wrap="none" rtlCol="0" anchor="ctr"/>
            <a:lstStyle/>
            <a:p>
              <a:pPr algn="ctr"/>
              <a:r>
                <a:rPr lang="en-US" sz="1600" dirty="0" smtClean="0">
                  <a:solidFill>
                    <a:schemeClr val="tx2"/>
                  </a:solidFill>
                </a:rPr>
                <a:t>Y</a:t>
              </a:r>
              <a:endParaRPr lang="en-US" sz="1600" dirty="0">
                <a:solidFill>
                  <a:schemeClr val="tx2"/>
                </a:solidFill>
              </a:endParaRPr>
            </a:p>
          </p:txBody>
        </p:sp>
        <p:cxnSp>
          <p:nvCxnSpPr>
            <p:cNvPr id="52" name="Straight Arrow Connector 51"/>
            <p:cNvCxnSpPr>
              <a:cxnSpLocks/>
            </p:cNvCxnSpPr>
            <p:nvPr/>
          </p:nvCxnSpPr>
          <p:spPr>
            <a:xfrm>
              <a:off x="2152022" y="3253581"/>
              <a:ext cx="717682"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grpSp>
      <p:grpSp>
        <p:nvGrpSpPr>
          <p:cNvPr id="54" name="Group 53"/>
          <p:cNvGrpSpPr/>
          <p:nvPr/>
        </p:nvGrpSpPr>
        <p:grpSpPr>
          <a:xfrm>
            <a:off x="3289168" y="3200400"/>
            <a:ext cx="8341563" cy="3276600"/>
            <a:chOff x="3289168" y="3200400"/>
            <a:chExt cx="8341563" cy="3276600"/>
          </a:xfrm>
        </p:grpSpPr>
        <p:cxnSp>
          <p:nvCxnSpPr>
            <p:cNvPr id="56" name="Elbow Connector 55"/>
            <p:cNvCxnSpPr>
              <a:stCxn id="63" idx="6"/>
            </p:cNvCxnSpPr>
            <p:nvPr/>
          </p:nvCxnSpPr>
          <p:spPr>
            <a:xfrm>
              <a:off x="3576240" y="3487473"/>
              <a:ext cx="3820357" cy="1087173"/>
            </a:xfrm>
            <a:prstGeom prst="bentConnector2">
              <a:avLst/>
            </a:prstGeom>
            <a:ln w="57150">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7" name="Oval 56"/>
                <p:cNvSpPr/>
                <p:nvPr/>
              </p:nvSpPr>
              <p:spPr>
                <a:xfrm>
                  <a:off x="10672939" y="3200400"/>
                  <a:ext cx="574146" cy="574146"/>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wrap="none" rtlCol="0" anchor="ctr"/>
                <a:lstStyle/>
                <a:p>
                  <a:pPr algn="ctr"/>
                  <a14:m>
                    <m:oMathPara xmlns:m="http://schemas.openxmlformats.org/officeDocument/2006/math">
                      <m:oMathParaPr>
                        <m:jc m:val="right"/>
                      </m:oMathParaPr>
                      <m:oMath xmlns:m="http://schemas.openxmlformats.org/officeDocument/2006/math">
                        <m:r>
                          <a:rPr lang="en-US" sz="1600" i="1" smtClean="0">
                            <a:solidFill>
                              <a:schemeClr val="tx2"/>
                            </a:solidFill>
                            <a:latin typeface="Cambria Math" charset="0"/>
                            <a:ea typeface="Cambria Math" charset="0"/>
                            <a:cs typeface="Cambria Math" charset="0"/>
                          </a:rPr>
                          <m:t>𝛼</m:t>
                        </m:r>
                        <m:r>
                          <a:rPr lang="en-US" sz="1600" b="0" i="1" smtClean="0">
                            <a:solidFill>
                              <a:schemeClr val="tx2"/>
                            </a:solidFill>
                            <a:latin typeface="Cambria Math" charset="0"/>
                            <a:ea typeface="Cambria Math" charset="0"/>
                            <a:cs typeface="Cambria Math" charset="0"/>
                          </a:rPr>
                          <m:t> </m:t>
                        </m:r>
                      </m:oMath>
                    </m:oMathPara>
                  </a14:m>
                  <a:endParaRPr lang="en-US" sz="1600" dirty="0">
                    <a:solidFill>
                      <a:schemeClr val="tx2"/>
                    </a:solidFill>
                  </a:endParaRPr>
                </a:p>
              </p:txBody>
            </p:sp>
          </mc:Choice>
          <mc:Fallback xmlns="">
            <p:sp>
              <p:nvSpPr>
                <p:cNvPr id="57" name="Oval 56"/>
                <p:cNvSpPr>
                  <a:spLocks noRot="1" noChangeAspect="1" noMove="1" noResize="1" noEditPoints="1" noAdjustHandles="1" noChangeArrowheads="1" noChangeShapeType="1" noTextEdit="1"/>
                </p:cNvSpPr>
                <p:nvPr/>
              </p:nvSpPr>
              <p:spPr>
                <a:xfrm>
                  <a:off x="10672939" y="3200400"/>
                  <a:ext cx="574146" cy="574146"/>
                </a:xfrm>
                <a:prstGeom prst="ellipse">
                  <a:avLst/>
                </a:prstGeom>
                <a:blipFill rotWithShape="0">
                  <a:blip r:embed="rId3"/>
                  <a:stretch>
                    <a:fillRect t="-28125" b="-46875"/>
                  </a:stretch>
                </a:blipFill>
              </p:spPr>
              <p:txBody>
                <a:bodyPr/>
                <a:lstStyle/>
                <a:p>
                  <a:r>
                    <a:rPr lang="en-US">
                      <a:noFill/>
                    </a:rPr>
                    <a:t> </a:t>
                  </a:r>
                </a:p>
              </p:txBody>
            </p:sp>
          </mc:Fallback>
        </mc:AlternateContent>
        <p:sp>
          <p:nvSpPr>
            <p:cNvPr id="58" name="Rounded Rectangle 57"/>
            <p:cNvSpPr/>
            <p:nvPr/>
          </p:nvSpPr>
          <p:spPr>
            <a:xfrm>
              <a:off x="7015597" y="4574646"/>
              <a:ext cx="762000" cy="1341437"/>
            </a:xfrm>
            <a:prstGeom prst="roundRect">
              <a:avLst/>
            </a:prstGeom>
            <a:solidFill>
              <a:schemeClr val="accent5">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r>
                <a:rPr lang="en-US" dirty="0" smtClean="0"/>
                <a:t>ost</a:t>
              </a:r>
            </a:p>
            <a:p>
              <a:pPr algn="ctr"/>
              <a:r>
                <a:rPr lang="en-US" dirty="0" smtClean="0"/>
                <a:t>(J)</a:t>
              </a:r>
              <a:endParaRPr lang="en-US" dirty="0"/>
            </a:p>
          </p:txBody>
        </p:sp>
        <p:sp>
          <p:nvSpPr>
            <p:cNvPr id="60" name="Rounded Rectangle 59"/>
            <p:cNvSpPr/>
            <p:nvPr/>
          </p:nvSpPr>
          <p:spPr>
            <a:xfrm rot="5400000">
              <a:off x="8660524" y="4513031"/>
              <a:ext cx="697375" cy="1341437"/>
            </a:xfrm>
            <a:prstGeom prst="round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vert="vert270" wrap="none" rtlCol="0" anchor="ctr"/>
            <a:lstStyle/>
            <a:p>
              <a:pPr algn="ctr"/>
              <a:r>
                <a:rPr lang="en-US" dirty="0" smtClean="0"/>
                <a:t>derivatives</a:t>
              </a:r>
              <a:endParaRPr lang="en-US" dirty="0"/>
            </a:p>
          </p:txBody>
        </p:sp>
        <p:cxnSp>
          <p:nvCxnSpPr>
            <p:cNvPr id="61" name="Straight Arrow Connector 60"/>
            <p:cNvCxnSpPr>
              <a:cxnSpLocks/>
            </p:cNvCxnSpPr>
            <p:nvPr/>
          </p:nvCxnSpPr>
          <p:spPr>
            <a:xfrm flipV="1">
              <a:off x="7777597" y="5220782"/>
              <a:ext cx="540738" cy="968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62" name="Rounded Rectangle 61"/>
            <p:cNvSpPr/>
            <p:nvPr/>
          </p:nvSpPr>
          <p:spPr>
            <a:xfrm rot="5400000">
              <a:off x="10611325" y="4510468"/>
              <a:ext cx="697375" cy="1341437"/>
            </a:xfrm>
            <a:prstGeom prst="round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vert="vert270" wrap="none" rtlCol="0" anchor="ctr"/>
            <a:lstStyle/>
            <a:p>
              <a:pPr algn="ctr"/>
              <a:r>
                <a:rPr lang="en-US" dirty="0" smtClean="0"/>
                <a:t>Weight</a:t>
              </a:r>
            </a:p>
            <a:p>
              <a:pPr algn="ctr"/>
              <a:r>
                <a:rPr lang="en-US" dirty="0" smtClean="0"/>
                <a:t>updates</a:t>
              </a:r>
              <a:endParaRPr lang="en-US" dirty="0"/>
            </a:p>
          </p:txBody>
        </p:sp>
        <p:cxnSp>
          <p:nvCxnSpPr>
            <p:cNvPr id="63" name="Straight Arrow Connector 62"/>
            <p:cNvCxnSpPr>
              <a:cxnSpLocks/>
            </p:cNvCxnSpPr>
            <p:nvPr/>
          </p:nvCxnSpPr>
          <p:spPr>
            <a:xfrm flipV="1">
              <a:off x="9679930" y="5181187"/>
              <a:ext cx="609364" cy="2563"/>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p:cNvCxnSpPr>
              <a:cxnSpLocks/>
            </p:cNvCxnSpPr>
            <p:nvPr/>
          </p:nvCxnSpPr>
          <p:spPr>
            <a:xfrm>
              <a:off x="10960012" y="3774546"/>
              <a:ext cx="0" cy="1057953"/>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65" name="Elbow Connector 64"/>
            <p:cNvCxnSpPr>
              <a:endCxn id="37" idx="4"/>
            </p:cNvCxnSpPr>
            <p:nvPr/>
          </p:nvCxnSpPr>
          <p:spPr>
            <a:xfrm rot="5400000">
              <a:off x="6836236" y="1982806"/>
              <a:ext cx="576709" cy="7670845"/>
            </a:xfrm>
            <a:prstGeom prst="bentConnector3">
              <a:avLst>
                <a:gd name="adj1" fmla="val 163508"/>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p:cNvCxnSpPr>
              <a:cxnSpLocks/>
              <a:endCxn id="42" idx="4"/>
            </p:cNvCxnSpPr>
            <p:nvPr/>
          </p:nvCxnSpPr>
          <p:spPr>
            <a:xfrm flipV="1">
              <a:off x="4688647" y="6106583"/>
              <a:ext cx="0" cy="370417"/>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grpSp>
      <p:sp>
        <p:nvSpPr>
          <p:cNvPr id="3" name="Rounded Rectangle 2"/>
          <p:cNvSpPr/>
          <p:nvPr/>
        </p:nvSpPr>
        <p:spPr>
          <a:xfrm>
            <a:off x="8198516" y="4325095"/>
            <a:ext cx="3581400" cy="1719873"/>
          </a:xfrm>
          <a:prstGeom prst="roundRect">
            <a:avLst/>
          </a:prstGeom>
          <a:noFill/>
          <a:ln w="381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0623149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Optimizer super-class</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Two building block methods:</a:t>
            </a:r>
          </a:p>
          <a:p>
            <a:pPr marL="514350" indent="-514350">
              <a:buFont typeface="+mj-lt"/>
              <a:buAutoNum type="arabicPeriod"/>
            </a:pPr>
            <a:r>
              <a:rPr lang="en-US" dirty="0" err="1" smtClean="0">
                <a:latin typeface="Consolas" charset="0"/>
                <a:ea typeface="Consolas" charset="0"/>
                <a:cs typeface="Consolas" charset="0"/>
              </a:rPr>
              <a:t>compute_gradients</a:t>
            </a:r>
            <a:r>
              <a:rPr lang="en-US" dirty="0" smtClean="0">
                <a:latin typeface="Consolas" charset="0"/>
                <a:ea typeface="Consolas" charset="0"/>
                <a:cs typeface="Consolas" charset="0"/>
              </a:rPr>
              <a:t>()</a:t>
            </a:r>
          </a:p>
          <a:p>
            <a:pPr lvl="1"/>
            <a:r>
              <a:rPr lang="en-US" dirty="0" smtClean="0">
                <a:latin typeface="Euphemia" charset="0"/>
                <a:ea typeface="Euphemia" charset="0"/>
                <a:cs typeface="Euphemia" charset="0"/>
              </a:rPr>
              <a:t>Given a loss and list of Variables, will compute partial derivatives</a:t>
            </a:r>
          </a:p>
          <a:p>
            <a:pPr marL="365760" lvl="1" indent="0">
              <a:spcBef>
                <a:spcPts val="1200"/>
              </a:spcBef>
              <a:spcAft>
                <a:spcPts val="600"/>
              </a:spcAft>
              <a:buNone/>
            </a:pPr>
            <a:r>
              <a:rPr lang="en-US" dirty="0" smtClean="0">
                <a:solidFill>
                  <a:schemeClr val="accent5">
                    <a:lumMod val="75000"/>
                  </a:schemeClr>
                </a:solidFill>
                <a:latin typeface="Consolas" charset="0"/>
                <a:ea typeface="Consolas" charset="0"/>
                <a:cs typeface="Consolas" charset="0"/>
              </a:rPr>
              <a:t>opt = </a:t>
            </a:r>
            <a:r>
              <a:rPr lang="en-US" dirty="0" err="1" smtClean="0">
                <a:solidFill>
                  <a:schemeClr val="accent5">
                    <a:lumMod val="75000"/>
                  </a:schemeClr>
                </a:solidFill>
                <a:latin typeface="Consolas" charset="0"/>
                <a:ea typeface="Consolas" charset="0"/>
                <a:cs typeface="Consolas" charset="0"/>
              </a:rPr>
              <a:t>tf.train.GradientDescentOptimizer</a:t>
            </a:r>
            <a:r>
              <a:rPr lang="en-US" dirty="0" smtClean="0">
                <a:solidFill>
                  <a:schemeClr val="accent5">
                    <a:lumMod val="75000"/>
                  </a:schemeClr>
                </a:solidFill>
                <a:latin typeface="Consolas" charset="0"/>
                <a:ea typeface="Consolas" charset="0"/>
                <a:cs typeface="Consolas" charset="0"/>
              </a:rPr>
              <a:t>(</a:t>
            </a:r>
            <a:r>
              <a:rPr lang="en-US" dirty="0" err="1" smtClean="0">
                <a:solidFill>
                  <a:schemeClr val="accent5">
                    <a:lumMod val="75000"/>
                  </a:schemeClr>
                </a:solidFill>
                <a:latin typeface="Consolas" charset="0"/>
                <a:ea typeface="Consolas" charset="0"/>
                <a:cs typeface="Consolas" charset="0"/>
              </a:rPr>
              <a:t>learning_rate</a:t>
            </a:r>
            <a:r>
              <a:rPr lang="en-US" dirty="0" smtClean="0">
                <a:solidFill>
                  <a:schemeClr val="accent5">
                    <a:lumMod val="75000"/>
                  </a:schemeClr>
                </a:solidFill>
                <a:latin typeface="Consolas" charset="0"/>
                <a:ea typeface="Consolas" charset="0"/>
                <a:cs typeface="Consolas" charset="0"/>
              </a:rPr>
              <a:t>)</a:t>
            </a:r>
            <a:br>
              <a:rPr lang="en-US" dirty="0" smtClean="0">
                <a:solidFill>
                  <a:schemeClr val="accent5">
                    <a:lumMod val="75000"/>
                  </a:schemeClr>
                </a:solidFill>
                <a:latin typeface="Consolas" charset="0"/>
                <a:ea typeface="Consolas" charset="0"/>
                <a:cs typeface="Consolas" charset="0"/>
              </a:rPr>
            </a:br>
            <a:r>
              <a:rPr lang="en-US" dirty="0" smtClean="0">
                <a:solidFill>
                  <a:schemeClr val="accent5">
                    <a:lumMod val="75000"/>
                  </a:schemeClr>
                </a:solidFill>
                <a:latin typeface="Consolas" charset="0"/>
                <a:ea typeface="Consolas" charset="0"/>
                <a:cs typeface="Consolas" charset="0"/>
              </a:rPr>
              <a:t>grads = </a:t>
            </a:r>
            <a:r>
              <a:rPr lang="en-US" dirty="0" err="1" smtClean="0">
                <a:solidFill>
                  <a:schemeClr val="accent5">
                    <a:lumMod val="75000"/>
                  </a:schemeClr>
                </a:solidFill>
                <a:latin typeface="Consolas" charset="0"/>
                <a:ea typeface="Consolas" charset="0"/>
                <a:cs typeface="Consolas" charset="0"/>
              </a:rPr>
              <a:t>opt.compute_gradients</a:t>
            </a:r>
            <a:r>
              <a:rPr lang="en-US" dirty="0" smtClean="0">
                <a:solidFill>
                  <a:schemeClr val="accent5">
                    <a:lumMod val="75000"/>
                  </a:schemeClr>
                </a:solidFill>
                <a:latin typeface="Consolas" charset="0"/>
                <a:ea typeface="Consolas" charset="0"/>
                <a:cs typeface="Consolas" charset="0"/>
              </a:rPr>
              <a:t>(loss, [W, b])</a:t>
            </a:r>
          </a:p>
          <a:p>
            <a:pPr lvl="1"/>
            <a:r>
              <a:rPr lang="en-US" dirty="0" smtClean="0">
                <a:latin typeface="Euphemia" charset="0"/>
                <a:ea typeface="Euphemia" charset="0"/>
                <a:cs typeface="Euphemia" charset="0"/>
              </a:rPr>
              <a:t>You can then perform additional tweaks, if you’d like (not today)</a:t>
            </a:r>
          </a:p>
          <a:p>
            <a:pPr marL="514350" indent="-514350">
              <a:buFont typeface="+mj-lt"/>
              <a:buAutoNum type="arabicPeriod"/>
            </a:pPr>
            <a:r>
              <a:rPr lang="en-US" dirty="0" err="1" smtClean="0">
                <a:latin typeface="Consolas" charset="0"/>
                <a:ea typeface="Consolas" charset="0"/>
                <a:cs typeface="Consolas" charset="0"/>
              </a:rPr>
              <a:t>apply_gradients</a:t>
            </a:r>
            <a:r>
              <a:rPr lang="en-US" dirty="0" smtClean="0">
                <a:latin typeface="Consolas" charset="0"/>
                <a:ea typeface="Consolas" charset="0"/>
                <a:cs typeface="Consolas" charset="0"/>
              </a:rPr>
              <a:t>()</a:t>
            </a:r>
          </a:p>
          <a:p>
            <a:pPr lvl="1"/>
            <a:r>
              <a:rPr lang="en-US" dirty="0" smtClean="0">
                <a:latin typeface="Euphemia" charset="0"/>
                <a:ea typeface="Euphemia" charset="0"/>
                <a:cs typeface="Euphemia" charset="0"/>
              </a:rPr>
              <a:t>Creates an Operation that updates the variables, given gradients</a:t>
            </a:r>
          </a:p>
          <a:p>
            <a:pPr marL="365760" lvl="1" indent="0">
              <a:spcBef>
                <a:spcPts val="1200"/>
              </a:spcBef>
              <a:buNone/>
            </a:pPr>
            <a:r>
              <a:rPr lang="en-US" dirty="0">
                <a:solidFill>
                  <a:schemeClr val="accent5">
                    <a:lumMod val="75000"/>
                  </a:schemeClr>
                </a:solidFill>
                <a:latin typeface="Consolas" charset="0"/>
                <a:ea typeface="Consolas" charset="0"/>
                <a:cs typeface="Consolas" charset="0"/>
              </a:rPr>
              <a:t>t</a:t>
            </a:r>
            <a:r>
              <a:rPr lang="en-US" dirty="0" smtClean="0">
                <a:solidFill>
                  <a:schemeClr val="accent5">
                    <a:lumMod val="75000"/>
                  </a:schemeClr>
                </a:solidFill>
                <a:latin typeface="Consolas" charset="0"/>
                <a:ea typeface="Consolas" charset="0"/>
                <a:cs typeface="Consolas" charset="0"/>
              </a:rPr>
              <a:t>rain = </a:t>
            </a:r>
            <a:r>
              <a:rPr lang="en-US" dirty="0" err="1" smtClean="0">
                <a:solidFill>
                  <a:schemeClr val="accent5">
                    <a:lumMod val="75000"/>
                  </a:schemeClr>
                </a:solidFill>
                <a:latin typeface="Consolas" charset="0"/>
                <a:ea typeface="Consolas" charset="0"/>
                <a:cs typeface="Consolas" charset="0"/>
              </a:rPr>
              <a:t>opt.apply_gradients</a:t>
            </a:r>
            <a:r>
              <a:rPr lang="en-US" dirty="0" smtClean="0">
                <a:solidFill>
                  <a:schemeClr val="accent5">
                    <a:lumMod val="75000"/>
                  </a:schemeClr>
                </a:solidFill>
                <a:latin typeface="Consolas" charset="0"/>
                <a:ea typeface="Consolas" charset="0"/>
                <a:cs typeface="Consolas" charset="0"/>
              </a:rPr>
              <a:t>(grads)</a:t>
            </a:r>
            <a:br>
              <a:rPr lang="en-US" dirty="0" smtClean="0">
                <a:solidFill>
                  <a:schemeClr val="accent5">
                    <a:lumMod val="75000"/>
                  </a:schemeClr>
                </a:solidFill>
                <a:latin typeface="Consolas" charset="0"/>
                <a:ea typeface="Consolas" charset="0"/>
                <a:cs typeface="Consolas" charset="0"/>
              </a:rPr>
            </a:br>
            <a:r>
              <a:rPr lang="mr-IN" dirty="0" smtClean="0">
                <a:solidFill>
                  <a:schemeClr val="accent5">
                    <a:lumMod val="75000"/>
                  </a:schemeClr>
                </a:solidFill>
                <a:latin typeface="Consolas" charset="0"/>
                <a:ea typeface="Consolas" charset="0"/>
                <a:cs typeface="Consolas" charset="0"/>
              </a:rPr>
              <a:t>…</a:t>
            </a:r>
            <a:r>
              <a:rPr lang="en-US" dirty="0">
                <a:solidFill>
                  <a:schemeClr val="accent5">
                    <a:lumMod val="75000"/>
                  </a:schemeClr>
                </a:solidFill>
                <a:latin typeface="Consolas" charset="0"/>
                <a:ea typeface="Consolas" charset="0"/>
                <a:cs typeface="Consolas" charset="0"/>
              </a:rPr>
              <a:t/>
            </a:r>
            <a:br>
              <a:rPr lang="en-US" dirty="0">
                <a:solidFill>
                  <a:schemeClr val="accent5">
                    <a:lumMod val="75000"/>
                  </a:schemeClr>
                </a:solidFill>
                <a:latin typeface="Consolas" charset="0"/>
                <a:ea typeface="Consolas" charset="0"/>
                <a:cs typeface="Consolas" charset="0"/>
              </a:rPr>
            </a:br>
            <a:r>
              <a:rPr lang="en-US" dirty="0" err="1" smtClean="0">
                <a:solidFill>
                  <a:schemeClr val="accent5">
                    <a:lumMod val="75000"/>
                  </a:schemeClr>
                </a:solidFill>
                <a:latin typeface="Consolas" charset="0"/>
                <a:ea typeface="Consolas" charset="0"/>
                <a:cs typeface="Consolas" charset="0"/>
              </a:rPr>
              <a:t>sess.run</a:t>
            </a:r>
            <a:r>
              <a:rPr lang="en-US" dirty="0" smtClean="0">
                <a:solidFill>
                  <a:schemeClr val="accent5">
                    <a:lumMod val="75000"/>
                  </a:schemeClr>
                </a:solidFill>
                <a:latin typeface="Consolas" charset="0"/>
                <a:ea typeface="Consolas" charset="0"/>
                <a:cs typeface="Consolas" charset="0"/>
              </a:rPr>
              <a:t>(train, </a:t>
            </a:r>
            <a:r>
              <a:rPr lang="en-US" dirty="0" err="1" smtClean="0">
                <a:solidFill>
                  <a:schemeClr val="accent5">
                    <a:lumMod val="75000"/>
                  </a:schemeClr>
                </a:solidFill>
                <a:latin typeface="Consolas" charset="0"/>
                <a:ea typeface="Consolas" charset="0"/>
                <a:cs typeface="Consolas" charset="0"/>
              </a:rPr>
              <a:t>feed_dict</a:t>
            </a:r>
            <a:r>
              <a:rPr lang="en-US" dirty="0" smtClean="0">
                <a:solidFill>
                  <a:schemeClr val="accent5">
                    <a:lumMod val="75000"/>
                  </a:schemeClr>
                </a:solidFill>
                <a:latin typeface="Consolas" charset="0"/>
                <a:ea typeface="Consolas" charset="0"/>
                <a:cs typeface="Consolas" charset="0"/>
              </a:rPr>
              <a:t>)</a:t>
            </a:r>
            <a:endParaRPr lang="en-US" dirty="0">
              <a:solidFill>
                <a:schemeClr val="accent5">
                  <a:lumMod val="75000"/>
                </a:schemeClr>
              </a:solidFill>
              <a:latin typeface="Euphemia" charset="0"/>
              <a:ea typeface="Euphemia" charset="0"/>
              <a:cs typeface="Euphemia" charset="0"/>
            </a:endParaRPr>
          </a:p>
        </p:txBody>
      </p:sp>
    </p:spTree>
    <p:extLst>
      <p:ext uri="{BB962C8B-B14F-4D97-AF65-F5344CB8AC3E}">
        <p14:creationId xmlns:p14="http://schemas.microsoft.com/office/powerpoint/2010/main" val="89332723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Helper function: </a:t>
            </a:r>
            <a:r>
              <a:rPr lang="en-US" dirty="0" err="1" smtClean="0">
                <a:solidFill>
                  <a:schemeClr val="accent5">
                    <a:lumMod val="75000"/>
                  </a:schemeClr>
                </a:solidFill>
                <a:latin typeface="Consolas" charset="0"/>
                <a:ea typeface="Consolas" charset="0"/>
                <a:cs typeface="Consolas" charset="0"/>
              </a:rPr>
              <a:t>Optimizer.minimize</a:t>
            </a:r>
            <a:r>
              <a:rPr lang="en-US" dirty="0" smtClean="0">
                <a:solidFill>
                  <a:schemeClr val="accent5">
                    <a:lumMod val="75000"/>
                  </a:schemeClr>
                </a:solidFill>
                <a:latin typeface="Consolas" charset="0"/>
                <a:ea typeface="Consolas" charset="0"/>
                <a:cs typeface="Consolas" charset="0"/>
              </a:rPr>
              <a:t>()</a:t>
            </a:r>
            <a:endParaRPr lang="en-US" dirty="0">
              <a:solidFill>
                <a:schemeClr val="accent5">
                  <a:lumMod val="75000"/>
                </a:schemeClr>
              </a:solidFill>
              <a:latin typeface="Consolas" charset="0"/>
              <a:ea typeface="Consolas" charset="0"/>
              <a:cs typeface="Consolas" charset="0"/>
            </a:endParaRPr>
          </a:p>
        </p:txBody>
      </p:sp>
      <p:sp>
        <p:nvSpPr>
          <p:cNvPr id="3" name="Content Placeholder 2"/>
          <p:cNvSpPr>
            <a:spLocks noGrp="1"/>
          </p:cNvSpPr>
          <p:nvPr>
            <p:ph idx="1"/>
          </p:nvPr>
        </p:nvSpPr>
        <p:spPr>
          <a:xfrm>
            <a:off x="1593436" y="1600200"/>
            <a:ext cx="9987376" cy="4572000"/>
          </a:xfrm>
        </p:spPr>
        <p:txBody>
          <a:bodyPr/>
          <a:lstStyle/>
          <a:p>
            <a:r>
              <a:rPr lang="en-US" dirty="0" err="1">
                <a:latin typeface="Consolas" charset="0"/>
                <a:ea typeface="Consolas" charset="0"/>
                <a:cs typeface="Consolas" charset="0"/>
              </a:rPr>
              <a:t>o</a:t>
            </a:r>
            <a:r>
              <a:rPr lang="en-US" dirty="0" err="1" smtClean="0">
                <a:latin typeface="Consolas" charset="0"/>
                <a:ea typeface="Consolas" charset="0"/>
                <a:cs typeface="Consolas" charset="0"/>
              </a:rPr>
              <a:t>pt.minimize</a:t>
            </a:r>
            <a:r>
              <a:rPr lang="en-US" dirty="0" smtClean="0">
                <a:latin typeface="Consolas" charset="0"/>
                <a:ea typeface="Consolas" charset="0"/>
                <a:cs typeface="Consolas" charset="0"/>
              </a:rPr>
              <a:t>()</a:t>
            </a:r>
          </a:p>
          <a:p>
            <a:pPr lvl="1"/>
            <a:r>
              <a:rPr lang="en-US" dirty="0" smtClean="0">
                <a:latin typeface="Euphemia" charset="0"/>
                <a:ea typeface="Euphemia" charset="0"/>
                <a:cs typeface="Euphemia" charset="0"/>
              </a:rPr>
              <a:t>Given a loss target, creates an </a:t>
            </a:r>
            <a:r>
              <a:rPr lang="en-US" dirty="0" smtClean="0">
                <a:latin typeface="Consolas" charset="0"/>
                <a:ea typeface="Consolas" charset="0"/>
                <a:cs typeface="Consolas" charset="0"/>
              </a:rPr>
              <a:t>Operation</a:t>
            </a:r>
            <a:r>
              <a:rPr lang="en-US" dirty="0" smtClean="0">
                <a:latin typeface="Euphemia" charset="0"/>
                <a:ea typeface="Euphemia" charset="0"/>
                <a:cs typeface="Euphemia" charset="0"/>
              </a:rPr>
              <a:t> that automatically computes and applies gradients for </a:t>
            </a:r>
            <a:r>
              <a:rPr lang="en-US" i="1" dirty="0" smtClean="0">
                <a:latin typeface="Euphemia" charset="0"/>
                <a:ea typeface="Euphemia" charset="0"/>
                <a:cs typeface="Euphemia" charset="0"/>
              </a:rPr>
              <a:t>all trainable Variables </a:t>
            </a:r>
            <a:r>
              <a:rPr lang="en-US" dirty="0" smtClean="0">
                <a:latin typeface="Euphemia" charset="0"/>
                <a:ea typeface="Euphemia" charset="0"/>
                <a:cs typeface="Euphemia" charset="0"/>
              </a:rPr>
              <a:t>that affect the loss</a:t>
            </a:r>
          </a:p>
          <a:p>
            <a:pPr lvl="1"/>
            <a:r>
              <a:rPr lang="en-US" dirty="0" smtClean="0">
                <a:latin typeface="Euphemia" charset="0"/>
                <a:ea typeface="Euphemia" charset="0"/>
                <a:cs typeface="Euphemia" charset="0"/>
              </a:rPr>
              <a:t>Same as using </a:t>
            </a:r>
            <a:r>
              <a:rPr lang="en-US" dirty="0" err="1" smtClean="0">
                <a:latin typeface="Consolas" charset="0"/>
                <a:ea typeface="Consolas" charset="0"/>
                <a:cs typeface="Consolas" charset="0"/>
              </a:rPr>
              <a:t>compute_gradients</a:t>
            </a:r>
            <a:r>
              <a:rPr lang="en-US" dirty="0" smtClean="0">
                <a:latin typeface="Euphemia" charset="0"/>
                <a:ea typeface="Euphemia" charset="0"/>
                <a:cs typeface="Euphemia" charset="0"/>
              </a:rPr>
              <a:t> and </a:t>
            </a:r>
            <a:r>
              <a:rPr lang="en-US" dirty="0" err="1" smtClean="0">
                <a:latin typeface="Consolas" charset="0"/>
                <a:ea typeface="Consolas" charset="0"/>
                <a:cs typeface="Consolas" charset="0"/>
              </a:rPr>
              <a:t>apply_gradients</a:t>
            </a:r>
            <a:r>
              <a:rPr lang="en-US" dirty="0" smtClean="0">
                <a:latin typeface="Euphemia" charset="0"/>
                <a:ea typeface="Euphemia" charset="0"/>
                <a:cs typeface="Euphemia" charset="0"/>
              </a:rPr>
              <a:t> without adjusting the gradient values</a:t>
            </a:r>
          </a:p>
          <a:p>
            <a:pPr lvl="1"/>
            <a:r>
              <a:rPr lang="en-US" dirty="0" smtClean="0">
                <a:latin typeface="Euphemia" charset="0"/>
                <a:ea typeface="Euphemia" charset="0"/>
                <a:cs typeface="Euphemia" charset="0"/>
              </a:rPr>
              <a:t>Easiest- use this unless you are manually adjusting gradients</a:t>
            </a:r>
          </a:p>
          <a:p>
            <a:pPr lvl="1"/>
            <a:endParaRPr lang="en-US" dirty="0">
              <a:latin typeface="Euphemia" charset="0"/>
              <a:ea typeface="Euphemia" charset="0"/>
              <a:cs typeface="Euphemia" charset="0"/>
            </a:endParaRPr>
          </a:p>
          <a:p>
            <a:pPr marL="365760" lvl="1" indent="0">
              <a:buNone/>
            </a:pPr>
            <a:r>
              <a:rPr lang="en-US" sz="1800" dirty="0">
                <a:latin typeface="Consolas" charset="0"/>
                <a:ea typeface="Consolas" charset="0"/>
                <a:cs typeface="Consolas" charset="0"/>
              </a:rPr>
              <a:t>t</a:t>
            </a:r>
            <a:r>
              <a:rPr lang="en-US" sz="1800" dirty="0" smtClean="0">
                <a:latin typeface="Consolas" charset="0"/>
                <a:ea typeface="Consolas" charset="0"/>
                <a:cs typeface="Consolas" charset="0"/>
              </a:rPr>
              <a:t>rain = </a:t>
            </a:r>
            <a:r>
              <a:rPr lang="en-US" sz="1800" dirty="0" err="1" smtClean="0">
                <a:latin typeface="Consolas" charset="0"/>
                <a:ea typeface="Consolas" charset="0"/>
                <a:cs typeface="Consolas" charset="0"/>
              </a:rPr>
              <a:t>tf.train.GradientDescentOptimizer</a:t>
            </a:r>
            <a:r>
              <a:rPr lang="en-US" sz="1800" dirty="0" smtClean="0">
                <a:latin typeface="Consolas" charset="0"/>
                <a:ea typeface="Consolas" charset="0"/>
                <a:cs typeface="Consolas" charset="0"/>
              </a:rPr>
              <a:t>(</a:t>
            </a:r>
            <a:r>
              <a:rPr lang="en-US" sz="1800" dirty="0" err="1" smtClean="0">
                <a:latin typeface="Consolas" charset="0"/>
                <a:ea typeface="Consolas" charset="0"/>
                <a:cs typeface="Consolas" charset="0"/>
              </a:rPr>
              <a:t>learning_rate</a:t>
            </a:r>
            <a:r>
              <a:rPr lang="en-US" sz="1800" dirty="0" smtClean="0">
                <a:latin typeface="Consolas" charset="0"/>
                <a:ea typeface="Consolas" charset="0"/>
                <a:cs typeface="Consolas" charset="0"/>
              </a:rPr>
              <a:t>).minimize(loss)</a:t>
            </a:r>
          </a:p>
          <a:p>
            <a:pPr marL="365760" lvl="1" indent="0">
              <a:buNone/>
            </a:pPr>
            <a:r>
              <a:rPr lang="mr-IN" sz="1800" dirty="0" smtClean="0">
                <a:latin typeface="Consolas" charset="0"/>
                <a:ea typeface="Consolas" charset="0"/>
                <a:cs typeface="Consolas" charset="0"/>
              </a:rPr>
              <a:t>…</a:t>
            </a:r>
            <a:endParaRPr lang="en-US" sz="1800" dirty="0" smtClean="0">
              <a:latin typeface="Consolas" charset="0"/>
              <a:ea typeface="Consolas" charset="0"/>
              <a:cs typeface="Consolas" charset="0"/>
            </a:endParaRPr>
          </a:p>
          <a:p>
            <a:pPr marL="365760" lvl="1" indent="0">
              <a:buNone/>
            </a:pPr>
            <a:r>
              <a:rPr lang="en-US" sz="1800" dirty="0" err="1" smtClean="0">
                <a:latin typeface="Consolas" charset="0"/>
                <a:ea typeface="Consolas" charset="0"/>
                <a:cs typeface="Consolas" charset="0"/>
              </a:rPr>
              <a:t>sess.run</a:t>
            </a:r>
            <a:r>
              <a:rPr lang="en-US" sz="1800" dirty="0" smtClean="0">
                <a:latin typeface="Consolas" charset="0"/>
                <a:ea typeface="Consolas" charset="0"/>
                <a:cs typeface="Consolas" charset="0"/>
              </a:rPr>
              <a:t>(train, </a:t>
            </a:r>
            <a:r>
              <a:rPr lang="en-US" sz="1800" dirty="0" err="1" smtClean="0">
                <a:latin typeface="Consolas" charset="0"/>
                <a:ea typeface="Consolas" charset="0"/>
                <a:cs typeface="Consolas" charset="0"/>
              </a:rPr>
              <a:t>feed_dict</a:t>
            </a:r>
            <a:r>
              <a:rPr lang="en-US" sz="1800" dirty="0" smtClean="0">
                <a:latin typeface="Consolas" charset="0"/>
                <a:ea typeface="Consolas" charset="0"/>
                <a:cs typeface="Consolas" charset="0"/>
              </a:rPr>
              <a:t>)</a:t>
            </a:r>
            <a:endParaRPr lang="en-US" sz="1800" dirty="0">
              <a:latin typeface="Consolas" charset="0"/>
              <a:ea typeface="Consolas" charset="0"/>
              <a:cs typeface="Consolas" charset="0"/>
            </a:endParaRPr>
          </a:p>
        </p:txBody>
      </p:sp>
    </p:spTree>
    <p:extLst>
      <p:ext uri="{BB962C8B-B14F-4D97-AF65-F5344CB8AC3E}">
        <p14:creationId xmlns:p14="http://schemas.microsoft.com/office/powerpoint/2010/main" val="36975380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7" name="Straight Arrow Connector 36"/>
          <p:cNvCxnSpPr>
            <a:cxnSpLocks/>
          </p:cNvCxnSpPr>
          <p:nvPr/>
        </p:nvCxnSpPr>
        <p:spPr>
          <a:xfrm flipV="1">
            <a:off x="9966616" y="5164321"/>
            <a:ext cx="540738" cy="968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dirty="0" smtClean="0"/>
              <a:t>How does </a:t>
            </a:r>
            <a:r>
              <a:rPr lang="en-US" dirty="0" err="1" smtClean="0">
                <a:latin typeface="Consolas" charset="0"/>
                <a:ea typeface="Consolas" charset="0"/>
                <a:cs typeface="Consolas" charset="0"/>
              </a:rPr>
              <a:t>tf.Optimizer</a:t>
            </a:r>
            <a:r>
              <a:rPr lang="en-US" dirty="0" smtClean="0"/>
              <a:t> work?</a:t>
            </a:r>
            <a:endParaRPr lang="en-US" dirty="0"/>
          </a:p>
        </p:txBody>
      </p:sp>
      <p:sp>
        <p:nvSpPr>
          <p:cNvPr id="3" name="Content Placeholder 2"/>
          <p:cNvSpPr>
            <a:spLocks noGrp="1"/>
          </p:cNvSpPr>
          <p:nvPr>
            <p:ph idx="1"/>
          </p:nvPr>
        </p:nvSpPr>
        <p:spPr>
          <a:xfrm>
            <a:off x="1593436" y="1600200"/>
            <a:ext cx="9782801" cy="685800"/>
          </a:xfrm>
        </p:spPr>
        <p:txBody>
          <a:bodyPr/>
          <a:lstStyle/>
          <a:p>
            <a:r>
              <a:rPr lang="en-US" smtClean="0"/>
              <a:t>Let’s look at the model up through the loss function</a:t>
            </a:r>
            <a:endParaRPr lang="en-US" dirty="0"/>
          </a:p>
        </p:txBody>
      </p:sp>
      <p:sp>
        <p:nvSpPr>
          <p:cNvPr id="5" name="Oval 4"/>
          <p:cNvSpPr/>
          <p:nvPr/>
        </p:nvSpPr>
        <p:spPr>
          <a:xfrm>
            <a:off x="3187202" y="4307946"/>
            <a:ext cx="574146" cy="574146"/>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wrap="none" rtlCol="0" anchor="ctr"/>
          <a:lstStyle/>
          <a:p>
            <a:pPr algn="ctr"/>
            <a:r>
              <a:rPr lang="en-US" sz="1600" dirty="0" smtClean="0">
                <a:solidFill>
                  <a:schemeClr val="tx2"/>
                </a:solidFill>
              </a:rPr>
              <a:t>X</a:t>
            </a:r>
            <a:endParaRPr lang="en-US" sz="1600" dirty="0">
              <a:solidFill>
                <a:schemeClr val="tx2"/>
              </a:solidFill>
            </a:endParaRPr>
          </a:p>
        </p:txBody>
      </p:sp>
      <p:sp>
        <p:nvSpPr>
          <p:cNvPr id="6" name="Oval 5"/>
          <p:cNvSpPr/>
          <p:nvPr/>
        </p:nvSpPr>
        <p:spPr>
          <a:xfrm>
            <a:off x="3187202" y="5456237"/>
            <a:ext cx="574146" cy="574146"/>
          </a:xfrm>
          <a:prstGeom prst="ellipse">
            <a:avLst/>
          </a:prstGeom>
          <a:ln>
            <a:solidFill>
              <a:schemeClr val="bg1"/>
            </a:solidFill>
          </a:ln>
        </p:spPr>
        <p:style>
          <a:lnRef idx="3">
            <a:schemeClr val="lt1"/>
          </a:lnRef>
          <a:fillRef idx="1">
            <a:schemeClr val="dk1"/>
          </a:fillRef>
          <a:effectRef idx="1">
            <a:schemeClr val="dk1"/>
          </a:effectRef>
          <a:fontRef idx="minor">
            <a:schemeClr val="lt1"/>
          </a:fontRef>
        </p:style>
        <p:txBody>
          <a:bodyPr wrap="none" rtlCol="0" anchor="ctr"/>
          <a:lstStyle/>
          <a:p>
            <a:pPr algn="ctr"/>
            <a:r>
              <a:rPr lang="en-US" sz="1600" dirty="0" smtClean="0">
                <a:solidFill>
                  <a:schemeClr val="bg1"/>
                </a:solidFill>
              </a:rPr>
              <a:t>W</a:t>
            </a:r>
          </a:p>
          <a:p>
            <a:pPr algn="ctr"/>
            <a:r>
              <a:rPr lang="en-US" sz="1600" dirty="0" err="1" smtClean="0">
                <a:solidFill>
                  <a:schemeClr val="bg1"/>
                </a:solidFill>
              </a:rPr>
              <a:t>var</a:t>
            </a:r>
            <a:endParaRPr lang="en-US" sz="1600" dirty="0">
              <a:solidFill>
                <a:schemeClr val="bg1"/>
              </a:solidFill>
            </a:endParaRPr>
          </a:p>
        </p:txBody>
      </p:sp>
      <p:sp>
        <p:nvSpPr>
          <p:cNvPr id="8" name="Oval 7"/>
          <p:cNvSpPr/>
          <p:nvPr/>
        </p:nvSpPr>
        <p:spPr>
          <a:xfrm>
            <a:off x="4586682" y="5456237"/>
            <a:ext cx="574146" cy="574146"/>
          </a:xfrm>
          <a:prstGeom prst="ellipse">
            <a:avLst/>
          </a:prstGeom>
        </p:spPr>
        <p:style>
          <a:lnRef idx="3">
            <a:schemeClr val="lt1"/>
          </a:lnRef>
          <a:fillRef idx="1">
            <a:schemeClr val="dk1"/>
          </a:fillRef>
          <a:effectRef idx="1">
            <a:schemeClr val="dk1"/>
          </a:effectRef>
          <a:fontRef idx="minor">
            <a:schemeClr val="lt1"/>
          </a:fontRef>
        </p:style>
        <p:txBody>
          <a:bodyPr wrap="none" rtlCol="0" anchor="ctr"/>
          <a:lstStyle/>
          <a:p>
            <a:pPr algn="ctr"/>
            <a:r>
              <a:rPr lang="en-US" sz="1600" dirty="0" smtClean="0">
                <a:solidFill>
                  <a:schemeClr val="bg1"/>
                </a:solidFill>
              </a:rPr>
              <a:t>b</a:t>
            </a:r>
          </a:p>
          <a:p>
            <a:pPr algn="ctr"/>
            <a:r>
              <a:rPr lang="en-US" sz="1600" dirty="0" err="1" smtClean="0">
                <a:solidFill>
                  <a:schemeClr val="bg1"/>
                </a:solidFill>
              </a:rPr>
              <a:t>var</a:t>
            </a:r>
            <a:endParaRPr lang="en-US" sz="1600" dirty="0">
              <a:solidFill>
                <a:schemeClr val="bg1"/>
              </a:solidFill>
            </a:endParaRPr>
          </a:p>
        </p:txBody>
      </p:sp>
      <p:sp>
        <p:nvSpPr>
          <p:cNvPr id="9" name="Oval 8"/>
          <p:cNvSpPr/>
          <p:nvPr/>
        </p:nvSpPr>
        <p:spPr>
          <a:xfrm>
            <a:off x="5878510" y="4882092"/>
            <a:ext cx="574146" cy="574146"/>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wrap="none" rtlCol="0" anchor="ctr"/>
          <a:lstStyle/>
          <a:p>
            <a:pPr algn="ctr"/>
            <a:r>
              <a:rPr lang="en-US" sz="1600" dirty="0" smtClean="0">
                <a:solidFill>
                  <a:schemeClr val="tx2"/>
                </a:solidFill>
              </a:rPr>
              <a:t>add</a:t>
            </a:r>
            <a:endParaRPr lang="en-US" sz="1600" dirty="0">
              <a:solidFill>
                <a:schemeClr val="tx2"/>
              </a:solidFill>
            </a:endParaRPr>
          </a:p>
        </p:txBody>
      </p:sp>
      <p:cxnSp>
        <p:nvCxnSpPr>
          <p:cNvPr id="10" name="Straight Arrow Connector 9"/>
          <p:cNvCxnSpPr>
            <a:cxnSpLocks/>
          </p:cNvCxnSpPr>
          <p:nvPr/>
        </p:nvCxnSpPr>
        <p:spPr>
          <a:xfrm>
            <a:off x="2469520" y="4595019"/>
            <a:ext cx="717682"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a:cxnSpLocks/>
          </p:cNvCxnSpPr>
          <p:nvPr/>
        </p:nvCxnSpPr>
        <p:spPr>
          <a:xfrm>
            <a:off x="2469520" y="5743310"/>
            <a:ext cx="717682"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a:off x="3761348" y="4595019"/>
            <a:ext cx="825334"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a:cxnSpLocks/>
          </p:cNvCxnSpPr>
          <p:nvPr/>
        </p:nvCxnSpPr>
        <p:spPr>
          <a:xfrm flipV="1">
            <a:off x="3761348" y="4798010"/>
            <a:ext cx="909416" cy="94530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a:off x="5160828" y="4595019"/>
            <a:ext cx="801764" cy="371155"/>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flipV="1">
            <a:off x="5160828" y="5372156"/>
            <a:ext cx="801764" cy="371155"/>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cxnSpLocks/>
          </p:cNvCxnSpPr>
          <p:nvPr/>
        </p:nvCxnSpPr>
        <p:spPr>
          <a:xfrm>
            <a:off x="6452656" y="5169165"/>
            <a:ext cx="717682"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17" name="Oval 16"/>
          <p:cNvSpPr/>
          <p:nvPr/>
        </p:nvSpPr>
        <p:spPr>
          <a:xfrm>
            <a:off x="3187202" y="3124200"/>
            <a:ext cx="574146" cy="574146"/>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wrap="none" rtlCol="0" anchor="ctr"/>
          <a:lstStyle/>
          <a:p>
            <a:pPr algn="ctr"/>
            <a:r>
              <a:rPr lang="en-US" sz="1600" dirty="0" smtClean="0">
                <a:solidFill>
                  <a:schemeClr val="tx2"/>
                </a:solidFill>
              </a:rPr>
              <a:t>Y</a:t>
            </a:r>
            <a:endParaRPr lang="en-US" sz="1600" dirty="0">
              <a:solidFill>
                <a:schemeClr val="tx2"/>
              </a:solidFill>
            </a:endParaRPr>
          </a:p>
        </p:txBody>
      </p:sp>
      <p:cxnSp>
        <p:nvCxnSpPr>
          <p:cNvPr id="18" name="Straight Arrow Connector 17"/>
          <p:cNvCxnSpPr>
            <a:cxnSpLocks/>
          </p:cNvCxnSpPr>
          <p:nvPr/>
        </p:nvCxnSpPr>
        <p:spPr>
          <a:xfrm>
            <a:off x="2469520" y="3411273"/>
            <a:ext cx="717682"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20" name="Elbow Connector 19"/>
          <p:cNvCxnSpPr>
            <a:endCxn id="31" idx="0"/>
          </p:cNvCxnSpPr>
          <p:nvPr/>
        </p:nvCxnSpPr>
        <p:spPr>
          <a:xfrm>
            <a:off x="3761348" y="3411274"/>
            <a:ext cx="3696063" cy="1458382"/>
          </a:xfrm>
          <a:prstGeom prst="bentConnector2">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22" name="Rounded Rectangle 21"/>
          <p:cNvSpPr/>
          <p:nvPr/>
        </p:nvSpPr>
        <p:spPr>
          <a:xfrm>
            <a:off x="6932612" y="4419600"/>
            <a:ext cx="3309308" cy="1407847"/>
          </a:xfrm>
          <a:prstGeom prst="roundRect">
            <a:avLst/>
          </a:prstGeom>
          <a:noFill/>
          <a:ln w="28575">
            <a:solidFill>
              <a:schemeClr val="accent5">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tIns="0" rtlCol="0" anchor="t" anchorCtr="0"/>
          <a:lstStyle/>
          <a:p>
            <a:pPr algn="ctr"/>
            <a:r>
              <a:rPr lang="en-US">
                <a:solidFill>
                  <a:schemeClr val="accent5">
                    <a:lumMod val="75000"/>
                  </a:schemeClr>
                </a:solidFill>
              </a:rPr>
              <a:t>c</a:t>
            </a:r>
            <a:r>
              <a:rPr lang="en-US" smtClean="0">
                <a:solidFill>
                  <a:schemeClr val="accent5">
                    <a:lumMod val="75000"/>
                  </a:schemeClr>
                </a:solidFill>
              </a:rPr>
              <a:t>ost (J</a:t>
            </a:r>
            <a:r>
              <a:rPr lang="en-US" dirty="0" smtClean="0">
                <a:solidFill>
                  <a:schemeClr val="accent5">
                    <a:lumMod val="75000"/>
                  </a:schemeClr>
                </a:solidFill>
              </a:rPr>
              <a:t>)</a:t>
            </a:r>
            <a:endParaRPr lang="en-US" dirty="0">
              <a:solidFill>
                <a:schemeClr val="accent5">
                  <a:lumMod val="75000"/>
                </a:schemeClr>
              </a:solidFill>
            </a:endParaRPr>
          </a:p>
        </p:txBody>
      </p:sp>
      <p:cxnSp>
        <p:nvCxnSpPr>
          <p:cNvPr id="24" name="Straight Arrow Connector 23"/>
          <p:cNvCxnSpPr>
            <a:cxnSpLocks/>
          </p:cNvCxnSpPr>
          <p:nvPr/>
        </p:nvCxnSpPr>
        <p:spPr>
          <a:xfrm flipV="1">
            <a:off x="7744484" y="5169165"/>
            <a:ext cx="540738" cy="968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31" name="Oval 30"/>
          <p:cNvSpPr/>
          <p:nvPr/>
        </p:nvSpPr>
        <p:spPr>
          <a:xfrm>
            <a:off x="7170338" y="4869656"/>
            <a:ext cx="574146" cy="574146"/>
          </a:xfrm>
          <a:prstGeom prst="ellipse">
            <a:avLst/>
          </a:prstGeom>
          <a:solidFill>
            <a:schemeClr val="accent5">
              <a:lumMod val="60000"/>
              <a:lumOff val="40000"/>
            </a:schemeClr>
          </a:solidFill>
          <a:ln>
            <a:solidFill>
              <a:schemeClr val="accent5">
                <a:lumMod val="75000"/>
              </a:schemeClr>
            </a:solidFill>
          </a:ln>
        </p:spPr>
        <p:style>
          <a:lnRef idx="2">
            <a:schemeClr val="accent4">
              <a:shade val="50000"/>
            </a:schemeClr>
          </a:lnRef>
          <a:fillRef idx="1">
            <a:schemeClr val="accent4"/>
          </a:fillRef>
          <a:effectRef idx="0">
            <a:schemeClr val="accent4"/>
          </a:effectRef>
          <a:fontRef idx="minor">
            <a:schemeClr val="lt1"/>
          </a:fontRef>
        </p:style>
        <p:txBody>
          <a:bodyPr wrap="none" rtlCol="0" anchor="ctr"/>
          <a:lstStyle/>
          <a:p>
            <a:pPr algn="ctr"/>
            <a:r>
              <a:rPr lang="en-US" sz="1600" dirty="0" smtClean="0">
                <a:solidFill>
                  <a:schemeClr val="tx2"/>
                </a:solidFill>
              </a:rPr>
              <a:t>minus</a:t>
            </a:r>
            <a:endParaRPr lang="en-US" sz="1600" dirty="0">
              <a:solidFill>
                <a:schemeClr val="tx2"/>
              </a:solidFill>
            </a:endParaRPr>
          </a:p>
        </p:txBody>
      </p:sp>
      <p:sp>
        <p:nvSpPr>
          <p:cNvPr id="33" name="TextBox 32"/>
          <p:cNvSpPr txBox="1"/>
          <p:nvPr/>
        </p:nvSpPr>
        <p:spPr>
          <a:xfrm>
            <a:off x="6251015" y="4695063"/>
            <a:ext cx="681597" cy="307777"/>
          </a:xfrm>
          <a:prstGeom prst="rect">
            <a:avLst/>
          </a:prstGeom>
          <a:noFill/>
        </p:spPr>
        <p:txBody>
          <a:bodyPr wrap="none" rtlCol="0">
            <a:spAutoFit/>
          </a:bodyPr>
          <a:lstStyle/>
          <a:p>
            <a:r>
              <a:rPr lang="en-US" sz="1400" dirty="0">
                <a:latin typeface="Consolas" charset="0"/>
                <a:ea typeface="Consolas" charset="0"/>
                <a:cs typeface="Consolas" charset="0"/>
              </a:rPr>
              <a:t>y</a:t>
            </a:r>
            <a:r>
              <a:rPr lang="en-US" sz="1400" dirty="0" smtClean="0">
                <a:latin typeface="Consolas" charset="0"/>
                <a:ea typeface="Consolas" charset="0"/>
                <a:cs typeface="Consolas" charset="0"/>
              </a:rPr>
              <a:t>_hat</a:t>
            </a:r>
            <a:endParaRPr lang="en-US" sz="1400" dirty="0">
              <a:latin typeface="Consolas" charset="0"/>
              <a:ea typeface="Consolas" charset="0"/>
              <a:cs typeface="Consolas" charset="0"/>
            </a:endParaRPr>
          </a:p>
        </p:txBody>
      </p:sp>
      <p:sp>
        <p:nvSpPr>
          <p:cNvPr id="34" name="Oval 33"/>
          <p:cNvSpPr/>
          <p:nvPr/>
        </p:nvSpPr>
        <p:spPr>
          <a:xfrm>
            <a:off x="8282745" y="4869656"/>
            <a:ext cx="574146" cy="574146"/>
          </a:xfrm>
          <a:prstGeom prst="ellipse">
            <a:avLst/>
          </a:prstGeom>
          <a:solidFill>
            <a:srgbClr val="197709"/>
          </a:solidFill>
          <a:ln>
            <a:solidFill>
              <a:schemeClr val="accent2">
                <a:lumMod val="50000"/>
              </a:schemeClr>
            </a:solidFill>
          </a:ln>
        </p:spPr>
        <p:style>
          <a:lnRef idx="2">
            <a:schemeClr val="accent4">
              <a:shade val="50000"/>
            </a:schemeClr>
          </a:lnRef>
          <a:fillRef idx="1">
            <a:schemeClr val="accent4"/>
          </a:fillRef>
          <a:effectRef idx="0">
            <a:schemeClr val="accent4"/>
          </a:effectRef>
          <a:fontRef idx="minor">
            <a:schemeClr val="lt1"/>
          </a:fontRef>
        </p:style>
        <p:txBody>
          <a:bodyPr wrap="none" rtlCol="0" anchor="ctr"/>
          <a:lstStyle/>
          <a:p>
            <a:pPr algn="ctr"/>
            <a:r>
              <a:rPr lang="en-US" sz="1400" dirty="0" smtClean="0">
                <a:solidFill>
                  <a:schemeClr val="bg1"/>
                </a:solidFill>
              </a:rPr>
              <a:t>square</a:t>
            </a:r>
            <a:endParaRPr lang="en-US" sz="1400" dirty="0">
              <a:solidFill>
                <a:schemeClr val="bg1"/>
              </a:solidFill>
            </a:endParaRPr>
          </a:p>
        </p:txBody>
      </p:sp>
      <p:sp>
        <p:nvSpPr>
          <p:cNvPr id="35" name="Oval 34"/>
          <p:cNvSpPr/>
          <p:nvPr/>
        </p:nvSpPr>
        <p:spPr>
          <a:xfrm>
            <a:off x="9396022" y="4869656"/>
            <a:ext cx="574146" cy="574146"/>
          </a:xfrm>
          <a:prstGeom prst="ellipse">
            <a:avLst/>
          </a:prstGeom>
          <a:ln/>
        </p:spPr>
        <p:style>
          <a:lnRef idx="2">
            <a:schemeClr val="dk1">
              <a:shade val="50000"/>
            </a:schemeClr>
          </a:lnRef>
          <a:fillRef idx="1">
            <a:schemeClr val="dk1"/>
          </a:fillRef>
          <a:effectRef idx="0">
            <a:schemeClr val="dk1"/>
          </a:effectRef>
          <a:fontRef idx="minor">
            <a:schemeClr val="lt1"/>
          </a:fontRef>
        </p:style>
        <p:txBody>
          <a:bodyPr wrap="none" rtlCol="0" anchor="ctr"/>
          <a:lstStyle/>
          <a:p>
            <a:pPr algn="ctr"/>
            <a:r>
              <a:rPr lang="en-US" sz="1600" smtClean="0">
                <a:solidFill>
                  <a:schemeClr val="bg1"/>
                </a:solidFill>
              </a:rPr>
              <a:t>sum</a:t>
            </a:r>
            <a:endParaRPr lang="en-US" sz="1600" dirty="0">
              <a:solidFill>
                <a:schemeClr val="bg1"/>
              </a:solidFill>
            </a:endParaRPr>
          </a:p>
        </p:txBody>
      </p:sp>
      <p:cxnSp>
        <p:nvCxnSpPr>
          <p:cNvPr id="36" name="Straight Arrow Connector 35"/>
          <p:cNvCxnSpPr>
            <a:cxnSpLocks/>
          </p:cNvCxnSpPr>
          <p:nvPr/>
        </p:nvCxnSpPr>
        <p:spPr>
          <a:xfrm flipV="1">
            <a:off x="8866858" y="5169165"/>
            <a:ext cx="540738" cy="968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38" name="Oval 37"/>
          <p:cNvSpPr/>
          <p:nvPr/>
        </p:nvSpPr>
        <p:spPr>
          <a:xfrm>
            <a:off x="4586682" y="4307946"/>
            <a:ext cx="574146" cy="574146"/>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wrap="none" rtlCol="0" anchor="ctr"/>
          <a:lstStyle/>
          <a:p>
            <a:pPr algn="ctr"/>
            <a:r>
              <a:rPr lang="en-US" sz="1600" dirty="0" err="1" smtClean="0">
                <a:solidFill>
                  <a:schemeClr val="tx2"/>
                </a:solidFill>
              </a:rPr>
              <a:t>mul</a:t>
            </a:r>
            <a:endParaRPr lang="en-US" sz="1600" dirty="0">
              <a:solidFill>
                <a:schemeClr val="tx2"/>
              </a:solidFill>
            </a:endParaRPr>
          </a:p>
        </p:txBody>
      </p:sp>
    </p:spTree>
    <p:extLst>
      <p:ext uri="{BB962C8B-B14F-4D97-AF65-F5344CB8AC3E}">
        <p14:creationId xmlns:p14="http://schemas.microsoft.com/office/powerpoint/2010/main" val="16460002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7" name="Straight Arrow Connector 36"/>
          <p:cNvCxnSpPr>
            <a:cxnSpLocks/>
          </p:cNvCxnSpPr>
          <p:nvPr/>
        </p:nvCxnSpPr>
        <p:spPr>
          <a:xfrm flipV="1">
            <a:off x="9966616" y="5164321"/>
            <a:ext cx="540738" cy="968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dirty="0" smtClean="0"/>
              <a:t>How does </a:t>
            </a:r>
            <a:r>
              <a:rPr lang="en-US" dirty="0" err="1" smtClean="0">
                <a:latin typeface="Consolas" charset="0"/>
                <a:ea typeface="Consolas" charset="0"/>
                <a:cs typeface="Consolas" charset="0"/>
              </a:rPr>
              <a:t>tf.Optimizer</a:t>
            </a:r>
            <a:r>
              <a:rPr lang="en-US" dirty="0" smtClean="0"/>
              <a:t> work?</a:t>
            </a:r>
            <a:endParaRPr lang="en-US" dirty="0"/>
          </a:p>
        </p:txBody>
      </p:sp>
      <p:sp>
        <p:nvSpPr>
          <p:cNvPr id="3" name="Content Placeholder 2"/>
          <p:cNvSpPr>
            <a:spLocks noGrp="1"/>
          </p:cNvSpPr>
          <p:nvPr>
            <p:ph idx="1"/>
          </p:nvPr>
        </p:nvSpPr>
        <p:spPr>
          <a:xfrm>
            <a:off x="1593436" y="1600200"/>
            <a:ext cx="9782801" cy="685800"/>
          </a:xfrm>
        </p:spPr>
        <p:txBody>
          <a:bodyPr/>
          <a:lstStyle/>
          <a:p>
            <a:r>
              <a:rPr lang="en-US" dirty="0" smtClean="0"/>
              <a:t>The output of the sum </a:t>
            </a:r>
            <a:r>
              <a:rPr lang="en-US" dirty="0" smtClean="0">
                <a:latin typeface="Consolas" charset="0"/>
                <a:ea typeface="Consolas" charset="0"/>
                <a:cs typeface="Consolas" charset="0"/>
              </a:rPr>
              <a:t>Operation</a:t>
            </a:r>
            <a:r>
              <a:rPr lang="en-US" dirty="0" smtClean="0"/>
              <a:t> is our cost, J</a:t>
            </a:r>
            <a:endParaRPr lang="en-US" dirty="0"/>
          </a:p>
        </p:txBody>
      </p:sp>
      <p:sp>
        <p:nvSpPr>
          <p:cNvPr id="5" name="Oval 4"/>
          <p:cNvSpPr/>
          <p:nvPr/>
        </p:nvSpPr>
        <p:spPr>
          <a:xfrm>
            <a:off x="3187202" y="4307946"/>
            <a:ext cx="574146" cy="574146"/>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wrap="none" rtlCol="0" anchor="ctr"/>
          <a:lstStyle/>
          <a:p>
            <a:pPr algn="ctr"/>
            <a:r>
              <a:rPr lang="en-US" sz="1600" dirty="0" smtClean="0">
                <a:solidFill>
                  <a:schemeClr val="tx2"/>
                </a:solidFill>
              </a:rPr>
              <a:t>X</a:t>
            </a:r>
            <a:endParaRPr lang="en-US" sz="1600" dirty="0">
              <a:solidFill>
                <a:schemeClr val="tx2"/>
              </a:solidFill>
            </a:endParaRPr>
          </a:p>
        </p:txBody>
      </p:sp>
      <p:sp>
        <p:nvSpPr>
          <p:cNvPr id="6" name="Oval 5"/>
          <p:cNvSpPr/>
          <p:nvPr/>
        </p:nvSpPr>
        <p:spPr>
          <a:xfrm>
            <a:off x="3187202" y="5456237"/>
            <a:ext cx="574146" cy="574146"/>
          </a:xfrm>
          <a:prstGeom prst="ellipse">
            <a:avLst/>
          </a:prstGeom>
          <a:ln>
            <a:solidFill>
              <a:schemeClr val="bg1"/>
            </a:solidFill>
          </a:ln>
        </p:spPr>
        <p:style>
          <a:lnRef idx="3">
            <a:schemeClr val="lt1"/>
          </a:lnRef>
          <a:fillRef idx="1">
            <a:schemeClr val="dk1"/>
          </a:fillRef>
          <a:effectRef idx="1">
            <a:schemeClr val="dk1"/>
          </a:effectRef>
          <a:fontRef idx="minor">
            <a:schemeClr val="lt1"/>
          </a:fontRef>
        </p:style>
        <p:txBody>
          <a:bodyPr wrap="none" rtlCol="0" anchor="ctr"/>
          <a:lstStyle/>
          <a:p>
            <a:pPr algn="ctr"/>
            <a:r>
              <a:rPr lang="en-US" sz="1600" dirty="0" smtClean="0">
                <a:solidFill>
                  <a:schemeClr val="bg1"/>
                </a:solidFill>
              </a:rPr>
              <a:t>W</a:t>
            </a:r>
          </a:p>
          <a:p>
            <a:pPr algn="ctr"/>
            <a:r>
              <a:rPr lang="en-US" sz="1600" dirty="0" err="1" smtClean="0">
                <a:solidFill>
                  <a:schemeClr val="bg1"/>
                </a:solidFill>
              </a:rPr>
              <a:t>var</a:t>
            </a:r>
            <a:endParaRPr lang="en-US" sz="1600" dirty="0">
              <a:solidFill>
                <a:schemeClr val="bg1"/>
              </a:solidFill>
            </a:endParaRPr>
          </a:p>
        </p:txBody>
      </p:sp>
      <p:sp>
        <p:nvSpPr>
          <p:cNvPr id="8" name="Oval 7"/>
          <p:cNvSpPr/>
          <p:nvPr/>
        </p:nvSpPr>
        <p:spPr>
          <a:xfrm>
            <a:off x="4586682" y="5456237"/>
            <a:ext cx="574146" cy="574146"/>
          </a:xfrm>
          <a:prstGeom prst="ellipse">
            <a:avLst/>
          </a:prstGeom>
        </p:spPr>
        <p:style>
          <a:lnRef idx="3">
            <a:schemeClr val="lt1"/>
          </a:lnRef>
          <a:fillRef idx="1">
            <a:schemeClr val="dk1"/>
          </a:fillRef>
          <a:effectRef idx="1">
            <a:schemeClr val="dk1"/>
          </a:effectRef>
          <a:fontRef idx="minor">
            <a:schemeClr val="lt1"/>
          </a:fontRef>
        </p:style>
        <p:txBody>
          <a:bodyPr wrap="none" rtlCol="0" anchor="ctr"/>
          <a:lstStyle/>
          <a:p>
            <a:pPr algn="ctr"/>
            <a:r>
              <a:rPr lang="en-US" sz="1600" dirty="0" smtClean="0">
                <a:solidFill>
                  <a:schemeClr val="bg1"/>
                </a:solidFill>
              </a:rPr>
              <a:t>b</a:t>
            </a:r>
          </a:p>
          <a:p>
            <a:pPr algn="ctr"/>
            <a:r>
              <a:rPr lang="en-US" sz="1600" dirty="0" err="1" smtClean="0">
                <a:solidFill>
                  <a:schemeClr val="bg1"/>
                </a:solidFill>
              </a:rPr>
              <a:t>var</a:t>
            </a:r>
            <a:endParaRPr lang="en-US" sz="1600" dirty="0">
              <a:solidFill>
                <a:schemeClr val="bg1"/>
              </a:solidFill>
            </a:endParaRPr>
          </a:p>
        </p:txBody>
      </p:sp>
      <p:sp>
        <p:nvSpPr>
          <p:cNvPr id="9" name="Oval 8"/>
          <p:cNvSpPr/>
          <p:nvPr/>
        </p:nvSpPr>
        <p:spPr>
          <a:xfrm>
            <a:off x="5878510" y="4882092"/>
            <a:ext cx="574146" cy="574146"/>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wrap="none" rtlCol="0" anchor="ctr"/>
          <a:lstStyle/>
          <a:p>
            <a:pPr algn="ctr"/>
            <a:r>
              <a:rPr lang="en-US" sz="1600" dirty="0" smtClean="0">
                <a:solidFill>
                  <a:schemeClr val="tx2"/>
                </a:solidFill>
              </a:rPr>
              <a:t>add</a:t>
            </a:r>
            <a:endParaRPr lang="en-US" sz="1600" dirty="0">
              <a:solidFill>
                <a:schemeClr val="tx2"/>
              </a:solidFill>
            </a:endParaRPr>
          </a:p>
        </p:txBody>
      </p:sp>
      <p:cxnSp>
        <p:nvCxnSpPr>
          <p:cNvPr id="10" name="Straight Arrow Connector 9"/>
          <p:cNvCxnSpPr>
            <a:cxnSpLocks/>
          </p:cNvCxnSpPr>
          <p:nvPr/>
        </p:nvCxnSpPr>
        <p:spPr>
          <a:xfrm>
            <a:off x="2469520" y="4595019"/>
            <a:ext cx="717682"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a:cxnSpLocks/>
          </p:cNvCxnSpPr>
          <p:nvPr/>
        </p:nvCxnSpPr>
        <p:spPr>
          <a:xfrm>
            <a:off x="2469520" y="5743310"/>
            <a:ext cx="717682"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a:off x="3761348" y="4595019"/>
            <a:ext cx="825334"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a:cxnSpLocks/>
          </p:cNvCxnSpPr>
          <p:nvPr/>
        </p:nvCxnSpPr>
        <p:spPr>
          <a:xfrm flipV="1">
            <a:off x="3761348" y="4798010"/>
            <a:ext cx="909416" cy="94530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a:off x="5160828" y="4595019"/>
            <a:ext cx="801764" cy="371155"/>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flipV="1">
            <a:off x="5160828" y="5372156"/>
            <a:ext cx="801764" cy="371155"/>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cxnSpLocks/>
          </p:cNvCxnSpPr>
          <p:nvPr/>
        </p:nvCxnSpPr>
        <p:spPr>
          <a:xfrm>
            <a:off x="6452656" y="5169165"/>
            <a:ext cx="717682"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17" name="Oval 16"/>
          <p:cNvSpPr/>
          <p:nvPr/>
        </p:nvSpPr>
        <p:spPr>
          <a:xfrm>
            <a:off x="3187202" y="3124200"/>
            <a:ext cx="574146" cy="574146"/>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wrap="none" rtlCol="0" anchor="ctr"/>
          <a:lstStyle/>
          <a:p>
            <a:pPr algn="ctr"/>
            <a:r>
              <a:rPr lang="en-US" sz="1600" dirty="0" smtClean="0">
                <a:solidFill>
                  <a:schemeClr val="tx2"/>
                </a:solidFill>
              </a:rPr>
              <a:t>Y</a:t>
            </a:r>
            <a:endParaRPr lang="en-US" sz="1600" dirty="0">
              <a:solidFill>
                <a:schemeClr val="tx2"/>
              </a:solidFill>
            </a:endParaRPr>
          </a:p>
        </p:txBody>
      </p:sp>
      <p:cxnSp>
        <p:nvCxnSpPr>
          <p:cNvPr id="18" name="Straight Arrow Connector 17"/>
          <p:cNvCxnSpPr>
            <a:cxnSpLocks/>
          </p:cNvCxnSpPr>
          <p:nvPr/>
        </p:nvCxnSpPr>
        <p:spPr>
          <a:xfrm>
            <a:off x="2469520" y="3411273"/>
            <a:ext cx="717682"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20" name="Elbow Connector 19"/>
          <p:cNvCxnSpPr>
            <a:endCxn id="31" idx="0"/>
          </p:cNvCxnSpPr>
          <p:nvPr/>
        </p:nvCxnSpPr>
        <p:spPr>
          <a:xfrm>
            <a:off x="3761348" y="3411274"/>
            <a:ext cx="3696063" cy="1458382"/>
          </a:xfrm>
          <a:prstGeom prst="bentConnector2">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22" name="Rounded Rectangle 21"/>
          <p:cNvSpPr/>
          <p:nvPr/>
        </p:nvSpPr>
        <p:spPr>
          <a:xfrm>
            <a:off x="6932612" y="4419600"/>
            <a:ext cx="3309308" cy="1407847"/>
          </a:xfrm>
          <a:prstGeom prst="roundRect">
            <a:avLst/>
          </a:prstGeom>
          <a:noFill/>
          <a:ln w="28575">
            <a:solidFill>
              <a:schemeClr val="accent5">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tIns="0" rtlCol="0" anchor="t" anchorCtr="0"/>
          <a:lstStyle/>
          <a:p>
            <a:pPr algn="ctr"/>
            <a:r>
              <a:rPr lang="en-US">
                <a:solidFill>
                  <a:schemeClr val="accent5">
                    <a:lumMod val="75000"/>
                  </a:schemeClr>
                </a:solidFill>
              </a:rPr>
              <a:t>c</a:t>
            </a:r>
            <a:r>
              <a:rPr lang="en-US" smtClean="0">
                <a:solidFill>
                  <a:schemeClr val="accent5">
                    <a:lumMod val="75000"/>
                  </a:schemeClr>
                </a:solidFill>
              </a:rPr>
              <a:t>ost (J</a:t>
            </a:r>
            <a:r>
              <a:rPr lang="en-US" dirty="0" smtClean="0">
                <a:solidFill>
                  <a:schemeClr val="accent5">
                    <a:lumMod val="75000"/>
                  </a:schemeClr>
                </a:solidFill>
              </a:rPr>
              <a:t>)</a:t>
            </a:r>
            <a:endParaRPr lang="en-US" dirty="0">
              <a:solidFill>
                <a:schemeClr val="accent5">
                  <a:lumMod val="75000"/>
                </a:schemeClr>
              </a:solidFill>
            </a:endParaRPr>
          </a:p>
        </p:txBody>
      </p:sp>
      <p:cxnSp>
        <p:nvCxnSpPr>
          <p:cNvPr id="24" name="Straight Arrow Connector 23"/>
          <p:cNvCxnSpPr>
            <a:cxnSpLocks/>
          </p:cNvCxnSpPr>
          <p:nvPr/>
        </p:nvCxnSpPr>
        <p:spPr>
          <a:xfrm flipV="1">
            <a:off x="7744484" y="5169165"/>
            <a:ext cx="540738" cy="968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31" name="Oval 30"/>
          <p:cNvSpPr/>
          <p:nvPr/>
        </p:nvSpPr>
        <p:spPr>
          <a:xfrm>
            <a:off x="7170338" y="4869656"/>
            <a:ext cx="574146" cy="574146"/>
          </a:xfrm>
          <a:prstGeom prst="ellipse">
            <a:avLst/>
          </a:prstGeom>
          <a:solidFill>
            <a:schemeClr val="accent5">
              <a:lumMod val="60000"/>
              <a:lumOff val="40000"/>
            </a:schemeClr>
          </a:solidFill>
          <a:ln>
            <a:solidFill>
              <a:schemeClr val="accent5">
                <a:lumMod val="75000"/>
              </a:schemeClr>
            </a:solidFill>
          </a:ln>
        </p:spPr>
        <p:style>
          <a:lnRef idx="2">
            <a:schemeClr val="accent4">
              <a:shade val="50000"/>
            </a:schemeClr>
          </a:lnRef>
          <a:fillRef idx="1">
            <a:schemeClr val="accent4"/>
          </a:fillRef>
          <a:effectRef idx="0">
            <a:schemeClr val="accent4"/>
          </a:effectRef>
          <a:fontRef idx="minor">
            <a:schemeClr val="lt1"/>
          </a:fontRef>
        </p:style>
        <p:txBody>
          <a:bodyPr wrap="none" rtlCol="0" anchor="ctr"/>
          <a:lstStyle/>
          <a:p>
            <a:pPr algn="ctr"/>
            <a:r>
              <a:rPr lang="en-US" sz="1600" dirty="0" smtClean="0">
                <a:solidFill>
                  <a:schemeClr val="tx2"/>
                </a:solidFill>
              </a:rPr>
              <a:t>minus</a:t>
            </a:r>
            <a:endParaRPr lang="en-US" sz="1600" dirty="0">
              <a:solidFill>
                <a:schemeClr val="tx2"/>
              </a:solidFill>
            </a:endParaRPr>
          </a:p>
        </p:txBody>
      </p:sp>
      <p:sp>
        <p:nvSpPr>
          <p:cNvPr id="33" name="TextBox 32"/>
          <p:cNvSpPr txBox="1"/>
          <p:nvPr/>
        </p:nvSpPr>
        <p:spPr>
          <a:xfrm>
            <a:off x="6251015" y="4695063"/>
            <a:ext cx="681597" cy="307777"/>
          </a:xfrm>
          <a:prstGeom prst="rect">
            <a:avLst/>
          </a:prstGeom>
          <a:noFill/>
        </p:spPr>
        <p:txBody>
          <a:bodyPr wrap="none" rtlCol="0">
            <a:spAutoFit/>
          </a:bodyPr>
          <a:lstStyle/>
          <a:p>
            <a:r>
              <a:rPr lang="en-US" sz="1400" dirty="0">
                <a:latin typeface="Consolas" charset="0"/>
                <a:ea typeface="Consolas" charset="0"/>
                <a:cs typeface="Consolas" charset="0"/>
              </a:rPr>
              <a:t>y</a:t>
            </a:r>
            <a:r>
              <a:rPr lang="en-US" sz="1400" dirty="0" smtClean="0">
                <a:latin typeface="Consolas" charset="0"/>
                <a:ea typeface="Consolas" charset="0"/>
                <a:cs typeface="Consolas" charset="0"/>
              </a:rPr>
              <a:t>_hat</a:t>
            </a:r>
            <a:endParaRPr lang="en-US" sz="1400" dirty="0">
              <a:latin typeface="Consolas" charset="0"/>
              <a:ea typeface="Consolas" charset="0"/>
              <a:cs typeface="Consolas" charset="0"/>
            </a:endParaRPr>
          </a:p>
        </p:txBody>
      </p:sp>
      <p:sp>
        <p:nvSpPr>
          <p:cNvPr id="34" name="Oval 33"/>
          <p:cNvSpPr/>
          <p:nvPr/>
        </p:nvSpPr>
        <p:spPr>
          <a:xfrm>
            <a:off x="8282745" y="4869656"/>
            <a:ext cx="574146" cy="574146"/>
          </a:xfrm>
          <a:prstGeom prst="ellipse">
            <a:avLst/>
          </a:prstGeom>
          <a:solidFill>
            <a:srgbClr val="197709"/>
          </a:solidFill>
          <a:ln>
            <a:solidFill>
              <a:schemeClr val="accent2">
                <a:lumMod val="50000"/>
              </a:schemeClr>
            </a:solidFill>
          </a:ln>
        </p:spPr>
        <p:style>
          <a:lnRef idx="2">
            <a:schemeClr val="accent4">
              <a:shade val="50000"/>
            </a:schemeClr>
          </a:lnRef>
          <a:fillRef idx="1">
            <a:schemeClr val="accent4"/>
          </a:fillRef>
          <a:effectRef idx="0">
            <a:schemeClr val="accent4"/>
          </a:effectRef>
          <a:fontRef idx="minor">
            <a:schemeClr val="lt1"/>
          </a:fontRef>
        </p:style>
        <p:txBody>
          <a:bodyPr wrap="none" rtlCol="0" anchor="ctr"/>
          <a:lstStyle/>
          <a:p>
            <a:pPr algn="ctr"/>
            <a:r>
              <a:rPr lang="en-US" sz="1400" dirty="0" smtClean="0">
                <a:solidFill>
                  <a:schemeClr val="bg1"/>
                </a:solidFill>
              </a:rPr>
              <a:t>square</a:t>
            </a:r>
            <a:endParaRPr lang="en-US" sz="1400" dirty="0">
              <a:solidFill>
                <a:schemeClr val="bg1"/>
              </a:solidFill>
            </a:endParaRPr>
          </a:p>
        </p:txBody>
      </p:sp>
      <p:sp>
        <p:nvSpPr>
          <p:cNvPr id="35" name="Oval 34"/>
          <p:cNvSpPr/>
          <p:nvPr/>
        </p:nvSpPr>
        <p:spPr>
          <a:xfrm>
            <a:off x="9396022" y="4869656"/>
            <a:ext cx="574146" cy="574146"/>
          </a:xfrm>
          <a:prstGeom prst="ellipse">
            <a:avLst/>
          </a:prstGeom>
          <a:ln/>
        </p:spPr>
        <p:style>
          <a:lnRef idx="2">
            <a:schemeClr val="dk1">
              <a:shade val="50000"/>
            </a:schemeClr>
          </a:lnRef>
          <a:fillRef idx="1">
            <a:schemeClr val="dk1"/>
          </a:fillRef>
          <a:effectRef idx="0">
            <a:schemeClr val="dk1"/>
          </a:effectRef>
          <a:fontRef idx="minor">
            <a:schemeClr val="lt1"/>
          </a:fontRef>
        </p:style>
        <p:txBody>
          <a:bodyPr wrap="none" rtlCol="0" anchor="ctr"/>
          <a:lstStyle/>
          <a:p>
            <a:pPr algn="ctr"/>
            <a:r>
              <a:rPr lang="en-US" sz="1600" smtClean="0">
                <a:solidFill>
                  <a:schemeClr val="bg1"/>
                </a:solidFill>
              </a:rPr>
              <a:t>sum</a:t>
            </a:r>
            <a:endParaRPr lang="en-US" sz="1600" dirty="0">
              <a:solidFill>
                <a:schemeClr val="bg1"/>
              </a:solidFill>
            </a:endParaRPr>
          </a:p>
        </p:txBody>
      </p:sp>
      <p:cxnSp>
        <p:nvCxnSpPr>
          <p:cNvPr id="36" name="Straight Arrow Connector 35"/>
          <p:cNvCxnSpPr>
            <a:cxnSpLocks/>
          </p:cNvCxnSpPr>
          <p:nvPr/>
        </p:nvCxnSpPr>
        <p:spPr>
          <a:xfrm flipV="1">
            <a:off x="8866858" y="5169165"/>
            <a:ext cx="540738" cy="968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a:off x="10025444" y="4058726"/>
            <a:ext cx="137611" cy="971153"/>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0" name="Oval 29"/>
          <p:cNvSpPr/>
          <p:nvPr/>
        </p:nvSpPr>
        <p:spPr>
          <a:xfrm>
            <a:off x="4586682" y="4307946"/>
            <a:ext cx="574146" cy="574146"/>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wrap="none" rtlCol="0" anchor="ctr"/>
          <a:lstStyle/>
          <a:p>
            <a:pPr algn="ctr"/>
            <a:r>
              <a:rPr lang="en-US" sz="1600" dirty="0" err="1" smtClean="0">
                <a:solidFill>
                  <a:schemeClr val="tx2"/>
                </a:solidFill>
              </a:rPr>
              <a:t>mul</a:t>
            </a:r>
            <a:endParaRPr lang="en-US" sz="1600" dirty="0">
              <a:solidFill>
                <a:schemeClr val="tx2"/>
              </a:solidFill>
            </a:endParaRPr>
          </a:p>
        </p:txBody>
      </p:sp>
    </p:spTree>
    <p:extLst>
      <p:ext uri="{BB962C8B-B14F-4D97-AF65-F5344CB8AC3E}">
        <p14:creationId xmlns:p14="http://schemas.microsoft.com/office/powerpoint/2010/main" val="71721881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7" name="Straight Arrow Connector 36"/>
          <p:cNvCxnSpPr>
            <a:cxnSpLocks/>
          </p:cNvCxnSpPr>
          <p:nvPr/>
        </p:nvCxnSpPr>
        <p:spPr>
          <a:xfrm flipV="1">
            <a:off x="9966616" y="5164321"/>
            <a:ext cx="540738" cy="968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normAutofit/>
          </a:bodyPr>
          <a:lstStyle/>
          <a:p>
            <a:r>
              <a:rPr lang="en-US" sz="2800" dirty="0"/>
              <a:t>What is derivative of sum function </a:t>
            </a:r>
            <a:r>
              <a:rPr lang="en-US" sz="2800" dirty="0" err="1"/>
              <a:t>w.r.t</a:t>
            </a:r>
            <a:r>
              <a:rPr lang="en-US" sz="2800" dirty="0"/>
              <a:t> </a:t>
            </a:r>
            <a:r>
              <a:rPr lang="en-US" sz="2800" dirty="0" smtClean="0"/>
              <a:t>any input?</a:t>
            </a:r>
            <a:endParaRPr lang="en-US" sz="2800" dirty="0"/>
          </a:p>
        </p:txBody>
      </p:sp>
      <p:sp>
        <p:nvSpPr>
          <p:cNvPr id="5" name="Oval 4"/>
          <p:cNvSpPr/>
          <p:nvPr/>
        </p:nvSpPr>
        <p:spPr>
          <a:xfrm>
            <a:off x="3187202" y="4307946"/>
            <a:ext cx="574146" cy="574146"/>
          </a:xfrm>
          <a:prstGeom prst="ellipse">
            <a:avLst/>
          </a:prstGeom>
          <a:solidFill>
            <a:schemeClr val="bg1">
              <a:lumMod val="75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wrap="none" rtlCol="0" anchor="ctr"/>
          <a:lstStyle/>
          <a:p>
            <a:pPr algn="ctr"/>
            <a:endParaRPr lang="en-US" sz="1600" dirty="0">
              <a:solidFill>
                <a:schemeClr val="tx2"/>
              </a:solidFill>
            </a:endParaRPr>
          </a:p>
        </p:txBody>
      </p:sp>
      <p:sp>
        <p:nvSpPr>
          <p:cNvPr id="6" name="Oval 5"/>
          <p:cNvSpPr/>
          <p:nvPr/>
        </p:nvSpPr>
        <p:spPr>
          <a:xfrm>
            <a:off x="3187202" y="5456237"/>
            <a:ext cx="574146" cy="574146"/>
          </a:xfrm>
          <a:prstGeom prst="ellipse">
            <a:avLst/>
          </a:prstGeom>
          <a:solidFill>
            <a:schemeClr val="bg1">
              <a:lumMod val="75000"/>
            </a:schemeClr>
          </a:solidFill>
          <a:ln>
            <a:noFill/>
          </a:ln>
        </p:spPr>
        <p:style>
          <a:lnRef idx="3">
            <a:schemeClr val="lt1"/>
          </a:lnRef>
          <a:fillRef idx="1">
            <a:schemeClr val="dk1"/>
          </a:fillRef>
          <a:effectRef idx="1">
            <a:schemeClr val="dk1"/>
          </a:effectRef>
          <a:fontRef idx="minor">
            <a:schemeClr val="lt1"/>
          </a:fontRef>
        </p:style>
        <p:txBody>
          <a:bodyPr wrap="none" rtlCol="0" anchor="ctr"/>
          <a:lstStyle/>
          <a:p>
            <a:pPr algn="ctr"/>
            <a:endParaRPr lang="en-US" sz="1600" dirty="0">
              <a:solidFill>
                <a:schemeClr val="bg1"/>
              </a:solidFill>
            </a:endParaRPr>
          </a:p>
        </p:txBody>
      </p:sp>
      <p:sp>
        <p:nvSpPr>
          <p:cNvPr id="7" name="Oval 6"/>
          <p:cNvSpPr/>
          <p:nvPr/>
        </p:nvSpPr>
        <p:spPr>
          <a:xfrm>
            <a:off x="4586682" y="4307946"/>
            <a:ext cx="574146" cy="574146"/>
          </a:xfrm>
          <a:prstGeom prst="ellipse">
            <a:avLst/>
          </a:prstGeom>
          <a:solidFill>
            <a:schemeClr val="bg1">
              <a:lumMod val="75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wrap="none" rtlCol="0" anchor="ctr"/>
          <a:lstStyle/>
          <a:p>
            <a:pPr algn="ctr"/>
            <a:endParaRPr lang="en-US" sz="1200" dirty="0">
              <a:solidFill>
                <a:schemeClr val="tx2"/>
              </a:solidFill>
            </a:endParaRPr>
          </a:p>
        </p:txBody>
      </p:sp>
      <p:sp>
        <p:nvSpPr>
          <p:cNvPr id="8" name="Oval 7"/>
          <p:cNvSpPr/>
          <p:nvPr/>
        </p:nvSpPr>
        <p:spPr>
          <a:xfrm>
            <a:off x="4586682" y="5456237"/>
            <a:ext cx="574146" cy="574146"/>
          </a:xfrm>
          <a:prstGeom prst="ellipse">
            <a:avLst/>
          </a:prstGeom>
          <a:solidFill>
            <a:schemeClr val="bg1">
              <a:lumMod val="75000"/>
            </a:schemeClr>
          </a:solidFill>
          <a:ln>
            <a:noFill/>
          </a:ln>
        </p:spPr>
        <p:style>
          <a:lnRef idx="3">
            <a:schemeClr val="lt1"/>
          </a:lnRef>
          <a:fillRef idx="1">
            <a:schemeClr val="dk1"/>
          </a:fillRef>
          <a:effectRef idx="1">
            <a:schemeClr val="dk1"/>
          </a:effectRef>
          <a:fontRef idx="minor">
            <a:schemeClr val="lt1"/>
          </a:fontRef>
        </p:style>
        <p:txBody>
          <a:bodyPr wrap="none" rtlCol="0" anchor="ctr"/>
          <a:lstStyle/>
          <a:p>
            <a:pPr algn="ctr"/>
            <a:endParaRPr lang="en-US" sz="1600" dirty="0">
              <a:solidFill>
                <a:schemeClr val="bg1"/>
              </a:solidFill>
            </a:endParaRPr>
          </a:p>
        </p:txBody>
      </p:sp>
      <p:sp>
        <p:nvSpPr>
          <p:cNvPr id="9" name="Oval 8"/>
          <p:cNvSpPr/>
          <p:nvPr/>
        </p:nvSpPr>
        <p:spPr>
          <a:xfrm>
            <a:off x="5878510" y="4882092"/>
            <a:ext cx="574146" cy="574146"/>
          </a:xfrm>
          <a:prstGeom prst="ellipse">
            <a:avLst/>
          </a:prstGeom>
          <a:solidFill>
            <a:schemeClr val="bg1">
              <a:lumMod val="75000"/>
            </a:schemeClr>
          </a:solidFill>
          <a:ln>
            <a:noFill/>
          </a:ln>
        </p:spPr>
        <p:style>
          <a:lnRef idx="2">
            <a:schemeClr val="accent4">
              <a:shade val="50000"/>
            </a:schemeClr>
          </a:lnRef>
          <a:fillRef idx="1">
            <a:schemeClr val="accent4"/>
          </a:fillRef>
          <a:effectRef idx="0">
            <a:schemeClr val="accent4"/>
          </a:effectRef>
          <a:fontRef idx="minor">
            <a:schemeClr val="lt1"/>
          </a:fontRef>
        </p:style>
        <p:txBody>
          <a:bodyPr wrap="none" rtlCol="0" anchor="ctr"/>
          <a:lstStyle/>
          <a:p>
            <a:pPr algn="ctr"/>
            <a:endParaRPr lang="en-US" sz="1600" dirty="0">
              <a:solidFill>
                <a:schemeClr val="tx2"/>
              </a:solidFill>
            </a:endParaRPr>
          </a:p>
        </p:txBody>
      </p:sp>
      <p:cxnSp>
        <p:nvCxnSpPr>
          <p:cNvPr id="10" name="Straight Arrow Connector 9"/>
          <p:cNvCxnSpPr>
            <a:cxnSpLocks/>
          </p:cNvCxnSpPr>
          <p:nvPr/>
        </p:nvCxnSpPr>
        <p:spPr>
          <a:xfrm>
            <a:off x="2469520" y="4595019"/>
            <a:ext cx="717682"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a:cxnSpLocks/>
          </p:cNvCxnSpPr>
          <p:nvPr/>
        </p:nvCxnSpPr>
        <p:spPr>
          <a:xfrm>
            <a:off x="2469520" y="5743310"/>
            <a:ext cx="717682"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a:off x="3761348" y="4595019"/>
            <a:ext cx="825334"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a:cxnSpLocks/>
          </p:cNvCxnSpPr>
          <p:nvPr/>
        </p:nvCxnSpPr>
        <p:spPr>
          <a:xfrm flipV="1">
            <a:off x="3761348" y="4798010"/>
            <a:ext cx="909416" cy="94530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a:off x="5160828" y="4595019"/>
            <a:ext cx="801764" cy="371155"/>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flipV="1">
            <a:off x="5160828" y="5372156"/>
            <a:ext cx="801764" cy="371155"/>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cxnSpLocks/>
          </p:cNvCxnSpPr>
          <p:nvPr/>
        </p:nvCxnSpPr>
        <p:spPr>
          <a:xfrm>
            <a:off x="6452656" y="5169165"/>
            <a:ext cx="717682"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17" name="Oval 16"/>
          <p:cNvSpPr/>
          <p:nvPr/>
        </p:nvSpPr>
        <p:spPr>
          <a:xfrm>
            <a:off x="3187202" y="3124200"/>
            <a:ext cx="574146" cy="574146"/>
          </a:xfrm>
          <a:prstGeom prst="ellipse">
            <a:avLst/>
          </a:prstGeom>
          <a:solidFill>
            <a:schemeClr val="bg1">
              <a:lumMod val="75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wrap="none" rtlCol="0" anchor="ctr"/>
          <a:lstStyle/>
          <a:p>
            <a:pPr algn="ctr"/>
            <a:endParaRPr lang="en-US" sz="1600" dirty="0">
              <a:solidFill>
                <a:schemeClr val="tx2"/>
              </a:solidFill>
            </a:endParaRPr>
          </a:p>
        </p:txBody>
      </p:sp>
      <p:cxnSp>
        <p:nvCxnSpPr>
          <p:cNvPr id="18" name="Straight Arrow Connector 17"/>
          <p:cNvCxnSpPr>
            <a:cxnSpLocks/>
          </p:cNvCxnSpPr>
          <p:nvPr/>
        </p:nvCxnSpPr>
        <p:spPr>
          <a:xfrm>
            <a:off x="2469520" y="3411273"/>
            <a:ext cx="717682"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20" name="Elbow Connector 19"/>
          <p:cNvCxnSpPr>
            <a:endCxn id="31" idx="0"/>
          </p:cNvCxnSpPr>
          <p:nvPr/>
        </p:nvCxnSpPr>
        <p:spPr>
          <a:xfrm>
            <a:off x="3761348" y="3411274"/>
            <a:ext cx="3696063" cy="1458382"/>
          </a:xfrm>
          <a:prstGeom prst="bentConnector2">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22" name="Rounded Rectangle 21"/>
          <p:cNvSpPr/>
          <p:nvPr/>
        </p:nvSpPr>
        <p:spPr>
          <a:xfrm>
            <a:off x="6932612" y="4419600"/>
            <a:ext cx="3309308" cy="1407847"/>
          </a:xfrm>
          <a:prstGeom prst="roundRect">
            <a:avLst/>
          </a:prstGeom>
          <a:noFill/>
          <a:ln w="28575">
            <a:solidFill>
              <a:schemeClr val="accent5">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tIns="0" rtlCol="0" anchor="t" anchorCtr="0"/>
          <a:lstStyle/>
          <a:p>
            <a:pPr algn="ctr"/>
            <a:r>
              <a:rPr lang="en-US">
                <a:solidFill>
                  <a:schemeClr val="accent5">
                    <a:lumMod val="75000"/>
                  </a:schemeClr>
                </a:solidFill>
              </a:rPr>
              <a:t>c</a:t>
            </a:r>
            <a:r>
              <a:rPr lang="en-US" smtClean="0">
                <a:solidFill>
                  <a:schemeClr val="accent5">
                    <a:lumMod val="75000"/>
                  </a:schemeClr>
                </a:solidFill>
              </a:rPr>
              <a:t>ost (J</a:t>
            </a:r>
            <a:r>
              <a:rPr lang="en-US" dirty="0" smtClean="0">
                <a:solidFill>
                  <a:schemeClr val="accent5">
                    <a:lumMod val="75000"/>
                  </a:schemeClr>
                </a:solidFill>
              </a:rPr>
              <a:t>)</a:t>
            </a:r>
            <a:endParaRPr lang="en-US" dirty="0">
              <a:solidFill>
                <a:schemeClr val="accent5">
                  <a:lumMod val="75000"/>
                </a:schemeClr>
              </a:solidFill>
            </a:endParaRPr>
          </a:p>
        </p:txBody>
      </p:sp>
      <p:cxnSp>
        <p:nvCxnSpPr>
          <p:cNvPr id="24" name="Straight Arrow Connector 23"/>
          <p:cNvCxnSpPr>
            <a:cxnSpLocks/>
          </p:cNvCxnSpPr>
          <p:nvPr/>
        </p:nvCxnSpPr>
        <p:spPr>
          <a:xfrm flipV="1">
            <a:off x="7744484" y="5169165"/>
            <a:ext cx="540738" cy="968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31" name="Oval 30"/>
          <p:cNvSpPr/>
          <p:nvPr/>
        </p:nvSpPr>
        <p:spPr>
          <a:xfrm>
            <a:off x="7170338" y="4869656"/>
            <a:ext cx="574146" cy="574146"/>
          </a:xfrm>
          <a:prstGeom prst="ellipse">
            <a:avLst/>
          </a:prstGeom>
          <a:solidFill>
            <a:schemeClr val="bg1">
              <a:lumMod val="75000"/>
            </a:schemeClr>
          </a:solidFill>
          <a:ln>
            <a:noFill/>
          </a:ln>
        </p:spPr>
        <p:style>
          <a:lnRef idx="2">
            <a:schemeClr val="accent4">
              <a:shade val="50000"/>
            </a:schemeClr>
          </a:lnRef>
          <a:fillRef idx="1">
            <a:schemeClr val="accent4"/>
          </a:fillRef>
          <a:effectRef idx="0">
            <a:schemeClr val="accent4"/>
          </a:effectRef>
          <a:fontRef idx="minor">
            <a:schemeClr val="lt1"/>
          </a:fontRef>
        </p:style>
        <p:txBody>
          <a:bodyPr wrap="none" rtlCol="0" anchor="ctr"/>
          <a:lstStyle/>
          <a:p>
            <a:pPr algn="ctr"/>
            <a:endParaRPr lang="en-US" sz="1600" dirty="0">
              <a:solidFill>
                <a:schemeClr val="tx2"/>
              </a:solidFill>
            </a:endParaRPr>
          </a:p>
        </p:txBody>
      </p:sp>
      <p:sp>
        <p:nvSpPr>
          <p:cNvPr id="34" name="Oval 33"/>
          <p:cNvSpPr/>
          <p:nvPr/>
        </p:nvSpPr>
        <p:spPr>
          <a:xfrm>
            <a:off x="8282745" y="4869656"/>
            <a:ext cx="574146" cy="574146"/>
          </a:xfrm>
          <a:prstGeom prst="ellipse">
            <a:avLst/>
          </a:prstGeom>
          <a:solidFill>
            <a:schemeClr val="bg1">
              <a:lumMod val="75000"/>
            </a:schemeClr>
          </a:solidFill>
          <a:ln>
            <a:noFill/>
          </a:ln>
        </p:spPr>
        <p:style>
          <a:lnRef idx="2">
            <a:schemeClr val="accent4">
              <a:shade val="50000"/>
            </a:schemeClr>
          </a:lnRef>
          <a:fillRef idx="1">
            <a:schemeClr val="accent4"/>
          </a:fillRef>
          <a:effectRef idx="0">
            <a:schemeClr val="accent4"/>
          </a:effectRef>
          <a:fontRef idx="minor">
            <a:schemeClr val="lt1"/>
          </a:fontRef>
        </p:style>
        <p:txBody>
          <a:bodyPr wrap="none" rtlCol="0" anchor="ctr"/>
          <a:lstStyle/>
          <a:p>
            <a:pPr algn="ctr"/>
            <a:endParaRPr lang="en-US" sz="1400" dirty="0">
              <a:solidFill>
                <a:schemeClr val="bg1"/>
              </a:solidFill>
            </a:endParaRPr>
          </a:p>
        </p:txBody>
      </p:sp>
      <p:sp>
        <p:nvSpPr>
          <p:cNvPr id="35" name="Oval 34"/>
          <p:cNvSpPr/>
          <p:nvPr/>
        </p:nvSpPr>
        <p:spPr>
          <a:xfrm>
            <a:off x="9396022" y="4869656"/>
            <a:ext cx="574146" cy="574146"/>
          </a:xfrm>
          <a:prstGeom prst="ellipse">
            <a:avLst/>
          </a:prstGeom>
          <a:ln/>
        </p:spPr>
        <p:style>
          <a:lnRef idx="2">
            <a:schemeClr val="dk1">
              <a:shade val="50000"/>
            </a:schemeClr>
          </a:lnRef>
          <a:fillRef idx="1">
            <a:schemeClr val="dk1"/>
          </a:fillRef>
          <a:effectRef idx="0">
            <a:schemeClr val="dk1"/>
          </a:effectRef>
          <a:fontRef idx="minor">
            <a:schemeClr val="lt1"/>
          </a:fontRef>
        </p:style>
        <p:txBody>
          <a:bodyPr wrap="none" rtlCol="0" anchor="ctr"/>
          <a:lstStyle/>
          <a:p>
            <a:pPr algn="ctr"/>
            <a:r>
              <a:rPr lang="en-US" sz="1600" smtClean="0">
                <a:solidFill>
                  <a:schemeClr val="bg1"/>
                </a:solidFill>
              </a:rPr>
              <a:t>sum</a:t>
            </a:r>
            <a:endParaRPr lang="en-US" sz="1600" dirty="0">
              <a:solidFill>
                <a:schemeClr val="bg1"/>
              </a:solidFill>
            </a:endParaRPr>
          </a:p>
        </p:txBody>
      </p:sp>
      <p:cxnSp>
        <p:nvCxnSpPr>
          <p:cNvPr id="36" name="Straight Arrow Connector 35"/>
          <p:cNvCxnSpPr>
            <a:cxnSpLocks/>
          </p:cNvCxnSpPr>
          <p:nvPr/>
        </p:nvCxnSpPr>
        <p:spPr>
          <a:xfrm flipV="1">
            <a:off x="8866858" y="5169165"/>
            <a:ext cx="540738" cy="968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 name="TextBox 3"/>
              <p:cNvSpPr txBox="1"/>
              <p:nvPr/>
            </p:nvSpPr>
            <p:spPr>
              <a:xfrm>
                <a:off x="7170338" y="1739899"/>
                <a:ext cx="1726948" cy="93936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mr-IN" sz="2800" i="1" smtClean="0">
                              <a:latin typeface="Cambria Math" panose="02040503050406030204" pitchFamily="18" charset="0"/>
                            </a:rPr>
                          </m:ctrlPr>
                        </m:fPr>
                        <m:num>
                          <m:r>
                            <a:rPr lang="mr-IN" sz="2800" i="1" smtClean="0">
                              <a:latin typeface="Cambria Math" charset="0"/>
                            </a:rPr>
                            <m:t>𝜕</m:t>
                          </m:r>
                          <m:r>
                            <a:rPr lang="en-US" sz="2800" b="0" i="1" smtClean="0">
                              <a:latin typeface="Cambria Math" charset="0"/>
                            </a:rPr>
                            <m:t>𝑠𝑢𝑚</m:t>
                          </m:r>
                        </m:num>
                        <m:den>
                          <m:r>
                            <a:rPr lang="mr-IN" sz="2800" i="1" smtClean="0">
                              <a:latin typeface="Cambria Math" charset="0"/>
                            </a:rPr>
                            <m:t>𝜕</m:t>
                          </m:r>
                          <m:sSub>
                            <m:sSubPr>
                              <m:ctrlPr>
                                <a:rPr lang="en-US" sz="2800" b="0" i="1" smtClean="0">
                                  <a:latin typeface="Cambria Math" panose="02040503050406030204" pitchFamily="18" charset="0"/>
                                </a:rPr>
                              </m:ctrlPr>
                            </m:sSubPr>
                            <m:e>
                              <m:r>
                                <a:rPr lang="en-US" sz="2800" b="0" i="1" smtClean="0">
                                  <a:latin typeface="Cambria Math" charset="0"/>
                                </a:rPr>
                                <m:t>𝑧</m:t>
                              </m:r>
                            </m:e>
                            <m:sub>
                              <m:r>
                                <a:rPr lang="en-US" sz="2800" b="0" i="1" smtClean="0">
                                  <a:latin typeface="Cambria Math" charset="0"/>
                                </a:rPr>
                                <m:t>𝑝</m:t>
                              </m:r>
                            </m:sub>
                          </m:sSub>
                        </m:den>
                      </m:f>
                      <m:r>
                        <a:rPr lang="en-US" sz="2800" b="0" i="1" smtClean="0">
                          <a:latin typeface="Cambria Math" charset="0"/>
                        </a:rPr>
                        <m:t>=1</m:t>
                      </m:r>
                    </m:oMath>
                  </m:oMathPara>
                </a14:m>
                <a:endParaRPr lang="en-US" sz="2800" dirty="0"/>
              </a:p>
            </p:txBody>
          </p:sp>
        </mc:Choice>
        <mc:Fallback xmlns="">
          <p:sp>
            <p:nvSpPr>
              <p:cNvPr id="4" name="TextBox 3"/>
              <p:cNvSpPr txBox="1">
                <a:spLocks noRot="1" noChangeAspect="1" noMove="1" noResize="1" noEditPoints="1" noAdjustHandles="1" noChangeArrowheads="1" noChangeShapeType="1" noTextEdit="1"/>
              </p:cNvSpPr>
              <p:nvPr/>
            </p:nvSpPr>
            <p:spPr>
              <a:xfrm>
                <a:off x="7170338" y="1739899"/>
                <a:ext cx="1726948" cy="939360"/>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TextBox 31"/>
              <p:cNvSpPr txBox="1"/>
              <p:nvPr/>
            </p:nvSpPr>
            <p:spPr>
              <a:xfrm>
                <a:off x="2479894" y="1543079"/>
                <a:ext cx="3685689" cy="117621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nor/>
                        </m:rPr>
                        <a:rPr lang="en-US" sz="2800" b="0" i="0" smtClean="0">
                          <a:latin typeface="Cambria Math" charset="0"/>
                        </a:rPr>
                        <m:t>sum</m:t>
                      </m:r>
                      <m:d>
                        <m:dPr>
                          <m:ctrlPr>
                            <a:rPr lang="en-US" sz="2800" b="0" i="1" smtClean="0">
                              <a:latin typeface="Cambria Math" panose="02040503050406030204" pitchFamily="18" charset="0"/>
                            </a:rPr>
                          </m:ctrlPr>
                        </m:dPr>
                        <m:e>
                          <m:sSub>
                            <m:sSubPr>
                              <m:ctrlPr>
                                <a:rPr lang="en-US" sz="2800" b="0" i="1" smtClean="0">
                                  <a:latin typeface="Cambria Math" panose="02040503050406030204" pitchFamily="18" charset="0"/>
                                </a:rPr>
                              </m:ctrlPr>
                            </m:sSubPr>
                            <m:e>
                              <m:r>
                                <a:rPr lang="en-US" sz="2800" b="0" i="1" smtClean="0">
                                  <a:latin typeface="Cambria Math" charset="0"/>
                                </a:rPr>
                                <m:t>𝑧</m:t>
                              </m:r>
                            </m:e>
                            <m:sub>
                              <m:r>
                                <a:rPr lang="en-US" sz="2800" b="0" i="1" smtClean="0">
                                  <a:latin typeface="Cambria Math" charset="0"/>
                                </a:rPr>
                                <m:t>1</m:t>
                              </m:r>
                            </m:sub>
                          </m:sSub>
                          <m:r>
                            <a:rPr lang="en-US" sz="2800" b="0" i="1" smtClean="0">
                              <a:latin typeface="Cambria Math" charset="0"/>
                            </a:rPr>
                            <m:t>,…, </m:t>
                          </m:r>
                          <m:sSub>
                            <m:sSubPr>
                              <m:ctrlPr>
                                <a:rPr lang="en-US" sz="2800" b="0" i="1" smtClean="0">
                                  <a:latin typeface="Cambria Math" panose="02040503050406030204" pitchFamily="18" charset="0"/>
                                </a:rPr>
                              </m:ctrlPr>
                            </m:sSubPr>
                            <m:e>
                              <m:r>
                                <a:rPr lang="en-US" sz="2800" b="0" i="1" smtClean="0">
                                  <a:latin typeface="Cambria Math" charset="0"/>
                                </a:rPr>
                                <m:t>𝑧</m:t>
                              </m:r>
                            </m:e>
                            <m:sub>
                              <m:r>
                                <a:rPr lang="en-US" sz="2800" b="0" i="1" smtClean="0">
                                  <a:latin typeface="Cambria Math" charset="0"/>
                                </a:rPr>
                                <m:t>𝑛</m:t>
                              </m:r>
                            </m:sub>
                          </m:sSub>
                        </m:e>
                      </m:d>
                      <m:r>
                        <a:rPr lang="en-US" sz="2800" b="0" i="1" smtClean="0">
                          <a:latin typeface="Cambria Math" charset="0"/>
                        </a:rPr>
                        <m:t>=</m:t>
                      </m:r>
                      <m:nary>
                        <m:naryPr>
                          <m:chr m:val="∑"/>
                          <m:ctrlPr>
                            <a:rPr lang="is-IS" sz="2800" b="0" i="1" smtClean="0">
                              <a:latin typeface="Cambria Math" panose="02040503050406030204" pitchFamily="18" charset="0"/>
                            </a:rPr>
                          </m:ctrlPr>
                        </m:naryPr>
                        <m:sub>
                          <m:r>
                            <m:rPr>
                              <m:brk m:alnAt="23"/>
                            </m:rPr>
                            <a:rPr lang="en-US" sz="2800" b="0" i="1" smtClean="0">
                              <a:latin typeface="Cambria Math" charset="0"/>
                            </a:rPr>
                            <m:t>𝑖</m:t>
                          </m:r>
                          <m:r>
                            <a:rPr lang="en-US" sz="2800" b="0" i="1" smtClean="0">
                              <a:latin typeface="Cambria Math" charset="0"/>
                            </a:rPr>
                            <m:t>=1</m:t>
                          </m:r>
                        </m:sub>
                        <m:sup>
                          <m:r>
                            <a:rPr lang="en-US" sz="2800" b="0" i="1" smtClean="0">
                              <a:latin typeface="Cambria Math" charset="0"/>
                            </a:rPr>
                            <m:t>𝑛</m:t>
                          </m:r>
                        </m:sup>
                        <m:e>
                          <m:sSub>
                            <m:sSubPr>
                              <m:ctrlPr>
                                <a:rPr lang="en-US" sz="2800" b="0" i="1" smtClean="0">
                                  <a:latin typeface="Cambria Math" panose="02040503050406030204" pitchFamily="18" charset="0"/>
                                </a:rPr>
                              </m:ctrlPr>
                            </m:sSubPr>
                            <m:e>
                              <m:r>
                                <a:rPr lang="en-US" sz="2800" b="0" i="1" smtClean="0">
                                  <a:latin typeface="Cambria Math" charset="0"/>
                                </a:rPr>
                                <m:t>𝑧</m:t>
                              </m:r>
                            </m:e>
                            <m:sub>
                              <m:r>
                                <a:rPr lang="en-US" sz="2800" b="0" i="1" smtClean="0">
                                  <a:latin typeface="Cambria Math" charset="0"/>
                                </a:rPr>
                                <m:t>𝑖</m:t>
                              </m:r>
                            </m:sub>
                          </m:sSub>
                        </m:e>
                      </m:nary>
                    </m:oMath>
                  </m:oMathPara>
                </a14:m>
                <a:endParaRPr lang="en-US" sz="2800" dirty="0"/>
              </a:p>
            </p:txBody>
          </p:sp>
        </mc:Choice>
        <mc:Fallback xmlns="">
          <p:sp>
            <p:nvSpPr>
              <p:cNvPr id="32" name="TextBox 31"/>
              <p:cNvSpPr txBox="1">
                <a:spLocks noRot="1" noChangeAspect="1" noMove="1" noResize="1" noEditPoints="1" noAdjustHandles="1" noChangeArrowheads="1" noChangeShapeType="1" noTextEdit="1"/>
              </p:cNvSpPr>
              <p:nvPr/>
            </p:nvSpPr>
            <p:spPr>
              <a:xfrm>
                <a:off x="2479894" y="1543079"/>
                <a:ext cx="3685689" cy="1176219"/>
              </a:xfrm>
              <a:prstGeom prst="rect">
                <a:avLst/>
              </a:prstGeom>
              <a:blipFill rotWithShape="0">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95871320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7" name="Straight Arrow Connector 36"/>
          <p:cNvCxnSpPr>
            <a:cxnSpLocks/>
          </p:cNvCxnSpPr>
          <p:nvPr/>
        </p:nvCxnSpPr>
        <p:spPr>
          <a:xfrm flipV="1">
            <a:off x="9966616" y="5164321"/>
            <a:ext cx="540738" cy="968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normAutofit/>
          </a:bodyPr>
          <a:lstStyle/>
          <a:p>
            <a:r>
              <a:rPr lang="en-US" sz="2800" dirty="0"/>
              <a:t>What is derivative of </a:t>
            </a:r>
            <a:r>
              <a:rPr lang="en-US" sz="2800" dirty="0" smtClean="0"/>
              <a:t>square function </a:t>
            </a:r>
            <a:r>
              <a:rPr lang="en-US" sz="2800" dirty="0" err="1" smtClean="0"/>
              <a:t>w.r.t</a:t>
            </a:r>
            <a:r>
              <a:rPr lang="en-US" sz="2800" dirty="0" smtClean="0"/>
              <a:t> any input?</a:t>
            </a:r>
            <a:endParaRPr lang="en-US" sz="2800" dirty="0"/>
          </a:p>
        </p:txBody>
      </p:sp>
      <p:sp>
        <p:nvSpPr>
          <p:cNvPr id="5" name="Oval 4"/>
          <p:cNvSpPr/>
          <p:nvPr/>
        </p:nvSpPr>
        <p:spPr>
          <a:xfrm>
            <a:off x="3187202" y="4307946"/>
            <a:ext cx="574146" cy="574146"/>
          </a:xfrm>
          <a:prstGeom prst="ellipse">
            <a:avLst/>
          </a:prstGeom>
          <a:solidFill>
            <a:schemeClr val="bg1">
              <a:lumMod val="75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wrap="none" rtlCol="0" anchor="ctr"/>
          <a:lstStyle/>
          <a:p>
            <a:pPr algn="ctr"/>
            <a:endParaRPr lang="en-US" sz="1600" dirty="0">
              <a:solidFill>
                <a:schemeClr val="tx2"/>
              </a:solidFill>
            </a:endParaRPr>
          </a:p>
        </p:txBody>
      </p:sp>
      <p:sp>
        <p:nvSpPr>
          <p:cNvPr id="6" name="Oval 5"/>
          <p:cNvSpPr/>
          <p:nvPr/>
        </p:nvSpPr>
        <p:spPr>
          <a:xfrm>
            <a:off x="3187202" y="5456237"/>
            <a:ext cx="574146" cy="574146"/>
          </a:xfrm>
          <a:prstGeom prst="ellipse">
            <a:avLst/>
          </a:prstGeom>
          <a:solidFill>
            <a:schemeClr val="bg1">
              <a:lumMod val="75000"/>
            </a:schemeClr>
          </a:solidFill>
          <a:ln>
            <a:noFill/>
          </a:ln>
        </p:spPr>
        <p:style>
          <a:lnRef idx="3">
            <a:schemeClr val="lt1"/>
          </a:lnRef>
          <a:fillRef idx="1">
            <a:schemeClr val="dk1"/>
          </a:fillRef>
          <a:effectRef idx="1">
            <a:schemeClr val="dk1"/>
          </a:effectRef>
          <a:fontRef idx="minor">
            <a:schemeClr val="lt1"/>
          </a:fontRef>
        </p:style>
        <p:txBody>
          <a:bodyPr wrap="none" rtlCol="0" anchor="ctr"/>
          <a:lstStyle/>
          <a:p>
            <a:pPr algn="ctr"/>
            <a:endParaRPr lang="en-US" sz="1600" dirty="0">
              <a:solidFill>
                <a:schemeClr val="bg1"/>
              </a:solidFill>
            </a:endParaRPr>
          </a:p>
        </p:txBody>
      </p:sp>
      <p:sp>
        <p:nvSpPr>
          <p:cNvPr id="7" name="Oval 6"/>
          <p:cNvSpPr/>
          <p:nvPr/>
        </p:nvSpPr>
        <p:spPr>
          <a:xfrm>
            <a:off x="4586682" y="4307946"/>
            <a:ext cx="574146" cy="574146"/>
          </a:xfrm>
          <a:prstGeom prst="ellipse">
            <a:avLst/>
          </a:prstGeom>
          <a:solidFill>
            <a:schemeClr val="bg1">
              <a:lumMod val="75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wrap="none" rtlCol="0" anchor="ctr"/>
          <a:lstStyle/>
          <a:p>
            <a:pPr algn="ctr"/>
            <a:endParaRPr lang="en-US" sz="1200" dirty="0">
              <a:solidFill>
                <a:schemeClr val="tx2"/>
              </a:solidFill>
            </a:endParaRPr>
          </a:p>
        </p:txBody>
      </p:sp>
      <p:sp>
        <p:nvSpPr>
          <p:cNvPr id="8" name="Oval 7"/>
          <p:cNvSpPr/>
          <p:nvPr/>
        </p:nvSpPr>
        <p:spPr>
          <a:xfrm>
            <a:off x="4586682" y="5456237"/>
            <a:ext cx="574146" cy="574146"/>
          </a:xfrm>
          <a:prstGeom prst="ellipse">
            <a:avLst/>
          </a:prstGeom>
          <a:solidFill>
            <a:schemeClr val="bg1">
              <a:lumMod val="75000"/>
            </a:schemeClr>
          </a:solidFill>
          <a:ln>
            <a:noFill/>
          </a:ln>
        </p:spPr>
        <p:style>
          <a:lnRef idx="3">
            <a:schemeClr val="lt1"/>
          </a:lnRef>
          <a:fillRef idx="1">
            <a:schemeClr val="dk1"/>
          </a:fillRef>
          <a:effectRef idx="1">
            <a:schemeClr val="dk1"/>
          </a:effectRef>
          <a:fontRef idx="minor">
            <a:schemeClr val="lt1"/>
          </a:fontRef>
        </p:style>
        <p:txBody>
          <a:bodyPr wrap="none" rtlCol="0" anchor="ctr"/>
          <a:lstStyle/>
          <a:p>
            <a:pPr algn="ctr"/>
            <a:endParaRPr lang="en-US" sz="1600" dirty="0">
              <a:solidFill>
                <a:schemeClr val="bg1"/>
              </a:solidFill>
            </a:endParaRPr>
          </a:p>
        </p:txBody>
      </p:sp>
      <p:sp>
        <p:nvSpPr>
          <p:cNvPr id="9" name="Oval 8"/>
          <p:cNvSpPr/>
          <p:nvPr/>
        </p:nvSpPr>
        <p:spPr>
          <a:xfrm>
            <a:off x="5878510" y="4882092"/>
            <a:ext cx="574146" cy="574146"/>
          </a:xfrm>
          <a:prstGeom prst="ellipse">
            <a:avLst/>
          </a:prstGeom>
          <a:solidFill>
            <a:schemeClr val="bg1">
              <a:lumMod val="75000"/>
            </a:schemeClr>
          </a:solidFill>
          <a:ln>
            <a:noFill/>
          </a:ln>
        </p:spPr>
        <p:style>
          <a:lnRef idx="2">
            <a:schemeClr val="accent4">
              <a:shade val="50000"/>
            </a:schemeClr>
          </a:lnRef>
          <a:fillRef idx="1">
            <a:schemeClr val="accent4"/>
          </a:fillRef>
          <a:effectRef idx="0">
            <a:schemeClr val="accent4"/>
          </a:effectRef>
          <a:fontRef idx="minor">
            <a:schemeClr val="lt1"/>
          </a:fontRef>
        </p:style>
        <p:txBody>
          <a:bodyPr wrap="none" rtlCol="0" anchor="ctr"/>
          <a:lstStyle/>
          <a:p>
            <a:pPr algn="ctr"/>
            <a:endParaRPr lang="en-US" sz="1600" dirty="0">
              <a:solidFill>
                <a:schemeClr val="tx2"/>
              </a:solidFill>
            </a:endParaRPr>
          </a:p>
        </p:txBody>
      </p:sp>
      <p:cxnSp>
        <p:nvCxnSpPr>
          <p:cNvPr id="10" name="Straight Arrow Connector 9"/>
          <p:cNvCxnSpPr>
            <a:cxnSpLocks/>
          </p:cNvCxnSpPr>
          <p:nvPr/>
        </p:nvCxnSpPr>
        <p:spPr>
          <a:xfrm>
            <a:off x="2469520" y="4595019"/>
            <a:ext cx="717682"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a:cxnSpLocks/>
          </p:cNvCxnSpPr>
          <p:nvPr/>
        </p:nvCxnSpPr>
        <p:spPr>
          <a:xfrm>
            <a:off x="2469520" y="5743310"/>
            <a:ext cx="717682"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a:off x="3761348" y="4595019"/>
            <a:ext cx="825334"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a:cxnSpLocks/>
          </p:cNvCxnSpPr>
          <p:nvPr/>
        </p:nvCxnSpPr>
        <p:spPr>
          <a:xfrm flipV="1">
            <a:off x="3761348" y="4798010"/>
            <a:ext cx="909416" cy="94530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a:off x="5160828" y="4595019"/>
            <a:ext cx="801764" cy="371155"/>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flipV="1">
            <a:off x="5160828" y="5372156"/>
            <a:ext cx="801764" cy="371155"/>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cxnSpLocks/>
          </p:cNvCxnSpPr>
          <p:nvPr/>
        </p:nvCxnSpPr>
        <p:spPr>
          <a:xfrm>
            <a:off x="6452656" y="5169165"/>
            <a:ext cx="717682"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17" name="Oval 16"/>
          <p:cNvSpPr/>
          <p:nvPr/>
        </p:nvSpPr>
        <p:spPr>
          <a:xfrm>
            <a:off x="3187202" y="3124200"/>
            <a:ext cx="574146" cy="574146"/>
          </a:xfrm>
          <a:prstGeom prst="ellipse">
            <a:avLst/>
          </a:prstGeom>
          <a:solidFill>
            <a:schemeClr val="bg1">
              <a:lumMod val="75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wrap="none" rtlCol="0" anchor="ctr"/>
          <a:lstStyle/>
          <a:p>
            <a:pPr algn="ctr"/>
            <a:endParaRPr lang="en-US" sz="1600" dirty="0">
              <a:solidFill>
                <a:schemeClr val="tx2"/>
              </a:solidFill>
            </a:endParaRPr>
          </a:p>
        </p:txBody>
      </p:sp>
      <p:cxnSp>
        <p:nvCxnSpPr>
          <p:cNvPr id="18" name="Straight Arrow Connector 17"/>
          <p:cNvCxnSpPr>
            <a:cxnSpLocks/>
          </p:cNvCxnSpPr>
          <p:nvPr/>
        </p:nvCxnSpPr>
        <p:spPr>
          <a:xfrm>
            <a:off x="2469520" y="3411273"/>
            <a:ext cx="717682"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20" name="Elbow Connector 19"/>
          <p:cNvCxnSpPr>
            <a:endCxn id="31" idx="0"/>
          </p:cNvCxnSpPr>
          <p:nvPr/>
        </p:nvCxnSpPr>
        <p:spPr>
          <a:xfrm>
            <a:off x="3761348" y="3411274"/>
            <a:ext cx="3696063" cy="1458382"/>
          </a:xfrm>
          <a:prstGeom prst="bentConnector2">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22" name="Rounded Rectangle 21"/>
          <p:cNvSpPr/>
          <p:nvPr/>
        </p:nvSpPr>
        <p:spPr>
          <a:xfrm>
            <a:off x="6932612" y="4419600"/>
            <a:ext cx="3309308" cy="1407847"/>
          </a:xfrm>
          <a:prstGeom prst="roundRect">
            <a:avLst/>
          </a:prstGeom>
          <a:noFill/>
          <a:ln w="28575">
            <a:solidFill>
              <a:schemeClr val="accent5">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tIns="0" rtlCol="0" anchor="t" anchorCtr="0"/>
          <a:lstStyle/>
          <a:p>
            <a:pPr algn="ctr"/>
            <a:r>
              <a:rPr lang="en-US">
                <a:solidFill>
                  <a:schemeClr val="accent5">
                    <a:lumMod val="75000"/>
                  </a:schemeClr>
                </a:solidFill>
              </a:rPr>
              <a:t>c</a:t>
            </a:r>
            <a:r>
              <a:rPr lang="en-US" smtClean="0">
                <a:solidFill>
                  <a:schemeClr val="accent5">
                    <a:lumMod val="75000"/>
                  </a:schemeClr>
                </a:solidFill>
              </a:rPr>
              <a:t>ost (J</a:t>
            </a:r>
            <a:r>
              <a:rPr lang="en-US" dirty="0" smtClean="0">
                <a:solidFill>
                  <a:schemeClr val="accent5">
                    <a:lumMod val="75000"/>
                  </a:schemeClr>
                </a:solidFill>
              </a:rPr>
              <a:t>)</a:t>
            </a:r>
            <a:endParaRPr lang="en-US" dirty="0">
              <a:solidFill>
                <a:schemeClr val="accent5">
                  <a:lumMod val="75000"/>
                </a:schemeClr>
              </a:solidFill>
            </a:endParaRPr>
          </a:p>
        </p:txBody>
      </p:sp>
      <p:cxnSp>
        <p:nvCxnSpPr>
          <p:cNvPr id="24" name="Straight Arrow Connector 23"/>
          <p:cNvCxnSpPr>
            <a:cxnSpLocks/>
          </p:cNvCxnSpPr>
          <p:nvPr/>
        </p:nvCxnSpPr>
        <p:spPr>
          <a:xfrm flipV="1">
            <a:off x="7744484" y="5169165"/>
            <a:ext cx="540738" cy="968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31" name="Oval 30"/>
          <p:cNvSpPr/>
          <p:nvPr/>
        </p:nvSpPr>
        <p:spPr>
          <a:xfrm>
            <a:off x="7170338" y="4869656"/>
            <a:ext cx="574146" cy="574146"/>
          </a:xfrm>
          <a:prstGeom prst="ellipse">
            <a:avLst/>
          </a:prstGeom>
          <a:solidFill>
            <a:schemeClr val="bg1">
              <a:lumMod val="75000"/>
            </a:schemeClr>
          </a:solidFill>
          <a:ln>
            <a:noFill/>
          </a:ln>
        </p:spPr>
        <p:style>
          <a:lnRef idx="2">
            <a:schemeClr val="accent4">
              <a:shade val="50000"/>
            </a:schemeClr>
          </a:lnRef>
          <a:fillRef idx="1">
            <a:schemeClr val="accent4"/>
          </a:fillRef>
          <a:effectRef idx="0">
            <a:schemeClr val="accent4"/>
          </a:effectRef>
          <a:fontRef idx="minor">
            <a:schemeClr val="lt1"/>
          </a:fontRef>
        </p:style>
        <p:txBody>
          <a:bodyPr wrap="none" rtlCol="0" anchor="ctr"/>
          <a:lstStyle/>
          <a:p>
            <a:pPr algn="ctr"/>
            <a:endParaRPr lang="en-US" sz="1600" dirty="0">
              <a:solidFill>
                <a:schemeClr val="tx2"/>
              </a:solidFill>
            </a:endParaRPr>
          </a:p>
        </p:txBody>
      </p:sp>
      <p:sp>
        <p:nvSpPr>
          <p:cNvPr id="35" name="Oval 34"/>
          <p:cNvSpPr/>
          <p:nvPr/>
        </p:nvSpPr>
        <p:spPr>
          <a:xfrm>
            <a:off x="9396022" y="4869656"/>
            <a:ext cx="574146" cy="574146"/>
          </a:xfrm>
          <a:prstGeom prst="ellipse">
            <a:avLst/>
          </a:prstGeom>
          <a:ln/>
        </p:spPr>
        <p:style>
          <a:lnRef idx="2">
            <a:schemeClr val="dk1">
              <a:shade val="50000"/>
            </a:schemeClr>
          </a:lnRef>
          <a:fillRef idx="1">
            <a:schemeClr val="dk1"/>
          </a:fillRef>
          <a:effectRef idx="0">
            <a:schemeClr val="dk1"/>
          </a:effectRef>
          <a:fontRef idx="minor">
            <a:schemeClr val="lt1"/>
          </a:fontRef>
        </p:style>
        <p:txBody>
          <a:bodyPr wrap="none" rtlCol="0" anchor="ctr"/>
          <a:lstStyle/>
          <a:p>
            <a:pPr algn="ctr"/>
            <a:r>
              <a:rPr lang="en-US" sz="1600" smtClean="0">
                <a:solidFill>
                  <a:schemeClr val="bg1"/>
                </a:solidFill>
              </a:rPr>
              <a:t>sum</a:t>
            </a:r>
            <a:endParaRPr lang="en-US" sz="1600" dirty="0">
              <a:solidFill>
                <a:schemeClr val="bg1"/>
              </a:solidFill>
            </a:endParaRPr>
          </a:p>
        </p:txBody>
      </p:sp>
      <p:cxnSp>
        <p:nvCxnSpPr>
          <p:cNvPr id="36" name="Straight Arrow Connector 35"/>
          <p:cNvCxnSpPr>
            <a:cxnSpLocks/>
          </p:cNvCxnSpPr>
          <p:nvPr/>
        </p:nvCxnSpPr>
        <p:spPr>
          <a:xfrm flipV="1">
            <a:off x="8866858" y="5169165"/>
            <a:ext cx="540738" cy="968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 name="TextBox 3"/>
              <p:cNvSpPr txBox="1"/>
              <p:nvPr/>
            </p:nvSpPr>
            <p:spPr>
              <a:xfrm>
                <a:off x="6704012" y="1739899"/>
                <a:ext cx="2275174" cy="8192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mr-IN" sz="2800" i="1" smtClean="0">
                              <a:latin typeface="Cambria Math" panose="02040503050406030204" pitchFamily="18" charset="0"/>
                            </a:rPr>
                          </m:ctrlPr>
                        </m:fPr>
                        <m:num>
                          <m:r>
                            <a:rPr lang="mr-IN" sz="2800" i="1" smtClean="0">
                              <a:latin typeface="Cambria Math" charset="0"/>
                            </a:rPr>
                            <m:t>𝜕</m:t>
                          </m:r>
                          <m:r>
                            <m:rPr>
                              <m:nor/>
                            </m:rPr>
                            <a:rPr lang="en-US" sz="2800" b="0" i="0" smtClean="0">
                              <a:latin typeface="Cambria Math" charset="0"/>
                            </a:rPr>
                            <m:t>square</m:t>
                          </m:r>
                        </m:num>
                        <m:den>
                          <m:r>
                            <a:rPr lang="mr-IN" sz="2800" i="1" smtClean="0">
                              <a:latin typeface="Cambria Math" charset="0"/>
                            </a:rPr>
                            <m:t>𝜕</m:t>
                          </m:r>
                          <m:r>
                            <a:rPr lang="en-US" sz="2800" b="0" i="1" smtClean="0">
                              <a:latin typeface="Cambria Math" charset="0"/>
                            </a:rPr>
                            <m:t>𝑧</m:t>
                          </m:r>
                        </m:den>
                      </m:f>
                      <m:r>
                        <a:rPr lang="en-US" sz="2800" b="0" i="1" smtClean="0">
                          <a:latin typeface="Cambria Math" charset="0"/>
                        </a:rPr>
                        <m:t>=2</m:t>
                      </m:r>
                      <m:r>
                        <a:rPr lang="en-US" sz="2800" b="0" i="1" smtClean="0">
                          <a:latin typeface="Cambria Math" charset="0"/>
                        </a:rPr>
                        <m:t>𝑧</m:t>
                      </m:r>
                    </m:oMath>
                  </m:oMathPara>
                </a14:m>
                <a:endParaRPr lang="en-US" sz="2800" dirty="0"/>
              </a:p>
            </p:txBody>
          </p:sp>
        </mc:Choice>
        <mc:Fallback xmlns="">
          <p:sp>
            <p:nvSpPr>
              <p:cNvPr id="4" name="TextBox 3"/>
              <p:cNvSpPr txBox="1">
                <a:spLocks noRot="1" noChangeAspect="1" noMove="1" noResize="1" noEditPoints="1" noAdjustHandles="1" noChangeArrowheads="1" noChangeShapeType="1" noTextEdit="1"/>
              </p:cNvSpPr>
              <p:nvPr/>
            </p:nvSpPr>
            <p:spPr>
              <a:xfrm>
                <a:off x="6704012" y="1739899"/>
                <a:ext cx="2275174" cy="819263"/>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TextBox 31"/>
              <p:cNvSpPr txBox="1"/>
              <p:nvPr/>
            </p:nvSpPr>
            <p:spPr>
              <a:xfrm>
                <a:off x="2828361" y="1946946"/>
                <a:ext cx="2595903"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nor/>
                        </m:rPr>
                        <a:rPr lang="en-US" sz="2800" b="0" i="0" smtClean="0">
                          <a:latin typeface="Cambria Math" charset="0"/>
                        </a:rPr>
                        <m:t>square</m:t>
                      </m:r>
                      <m:d>
                        <m:dPr>
                          <m:ctrlPr>
                            <a:rPr lang="en-US" sz="2800" b="0" i="1" smtClean="0">
                              <a:latin typeface="Cambria Math" panose="02040503050406030204" pitchFamily="18" charset="0"/>
                            </a:rPr>
                          </m:ctrlPr>
                        </m:dPr>
                        <m:e>
                          <m:r>
                            <a:rPr lang="en-US" sz="2800" b="0" i="1" smtClean="0">
                              <a:latin typeface="Cambria Math" charset="0"/>
                            </a:rPr>
                            <m:t>𝑧</m:t>
                          </m:r>
                        </m:e>
                      </m:d>
                      <m:r>
                        <a:rPr lang="en-US" sz="2800" b="0" i="1" smtClean="0">
                          <a:latin typeface="Cambria Math" charset="0"/>
                        </a:rPr>
                        <m:t>=</m:t>
                      </m:r>
                      <m:sSup>
                        <m:sSupPr>
                          <m:ctrlPr>
                            <a:rPr lang="en-US" sz="2800" b="0" i="1" smtClean="0">
                              <a:latin typeface="Cambria Math" panose="02040503050406030204" pitchFamily="18" charset="0"/>
                            </a:rPr>
                          </m:ctrlPr>
                        </m:sSupPr>
                        <m:e>
                          <m:r>
                            <a:rPr lang="en-US" sz="2800" b="0" i="1" smtClean="0">
                              <a:latin typeface="Cambria Math" charset="0"/>
                            </a:rPr>
                            <m:t>𝑧</m:t>
                          </m:r>
                        </m:e>
                        <m:sup>
                          <m:r>
                            <a:rPr lang="en-US" sz="2800" b="0" i="1" smtClean="0">
                              <a:latin typeface="Cambria Math" charset="0"/>
                            </a:rPr>
                            <m:t>2</m:t>
                          </m:r>
                        </m:sup>
                      </m:sSup>
                    </m:oMath>
                  </m:oMathPara>
                </a14:m>
                <a:endParaRPr lang="en-US" sz="2800" dirty="0"/>
              </a:p>
            </p:txBody>
          </p:sp>
        </mc:Choice>
        <mc:Fallback xmlns="">
          <p:sp>
            <p:nvSpPr>
              <p:cNvPr id="32" name="TextBox 31"/>
              <p:cNvSpPr txBox="1">
                <a:spLocks noRot="1" noChangeAspect="1" noMove="1" noResize="1" noEditPoints="1" noAdjustHandles="1" noChangeArrowheads="1" noChangeShapeType="1" noTextEdit="1"/>
              </p:cNvSpPr>
              <p:nvPr/>
            </p:nvSpPr>
            <p:spPr>
              <a:xfrm>
                <a:off x="2828361" y="1946946"/>
                <a:ext cx="2595903" cy="430887"/>
              </a:xfrm>
              <a:prstGeom prst="rect">
                <a:avLst/>
              </a:prstGeom>
              <a:blipFill rotWithShape="0">
                <a:blip r:embed="rId4"/>
                <a:stretch>
                  <a:fillRect/>
                </a:stretch>
              </a:blipFill>
            </p:spPr>
            <p:txBody>
              <a:bodyPr/>
              <a:lstStyle/>
              <a:p>
                <a:r>
                  <a:rPr lang="en-US">
                    <a:noFill/>
                  </a:rPr>
                  <a:t> </a:t>
                </a:r>
              </a:p>
            </p:txBody>
          </p:sp>
        </mc:Fallback>
      </mc:AlternateContent>
      <p:sp>
        <p:nvSpPr>
          <p:cNvPr id="27" name="Oval 26"/>
          <p:cNvSpPr/>
          <p:nvPr/>
        </p:nvSpPr>
        <p:spPr>
          <a:xfrm>
            <a:off x="8282745" y="4869656"/>
            <a:ext cx="574146" cy="574146"/>
          </a:xfrm>
          <a:prstGeom prst="ellipse">
            <a:avLst/>
          </a:prstGeom>
          <a:solidFill>
            <a:srgbClr val="197709"/>
          </a:solidFill>
          <a:ln>
            <a:solidFill>
              <a:schemeClr val="accent2">
                <a:lumMod val="50000"/>
              </a:schemeClr>
            </a:solidFill>
          </a:ln>
        </p:spPr>
        <p:style>
          <a:lnRef idx="2">
            <a:schemeClr val="accent4">
              <a:shade val="50000"/>
            </a:schemeClr>
          </a:lnRef>
          <a:fillRef idx="1">
            <a:schemeClr val="accent4"/>
          </a:fillRef>
          <a:effectRef idx="0">
            <a:schemeClr val="accent4"/>
          </a:effectRef>
          <a:fontRef idx="minor">
            <a:schemeClr val="lt1"/>
          </a:fontRef>
        </p:style>
        <p:txBody>
          <a:bodyPr wrap="none" rtlCol="0" anchor="ctr"/>
          <a:lstStyle/>
          <a:p>
            <a:pPr algn="ctr"/>
            <a:r>
              <a:rPr lang="en-US" sz="1400" dirty="0" smtClean="0">
                <a:solidFill>
                  <a:schemeClr val="bg1"/>
                </a:solidFill>
              </a:rPr>
              <a:t>square</a:t>
            </a:r>
            <a:endParaRPr lang="en-US" sz="1400" dirty="0">
              <a:solidFill>
                <a:schemeClr val="bg1"/>
              </a:solidFill>
            </a:endParaRPr>
          </a:p>
        </p:txBody>
      </p:sp>
      <mc:AlternateContent xmlns:mc="http://schemas.openxmlformats.org/markup-compatibility/2006" xmlns:a14="http://schemas.microsoft.com/office/drawing/2010/main">
        <mc:Choice Requires="a14">
          <p:sp>
            <p:nvSpPr>
              <p:cNvPr id="30" name="TextBox 29"/>
              <p:cNvSpPr txBox="1"/>
              <p:nvPr/>
            </p:nvSpPr>
            <p:spPr>
              <a:xfrm>
                <a:off x="9363566" y="3866651"/>
                <a:ext cx="603050" cy="53681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mr-IN" sz="1600" i="1" smtClean="0">
                              <a:latin typeface="Cambria Math" panose="02040503050406030204" pitchFamily="18" charset="0"/>
                            </a:rPr>
                          </m:ctrlPr>
                        </m:fPr>
                        <m:num>
                          <m:r>
                            <a:rPr lang="mr-IN" sz="1600" i="1" smtClean="0">
                              <a:latin typeface="Cambria Math" charset="0"/>
                            </a:rPr>
                            <m:t>𝜕</m:t>
                          </m:r>
                          <m:r>
                            <m:rPr>
                              <m:nor/>
                            </m:rPr>
                            <a:rPr lang="en-US" sz="1600" b="0" i="0" smtClean="0">
                              <a:latin typeface="Cambria Math" charset="0"/>
                            </a:rPr>
                            <m:t>sum</m:t>
                          </m:r>
                        </m:num>
                        <m:den>
                          <m:r>
                            <a:rPr lang="mr-IN" sz="1600" i="1" smtClean="0">
                              <a:latin typeface="Cambria Math" charset="0"/>
                            </a:rPr>
                            <m:t>𝜕</m:t>
                          </m:r>
                          <m:sSub>
                            <m:sSubPr>
                              <m:ctrlPr>
                                <a:rPr lang="en-US" sz="1600" b="0" i="1" smtClean="0">
                                  <a:latin typeface="Cambria Math" panose="02040503050406030204" pitchFamily="18" charset="0"/>
                                </a:rPr>
                              </m:ctrlPr>
                            </m:sSubPr>
                            <m:e>
                              <m:r>
                                <a:rPr lang="en-US" sz="1600" b="0" i="1" smtClean="0">
                                  <a:latin typeface="Cambria Math" charset="0"/>
                                </a:rPr>
                                <m:t>𝑧</m:t>
                              </m:r>
                            </m:e>
                            <m:sub>
                              <m:r>
                                <a:rPr lang="en-US" sz="1600" b="0" i="1" smtClean="0">
                                  <a:latin typeface="Cambria Math" charset="0"/>
                                </a:rPr>
                                <m:t>𝑝</m:t>
                              </m:r>
                            </m:sub>
                          </m:sSub>
                        </m:den>
                      </m:f>
                    </m:oMath>
                  </m:oMathPara>
                </a14:m>
                <a:endParaRPr lang="en-US" sz="2800" dirty="0"/>
              </a:p>
            </p:txBody>
          </p:sp>
        </mc:Choice>
        <mc:Fallback xmlns="">
          <p:sp>
            <p:nvSpPr>
              <p:cNvPr id="30" name="TextBox 29"/>
              <p:cNvSpPr txBox="1">
                <a:spLocks noRot="1" noChangeAspect="1" noMove="1" noResize="1" noEditPoints="1" noAdjustHandles="1" noChangeArrowheads="1" noChangeShapeType="1" noTextEdit="1"/>
              </p:cNvSpPr>
              <p:nvPr/>
            </p:nvSpPr>
            <p:spPr>
              <a:xfrm>
                <a:off x="9363566" y="3866651"/>
                <a:ext cx="603050" cy="536814"/>
              </a:xfrm>
              <a:prstGeom prst="rect">
                <a:avLst/>
              </a:prstGeom>
              <a:blipFill rotWithShape="0">
                <a:blip r:embed="rId5"/>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65995106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7" name="Straight Arrow Connector 36"/>
          <p:cNvCxnSpPr>
            <a:cxnSpLocks/>
          </p:cNvCxnSpPr>
          <p:nvPr/>
        </p:nvCxnSpPr>
        <p:spPr>
          <a:xfrm flipV="1">
            <a:off x="9966616" y="5164321"/>
            <a:ext cx="540738" cy="968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normAutofit/>
          </a:bodyPr>
          <a:lstStyle/>
          <a:p>
            <a:r>
              <a:rPr lang="en-US" sz="2800" dirty="0"/>
              <a:t>What is derivative of </a:t>
            </a:r>
            <a:r>
              <a:rPr lang="en-US" sz="2800" dirty="0" smtClean="0"/>
              <a:t>minus </a:t>
            </a:r>
            <a:r>
              <a:rPr lang="en-US" sz="2800" dirty="0" err="1" smtClean="0"/>
              <a:t>w.r.t</a:t>
            </a:r>
            <a:r>
              <a:rPr lang="en-US" sz="2800" dirty="0" smtClean="0"/>
              <a:t> either input?</a:t>
            </a:r>
            <a:endParaRPr lang="en-US" sz="2800" dirty="0"/>
          </a:p>
        </p:txBody>
      </p:sp>
      <p:sp>
        <p:nvSpPr>
          <p:cNvPr id="5" name="Oval 4"/>
          <p:cNvSpPr/>
          <p:nvPr/>
        </p:nvSpPr>
        <p:spPr>
          <a:xfrm>
            <a:off x="3187202" y="4307946"/>
            <a:ext cx="574146" cy="574146"/>
          </a:xfrm>
          <a:prstGeom prst="ellipse">
            <a:avLst/>
          </a:prstGeom>
          <a:solidFill>
            <a:schemeClr val="bg1">
              <a:lumMod val="75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wrap="none" rtlCol="0" anchor="ctr"/>
          <a:lstStyle/>
          <a:p>
            <a:pPr algn="ctr"/>
            <a:endParaRPr lang="en-US" sz="1600" dirty="0">
              <a:solidFill>
                <a:schemeClr val="tx2"/>
              </a:solidFill>
            </a:endParaRPr>
          </a:p>
        </p:txBody>
      </p:sp>
      <p:sp>
        <p:nvSpPr>
          <p:cNvPr id="6" name="Oval 5"/>
          <p:cNvSpPr/>
          <p:nvPr/>
        </p:nvSpPr>
        <p:spPr>
          <a:xfrm>
            <a:off x="3187202" y="5456237"/>
            <a:ext cx="574146" cy="574146"/>
          </a:xfrm>
          <a:prstGeom prst="ellipse">
            <a:avLst/>
          </a:prstGeom>
          <a:solidFill>
            <a:schemeClr val="bg1">
              <a:lumMod val="75000"/>
            </a:schemeClr>
          </a:solidFill>
          <a:ln>
            <a:noFill/>
          </a:ln>
        </p:spPr>
        <p:style>
          <a:lnRef idx="3">
            <a:schemeClr val="lt1"/>
          </a:lnRef>
          <a:fillRef idx="1">
            <a:schemeClr val="dk1"/>
          </a:fillRef>
          <a:effectRef idx="1">
            <a:schemeClr val="dk1"/>
          </a:effectRef>
          <a:fontRef idx="minor">
            <a:schemeClr val="lt1"/>
          </a:fontRef>
        </p:style>
        <p:txBody>
          <a:bodyPr wrap="none" rtlCol="0" anchor="ctr"/>
          <a:lstStyle/>
          <a:p>
            <a:pPr algn="ctr"/>
            <a:endParaRPr lang="en-US" sz="1600" dirty="0">
              <a:solidFill>
                <a:schemeClr val="bg1"/>
              </a:solidFill>
            </a:endParaRPr>
          </a:p>
        </p:txBody>
      </p:sp>
      <p:sp>
        <p:nvSpPr>
          <p:cNvPr id="7" name="Oval 6"/>
          <p:cNvSpPr/>
          <p:nvPr/>
        </p:nvSpPr>
        <p:spPr>
          <a:xfrm>
            <a:off x="4586682" y="4307946"/>
            <a:ext cx="574146" cy="574146"/>
          </a:xfrm>
          <a:prstGeom prst="ellipse">
            <a:avLst/>
          </a:prstGeom>
          <a:solidFill>
            <a:schemeClr val="bg1">
              <a:lumMod val="75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wrap="none" rtlCol="0" anchor="ctr"/>
          <a:lstStyle/>
          <a:p>
            <a:pPr algn="ctr"/>
            <a:endParaRPr lang="en-US" sz="1200" dirty="0">
              <a:solidFill>
                <a:schemeClr val="tx2"/>
              </a:solidFill>
            </a:endParaRPr>
          </a:p>
        </p:txBody>
      </p:sp>
      <p:sp>
        <p:nvSpPr>
          <p:cNvPr id="8" name="Oval 7"/>
          <p:cNvSpPr/>
          <p:nvPr/>
        </p:nvSpPr>
        <p:spPr>
          <a:xfrm>
            <a:off x="4586682" y="5456237"/>
            <a:ext cx="574146" cy="574146"/>
          </a:xfrm>
          <a:prstGeom prst="ellipse">
            <a:avLst/>
          </a:prstGeom>
          <a:solidFill>
            <a:schemeClr val="bg1">
              <a:lumMod val="75000"/>
            </a:schemeClr>
          </a:solidFill>
          <a:ln>
            <a:noFill/>
          </a:ln>
        </p:spPr>
        <p:style>
          <a:lnRef idx="3">
            <a:schemeClr val="lt1"/>
          </a:lnRef>
          <a:fillRef idx="1">
            <a:schemeClr val="dk1"/>
          </a:fillRef>
          <a:effectRef idx="1">
            <a:schemeClr val="dk1"/>
          </a:effectRef>
          <a:fontRef idx="minor">
            <a:schemeClr val="lt1"/>
          </a:fontRef>
        </p:style>
        <p:txBody>
          <a:bodyPr wrap="none" rtlCol="0" anchor="ctr"/>
          <a:lstStyle/>
          <a:p>
            <a:pPr algn="ctr"/>
            <a:endParaRPr lang="en-US" sz="1600" dirty="0">
              <a:solidFill>
                <a:schemeClr val="bg1"/>
              </a:solidFill>
            </a:endParaRPr>
          </a:p>
        </p:txBody>
      </p:sp>
      <p:sp>
        <p:nvSpPr>
          <p:cNvPr id="9" name="Oval 8"/>
          <p:cNvSpPr/>
          <p:nvPr/>
        </p:nvSpPr>
        <p:spPr>
          <a:xfrm>
            <a:off x="5878510" y="4882092"/>
            <a:ext cx="574146" cy="574146"/>
          </a:xfrm>
          <a:prstGeom prst="ellipse">
            <a:avLst/>
          </a:prstGeom>
          <a:solidFill>
            <a:schemeClr val="bg1">
              <a:lumMod val="75000"/>
            </a:schemeClr>
          </a:solidFill>
          <a:ln>
            <a:noFill/>
          </a:ln>
        </p:spPr>
        <p:style>
          <a:lnRef idx="2">
            <a:schemeClr val="accent4">
              <a:shade val="50000"/>
            </a:schemeClr>
          </a:lnRef>
          <a:fillRef idx="1">
            <a:schemeClr val="accent4"/>
          </a:fillRef>
          <a:effectRef idx="0">
            <a:schemeClr val="accent4"/>
          </a:effectRef>
          <a:fontRef idx="minor">
            <a:schemeClr val="lt1"/>
          </a:fontRef>
        </p:style>
        <p:txBody>
          <a:bodyPr wrap="none" rtlCol="0" anchor="ctr"/>
          <a:lstStyle/>
          <a:p>
            <a:pPr algn="ctr"/>
            <a:endParaRPr lang="en-US" sz="1600" dirty="0">
              <a:solidFill>
                <a:schemeClr val="tx2"/>
              </a:solidFill>
            </a:endParaRPr>
          </a:p>
        </p:txBody>
      </p:sp>
      <p:cxnSp>
        <p:nvCxnSpPr>
          <p:cNvPr id="10" name="Straight Arrow Connector 9"/>
          <p:cNvCxnSpPr>
            <a:cxnSpLocks/>
          </p:cNvCxnSpPr>
          <p:nvPr/>
        </p:nvCxnSpPr>
        <p:spPr>
          <a:xfrm>
            <a:off x="2469520" y="4595019"/>
            <a:ext cx="717682"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a:cxnSpLocks/>
          </p:cNvCxnSpPr>
          <p:nvPr/>
        </p:nvCxnSpPr>
        <p:spPr>
          <a:xfrm>
            <a:off x="2469520" y="5743310"/>
            <a:ext cx="717682"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a:off x="3761348" y="4595019"/>
            <a:ext cx="825334"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a:cxnSpLocks/>
          </p:cNvCxnSpPr>
          <p:nvPr/>
        </p:nvCxnSpPr>
        <p:spPr>
          <a:xfrm flipV="1">
            <a:off x="3761348" y="4798010"/>
            <a:ext cx="909416" cy="94530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a:off x="5160828" y="4595019"/>
            <a:ext cx="801764" cy="371155"/>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flipV="1">
            <a:off x="5160828" y="5372156"/>
            <a:ext cx="801764" cy="371155"/>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cxnSpLocks/>
          </p:cNvCxnSpPr>
          <p:nvPr/>
        </p:nvCxnSpPr>
        <p:spPr>
          <a:xfrm>
            <a:off x="6452656" y="5169165"/>
            <a:ext cx="717682"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17" name="Oval 16"/>
          <p:cNvSpPr/>
          <p:nvPr/>
        </p:nvSpPr>
        <p:spPr>
          <a:xfrm>
            <a:off x="3187202" y="3124200"/>
            <a:ext cx="574146" cy="574146"/>
          </a:xfrm>
          <a:prstGeom prst="ellipse">
            <a:avLst/>
          </a:prstGeom>
          <a:solidFill>
            <a:schemeClr val="bg1">
              <a:lumMod val="75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wrap="none" rtlCol="0" anchor="ctr"/>
          <a:lstStyle/>
          <a:p>
            <a:pPr algn="ctr"/>
            <a:endParaRPr lang="en-US" sz="1600" dirty="0">
              <a:solidFill>
                <a:schemeClr val="tx2"/>
              </a:solidFill>
            </a:endParaRPr>
          </a:p>
        </p:txBody>
      </p:sp>
      <p:cxnSp>
        <p:nvCxnSpPr>
          <p:cNvPr id="18" name="Straight Arrow Connector 17"/>
          <p:cNvCxnSpPr>
            <a:cxnSpLocks/>
          </p:cNvCxnSpPr>
          <p:nvPr/>
        </p:nvCxnSpPr>
        <p:spPr>
          <a:xfrm>
            <a:off x="2469520" y="3411273"/>
            <a:ext cx="717682"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20" name="Elbow Connector 19"/>
          <p:cNvCxnSpPr/>
          <p:nvPr/>
        </p:nvCxnSpPr>
        <p:spPr>
          <a:xfrm>
            <a:off x="3761348" y="3411274"/>
            <a:ext cx="3696063" cy="1458382"/>
          </a:xfrm>
          <a:prstGeom prst="bentConnector2">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22" name="Rounded Rectangle 21"/>
          <p:cNvSpPr/>
          <p:nvPr/>
        </p:nvSpPr>
        <p:spPr>
          <a:xfrm>
            <a:off x="6932612" y="4419600"/>
            <a:ext cx="3309308" cy="1407847"/>
          </a:xfrm>
          <a:prstGeom prst="roundRect">
            <a:avLst/>
          </a:prstGeom>
          <a:noFill/>
          <a:ln w="28575">
            <a:solidFill>
              <a:schemeClr val="accent5">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tIns="0" rtlCol="0" anchor="t" anchorCtr="0"/>
          <a:lstStyle/>
          <a:p>
            <a:pPr algn="ctr"/>
            <a:r>
              <a:rPr lang="en-US">
                <a:solidFill>
                  <a:schemeClr val="accent5">
                    <a:lumMod val="75000"/>
                  </a:schemeClr>
                </a:solidFill>
              </a:rPr>
              <a:t>c</a:t>
            </a:r>
            <a:r>
              <a:rPr lang="en-US" smtClean="0">
                <a:solidFill>
                  <a:schemeClr val="accent5">
                    <a:lumMod val="75000"/>
                  </a:schemeClr>
                </a:solidFill>
              </a:rPr>
              <a:t>ost (J</a:t>
            </a:r>
            <a:r>
              <a:rPr lang="en-US" dirty="0" smtClean="0">
                <a:solidFill>
                  <a:schemeClr val="accent5">
                    <a:lumMod val="75000"/>
                  </a:schemeClr>
                </a:solidFill>
              </a:rPr>
              <a:t>)</a:t>
            </a:r>
            <a:endParaRPr lang="en-US" dirty="0">
              <a:solidFill>
                <a:schemeClr val="accent5">
                  <a:lumMod val="75000"/>
                </a:schemeClr>
              </a:solidFill>
            </a:endParaRPr>
          </a:p>
        </p:txBody>
      </p:sp>
      <p:cxnSp>
        <p:nvCxnSpPr>
          <p:cNvPr id="24" name="Straight Arrow Connector 23"/>
          <p:cNvCxnSpPr>
            <a:cxnSpLocks/>
          </p:cNvCxnSpPr>
          <p:nvPr/>
        </p:nvCxnSpPr>
        <p:spPr>
          <a:xfrm flipV="1">
            <a:off x="7744484" y="5169165"/>
            <a:ext cx="540738" cy="968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35" name="Oval 34"/>
          <p:cNvSpPr/>
          <p:nvPr/>
        </p:nvSpPr>
        <p:spPr>
          <a:xfrm>
            <a:off x="9396022" y="4869656"/>
            <a:ext cx="574146" cy="574146"/>
          </a:xfrm>
          <a:prstGeom prst="ellipse">
            <a:avLst/>
          </a:prstGeom>
          <a:ln/>
        </p:spPr>
        <p:style>
          <a:lnRef idx="2">
            <a:schemeClr val="dk1">
              <a:shade val="50000"/>
            </a:schemeClr>
          </a:lnRef>
          <a:fillRef idx="1">
            <a:schemeClr val="dk1"/>
          </a:fillRef>
          <a:effectRef idx="0">
            <a:schemeClr val="dk1"/>
          </a:effectRef>
          <a:fontRef idx="minor">
            <a:schemeClr val="lt1"/>
          </a:fontRef>
        </p:style>
        <p:txBody>
          <a:bodyPr wrap="none" rtlCol="0" anchor="ctr"/>
          <a:lstStyle/>
          <a:p>
            <a:pPr algn="ctr"/>
            <a:r>
              <a:rPr lang="en-US" sz="1600" smtClean="0">
                <a:solidFill>
                  <a:schemeClr val="bg1"/>
                </a:solidFill>
              </a:rPr>
              <a:t>sum</a:t>
            </a:r>
            <a:endParaRPr lang="en-US" sz="1600" dirty="0">
              <a:solidFill>
                <a:schemeClr val="bg1"/>
              </a:solidFill>
            </a:endParaRPr>
          </a:p>
        </p:txBody>
      </p:sp>
      <p:cxnSp>
        <p:nvCxnSpPr>
          <p:cNvPr id="36" name="Straight Arrow Connector 35"/>
          <p:cNvCxnSpPr>
            <a:cxnSpLocks/>
          </p:cNvCxnSpPr>
          <p:nvPr/>
        </p:nvCxnSpPr>
        <p:spPr>
          <a:xfrm flipV="1">
            <a:off x="8866858" y="5169165"/>
            <a:ext cx="540738" cy="968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 name="TextBox 3"/>
              <p:cNvSpPr txBox="1"/>
              <p:nvPr/>
            </p:nvSpPr>
            <p:spPr>
              <a:xfrm>
                <a:off x="6323012" y="1739899"/>
                <a:ext cx="2016706" cy="8192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mr-IN" sz="2800" i="1" smtClean="0">
                              <a:latin typeface="Cambria Math" panose="02040503050406030204" pitchFamily="18" charset="0"/>
                            </a:rPr>
                          </m:ctrlPr>
                        </m:fPr>
                        <m:num>
                          <m:r>
                            <a:rPr lang="mr-IN" sz="2800" i="1" smtClean="0">
                              <a:latin typeface="Cambria Math" charset="0"/>
                            </a:rPr>
                            <m:t>𝜕</m:t>
                          </m:r>
                          <m:r>
                            <m:rPr>
                              <m:nor/>
                            </m:rPr>
                            <a:rPr lang="en-US" sz="2800" b="0" i="0" smtClean="0">
                              <a:latin typeface="Cambria Math" charset="0"/>
                            </a:rPr>
                            <m:t>minu</m:t>
                          </m:r>
                          <m:r>
                            <a:rPr lang="en-US" sz="2800" b="0" i="1" smtClean="0">
                              <a:latin typeface="Cambria Math" charset="0"/>
                            </a:rPr>
                            <m:t>𝑠</m:t>
                          </m:r>
                        </m:num>
                        <m:den>
                          <m:r>
                            <a:rPr lang="mr-IN" sz="2800" i="1" smtClean="0">
                              <a:latin typeface="Cambria Math" charset="0"/>
                            </a:rPr>
                            <m:t>𝜕</m:t>
                          </m:r>
                          <m:r>
                            <a:rPr lang="en-US" sz="2800" b="0" i="1" smtClean="0">
                              <a:latin typeface="Cambria Math" charset="0"/>
                            </a:rPr>
                            <m:t>𝑎</m:t>
                          </m:r>
                        </m:den>
                      </m:f>
                      <m:r>
                        <a:rPr lang="en-US" sz="2800" b="0" i="1" smtClean="0">
                          <a:latin typeface="Cambria Math" charset="0"/>
                        </a:rPr>
                        <m:t>=1</m:t>
                      </m:r>
                    </m:oMath>
                  </m:oMathPara>
                </a14:m>
                <a:endParaRPr lang="en-US" sz="2800" dirty="0"/>
              </a:p>
            </p:txBody>
          </p:sp>
        </mc:Choice>
        <mc:Fallback xmlns="">
          <p:sp>
            <p:nvSpPr>
              <p:cNvPr id="4" name="TextBox 3"/>
              <p:cNvSpPr txBox="1">
                <a:spLocks noRot="1" noChangeAspect="1" noMove="1" noResize="1" noEditPoints="1" noAdjustHandles="1" noChangeArrowheads="1" noChangeShapeType="1" noTextEdit="1"/>
              </p:cNvSpPr>
              <p:nvPr/>
            </p:nvSpPr>
            <p:spPr>
              <a:xfrm>
                <a:off x="6323012" y="1739899"/>
                <a:ext cx="2016706" cy="819263"/>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TextBox 31"/>
              <p:cNvSpPr txBox="1"/>
              <p:nvPr/>
            </p:nvSpPr>
            <p:spPr>
              <a:xfrm>
                <a:off x="1834370" y="1946946"/>
                <a:ext cx="3279809"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nor/>
                        </m:rPr>
                        <a:rPr lang="en-US" sz="2800" smtClean="0">
                          <a:latin typeface="Cambria Math" charset="0"/>
                        </a:rPr>
                        <m:t>m</m:t>
                      </m:r>
                      <m:r>
                        <m:rPr>
                          <m:nor/>
                        </m:rPr>
                        <a:rPr lang="en-US" sz="2800" b="0" i="0" smtClean="0">
                          <a:latin typeface="Cambria Math" charset="0"/>
                        </a:rPr>
                        <m:t>inus</m:t>
                      </m:r>
                      <m:d>
                        <m:dPr>
                          <m:ctrlPr>
                            <a:rPr lang="en-US" sz="2800" b="0" i="1" smtClean="0">
                              <a:latin typeface="Cambria Math" panose="02040503050406030204" pitchFamily="18" charset="0"/>
                            </a:rPr>
                          </m:ctrlPr>
                        </m:dPr>
                        <m:e>
                          <m:r>
                            <a:rPr lang="en-US" sz="2800" b="0" i="1" smtClean="0">
                              <a:latin typeface="Cambria Math" charset="0"/>
                            </a:rPr>
                            <m:t>𝑎</m:t>
                          </m:r>
                          <m:r>
                            <a:rPr lang="en-US" sz="2800" b="0" i="1" smtClean="0">
                              <a:latin typeface="Cambria Math" charset="0"/>
                            </a:rPr>
                            <m:t>, </m:t>
                          </m:r>
                          <m:r>
                            <a:rPr lang="en-US" sz="2800" b="0" i="1" smtClean="0">
                              <a:latin typeface="Cambria Math" charset="0"/>
                            </a:rPr>
                            <m:t>𝑏</m:t>
                          </m:r>
                        </m:e>
                      </m:d>
                      <m:r>
                        <a:rPr lang="en-US" sz="2800" b="0" i="1" smtClean="0">
                          <a:latin typeface="Cambria Math" charset="0"/>
                        </a:rPr>
                        <m:t>=</m:t>
                      </m:r>
                      <m:r>
                        <a:rPr lang="en-US" sz="2800" b="0" i="1" smtClean="0">
                          <a:latin typeface="Cambria Math" charset="0"/>
                        </a:rPr>
                        <m:t>𝑎</m:t>
                      </m:r>
                      <m:r>
                        <a:rPr lang="en-US" sz="2800" b="0" i="1" smtClean="0">
                          <a:latin typeface="Cambria Math" charset="0"/>
                        </a:rPr>
                        <m:t>−</m:t>
                      </m:r>
                      <m:r>
                        <a:rPr lang="en-US" sz="2800" b="0" i="1" smtClean="0">
                          <a:latin typeface="Cambria Math" charset="0"/>
                        </a:rPr>
                        <m:t>𝑏</m:t>
                      </m:r>
                    </m:oMath>
                  </m:oMathPara>
                </a14:m>
                <a:endParaRPr lang="en-US" sz="2800" dirty="0"/>
              </a:p>
            </p:txBody>
          </p:sp>
        </mc:Choice>
        <mc:Fallback xmlns="">
          <p:sp>
            <p:nvSpPr>
              <p:cNvPr id="32" name="TextBox 31"/>
              <p:cNvSpPr txBox="1">
                <a:spLocks noRot="1" noChangeAspect="1" noMove="1" noResize="1" noEditPoints="1" noAdjustHandles="1" noChangeArrowheads="1" noChangeShapeType="1" noTextEdit="1"/>
              </p:cNvSpPr>
              <p:nvPr/>
            </p:nvSpPr>
            <p:spPr>
              <a:xfrm>
                <a:off x="1834370" y="1946946"/>
                <a:ext cx="3279809" cy="430887"/>
              </a:xfrm>
              <a:prstGeom prst="rect">
                <a:avLst/>
              </a:prstGeom>
              <a:blipFill rotWithShape="0">
                <a:blip r:embed="rId4"/>
                <a:stretch>
                  <a:fillRect/>
                </a:stretch>
              </a:blipFill>
            </p:spPr>
            <p:txBody>
              <a:bodyPr/>
              <a:lstStyle/>
              <a:p>
                <a:r>
                  <a:rPr lang="en-US">
                    <a:noFill/>
                  </a:rPr>
                  <a:t> </a:t>
                </a:r>
              </a:p>
            </p:txBody>
          </p:sp>
        </mc:Fallback>
      </mc:AlternateContent>
      <p:sp>
        <p:nvSpPr>
          <p:cNvPr id="27" name="Oval 26"/>
          <p:cNvSpPr/>
          <p:nvPr/>
        </p:nvSpPr>
        <p:spPr>
          <a:xfrm>
            <a:off x="8282745" y="4869656"/>
            <a:ext cx="574146" cy="574146"/>
          </a:xfrm>
          <a:prstGeom prst="ellipse">
            <a:avLst/>
          </a:prstGeom>
          <a:solidFill>
            <a:srgbClr val="197709"/>
          </a:solidFill>
          <a:ln>
            <a:solidFill>
              <a:schemeClr val="accent2">
                <a:lumMod val="50000"/>
              </a:schemeClr>
            </a:solidFill>
          </a:ln>
        </p:spPr>
        <p:style>
          <a:lnRef idx="2">
            <a:schemeClr val="accent4">
              <a:shade val="50000"/>
            </a:schemeClr>
          </a:lnRef>
          <a:fillRef idx="1">
            <a:schemeClr val="accent4"/>
          </a:fillRef>
          <a:effectRef idx="0">
            <a:schemeClr val="accent4"/>
          </a:effectRef>
          <a:fontRef idx="minor">
            <a:schemeClr val="lt1"/>
          </a:fontRef>
        </p:style>
        <p:txBody>
          <a:bodyPr wrap="none" rtlCol="0" anchor="ctr"/>
          <a:lstStyle/>
          <a:p>
            <a:pPr algn="ctr"/>
            <a:r>
              <a:rPr lang="en-US" sz="1400" dirty="0" smtClean="0">
                <a:solidFill>
                  <a:schemeClr val="bg1"/>
                </a:solidFill>
              </a:rPr>
              <a:t>square</a:t>
            </a:r>
            <a:endParaRPr lang="en-US" sz="1400" dirty="0">
              <a:solidFill>
                <a:schemeClr val="bg1"/>
              </a:solidFill>
            </a:endParaRPr>
          </a:p>
        </p:txBody>
      </p:sp>
      <mc:AlternateContent xmlns:mc="http://schemas.openxmlformats.org/markup-compatibility/2006" xmlns:a14="http://schemas.microsoft.com/office/drawing/2010/main">
        <mc:Choice Requires="a14">
          <p:sp>
            <p:nvSpPr>
              <p:cNvPr id="30" name="TextBox 29"/>
              <p:cNvSpPr txBox="1"/>
              <p:nvPr/>
            </p:nvSpPr>
            <p:spPr>
              <a:xfrm>
                <a:off x="9363566" y="3866651"/>
                <a:ext cx="603050" cy="53681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mr-IN" sz="1600" i="1" smtClean="0">
                              <a:latin typeface="Cambria Math" panose="02040503050406030204" pitchFamily="18" charset="0"/>
                            </a:rPr>
                          </m:ctrlPr>
                        </m:fPr>
                        <m:num>
                          <m:r>
                            <a:rPr lang="mr-IN" sz="1600" i="1" smtClean="0">
                              <a:latin typeface="Cambria Math" charset="0"/>
                            </a:rPr>
                            <m:t>𝜕</m:t>
                          </m:r>
                          <m:r>
                            <a:rPr lang="en-US" sz="1600" b="0" i="1" smtClean="0">
                              <a:latin typeface="Cambria Math" charset="0"/>
                            </a:rPr>
                            <m:t>𝑠𝑢𝑚</m:t>
                          </m:r>
                        </m:num>
                        <m:den>
                          <m:r>
                            <a:rPr lang="mr-IN" sz="1600" i="1" smtClean="0">
                              <a:latin typeface="Cambria Math" charset="0"/>
                            </a:rPr>
                            <m:t>𝜕</m:t>
                          </m:r>
                          <m:sSub>
                            <m:sSubPr>
                              <m:ctrlPr>
                                <a:rPr lang="en-US" sz="1600" b="0" i="1" smtClean="0">
                                  <a:latin typeface="Cambria Math" panose="02040503050406030204" pitchFamily="18" charset="0"/>
                                </a:rPr>
                              </m:ctrlPr>
                            </m:sSubPr>
                            <m:e>
                              <m:r>
                                <a:rPr lang="en-US" sz="1600" b="0" i="1" smtClean="0">
                                  <a:latin typeface="Cambria Math" charset="0"/>
                                </a:rPr>
                                <m:t>𝑧</m:t>
                              </m:r>
                            </m:e>
                            <m:sub>
                              <m:r>
                                <a:rPr lang="en-US" sz="1600" b="0" i="1" smtClean="0">
                                  <a:latin typeface="Cambria Math" charset="0"/>
                                </a:rPr>
                                <m:t>𝑝</m:t>
                              </m:r>
                            </m:sub>
                          </m:sSub>
                        </m:den>
                      </m:f>
                    </m:oMath>
                  </m:oMathPara>
                </a14:m>
                <a:endParaRPr lang="en-US" sz="2800" dirty="0"/>
              </a:p>
            </p:txBody>
          </p:sp>
        </mc:Choice>
        <mc:Fallback xmlns="">
          <p:sp>
            <p:nvSpPr>
              <p:cNvPr id="30" name="TextBox 29"/>
              <p:cNvSpPr txBox="1">
                <a:spLocks noRot="1" noChangeAspect="1" noMove="1" noResize="1" noEditPoints="1" noAdjustHandles="1" noChangeArrowheads="1" noChangeShapeType="1" noTextEdit="1"/>
              </p:cNvSpPr>
              <p:nvPr/>
            </p:nvSpPr>
            <p:spPr>
              <a:xfrm>
                <a:off x="9363566" y="3866651"/>
                <a:ext cx="603050" cy="536814"/>
              </a:xfrm>
              <a:prstGeom prst="rect">
                <a:avLst/>
              </a:prstGeom>
              <a:blipFill rotWithShape="0">
                <a:blip r:embed="rId5"/>
                <a:stretch>
                  <a:fillRect/>
                </a:stretch>
              </a:blipFill>
            </p:spPr>
            <p:txBody>
              <a:bodyPr/>
              <a:lstStyle/>
              <a:p>
                <a:r>
                  <a:rPr lang="en-US">
                    <a:noFill/>
                  </a:rPr>
                  <a:t> </a:t>
                </a:r>
              </a:p>
            </p:txBody>
          </p:sp>
        </mc:Fallback>
      </mc:AlternateContent>
      <p:sp>
        <p:nvSpPr>
          <p:cNvPr id="28" name="Oval 27"/>
          <p:cNvSpPr/>
          <p:nvPr/>
        </p:nvSpPr>
        <p:spPr>
          <a:xfrm>
            <a:off x="7170338" y="4869656"/>
            <a:ext cx="574146" cy="574146"/>
          </a:xfrm>
          <a:prstGeom prst="ellipse">
            <a:avLst/>
          </a:prstGeom>
          <a:solidFill>
            <a:schemeClr val="accent5">
              <a:lumMod val="60000"/>
              <a:lumOff val="40000"/>
            </a:schemeClr>
          </a:solidFill>
          <a:ln>
            <a:solidFill>
              <a:schemeClr val="accent5">
                <a:lumMod val="75000"/>
              </a:schemeClr>
            </a:solidFill>
          </a:ln>
        </p:spPr>
        <p:style>
          <a:lnRef idx="2">
            <a:schemeClr val="accent4">
              <a:shade val="50000"/>
            </a:schemeClr>
          </a:lnRef>
          <a:fillRef idx="1">
            <a:schemeClr val="accent4"/>
          </a:fillRef>
          <a:effectRef idx="0">
            <a:schemeClr val="accent4"/>
          </a:effectRef>
          <a:fontRef idx="minor">
            <a:schemeClr val="lt1"/>
          </a:fontRef>
        </p:style>
        <p:txBody>
          <a:bodyPr wrap="none" rtlCol="0" anchor="ctr"/>
          <a:lstStyle/>
          <a:p>
            <a:pPr algn="ctr"/>
            <a:r>
              <a:rPr lang="en-US" sz="1600" dirty="0" smtClean="0">
                <a:solidFill>
                  <a:schemeClr val="tx2"/>
                </a:solidFill>
              </a:rPr>
              <a:t>minus</a:t>
            </a:r>
            <a:endParaRPr lang="en-US" sz="1600" dirty="0">
              <a:solidFill>
                <a:schemeClr val="tx2"/>
              </a:solidFill>
            </a:endParaRPr>
          </a:p>
        </p:txBody>
      </p:sp>
      <mc:AlternateContent xmlns:mc="http://schemas.openxmlformats.org/markup-compatibility/2006" xmlns:a14="http://schemas.microsoft.com/office/drawing/2010/main">
        <mc:Choice Requires="a14">
          <p:sp>
            <p:nvSpPr>
              <p:cNvPr id="29" name="TextBox 28"/>
              <p:cNvSpPr txBox="1"/>
              <p:nvPr/>
            </p:nvSpPr>
            <p:spPr>
              <a:xfrm>
                <a:off x="8615175" y="1739899"/>
                <a:ext cx="2284408" cy="8192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mr-IN" sz="2800" i="1" smtClean="0">
                              <a:latin typeface="Cambria Math" panose="02040503050406030204" pitchFamily="18" charset="0"/>
                            </a:rPr>
                          </m:ctrlPr>
                        </m:fPr>
                        <m:num>
                          <m:r>
                            <a:rPr lang="mr-IN" sz="2800" i="1" smtClean="0">
                              <a:latin typeface="Cambria Math" charset="0"/>
                            </a:rPr>
                            <m:t>𝜕</m:t>
                          </m:r>
                          <m:r>
                            <m:rPr>
                              <m:nor/>
                            </m:rPr>
                            <a:rPr lang="en-US" sz="2800" b="0" i="0" smtClean="0">
                              <a:latin typeface="Cambria Math" charset="0"/>
                            </a:rPr>
                            <m:t>minu</m:t>
                          </m:r>
                          <m:r>
                            <a:rPr lang="en-US" sz="2800" b="0" i="1" smtClean="0">
                              <a:latin typeface="Cambria Math" charset="0"/>
                            </a:rPr>
                            <m:t>𝑠</m:t>
                          </m:r>
                        </m:num>
                        <m:den>
                          <m:r>
                            <a:rPr lang="mr-IN" sz="2800" i="1" smtClean="0">
                              <a:latin typeface="Cambria Math" charset="0"/>
                            </a:rPr>
                            <m:t>𝜕</m:t>
                          </m:r>
                          <m:r>
                            <a:rPr lang="en-US" sz="2800" b="0" i="1" smtClean="0">
                              <a:latin typeface="Cambria Math" charset="0"/>
                            </a:rPr>
                            <m:t>𝑏</m:t>
                          </m:r>
                        </m:den>
                      </m:f>
                      <m:r>
                        <a:rPr lang="en-US" sz="2800" b="0" i="1" smtClean="0">
                          <a:latin typeface="Cambria Math" charset="0"/>
                        </a:rPr>
                        <m:t>=−1</m:t>
                      </m:r>
                    </m:oMath>
                  </m:oMathPara>
                </a14:m>
                <a:endParaRPr lang="en-US" sz="2800" dirty="0"/>
              </a:p>
            </p:txBody>
          </p:sp>
        </mc:Choice>
        <mc:Fallback xmlns="">
          <p:sp>
            <p:nvSpPr>
              <p:cNvPr id="29" name="TextBox 28"/>
              <p:cNvSpPr txBox="1">
                <a:spLocks noRot="1" noChangeAspect="1" noMove="1" noResize="1" noEditPoints="1" noAdjustHandles="1" noChangeArrowheads="1" noChangeShapeType="1" noTextEdit="1"/>
              </p:cNvSpPr>
              <p:nvPr/>
            </p:nvSpPr>
            <p:spPr>
              <a:xfrm>
                <a:off x="8615175" y="1739899"/>
                <a:ext cx="2284408" cy="819263"/>
              </a:xfrm>
              <a:prstGeom prst="rect">
                <a:avLst/>
              </a:prstGeom>
              <a:blipFill rotWithShape="0">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Rectangle 32"/>
              <p:cNvSpPr/>
              <p:nvPr/>
            </p:nvSpPr>
            <p:spPr>
              <a:xfrm>
                <a:off x="8031557" y="3842927"/>
                <a:ext cx="1000594" cy="56053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mr-IN" sz="1600" i="1">
                              <a:latin typeface="Cambria Math" panose="02040503050406030204" pitchFamily="18" charset="0"/>
                            </a:rPr>
                          </m:ctrlPr>
                        </m:fPr>
                        <m:num>
                          <m:r>
                            <a:rPr lang="mr-IN" sz="1600" i="1">
                              <a:latin typeface="Cambria Math" charset="0"/>
                            </a:rPr>
                            <m:t>𝜕</m:t>
                          </m:r>
                          <m:r>
                            <m:rPr>
                              <m:nor/>
                            </m:rPr>
                            <a:rPr lang="en-US" sz="1600">
                              <a:latin typeface="Cambria Math" charset="0"/>
                            </a:rPr>
                            <m:t>square</m:t>
                          </m:r>
                        </m:num>
                        <m:den>
                          <m:r>
                            <a:rPr lang="mr-IN" sz="1600" i="1">
                              <a:latin typeface="Cambria Math" charset="0"/>
                            </a:rPr>
                            <m:t>𝜕</m:t>
                          </m:r>
                          <m:r>
                            <a:rPr lang="en-US" sz="1600" i="1">
                              <a:latin typeface="Cambria Math" charset="0"/>
                            </a:rPr>
                            <m:t>𝑧</m:t>
                          </m:r>
                        </m:den>
                      </m:f>
                    </m:oMath>
                  </m:oMathPara>
                </a14:m>
                <a:endParaRPr lang="en-US" sz="1600" dirty="0"/>
              </a:p>
            </p:txBody>
          </p:sp>
        </mc:Choice>
        <mc:Fallback xmlns="">
          <p:sp>
            <p:nvSpPr>
              <p:cNvPr id="33" name="Rectangle 32"/>
              <p:cNvSpPr>
                <a:spLocks noRot="1" noChangeAspect="1" noMove="1" noResize="1" noEditPoints="1" noAdjustHandles="1" noChangeArrowheads="1" noChangeShapeType="1" noTextEdit="1"/>
              </p:cNvSpPr>
              <p:nvPr/>
            </p:nvSpPr>
            <p:spPr>
              <a:xfrm>
                <a:off x="8031557" y="3842927"/>
                <a:ext cx="1000594" cy="560538"/>
              </a:xfrm>
              <a:prstGeom prst="rect">
                <a:avLst/>
              </a:prstGeom>
              <a:blipFill rotWithShape="0">
                <a:blip r:embed="rId7"/>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70789558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7" name="Straight Arrow Connector 36"/>
          <p:cNvCxnSpPr>
            <a:cxnSpLocks/>
          </p:cNvCxnSpPr>
          <p:nvPr/>
        </p:nvCxnSpPr>
        <p:spPr>
          <a:xfrm flipV="1">
            <a:off x="9966616" y="5164321"/>
            <a:ext cx="540738" cy="968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normAutofit/>
          </a:bodyPr>
          <a:lstStyle/>
          <a:p>
            <a:r>
              <a:rPr lang="en-US" sz="2800" dirty="0"/>
              <a:t>What is derivative of </a:t>
            </a:r>
            <a:r>
              <a:rPr lang="en-US" sz="2800" dirty="0" smtClean="0"/>
              <a:t>add </a:t>
            </a:r>
            <a:r>
              <a:rPr lang="en-US" sz="2800" dirty="0" err="1" smtClean="0"/>
              <a:t>w.r.t</a:t>
            </a:r>
            <a:r>
              <a:rPr lang="en-US" sz="2800" dirty="0" smtClean="0"/>
              <a:t> either input?</a:t>
            </a:r>
            <a:endParaRPr lang="en-US" sz="2800" dirty="0"/>
          </a:p>
        </p:txBody>
      </p:sp>
      <p:sp>
        <p:nvSpPr>
          <p:cNvPr id="5" name="Oval 4"/>
          <p:cNvSpPr/>
          <p:nvPr/>
        </p:nvSpPr>
        <p:spPr>
          <a:xfrm>
            <a:off x="3187202" y="4307946"/>
            <a:ext cx="574146" cy="574146"/>
          </a:xfrm>
          <a:prstGeom prst="ellipse">
            <a:avLst/>
          </a:prstGeom>
          <a:solidFill>
            <a:schemeClr val="bg1">
              <a:lumMod val="75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wrap="none" rtlCol="0" anchor="ctr"/>
          <a:lstStyle/>
          <a:p>
            <a:pPr algn="ctr"/>
            <a:endParaRPr lang="en-US" sz="1600" dirty="0">
              <a:solidFill>
                <a:schemeClr val="tx2"/>
              </a:solidFill>
            </a:endParaRPr>
          </a:p>
        </p:txBody>
      </p:sp>
      <p:sp>
        <p:nvSpPr>
          <p:cNvPr id="6" name="Oval 5"/>
          <p:cNvSpPr/>
          <p:nvPr/>
        </p:nvSpPr>
        <p:spPr>
          <a:xfrm>
            <a:off x="3187202" y="5456237"/>
            <a:ext cx="574146" cy="574146"/>
          </a:xfrm>
          <a:prstGeom prst="ellipse">
            <a:avLst/>
          </a:prstGeom>
          <a:solidFill>
            <a:schemeClr val="bg1">
              <a:lumMod val="75000"/>
            </a:schemeClr>
          </a:solidFill>
          <a:ln>
            <a:noFill/>
          </a:ln>
        </p:spPr>
        <p:style>
          <a:lnRef idx="3">
            <a:schemeClr val="lt1"/>
          </a:lnRef>
          <a:fillRef idx="1">
            <a:schemeClr val="dk1"/>
          </a:fillRef>
          <a:effectRef idx="1">
            <a:schemeClr val="dk1"/>
          </a:effectRef>
          <a:fontRef idx="minor">
            <a:schemeClr val="lt1"/>
          </a:fontRef>
        </p:style>
        <p:txBody>
          <a:bodyPr wrap="none" rtlCol="0" anchor="ctr"/>
          <a:lstStyle/>
          <a:p>
            <a:pPr algn="ctr"/>
            <a:endParaRPr lang="en-US" sz="1600" dirty="0">
              <a:solidFill>
                <a:schemeClr val="bg1"/>
              </a:solidFill>
            </a:endParaRPr>
          </a:p>
        </p:txBody>
      </p:sp>
      <p:sp>
        <p:nvSpPr>
          <p:cNvPr id="7" name="Oval 6"/>
          <p:cNvSpPr/>
          <p:nvPr/>
        </p:nvSpPr>
        <p:spPr>
          <a:xfrm>
            <a:off x="4586682" y="4307946"/>
            <a:ext cx="574146" cy="574146"/>
          </a:xfrm>
          <a:prstGeom prst="ellipse">
            <a:avLst/>
          </a:prstGeom>
          <a:solidFill>
            <a:schemeClr val="bg1">
              <a:lumMod val="75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wrap="none" rtlCol="0" anchor="ctr"/>
          <a:lstStyle/>
          <a:p>
            <a:pPr algn="ctr"/>
            <a:endParaRPr lang="en-US" sz="1200" dirty="0">
              <a:solidFill>
                <a:schemeClr val="tx2"/>
              </a:solidFill>
            </a:endParaRPr>
          </a:p>
        </p:txBody>
      </p:sp>
      <p:sp>
        <p:nvSpPr>
          <p:cNvPr id="8" name="Oval 7"/>
          <p:cNvSpPr/>
          <p:nvPr/>
        </p:nvSpPr>
        <p:spPr>
          <a:xfrm>
            <a:off x="4586682" y="5456237"/>
            <a:ext cx="574146" cy="574146"/>
          </a:xfrm>
          <a:prstGeom prst="ellipse">
            <a:avLst/>
          </a:prstGeom>
          <a:solidFill>
            <a:schemeClr val="bg1">
              <a:lumMod val="75000"/>
            </a:schemeClr>
          </a:solidFill>
          <a:ln>
            <a:noFill/>
          </a:ln>
        </p:spPr>
        <p:style>
          <a:lnRef idx="3">
            <a:schemeClr val="lt1"/>
          </a:lnRef>
          <a:fillRef idx="1">
            <a:schemeClr val="dk1"/>
          </a:fillRef>
          <a:effectRef idx="1">
            <a:schemeClr val="dk1"/>
          </a:effectRef>
          <a:fontRef idx="minor">
            <a:schemeClr val="lt1"/>
          </a:fontRef>
        </p:style>
        <p:txBody>
          <a:bodyPr wrap="none" rtlCol="0" anchor="ctr"/>
          <a:lstStyle/>
          <a:p>
            <a:pPr algn="ctr"/>
            <a:endParaRPr lang="en-US" sz="1600" dirty="0">
              <a:solidFill>
                <a:schemeClr val="bg1"/>
              </a:solidFill>
            </a:endParaRPr>
          </a:p>
        </p:txBody>
      </p:sp>
      <p:cxnSp>
        <p:nvCxnSpPr>
          <p:cNvPr id="10" name="Straight Arrow Connector 9"/>
          <p:cNvCxnSpPr>
            <a:cxnSpLocks/>
          </p:cNvCxnSpPr>
          <p:nvPr/>
        </p:nvCxnSpPr>
        <p:spPr>
          <a:xfrm>
            <a:off x="2469520" y="4595019"/>
            <a:ext cx="717682"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a:cxnSpLocks/>
          </p:cNvCxnSpPr>
          <p:nvPr/>
        </p:nvCxnSpPr>
        <p:spPr>
          <a:xfrm>
            <a:off x="2469520" y="5743310"/>
            <a:ext cx="717682"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a:off x="3761348" y="4595019"/>
            <a:ext cx="825334"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a:cxnSpLocks/>
          </p:cNvCxnSpPr>
          <p:nvPr/>
        </p:nvCxnSpPr>
        <p:spPr>
          <a:xfrm flipV="1">
            <a:off x="3761348" y="4798010"/>
            <a:ext cx="909416" cy="94530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a:off x="5160828" y="4595019"/>
            <a:ext cx="801764" cy="371155"/>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flipV="1">
            <a:off x="5160828" y="5372156"/>
            <a:ext cx="801764" cy="371155"/>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cxnSpLocks/>
          </p:cNvCxnSpPr>
          <p:nvPr/>
        </p:nvCxnSpPr>
        <p:spPr>
          <a:xfrm>
            <a:off x="6452656" y="5169165"/>
            <a:ext cx="717682"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17" name="Oval 16"/>
          <p:cNvSpPr/>
          <p:nvPr/>
        </p:nvSpPr>
        <p:spPr>
          <a:xfrm>
            <a:off x="3187202" y="3124200"/>
            <a:ext cx="574146" cy="574146"/>
          </a:xfrm>
          <a:prstGeom prst="ellipse">
            <a:avLst/>
          </a:prstGeom>
          <a:solidFill>
            <a:schemeClr val="bg1">
              <a:lumMod val="75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wrap="none" rtlCol="0" anchor="ctr"/>
          <a:lstStyle/>
          <a:p>
            <a:pPr algn="ctr"/>
            <a:endParaRPr lang="en-US" sz="1600" dirty="0">
              <a:solidFill>
                <a:schemeClr val="tx2"/>
              </a:solidFill>
            </a:endParaRPr>
          </a:p>
        </p:txBody>
      </p:sp>
      <p:cxnSp>
        <p:nvCxnSpPr>
          <p:cNvPr id="18" name="Straight Arrow Connector 17"/>
          <p:cNvCxnSpPr>
            <a:cxnSpLocks/>
          </p:cNvCxnSpPr>
          <p:nvPr/>
        </p:nvCxnSpPr>
        <p:spPr>
          <a:xfrm>
            <a:off x="2469520" y="3411273"/>
            <a:ext cx="717682"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20" name="Elbow Connector 19"/>
          <p:cNvCxnSpPr/>
          <p:nvPr/>
        </p:nvCxnSpPr>
        <p:spPr>
          <a:xfrm>
            <a:off x="3761348" y="3411274"/>
            <a:ext cx="3696063" cy="1458382"/>
          </a:xfrm>
          <a:prstGeom prst="bentConnector2">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22" name="Rounded Rectangle 21"/>
          <p:cNvSpPr/>
          <p:nvPr/>
        </p:nvSpPr>
        <p:spPr>
          <a:xfrm>
            <a:off x="6932612" y="4419600"/>
            <a:ext cx="3309308" cy="1407847"/>
          </a:xfrm>
          <a:prstGeom prst="roundRect">
            <a:avLst/>
          </a:prstGeom>
          <a:noFill/>
          <a:ln w="28575">
            <a:solidFill>
              <a:schemeClr val="accent5">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tIns="0" rtlCol="0" anchor="t" anchorCtr="0"/>
          <a:lstStyle/>
          <a:p>
            <a:pPr algn="ctr"/>
            <a:r>
              <a:rPr lang="en-US">
                <a:solidFill>
                  <a:schemeClr val="accent5">
                    <a:lumMod val="75000"/>
                  </a:schemeClr>
                </a:solidFill>
              </a:rPr>
              <a:t>c</a:t>
            </a:r>
            <a:r>
              <a:rPr lang="en-US" smtClean="0">
                <a:solidFill>
                  <a:schemeClr val="accent5">
                    <a:lumMod val="75000"/>
                  </a:schemeClr>
                </a:solidFill>
              </a:rPr>
              <a:t>ost (J</a:t>
            </a:r>
            <a:r>
              <a:rPr lang="en-US" dirty="0" smtClean="0">
                <a:solidFill>
                  <a:schemeClr val="accent5">
                    <a:lumMod val="75000"/>
                  </a:schemeClr>
                </a:solidFill>
              </a:rPr>
              <a:t>)</a:t>
            </a:r>
            <a:endParaRPr lang="en-US" dirty="0">
              <a:solidFill>
                <a:schemeClr val="accent5">
                  <a:lumMod val="75000"/>
                </a:schemeClr>
              </a:solidFill>
            </a:endParaRPr>
          </a:p>
        </p:txBody>
      </p:sp>
      <p:cxnSp>
        <p:nvCxnSpPr>
          <p:cNvPr id="24" name="Straight Arrow Connector 23"/>
          <p:cNvCxnSpPr>
            <a:cxnSpLocks/>
          </p:cNvCxnSpPr>
          <p:nvPr/>
        </p:nvCxnSpPr>
        <p:spPr>
          <a:xfrm flipV="1">
            <a:off x="7744484" y="5169165"/>
            <a:ext cx="540738" cy="968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35" name="Oval 34"/>
          <p:cNvSpPr/>
          <p:nvPr/>
        </p:nvSpPr>
        <p:spPr>
          <a:xfrm>
            <a:off x="9396022" y="4869656"/>
            <a:ext cx="574146" cy="574146"/>
          </a:xfrm>
          <a:prstGeom prst="ellipse">
            <a:avLst/>
          </a:prstGeom>
          <a:ln/>
        </p:spPr>
        <p:style>
          <a:lnRef idx="2">
            <a:schemeClr val="dk1">
              <a:shade val="50000"/>
            </a:schemeClr>
          </a:lnRef>
          <a:fillRef idx="1">
            <a:schemeClr val="dk1"/>
          </a:fillRef>
          <a:effectRef idx="0">
            <a:schemeClr val="dk1"/>
          </a:effectRef>
          <a:fontRef idx="minor">
            <a:schemeClr val="lt1"/>
          </a:fontRef>
        </p:style>
        <p:txBody>
          <a:bodyPr wrap="none" rtlCol="0" anchor="ctr"/>
          <a:lstStyle/>
          <a:p>
            <a:pPr algn="ctr"/>
            <a:r>
              <a:rPr lang="en-US" sz="1600" smtClean="0">
                <a:solidFill>
                  <a:schemeClr val="bg1"/>
                </a:solidFill>
              </a:rPr>
              <a:t>sum</a:t>
            </a:r>
            <a:endParaRPr lang="en-US" sz="1600" dirty="0">
              <a:solidFill>
                <a:schemeClr val="bg1"/>
              </a:solidFill>
            </a:endParaRPr>
          </a:p>
        </p:txBody>
      </p:sp>
      <p:cxnSp>
        <p:nvCxnSpPr>
          <p:cNvPr id="36" name="Straight Arrow Connector 35"/>
          <p:cNvCxnSpPr>
            <a:cxnSpLocks/>
          </p:cNvCxnSpPr>
          <p:nvPr/>
        </p:nvCxnSpPr>
        <p:spPr>
          <a:xfrm flipV="1">
            <a:off x="8866858" y="5169165"/>
            <a:ext cx="540738" cy="968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 name="TextBox 3"/>
              <p:cNvSpPr txBox="1"/>
              <p:nvPr/>
            </p:nvSpPr>
            <p:spPr>
              <a:xfrm>
                <a:off x="6323012" y="1739899"/>
                <a:ext cx="1619802" cy="8192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mr-IN" sz="2800" i="1" smtClean="0">
                              <a:latin typeface="Cambria Math" panose="02040503050406030204" pitchFamily="18" charset="0"/>
                            </a:rPr>
                          </m:ctrlPr>
                        </m:fPr>
                        <m:num>
                          <m:r>
                            <a:rPr lang="mr-IN" sz="2800" i="1" smtClean="0">
                              <a:latin typeface="Cambria Math" charset="0"/>
                            </a:rPr>
                            <m:t>𝜕</m:t>
                          </m:r>
                          <m:r>
                            <m:rPr>
                              <m:nor/>
                            </m:rPr>
                            <a:rPr lang="en-US" sz="2800" b="0" i="0" smtClean="0">
                              <a:latin typeface="Cambria Math" charset="0"/>
                            </a:rPr>
                            <m:t>add</m:t>
                          </m:r>
                        </m:num>
                        <m:den>
                          <m:r>
                            <a:rPr lang="mr-IN" sz="2800" i="1" smtClean="0">
                              <a:latin typeface="Cambria Math" charset="0"/>
                            </a:rPr>
                            <m:t>𝜕</m:t>
                          </m:r>
                          <m:r>
                            <a:rPr lang="en-US" sz="2800" b="0" i="1" smtClean="0">
                              <a:latin typeface="Cambria Math" charset="0"/>
                            </a:rPr>
                            <m:t>𝑎</m:t>
                          </m:r>
                        </m:den>
                      </m:f>
                      <m:r>
                        <a:rPr lang="en-US" sz="2800" b="0" i="1" smtClean="0">
                          <a:latin typeface="Cambria Math" charset="0"/>
                        </a:rPr>
                        <m:t>=1</m:t>
                      </m:r>
                    </m:oMath>
                  </m:oMathPara>
                </a14:m>
                <a:endParaRPr lang="en-US" sz="2800" dirty="0"/>
              </a:p>
            </p:txBody>
          </p:sp>
        </mc:Choice>
        <mc:Fallback xmlns="">
          <p:sp>
            <p:nvSpPr>
              <p:cNvPr id="4" name="TextBox 3"/>
              <p:cNvSpPr txBox="1">
                <a:spLocks noRot="1" noChangeAspect="1" noMove="1" noResize="1" noEditPoints="1" noAdjustHandles="1" noChangeArrowheads="1" noChangeShapeType="1" noTextEdit="1"/>
              </p:cNvSpPr>
              <p:nvPr/>
            </p:nvSpPr>
            <p:spPr>
              <a:xfrm>
                <a:off x="6323012" y="1739899"/>
                <a:ext cx="1619802" cy="819263"/>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TextBox 31"/>
              <p:cNvSpPr txBox="1"/>
              <p:nvPr/>
            </p:nvSpPr>
            <p:spPr>
              <a:xfrm>
                <a:off x="2450297" y="1946946"/>
                <a:ext cx="2901500"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nor/>
                        </m:rPr>
                        <a:rPr lang="en-US" sz="2800">
                          <a:latin typeface="Cambria Math" charset="0"/>
                        </a:rPr>
                        <m:t>a</m:t>
                      </m:r>
                      <m:r>
                        <m:rPr>
                          <m:nor/>
                        </m:rPr>
                        <a:rPr lang="en-US" sz="2800" b="0" i="0" smtClean="0">
                          <a:latin typeface="Cambria Math" charset="0"/>
                        </a:rPr>
                        <m:t>dd</m:t>
                      </m:r>
                      <m:d>
                        <m:dPr>
                          <m:ctrlPr>
                            <a:rPr lang="en-US" sz="2800" b="0" i="1" smtClean="0">
                              <a:latin typeface="Cambria Math" panose="02040503050406030204" pitchFamily="18" charset="0"/>
                            </a:rPr>
                          </m:ctrlPr>
                        </m:dPr>
                        <m:e>
                          <m:r>
                            <a:rPr lang="en-US" sz="2800" b="0" i="1" smtClean="0">
                              <a:latin typeface="Cambria Math" charset="0"/>
                            </a:rPr>
                            <m:t>𝑎</m:t>
                          </m:r>
                          <m:r>
                            <a:rPr lang="en-US" sz="2800" b="0" i="1" smtClean="0">
                              <a:latin typeface="Cambria Math" charset="0"/>
                            </a:rPr>
                            <m:t>, </m:t>
                          </m:r>
                          <m:r>
                            <a:rPr lang="en-US" sz="2800" b="0" i="1" smtClean="0">
                              <a:latin typeface="Cambria Math" charset="0"/>
                            </a:rPr>
                            <m:t>𝑏</m:t>
                          </m:r>
                        </m:e>
                      </m:d>
                      <m:r>
                        <a:rPr lang="en-US" sz="2800" b="0" i="1" smtClean="0">
                          <a:latin typeface="Cambria Math" charset="0"/>
                        </a:rPr>
                        <m:t>=</m:t>
                      </m:r>
                      <m:r>
                        <a:rPr lang="en-US" sz="2800" b="0" i="1" smtClean="0">
                          <a:latin typeface="Cambria Math" charset="0"/>
                        </a:rPr>
                        <m:t>𝑎</m:t>
                      </m:r>
                      <m:r>
                        <a:rPr lang="en-US" sz="2800" b="0" i="1" smtClean="0">
                          <a:latin typeface="Cambria Math" charset="0"/>
                        </a:rPr>
                        <m:t>+</m:t>
                      </m:r>
                      <m:r>
                        <a:rPr lang="en-US" sz="2800" b="0" i="1" smtClean="0">
                          <a:latin typeface="Cambria Math" charset="0"/>
                        </a:rPr>
                        <m:t>𝑏</m:t>
                      </m:r>
                    </m:oMath>
                  </m:oMathPara>
                </a14:m>
                <a:endParaRPr lang="en-US" sz="2800" dirty="0"/>
              </a:p>
            </p:txBody>
          </p:sp>
        </mc:Choice>
        <mc:Fallback xmlns="">
          <p:sp>
            <p:nvSpPr>
              <p:cNvPr id="32" name="TextBox 31"/>
              <p:cNvSpPr txBox="1">
                <a:spLocks noRot="1" noChangeAspect="1" noMove="1" noResize="1" noEditPoints="1" noAdjustHandles="1" noChangeArrowheads="1" noChangeShapeType="1" noTextEdit="1"/>
              </p:cNvSpPr>
              <p:nvPr/>
            </p:nvSpPr>
            <p:spPr>
              <a:xfrm>
                <a:off x="2450297" y="1946946"/>
                <a:ext cx="2901500" cy="430887"/>
              </a:xfrm>
              <a:prstGeom prst="rect">
                <a:avLst/>
              </a:prstGeom>
              <a:blipFill rotWithShape="0">
                <a:blip r:embed="rId4"/>
                <a:stretch>
                  <a:fillRect/>
                </a:stretch>
              </a:blipFill>
            </p:spPr>
            <p:txBody>
              <a:bodyPr/>
              <a:lstStyle/>
              <a:p>
                <a:r>
                  <a:rPr lang="en-US">
                    <a:noFill/>
                  </a:rPr>
                  <a:t> </a:t>
                </a:r>
              </a:p>
            </p:txBody>
          </p:sp>
        </mc:Fallback>
      </mc:AlternateContent>
      <p:sp>
        <p:nvSpPr>
          <p:cNvPr id="27" name="Oval 26"/>
          <p:cNvSpPr/>
          <p:nvPr/>
        </p:nvSpPr>
        <p:spPr>
          <a:xfrm>
            <a:off x="8282745" y="4869656"/>
            <a:ext cx="574146" cy="574146"/>
          </a:xfrm>
          <a:prstGeom prst="ellipse">
            <a:avLst/>
          </a:prstGeom>
          <a:solidFill>
            <a:srgbClr val="197709"/>
          </a:solidFill>
          <a:ln>
            <a:solidFill>
              <a:schemeClr val="accent2">
                <a:lumMod val="50000"/>
              </a:schemeClr>
            </a:solidFill>
          </a:ln>
        </p:spPr>
        <p:style>
          <a:lnRef idx="2">
            <a:schemeClr val="accent4">
              <a:shade val="50000"/>
            </a:schemeClr>
          </a:lnRef>
          <a:fillRef idx="1">
            <a:schemeClr val="accent4"/>
          </a:fillRef>
          <a:effectRef idx="0">
            <a:schemeClr val="accent4"/>
          </a:effectRef>
          <a:fontRef idx="minor">
            <a:schemeClr val="lt1"/>
          </a:fontRef>
        </p:style>
        <p:txBody>
          <a:bodyPr wrap="none" rtlCol="0" anchor="ctr"/>
          <a:lstStyle/>
          <a:p>
            <a:pPr algn="ctr"/>
            <a:r>
              <a:rPr lang="en-US" sz="1400" dirty="0" smtClean="0">
                <a:solidFill>
                  <a:schemeClr val="bg1"/>
                </a:solidFill>
              </a:rPr>
              <a:t>square</a:t>
            </a:r>
            <a:endParaRPr lang="en-US" sz="1400" dirty="0">
              <a:solidFill>
                <a:schemeClr val="bg1"/>
              </a:solidFill>
            </a:endParaRPr>
          </a:p>
        </p:txBody>
      </p:sp>
      <mc:AlternateContent xmlns:mc="http://schemas.openxmlformats.org/markup-compatibility/2006" xmlns:a14="http://schemas.microsoft.com/office/drawing/2010/main">
        <mc:Choice Requires="a14">
          <p:sp>
            <p:nvSpPr>
              <p:cNvPr id="30" name="TextBox 29"/>
              <p:cNvSpPr txBox="1"/>
              <p:nvPr/>
            </p:nvSpPr>
            <p:spPr>
              <a:xfrm>
                <a:off x="9363566" y="3866651"/>
                <a:ext cx="603050" cy="53681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mr-IN" sz="1600" i="1" smtClean="0">
                              <a:latin typeface="Cambria Math" panose="02040503050406030204" pitchFamily="18" charset="0"/>
                            </a:rPr>
                          </m:ctrlPr>
                        </m:fPr>
                        <m:num>
                          <m:r>
                            <a:rPr lang="mr-IN" sz="1600" i="1" smtClean="0">
                              <a:latin typeface="Cambria Math" charset="0"/>
                            </a:rPr>
                            <m:t>𝜕</m:t>
                          </m:r>
                          <m:r>
                            <a:rPr lang="en-US" sz="1600" b="0" i="1" smtClean="0">
                              <a:latin typeface="Cambria Math" charset="0"/>
                            </a:rPr>
                            <m:t>𝑠𝑢𝑚</m:t>
                          </m:r>
                        </m:num>
                        <m:den>
                          <m:r>
                            <a:rPr lang="mr-IN" sz="1600" i="1" smtClean="0">
                              <a:latin typeface="Cambria Math" charset="0"/>
                            </a:rPr>
                            <m:t>𝜕</m:t>
                          </m:r>
                          <m:sSub>
                            <m:sSubPr>
                              <m:ctrlPr>
                                <a:rPr lang="en-US" sz="1600" b="0" i="1" smtClean="0">
                                  <a:latin typeface="Cambria Math" panose="02040503050406030204" pitchFamily="18" charset="0"/>
                                </a:rPr>
                              </m:ctrlPr>
                            </m:sSubPr>
                            <m:e>
                              <m:r>
                                <a:rPr lang="en-US" sz="1600" b="0" i="1" smtClean="0">
                                  <a:latin typeface="Cambria Math" charset="0"/>
                                </a:rPr>
                                <m:t>𝑧</m:t>
                              </m:r>
                            </m:e>
                            <m:sub>
                              <m:r>
                                <a:rPr lang="en-US" sz="1600" b="0" i="1" smtClean="0">
                                  <a:latin typeface="Cambria Math" charset="0"/>
                                </a:rPr>
                                <m:t>𝑝</m:t>
                              </m:r>
                            </m:sub>
                          </m:sSub>
                        </m:den>
                      </m:f>
                    </m:oMath>
                  </m:oMathPara>
                </a14:m>
                <a:endParaRPr lang="en-US" sz="2800" dirty="0"/>
              </a:p>
            </p:txBody>
          </p:sp>
        </mc:Choice>
        <mc:Fallback xmlns="">
          <p:sp>
            <p:nvSpPr>
              <p:cNvPr id="30" name="TextBox 29"/>
              <p:cNvSpPr txBox="1">
                <a:spLocks noRot="1" noChangeAspect="1" noMove="1" noResize="1" noEditPoints="1" noAdjustHandles="1" noChangeArrowheads="1" noChangeShapeType="1" noTextEdit="1"/>
              </p:cNvSpPr>
              <p:nvPr/>
            </p:nvSpPr>
            <p:spPr>
              <a:xfrm>
                <a:off x="9363566" y="3866651"/>
                <a:ext cx="603050" cy="536814"/>
              </a:xfrm>
              <a:prstGeom prst="rect">
                <a:avLst/>
              </a:prstGeom>
              <a:blipFill rotWithShape="0">
                <a:blip r:embed="rId5"/>
                <a:stretch>
                  <a:fillRect/>
                </a:stretch>
              </a:blipFill>
            </p:spPr>
            <p:txBody>
              <a:bodyPr/>
              <a:lstStyle/>
              <a:p>
                <a:r>
                  <a:rPr lang="en-US">
                    <a:noFill/>
                  </a:rPr>
                  <a:t> </a:t>
                </a:r>
              </a:p>
            </p:txBody>
          </p:sp>
        </mc:Fallback>
      </mc:AlternateContent>
      <p:sp>
        <p:nvSpPr>
          <p:cNvPr id="28" name="Oval 27"/>
          <p:cNvSpPr/>
          <p:nvPr/>
        </p:nvSpPr>
        <p:spPr>
          <a:xfrm>
            <a:off x="7170338" y="4869656"/>
            <a:ext cx="574146" cy="574146"/>
          </a:xfrm>
          <a:prstGeom prst="ellipse">
            <a:avLst/>
          </a:prstGeom>
          <a:solidFill>
            <a:schemeClr val="accent5">
              <a:lumMod val="60000"/>
              <a:lumOff val="40000"/>
            </a:schemeClr>
          </a:solidFill>
          <a:ln>
            <a:solidFill>
              <a:schemeClr val="accent5">
                <a:lumMod val="75000"/>
              </a:schemeClr>
            </a:solidFill>
          </a:ln>
        </p:spPr>
        <p:style>
          <a:lnRef idx="2">
            <a:schemeClr val="accent4">
              <a:shade val="50000"/>
            </a:schemeClr>
          </a:lnRef>
          <a:fillRef idx="1">
            <a:schemeClr val="accent4"/>
          </a:fillRef>
          <a:effectRef idx="0">
            <a:schemeClr val="accent4"/>
          </a:effectRef>
          <a:fontRef idx="minor">
            <a:schemeClr val="lt1"/>
          </a:fontRef>
        </p:style>
        <p:txBody>
          <a:bodyPr wrap="none" rtlCol="0" anchor="ctr"/>
          <a:lstStyle/>
          <a:p>
            <a:pPr algn="ctr"/>
            <a:r>
              <a:rPr lang="en-US" sz="1600" dirty="0" smtClean="0">
                <a:solidFill>
                  <a:schemeClr val="tx2"/>
                </a:solidFill>
              </a:rPr>
              <a:t>minus</a:t>
            </a:r>
            <a:endParaRPr lang="en-US" sz="1600" dirty="0">
              <a:solidFill>
                <a:schemeClr val="tx2"/>
              </a:solidFill>
            </a:endParaRPr>
          </a:p>
        </p:txBody>
      </p:sp>
      <mc:AlternateContent xmlns:mc="http://schemas.openxmlformats.org/markup-compatibility/2006" xmlns:a14="http://schemas.microsoft.com/office/drawing/2010/main">
        <mc:Choice Requires="a14">
          <p:sp>
            <p:nvSpPr>
              <p:cNvPr id="29" name="TextBox 28"/>
              <p:cNvSpPr txBox="1"/>
              <p:nvPr/>
            </p:nvSpPr>
            <p:spPr>
              <a:xfrm>
                <a:off x="8615175" y="1739899"/>
                <a:ext cx="1619802" cy="8192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mr-IN" sz="2800" i="1" smtClean="0">
                              <a:latin typeface="Cambria Math" panose="02040503050406030204" pitchFamily="18" charset="0"/>
                            </a:rPr>
                          </m:ctrlPr>
                        </m:fPr>
                        <m:num>
                          <m:r>
                            <a:rPr lang="mr-IN" sz="2800" i="1" smtClean="0">
                              <a:latin typeface="Cambria Math" charset="0"/>
                            </a:rPr>
                            <m:t>𝜕</m:t>
                          </m:r>
                          <m:r>
                            <m:rPr>
                              <m:nor/>
                            </m:rPr>
                            <a:rPr lang="en-US" sz="2800" b="0" i="0" smtClean="0">
                              <a:latin typeface="Cambria Math" charset="0"/>
                            </a:rPr>
                            <m:t>add</m:t>
                          </m:r>
                        </m:num>
                        <m:den>
                          <m:r>
                            <a:rPr lang="mr-IN" sz="2800" i="1" smtClean="0">
                              <a:latin typeface="Cambria Math" charset="0"/>
                            </a:rPr>
                            <m:t>𝜕</m:t>
                          </m:r>
                          <m:r>
                            <a:rPr lang="en-US" sz="2800" b="0" i="1" smtClean="0">
                              <a:latin typeface="Cambria Math" charset="0"/>
                            </a:rPr>
                            <m:t>𝑏</m:t>
                          </m:r>
                        </m:den>
                      </m:f>
                      <m:r>
                        <a:rPr lang="en-US" sz="2800" b="0" i="1" smtClean="0">
                          <a:latin typeface="Cambria Math" charset="0"/>
                        </a:rPr>
                        <m:t>=1</m:t>
                      </m:r>
                    </m:oMath>
                  </m:oMathPara>
                </a14:m>
                <a:endParaRPr lang="en-US" sz="2800" dirty="0"/>
              </a:p>
            </p:txBody>
          </p:sp>
        </mc:Choice>
        <mc:Fallback xmlns="">
          <p:sp>
            <p:nvSpPr>
              <p:cNvPr id="29" name="TextBox 28"/>
              <p:cNvSpPr txBox="1">
                <a:spLocks noRot="1" noChangeAspect="1" noMove="1" noResize="1" noEditPoints="1" noAdjustHandles="1" noChangeArrowheads="1" noChangeShapeType="1" noTextEdit="1"/>
              </p:cNvSpPr>
              <p:nvPr/>
            </p:nvSpPr>
            <p:spPr>
              <a:xfrm>
                <a:off x="8615175" y="1739899"/>
                <a:ext cx="1619802" cy="819263"/>
              </a:xfrm>
              <a:prstGeom prst="rect">
                <a:avLst/>
              </a:prstGeom>
              <a:blipFill rotWithShape="0">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Rectangle 32"/>
              <p:cNvSpPr/>
              <p:nvPr/>
            </p:nvSpPr>
            <p:spPr>
              <a:xfrm>
                <a:off x="8031557" y="3842927"/>
                <a:ext cx="1000594" cy="56053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mr-IN" sz="1600" i="1">
                              <a:latin typeface="Cambria Math" panose="02040503050406030204" pitchFamily="18" charset="0"/>
                            </a:rPr>
                          </m:ctrlPr>
                        </m:fPr>
                        <m:num>
                          <m:r>
                            <a:rPr lang="mr-IN" sz="1600" i="1">
                              <a:latin typeface="Cambria Math" charset="0"/>
                            </a:rPr>
                            <m:t>𝜕</m:t>
                          </m:r>
                          <m:r>
                            <m:rPr>
                              <m:nor/>
                            </m:rPr>
                            <a:rPr lang="en-US" sz="1600">
                              <a:latin typeface="Cambria Math" charset="0"/>
                            </a:rPr>
                            <m:t>square</m:t>
                          </m:r>
                        </m:num>
                        <m:den>
                          <m:r>
                            <a:rPr lang="mr-IN" sz="1600" i="1">
                              <a:latin typeface="Cambria Math" charset="0"/>
                            </a:rPr>
                            <m:t>𝜕</m:t>
                          </m:r>
                          <m:r>
                            <a:rPr lang="en-US" sz="1600" i="1">
                              <a:latin typeface="Cambria Math" charset="0"/>
                            </a:rPr>
                            <m:t>𝑧</m:t>
                          </m:r>
                        </m:den>
                      </m:f>
                    </m:oMath>
                  </m:oMathPara>
                </a14:m>
                <a:endParaRPr lang="en-US" sz="1600" dirty="0"/>
              </a:p>
            </p:txBody>
          </p:sp>
        </mc:Choice>
        <mc:Fallback xmlns="">
          <p:sp>
            <p:nvSpPr>
              <p:cNvPr id="33" name="Rectangle 32"/>
              <p:cNvSpPr>
                <a:spLocks noRot="1" noChangeAspect="1" noMove="1" noResize="1" noEditPoints="1" noAdjustHandles="1" noChangeArrowheads="1" noChangeShapeType="1" noTextEdit="1"/>
              </p:cNvSpPr>
              <p:nvPr/>
            </p:nvSpPr>
            <p:spPr>
              <a:xfrm>
                <a:off x="8031557" y="3842927"/>
                <a:ext cx="1000594" cy="560538"/>
              </a:xfrm>
              <a:prstGeom prst="rect">
                <a:avLst/>
              </a:prstGeom>
              <a:blipFill rotWithShape="0">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Rectangle 2"/>
              <p:cNvSpPr/>
              <p:nvPr/>
            </p:nvSpPr>
            <p:spPr>
              <a:xfrm>
                <a:off x="7170338" y="2982880"/>
                <a:ext cx="946092" cy="56053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mr-IN" sz="1600" i="1" smtClean="0">
                              <a:latin typeface="Cambria Math" panose="02040503050406030204" pitchFamily="18" charset="0"/>
                            </a:rPr>
                          </m:ctrlPr>
                        </m:fPr>
                        <m:num>
                          <m:r>
                            <a:rPr lang="mr-IN" sz="1600" i="1">
                              <a:latin typeface="Cambria Math" charset="0"/>
                            </a:rPr>
                            <m:t>𝜕</m:t>
                          </m:r>
                          <m:r>
                            <m:rPr>
                              <m:nor/>
                            </m:rPr>
                            <a:rPr lang="en-US" sz="1600" b="0" i="0" smtClean="0">
                              <a:latin typeface="Cambria Math" charset="0"/>
                            </a:rPr>
                            <m:t>minus</m:t>
                          </m:r>
                        </m:num>
                        <m:den>
                          <m:r>
                            <a:rPr lang="mr-IN" sz="1600" i="1">
                              <a:latin typeface="Cambria Math" charset="0"/>
                            </a:rPr>
                            <m:t>𝜕</m:t>
                          </m:r>
                          <m:r>
                            <a:rPr lang="en-US" sz="1600" b="0" i="1" smtClean="0">
                              <a:latin typeface="Cambria Math" charset="0"/>
                            </a:rPr>
                            <m:t>𝑏</m:t>
                          </m:r>
                        </m:den>
                      </m:f>
                    </m:oMath>
                  </m:oMathPara>
                </a14:m>
                <a:endParaRPr lang="en-US" sz="1600" dirty="0"/>
              </a:p>
            </p:txBody>
          </p:sp>
        </mc:Choice>
        <mc:Fallback xmlns="">
          <p:sp>
            <p:nvSpPr>
              <p:cNvPr id="3" name="Rectangle 2"/>
              <p:cNvSpPr>
                <a:spLocks noRot="1" noChangeAspect="1" noMove="1" noResize="1" noEditPoints="1" noAdjustHandles="1" noChangeArrowheads="1" noChangeShapeType="1" noTextEdit="1"/>
              </p:cNvSpPr>
              <p:nvPr/>
            </p:nvSpPr>
            <p:spPr>
              <a:xfrm>
                <a:off x="7170338" y="2982880"/>
                <a:ext cx="946092" cy="560538"/>
              </a:xfrm>
              <a:prstGeom prst="rect">
                <a:avLst/>
              </a:prstGeom>
              <a:blipFill rotWithShape="0">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Rectangle 30"/>
              <p:cNvSpPr/>
              <p:nvPr/>
            </p:nvSpPr>
            <p:spPr>
              <a:xfrm>
                <a:off x="6281917" y="4069394"/>
                <a:ext cx="946092" cy="56053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mr-IN" sz="1600" i="1">
                              <a:latin typeface="Cambria Math" panose="02040503050406030204" pitchFamily="18" charset="0"/>
                            </a:rPr>
                          </m:ctrlPr>
                        </m:fPr>
                        <m:num>
                          <m:r>
                            <a:rPr lang="mr-IN" sz="1600" i="1">
                              <a:latin typeface="Cambria Math" charset="0"/>
                            </a:rPr>
                            <m:t>𝜕</m:t>
                          </m:r>
                          <m:r>
                            <m:rPr>
                              <m:nor/>
                            </m:rPr>
                            <a:rPr lang="en-US" sz="1600" b="0" i="0" smtClean="0">
                              <a:latin typeface="Cambria Math" charset="0"/>
                            </a:rPr>
                            <m:t>minus</m:t>
                          </m:r>
                        </m:num>
                        <m:den>
                          <m:r>
                            <a:rPr lang="mr-IN" sz="1600" i="1">
                              <a:latin typeface="Cambria Math" charset="0"/>
                            </a:rPr>
                            <m:t>𝜕</m:t>
                          </m:r>
                          <m:r>
                            <a:rPr lang="en-US" sz="1600" i="1">
                              <a:latin typeface="Cambria Math" charset="0"/>
                            </a:rPr>
                            <m:t>𝑎</m:t>
                          </m:r>
                        </m:den>
                      </m:f>
                    </m:oMath>
                  </m:oMathPara>
                </a14:m>
                <a:endParaRPr lang="en-US" sz="1600" dirty="0"/>
              </a:p>
            </p:txBody>
          </p:sp>
        </mc:Choice>
        <mc:Fallback xmlns="">
          <p:sp>
            <p:nvSpPr>
              <p:cNvPr id="31" name="Rectangle 30"/>
              <p:cNvSpPr>
                <a:spLocks noRot="1" noChangeAspect="1" noMove="1" noResize="1" noEditPoints="1" noAdjustHandles="1" noChangeArrowheads="1" noChangeShapeType="1" noTextEdit="1"/>
              </p:cNvSpPr>
              <p:nvPr/>
            </p:nvSpPr>
            <p:spPr>
              <a:xfrm>
                <a:off x="6281917" y="4069394"/>
                <a:ext cx="946092" cy="560538"/>
              </a:xfrm>
              <a:prstGeom prst="rect">
                <a:avLst/>
              </a:prstGeom>
              <a:blipFill rotWithShape="0">
                <a:blip r:embed="rId9"/>
                <a:stretch>
                  <a:fillRect/>
                </a:stretch>
              </a:blipFill>
            </p:spPr>
            <p:txBody>
              <a:bodyPr/>
              <a:lstStyle/>
              <a:p>
                <a:r>
                  <a:rPr lang="en-US">
                    <a:noFill/>
                  </a:rPr>
                  <a:t> </a:t>
                </a:r>
              </a:p>
            </p:txBody>
          </p:sp>
        </mc:Fallback>
      </mc:AlternateContent>
      <p:sp>
        <p:nvSpPr>
          <p:cNvPr id="34" name="Oval 33"/>
          <p:cNvSpPr/>
          <p:nvPr/>
        </p:nvSpPr>
        <p:spPr>
          <a:xfrm>
            <a:off x="5878510" y="4882092"/>
            <a:ext cx="574146" cy="574146"/>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wrap="none" rtlCol="0" anchor="ctr"/>
          <a:lstStyle/>
          <a:p>
            <a:pPr algn="ctr"/>
            <a:r>
              <a:rPr lang="en-US" sz="1600" dirty="0" smtClean="0">
                <a:solidFill>
                  <a:schemeClr val="tx2"/>
                </a:solidFill>
              </a:rPr>
              <a:t>add</a:t>
            </a:r>
            <a:endParaRPr lang="en-US" sz="1600" dirty="0">
              <a:solidFill>
                <a:schemeClr val="tx2"/>
              </a:solidFill>
            </a:endParaRPr>
          </a:p>
        </p:txBody>
      </p:sp>
    </p:spTree>
    <p:extLst>
      <p:ext uri="{BB962C8B-B14F-4D97-AF65-F5344CB8AC3E}">
        <p14:creationId xmlns:p14="http://schemas.microsoft.com/office/powerpoint/2010/main" val="75171043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7" name="Straight Arrow Connector 36"/>
          <p:cNvCxnSpPr>
            <a:cxnSpLocks/>
          </p:cNvCxnSpPr>
          <p:nvPr/>
        </p:nvCxnSpPr>
        <p:spPr>
          <a:xfrm flipV="1">
            <a:off x="9966616" y="5164321"/>
            <a:ext cx="540738" cy="968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normAutofit/>
          </a:bodyPr>
          <a:lstStyle/>
          <a:p>
            <a:r>
              <a:rPr lang="en-US" sz="2800" dirty="0"/>
              <a:t>What is derivative of </a:t>
            </a:r>
            <a:r>
              <a:rPr lang="en-US" sz="2800" dirty="0" smtClean="0"/>
              <a:t>multiplication </a:t>
            </a:r>
            <a:r>
              <a:rPr lang="en-US" sz="2800" dirty="0" err="1" smtClean="0"/>
              <a:t>w.r.t</a:t>
            </a:r>
            <a:r>
              <a:rPr lang="en-US" sz="2800" dirty="0" smtClean="0"/>
              <a:t> either input?</a:t>
            </a:r>
            <a:endParaRPr lang="en-US" sz="2800" dirty="0"/>
          </a:p>
        </p:txBody>
      </p:sp>
      <p:sp>
        <p:nvSpPr>
          <p:cNvPr id="5" name="Oval 4"/>
          <p:cNvSpPr/>
          <p:nvPr/>
        </p:nvSpPr>
        <p:spPr>
          <a:xfrm>
            <a:off x="3187202" y="4307946"/>
            <a:ext cx="574146" cy="574146"/>
          </a:xfrm>
          <a:prstGeom prst="ellipse">
            <a:avLst/>
          </a:prstGeom>
          <a:solidFill>
            <a:schemeClr val="bg1">
              <a:lumMod val="75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wrap="none" rtlCol="0" anchor="ctr"/>
          <a:lstStyle/>
          <a:p>
            <a:pPr algn="ctr"/>
            <a:endParaRPr lang="en-US" sz="1600" dirty="0">
              <a:solidFill>
                <a:schemeClr val="tx2"/>
              </a:solidFill>
            </a:endParaRPr>
          </a:p>
        </p:txBody>
      </p:sp>
      <p:sp>
        <p:nvSpPr>
          <p:cNvPr id="6" name="Oval 5"/>
          <p:cNvSpPr/>
          <p:nvPr/>
        </p:nvSpPr>
        <p:spPr>
          <a:xfrm>
            <a:off x="3187202" y="5456237"/>
            <a:ext cx="574146" cy="574146"/>
          </a:xfrm>
          <a:prstGeom prst="ellipse">
            <a:avLst/>
          </a:prstGeom>
          <a:solidFill>
            <a:schemeClr val="bg1">
              <a:lumMod val="75000"/>
            </a:schemeClr>
          </a:solidFill>
          <a:ln>
            <a:noFill/>
          </a:ln>
        </p:spPr>
        <p:style>
          <a:lnRef idx="3">
            <a:schemeClr val="lt1"/>
          </a:lnRef>
          <a:fillRef idx="1">
            <a:schemeClr val="dk1"/>
          </a:fillRef>
          <a:effectRef idx="1">
            <a:schemeClr val="dk1"/>
          </a:effectRef>
          <a:fontRef idx="minor">
            <a:schemeClr val="lt1"/>
          </a:fontRef>
        </p:style>
        <p:txBody>
          <a:bodyPr wrap="none" rtlCol="0" anchor="ctr"/>
          <a:lstStyle/>
          <a:p>
            <a:pPr algn="ctr"/>
            <a:endParaRPr lang="en-US" sz="1600" dirty="0">
              <a:solidFill>
                <a:schemeClr val="bg1"/>
              </a:solidFill>
            </a:endParaRPr>
          </a:p>
        </p:txBody>
      </p:sp>
      <p:sp>
        <p:nvSpPr>
          <p:cNvPr id="8" name="Oval 7"/>
          <p:cNvSpPr/>
          <p:nvPr/>
        </p:nvSpPr>
        <p:spPr>
          <a:xfrm>
            <a:off x="4586682" y="5456237"/>
            <a:ext cx="574146" cy="574146"/>
          </a:xfrm>
          <a:prstGeom prst="ellipse">
            <a:avLst/>
          </a:prstGeom>
          <a:solidFill>
            <a:schemeClr val="bg1">
              <a:lumMod val="75000"/>
            </a:schemeClr>
          </a:solidFill>
          <a:ln>
            <a:noFill/>
          </a:ln>
        </p:spPr>
        <p:style>
          <a:lnRef idx="3">
            <a:schemeClr val="lt1"/>
          </a:lnRef>
          <a:fillRef idx="1">
            <a:schemeClr val="dk1"/>
          </a:fillRef>
          <a:effectRef idx="1">
            <a:schemeClr val="dk1"/>
          </a:effectRef>
          <a:fontRef idx="minor">
            <a:schemeClr val="lt1"/>
          </a:fontRef>
        </p:style>
        <p:txBody>
          <a:bodyPr wrap="none" rtlCol="0" anchor="ctr"/>
          <a:lstStyle/>
          <a:p>
            <a:pPr algn="ctr"/>
            <a:endParaRPr lang="en-US" sz="1600" dirty="0">
              <a:solidFill>
                <a:schemeClr val="bg1"/>
              </a:solidFill>
            </a:endParaRPr>
          </a:p>
        </p:txBody>
      </p:sp>
      <p:cxnSp>
        <p:nvCxnSpPr>
          <p:cNvPr id="10" name="Straight Arrow Connector 9"/>
          <p:cNvCxnSpPr>
            <a:cxnSpLocks/>
          </p:cNvCxnSpPr>
          <p:nvPr/>
        </p:nvCxnSpPr>
        <p:spPr>
          <a:xfrm>
            <a:off x="2469520" y="4595019"/>
            <a:ext cx="717682"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a:cxnSpLocks/>
          </p:cNvCxnSpPr>
          <p:nvPr/>
        </p:nvCxnSpPr>
        <p:spPr>
          <a:xfrm>
            <a:off x="2469520" y="5743310"/>
            <a:ext cx="717682"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a:off x="3761348" y="4595019"/>
            <a:ext cx="825334"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a:cxnSpLocks/>
          </p:cNvCxnSpPr>
          <p:nvPr/>
        </p:nvCxnSpPr>
        <p:spPr>
          <a:xfrm flipV="1">
            <a:off x="3761348" y="4798010"/>
            <a:ext cx="909416" cy="94530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a:off x="5160828" y="4595019"/>
            <a:ext cx="801764" cy="371155"/>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flipV="1">
            <a:off x="5160828" y="5372156"/>
            <a:ext cx="801764" cy="371155"/>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cxnSpLocks/>
          </p:cNvCxnSpPr>
          <p:nvPr/>
        </p:nvCxnSpPr>
        <p:spPr>
          <a:xfrm>
            <a:off x="6452656" y="5169165"/>
            <a:ext cx="717682"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17" name="Oval 16"/>
          <p:cNvSpPr/>
          <p:nvPr/>
        </p:nvSpPr>
        <p:spPr>
          <a:xfrm>
            <a:off x="3187202" y="3124200"/>
            <a:ext cx="574146" cy="574146"/>
          </a:xfrm>
          <a:prstGeom prst="ellipse">
            <a:avLst/>
          </a:prstGeom>
          <a:solidFill>
            <a:schemeClr val="bg1">
              <a:lumMod val="75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wrap="none" rtlCol="0" anchor="ctr"/>
          <a:lstStyle/>
          <a:p>
            <a:pPr algn="ctr"/>
            <a:endParaRPr lang="en-US" sz="1600" dirty="0">
              <a:solidFill>
                <a:schemeClr val="tx2"/>
              </a:solidFill>
            </a:endParaRPr>
          </a:p>
        </p:txBody>
      </p:sp>
      <p:cxnSp>
        <p:nvCxnSpPr>
          <p:cNvPr id="18" name="Straight Arrow Connector 17"/>
          <p:cNvCxnSpPr>
            <a:cxnSpLocks/>
          </p:cNvCxnSpPr>
          <p:nvPr/>
        </p:nvCxnSpPr>
        <p:spPr>
          <a:xfrm>
            <a:off x="2469520" y="3411273"/>
            <a:ext cx="717682"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20" name="Elbow Connector 19"/>
          <p:cNvCxnSpPr/>
          <p:nvPr/>
        </p:nvCxnSpPr>
        <p:spPr>
          <a:xfrm>
            <a:off x="3761348" y="3411274"/>
            <a:ext cx="3696063" cy="1458382"/>
          </a:xfrm>
          <a:prstGeom prst="bentConnector2">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22" name="Rounded Rectangle 21"/>
          <p:cNvSpPr/>
          <p:nvPr/>
        </p:nvSpPr>
        <p:spPr>
          <a:xfrm>
            <a:off x="6932612" y="4419600"/>
            <a:ext cx="3309308" cy="1407847"/>
          </a:xfrm>
          <a:prstGeom prst="roundRect">
            <a:avLst/>
          </a:prstGeom>
          <a:noFill/>
          <a:ln w="28575">
            <a:solidFill>
              <a:schemeClr val="accent5">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tIns="0" rtlCol="0" anchor="t" anchorCtr="0"/>
          <a:lstStyle/>
          <a:p>
            <a:pPr algn="ctr"/>
            <a:r>
              <a:rPr lang="en-US">
                <a:solidFill>
                  <a:schemeClr val="accent5">
                    <a:lumMod val="75000"/>
                  </a:schemeClr>
                </a:solidFill>
              </a:rPr>
              <a:t>c</a:t>
            </a:r>
            <a:r>
              <a:rPr lang="en-US" smtClean="0">
                <a:solidFill>
                  <a:schemeClr val="accent5">
                    <a:lumMod val="75000"/>
                  </a:schemeClr>
                </a:solidFill>
              </a:rPr>
              <a:t>ost (J</a:t>
            </a:r>
            <a:r>
              <a:rPr lang="en-US" dirty="0" smtClean="0">
                <a:solidFill>
                  <a:schemeClr val="accent5">
                    <a:lumMod val="75000"/>
                  </a:schemeClr>
                </a:solidFill>
              </a:rPr>
              <a:t>)</a:t>
            </a:r>
            <a:endParaRPr lang="en-US" dirty="0">
              <a:solidFill>
                <a:schemeClr val="accent5">
                  <a:lumMod val="75000"/>
                </a:schemeClr>
              </a:solidFill>
            </a:endParaRPr>
          </a:p>
        </p:txBody>
      </p:sp>
      <p:cxnSp>
        <p:nvCxnSpPr>
          <p:cNvPr id="24" name="Straight Arrow Connector 23"/>
          <p:cNvCxnSpPr>
            <a:cxnSpLocks/>
          </p:cNvCxnSpPr>
          <p:nvPr/>
        </p:nvCxnSpPr>
        <p:spPr>
          <a:xfrm flipV="1">
            <a:off x="7744484" y="5169165"/>
            <a:ext cx="540738" cy="968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35" name="Oval 34"/>
          <p:cNvSpPr/>
          <p:nvPr/>
        </p:nvSpPr>
        <p:spPr>
          <a:xfrm>
            <a:off x="9396022" y="4869656"/>
            <a:ext cx="574146" cy="574146"/>
          </a:xfrm>
          <a:prstGeom prst="ellipse">
            <a:avLst/>
          </a:prstGeom>
          <a:ln/>
        </p:spPr>
        <p:style>
          <a:lnRef idx="2">
            <a:schemeClr val="dk1">
              <a:shade val="50000"/>
            </a:schemeClr>
          </a:lnRef>
          <a:fillRef idx="1">
            <a:schemeClr val="dk1"/>
          </a:fillRef>
          <a:effectRef idx="0">
            <a:schemeClr val="dk1"/>
          </a:effectRef>
          <a:fontRef idx="minor">
            <a:schemeClr val="lt1"/>
          </a:fontRef>
        </p:style>
        <p:txBody>
          <a:bodyPr wrap="none" rtlCol="0" anchor="ctr"/>
          <a:lstStyle/>
          <a:p>
            <a:pPr algn="ctr"/>
            <a:r>
              <a:rPr lang="en-US" sz="1600" smtClean="0">
                <a:solidFill>
                  <a:schemeClr val="bg1"/>
                </a:solidFill>
              </a:rPr>
              <a:t>sum</a:t>
            </a:r>
            <a:endParaRPr lang="en-US" sz="1600" dirty="0">
              <a:solidFill>
                <a:schemeClr val="bg1"/>
              </a:solidFill>
            </a:endParaRPr>
          </a:p>
        </p:txBody>
      </p:sp>
      <p:cxnSp>
        <p:nvCxnSpPr>
          <p:cNvPr id="36" name="Straight Arrow Connector 35"/>
          <p:cNvCxnSpPr>
            <a:cxnSpLocks/>
          </p:cNvCxnSpPr>
          <p:nvPr/>
        </p:nvCxnSpPr>
        <p:spPr>
          <a:xfrm flipV="1">
            <a:off x="8866858" y="5169165"/>
            <a:ext cx="540738" cy="968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 name="TextBox 3"/>
              <p:cNvSpPr txBox="1"/>
              <p:nvPr/>
            </p:nvSpPr>
            <p:spPr>
              <a:xfrm>
                <a:off x="6323012" y="1739899"/>
                <a:ext cx="1645322" cy="8192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mr-IN" sz="2800" i="1" smtClean="0">
                              <a:latin typeface="Cambria Math" panose="02040503050406030204" pitchFamily="18" charset="0"/>
                            </a:rPr>
                          </m:ctrlPr>
                        </m:fPr>
                        <m:num>
                          <m:r>
                            <a:rPr lang="mr-IN" sz="2800" i="1" smtClean="0">
                              <a:latin typeface="Cambria Math" charset="0"/>
                            </a:rPr>
                            <m:t>𝜕</m:t>
                          </m:r>
                          <m:r>
                            <m:rPr>
                              <m:nor/>
                            </m:rPr>
                            <a:rPr lang="en-US" sz="2800" b="0" i="0" smtClean="0">
                              <a:latin typeface="Cambria Math" charset="0"/>
                            </a:rPr>
                            <m:t>mul</m:t>
                          </m:r>
                        </m:num>
                        <m:den>
                          <m:r>
                            <a:rPr lang="mr-IN" sz="2800" i="1" smtClean="0">
                              <a:latin typeface="Cambria Math" charset="0"/>
                            </a:rPr>
                            <m:t>𝜕</m:t>
                          </m:r>
                          <m:r>
                            <a:rPr lang="en-US" sz="2800" b="0" i="1" smtClean="0">
                              <a:latin typeface="Cambria Math" charset="0"/>
                            </a:rPr>
                            <m:t>𝑎</m:t>
                          </m:r>
                        </m:den>
                      </m:f>
                      <m:r>
                        <a:rPr lang="en-US" sz="2800" b="0" i="1" smtClean="0">
                          <a:latin typeface="Cambria Math" charset="0"/>
                        </a:rPr>
                        <m:t>=</m:t>
                      </m:r>
                      <m:r>
                        <a:rPr lang="en-US" sz="2800" b="0" i="1" smtClean="0">
                          <a:latin typeface="Cambria Math" charset="0"/>
                        </a:rPr>
                        <m:t>𝑏</m:t>
                      </m:r>
                    </m:oMath>
                  </m:oMathPara>
                </a14:m>
                <a:endParaRPr lang="en-US" sz="2800" dirty="0"/>
              </a:p>
            </p:txBody>
          </p:sp>
        </mc:Choice>
        <mc:Fallback xmlns="">
          <p:sp>
            <p:nvSpPr>
              <p:cNvPr id="4" name="TextBox 3"/>
              <p:cNvSpPr txBox="1">
                <a:spLocks noRot="1" noChangeAspect="1" noMove="1" noResize="1" noEditPoints="1" noAdjustHandles="1" noChangeArrowheads="1" noChangeShapeType="1" noTextEdit="1"/>
              </p:cNvSpPr>
              <p:nvPr/>
            </p:nvSpPr>
            <p:spPr>
              <a:xfrm>
                <a:off x="6323012" y="1739899"/>
                <a:ext cx="1645322" cy="819263"/>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TextBox 31"/>
              <p:cNvSpPr txBox="1"/>
              <p:nvPr/>
            </p:nvSpPr>
            <p:spPr>
              <a:xfrm>
                <a:off x="1834370" y="1946946"/>
                <a:ext cx="2753190"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nor/>
                        </m:rPr>
                        <a:rPr lang="en-US" sz="2800" smtClean="0">
                          <a:latin typeface="Cambria Math" charset="0"/>
                        </a:rPr>
                        <m:t>m</m:t>
                      </m:r>
                      <m:r>
                        <m:rPr>
                          <m:nor/>
                        </m:rPr>
                        <a:rPr lang="en-US" sz="2800" b="0" i="0" smtClean="0">
                          <a:latin typeface="Cambria Math" charset="0"/>
                        </a:rPr>
                        <m:t>ul</m:t>
                      </m:r>
                      <m:d>
                        <m:dPr>
                          <m:ctrlPr>
                            <a:rPr lang="en-US" sz="2800" b="0" i="1" smtClean="0">
                              <a:latin typeface="Cambria Math" panose="02040503050406030204" pitchFamily="18" charset="0"/>
                            </a:rPr>
                          </m:ctrlPr>
                        </m:dPr>
                        <m:e>
                          <m:r>
                            <a:rPr lang="en-US" sz="2800" b="0" i="1" smtClean="0">
                              <a:latin typeface="Cambria Math" charset="0"/>
                            </a:rPr>
                            <m:t>𝑎</m:t>
                          </m:r>
                          <m:r>
                            <a:rPr lang="en-US" sz="2800" b="0" i="1" smtClean="0">
                              <a:latin typeface="Cambria Math" charset="0"/>
                            </a:rPr>
                            <m:t>, </m:t>
                          </m:r>
                          <m:r>
                            <a:rPr lang="en-US" sz="2800" b="0" i="1" smtClean="0">
                              <a:latin typeface="Cambria Math" charset="0"/>
                            </a:rPr>
                            <m:t>𝑏</m:t>
                          </m:r>
                        </m:e>
                      </m:d>
                      <m:r>
                        <a:rPr lang="en-US" sz="2800" b="0" i="1" smtClean="0">
                          <a:latin typeface="Cambria Math" charset="0"/>
                        </a:rPr>
                        <m:t>=</m:t>
                      </m:r>
                      <m:r>
                        <a:rPr lang="en-US" sz="2800" b="0" i="1" smtClean="0">
                          <a:latin typeface="Cambria Math" charset="0"/>
                        </a:rPr>
                        <m:t>𝑎</m:t>
                      </m:r>
                      <m:r>
                        <a:rPr lang="en-US" sz="2800" b="0" i="1" smtClean="0">
                          <a:latin typeface="Cambria Math" charset="0"/>
                        </a:rPr>
                        <m:t>×</m:t>
                      </m:r>
                      <m:r>
                        <a:rPr lang="en-US" sz="2800" b="0" i="1" smtClean="0">
                          <a:latin typeface="Cambria Math" charset="0"/>
                        </a:rPr>
                        <m:t>𝑏</m:t>
                      </m:r>
                    </m:oMath>
                  </m:oMathPara>
                </a14:m>
                <a:endParaRPr lang="en-US" sz="2800" dirty="0"/>
              </a:p>
            </p:txBody>
          </p:sp>
        </mc:Choice>
        <mc:Fallback xmlns="">
          <p:sp>
            <p:nvSpPr>
              <p:cNvPr id="32" name="TextBox 31"/>
              <p:cNvSpPr txBox="1">
                <a:spLocks noRot="1" noChangeAspect="1" noMove="1" noResize="1" noEditPoints="1" noAdjustHandles="1" noChangeArrowheads="1" noChangeShapeType="1" noTextEdit="1"/>
              </p:cNvSpPr>
              <p:nvPr/>
            </p:nvSpPr>
            <p:spPr>
              <a:xfrm>
                <a:off x="1834370" y="1946946"/>
                <a:ext cx="2753190" cy="430887"/>
              </a:xfrm>
              <a:prstGeom prst="rect">
                <a:avLst/>
              </a:prstGeom>
              <a:blipFill rotWithShape="0">
                <a:blip r:embed="rId4"/>
                <a:stretch>
                  <a:fillRect/>
                </a:stretch>
              </a:blipFill>
            </p:spPr>
            <p:txBody>
              <a:bodyPr/>
              <a:lstStyle/>
              <a:p>
                <a:r>
                  <a:rPr lang="en-US">
                    <a:noFill/>
                  </a:rPr>
                  <a:t> </a:t>
                </a:r>
              </a:p>
            </p:txBody>
          </p:sp>
        </mc:Fallback>
      </mc:AlternateContent>
      <p:sp>
        <p:nvSpPr>
          <p:cNvPr id="27" name="Oval 26"/>
          <p:cNvSpPr/>
          <p:nvPr/>
        </p:nvSpPr>
        <p:spPr>
          <a:xfrm>
            <a:off x="8282745" y="4869656"/>
            <a:ext cx="574146" cy="574146"/>
          </a:xfrm>
          <a:prstGeom prst="ellipse">
            <a:avLst/>
          </a:prstGeom>
          <a:solidFill>
            <a:srgbClr val="197709"/>
          </a:solidFill>
          <a:ln>
            <a:solidFill>
              <a:schemeClr val="accent2">
                <a:lumMod val="50000"/>
              </a:schemeClr>
            </a:solidFill>
          </a:ln>
        </p:spPr>
        <p:style>
          <a:lnRef idx="2">
            <a:schemeClr val="accent4">
              <a:shade val="50000"/>
            </a:schemeClr>
          </a:lnRef>
          <a:fillRef idx="1">
            <a:schemeClr val="accent4"/>
          </a:fillRef>
          <a:effectRef idx="0">
            <a:schemeClr val="accent4"/>
          </a:effectRef>
          <a:fontRef idx="minor">
            <a:schemeClr val="lt1"/>
          </a:fontRef>
        </p:style>
        <p:txBody>
          <a:bodyPr wrap="none" rtlCol="0" anchor="ctr"/>
          <a:lstStyle/>
          <a:p>
            <a:pPr algn="ctr"/>
            <a:r>
              <a:rPr lang="en-US" sz="1400" dirty="0" smtClean="0">
                <a:solidFill>
                  <a:schemeClr val="bg1"/>
                </a:solidFill>
              </a:rPr>
              <a:t>square</a:t>
            </a:r>
            <a:endParaRPr lang="en-US" sz="1400" dirty="0">
              <a:solidFill>
                <a:schemeClr val="bg1"/>
              </a:solidFill>
            </a:endParaRPr>
          </a:p>
        </p:txBody>
      </p:sp>
      <mc:AlternateContent xmlns:mc="http://schemas.openxmlformats.org/markup-compatibility/2006" xmlns:a14="http://schemas.microsoft.com/office/drawing/2010/main">
        <mc:Choice Requires="a14">
          <p:sp>
            <p:nvSpPr>
              <p:cNvPr id="30" name="TextBox 29"/>
              <p:cNvSpPr txBox="1"/>
              <p:nvPr/>
            </p:nvSpPr>
            <p:spPr>
              <a:xfrm>
                <a:off x="9363566" y="3866651"/>
                <a:ext cx="603050" cy="53681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mr-IN" sz="1600" i="1" smtClean="0">
                              <a:latin typeface="Cambria Math" panose="02040503050406030204" pitchFamily="18" charset="0"/>
                            </a:rPr>
                          </m:ctrlPr>
                        </m:fPr>
                        <m:num>
                          <m:r>
                            <a:rPr lang="mr-IN" sz="1600" i="1" smtClean="0">
                              <a:latin typeface="Cambria Math" charset="0"/>
                            </a:rPr>
                            <m:t>𝜕</m:t>
                          </m:r>
                          <m:r>
                            <a:rPr lang="en-US" sz="1600" b="0" i="1" smtClean="0">
                              <a:latin typeface="Cambria Math" charset="0"/>
                            </a:rPr>
                            <m:t>𝑠𝑢𝑚</m:t>
                          </m:r>
                        </m:num>
                        <m:den>
                          <m:r>
                            <a:rPr lang="mr-IN" sz="1600" i="1" smtClean="0">
                              <a:latin typeface="Cambria Math" charset="0"/>
                            </a:rPr>
                            <m:t>𝜕</m:t>
                          </m:r>
                          <m:sSub>
                            <m:sSubPr>
                              <m:ctrlPr>
                                <a:rPr lang="en-US" sz="1600" b="0" i="1" smtClean="0">
                                  <a:latin typeface="Cambria Math" panose="02040503050406030204" pitchFamily="18" charset="0"/>
                                </a:rPr>
                              </m:ctrlPr>
                            </m:sSubPr>
                            <m:e>
                              <m:r>
                                <a:rPr lang="en-US" sz="1600" b="0" i="1" smtClean="0">
                                  <a:latin typeface="Cambria Math" charset="0"/>
                                </a:rPr>
                                <m:t>𝑧</m:t>
                              </m:r>
                            </m:e>
                            <m:sub>
                              <m:r>
                                <a:rPr lang="en-US" sz="1600" b="0" i="1" smtClean="0">
                                  <a:latin typeface="Cambria Math" charset="0"/>
                                </a:rPr>
                                <m:t>𝑝</m:t>
                              </m:r>
                            </m:sub>
                          </m:sSub>
                        </m:den>
                      </m:f>
                    </m:oMath>
                  </m:oMathPara>
                </a14:m>
                <a:endParaRPr lang="en-US" sz="2800" dirty="0"/>
              </a:p>
            </p:txBody>
          </p:sp>
        </mc:Choice>
        <mc:Fallback xmlns="">
          <p:sp>
            <p:nvSpPr>
              <p:cNvPr id="30" name="TextBox 29"/>
              <p:cNvSpPr txBox="1">
                <a:spLocks noRot="1" noChangeAspect="1" noMove="1" noResize="1" noEditPoints="1" noAdjustHandles="1" noChangeArrowheads="1" noChangeShapeType="1" noTextEdit="1"/>
              </p:cNvSpPr>
              <p:nvPr/>
            </p:nvSpPr>
            <p:spPr>
              <a:xfrm>
                <a:off x="9363566" y="3866651"/>
                <a:ext cx="603050" cy="536814"/>
              </a:xfrm>
              <a:prstGeom prst="rect">
                <a:avLst/>
              </a:prstGeom>
              <a:blipFill rotWithShape="0">
                <a:blip r:embed="rId5"/>
                <a:stretch>
                  <a:fillRect/>
                </a:stretch>
              </a:blipFill>
            </p:spPr>
            <p:txBody>
              <a:bodyPr/>
              <a:lstStyle/>
              <a:p>
                <a:r>
                  <a:rPr lang="en-US">
                    <a:noFill/>
                  </a:rPr>
                  <a:t> </a:t>
                </a:r>
              </a:p>
            </p:txBody>
          </p:sp>
        </mc:Fallback>
      </mc:AlternateContent>
      <p:sp>
        <p:nvSpPr>
          <p:cNvPr id="28" name="Oval 27"/>
          <p:cNvSpPr/>
          <p:nvPr/>
        </p:nvSpPr>
        <p:spPr>
          <a:xfrm>
            <a:off x="7170338" y="4869656"/>
            <a:ext cx="574146" cy="574146"/>
          </a:xfrm>
          <a:prstGeom prst="ellipse">
            <a:avLst/>
          </a:prstGeom>
          <a:solidFill>
            <a:schemeClr val="accent5">
              <a:lumMod val="60000"/>
              <a:lumOff val="40000"/>
            </a:schemeClr>
          </a:solidFill>
          <a:ln>
            <a:solidFill>
              <a:schemeClr val="accent5">
                <a:lumMod val="75000"/>
              </a:schemeClr>
            </a:solidFill>
          </a:ln>
        </p:spPr>
        <p:style>
          <a:lnRef idx="2">
            <a:schemeClr val="accent4">
              <a:shade val="50000"/>
            </a:schemeClr>
          </a:lnRef>
          <a:fillRef idx="1">
            <a:schemeClr val="accent4"/>
          </a:fillRef>
          <a:effectRef idx="0">
            <a:schemeClr val="accent4"/>
          </a:effectRef>
          <a:fontRef idx="minor">
            <a:schemeClr val="lt1"/>
          </a:fontRef>
        </p:style>
        <p:txBody>
          <a:bodyPr wrap="none" rtlCol="0" anchor="ctr"/>
          <a:lstStyle/>
          <a:p>
            <a:pPr algn="ctr"/>
            <a:r>
              <a:rPr lang="en-US" sz="1600" dirty="0" smtClean="0">
                <a:solidFill>
                  <a:schemeClr val="tx2"/>
                </a:solidFill>
              </a:rPr>
              <a:t>minus</a:t>
            </a:r>
            <a:endParaRPr lang="en-US" sz="1600" dirty="0">
              <a:solidFill>
                <a:schemeClr val="tx2"/>
              </a:solidFill>
            </a:endParaRPr>
          </a:p>
        </p:txBody>
      </p:sp>
      <mc:AlternateContent xmlns:mc="http://schemas.openxmlformats.org/markup-compatibility/2006" xmlns:a14="http://schemas.microsoft.com/office/drawing/2010/main">
        <mc:Choice Requires="a14">
          <p:sp>
            <p:nvSpPr>
              <p:cNvPr id="29" name="TextBox 28"/>
              <p:cNvSpPr txBox="1"/>
              <p:nvPr/>
            </p:nvSpPr>
            <p:spPr>
              <a:xfrm>
                <a:off x="8615175" y="1739899"/>
                <a:ext cx="1652632" cy="8192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mr-IN" sz="2800" i="1" smtClean="0">
                              <a:latin typeface="Cambria Math" panose="02040503050406030204" pitchFamily="18" charset="0"/>
                            </a:rPr>
                          </m:ctrlPr>
                        </m:fPr>
                        <m:num>
                          <m:r>
                            <a:rPr lang="mr-IN" sz="2800" i="1" smtClean="0">
                              <a:latin typeface="Cambria Math" charset="0"/>
                            </a:rPr>
                            <m:t>𝜕</m:t>
                          </m:r>
                          <m:r>
                            <m:rPr>
                              <m:nor/>
                            </m:rPr>
                            <a:rPr lang="en-US" sz="2800" b="0" i="0" smtClean="0">
                              <a:latin typeface="Cambria Math" charset="0"/>
                            </a:rPr>
                            <m:t>mul</m:t>
                          </m:r>
                        </m:num>
                        <m:den>
                          <m:r>
                            <a:rPr lang="mr-IN" sz="2800" i="1" smtClean="0">
                              <a:latin typeface="Cambria Math" charset="0"/>
                            </a:rPr>
                            <m:t>𝜕</m:t>
                          </m:r>
                          <m:r>
                            <a:rPr lang="en-US" sz="2800" b="0" i="1" smtClean="0">
                              <a:latin typeface="Cambria Math" charset="0"/>
                            </a:rPr>
                            <m:t>𝑏</m:t>
                          </m:r>
                        </m:den>
                      </m:f>
                      <m:r>
                        <a:rPr lang="en-US" sz="2800" b="0" i="1" smtClean="0">
                          <a:latin typeface="Cambria Math" charset="0"/>
                        </a:rPr>
                        <m:t>=</m:t>
                      </m:r>
                      <m:r>
                        <a:rPr lang="en-US" sz="2800" b="0" i="1" smtClean="0">
                          <a:latin typeface="Cambria Math" charset="0"/>
                        </a:rPr>
                        <m:t>𝑎</m:t>
                      </m:r>
                    </m:oMath>
                  </m:oMathPara>
                </a14:m>
                <a:endParaRPr lang="en-US" sz="2800" dirty="0"/>
              </a:p>
            </p:txBody>
          </p:sp>
        </mc:Choice>
        <mc:Fallback xmlns="">
          <p:sp>
            <p:nvSpPr>
              <p:cNvPr id="29" name="TextBox 28"/>
              <p:cNvSpPr txBox="1">
                <a:spLocks noRot="1" noChangeAspect="1" noMove="1" noResize="1" noEditPoints="1" noAdjustHandles="1" noChangeArrowheads="1" noChangeShapeType="1" noTextEdit="1"/>
              </p:cNvSpPr>
              <p:nvPr/>
            </p:nvSpPr>
            <p:spPr>
              <a:xfrm>
                <a:off x="8615175" y="1739899"/>
                <a:ext cx="1652632" cy="819263"/>
              </a:xfrm>
              <a:prstGeom prst="rect">
                <a:avLst/>
              </a:prstGeom>
              <a:blipFill rotWithShape="0">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Rectangle 32"/>
              <p:cNvSpPr/>
              <p:nvPr/>
            </p:nvSpPr>
            <p:spPr>
              <a:xfrm>
                <a:off x="8031557" y="3842927"/>
                <a:ext cx="1000594" cy="56053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mr-IN" sz="1600" i="1">
                              <a:latin typeface="Cambria Math" panose="02040503050406030204" pitchFamily="18" charset="0"/>
                            </a:rPr>
                          </m:ctrlPr>
                        </m:fPr>
                        <m:num>
                          <m:r>
                            <a:rPr lang="mr-IN" sz="1600" i="1">
                              <a:latin typeface="Cambria Math" charset="0"/>
                            </a:rPr>
                            <m:t>𝜕</m:t>
                          </m:r>
                          <m:r>
                            <m:rPr>
                              <m:nor/>
                            </m:rPr>
                            <a:rPr lang="en-US" sz="1600">
                              <a:latin typeface="Cambria Math" charset="0"/>
                            </a:rPr>
                            <m:t>square</m:t>
                          </m:r>
                        </m:num>
                        <m:den>
                          <m:r>
                            <a:rPr lang="mr-IN" sz="1600" i="1">
                              <a:latin typeface="Cambria Math" charset="0"/>
                            </a:rPr>
                            <m:t>𝜕</m:t>
                          </m:r>
                          <m:r>
                            <a:rPr lang="en-US" sz="1600" i="1">
                              <a:latin typeface="Cambria Math" charset="0"/>
                            </a:rPr>
                            <m:t>𝑧</m:t>
                          </m:r>
                        </m:den>
                      </m:f>
                    </m:oMath>
                  </m:oMathPara>
                </a14:m>
                <a:endParaRPr lang="en-US" sz="1600" dirty="0"/>
              </a:p>
            </p:txBody>
          </p:sp>
        </mc:Choice>
        <mc:Fallback xmlns="">
          <p:sp>
            <p:nvSpPr>
              <p:cNvPr id="33" name="Rectangle 32"/>
              <p:cNvSpPr>
                <a:spLocks noRot="1" noChangeAspect="1" noMove="1" noResize="1" noEditPoints="1" noAdjustHandles="1" noChangeArrowheads="1" noChangeShapeType="1" noTextEdit="1"/>
              </p:cNvSpPr>
              <p:nvPr/>
            </p:nvSpPr>
            <p:spPr>
              <a:xfrm>
                <a:off x="8031557" y="3842927"/>
                <a:ext cx="1000594" cy="560538"/>
              </a:xfrm>
              <a:prstGeom prst="rect">
                <a:avLst/>
              </a:prstGeom>
              <a:blipFill rotWithShape="0">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Rectangle 2"/>
              <p:cNvSpPr/>
              <p:nvPr/>
            </p:nvSpPr>
            <p:spPr>
              <a:xfrm>
                <a:off x="7170338" y="2982880"/>
                <a:ext cx="946092" cy="56053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mr-IN" sz="1600" i="1" smtClean="0">
                              <a:latin typeface="Cambria Math" panose="02040503050406030204" pitchFamily="18" charset="0"/>
                            </a:rPr>
                          </m:ctrlPr>
                        </m:fPr>
                        <m:num>
                          <m:r>
                            <a:rPr lang="mr-IN" sz="1600" i="1">
                              <a:latin typeface="Cambria Math" charset="0"/>
                            </a:rPr>
                            <m:t>𝜕</m:t>
                          </m:r>
                          <m:r>
                            <m:rPr>
                              <m:nor/>
                            </m:rPr>
                            <a:rPr lang="en-US" sz="1600" b="0" i="0" smtClean="0">
                              <a:latin typeface="Cambria Math" charset="0"/>
                            </a:rPr>
                            <m:t>minus</m:t>
                          </m:r>
                        </m:num>
                        <m:den>
                          <m:r>
                            <a:rPr lang="mr-IN" sz="1600" i="1">
                              <a:latin typeface="Cambria Math" charset="0"/>
                            </a:rPr>
                            <m:t>𝜕</m:t>
                          </m:r>
                          <m:r>
                            <a:rPr lang="en-US" sz="1600" b="0" i="1" smtClean="0">
                              <a:latin typeface="Cambria Math" charset="0"/>
                            </a:rPr>
                            <m:t>𝑏</m:t>
                          </m:r>
                        </m:den>
                      </m:f>
                    </m:oMath>
                  </m:oMathPara>
                </a14:m>
                <a:endParaRPr lang="en-US" sz="1600" dirty="0"/>
              </a:p>
            </p:txBody>
          </p:sp>
        </mc:Choice>
        <mc:Fallback xmlns="">
          <p:sp>
            <p:nvSpPr>
              <p:cNvPr id="3" name="Rectangle 2"/>
              <p:cNvSpPr>
                <a:spLocks noRot="1" noChangeAspect="1" noMove="1" noResize="1" noEditPoints="1" noAdjustHandles="1" noChangeArrowheads="1" noChangeShapeType="1" noTextEdit="1"/>
              </p:cNvSpPr>
              <p:nvPr/>
            </p:nvSpPr>
            <p:spPr>
              <a:xfrm>
                <a:off x="7170338" y="2982880"/>
                <a:ext cx="946092" cy="560538"/>
              </a:xfrm>
              <a:prstGeom prst="rect">
                <a:avLst/>
              </a:prstGeom>
              <a:blipFill rotWithShape="0">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Rectangle 30"/>
              <p:cNvSpPr/>
              <p:nvPr/>
            </p:nvSpPr>
            <p:spPr>
              <a:xfrm>
                <a:off x="6281917" y="4069394"/>
                <a:ext cx="946092" cy="56053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mr-IN" sz="1600" i="1">
                              <a:latin typeface="Cambria Math" panose="02040503050406030204" pitchFamily="18" charset="0"/>
                            </a:rPr>
                          </m:ctrlPr>
                        </m:fPr>
                        <m:num>
                          <m:r>
                            <a:rPr lang="mr-IN" sz="1600" i="1">
                              <a:latin typeface="Cambria Math" charset="0"/>
                            </a:rPr>
                            <m:t>𝜕</m:t>
                          </m:r>
                          <m:r>
                            <m:rPr>
                              <m:nor/>
                            </m:rPr>
                            <a:rPr lang="en-US" sz="1600" b="0" i="0" smtClean="0">
                              <a:latin typeface="Cambria Math" charset="0"/>
                            </a:rPr>
                            <m:t>minus</m:t>
                          </m:r>
                        </m:num>
                        <m:den>
                          <m:r>
                            <a:rPr lang="mr-IN" sz="1600" i="1">
                              <a:latin typeface="Cambria Math" charset="0"/>
                            </a:rPr>
                            <m:t>𝜕</m:t>
                          </m:r>
                          <m:r>
                            <a:rPr lang="en-US" sz="1600" i="1">
                              <a:latin typeface="Cambria Math" charset="0"/>
                            </a:rPr>
                            <m:t>𝑎</m:t>
                          </m:r>
                        </m:den>
                      </m:f>
                    </m:oMath>
                  </m:oMathPara>
                </a14:m>
                <a:endParaRPr lang="en-US" sz="1600" dirty="0"/>
              </a:p>
            </p:txBody>
          </p:sp>
        </mc:Choice>
        <mc:Fallback xmlns="">
          <p:sp>
            <p:nvSpPr>
              <p:cNvPr id="31" name="Rectangle 30"/>
              <p:cNvSpPr>
                <a:spLocks noRot="1" noChangeAspect="1" noMove="1" noResize="1" noEditPoints="1" noAdjustHandles="1" noChangeArrowheads="1" noChangeShapeType="1" noTextEdit="1"/>
              </p:cNvSpPr>
              <p:nvPr/>
            </p:nvSpPr>
            <p:spPr>
              <a:xfrm>
                <a:off x="6281917" y="4069394"/>
                <a:ext cx="946092" cy="560538"/>
              </a:xfrm>
              <a:prstGeom prst="rect">
                <a:avLst/>
              </a:prstGeom>
              <a:blipFill rotWithShape="0">
                <a:blip r:embed="rId9"/>
                <a:stretch>
                  <a:fillRect/>
                </a:stretch>
              </a:blipFill>
            </p:spPr>
            <p:txBody>
              <a:bodyPr/>
              <a:lstStyle/>
              <a:p>
                <a:r>
                  <a:rPr lang="en-US">
                    <a:noFill/>
                  </a:rPr>
                  <a:t> </a:t>
                </a:r>
              </a:p>
            </p:txBody>
          </p:sp>
        </mc:Fallback>
      </mc:AlternateContent>
      <p:sp>
        <p:nvSpPr>
          <p:cNvPr id="34" name="Oval 33"/>
          <p:cNvSpPr/>
          <p:nvPr/>
        </p:nvSpPr>
        <p:spPr>
          <a:xfrm>
            <a:off x="5878510" y="4882092"/>
            <a:ext cx="574146" cy="574146"/>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wrap="none" rtlCol="0" anchor="ctr"/>
          <a:lstStyle/>
          <a:p>
            <a:pPr algn="ctr"/>
            <a:r>
              <a:rPr lang="en-US" sz="1600" dirty="0" smtClean="0">
                <a:solidFill>
                  <a:schemeClr val="tx2"/>
                </a:solidFill>
              </a:rPr>
              <a:t>add</a:t>
            </a:r>
            <a:endParaRPr lang="en-US" sz="1600" dirty="0">
              <a:solidFill>
                <a:schemeClr val="tx2"/>
              </a:solidFill>
            </a:endParaRPr>
          </a:p>
        </p:txBody>
      </p:sp>
      <mc:AlternateContent xmlns:mc="http://schemas.openxmlformats.org/markup-compatibility/2006" xmlns:a14="http://schemas.microsoft.com/office/drawing/2010/main">
        <mc:Choice Requires="a14">
          <p:sp>
            <p:nvSpPr>
              <p:cNvPr id="9" name="Rectangle 8"/>
              <p:cNvSpPr/>
              <p:nvPr/>
            </p:nvSpPr>
            <p:spPr>
              <a:xfrm>
                <a:off x="4962634" y="4945166"/>
                <a:ext cx="729687" cy="56053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mr-IN" sz="1600" i="1" smtClean="0">
                              <a:latin typeface="Cambria Math" panose="02040503050406030204" pitchFamily="18" charset="0"/>
                            </a:rPr>
                          </m:ctrlPr>
                        </m:fPr>
                        <m:num>
                          <m:r>
                            <a:rPr lang="mr-IN" sz="1600" i="1">
                              <a:latin typeface="Cambria Math" charset="0"/>
                            </a:rPr>
                            <m:t>𝜕</m:t>
                          </m:r>
                          <m:r>
                            <m:rPr>
                              <m:nor/>
                            </m:rPr>
                            <a:rPr lang="en-US" sz="1600">
                              <a:latin typeface="Cambria Math" charset="0"/>
                            </a:rPr>
                            <m:t>add</m:t>
                          </m:r>
                        </m:num>
                        <m:den>
                          <m:r>
                            <a:rPr lang="mr-IN" sz="1600" i="1">
                              <a:latin typeface="Cambria Math" charset="0"/>
                            </a:rPr>
                            <m:t>𝜕</m:t>
                          </m:r>
                          <m:r>
                            <a:rPr lang="en-US" sz="1600" b="0" i="1" smtClean="0">
                              <a:latin typeface="Cambria Math" charset="0"/>
                            </a:rPr>
                            <m:t>𝑏</m:t>
                          </m:r>
                        </m:den>
                      </m:f>
                    </m:oMath>
                  </m:oMathPara>
                </a14:m>
                <a:endParaRPr lang="en-US" sz="1600" dirty="0"/>
              </a:p>
            </p:txBody>
          </p:sp>
        </mc:Choice>
        <mc:Fallback xmlns="">
          <p:sp>
            <p:nvSpPr>
              <p:cNvPr id="9" name="Rectangle 8"/>
              <p:cNvSpPr>
                <a:spLocks noRot="1" noChangeAspect="1" noMove="1" noResize="1" noEditPoints="1" noAdjustHandles="1" noChangeArrowheads="1" noChangeShapeType="1" noTextEdit="1"/>
              </p:cNvSpPr>
              <p:nvPr/>
            </p:nvSpPr>
            <p:spPr>
              <a:xfrm>
                <a:off x="4962634" y="4945166"/>
                <a:ext cx="729687" cy="560538"/>
              </a:xfrm>
              <a:prstGeom prst="rect">
                <a:avLst/>
              </a:prstGeom>
              <a:blipFill rotWithShape="0">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Rectangle 18"/>
              <p:cNvSpPr/>
              <p:nvPr/>
            </p:nvSpPr>
            <p:spPr>
              <a:xfrm>
                <a:off x="5242277" y="4106383"/>
                <a:ext cx="729687" cy="56053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mr-IN" sz="1600" i="1" smtClean="0">
                              <a:latin typeface="Cambria Math" panose="02040503050406030204" pitchFamily="18" charset="0"/>
                            </a:rPr>
                          </m:ctrlPr>
                        </m:fPr>
                        <m:num>
                          <m:r>
                            <a:rPr lang="mr-IN" sz="1600" i="1">
                              <a:latin typeface="Cambria Math" charset="0"/>
                            </a:rPr>
                            <m:t>𝜕</m:t>
                          </m:r>
                          <m:r>
                            <m:rPr>
                              <m:nor/>
                            </m:rPr>
                            <a:rPr lang="en-US" sz="1600">
                              <a:latin typeface="Cambria Math" charset="0"/>
                            </a:rPr>
                            <m:t>add</m:t>
                          </m:r>
                        </m:num>
                        <m:den>
                          <m:r>
                            <a:rPr lang="mr-IN" sz="1600" i="1">
                              <a:latin typeface="Cambria Math" charset="0"/>
                            </a:rPr>
                            <m:t>𝜕</m:t>
                          </m:r>
                          <m:r>
                            <a:rPr lang="en-US" sz="1600" b="0" i="1" smtClean="0">
                              <a:latin typeface="Cambria Math" charset="0"/>
                            </a:rPr>
                            <m:t>𝑎</m:t>
                          </m:r>
                        </m:den>
                      </m:f>
                    </m:oMath>
                  </m:oMathPara>
                </a14:m>
                <a:endParaRPr lang="en-US" sz="1600" dirty="0"/>
              </a:p>
            </p:txBody>
          </p:sp>
        </mc:Choice>
        <mc:Fallback xmlns="">
          <p:sp>
            <p:nvSpPr>
              <p:cNvPr id="19" name="Rectangle 18"/>
              <p:cNvSpPr>
                <a:spLocks noRot="1" noChangeAspect="1" noMove="1" noResize="1" noEditPoints="1" noAdjustHandles="1" noChangeArrowheads="1" noChangeShapeType="1" noTextEdit="1"/>
              </p:cNvSpPr>
              <p:nvPr/>
            </p:nvSpPr>
            <p:spPr>
              <a:xfrm>
                <a:off x="5242277" y="4106383"/>
                <a:ext cx="729687" cy="560538"/>
              </a:xfrm>
              <a:prstGeom prst="rect">
                <a:avLst/>
              </a:prstGeom>
              <a:blipFill rotWithShape="0">
                <a:blip r:embed="rId11"/>
                <a:stretch>
                  <a:fillRect/>
                </a:stretch>
              </a:blipFill>
            </p:spPr>
            <p:txBody>
              <a:bodyPr/>
              <a:lstStyle/>
              <a:p>
                <a:r>
                  <a:rPr lang="en-US">
                    <a:noFill/>
                  </a:rPr>
                  <a:t> </a:t>
                </a:r>
              </a:p>
            </p:txBody>
          </p:sp>
        </mc:Fallback>
      </mc:AlternateContent>
      <p:sp>
        <p:nvSpPr>
          <p:cNvPr id="39" name="Oval 38"/>
          <p:cNvSpPr/>
          <p:nvPr/>
        </p:nvSpPr>
        <p:spPr>
          <a:xfrm>
            <a:off x="4586682" y="4307946"/>
            <a:ext cx="574146" cy="574146"/>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wrap="none" rtlCol="0" anchor="ctr"/>
          <a:lstStyle/>
          <a:p>
            <a:pPr algn="ctr"/>
            <a:r>
              <a:rPr lang="en-US" sz="1600" dirty="0" err="1" smtClean="0">
                <a:solidFill>
                  <a:schemeClr val="tx2"/>
                </a:solidFill>
              </a:rPr>
              <a:t>mul</a:t>
            </a:r>
            <a:endParaRPr lang="en-US" sz="1600" dirty="0">
              <a:solidFill>
                <a:schemeClr val="tx2"/>
              </a:solidFill>
            </a:endParaRPr>
          </a:p>
        </p:txBody>
      </p:sp>
    </p:spTree>
    <p:extLst>
      <p:ext uri="{BB962C8B-B14F-4D97-AF65-F5344CB8AC3E}">
        <p14:creationId xmlns:p14="http://schemas.microsoft.com/office/powerpoint/2010/main" val="60253158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7" name="Straight Arrow Connector 36"/>
          <p:cNvCxnSpPr>
            <a:cxnSpLocks/>
          </p:cNvCxnSpPr>
          <p:nvPr/>
        </p:nvCxnSpPr>
        <p:spPr>
          <a:xfrm flipV="1">
            <a:off x="9966616" y="5164321"/>
            <a:ext cx="540738" cy="968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normAutofit/>
          </a:bodyPr>
          <a:lstStyle/>
          <a:p>
            <a:r>
              <a:rPr lang="en-US" sz="2800" dirty="0"/>
              <a:t>What is derivative of </a:t>
            </a:r>
            <a:r>
              <a:rPr lang="en-US" sz="2800" dirty="0" smtClean="0"/>
              <a:t>multiplication </a:t>
            </a:r>
            <a:r>
              <a:rPr lang="en-US" sz="2800" dirty="0" err="1" smtClean="0"/>
              <a:t>w.r.t</a:t>
            </a:r>
            <a:r>
              <a:rPr lang="en-US" sz="2800" dirty="0" smtClean="0"/>
              <a:t> either input?</a:t>
            </a:r>
            <a:endParaRPr lang="en-US" sz="2800" dirty="0"/>
          </a:p>
        </p:txBody>
      </p:sp>
      <p:sp>
        <p:nvSpPr>
          <p:cNvPr id="5" name="Oval 4"/>
          <p:cNvSpPr/>
          <p:nvPr/>
        </p:nvSpPr>
        <p:spPr>
          <a:xfrm>
            <a:off x="3187202" y="4307946"/>
            <a:ext cx="574146" cy="574146"/>
          </a:xfrm>
          <a:prstGeom prst="ellipse">
            <a:avLst/>
          </a:prstGeom>
          <a:solidFill>
            <a:schemeClr val="bg1">
              <a:lumMod val="75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wrap="none" rtlCol="0" anchor="ctr"/>
          <a:lstStyle/>
          <a:p>
            <a:pPr algn="ctr"/>
            <a:endParaRPr lang="en-US" sz="1600" dirty="0">
              <a:solidFill>
                <a:schemeClr val="tx2"/>
              </a:solidFill>
            </a:endParaRPr>
          </a:p>
        </p:txBody>
      </p:sp>
      <p:sp>
        <p:nvSpPr>
          <p:cNvPr id="6" name="Oval 5"/>
          <p:cNvSpPr/>
          <p:nvPr/>
        </p:nvSpPr>
        <p:spPr>
          <a:xfrm>
            <a:off x="3187202" y="5456237"/>
            <a:ext cx="574146" cy="574146"/>
          </a:xfrm>
          <a:prstGeom prst="ellipse">
            <a:avLst/>
          </a:prstGeom>
          <a:solidFill>
            <a:schemeClr val="bg1">
              <a:lumMod val="75000"/>
            </a:schemeClr>
          </a:solidFill>
          <a:ln>
            <a:noFill/>
          </a:ln>
        </p:spPr>
        <p:style>
          <a:lnRef idx="3">
            <a:schemeClr val="lt1"/>
          </a:lnRef>
          <a:fillRef idx="1">
            <a:schemeClr val="dk1"/>
          </a:fillRef>
          <a:effectRef idx="1">
            <a:schemeClr val="dk1"/>
          </a:effectRef>
          <a:fontRef idx="minor">
            <a:schemeClr val="lt1"/>
          </a:fontRef>
        </p:style>
        <p:txBody>
          <a:bodyPr wrap="none" rtlCol="0" anchor="ctr"/>
          <a:lstStyle/>
          <a:p>
            <a:pPr algn="ctr"/>
            <a:endParaRPr lang="en-US" sz="1600" dirty="0">
              <a:solidFill>
                <a:schemeClr val="bg1"/>
              </a:solidFill>
            </a:endParaRPr>
          </a:p>
        </p:txBody>
      </p:sp>
      <p:sp>
        <p:nvSpPr>
          <p:cNvPr id="8" name="Oval 7"/>
          <p:cNvSpPr/>
          <p:nvPr/>
        </p:nvSpPr>
        <p:spPr>
          <a:xfrm>
            <a:off x="4586682" y="5456237"/>
            <a:ext cx="574146" cy="574146"/>
          </a:xfrm>
          <a:prstGeom prst="ellipse">
            <a:avLst/>
          </a:prstGeom>
          <a:solidFill>
            <a:schemeClr val="bg1">
              <a:lumMod val="75000"/>
            </a:schemeClr>
          </a:solidFill>
          <a:ln>
            <a:noFill/>
          </a:ln>
        </p:spPr>
        <p:style>
          <a:lnRef idx="3">
            <a:schemeClr val="lt1"/>
          </a:lnRef>
          <a:fillRef idx="1">
            <a:schemeClr val="dk1"/>
          </a:fillRef>
          <a:effectRef idx="1">
            <a:schemeClr val="dk1"/>
          </a:effectRef>
          <a:fontRef idx="minor">
            <a:schemeClr val="lt1"/>
          </a:fontRef>
        </p:style>
        <p:txBody>
          <a:bodyPr wrap="none" rtlCol="0" anchor="ctr"/>
          <a:lstStyle/>
          <a:p>
            <a:pPr algn="ctr"/>
            <a:endParaRPr lang="en-US" sz="1600" dirty="0">
              <a:solidFill>
                <a:schemeClr val="bg1"/>
              </a:solidFill>
            </a:endParaRPr>
          </a:p>
        </p:txBody>
      </p:sp>
      <p:cxnSp>
        <p:nvCxnSpPr>
          <p:cNvPr id="10" name="Straight Arrow Connector 9"/>
          <p:cNvCxnSpPr>
            <a:cxnSpLocks/>
          </p:cNvCxnSpPr>
          <p:nvPr/>
        </p:nvCxnSpPr>
        <p:spPr>
          <a:xfrm>
            <a:off x="2469520" y="4595019"/>
            <a:ext cx="717682"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a:cxnSpLocks/>
          </p:cNvCxnSpPr>
          <p:nvPr/>
        </p:nvCxnSpPr>
        <p:spPr>
          <a:xfrm>
            <a:off x="2469520" y="5743310"/>
            <a:ext cx="717682"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a:off x="3761348" y="4595019"/>
            <a:ext cx="825334"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a:cxnSpLocks/>
          </p:cNvCxnSpPr>
          <p:nvPr/>
        </p:nvCxnSpPr>
        <p:spPr>
          <a:xfrm flipV="1">
            <a:off x="3761348" y="4798010"/>
            <a:ext cx="909416" cy="94530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a:off x="5160828" y="4595019"/>
            <a:ext cx="801764" cy="371155"/>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flipV="1">
            <a:off x="5160828" y="5372156"/>
            <a:ext cx="801764" cy="371155"/>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cxnSpLocks/>
          </p:cNvCxnSpPr>
          <p:nvPr/>
        </p:nvCxnSpPr>
        <p:spPr>
          <a:xfrm>
            <a:off x="6452656" y="5169165"/>
            <a:ext cx="717682"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17" name="Oval 16"/>
          <p:cNvSpPr/>
          <p:nvPr/>
        </p:nvSpPr>
        <p:spPr>
          <a:xfrm>
            <a:off x="3187202" y="3124200"/>
            <a:ext cx="574146" cy="574146"/>
          </a:xfrm>
          <a:prstGeom prst="ellipse">
            <a:avLst/>
          </a:prstGeom>
          <a:solidFill>
            <a:schemeClr val="bg1">
              <a:lumMod val="75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wrap="none" rtlCol="0" anchor="ctr"/>
          <a:lstStyle/>
          <a:p>
            <a:pPr algn="ctr"/>
            <a:endParaRPr lang="en-US" sz="1600" dirty="0">
              <a:solidFill>
                <a:schemeClr val="tx2"/>
              </a:solidFill>
            </a:endParaRPr>
          </a:p>
        </p:txBody>
      </p:sp>
      <p:cxnSp>
        <p:nvCxnSpPr>
          <p:cNvPr id="18" name="Straight Arrow Connector 17"/>
          <p:cNvCxnSpPr>
            <a:cxnSpLocks/>
          </p:cNvCxnSpPr>
          <p:nvPr/>
        </p:nvCxnSpPr>
        <p:spPr>
          <a:xfrm>
            <a:off x="2469520" y="3411273"/>
            <a:ext cx="717682"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20" name="Elbow Connector 19"/>
          <p:cNvCxnSpPr/>
          <p:nvPr/>
        </p:nvCxnSpPr>
        <p:spPr>
          <a:xfrm>
            <a:off x="3761348" y="3411274"/>
            <a:ext cx="3696063" cy="1458382"/>
          </a:xfrm>
          <a:prstGeom prst="bentConnector2">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22" name="Rounded Rectangle 21"/>
          <p:cNvSpPr/>
          <p:nvPr/>
        </p:nvSpPr>
        <p:spPr>
          <a:xfrm>
            <a:off x="6932612" y="4419600"/>
            <a:ext cx="3309308" cy="1407847"/>
          </a:xfrm>
          <a:prstGeom prst="roundRect">
            <a:avLst/>
          </a:prstGeom>
          <a:noFill/>
          <a:ln w="28575">
            <a:solidFill>
              <a:schemeClr val="accent5">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tIns="0" rtlCol="0" anchor="t" anchorCtr="0"/>
          <a:lstStyle/>
          <a:p>
            <a:pPr algn="ctr"/>
            <a:r>
              <a:rPr lang="en-US">
                <a:solidFill>
                  <a:schemeClr val="accent5">
                    <a:lumMod val="75000"/>
                  </a:schemeClr>
                </a:solidFill>
              </a:rPr>
              <a:t>c</a:t>
            </a:r>
            <a:r>
              <a:rPr lang="en-US" smtClean="0">
                <a:solidFill>
                  <a:schemeClr val="accent5">
                    <a:lumMod val="75000"/>
                  </a:schemeClr>
                </a:solidFill>
              </a:rPr>
              <a:t>ost (J</a:t>
            </a:r>
            <a:r>
              <a:rPr lang="en-US" dirty="0" smtClean="0">
                <a:solidFill>
                  <a:schemeClr val="accent5">
                    <a:lumMod val="75000"/>
                  </a:schemeClr>
                </a:solidFill>
              </a:rPr>
              <a:t>)</a:t>
            </a:r>
            <a:endParaRPr lang="en-US" dirty="0">
              <a:solidFill>
                <a:schemeClr val="accent5">
                  <a:lumMod val="75000"/>
                </a:schemeClr>
              </a:solidFill>
            </a:endParaRPr>
          </a:p>
        </p:txBody>
      </p:sp>
      <p:cxnSp>
        <p:nvCxnSpPr>
          <p:cNvPr id="24" name="Straight Arrow Connector 23"/>
          <p:cNvCxnSpPr>
            <a:cxnSpLocks/>
          </p:cNvCxnSpPr>
          <p:nvPr/>
        </p:nvCxnSpPr>
        <p:spPr>
          <a:xfrm flipV="1">
            <a:off x="7744484" y="5169165"/>
            <a:ext cx="540738" cy="968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35" name="Oval 34"/>
          <p:cNvSpPr/>
          <p:nvPr/>
        </p:nvSpPr>
        <p:spPr>
          <a:xfrm>
            <a:off x="9396022" y="4869656"/>
            <a:ext cx="574146" cy="574146"/>
          </a:xfrm>
          <a:prstGeom prst="ellipse">
            <a:avLst/>
          </a:prstGeom>
          <a:ln/>
        </p:spPr>
        <p:style>
          <a:lnRef idx="2">
            <a:schemeClr val="dk1">
              <a:shade val="50000"/>
            </a:schemeClr>
          </a:lnRef>
          <a:fillRef idx="1">
            <a:schemeClr val="dk1"/>
          </a:fillRef>
          <a:effectRef idx="0">
            <a:schemeClr val="dk1"/>
          </a:effectRef>
          <a:fontRef idx="minor">
            <a:schemeClr val="lt1"/>
          </a:fontRef>
        </p:style>
        <p:txBody>
          <a:bodyPr wrap="none" rtlCol="0" anchor="ctr"/>
          <a:lstStyle/>
          <a:p>
            <a:pPr algn="ctr"/>
            <a:r>
              <a:rPr lang="en-US" sz="1600" smtClean="0">
                <a:solidFill>
                  <a:schemeClr val="bg1"/>
                </a:solidFill>
              </a:rPr>
              <a:t>sum</a:t>
            </a:r>
            <a:endParaRPr lang="en-US" sz="1600" dirty="0">
              <a:solidFill>
                <a:schemeClr val="bg1"/>
              </a:solidFill>
            </a:endParaRPr>
          </a:p>
        </p:txBody>
      </p:sp>
      <p:cxnSp>
        <p:nvCxnSpPr>
          <p:cNvPr id="36" name="Straight Arrow Connector 35"/>
          <p:cNvCxnSpPr>
            <a:cxnSpLocks/>
          </p:cNvCxnSpPr>
          <p:nvPr/>
        </p:nvCxnSpPr>
        <p:spPr>
          <a:xfrm flipV="1">
            <a:off x="8866858" y="5169165"/>
            <a:ext cx="540738" cy="968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 name="TextBox 3"/>
              <p:cNvSpPr txBox="1"/>
              <p:nvPr/>
            </p:nvSpPr>
            <p:spPr>
              <a:xfrm>
                <a:off x="6323012" y="1739899"/>
                <a:ext cx="1645322" cy="8192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mr-IN" sz="2800" i="1" smtClean="0">
                              <a:latin typeface="Cambria Math" panose="02040503050406030204" pitchFamily="18" charset="0"/>
                            </a:rPr>
                          </m:ctrlPr>
                        </m:fPr>
                        <m:num>
                          <m:r>
                            <a:rPr lang="mr-IN" sz="2800" i="1" smtClean="0">
                              <a:latin typeface="Cambria Math" charset="0"/>
                            </a:rPr>
                            <m:t>𝜕</m:t>
                          </m:r>
                          <m:r>
                            <m:rPr>
                              <m:nor/>
                            </m:rPr>
                            <a:rPr lang="en-US" sz="2800" b="0" i="0" smtClean="0">
                              <a:latin typeface="Cambria Math" charset="0"/>
                            </a:rPr>
                            <m:t>mul</m:t>
                          </m:r>
                        </m:num>
                        <m:den>
                          <m:r>
                            <a:rPr lang="mr-IN" sz="2800" i="1" smtClean="0">
                              <a:latin typeface="Cambria Math" charset="0"/>
                            </a:rPr>
                            <m:t>𝜕</m:t>
                          </m:r>
                          <m:r>
                            <a:rPr lang="en-US" sz="2800" b="0" i="1" smtClean="0">
                              <a:latin typeface="Cambria Math" charset="0"/>
                            </a:rPr>
                            <m:t>𝑎</m:t>
                          </m:r>
                        </m:den>
                      </m:f>
                      <m:r>
                        <a:rPr lang="en-US" sz="2800" b="0" i="1" smtClean="0">
                          <a:latin typeface="Cambria Math" charset="0"/>
                        </a:rPr>
                        <m:t>=</m:t>
                      </m:r>
                      <m:r>
                        <a:rPr lang="en-US" sz="2800" b="0" i="1" smtClean="0">
                          <a:latin typeface="Cambria Math" charset="0"/>
                        </a:rPr>
                        <m:t>𝑏</m:t>
                      </m:r>
                    </m:oMath>
                  </m:oMathPara>
                </a14:m>
                <a:endParaRPr lang="en-US" sz="2800" dirty="0"/>
              </a:p>
            </p:txBody>
          </p:sp>
        </mc:Choice>
        <mc:Fallback xmlns="">
          <p:sp>
            <p:nvSpPr>
              <p:cNvPr id="4" name="TextBox 3"/>
              <p:cNvSpPr txBox="1">
                <a:spLocks noRot="1" noChangeAspect="1" noMove="1" noResize="1" noEditPoints="1" noAdjustHandles="1" noChangeArrowheads="1" noChangeShapeType="1" noTextEdit="1"/>
              </p:cNvSpPr>
              <p:nvPr/>
            </p:nvSpPr>
            <p:spPr>
              <a:xfrm>
                <a:off x="6323012" y="1739899"/>
                <a:ext cx="1645322" cy="819263"/>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TextBox 31"/>
              <p:cNvSpPr txBox="1"/>
              <p:nvPr/>
            </p:nvSpPr>
            <p:spPr>
              <a:xfrm>
                <a:off x="1834370" y="1946946"/>
                <a:ext cx="2753190"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nor/>
                        </m:rPr>
                        <a:rPr lang="en-US" sz="2800" smtClean="0">
                          <a:latin typeface="Cambria Math" charset="0"/>
                        </a:rPr>
                        <m:t>m</m:t>
                      </m:r>
                      <m:r>
                        <m:rPr>
                          <m:nor/>
                        </m:rPr>
                        <a:rPr lang="en-US" sz="2800" b="0" i="0" smtClean="0">
                          <a:latin typeface="Cambria Math" charset="0"/>
                        </a:rPr>
                        <m:t>ul</m:t>
                      </m:r>
                      <m:d>
                        <m:dPr>
                          <m:ctrlPr>
                            <a:rPr lang="en-US" sz="2800" b="0" i="1" smtClean="0">
                              <a:latin typeface="Cambria Math" panose="02040503050406030204" pitchFamily="18" charset="0"/>
                            </a:rPr>
                          </m:ctrlPr>
                        </m:dPr>
                        <m:e>
                          <m:r>
                            <a:rPr lang="en-US" sz="2800" b="0" i="1" smtClean="0">
                              <a:latin typeface="Cambria Math" charset="0"/>
                            </a:rPr>
                            <m:t>𝑎</m:t>
                          </m:r>
                          <m:r>
                            <a:rPr lang="en-US" sz="2800" b="0" i="1" smtClean="0">
                              <a:latin typeface="Cambria Math" charset="0"/>
                            </a:rPr>
                            <m:t>, </m:t>
                          </m:r>
                          <m:r>
                            <a:rPr lang="en-US" sz="2800" b="0" i="1" smtClean="0">
                              <a:latin typeface="Cambria Math" charset="0"/>
                            </a:rPr>
                            <m:t>𝑏</m:t>
                          </m:r>
                        </m:e>
                      </m:d>
                      <m:r>
                        <a:rPr lang="en-US" sz="2800" b="0" i="1" smtClean="0">
                          <a:latin typeface="Cambria Math" charset="0"/>
                        </a:rPr>
                        <m:t>=</m:t>
                      </m:r>
                      <m:r>
                        <a:rPr lang="en-US" sz="2800" b="0" i="1" smtClean="0">
                          <a:latin typeface="Cambria Math" charset="0"/>
                        </a:rPr>
                        <m:t>𝑎</m:t>
                      </m:r>
                      <m:r>
                        <a:rPr lang="en-US" sz="2800" b="0" i="1" smtClean="0">
                          <a:latin typeface="Cambria Math" charset="0"/>
                        </a:rPr>
                        <m:t>×</m:t>
                      </m:r>
                      <m:r>
                        <a:rPr lang="en-US" sz="2800" b="0" i="1" smtClean="0">
                          <a:latin typeface="Cambria Math" charset="0"/>
                        </a:rPr>
                        <m:t>𝑏</m:t>
                      </m:r>
                    </m:oMath>
                  </m:oMathPara>
                </a14:m>
                <a:endParaRPr lang="en-US" sz="2800" dirty="0"/>
              </a:p>
            </p:txBody>
          </p:sp>
        </mc:Choice>
        <mc:Fallback xmlns="">
          <p:sp>
            <p:nvSpPr>
              <p:cNvPr id="32" name="TextBox 31"/>
              <p:cNvSpPr txBox="1">
                <a:spLocks noRot="1" noChangeAspect="1" noMove="1" noResize="1" noEditPoints="1" noAdjustHandles="1" noChangeArrowheads="1" noChangeShapeType="1" noTextEdit="1"/>
              </p:cNvSpPr>
              <p:nvPr/>
            </p:nvSpPr>
            <p:spPr>
              <a:xfrm>
                <a:off x="1834370" y="1946946"/>
                <a:ext cx="2753190" cy="430887"/>
              </a:xfrm>
              <a:prstGeom prst="rect">
                <a:avLst/>
              </a:prstGeom>
              <a:blipFill rotWithShape="0">
                <a:blip r:embed="rId4"/>
                <a:stretch>
                  <a:fillRect/>
                </a:stretch>
              </a:blipFill>
            </p:spPr>
            <p:txBody>
              <a:bodyPr/>
              <a:lstStyle/>
              <a:p>
                <a:r>
                  <a:rPr lang="en-US">
                    <a:noFill/>
                  </a:rPr>
                  <a:t> </a:t>
                </a:r>
              </a:p>
            </p:txBody>
          </p:sp>
        </mc:Fallback>
      </mc:AlternateContent>
      <p:sp>
        <p:nvSpPr>
          <p:cNvPr id="27" name="Oval 26"/>
          <p:cNvSpPr/>
          <p:nvPr/>
        </p:nvSpPr>
        <p:spPr>
          <a:xfrm>
            <a:off x="8282745" y="4869656"/>
            <a:ext cx="574146" cy="574146"/>
          </a:xfrm>
          <a:prstGeom prst="ellipse">
            <a:avLst/>
          </a:prstGeom>
          <a:solidFill>
            <a:srgbClr val="197709"/>
          </a:solidFill>
          <a:ln>
            <a:solidFill>
              <a:schemeClr val="accent2">
                <a:lumMod val="50000"/>
              </a:schemeClr>
            </a:solidFill>
          </a:ln>
        </p:spPr>
        <p:style>
          <a:lnRef idx="2">
            <a:schemeClr val="accent4">
              <a:shade val="50000"/>
            </a:schemeClr>
          </a:lnRef>
          <a:fillRef idx="1">
            <a:schemeClr val="accent4"/>
          </a:fillRef>
          <a:effectRef idx="0">
            <a:schemeClr val="accent4"/>
          </a:effectRef>
          <a:fontRef idx="minor">
            <a:schemeClr val="lt1"/>
          </a:fontRef>
        </p:style>
        <p:txBody>
          <a:bodyPr wrap="none" rtlCol="0" anchor="ctr"/>
          <a:lstStyle/>
          <a:p>
            <a:pPr algn="ctr"/>
            <a:r>
              <a:rPr lang="en-US" sz="1400" dirty="0" smtClean="0">
                <a:solidFill>
                  <a:schemeClr val="bg1"/>
                </a:solidFill>
              </a:rPr>
              <a:t>square</a:t>
            </a:r>
            <a:endParaRPr lang="en-US" sz="1400" dirty="0">
              <a:solidFill>
                <a:schemeClr val="bg1"/>
              </a:solidFill>
            </a:endParaRPr>
          </a:p>
        </p:txBody>
      </p:sp>
      <mc:AlternateContent xmlns:mc="http://schemas.openxmlformats.org/markup-compatibility/2006" xmlns:a14="http://schemas.microsoft.com/office/drawing/2010/main">
        <mc:Choice Requires="a14">
          <p:sp>
            <p:nvSpPr>
              <p:cNvPr id="30" name="TextBox 29"/>
              <p:cNvSpPr txBox="1"/>
              <p:nvPr/>
            </p:nvSpPr>
            <p:spPr>
              <a:xfrm>
                <a:off x="9363566" y="3866651"/>
                <a:ext cx="603050" cy="53681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mr-IN" sz="1600" i="1" smtClean="0">
                              <a:latin typeface="Cambria Math" panose="02040503050406030204" pitchFamily="18" charset="0"/>
                            </a:rPr>
                          </m:ctrlPr>
                        </m:fPr>
                        <m:num>
                          <m:r>
                            <a:rPr lang="mr-IN" sz="1600" i="1" smtClean="0">
                              <a:latin typeface="Cambria Math" charset="0"/>
                            </a:rPr>
                            <m:t>𝜕</m:t>
                          </m:r>
                          <m:r>
                            <a:rPr lang="en-US" sz="1600" b="0" i="1" smtClean="0">
                              <a:latin typeface="Cambria Math" charset="0"/>
                            </a:rPr>
                            <m:t>𝑠𝑢𝑚</m:t>
                          </m:r>
                        </m:num>
                        <m:den>
                          <m:r>
                            <a:rPr lang="mr-IN" sz="1600" i="1" smtClean="0">
                              <a:latin typeface="Cambria Math" charset="0"/>
                            </a:rPr>
                            <m:t>𝜕</m:t>
                          </m:r>
                          <m:sSub>
                            <m:sSubPr>
                              <m:ctrlPr>
                                <a:rPr lang="en-US" sz="1600" b="0" i="1" smtClean="0">
                                  <a:latin typeface="Cambria Math" panose="02040503050406030204" pitchFamily="18" charset="0"/>
                                </a:rPr>
                              </m:ctrlPr>
                            </m:sSubPr>
                            <m:e>
                              <m:r>
                                <a:rPr lang="en-US" sz="1600" b="0" i="1" smtClean="0">
                                  <a:latin typeface="Cambria Math" charset="0"/>
                                </a:rPr>
                                <m:t>𝑧</m:t>
                              </m:r>
                            </m:e>
                            <m:sub>
                              <m:r>
                                <a:rPr lang="en-US" sz="1600" b="0" i="1" smtClean="0">
                                  <a:latin typeface="Cambria Math" charset="0"/>
                                </a:rPr>
                                <m:t>𝑝</m:t>
                              </m:r>
                            </m:sub>
                          </m:sSub>
                        </m:den>
                      </m:f>
                    </m:oMath>
                  </m:oMathPara>
                </a14:m>
                <a:endParaRPr lang="en-US" sz="2800" dirty="0"/>
              </a:p>
            </p:txBody>
          </p:sp>
        </mc:Choice>
        <mc:Fallback xmlns="">
          <p:sp>
            <p:nvSpPr>
              <p:cNvPr id="30" name="TextBox 29"/>
              <p:cNvSpPr txBox="1">
                <a:spLocks noRot="1" noChangeAspect="1" noMove="1" noResize="1" noEditPoints="1" noAdjustHandles="1" noChangeArrowheads="1" noChangeShapeType="1" noTextEdit="1"/>
              </p:cNvSpPr>
              <p:nvPr/>
            </p:nvSpPr>
            <p:spPr>
              <a:xfrm>
                <a:off x="9363566" y="3866651"/>
                <a:ext cx="603050" cy="536814"/>
              </a:xfrm>
              <a:prstGeom prst="rect">
                <a:avLst/>
              </a:prstGeom>
              <a:blipFill rotWithShape="0">
                <a:blip r:embed="rId5"/>
                <a:stretch>
                  <a:fillRect/>
                </a:stretch>
              </a:blipFill>
            </p:spPr>
            <p:txBody>
              <a:bodyPr/>
              <a:lstStyle/>
              <a:p>
                <a:r>
                  <a:rPr lang="en-US">
                    <a:noFill/>
                  </a:rPr>
                  <a:t> </a:t>
                </a:r>
              </a:p>
            </p:txBody>
          </p:sp>
        </mc:Fallback>
      </mc:AlternateContent>
      <p:sp>
        <p:nvSpPr>
          <p:cNvPr id="28" name="Oval 27"/>
          <p:cNvSpPr/>
          <p:nvPr/>
        </p:nvSpPr>
        <p:spPr>
          <a:xfrm>
            <a:off x="7170338" y="4869656"/>
            <a:ext cx="574146" cy="574146"/>
          </a:xfrm>
          <a:prstGeom prst="ellipse">
            <a:avLst/>
          </a:prstGeom>
          <a:solidFill>
            <a:schemeClr val="accent5">
              <a:lumMod val="60000"/>
              <a:lumOff val="40000"/>
            </a:schemeClr>
          </a:solidFill>
          <a:ln>
            <a:solidFill>
              <a:schemeClr val="accent5">
                <a:lumMod val="75000"/>
              </a:schemeClr>
            </a:solidFill>
          </a:ln>
        </p:spPr>
        <p:style>
          <a:lnRef idx="2">
            <a:schemeClr val="accent4">
              <a:shade val="50000"/>
            </a:schemeClr>
          </a:lnRef>
          <a:fillRef idx="1">
            <a:schemeClr val="accent4"/>
          </a:fillRef>
          <a:effectRef idx="0">
            <a:schemeClr val="accent4"/>
          </a:effectRef>
          <a:fontRef idx="minor">
            <a:schemeClr val="lt1"/>
          </a:fontRef>
        </p:style>
        <p:txBody>
          <a:bodyPr wrap="none" rtlCol="0" anchor="ctr"/>
          <a:lstStyle/>
          <a:p>
            <a:pPr algn="ctr"/>
            <a:r>
              <a:rPr lang="en-US" sz="1600" dirty="0" smtClean="0">
                <a:solidFill>
                  <a:schemeClr val="tx2"/>
                </a:solidFill>
              </a:rPr>
              <a:t>minus</a:t>
            </a:r>
            <a:endParaRPr lang="en-US" sz="1600" dirty="0">
              <a:solidFill>
                <a:schemeClr val="tx2"/>
              </a:solidFill>
            </a:endParaRPr>
          </a:p>
        </p:txBody>
      </p:sp>
      <mc:AlternateContent xmlns:mc="http://schemas.openxmlformats.org/markup-compatibility/2006" xmlns:a14="http://schemas.microsoft.com/office/drawing/2010/main">
        <mc:Choice Requires="a14">
          <p:sp>
            <p:nvSpPr>
              <p:cNvPr id="29" name="TextBox 28"/>
              <p:cNvSpPr txBox="1"/>
              <p:nvPr/>
            </p:nvSpPr>
            <p:spPr>
              <a:xfrm>
                <a:off x="8615175" y="1739899"/>
                <a:ext cx="1652632" cy="8192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mr-IN" sz="2800" i="1" smtClean="0">
                              <a:latin typeface="Cambria Math" panose="02040503050406030204" pitchFamily="18" charset="0"/>
                            </a:rPr>
                          </m:ctrlPr>
                        </m:fPr>
                        <m:num>
                          <m:r>
                            <a:rPr lang="mr-IN" sz="2800" i="1" smtClean="0">
                              <a:latin typeface="Cambria Math" charset="0"/>
                            </a:rPr>
                            <m:t>𝜕</m:t>
                          </m:r>
                          <m:r>
                            <m:rPr>
                              <m:nor/>
                            </m:rPr>
                            <a:rPr lang="en-US" sz="2800" b="0" i="0" smtClean="0">
                              <a:latin typeface="Cambria Math" charset="0"/>
                            </a:rPr>
                            <m:t>mul</m:t>
                          </m:r>
                        </m:num>
                        <m:den>
                          <m:r>
                            <a:rPr lang="mr-IN" sz="2800" i="1" smtClean="0">
                              <a:latin typeface="Cambria Math" charset="0"/>
                            </a:rPr>
                            <m:t>𝜕</m:t>
                          </m:r>
                          <m:r>
                            <a:rPr lang="en-US" sz="2800" b="0" i="1" smtClean="0">
                              <a:latin typeface="Cambria Math" charset="0"/>
                            </a:rPr>
                            <m:t>𝑏</m:t>
                          </m:r>
                        </m:den>
                      </m:f>
                      <m:r>
                        <a:rPr lang="en-US" sz="2800" b="0" i="1" smtClean="0">
                          <a:latin typeface="Cambria Math" charset="0"/>
                        </a:rPr>
                        <m:t>=</m:t>
                      </m:r>
                      <m:r>
                        <a:rPr lang="en-US" sz="2800" b="0" i="1" smtClean="0">
                          <a:latin typeface="Cambria Math" charset="0"/>
                        </a:rPr>
                        <m:t>𝑎</m:t>
                      </m:r>
                    </m:oMath>
                  </m:oMathPara>
                </a14:m>
                <a:endParaRPr lang="en-US" sz="2800" dirty="0"/>
              </a:p>
            </p:txBody>
          </p:sp>
        </mc:Choice>
        <mc:Fallback xmlns="">
          <p:sp>
            <p:nvSpPr>
              <p:cNvPr id="29" name="TextBox 28"/>
              <p:cNvSpPr txBox="1">
                <a:spLocks noRot="1" noChangeAspect="1" noMove="1" noResize="1" noEditPoints="1" noAdjustHandles="1" noChangeArrowheads="1" noChangeShapeType="1" noTextEdit="1"/>
              </p:cNvSpPr>
              <p:nvPr/>
            </p:nvSpPr>
            <p:spPr>
              <a:xfrm>
                <a:off x="8615175" y="1739899"/>
                <a:ext cx="1652632" cy="819263"/>
              </a:xfrm>
              <a:prstGeom prst="rect">
                <a:avLst/>
              </a:prstGeom>
              <a:blipFill rotWithShape="0">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Rectangle 32"/>
              <p:cNvSpPr/>
              <p:nvPr/>
            </p:nvSpPr>
            <p:spPr>
              <a:xfrm>
                <a:off x="8031557" y="3842927"/>
                <a:ext cx="1000594" cy="56053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mr-IN" sz="1600" i="1">
                              <a:latin typeface="Cambria Math" panose="02040503050406030204" pitchFamily="18" charset="0"/>
                            </a:rPr>
                          </m:ctrlPr>
                        </m:fPr>
                        <m:num>
                          <m:r>
                            <a:rPr lang="mr-IN" sz="1600" i="1">
                              <a:latin typeface="Cambria Math" charset="0"/>
                            </a:rPr>
                            <m:t>𝜕</m:t>
                          </m:r>
                          <m:r>
                            <m:rPr>
                              <m:nor/>
                            </m:rPr>
                            <a:rPr lang="en-US" sz="1600">
                              <a:latin typeface="Cambria Math" charset="0"/>
                            </a:rPr>
                            <m:t>square</m:t>
                          </m:r>
                        </m:num>
                        <m:den>
                          <m:r>
                            <a:rPr lang="mr-IN" sz="1600" i="1">
                              <a:latin typeface="Cambria Math" charset="0"/>
                            </a:rPr>
                            <m:t>𝜕</m:t>
                          </m:r>
                          <m:r>
                            <a:rPr lang="en-US" sz="1600" i="1">
                              <a:latin typeface="Cambria Math" charset="0"/>
                            </a:rPr>
                            <m:t>𝑧</m:t>
                          </m:r>
                        </m:den>
                      </m:f>
                    </m:oMath>
                  </m:oMathPara>
                </a14:m>
                <a:endParaRPr lang="en-US" sz="1600" dirty="0"/>
              </a:p>
            </p:txBody>
          </p:sp>
        </mc:Choice>
        <mc:Fallback xmlns="">
          <p:sp>
            <p:nvSpPr>
              <p:cNvPr id="33" name="Rectangle 32"/>
              <p:cNvSpPr>
                <a:spLocks noRot="1" noChangeAspect="1" noMove="1" noResize="1" noEditPoints="1" noAdjustHandles="1" noChangeArrowheads="1" noChangeShapeType="1" noTextEdit="1"/>
              </p:cNvSpPr>
              <p:nvPr/>
            </p:nvSpPr>
            <p:spPr>
              <a:xfrm>
                <a:off x="8031557" y="3842927"/>
                <a:ext cx="1000594" cy="560538"/>
              </a:xfrm>
              <a:prstGeom prst="rect">
                <a:avLst/>
              </a:prstGeom>
              <a:blipFill rotWithShape="0">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Rectangle 2"/>
              <p:cNvSpPr/>
              <p:nvPr/>
            </p:nvSpPr>
            <p:spPr>
              <a:xfrm>
                <a:off x="7170338" y="2982880"/>
                <a:ext cx="946092" cy="56053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mr-IN" sz="1600" i="1" smtClean="0">
                              <a:latin typeface="Cambria Math" panose="02040503050406030204" pitchFamily="18" charset="0"/>
                            </a:rPr>
                          </m:ctrlPr>
                        </m:fPr>
                        <m:num>
                          <m:r>
                            <a:rPr lang="mr-IN" sz="1600" i="1">
                              <a:latin typeface="Cambria Math" charset="0"/>
                            </a:rPr>
                            <m:t>𝜕</m:t>
                          </m:r>
                          <m:r>
                            <m:rPr>
                              <m:nor/>
                            </m:rPr>
                            <a:rPr lang="en-US" sz="1600" b="0" i="0" smtClean="0">
                              <a:latin typeface="Cambria Math" charset="0"/>
                            </a:rPr>
                            <m:t>minus</m:t>
                          </m:r>
                        </m:num>
                        <m:den>
                          <m:r>
                            <a:rPr lang="mr-IN" sz="1600" i="1">
                              <a:latin typeface="Cambria Math" charset="0"/>
                            </a:rPr>
                            <m:t>𝜕</m:t>
                          </m:r>
                          <m:r>
                            <a:rPr lang="en-US" sz="1600" b="0" i="1" smtClean="0">
                              <a:latin typeface="Cambria Math" charset="0"/>
                            </a:rPr>
                            <m:t>𝑏</m:t>
                          </m:r>
                        </m:den>
                      </m:f>
                    </m:oMath>
                  </m:oMathPara>
                </a14:m>
                <a:endParaRPr lang="en-US" sz="1600" dirty="0"/>
              </a:p>
            </p:txBody>
          </p:sp>
        </mc:Choice>
        <mc:Fallback xmlns="">
          <p:sp>
            <p:nvSpPr>
              <p:cNvPr id="3" name="Rectangle 2"/>
              <p:cNvSpPr>
                <a:spLocks noRot="1" noChangeAspect="1" noMove="1" noResize="1" noEditPoints="1" noAdjustHandles="1" noChangeArrowheads="1" noChangeShapeType="1" noTextEdit="1"/>
              </p:cNvSpPr>
              <p:nvPr/>
            </p:nvSpPr>
            <p:spPr>
              <a:xfrm>
                <a:off x="7170338" y="2982880"/>
                <a:ext cx="946092" cy="560538"/>
              </a:xfrm>
              <a:prstGeom prst="rect">
                <a:avLst/>
              </a:prstGeom>
              <a:blipFill rotWithShape="0">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Rectangle 30"/>
              <p:cNvSpPr/>
              <p:nvPr/>
            </p:nvSpPr>
            <p:spPr>
              <a:xfrm>
                <a:off x="6281917" y="4069394"/>
                <a:ext cx="946092" cy="56053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mr-IN" sz="1600" i="1">
                              <a:latin typeface="Cambria Math" panose="02040503050406030204" pitchFamily="18" charset="0"/>
                            </a:rPr>
                          </m:ctrlPr>
                        </m:fPr>
                        <m:num>
                          <m:r>
                            <a:rPr lang="mr-IN" sz="1600" i="1">
                              <a:latin typeface="Cambria Math" charset="0"/>
                            </a:rPr>
                            <m:t>𝜕</m:t>
                          </m:r>
                          <m:r>
                            <m:rPr>
                              <m:nor/>
                            </m:rPr>
                            <a:rPr lang="en-US" sz="1600" b="0" i="0" smtClean="0">
                              <a:latin typeface="Cambria Math" charset="0"/>
                            </a:rPr>
                            <m:t>minus</m:t>
                          </m:r>
                        </m:num>
                        <m:den>
                          <m:r>
                            <a:rPr lang="mr-IN" sz="1600" i="1">
                              <a:latin typeface="Cambria Math" charset="0"/>
                            </a:rPr>
                            <m:t>𝜕</m:t>
                          </m:r>
                          <m:r>
                            <a:rPr lang="en-US" sz="1600" i="1">
                              <a:latin typeface="Cambria Math" charset="0"/>
                            </a:rPr>
                            <m:t>𝑎</m:t>
                          </m:r>
                        </m:den>
                      </m:f>
                    </m:oMath>
                  </m:oMathPara>
                </a14:m>
                <a:endParaRPr lang="en-US" sz="1600" dirty="0"/>
              </a:p>
            </p:txBody>
          </p:sp>
        </mc:Choice>
        <mc:Fallback xmlns="">
          <p:sp>
            <p:nvSpPr>
              <p:cNvPr id="31" name="Rectangle 30"/>
              <p:cNvSpPr>
                <a:spLocks noRot="1" noChangeAspect="1" noMove="1" noResize="1" noEditPoints="1" noAdjustHandles="1" noChangeArrowheads="1" noChangeShapeType="1" noTextEdit="1"/>
              </p:cNvSpPr>
              <p:nvPr/>
            </p:nvSpPr>
            <p:spPr>
              <a:xfrm>
                <a:off x="6281917" y="4069394"/>
                <a:ext cx="946092" cy="560538"/>
              </a:xfrm>
              <a:prstGeom prst="rect">
                <a:avLst/>
              </a:prstGeom>
              <a:blipFill rotWithShape="0">
                <a:blip r:embed="rId9"/>
                <a:stretch>
                  <a:fillRect/>
                </a:stretch>
              </a:blipFill>
            </p:spPr>
            <p:txBody>
              <a:bodyPr/>
              <a:lstStyle/>
              <a:p>
                <a:r>
                  <a:rPr lang="en-US">
                    <a:noFill/>
                  </a:rPr>
                  <a:t> </a:t>
                </a:r>
              </a:p>
            </p:txBody>
          </p:sp>
        </mc:Fallback>
      </mc:AlternateContent>
      <p:sp>
        <p:nvSpPr>
          <p:cNvPr id="34" name="Oval 33"/>
          <p:cNvSpPr/>
          <p:nvPr/>
        </p:nvSpPr>
        <p:spPr>
          <a:xfrm>
            <a:off x="5878510" y="4882092"/>
            <a:ext cx="574146" cy="574146"/>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wrap="none" rtlCol="0" anchor="ctr"/>
          <a:lstStyle/>
          <a:p>
            <a:pPr algn="ctr"/>
            <a:r>
              <a:rPr lang="en-US" sz="1600" dirty="0" smtClean="0">
                <a:solidFill>
                  <a:schemeClr val="tx2"/>
                </a:solidFill>
              </a:rPr>
              <a:t>add</a:t>
            </a:r>
            <a:endParaRPr lang="en-US" sz="1600" dirty="0">
              <a:solidFill>
                <a:schemeClr val="tx2"/>
              </a:solidFill>
            </a:endParaRPr>
          </a:p>
        </p:txBody>
      </p:sp>
      <mc:AlternateContent xmlns:mc="http://schemas.openxmlformats.org/markup-compatibility/2006" xmlns:a14="http://schemas.microsoft.com/office/drawing/2010/main">
        <mc:Choice Requires="a14">
          <p:sp>
            <p:nvSpPr>
              <p:cNvPr id="9" name="Rectangle 8"/>
              <p:cNvSpPr/>
              <p:nvPr/>
            </p:nvSpPr>
            <p:spPr>
              <a:xfrm>
                <a:off x="4962634" y="4945166"/>
                <a:ext cx="729687" cy="56053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mr-IN" sz="1600" i="1" smtClean="0">
                              <a:latin typeface="Cambria Math" panose="02040503050406030204" pitchFamily="18" charset="0"/>
                            </a:rPr>
                          </m:ctrlPr>
                        </m:fPr>
                        <m:num>
                          <m:r>
                            <a:rPr lang="mr-IN" sz="1600" i="1">
                              <a:latin typeface="Cambria Math" charset="0"/>
                            </a:rPr>
                            <m:t>𝜕</m:t>
                          </m:r>
                          <m:r>
                            <m:rPr>
                              <m:nor/>
                            </m:rPr>
                            <a:rPr lang="en-US" sz="1600">
                              <a:latin typeface="Cambria Math" charset="0"/>
                            </a:rPr>
                            <m:t>add</m:t>
                          </m:r>
                        </m:num>
                        <m:den>
                          <m:r>
                            <a:rPr lang="mr-IN" sz="1600" i="1">
                              <a:latin typeface="Cambria Math" charset="0"/>
                            </a:rPr>
                            <m:t>𝜕</m:t>
                          </m:r>
                          <m:r>
                            <a:rPr lang="en-US" sz="1600" b="0" i="1" smtClean="0">
                              <a:latin typeface="Cambria Math" charset="0"/>
                            </a:rPr>
                            <m:t>𝑏</m:t>
                          </m:r>
                        </m:den>
                      </m:f>
                    </m:oMath>
                  </m:oMathPara>
                </a14:m>
                <a:endParaRPr lang="en-US" sz="1600" dirty="0"/>
              </a:p>
            </p:txBody>
          </p:sp>
        </mc:Choice>
        <mc:Fallback xmlns="">
          <p:sp>
            <p:nvSpPr>
              <p:cNvPr id="9" name="Rectangle 8"/>
              <p:cNvSpPr>
                <a:spLocks noRot="1" noChangeAspect="1" noMove="1" noResize="1" noEditPoints="1" noAdjustHandles="1" noChangeArrowheads="1" noChangeShapeType="1" noTextEdit="1"/>
              </p:cNvSpPr>
              <p:nvPr/>
            </p:nvSpPr>
            <p:spPr>
              <a:xfrm>
                <a:off x="4962634" y="4945166"/>
                <a:ext cx="729687" cy="560538"/>
              </a:xfrm>
              <a:prstGeom prst="rect">
                <a:avLst/>
              </a:prstGeom>
              <a:blipFill rotWithShape="0">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Rectangle 18"/>
              <p:cNvSpPr/>
              <p:nvPr/>
            </p:nvSpPr>
            <p:spPr>
              <a:xfrm>
                <a:off x="5242277" y="4106383"/>
                <a:ext cx="729687" cy="56053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mr-IN" sz="1600" i="1" smtClean="0">
                              <a:latin typeface="Cambria Math" panose="02040503050406030204" pitchFamily="18" charset="0"/>
                            </a:rPr>
                          </m:ctrlPr>
                        </m:fPr>
                        <m:num>
                          <m:r>
                            <a:rPr lang="mr-IN" sz="1600" i="1">
                              <a:latin typeface="Cambria Math" charset="0"/>
                            </a:rPr>
                            <m:t>𝜕</m:t>
                          </m:r>
                          <m:r>
                            <m:rPr>
                              <m:nor/>
                            </m:rPr>
                            <a:rPr lang="en-US" sz="1600">
                              <a:latin typeface="Cambria Math" charset="0"/>
                            </a:rPr>
                            <m:t>add</m:t>
                          </m:r>
                        </m:num>
                        <m:den>
                          <m:r>
                            <a:rPr lang="mr-IN" sz="1600" i="1">
                              <a:latin typeface="Cambria Math" charset="0"/>
                            </a:rPr>
                            <m:t>𝜕</m:t>
                          </m:r>
                          <m:r>
                            <a:rPr lang="en-US" sz="1600" b="0" i="1" smtClean="0">
                              <a:latin typeface="Cambria Math" charset="0"/>
                            </a:rPr>
                            <m:t>𝑎</m:t>
                          </m:r>
                        </m:den>
                      </m:f>
                    </m:oMath>
                  </m:oMathPara>
                </a14:m>
                <a:endParaRPr lang="en-US" sz="1600" dirty="0"/>
              </a:p>
            </p:txBody>
          </p:sp>
        </mc:Choice>
        <mc:Fallback xmlns="">
          <p:sp>
            <p:nvSpPr>
              <p:cNvPr id="19" name="Rectangle 18"/>
              <p:cNvSpPr>
                <a:spLocks noRot="1" noChangeAspect="1" noMove="1" noResize="1" noEditPoints="1" noAdjustHandles="1" noChangeArrowheads="1" noChangeShapeType="1" noTextEdit="1"/>
              </p:cNvSpPr>
              <p:nvPr/>
            </p:nvSpPr>
            <p:spPr>
              <a:xfrm>
                <a:off x="5242277" y="4106383"/>
                <a:ext cx="729687" cy="560538"/>
              </a:xfrm>
              <a:prstGeom prst="rect">
                <a:avLst/>
              </a:prstGeom>
              <a:blipFill rotWithShape="0">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Rectangle 6"/>
              <p:cNvSpPr/>
              <p:nvPr/>
            </p:nvSpPr>
            <p:spPr>
              <a:xfrm>
                <a:off x="3685138" y="3916356"/>
                <a:ext cx="742511" cy="56053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mr-IN" sz="1600" i="1">
                              <a:latin typeface="Cambria Math" panose="02040503050406030204" pitchFamily="18" charset="0"/>
                            </a:rPr>
                          </m:ctrlPr>
                        </m:fPr>
                        <m:num>
                          <m:r>
                            <a:rPr lang="mr-IN" sz="1600" i="1">
                              <a:latin typeface="Cambria Math" charset="0"/>
                            </a:rPr>
                            <m:t>𝜕</m:t>
                          </m:r>
                          <m:r>
                            <m:rPr>
                              <m:nor/>
                            </m:rPr>
                            <a:rPr lang="en-US" sz="1600">
                              <a:latin typeface="Cambria Math" charset="0"/>
                            </a:rPr>
                            <m:t>mul</m:t>
                          </m:r>
                        </m:num>
                        <m:den>
                          <m:r>
                            <a:rPr lang="mr-IN" sz="1600" i="1">
                              <a:latin typeface="Cambria Math" charset="0"/>
                            </a:rPr>
                            <m:t>𝜕</m:t>
                          </m:r>
                          <m:r>
                            <a:rPr lang="en-US" sz="1600" i="1">
                              <a:latin typeface="Cambria Math" charset="0"/>
                            </a:rPr>
                            <m:t>𝑎</m:t>
                          </m:r>
                        </m:den>
                      </m:f>
                    </m:oMath>
                  </m:oMathPara>
                </a14:m>
                <a:endParaRPr lang="en-US" sz="1600" dirty="0"/>
              </a:p>
            </p:txBody>
          </p:sp>
        </mc:Choice>
        <mc:Fallback xmlns="">
          <p:sp>
            <p:nvSpPr>
              <p:cNvPr id="7" name="Rectangle 6"/>
              <p:cNvSpPr>
                <a:spLocks noRot="1" noChangeAspect="1" noMove="1" noResize="1" noEditPoints="1" noAdjustHandles="1" noChangeArrowheads="1" noChangeShapeType="1" noTextEdit="1"/>
              </p:cNvSpPr>
              <p:nvPr/>
            </p:nvSpPr>
            <p:spPr>
              <a:xfrm>
                <a:off x="3685138" y="3916356"/>
                <a:ext cx="742511" cy="560538"/>
              </a:xfrm>
              <a:prstGeom prst="rect">
                <a:avLst/>
              </a:prstGeom>
              <a:blipFill rotWithShape="0">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 name="Rectangle 39"/>
              <p:cNvSpPr/>
              <p:nvPr/>
            </p:nvSpPr>
            <p:spPr>
              <a:xfrm>
                <a:off x="3608890" y="4789367"/>
                <a:ext cx="742511" cy="56053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mr-IN" sz="1600" i="1" smtClean="0">
                              <a:latin typeface="Cambria Math" panose="02040503050406030204" pitchFamily="18" charset="0"/>
                            </a:rPr>
                          </m:ctrlPr>
                        </m:fPr>
                        <m:num>
                          <m:r>
                            <a:rPr lang="mr-IN" sz="1600" i="1">
                              <a:latin typeface="Cambria Math" charset="0"/>
                            </a:rPr>
                            <m:t>𝜕</m:t>
                          </m:r>
                          <m:r>
                            <m:rPr>
                              <m:nor/>
                            </m:rPr>
                            <a:rPr lang="en-US" sz="1600">
                              <a:latin typeface="Cambria Math" charset="0"/>
                            </a:rPr>
                            <m:t>mul</m:t>
                          </m:r>
                        </m:num>
                        <m:den>
                          <m:r>
                            <a:rPr lang="mr-IN" sz="1600" i="1">
                              <a:latin typeface="Cambria Math" charset="0"/>
                            </a:rPr>
                            <m:t>𝜕</m:t>
                          </m:r>
                          <m:r>
                            <a:rPr lang="en-US" sz="1600" b="0" i="1" smtClean="0">
                              <a:latin typeface="Cambria Math" charset="0"/>
                            </a:rPr>
                            <m:t>𝑏</m:t>
                          </m:r>
                        </m:den>
                      </m:f>
                    </m:oMath>
                  </m:oMathPara>
                </a14:m>
                <a:endParaRPr lang="en-US" sz="1600" dirty="0"/>
              </a:p>
            </p:txBody>
          </p:sp>
        </mc:Choice>
        <mc:Fallback xmlns="">
          <p:sp>
            <p:nvSpPr>
              <p:cNvPr id="40" name="Rectangle 39"/>
              <p:cNvSpPr>
                <a:spLocks noRot="1" noChangeAspect="1" noMove="1" noResize="1" noEditPoints="1" noAdjustHandles="1" noChangeArrowheads="1" noChangeShapeType="1" noTextEdit="1"/>
              </p:cNvSpPr>
              <p:nvPr/>
            </p:nvSpPr>
            <p:spPr>
              <a:xfrm>
                <a:off x="3608890" y="4789367"/>
                <a:ext cx="742511" cy="560538"/>
              </a:xfrm>
              <a:prstGeom prst="rect">
                <a:avLst/>
              </a:prstGeom>
              <a:blipFill rotWithShape="0">
                <a:blip r:embed="rId13"/>
                <a:stretch>
                  <a:fillRect/>
                </a:stretch>
              </a:blipFill>
            </p:spPr>
            <p:txBody>
              <a:bodyPr/>
              <a:lstStyle/>
              <a:p>
                <a:r>
                  <a:rPr lang="en-US">
                    <a:noFill/>
                  </a:rPr>
                  <a:t> </a:t>
                </a:r>
              </a:p>
            </p:txBody>
          </p:sp>
        </mc:Fallback>
      </mc:AlternateContent>
      <p:sp>
        <p:nvSpPr>
          <p:cNvPr id="41" name="Oval 40"/>
          <p:cNvSpPr/>
          <p:nvPr/>
        </p:nvSpPr>
        <p:spPr>
          <a:xfrm>
            <a:off x="4586682" y="4307946"/>
            <a:ext cx="574146" cy="574146"/>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wrap="none" rtlCol="0" anchor="ctr"/>
          <a:lstStyle/>
          <a:p>
            <a:pPr algn="ctr"/>
            <a:r>
              <a:rPr lang="en-US" sz="1600" dirty="0" err="1" smtClean="0">
                <a:solidFill>
                  <a:schemeClr val="tx2"/>
                </a:solidFill>
              </a:rPr>
              <a:t>mul</a:t>
            </a:r>
            <a:endParaRPr lang="en-US" sz="1600" dirty="0">
              <a:solidFill>
                <a:schemeClr val="tx2"/>
              </a:solidFill>
            </a:endParaRPr>
          </a:p>
        </p:txBody>
      </p:sp>
    </p:spTree>
    <p:extLst>
      <p:ext uri="{BB962C8B-B14F-4D97-AF65-F5344CB8AC3E}">
        <p14:creationId xmlns:p14="http://schemas.microsoft.com/office/powerpoint/2010/main" val="151979647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7" name="Straight Arrow Connector 36"/>
          <p:cNvCxnSpPr>
            <a:cxnSpLocks/>
          </p:cNvCxnSpPr>
          <p:nvPr/>
        </p:nvCxnSpPr>
        <p:spPr>
          <a:xfrm flipV="1">
            <a:off x="9966616" y="5164321"/>
            <a:ext cx="540738" cy="968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normAutofit/>
          </a:bodyPr>
          <a:lstStyle/>
          <a:p>
            <a:r>
              <a:rPr lang="en-US" sz="2400" dirty="0" smtClean="0"/>
              <a:t>Now, we move from generic arguments to specific links (outputs) in our graph.</a:t>
            </a:r>
            <a:endParaRPr lang="en-US" sz="2400" dirty="0"/>
          </a:p>
        </p:txBody>
      </p:sp>
      <p:cxnSp>
        <p:nvCxnSpPr>
          <p:cNvPr id="10" name="Straight Arrow Connector 9"/>
          <p:cNvCxnSpPr>
            <a:cxnSpLocks/>
          </p:cNvCxnSpPr>
          <p:nvPr/>
        </p:nvCxnSpPr>
        <p:spPr>
          <a:xfrm>
            <a:off x="2469520" y="4595019"/>
            <a:ext cx="717682"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a:cxnSpLocks/>
          </p:cNvCxnSpPr>
          <p:nvPr/>
        </p:nvCxnSpPr>
        <p:spPr>
          <a:xfrm>
            <a:off x="2469520" y="5743310"/>
            <a:ext cx="717682"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a:off x="3761348" y="4595019"/>
            <a:ext cx="825334"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a:cxnSpLocks/>
          </p:cNvCxnSpPr>
          <p:nvPr/>
        </p:nvCxnSpPr>
        <p:spPr>
          <a:xfrm flipV="1">
            <a:off x="3761348" y="4798010"/>
            <a:ext cx="909416" cy="94530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a:off x="5160828" y="4595019"/>
            <a:ext cx="801764" cy="371155"/>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flipV="1">
            <a:off x="5160828" y="5372156"/>
            <a:ext cx="801764" cy="371155"/>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cxnSpLocks/>
          </p:cNvCxnSpPr>
          <p:nvPr/>
        </p:nvCxnSpPr>
        <p:spPr>
          <a:xfrm>
            <a:off x="6452656" y="5169165"/>
            <a:ext cx="717682"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cxnSpLocks/>
          </p:cNvCxnSpPr>
          <p:nvPr/>
        </p:nvCxnSpPr>
        <p:spPr>
          <a:xfrm>
            <a:off x="2469520" y="3411273"/>
            <a:ext cx="717682"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20" name="Elbow Connector 19"/>
          <p:cNvCxnSpPr/>
          <p:nvPr/>
        </p:nvCxnSpPr>
        <p:spPr>
          <a:xfrm>
            <a:off x="3761348" y="3411274"/>
            <a:ext cx="3696063" cy="1458382"/>
          </a:xfrm>
          <a:prstGeom prst="bentConnector2">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22" name="Rounded Rectangle 21"/>
          <p:cNvSpPr/>
          <p:nvPr/>
        </p:nvSpPr>
        <p:spPr>
          <a:xfrm>
            <a:off x="6932612" y="4419600"/>
            <a:ext cx="3309308" cy="1407847"/>
          </a:xfrm>
          <a:prstGeom prst="roundRect">
            <a:avLst/>
          </a:prstGeom>
          <a:noFill/>
          <a:ln w="28575">
            <a:solidFill>
              <a:schemeClr val="accent5">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tIns="0" rtlCol="0" anchor="t" anchorCtr="0"/>
          <a:lstStyle/>
          <a:p>
            <a:pPr algn="ctr"/>
            <a:r>
              <a:rPr lang="en-US">
                <a:solidFill>
                  <a:schemeClr val="accent5">
                    <a:lumMod val="75000"/>
                  </a:schemeClr>
                </a:solidFill>
              </a:rPr>
              <a:t>c</a:t>
            </a:r>
            <a:r>
              <a:rPr lang="en-US" smtClean="0">
                <a:solidFill>
                  <a:schemeClr val="accent5">
                    <a:lumMod val="75000"/>
                  </a:schemeClr>
                </a:solidFill>
              </a:rPr>
              <a:t>ost (J</a:t>
            </a:r>
            <a:r>
              <a:rPr lang="en-US" dirty="0" smtClean="0">
                <a:solidFill>
                  <a:schemeClr val="accent5">
                    <a:lumMod val="75000"/>
                  </a:schemeClr>
                </a:solidFill>
              </a:rPr>
              <a:t>)</a:t>
            </a:r>
            <a:endParaRPr lang="en-US" dirty="0">
              <a:solidFill>
                <a:schemeClr val="accent5">
                  <a:lumMod val="75000"/>
                </a:schemeClr>
              </a:solidFill>
            </a:endParaRPr>
          </a:p>
        </p:txBody>
      </p:sp>
      <p:cxnSp>
        <p:nvCxnSpPr>
          <p:cNvPr id="24" name="Straight Arrow Connector 23"/>
          <p:cNvCxnSpPr>
            <a:cxnSpLocks/>
          </p:cNvCxnSpPr>
          <p:nvPr/>
        </p:nvCxnSpPr>
        <p:spPr>
          <a:xfrm flipV="1">
            <a:off x="7744484" y="5169165"/>
            <a:ext cx="540738" cy="968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35" name="Oval 34"/>
          <p:cNvSpPr/>
          <p:nvPr/>
        </p:nvSpPr>
        <p:spPr>
          <a:xfrm>
            <a:off x="9396022" y="4869656"/>
            <a:ext cx="574146" cy="574146"/>
          </a:xfrm>
          <a:prstGeom prst="ellipse">
            <a:avLst/>
          </a:prstGeom>
          <a:ln/>
        </p:spPr>
        <p:style>
          <a:lnRef idx="2">
            <a:schemeClr val="dk1">
              <a:shade val="50000"/>
            </a:schemeClr>
          </a:lnRef>
          <a:fillRef idx="1">
            <a:schemeClr val="dk1"/>
          </a:fillRef>
          <a:effectRef idx="0">
            <a:schemeClr val="dk1"/>
          </a:effectRef>
          <a:fontRef idx="minor">
            <a:schemeClr val="lt1"/>
          </a:fontRef>
        </p:style>
        <p:txBody>
          <a:bodyPr wrap="none" rtlCol="0" anchor="ctr"/>
          <a:lstStyle/>
          <a:p>
            <a:pPr algn="ctr"/>
            <a:r>
              <a:rPr lang="en-US" sz="1600" smtClean="0">
                <a:solidFill>
                  <a:schemeClr val="bg1"/>
                </a:solidFill>
              </a:rPr>
              <a:t>sum</a:t>
            </a:r>
            <a:endParaRPr lang="en-US" sz="1600" dirty="0">
              <a:solidFill>
                <a:schemeClr val="bg1"/>
              </a:solidFill>
            </a:endParaRPr>
          </a:p>
        </p:txBody>
      </p:sp>
      <p:cxnSp>
        <p:nvCxnSpPr>
          <p:cNvPr id="36" name="Straight Arrow Connector 35"/>
          <p:cNvCxnSpPr>
            <a:cxnSpLocks/>
          </p:cNvCxnSpPr>
          <p:nvPr/>
        </p:nvCxnSpPr>
        <p:spPr>
          <a:xfrm flipV="1">
            <a:off x="8866858" y="5169165"/>
            <a:ext cx="540738" cy="968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27" name="Oval 26"/>
          <p:cNvSpPr/>
          <p:nvPr/>
        </p:nvSpPr>
        <p:spPr>
          <a:xfrm>
            <a:off x="8282745" y="4869656"/>
            <a:ext cx="574146" cy="574146"/>
          </a:xfrm>
          <a:prstGeom prst="ellipse">
            <a:avLst/>
          </a:prstGeom>
          <a:solidFill>
            <a:srgbClr val="197709"/>
          </a:solidFill>
          <a:ln>
            <a:solidFill>
              <a:schemeClr val="accent2">
                <a:lumMod val="50000"/>
              </a:schemeClr>
            </a:solidFill>
          </a:ln>
        </p:spPr>
        <p:style>
          <a:lnRef idx="2">
            <a:schemeClr val="accent4">
              <a:shade val="50000"/>
            </a:schemeClr>
          </a:lnRef>
          <a:fillRef idx="1">
            <a:schemeClr val="accent4"/>
          </a:fillRef>
          <a:effectRef idx="0">
            <a:schemeClr val="accent4"/>
          </a:effectRef>
          <a:fontRef idx="minor">
            <a:schemeClr val="lt1"/>
          </a:fontRef>
        </p:style>
        <p:txBody>
          <a:bodyPr wrap="none" rtlCol="0" anchor="ctr"/>
          <a:lstStyle/>
          <a:p>
            <a:pPr algn="ctr"/>
            <a:r>
              <a:rPr lang="en-US" sz="1400" dirty="0" smtClean="0">
                <a:solidFill>
                  <a:schemeClr val="bg1"/>
                </a:solidFill>
              </a:rPr>
              <a:t>square</a:t>
            </a:r>
            <a:endParaRPr lang="en-US" sz="1400" dirty="0">
              <a:solidFill>
                <a:schemeClr val="bg1"/>
              </a:solidFill>
            </a:endParaRPr>
          </a:p>
        </p:txBody>
      </p:sp>
      <mc:AlternateContent xmlns:mc="http://schemas.openxmlformats.org/markup-compatibility/2006" xmlns:a14="http://schemas.microsoft.com/office/drawing/2010/main">
        <mc:Choice Requires="a14">
          <p:sp>
            <p:nvSpPr>
              <p:cNvPr id="30" name="TextBox 29"/>
              <p:cNvSpPr txBox="1"/>
              <p:nvPr/>
            </p:nvSpPr>
            <p:spPr>
              <a:xfrm>
                <a:off x="9363566" y="3866651"/>
                <a:ext cx="857286" cy="50969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mr-IN" sz="1600" i="1" smtClean="0">
                              <a:latin typeface="Cambria Math" panose="02040503050406030204" pitchFamily="18" charset="0"/>
                            </a:rPr>
                          </m:ctrlPr>
                        </m:fPr>
                        <m:num>
                          <m:r>
                            <a:rPr lang="mr-IN" sz="1600" i="1" smtClean="0">
                              <a:latin typeface="Cambria Math" charset="0"/>
                            </a:rPr>
                            <m:t>𝜕</m:t>
                          </m:r>
                          <m:r>
                            <a:rPr lang="en-US" sz="1600" b="0" i="1" smtClean="0">
                              <a:latin typeface="Cambria Math" charset="0"/>
                            </a:rPr>
                            <m:t>𝑠𝑢𝑚</m:t>
                          </m:r>
                        </m:num>
                        <m:den>
                          <m:r>
                            <a:rPr lang="mr-IN" sz="1600" i="1" smtClean="0">
                              <a:latin typeface="Cambria Math" charset="0"/>
                            </a:rPr>
                            <m:t>𝜕</m:t>
                          </m:r>
                          <m:r>
                            <a:rPr lang="en-US" sz="1600" b="0" i="1" smtClean="0">
                              <a:latin typeface="Cambria Math" charset="0"/>
                            </a:rPr>
                            <m:t>𝑠𝑞𝑢𝑎𝑟𝑒</m:t>
                          </m:r>
                        </m:den>
                      </m:f>
                    </m:oMath>
                  </m:oMathPara>
                </a14:m>
                <a:endParaRPr lang="en-US" sz="2800" dirty="0"/>
              </a:p>
            </p:txBody>
          </p:sp>
        </mc:Choice>
        <mc:Fallback xmlns="">
          <p:sp>
            <p:nvSpPr>
              <p:cNvPr id="30" name="TextBox 29"/>
              <p:cNvSpPr txBox="1">
                <a:spLocks noRot="1" noChangeAspect="1" noMove="1" noResize="1" noEditPoints="1" noAdjustHandles="1" noChangeArrowheads="1" noChangeShapeType="1" noTextEdit="1"/>
              </p:cNvSpPr>
              <p:nvPr/>
            </p:nvSpPr>
            <p:spPr>
              <a:xfrm>
                <a:off x="9363566" y="3866651"/>
                <a:ext cx="857286" cy="509691"/>
              </a:xfrm>
              <a:prstGeom prst="rect">
                <a:avLst/>
              </a:prstGeom>
              <a:blipFill rotWithShape="0">
                <a:blip r:embed="rId3"/>
                <a:stretch>
                  <a:fillRect/>
                </a:stretch>
              </a:blipFill>
            </p:spPr>
            <p:txBody>
              <a:bodyPr/>
              <a:lstStyle/>
              <a:p>
                <a:r>
                  <a:rPr lang="en-US">
                    <a:noFill/>
                  </a:rPr>
                  <a:t> </a:t>
                </a:r>
              </a:p>
            </p:txBody>
          </p:sp>
        </mc:Fallback>
      </mc:AlternateContent>
      <p:sp>
        <p:nvSpPr>
          <p:cNvPr id="28" name="Oval 27"/>
          <p:cNvSpPr/>
          <p:nvPr/>
        </p:nvSpPr>
        <p:spPr>
          <a:xfrm>
            <a:off x="7170338" y="4869656"/>
            <a:ext cx="574146" cy="574146"/>
          </a:xfrm>
          <a:prstGeom prst="ellipse">
            <a:avLst/>
          </a:prstGeom>
          <a:solidFill>
            <a:schemeClr val="accent5">
              <a:lumMod val="60000"/>
              <a:lumOff val="40000"/>
            </a:schemeClr>
          </a:solidFill>
          <a:ln>
            <a:solidFill>
              <a:schemeClr val="accent5">
                <a:lumMod val="75000"/>
              </a:schemeClr>
            </a:solidFill>
          </a:ln>
        </p:spPr>
        <p:style>
          <a:lnRef idx="2">
            <a:schemeClr val="accent4">
              <a:shade val="50000"/>
            </a:schemeClr>
          </a:lnRef>
          <a:fillRef idx="1">
            <a:schemeClr val="accent4"/>
          </a:fillRef>
          <a:effectRef idx="0">
            <a:schemeClr val="accent4"/>
          </a:effectRef>
          <a:fontRef idx="minor">
            <a:schemeClr val="lt1"/>
          </a:fontRef>
        </p:style>
        <p:txBody>
          <a:bodyPr wrap="none" rtlCol="0" anchor="ctr"/>
          <a:lstStyle/>
          <a:p>
            <a:pPr algn="ctr"/>
            <a:r>
              <a:rPr lang="en-US" sz="1600" dirty="0" smtClean="0">
                <a:solidFill>
                  <a:schemeClr val="tx2"/>
                </a:solidFill>
              </a:rPr>
              <a:t>minus</a:t>
            </a:r>
            <a:endParaRPr lang="en-US" sz="1600" dirty="0">
              <a:solidFill>
                <a:schemeClr val="tx2"/>
              </a:solidFill>
            </a:endParaRPr>
          </a:p>
        </p:txBody>
      </p:sp>
      <mc:AlternateContent xmlns:mc="http://schemas.openxmlformats.org/markup-compatibility/2006" xmlns:a14="http://schemas.microsoft.com/office/drawing/2010/main">
        <mc:Choice Requires="a14">
          <p:sp>
            <p:nvSpPr>
              <p:cNvPr id="33" name="Rectangle 32"/>
              <p:cNvSpPr/>
              <p:nvPr/>
            </p:nvSpPr>
            <p:spPr>
              <a:xfrm>
                <a:off x="8031557" y="3842927"/>
                <a:ext cx="1000594" cy="56053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mr-IN" sz="1600" i="1" smtClean="0">
                              <a:latin typeface="Cambria Math" panose="02040503050406030204" pitchFamily="18" charset="0"/>
                            </a:rPr>
                          </m:ctrlPr>
                        </m:fPr>
                        <m:num>
                          <m:r>
                            <a:rPr lang="mr-IN" sz="1600" i="1">
                              <a:latin typeface="Cambria Math" charset="0"/>
                            </a:rPr>
                            <m:t>𝜕</m:t>
                          </m:r>
                          <m:r>
                            <m:rPr>
                              <m:nor/>
                            </m:rPr>
                            <a:rPr lang="en-US" sz="1600">
                              <a:latin typeface="Cambria Math" charset="0"/>
                            </a:rPr>
                            <m:t>square</m:t>
                          </m:r>
                        </m:num>
                        <m:den>
                          <m:r>
                            <a:rPr lang="mr-IN" sz="1600" i="1">
                              <a:latin typeface="Cambria Math" charset="0"/>
                            </a:rPr>
                            <m:t>𝜕</m:t>
                          </m:r>
                          <m:r>
                            <a:rPr lang="en-US" sz="1600" b="0" i="1" smtClean="0">
                              <a:latin typeface="Cambria Math" charset="0"/>
                            </a:rPr>
                            <m:t>𝑚𝑖𝑛𝑢𝑠</m:t>
                          </m:r>
                        </m:den>
                      </m:f>
                    </m:oMath>
                  </m:oMathPara>
                </a14:m>
                <a:endParaRPr lang="en-US" sz="1600" dirty="0"/>
              </a:p>
            </p:txBody>
          </p:sp>
        </mc:Choice>
        <mc:Fallback xmlns="">
          <p:sp>
            <p:nvSpPr>
              <p:cNvPr id="33" name="Rectangle 32"/>
              <p:cNvSpPr>
                <a:spLocks noRot="1" noChangeAspect="1" noMove="1" noResize="1" noEditPoints="1" noAdjustHandles="1" noChangeArrowheads="1" noChangeShapeType="1" noTextEdit="1"/>
              </p:cNvSpPr>
              <p:nvPr/>
            </p:nvSpPr>
            <p:spPr>
              <a:xfrm>
                <a:off x="8031557" y="3842927"/>
                <a:ext cx="1000594" cy="560538"/>
              </a:xfrm>
              <a:prstGeom prst="rect">
                <a:avLst/>
              </a:prstGeom>
              <a:blipFill rotWithShape="0">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Rectangle 2"/>
              <p:cNvSpPr/>
              <p:nvPr/>
            </p:nvSpPr>
            <p:spPr>
              <a:xfrm>
                <a:off x="7170338" y="2982880"/>
                <a:ext cx="946093" cy="56053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mr-IN" sz="1600" i="1" smtClean="0">
                              <a:latin typeface="Cambria Math" panose="02040503050406030204" pitchFamily="18" charset="0"/>
                            </a:rPr>
                          </m:ctrlPr>
                        </m:fPr>
                        <m:num>
                          <m:r>
                            <a:rPr lang="mr-IN" sz="1600" i="1">
                              <a:latin typeface="Cambria Math" charset="0"/>
                            </a:rPr>
                            <m:t>𝜕</m:t>
                          </m:r>
                          <m:r>
                            <m:rPr>
                              <m:nor/>
                            </m:rPr>
                            <a:rPr lang="en-US" sz="1600" b="0" i="0" smtClean="0">
                              <a:latin typeface="Cambria Math" charset="0"/>
                            </a:rPr>
                            <m:t>minus</m:t>
                          </m:r>
                        </m:num>
                        <m:den>
                          <m:r>
                            <a:rPr lang="mr-IN" sz="1600" i="1">
                              <a:latin typeface="Cambria Math" charset="0"/>
                            </a:rPr>
                            <m:t>𝜕</m:t>
                          </m:r>
                          <m:r>
                            <a:rPr lang="en-US" sz="1600" b="0" i="1" smtClean="0">
                              <a:latin typeface="Cambria Math" charset="0"/>
                            </a:rPr>
                            <m:t>𝑌</m:t>
                          </m:r>
                        </m:den>
                      </m:f>
                    </m:oMath>
                  </m:oMathPara>
                </a14:m>
                <a:endParaRPr lang="en-US" sz="1600" dirty="0"/>
              </a:p>
            </p:txBody>
          </p:sp>
        </mc:Choice>
        <mc:Fallback xmlns="">
          <p:sp>
            <p:nvSpPr>
              <p:cNvPr id="3" name="Rectangle 2"/>
              <p:cNvSpPr>
                <a:spLocks noRot="1" noChangeAspect="1" noMove="1" noResize="1" noEditPoints="1" noAdjustHandles="1" noChangeArrowheads="1" noChangeShapeType="1" noTextEdit="1"/>
              </p:cNvSpPr>
              <p:nvPr/>
            </p:nvSpPr>
            <p:spPr>
              <a:xfrm>
                <a:off x="7170338" y="2982880"/>
                <a:ext cx="946093" cy="560538"/>
              </a:xfrm>
              <a:prstGeom prst="rect">
                <a:avLst/>
              </a:prstGeom>
              <a:blipFill rotWithShape="0">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Rectangle 30"/>
              <p:cNvSpPr/>
              <p:nvPr/>
            </p:nvSpPr>
            <p:spPr>
              <a:xfrm>
                <a:off x="6281917" y="4038600"/>
                <a:ext cx="946092" cy="56053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mr-IN" sz="1600" i="1" smtClean="0">
                              <a:latin typeface="Cambria Math" panose="02040503050406030204" pitchFamily="18" charset="0"/>
                            </a:rPr>
                          </m:ctrlPr>
                        </m:fPr>
                        <m:num>
                          <m:r>
                            <a:rPr lang="mr-IN" sz="1600" i="1">
                              <a:latin typeface="Cambria Math" charset="0"/>
                            </a:rPr>
                            <m:t>𝜕</m:t>
                          </m:r>
                          <m:r>
                            <m:rPr>
                              <m:nor/>
                            </m:rPr>
                            <a:rPr lang="en-US" sz="1600" b="0" i="0" smtClean="0">
                              <a:latin typeface="Cambria Math" charset="0"/>
                            </a:rPr>
                            <m:t>minus</m:t>
                          </m:r>
                        </m:num>
                        <m:den>
                          <m:r>
                            <a:rPr lang="mr-IN" sz="1600" i="1">
                              <a:latin typeface="Cambria Math" charset="0"/>
                            </a:rPr>
                            <m:t>𝜕</m:t>
                          </m:r>
                          <m:r>
                            <a:rPr lang="en-US" sz="1600" b="0" i="1" smtClean="0">
                              <a:latin typeface="Cambria Math" charset="0"/>
                            </a:rPr>
                            <m:t>𝑎𝑑𝑑</m:t>
                          </m:r>
                        </m:den>
                      </m:f>
                    </m:oMath>
                  </m:oMathPara>
                </a14:m>
                <a:endParaRPr lang="en-US" sz="1600" dirty="0"/>
              </a:p>
            </p:txBody>
          </p:sp>
        </mc:Choice>
        <mc:Fallback xmlns="">
          <p:sp>
            <p:nvSpPr>
              <p:cNvPr id="31" name="Rectangle 30"/>
              <p:cNvSpPr>
                <a:spLocks noRot="1" noChangeAspect="1" noMove="1" noResize="1" noEditPoints="1" noAdjustHandles="1" noChangeArrowheads="1" noChangeShapeType="1" noTextEdit="1"/>
              </p:cNvSpPr>
              <p:nvPr/>
            </p:nvSpPr>
            <p:spPr>
              <a:xfrm>
                <a:off x="6281917" y="4038600"/>
                <a:ext cx="946092" cy="560538"/>
              </a:xfrm>
              <a:prstGeom prst="rect">
                <a:avLst/>
              </a:prstGeom>
              <a:blipFill rotWithShape="0">
                <a:blip r:embed="rId6"/>
                <a:stretch>
                  <a:fillRect/>
                </a:stretch>
              </a:blipFill>
            </p:spPr>
            <p:txBody>
              <a:bodyPr/>
              <a:lstStyle/>
              <a:p>
                <a:r>
                  <a:rPr lang="en-US">
                    <a:noFill/>
                  </a:rPr>
                  <a:t> </a:t>
                </a:r>
              </a:p>
            </p:txBody>
          </p:sp>
        </mc:Fallback>
      </mc:AlternateContent>
      <p:sp>
        <p:nvSpPr>
          <p:cNvPr id="34" name="Oval 33"/>
          <p:cNvSpPr/>
          <p:nvPr/>
        </p:nvSpPr>
        <p:spPr>
          <a:xfrm>
            <a:off x="5878510" y="4882092"/>
            <a:ext cx="574146" cy="574146"/>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wrap="none" rtlCol="0" anchor="ctr"/>
          <a:lstStyle/>
          <a:p>
            <a:pPr algn="ctr"/>
            <a:r>
              <a:rPr lang="en-US" sz="1600" dirty="0" smtClean="0">
                <a:solidFill>
                  <a:schemeClr val="tx2"/>
                </a:solidFill>
              </a:rPr>
              <a:t>add</a:t>
            </a:r>
            <a:endParaRPr lang="en-US" sz="1600" dirty="0">
              <a:solidFill>
                <a:schemeClr val="tx2"/>
              </a:solidFill>
            </a:endParaRPr>
          </a:p>
        </p:txBody>
      </p:sp>
      <mc:AlternateContent xmlns:mc="http://schemas.openxmlformats.org/markup-compatibility/2006" xmlns:a14="http://schemas.microsoft.com/office/drawing/2010/main">
        <mc:Choice Requires="a14">
          <p:sp>
            <p:nvSpPr>
              <p:cNvPr id="9" name="Rectangle 8"/>
              <p:cNvSpPr/>
              <p:nvPr/>
            </p:nvSpPr>
            <p:spPr>
              <a:xfrm>
                <a:off x="4962634" y="4945166"/>
                <a:ext cx="729687" cy="56053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mr-IN" sz="1600" i="1" smtClean="0">
                              <a:latin typeface="Cambria Math" panose="02040503050406030204" pitchFamily="18" charset="0"/>
                            </a:rPr>
                          </m:ctrlPr>
                        </m:fPr>
                        <m:num>
                          <m:r>
                            <a:rPr lang="mr-IN" sz="1600" i="1">
                              <a:latin typeface="Cambria Math" charset="0"/>
                            </a:rPr>
                            <m:t>𝜕</m:t>
                          </m:r>
                          <m:r>
                            <m:rPr>
                              <m:nor/>
                            </m:rPr>
                            <a:rPr lang="en-US" sz="1600">
                              <a:latin typeface="Cambria Math" charset="0"/>
                            </a:rPr>
                            <m:t>add</m:t>
                          </m:r>
                        </m:num>
                        <m:den>
                          <m:r>
                            <a:rPr lang="mr-IN" sz="1600" i="1">
                              <a:latin typeface="Cambria Math" charset="0"/>
                            </a:rPr>
                            <m:t>𝜕</m:t>
                          </m:r>
                          <m:r>
                            <a:rPr lang="en-US" sz="1600" b="0" i="1" smtClean="0">
                              <a:latin typeface="Cambria Math" charset="0"/>
                            </a:rPr>
                            <m:t>𝑏</m:t>
                          </m:r>
                        </m:den>
                      </m:f>
                    </m:oMath>
                  </m:oMathPara>
                </a14:m>
                <a:endParaRPr lang="en-US" sz="1600" dirty="0"/>
              </a:p>
            </p:txBody>
          </p:sp>
        </mc:Choice>
        <mc:Fallback xmlns="">
          <p:sp>
            <p:nvSpPr>
              <p:cNvPr id="9" name="Rectangle 8"/>
              <p:cNvSpPr>
                <a:spLocks noRot="1" noChangeAspect="1" noMove="1" noResize="1" noEditPoints="1" noAdjustHandles="1" noChangeArrowheads="1" noChangeShapeType="1" noTextEdit="1"/>
              </p:cNvSpPr>
              <p:nvPr/>
            </p:nvSpPr>
            <p:spPr>
              <a:xfrm>
                <a:off x="4962634" y="4945166"/>
                <a:ext cx="729687" cy="560538"/>
              </a:xfrm>
              <a:prstGeom prst="rect">
                <a:avLst/>
              </a:prstGeom>
              <a:blipFill rotWithShape="0">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Rectangle 18"/>
              <p:cNvSpPr/>
              <p:nvPr/>
            </p:nvSpPr>
            <p:spPr>
              <a:xfrm>
                <a:off x="5242277" y="4106383"/>
                <a:ext cx="760272" cy="56053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mr-IN" sz="1600" i="1" smtClean="0">
                              <a:latin typeface="Cambria Math" panose="02040503050406030204" pitchFamily="18" charset="0"/>
                            </a:rPr>
                          </m:ctrlPr>
                        </m:fPr>
                        <m:num>
                          <m:r>
                            <a:rPr lang="mr-IN" sz="1600" i="1">
                              <a:latin typeface="Cambria Math" charset="0"/>
                            </a:rPr>
                            <m:t>𝜕</m:t>
                          </m:r>
                          <m:r>
                            <m:rPr>
                              <m:nor/>
                            </m:rPr>
                            <a:rPr lang="en-US" sz="1600">
                              <a:latin typeface="Cambria Math" charset="0"/>
                            </a:rPr>
                            <m:t>add</m:t>
                          </m:r>
                        </m:num>
                        <m:den>
                          <m:r>
                            <a:rPr lang="mr-IN" sz="1600" i="1">
                              <a:latin typeface="Cambria Math" charset="0"/>
                            </a:rPr>
                            <m:t>𝜕</m:t>
                          </m:r>
                          <m:r>
                            <a:rPr lang="en-US" sz="1600" b="0" i="1" smtClean="0">
                              <a:latin typeface="Cambria Math" charset="0"/>
                            </a:rPr>
                            <m:t>𝑚𝑢𝑙</m:t>
                          </m:r>
                        </m:den>
                      </m:f>
                    </m:oMath>
                  </m:oMathPara>
                </a14:m>
                <a:endParaRPr lang="en-US" sz="1600" dirty="0"/>
              </a:p>
            </p:txBody>
          </p:sp>
        </mc:Choice>
        <mc:Fallback xmlns="">
          <p:sp>
            <p:nvSpPr>
              <p:cNvPr id="19" name="Rectangle 18"/>
              <p:cNvSpPr>
                <a:spLocks noRot="1" noChangeAspect="1" noMove="1" noResize="1" noEditPoints="1" noAdjustHandles="1" noChangeArrowheads="1" noChangeShapeType="1" noTextEdit="1"/>
              </p:cNvSpPr>
              <p:nvPr/>
            </p:nvSpPr>
            <p:spPr>
              <a:xfrm>
                <a:off x="5242277" y="4106383"/>
                <a:ext cx="760272" cy="560538"/>
              </a:xfrm>
              <a:prstGeom prst="rect">
                <a:avLst/>
              </a:prstGeom>
              <a:blipFill rotWithShape="0">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Rectangle 6"/>
              <p:cNvSpPr/>
              <p:nvPr/>
            </p:nvSpPr>
            <p:spPr>
              <a:xfrm>
                <a:off x="3685138" y="3916356"/>
                <a:ext cx="742511" cy="56053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mr-IN" sz="1600" i="1" smtClean="0">
                              <a:latin typeface="Cambria Math" panose="02040503050406030204" pitchFamily="18" charset="0"/>
                            </a:rPr>
                          </m:ctrlPr>
                        </m:fPr>
                        <m:num>
                          <m:r>
                            <a:rPr lang="mr-IN" sz="1600" i="1">
                              <a:latin typeface="Cambria Math" charset="0"/>
                            </a:rPr>
                            <m:t>𝜕</m:t>
                          </m:r>
                          <m:r>
                            <m:rPr>
                              <m:nor/>
                            </m:rPr>
                            <a:rPr lang="en-US" sz="1600">
                              <a:latin typeface="Cambria Math" charset="0"/>
                            </a:rPr>
                            <m:t>mul</m:t>
                          </m:r>
                        </m:num>
                        <m:den>
                          <m:r>
                            <a:rPr lang="mr-IN" sz="1600" i="1">
                              <a:latin typeface="Cambria Math" charset="0"/>
                            </a:rPr>
                            <m:t>𝜕</m:t>
                          </m:r>
                          <m:r>
                            <a:rPr lang="en-US" sz="1600" b="0" i="1" smtClean="0">
                              <a:latin typeface="Cambria Math" charset="0"/>
                            </a:rPr>
                            <m:t>𝑋</m:t>
                          </m:r>
                        </m:den>
                      </m:f>
                    </m:oMath>
                  </m:oMathPara>
                </a14:m>
                <a:endParaRPr lang="en-US" sz="1600" dirty="0"/>
              </a:p>
            </p:txBody>
          </p:sp>
        </mc:Choice>
        <mc:Fallback xmlns="">
          <p:sp>
            <p:nvSpPr>
              <p:cNvPr id="7" name="Rectangle 6"/>
              <p:cNvSpPr>
                <a:spLocks noRot="1" noChangeAspect="1" noMove="1" noResize="1" noEditPoints="1" noAdjustHandles="1" noChangeArrowheads="1" noChangeShapeType="1" noTextEdit="1"/>
              </p:cNvSpPr>
              <p:nvPr/>
            </p:nvSpPr>
            <p:spPr>
              <a:xfrm>
                <a:off x="3685138" y="3916356"/>
                <a:ext cx="742511" cy="560538"/>
              </a:xfrm>
              <a:prstGeom prst="rect">
                <a:avLst/>
              </a:prstGeom>
              <a:blipFill rotWithShape="0">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 name="Rectangle 39"/>
              <p:cNvSpPr/>
              <p:nvPr/>
            </p:nvSpPr>
            <p:spPr>
              <a:xfrm>
                <a:off x="3608890" y="4789367"/>
                <a:ext cx="742511" cy="56053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mr-IN" sz="1600" i="1" smtClean="0">
                              <a:latin typeface="Cambria Math" panose="02040503050406030204" pitchFamily="18" charset="0"/>
                            </a:rPr>
                          </m:ctrlPr>
                        </m:fPr>
                        <m:num>
                          <m:r>
                            <a:rPr lang="mr-IN" sz="1600" i="1">
                              <a:latin typeface="Cambria Math" charset="0"/>
                            </a:rPr>
                            <m:t>𝜕</m:t>
                          </m:r>
                          <m:r>
                            <m:rPr>
                              <m:nor/>
                            </m:rPr>
                            <a:rPr lang="en-US" sz="1600">
                              <a:latin typeface="Cambria Math" charset="0"/>
                            </a:rPr>
                            <m:t>mul</m:t>
                          </m:r>
                        </m:num>
                        <m:den>
                          <m:r>
                            <a:rPr lang="mr-IN" sz="1600" i="1">
                              <a:latin typeface="Cambria Math" charset="0"/>
                            </a:rPr>
                            <m:t>𝜕</m:t>
                          </m:r>
                          <m:r>
                            <a:rPr lang="en-US" sz="1600" b="0" i="1" smtClean="0">
                              <a:latin typeface="Cambria Math" charset="0"/>
                            </a:rPr>
                            <m:t>𝑊</m:t>
                          </m:r>
                        </m:den>
                      </m:f>
                    </m:oMath>
                  </m:oMathPara>
                </a14:m>
                <a:endParaRPr lang="en-US" sz="1600" dirty="0"/>
              </a:p>
            </p:txBody>
          </p:sp>
        </mc:Choice>
        <mc:Fallback xmlns="">
          <p:sp>
            <p:nvSpPr>
              <p:cNvPr id="40" name="Rectangle 39"/>
              <p:cNvSpPr>
                <a:spLocks noRot="1" noChangeAspect="1" noMove="1" noResize="1" noEditPoints="1" noAdjustHandles="1" noChangeArrowheads="1" noChangeShapeType="1" noTextEdit="1"/>
              </p:cNvSpPr>
              <p:nvPr/>
            </p:nvSpPr>
            <p:spPr>
              <a:xfrm>
                <a:off x="3608890" y="4789367"/>
                <a:ext cx="742511" cy="560538"/>
              </a:xfrm>
              <a:prstGeom prst="rect">
                <a:avLst/>
              </a:prstGeom>
              <a:blipFill rotWithShape="0">
                <a:blip r:embed="rId10"/>
                <a:stretch>
                  <a:fillRect/>
                </a:stretch>
              </a:blipFill>
            </p:spPr>
            <p:txBody>
              <a:bodyPr/>
              <a:lstStyle/>
              <a:p>
                <a:r>
                  <a:rPr lang="en-US">
                    <a:noFill/>
                  </a:rPr>
                  <a:t> </a:t>
                </a:r>
              </a:p>
            </p:txBody>
          </p:sp>
        </mc:Fallback>
      </mc:AlternateContent>
      <p:sp>
        <p:nvSpPr>
          <p:cNvPr id="39" name="Oval 38"/>
          <p:cNvSpPr/>
          <p:nvPr/>
        </p:nvSpPr>
        <p:spPr>
          <a:xfrm>
            <a:off x="3187202" y="4307946"/>
            <a:ext cx="574146" cy="574146"/>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wrap="none" rtlCol="0" anchor="ctr"/>
          <a:lstStyle/>
          <a:p>
            <a:pPr algn="ctr"/>
            <a:r>
              <a:rPr lang="en-US" sz="1600" dirty="0" smtClean="0">
                <a:solidFill>
                  <a:schemeClr val="tx2"/>
                </a:solidFill>
              </a:rPr>
              <a:t>X</a:t>
            </a:r>
            <a:endParaRPr lang="en-US" sz="1600" dirty="0">
              <a:solidFill>
                <a:schemeClr val="tx2"/>
              </a:solidFill>
            </a:endParaRPr>
          </a:p>
        </p:txBody>
      </p:sp>
      <p:sp>
        <p:nvSpPr>
          <p:cNvPr id="41" name="Oval 40"/>
          <p:cNvSpPr/>
          <p:nvPr/>
        </p:nvSpPr>
        <p:spPr>
          <a:xfrm>
            <a:off x="3187202" y="5456237"/>
            <a:ext cx="574146" cy="574146"/>
          </a:xfrm>
          <a:prstGeom prst="ellipse">
            <a:avLst/>
          </a:prstGeom>
          <a:ln>
            <a:solidFill>
              <a:schemeClr val="bg1"/>
            </a:solidFill>
          </a:ln>
        </p:spPr>
        <p:style>
          <a:lnRef idx="3">
            <a:schemeClr val="lt1"/>
          </a:lnRef>
          <a:fillRef idx="1">
            <a:schemeClr val="dk1"/>
          </a:fillRef>
          <a:effectRef idx="1">
            <a:schemeClr val="dk1"/>
          </a:effectRef>
          <a:fontRef idx="minor">
            <a:schemeClr val="lt1"/>
          </a:fontRef>
        </p:style>
        <p:txBody>
          <a:bodyPr wrap="none" rtlCol="0" anchor="ctr"/>
          <a:lstStyle/>
          <a:p>
            <a:pPr algn="ctr"/>
            <a:r>
              <a:rPr lang="en-US" sz="1600" dirty="0" smtClean="0">
                <a:solidFill>
                  <a:schemeClr val="bg1"/>
                </a:solidFill>
              </a:rPr>
              <a:t>W</a:t>
            </a:r>
          </a:p>
          <a:p>
            <a:pPr algn="ctr"/>
            <a:r>
              <a:rPr lang="en-US" sz="1600" dirty="0" err="1" smtClean="0">
                <a:solidFill>
                  <a:schemeClr val="bg1"/>
                </a:solidFill>
              </a:rPr>
              <a:t>var</a:t>
            </a:r>
            <a:endParaRPr lang="en-US" sz="1600" dirty="0">
              <a:solidFill>
                <a:schemeClr val="bg1"/>
              </a:solidFill>
            </a:endParaRPr>
          </a:p>
        </p:txBody>
      </p:sp>
      <p:sp>
        <p:nvSpPr>
          <p:cNvPr id="42" name="Oval 41"/>
          <p:cNvSpPr/>
          <p:nvPr/>
        </p:nvSpPr>
        <p:spPr>
          <a:xfrm>
            <a:off x="4586682" y="5456237"/>
            <a:ext cx="574146" cy="574146"/>
          </a:xfrm>
          <a:prstGeom prst="ellipse">
            <a:avLst/>
          </a:prstGeom>
        </p:spPr>
        <p:style>
          <a:lnRef idx="3">
            <a:schemeClr val="lt1"/>
          </a:lnRef>
          <a:fillRef idx="1">
            <a:schemeClr val="dk1"/>
          </a:fillRef>
          <a:effectRef idx="1">
            <a:schemeClr val="dk1"/>
          </a:effectRef>
          <a:fontRef idx="minor">
            <a:schemeClr val="lt1"/>
          </a:fontRef>
        </p:style>
        <p:txBody>
          <a:bodyPr wrap="none" rtlCol="0" anchor="ctr"/>
          <a:lstStyle/>
          <a:p>
            <a:pPr algn="ctr"/>
            <a:r>
              <a:rPr lang="en-US" sz="1600" dirty="0" smtClean="0">
                <a:solidFill>
                  <a:schemeClr val="bg1"/>
                </a:solidFill>
              </a:rPr>
              <a:t>b</a:t>
            </a:r>
          </a:p>
          <a:p>
            <a:pPr algn="ctr"/>
            <a:r>
              <a:rPr lang="en-US" sz="1600" dirty="0" err="1" smtClean="0">
                <a:solidFill>
                  <a:schemeClr val="bg1"/>
                </a:solidFill>
              </a:rPr>
              <a:t>var</a:t>
            </a:r>
            <a:endParaRPr lang="en-US" sz="1600" dirty="0">
              <a:solidFill>
                <a:schemeClr val="bg1"/>
              </a:solidFill>
            </a:endParaRPr>
          </a:p>
        </p:txBody>
      </p:sp>
      <p:sp>
        <p:nvSpPr>
          <p:cNvPr id="43" name="Oval 42"/>
          <p:cNvSpPr/>
          <p:nvPr/>
        </p:nvSpPr>
        <p:spPr>
          <a:xfrm>
            <a:off x="3187202" y="3124200"/>
            <a:ext cx="574146" cy="574146"/>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wrap="none" rtlCol="0" anchor="ctr"/>
          <a:lstStyle/>
          <a:p>
            <a:pPr algn="ctr"/>
            <a:r>
              <a:rPr lang="en-US" sz="1600" dirty="0" smtClean="0">
                <a:solidFill>
                  <a:schemeClr val="tx2"/>
                </a:solidFill>
              </a:rPr>
              <a:t>Y</a:t>
            </a:r>
            <a:endParaRPr lang="en-US" sz="1600" dirty="0">
              <a:solidFill>
                <a:schemeClr val="tx2"/>
              </a:solidFill>
            </a:endParaRPr>
          </a:p>
        </p:txBody>
      </p:sp>
      <mc:AlternateContent xmlns:mc="http://schemas.openxmlformats.org/markup-compatibility/2006" xmlns:a14="http://schemas.microsoft.com/office/drawing/2010/main">
        <mc:Choice Requires="a14">
          <p:sp>
            <p:nvSpPr>
              <p:cNvPr id="44" name="TextBox 43"/>
              <p:cNvSpPr txBox="1"/>
              <p:nvPr/>
            </p:nvSpPr>
            <p:spPr>
              <a:xfrm>
                <a:off x="3884612" y="1704710"/>
                <a:ext cx="4698072" cy="625171"/>
              </a:xfrm>
              <a:prstGeom prst="rect">
                <a:avLst/>
              </a:prstGeom>
              <a:noFill/>
            </p:spPr>
            <p:txBody>
              <a:bodyPr wrap="square" lIns="0" tIns="0" rIns="0" bIns="0" rtlCol="0">
                <a:spAutoFit/>
              </a:bodyPr>
              <a:lstStyle/>
              <a:p>
                <a14:m>
                  <m:oMath xmlns:m="http://schemas.openxmlformats.org/officeDocument/2006/math">
                    <m:f>
                      <m:fPr>
                        <m:ctrlPr>
                          <a:rPr lang="mr-IN" sz="2400" i="1" smtClean="0">
                            <a:latin typeface="Cambria Math" panose="02040503050406030204" pitchFamily="18" charset="0"/>
                          </a:rPr>
                        </m:ctrlPr>
                      </m:fPr>
                      <m:num>
                        <m:r>
                          <a:rPr lang="mr-IN" sz="2400" i="1" smtClean="0">
                            <a:latin typeface="Cambria Math" charset="0"/>
                          </a:rPr>
                          <m:t>𝜕</m:t>
                        </m:r>
                        <m:r>
                          <a:rPr lang="en-US" sz="2400" b="0" i="1" smtClean="0">
                            <a:latin typeface="Cambria Math" charset="0"/>
                          </a:rPr>
                          <m:t>𝑠𝑢𝑚</m:t>
                        </m:r>
                      </m:num>
                      <m:den>
                        <m:r>
                          <a:rPr lang="mr-IN" sz="2400" i="1" smtClean="0">
                            <a:latin typeface="Cambria Math" charset="0"/>
                          </a:rPr>
                          <m:t>𝜕</m:t>
                        </m:r>
                        <m:sSub>
                          <m:sSubPr>
                            <m:ctrlPr>
                              <a:rPr lang="en-US" sz="2400" b="0" i="1" smtClean="0">
                                <a:latin typeface="Cambria Math" panose="02040503050406030204" pitchFamily="18" charset="0"/>
                              </a:rPr>
                            </m:ctrlPr>
                          </m:sSubPr>
                          <m:e>
                            <m:r>
                              <a:rPr lang="en-US" sz="2400" b="0" i="1" smtClean="0">
                                <a:latin typeface="Cambria Math" charset="0"/>
                              </a:rPr>
                              <m:t>𝑧</m:t>
                            </m:r>
                          </m:e>
                          <m:sub>
                            <m:r>
                              <a:rPr lang="en-US" sz="2400" b="0" i="1" smtClean="0">
                                <a:latin typeface="Cambria Math" charset="0"/>
                              </a:rPr>
                              <m:t>𝑝</m:t>
                            </m:r>
                          </m:sub>
                        </m:sSub>
                      </m:den>
                    </m:f>
                    <m:r>
                      <a:rPr lang="en-US" sz="2400" b="0" i="1" smtClean="0">
                        <a:latin typeface="Cambria Math" charset="0"/>
                      </a:rPr>
                      <m:t>→</m:t>
                    </m:r>
                    <m:f>
                      <m:fPr>
                        <m:ctrlPr>
                          <a:rPr lang="mr-IN" sz="2400" i="1">
                            <a:latin typeface="Cambria Math" panose="02040503050406030204" pitchFamily="18" charset="0"/>
                          </a:rPr>
                        </m:ctrlPr>
                      </m:fPr>
                      <m:num>
                        <m:r>
                          <a:rPr lang="mr-IN" sz="2400" i="1">
                            <a:latin typeface="Cambria Math" charset="0"/>
                          </a:rPr>
                          <m:t>𝜕</m:t>
                        </m:r>
                        <m:r>
                          <a:rPr lang="en-US" sz="2400" i="1">
                            <a:latin typeface="Cambria Math" charset="0"/>
                          </a:rPr>
                          <m:t>𝑠𝑢𝑚</m:t>
                        </m:r>
                      </m:num>
                      <m:den>
                        <m:r>
                          <a:rPr lang="mr-IN" sz="2400" i="1">
                            <a:latin typeface="Cambria Math" charset="0"/>
                          </a:rPr>
                          <m:t>𝜕</m:t>
                        </m:r>
                        <m:r>
                          <a:rPr lang="en-US" sz="2400" b="0" i="1" smtClean="0">
                            <a:latin typeface="Cambria Math" charset="0"/>
                          </a:rPr>
                          <m:t>𝑠𝑞𝑢𝑎𝑟𝑒</m:t>
                        </m:r>
                      </m:den>
                    </m:f>
                    <m:r>
                      <a:rPr lang="en-US" sz="2400" b="0" i="0" smtClean="0">
                        <a:latin typeface="Cambria Math" charset="0"/>
                      </a:rPr>
                      <m:t> </m:t>
                    </m:r>
                  </m:oMath>
                </a14:m>
                <a:r>
                  <a:rPr lang="en-US" sz="2400" dirty="0" smtClean="0"/>
                  <a:t>  </a:t>
                </a:r>
                <a14:m>
                  <m:oMath xmlns:m="http://schemas.openxmlformats.org/officeDocument/2006/math">
                    <m:f>
                      <m:fPr>
                        <m:ctrlPr>
                          <a:rPr lang="mr-IN" sz="2400" i="1">
                            <a:latin typeface="Cambria Math" panose="02040503050406030204" pitchFamily="18" charset="0"/>
                          </a:rPr>
                        </m:ctrlPr>
                      </m:fPr>
                      <m:num>
                        <m:r>
                          <a:rPr lang="mr-IN" sz="2400" i="1">
                            <a:latin typeface="Cambria Math" charset="0"/>
                          </a:rPr>
                          <m:t>𝜕</m:t>
                        </m:r>
                        <m:r>
                          <a:rPr lang="en-US" sz="2400" i="1">
                            <a:latin typeface="Cambria Math" charset="0"/>
                          </a:rPr>
                          <m:t>𝑠𝑞𝑢𝑎𝑟𝑒</m:t>
                        </m:r>
                      </m:num>
                      <m:den>
                        <m:r>
                          <a:rPr lang="mr-IN" sz="2400" i="1">
                            <a:latin typeface="Cambria Math" charset="0"/>
                          </a:rPr>
                          <m:t>𝜕</m:t>
                        </m:r>
                        <m:r>
                          <a:rPr lang="en-US" sz="2400" i="1">
                            <a:latin typeface="Cambria Math" charset="0"/>
                          </a:rPr>
                          <m:t>𝑧</m:t>
                        </m:r>
                      </m:den>
                    </m:f>
                    <m:r>
                      <a:rPr lang="en-US" sz="2400" b="0" i="1" smtClean="0">
                        <a:latin typeface="Cambria Math" charset="0"/>
                      </a:rPr>
                      <m:t>→</m:t>
                    </m:r>
                    <m:f>
                      <m:fPr>
                        <m:ctrlPr>
                          <a:rPr lang="mr-IN" sz="2400" i="1">
                            <a:latin typeface="Cambria Math" panose="02040503050406030204" pitchFamily="18" charset="0"/>
                          </a:rPr>
                        </m:ctrlPr>
                      </m:fPr>
                      <m:num>
                        <m:r>
                          <a:rPr lang="mr-IN" sz="2400" i="1">
                            <a:latin typeface="Cambria Math" charset="0"/>
                          </a:rPr>
                          <m:t>𝜕</m:t>
                        </m:r>
                        <m:r>
                          <a:rPr lang="en-US" sz="2400" i="1">
                            <a:latin typeface="Cambria Math" charset="0"/>
                          </a:rPr>
                          <m:t>𝑠𝑞𝑢𝑎𝑟𝑒</m:t>
                        </m:r>
                      </m:num>
                      <m:den>
                        <m:r>
                          <a:rPr lang="mr-IN" sz="2400" i="1">
                            <a:latin typeface="Cambria Math" charset="0"/>
                          </a:rPr>
                          <m:t>𝜕</m:t>
                        </m:r>
                        <m:r>
                          <a:rPr lang="en-US" sz="2400" b="0" i="1" smtClean="0">
                            <a:latin typeface="Cambria Math" charset="0"/>
                          </a:rPr>
                          <m:t>𝑚𝑖𝑛𝑢𝑠</m:t>
                        </m:r>
                      </m:den>
                    </m:f>
                  </m:oMath>
                </a14:m>
                <a:endParaRPr lang="en-US" sz="2400" dirty="0"/>
              </a:p>
            </p:txBody>
          </p:sp>
        </mc:Choice>
        <mc:Fallback xmlns="">
          <p:sp>
            <p:nvSpPr>
              <p:cNvPr id="44" name="TextBox 43"/>
              <p:cNvSpPr txBox="1">
                <a:spLocks noRot="1" noChangeAspect="1" noMove="1" noResize="1" noEditPoints="1" noAdjustHandles="1" noChangeArrowheads="1" noChangeShapeType="1" noTextEdit="1"/>
              </p:cNvSpPr>
              <p:nvPr/>
            </p:nvSpPr>
            <p:spPr>
              <a:xfrm>
                <a:off x="3884612" y="1704710"/>
                <a:ext cx="4698072" cy="625171"/>
              </a:xfrm>
              <a:prstGeom prst="rect">
                <a:avLst/>
              </a:prstGeom>
              <a:blipFill rotWithShape="0">
                <a:blip r:embed="rId11"/>
                <a:stretch>
                  <a:fillRect/>
                </a:stretch>
              </a:blipFill>
            </p:spPr>
            <p:txBody>
              <a:bodyPr/>
              <a:lstStyle/>
              <a:p>
                <a:r>
                  <a:rPr lang="en-US">
                    <a:noFill/>
                  </a:rPr>
                  <a:t> </a:t>
                </a:r>
              </a:p>
            </p:txBody>
          </p:sp>
        </mc:Fallback>
      </mc:AlternateContent>
      <p:sp>
        <p:nvSpPr>
          <p:cNvPr id="45" name="Oval 44"/>
          <p:cNvSpPr/>
          <p:nvPr/>
        </p:nvSpPr>
        <p:spPr>
          <a:xfrm>
            <a:off x="4586682" y="4307946"/>
            <a:ext cx="574146" cy="574146"/>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wrap="none" rtlCol="0" anchor="ctr"/>
          <a:lstStyle/>
          <a:p>
            <a:pPr algn="ctr"/>
            <a:r>
              <a:rPr lang="en-US" sz="1600" dirty="0" err="1" smtClean="0">
                <a:solidFill>
                  <a:schemeClr val="tx2"/>
                </a:solidFill>
              </a:rPr>
              <a:t>mul</a:t>
            </a:r>
            <a:endParaRPr lang="en-US" sz="1600" dirty="0">
              <a:solidFill>
                <a:schemeClr val="tx2"/>
              </a:solidFill>
            </a:endParaRPr>
          </a:p>
        </p:txBody>
      </p:sp>
    </p:spTree>
    <p:extLst>
      <p:ext uri="{BB962C8B-B14F-4D97-AF65-F5344CB8AC3E}">
        <p14:creationId xmlns:p14="http://schemas.microsoft.com/office/powerpoint/2010/main" val="144839860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7" name="Straight Arrow Connector 36"/>
          <p:cNvCxnSpPr>
            <a:cxnSpLocks/>
          </p:cNvCxnSpPr>
          <p:nvPr/>
        </p:nvCxnSpPr>
        <p:spPr>
          <a:xfrm flipV="1">
            <a:off x="9966616" y="5164321"/>
            <a:ext cx="540738" cy="968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normAutofit/>
          </a:bodyPr>
          <a:lstStyle/>
          <a:p>
            <a:r>
              <a:rPr lang="en-US" sz="2400" dirty="0" smtClean="0"/>
              <a:t>Now we can use the chain rule to get derivative </a:t>
            </a:r>
            <a:r>
              <a:rPr lang="en-US" sz="2400" dirty="0" err="1" smtClean="0"/>
              <a:t>w.r.t</a:t>
            </a:r>
            <a:r>
              <a:rPr lang="en-US" sz="2400" dirty="0" smtClean="0"/>
              <a:t> weights!</a:t>
            </a:r>
            <a:endParaRPr lang="en-US" sz="2400" dirty="0"/>
          </a:p>
        </p:txBody>
      </p:sp>
      <p:cxnSp>
        <p:nvCxnSpPr>
          <p:cNvPr id="10" name="Straight Arrow Connector 9"/>
          <p:cNvCxnSpPr>
            <a:cxnSpLocks/>
          </p:cNvCxnSpPr>
          <p:nvPr/>
        </p:nvCxnSpPr>
        <p:spPr>
          <a:xfrm>
            <a:off x="2469520" y="4595019"/>
            <a:ext cx="717682"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a:cxnSpLocks/>
          </p:cNvCxnSpPr>
          <p:nvPr/>
        </p:nvCxnSpPr>
        <p:spPr>
          <a:xfrm>
            <a:off x="2469520" y="5743310"/>
            <a:ext cx="717682"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a:off x="3761348" y="4595019"/>
            <a:ext cx="825334"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a:cxnSpLocks/>
          </p:cNvCxnSpPr>
          <p:nvPr/>
        </p:nvCxnSpPr>
        <p:spPr>
          <a:xfrm flipV="1">
            <a:off x="3761348" y="4798010"/>
            <a:ext cx="909416" cy="94530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a:off x="5160828" y="4595019"/>
            <a:ext cx="801764" cy="371155"/>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flipV="1">
            <a:off x="5160828" y="5372156"/>
            <a:ext cx="801764" cy="371155"/>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cxnSpLocks/>
          </p:cNvCxnSpPr>
          <p:nvPr/>
        </p:nvCxnSpPr>
        <p:spPr>
          <a:xfrm>
            <a:off x="6452656" y="5169165"/>
            <a:ext cx="717682"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cxnSpLocks/>
          </p:cNvCxnSpPr>
          <p:nvPr/>
        </p:nvCxnSpPr>
        <p:spPr>
          <a:xfrm>
            <a:off x="2469520" y="3411273"/>
            <a:ext cx="717682"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20" name="Elbow Connector 19"/>
          <p:cNvCxnSpPr/>
          <p:nvPr/>
        </p:nvCxnSpPr>
        <p:spPr>
          <a:xfrm>
            <a:off x="3761348" y="3411274"/>
            <a:ext cx="3696063" cy="1458382"/>
          </a:xfrm>
          <a:prstGeom prst="bentConnector2">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22" name="Rounded Rectangle 21"/>
          <p:cNvSpPr/>
          <p:nvPr/>
        </p:nvSpPr>
        <p:spPr>
          <a:xfrm>
            <a:off x="6932612" y="4419600"/>
            <a:ext cx="3309308" cy="1407847"/>
          </a:xfrm>
          <a:prstGeom prst="roundRect">
            <a:avLst/>
          </a:prstGeom>
          <a:noFill/>
          <a:ln w="28575">
            <a:solidFill>
              <a:schemeClr val="accent5">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tIns="0" rtlCol="0" anchor="t" anchorCtr="0"/>
          <a:lstStyle/>
          <a:p>
            <a:pPr algn="ctr"/>
            <a:r>
              <a:rPr lang="en-US">
                <a:solidFill>
                  <a:schemeClr val="accent5">
                    <a:lumMod val="75000"/>
                  </a:schemeClr>
                </a:solidFill>
              </a:rPr>
              <a:t>c</a:t>
            </a:r>
            <a:r>
              <a:rPr lang="en-US" smtClean="0">
                <a:solidFill>
                  <a:schemeClr val="accent5">
                    <a:lumMod val="75000"/>
                  </a:schemeClr>
                </a:solidFill>
              </a:rPr>
              <a:t>ost (J</a:t>
            </a:r>
            <a:r>
              <a:rPr lang="en-US" dirty="0" smtClean="0">
                <a:solidFill>
                  <a:schemeClr val="accent5">
                    <a:lumMod val="75000"/>
                  </a:schemeClr>
                </a:solidFill>
              </a:rPr>
              <a:t>)</a:t>
            </a:r>
            <a:endParaRPr lang="en-US" dirty="0">
              <a:solidFill>
                <a:schemeClr val="accent5">
                  <a:lumMod val="75000"/>
                </a:schemeClr>
              </a:solidFill>
            </a:endParaRPr>
          </a:p>
        </p:txBody>
      </p:sp>
      <p:cxnSp>
        <p:nvCxnSpPr>
          <p:cNvPr id="24" name="Straight Arrow Connector 23"/>
          <p:cNvCxnSpPr>
            <a:cxnSpLocks/>
          </p:cNvCxnSpPr>
          <p:nvPr/>
        </p:nvCxnSpPr>
        <p:spPr>
          <a:xfrm flipV="1">
            <a:off x="7744484" y="5169165"/>
            <a:ext cx="540738" cy="968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35" name="Oval 34"/>
          <p:cNvSpPr/>
          <p:nvPr/>
        </p:nvSpPr>
        <p:spPr>
          <a:xfrm>
            <a:off x="9396022" y="4869656"/>
            <a:ext cx="574146" cy="574146"/>
          </a:xfrm>
          <a:prstGeom prst="ellipse">
            <a:avLst/>
          </a:prstGeom>
          <a:ln/>
        </p:spPr>
        <p:style>
          <a:lnRef idx="2">
            <a:schemeClr val="dk1">
              <a:shade val="50000"/>
            </a:schemeClr>
          </a:lnRef>
          <a:fillRef idx="1">
            <a:schemeClr val="dk1"/>
          </a:fillRef>
          <a:effectRef idx="0">
            <a:schemeClr val="dk1"/>
          </a:effectRef>
          <a:fontRef idx="minor">
            <a:schemeClr val="lt1"/>
          </a:fontRef>
        </p:style>
        <p:txBody>
          <a:bodyPr wrap="none" rtlCol="0" anchor="ctr"/>
          <a:lstStyle/>
          <a:p>
            <a:pPr algn="ctr"/>
            <a:r>
              <a:rPr lang="en-US" sz="1600" smtClean="0">
                <a:solidFill>
                  <a:schemeClr val="bg1"/>
                </a:solidFill>
              </a:rPr>
              <a:t>sum</a:t>
            </a:r>
            <a:endParaRPr lang="en-US" sz="1600" dirty="0">
              <a:solidFill>
                <a:schemeClr val="bg1"/>
              </a:solidFill>
            </a:endParaRPr>
          </a:p>
        </p:txBody>
      </p:sp>
      <p:cxnSp>
        <p:nvCxnSpPr>
          <p:cNvPr id="36" name="Straight Arrow Connector 35"/>
          <p:cNvCxnSpPr>
            <a:cxnSpLocks/>
          </p:cNvCxnSpPr>
          <p:nvPr/>
        </p:nvCxnSpPr>
        <p:spPr>
          <a:xfrm flipV="1">
            <a:off x="8866858" y="5169165"/>
            <a:ext cx="540738" cy="968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27" name="Oval 26"/>
          <p:cNvSpPr/>
          <p:nvPr/>
        </p:nvSpPr>
        <p:spPr>
          <a:xfrm>
            <a:off x="8282745" y="4869656"/>
            <a:ext cx="574146" cy="574146"/>
          </a:xfrm>
          <a:prstGeom prst="ellipse">
            <a:avLst/>
          </a:prstGeom>
          <a:solidFill>
            <a:srgbClr val="197709"/>
          </a:solidFill>
          <a:ln>
            <a:solidFill>
              <a:schemeClr val="accent2">
                <a:lumMod val="50000"/>
              </a:schemeClr>
            </a:solidFill>
          </a:ln>
        </p:spPr>
        <p:style>
          <a:lnRef idx="2">
            <a:schemeClr val="accent4">
              <a:shade val="50000"/>
            </a:schemeClr>
          </a:lnRef>
          <a:fillRef idx="1">
            <a:schemeClr val="accent4"/>
          </a:fillRef>
          <a:effectRef idx="0">
            <a:schemeClr val="accent4"/>
          </a:effectRef>
          <a:fontRef idx="minor">
            <a:schemeClr val="lt1"/>
          </a:fontRef>
        </p:style>
        <p:txBody>
          <a:bodyPr wrap="none" rtlCol="0" anchor="ctr"/>
          <a:lstStyle/>
          <a:p>
            <a:pPr algn="ctr"/>
            <a:r>
              <a:rPr lang="en-US" sz="1400" dirty="0" smtClean="0">
                <a:solidFill>
                  <a:schemeClr val="bg1"/>
                </a:solidFill>
              </a:rPr>
              <a:t>square</a:t>
            </a:r>
            <a:endParaRPr lang="en-US" sz="1400" dirty="0">
              <a:solidFill>
                <a:schemeClr val="bg1"/>
              </a:solidFill>
            </a:endParaRPr>
          </a:p>
        </p:txBody>
      </p:sp>
      <mc:AlternateContent xmlns:mc="http://schemas.openxmlformats.org/markup-compatibility/2006" xmlns:a14="http://schemas.microsoft.com/office/drawing/2010/main">
        <mc:Choice Requires="a14">
          <p:sp>
            <p:nvSpPr>
              <p:cNvPr id="30" name="TextBox 29"/>
              <p:cNvSpPr txBox="1"/>
              <p:nvPr/>
            </p:nvSpPr>
            <p:spPr>
              <a:xfrm>
                <a:off x="9363566" y="3866651"/>
                <a:ext cx="857286" cy="50969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mr-IN" sz="1600" i="1" smtClean="0">
                              <a:latin typeface="Cambria Math" panose="02040503050406030204" pitchFamily="18" charset="0"/>
                            </a:rPr>
                          </m:ctrlPr>
                        </m:fPr>
                        <m:num>
                          <m:r>
                            <a:rPr lang="mr-IN" sz="1600" i="1" smtClean="0">
                              <a:latin typeface="Cambria Math" charset="0"/>
                            </a:rPr>
                            <m:t>𝜕</m:t>
                          </m:r>
                          <m:r>
                            <a:rPr lang="en-US" sz="1600" b="0" i="1" smtClean="0">
                              <a:latin typeface="Cambria Math" charset="0"/>
                            </a:rPr>
                            <m:t>𝑠𝑢𝑚</m:t>
                          </m:r>
                        </m:num>
                        <m:den>
                          <m:r>
                            <a:rPr lang="mr-IN" sz="1600" i="1" smtClean="0">
                              <a:latin typeface="Cambria Math" charset="0"/>
                            </a:rPr>
                            <m:t>𝜕</m:t>
                          </m:r>
                          <m:r>
                            <a:rPr lang="en-US" sz="1600" b="0" i="1" smtClean="0">
                              <a:latin typeface="Cambria Math" charset="0"/>
                            </a:rPr>
                            <m:t>𝑠𝑞𝑢𝑎𝑟𝑒</m:t>
                          </m:r>
                        </m:den>
                      </m:f>
                    </m:oMath>
                  </m:oMathPara>
                </a14:m>
                <a:endParaRPr lang="en-US" sz="2800" dirty="0"/>
              </a:p>
            </p:txBody>
          </p:sp>
        </mc:Choice>
        <mc:Fallback xmlns="">
          <p:sp>
            <p:nvSpPr>
              <p:cNvPr id="30" name="TextBox 29"/>
              <p:cNvSpPr txBox="1">
                <a:spLocks noRot="1" noChangeAspect="1" noMove="1" noResize="1" noEditPoints="1" noAdjustHandles="1" noChangeArrowheads="1" noChangeShapeType="1" noTextEdit="1"/>
              </p:cNvSpPr>
              <p:nvPr/>
            </p:nvSpPr>
            <p:spPr>
              <a:xfrm>
                <a:off x="9363566" y="3866651"/>
                <a:ext cx="857286" cy="509691"/>
              </a:xfrm>
              <a:prstGeom prst="rect">
                <a:avLst/>
              </a:prstGeom>
              <a:blipFill rotWithShape="0">
                <a:blip r:embed="rId3"/>
                <a:stretch>
                  <a:fillRect/>
                </a:stretch>
              </a:blipFill>
            </p:spPr>
            <p:txBody>
              <a:bodyPr/>
              <a:lstStyle/>
              <a:p>
                <a:r>
                  <a:rPr lang="en-US">
                    <a:noFill/>
                  </a:rPr>
                  <a:t> </a:t>
                </a:r>
              </a:p>
            </p:txBody>
          </p:sp>
        </mc:Fallback>
      </mc:AlternateContent>
      <p:sp>
        <p:nvSpPr>
          <p:cNvPr id="28" name="Oval 27"/>
          <p:cNvSpPr/>
          <p:nvPr/>
        </p:nvSpPr>
        <p:spPr>
          <a:xfrm>
            <a:off x="7170338" y="4869656"/>
            <a:ext cx="574146" cy="574146"/>
          </a:xfrm>
          <a:prstGeom prst="ellipse">
            <a:avLst/>
          </a:prstGeom>
          <a:solidFill>
            <a:schemeClr val="accent5">
              <a:lumMod val="60000"/>
              <a:lumOff val="40000"/>
            </a:schemeClr>
          </a:solidFill>
          <a:ln>
            <a:solidFill>
              <a:schemeClr val="accent5">
                <a:lumMod val="75000"/>
              </a:schemeClr>
            </a:solidFill>
          </a:ln>
        </p:spPr>
        <p:style>
          <a:lnRef idx="2">
            <a:schemeClr val="accent4">
              <a:shade val="50000"/>
            </a:schemeClr>
          </a:lnRef>
          <a:fillRef idx="1">
            <a:schemeClr val="accent4"/>
          </a:fillRef>
          <a:effectRef idx="0">
            <a:schemeClr val="accent4"/>
          </a:effectRef>
          <a:fontRef idx="minor">
            <a:schemeClr val="lt1"/>
          </a:fontRef>
        </p:style>
        <p:txBody>
          <a:bodyPr wrap="none" rtlCol="0" anchor="ctr"/>
          <a:lstStyle/>
          <a:p>
            <a:pPr algn="ctr"/>
            <a:r>
              <a:rPr lang="en-US" sz="1600" dirty="0" smtClean="0">
                <a:solidFill>
                  <a:schemeClr val="tx2"/>
                </a:solidFill>
              </a:rPr>
              <a:t>minus</a:t>
            </a:r>
            <a:endParaRPr lang="en-US" sz="1600" dirty="0">
              <a:solidFill>
                <a:schemeClr val="tx2"/>
              </a:solidFill>
            </a:endParaRPr>
          </a:p>
        </p:txBody>
      </p:sp>
      <mc:AlternateContent xmlns:mc="http://schemas.openxmlformats.org/markup-compatibility/2006" xmlns:a14="http://schemas.microsoft.com/office/drawing/2010/main">
        <mc:Choice Requires="a14">
          <p:sp>
            <p:nvSpPr>
              <p:cNvPr id="33" name="Rectangle 32"/>
              <p:cNvSpPr/>
              <p:nvPr/>
            </p:nvSpPr>
            <p:spPr>
              <a:xfrm>
                <a:off x="8031557" y="3842927"/>
                <a:ext cx="1000594" cy="56053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mr-IN" sz="1600" i="1" smtClean="0">
                              <a:latin typeface="Cambria Math" panose="02040503050406030204" pitchFamily="18" charset="0"/>
                            </a:rPr>
                          </m:ctrlPr>
                        </m:fPr>
                        <m:num>
                          <m:r>
                            <a:rPr lang="mr-IN" sz="1600" i="1">
                              <a:latin typeface="Cambria Math" charset="0"/>
                            </a:rPr>
                            <m:t>𝜕</m:t>
                          </m:r>
                          <m:r>
                            <m:rPr>
                              <m:nor/>
                            </m:rPr>
                            <a:rPr lang="en-US" sz="1600">
                              <a:latin typeface="Cambria Math" charset="0"/>
                            </a:rPr>
                            <m:t>square</m:t>
                          </m:r>
                        </m:num>
                        <m:den>
                          <m:r>
                            <a:rPr lang="mr-IN" sz="1600" i="1">
                              <a:latin typeface="Cambria Math" charset="0"/>
                            </a:rPr>
                            <m:t>𝜕</m:t>
                          </m:r>
                          <m:r>
                            <a:rPr lang="en-US" sz="1600" b="0" i="1" smtClean="0">
                              <a:latin typeface="Cambria Math" charset="0"/>
                            </a:rPr>
                            <m:t>𝑚𝑖𝑛𝑢𝑠</m:t>
                          </m:r>
                        </m:den>
                      </m:f>
                    </m:oMath>
                  </m:oMathPara>
                </a14:m>
                <a:endParaRPr lang="en-US" sz="1600" dirty="0"/>
              </a:p>
            </p:txBody>
          </p:sp>
        </mc:Choice>
        <mc:Fallback xmlns="">
          <p:sp>
            <p:nvSpPr>
              <p:cNvPr id="33" name="Rectangle 32"/>
              <p:cNvSpPr>
                <a:spLocks noRot="1" noChangeAspect="1" noMove="1" noResize="1" noEditPoints="1" noAdjustHandles="1" noChangeArrowheads="1" noChangeShapeType="1" noTextEdit="1"/>
              </p:cNvSpPr>
              <p:nvPr/>
            </p:nvSpPr>
            <p:spPr>
              <a:xfrm>
                <a:off x="8031557" y="3842927"/>
                <a:ext cx="1000594" cy="560538"/>
              </a:xfrm>
              <a:prstGeom prst="rect">
                <a:avLst/>
              </a:prstGeom>
              <a:blipFill rotWithShape="0">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Rectangle 2"/>
              <p:cNvSpPr/>
              <p:nvPr/>
            </p:nvSpPr>
            <p:spPr>
              <a:xfrm>
                <a:off x="7170338" y="2982880"/>
                <a:ext cx="946093" cy="56053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mr-IN" sz="1600" i="1" smtClean="0">
                              <a:latin typeface="Cambria Math" panose="02040503050406030204" pitchFamily="18" charset="0"/>
                            </a:rPr>
                          </m:ctrlPr>
                        </m:fPr>
                        <m:num>
                          <m:r>
                            <a:rPr lang="mr-IN" sz="1600" i="1">
                              <a:latin typeface="Cambria Math" charset="0"/>
                            </a:rPr>
                            <m:t>𝜕</m:t>
                          </m:r>
                          <m:r>
                            <m:rPr>
                              <m:nor/>
                            </m:rPr>
                            <a:rPr lang="en-US" sz="1600" b="0" i="0" smtClean="0">
                              <a:latin typeface="Cambria Math" charset="0"/>
                            </a:rPr>
                            <m:t>minus</m:t>
                          </m:r>
                        </m:num>
                        <m:den>
                          <m:r>
                            <a:rPr lang="mr-IN" sz="1600" i="1">
                              <a:latin typeface="Cambria Math" charset="0"/>
                            </a:rPr>
                            <m:t>𝜕</m:t>
                          </m:r>
                          <m:r>
                            <a:rPr lang="en-US" sz="1600" b="0" i="1" smtClean="0">
                              <a:latin typeface="Cambria Math" charset="0"/>
                            </a:rPr>
                            <m:t>𝑌</m:t>
                          </m:r>
                        </m:den>
                      </m:f>
                    </m:oMath>
                  </m:oMathPara>
                </a14:m>
                <a:endParaRPr lang="en-US" sz="1600" dirty="0"/>
              </a:p>
            </p:txBody>
          </p:sp>
        </mc:Choice>
        <mc:Fallback xmlns="">
          <p:sp>
            <p:nvSpPr>
              <p:cNvPr id="3" name="Rectangle 2"/>
              <p:cNvSpPr>
                <a:spLocks noRot="1" noChangeAspect="1" noMove="1" noResize="1" noEditPoints="1" noAdjustHandles="1" noChangeArrowheads="1" noChangeShapeType="1" noTextEdit="1"/>
              </p:cNvSpPr>
              <p:nvPr/>
            </p:nvSpPr>
            <p:spPr>
              <a:xfrm>
                <a:off x="7170338" y="2982880"/>
                <a:ext cx="946093" cy="560538"/>
              </a:xfrm>
              <a:prstGeom prst="rect">
                <a:avLst/>
              </a:prstGeom>
              <a:blipFill rotWithShape="0">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Rectangle 30"/>
              <p:cNvSpPr/>
              <p:nvPr/>
            </p:nvSpPr>
            <p:spPr>
              <a:xfrm>
                <a:off x="6281917" y="4069394"/>
                <a:ext cx="946092" cy="56053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mr-IN" sz="1600" i="1" smtClean="0">
                              <a:latin typeface="Cambria Math" panose="02040503050406030204" pitchFamily="18" charset="0"/>
                            </a:rPr>
                          </m:ctrlPr>
                        </m:fPr>
                        <m:num>
                          <m:r>
                            <a:rPr lang="mr-IN" sz="1600" i="1">
                              <a:latin typeface="Cambria Math" charset="0"/>
                            </a:rPr>
                            <m:t>𝜕</m:t>
                          </m:r>
                          <m:r>
                            <m:rPr>
                              <m:nor/>
                            </m:rPr>
                            <a:rPr lang="en-US" sz="1600" b="0" i="0" smtClean="0">
                              <a:latin typeface="Cambria Math" charset="0"/>
                            </a:rPr>
                            <m:t>minus</m:t>
                          </m:r>
                        </m:num>
                        <m:den>
                          <m:r>
                            <a:rPr lang="mr-IN" sz="1600" i="1">
                              <a:latin typeface="Cambria Math" charset="0"/>
                            </a:rPr>
                            <m:t>𝜕</m:t>
                          </m:r>
                          <m:r>
                            <a:rPr lang="en-US" sz="1600" b="0" i="1" smtClean="0">
                              <a:latin typeface="Cambria Math" charset="0"/>
                            </a:rPr>
                            <m:t>𝑎𝑑𝑑</m:t>
                          </m:r>
                        </m:den>
                      </m:f>
                    </m:oMath>
                  </m:oMathPara>
                </a14:m>
                <a:endParaRPr lang="en-US" sz="1600" dirty="0"/>
              </a:p>
            </p:txBody>
          </p:sp>
        </mc:Choice>
        <mc:Fallback xmlns="">
          <p:sp>
            <p:nvSpPr>
              <p:cNvPr id="31" name="Rectangle 30"/>
              <p:cNvSpPr>
                <a:spLocks noRot="1" noChangeAspect="1" noMove="1" noResize="1" noEditPoints="1" noAdjustHandles="1" noChangeArrowheads="1" noChangeShapeType="1" noTextEdit="1"/>
              </p:cNvSpPr>
              <p:nvPr/>
            </p:nvSpPr>
            <p:spPr>
              <a:xfrm>
                <a:off x="6281917" y="4069394"/>
                <a:ext cx="946092" cy="560538"/>
              </a:xfrm>
              <a:prstGeom prst="rect">
                <a:avLst/>
              </a:prstGeom>
              <a:blipFill rotWithShape="0">
                <a:blip r:embed="rId6"/>
                <a:stretch>
                  <a:fillRect/>
                </a:stretch>
              </a:blipFill>
            </p:spPr>
            <p:txBody>
              <a:bodyPr/>
              <a:lstStyle/>
              <a:p>
                <a:r>
                  <a:rPr lang="en-US">
                    <a:noFill/>
                  </a:rPr>
                  <a:t> </a:t>
                </a:r>
              </a:p>
            </p:txBody>
          </p:sp>
        </mc:Fallback>
      </mc:AlternateContent>
      <p:sp>
        <p:nvSpPr>
          <p:cNvPr id="34" name="Oval 33"/>
          <p:cNvSpPr/>
          <p:nvPr/>
        </p:nvSpPr>
        <p:spPr>
          <a:xfrm>
            <a:off x="5878510" y="4882092"/>
            <a:ext cx="574146" cy="574146"/>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wrap="none" rtlCol="0" anchor="ctr"/>
          <a:lstStyle/>
          <a:p>
            <a:pPr algn="ctr"/>
            <a:r>
              <a:rPr lang="en-US" sz="1600" dirty="0" smtClean="0">
                <a:solidFill>
                  <a:schemeClr val="tx2"/>
                </a:solidFill>
              </a:rPr>
              <a:t>add</a:t>
            </a:r>
            <a:endParaRPr lang="en-US" sz="1600" dirty="0">
              <a:solidFill>
                <a:schemeClr val="tx2"/>
              </a:solidFill>
            </a:endParaRPr>
          </a:p>
        </p:txBody>
      </p:sp>
      <mc:AlternateContent xmlns:mc="http://schemas.openxmlformats.org/markup-compatibility/2006" xmlns:a14="http://schemas.microsoft.com/office/drawing/2010/main">
        <mc:Choice Requires="a14">
          <p:sp>
            <p:nvSpPr>
              <p:cNvPr id="9" name="Rectangle 8"/>
              <p:cNvSpPr/>
              <p:nvPr/>
            </p:nvSpPr>
            <p:spPr>
              <a:xfrm>
                <a:off x="4962634" y="4945166"/>
                <a:ext cx="729687" cy="56053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mr-IN" sz="1600" i="1" smtClean="0">
                              <a:latin typeface="Cambria Math" panose="02040503050406030204" pitchFamily="18" charset="0"/>
                            </a:rPr>
                          </m:ctrlPr>
                        </m:fPr>
                        <m:num>
                          <m:r>
                            <a:rPr lang="mr-IN" sz="1600" i="1">
                              <a:latin typeface="Cambria Math" charset="0"/>
                            </a:rPr>
                            <m:t>𝜕</m:t>
                          </m:r>
                          <m:r>
                            <m:rPr>
                              <m:nor/>
                            </m:rPr>
                            <a:rPr lang="en-US" sz="1600">
                              <a:latin typeface="Cambria Math" charset="0"/>
                            </a:rPr>
                            <m:t>add</m:t>
                          </m:r>
                        </m:num>
                        <m:den>
                          <m:r>
                            <a:rPr lang="mr-IN" sz="1600" i="1">
                              <a:latin typeface="Cambria Math" charset="0"/>
                            </a:rPr>
                            <m:t>𝜕</m:t>
                          </m:r>
                          <m:r>
                            <a:rPr lang="en-US" sz="1600" b="0" i="1" smtClean="0">
                              <a:latin typeface="Cambria Math" charset="0"/>
                            </a:rPr>
                            <m:t>𝑏</m:t>
                          </m:r>
                        </m:den>
                      </m:f>
                    </m:oMath>
                  </m:oMathPara>
                </a14:m>
                <a:endParaRPr lang="en-US" sz="1600" dirty="0"/>
              </a:p>
            </p:txBody>
          </p:sp>
        </mc:Choice>
        <mc:Fallback xmlns="">
          <p:sp>
            <p:nvSpPr>
              <p:cNvPr id="9" name="Rectangle 8"/>
              <p:cNvSpPr>
                <a:spLocks noRot="1" noChangeAspect="1" noMove="1" noResize="1" noEditPoints="1" noAdjustHandles="1" noChangeArrowheads="1" noChangeShapeType="1" noTextEdit="1"/>
              </p:cNvSpPr>
              <p:nvPr/>
            </p:nvSpPr>
            <p:spPr>
              <a:xfrm>
                <a:off x="4962634" y="4945166"/>
                <a:ext cx="729687" cy="560538"/>
              </a:xfrm>
              <a:prstGeom prst="rect">
                <a:avLst/>
              </a:prstGeom>
              <a:blipFill rotWithShape="0">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Rectangle 18"/>
              <p:cNvSpPr/>
              <p:nvPr/>
            </p:nvSpPr>
            <p:spPr>
              <a:xfrm>
                <a:off x="5242277" y="4106383"/>
                <a:ext cx="760272" cy="56053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mr-IN" sz="1600" i="1" smtClean="0">
                              <a:latin typeface="Cambria Math" panose="02040503050406030204" pitchFamily="18" charset="0"/>
                            </a:rPr>
                          </m:ctrlPr>
                        </m:fPr>
                        <m:num>
                          <m:r>
                            <a:rPr lang="mr-IN" sz="1600" i="1">
                              <a:latin typeface="Cambria Math" charset="0"/>
                            </a:rPr>
                            <m:t>𝜕</m:t>
                          </m:r>
                          <m:r>
                            <m:rPr>
                              <m:nor/>
                            </m:rPr>
                            <a:rPr lang="en-US" sz="1600">
                              <a:latin typeface="Cambria Math" charset="0"/>
                            </a:rPr>
                            <m:t>add</m:t>
                          </m:r>
                        </m:num>
                        <m:den>
                          <m:r>
                            <a:rPr lang="mr-IN" sz="1600" i="1">
                              <a:latin typeface="Cambria Math" charset="0"/>
                            </a:rPr>
                            <m:t>𝜕</m:t>
                          </m:r>
                          <m:r>
                            <a:rPr lang="en-US" sz="1600" b="0" i="1" smtClean="0">
                              <a:latin typeface="Cambria Math" charset="0"/>
                            </a:rPr>
                            <m:t>𝑚𝑢𝑙</m:t>
                          </m:r>
                        </m:den>
                      </m:f>
                    </m:oMath>
                  </m:oMathPara>
                </a14:m>
                <a:endParaRPr lang="en-US" sz="1600" dirty="0"/>
              </a:p>
            </p:txBody>
          </p:sp>
        </mc:Choice>
        <mc:Fallback xmlns="">
          <p:sp>
            <p:nvSpPr>
              <p:cNvPr id="19" name="Rectangle 18"/>
              <p:cNvSpPr>
                <a:spLocks noRot="1" noChangeAspect="1" noMove="1" noResize="1" noEditPoints="1" noAdjustHandles="1" noChangeArrowheads="1" noChangeShapeType="1" noTextEdit="1"/>
              </p:cNvSpPr>
              <p:nvPr/>
            </p:nvSpPr>
            <p:spPr>
              <a:xfrm>
                <a:off x="5242277" y="4106383"/>
                <a:ext cx="760272" cy="560538"/>
              </a:xfrm>
              <a:prstGeom prst="rect">
                <a:avLst/>
              </a:prstGeom>
              <a:blipFill rotWithShape="0">
                <a:blip r:embed="rId8"/>
                <a:stretch>
                  <a:fillRect/>
                </a:stretch>
              </a:blipFill>
            </p:spPr>
            <p:txBody>
              <a:bodyPr/>
              <a:lstStyle/>
              <a:p>
                <a:r>
                  <a:rPr lang="en-US">
                    <a:noFill/>
                  </a:rPr>
                  <a:t> </a:t>
                </a:r>
              </a:p>
            </p:txBody>
          </p:sp>
        </mc:Fallback>
      </mc:AlternateContent>
      <p:sp>
        <p:nvSpPr>
          <p:cNvPr id="38" name="Oval 37"/>
          <p:cNvSpPr/>
          <p:nvPr/>
        </p:nvSpPr>
        <p:spPr>
          <a:xfrm>
            <a:off x="4586682" y="4307946"/>
            <a:ext cx="574146" cy="574146"/>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wrap="none" rtlCol="0" anchor="ctr"/>
          <a:lstStyle/>
          <a:p>
            <a:pPr algn="ctr"/>
            <a:r>
              <a:rPr lang="en-US" sz="1600" dirty="0" err="1" smtClean="0">
                <a:solidFill>
                  <a:schemeClr val="tx2"/>
                </a:solidFill>
              </a:rPr>
              <a:t>mul</a:t>
            </a:r>
            <a:endParaRPr lang="en-US" sz="1600" dirty="0">
              <a:solidFill>
                <a:schemeClr val="tx2"/>
              </a:solidFill>
            </a:endParaRPr>
          </a:p>
        </p:txBody>
      </p:sp>
      <mc:AlternateContent xmlns:mc="http://schemas.openxmlformats.org/markup-compatibility/2006" xmlns:a14="http://schemas.microsoft.com/office/drawing/2010/main">
        <mc:Choice Requires="a14">
          <p:sp>
            <p:nvSpPr>
              <p:cNvPr id="7" name="Rectangle 6"/>
              <p:cNvSpPr/>
              <p:nvPr/>
            </p:nvSpPr>
            <p:spPr>
              <a:xfrm>
                <a:off x="3685138" y="3916356"/>
                <a:ext cx="742511" cy="56053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mr-IN" sz="1600" i="1" smtClean="0">
                              <a:latin typeface="Cambria Math" panose="02040503050406030204" pitchFamily="18" charset="0"/>
                            </a:rPr>
                          </m:ctrlPr>
                        </m:fPr>
                        <m:num>
                          <m:r>
                            <a:rPr lang="mr-IN" sz="1600" i="1">
                              <a:latin typeface="Cambria Math" charset="0"/>
                            </a:rPr>
                            <m:t>𝜕</m:t>
                          </m:r>
                          <m:r>
                            <m:rPr>
                              <m:nor/>
                            </m:rPr>
                            <a:rPr lang="en-US" sz="1600">
                              <a:latin typeface="Cambria Math" charset="0"/>
                            </a:rPr>
                            <m:t>mul</m:t>
                          </m:r>
                        </m:num>
                        <m:den>
                          <m:r>
                            <a:rPr lang="mr-IN" sz="1600" i="1">
                              <a:latin typeface="Cambria Math" charset="0"/>
                            </a:rPr>
                            <m:t>𝜕</m:t>
                          </m:r>
                          <m:r>
                            <a:rPr lang="en-US" sz="1600" b="0" i="1" smtClean="0">
                              <a:latin typeface="Cambria Math" charset="0"/>
                            </a:rPr>
                            <m:t>𝑋</m:t>
                          </m:r>
                        </m:den>
                      </m:f>
                    </m:oMath>
                  </m:oMathPara>
                </a14:m>
                <a:endParaRPr lang="en-US" sz="1600" dirty="0"/>
              </a:p>
            </p:txBody>
          </p:sp>
        </mc:Choice>
        <mc:Fallback xmlns="">
          <p:sp>
            <p:nvSpPr>
              <p:cNvPr id="7" name="Rectangle 6"/>
              <p:cNvSpPr>
                <a:spLocks noRot="1" noChangeAspect="1" noMove="1" noResize="1" noEditPoints="1" noAdjustHandles="1" noChangeArrowheads="1" noChangeShapeType="1" noTextEdit="1"/>
              </p:cNvSpPr>
              <p:nvPr/>
            </p:nvSpPr>
            <p:spPr>
              <a:xfrm>
                <a:off x="3685138" y="3916356"/>
                <a:ext cx="742511" cy="560538"/>
              </a:xfrm>
              <a:prstGeom prst="rect">
                <a:avLst/>
              </a:prstGeom>
              <a:blipFill rotWithShape="0">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 name="Rectangle 39"/>
              <p:cNvSpPr/>
              <p:nvPr/>
            </p:nvSpPr>
            <p:spPr>
              <a:xfrm>
                <a:off x="3608890" y="4789367"/>
                <a:ext cx="742511" cy="56053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mr-IN" sz="1600" i="1" smtClean="0">
                              <a:latin typeface="Cambria Math" panose="02040503050406030204" pitchFamily="18" charset="0"/>
                            </a:rPr>
                          </m:ctrlPr>
                        </m:fPr>
                        <m:num>
                          <m:r>
                            <a:rPr lang="mr-IN" sz="1600" i="1">
                              <a:latin typeface="Cambria Math" charset="0"/>
                            </a:rPr>
                            <m:t>𝜕</m:t>
                          </m:r>
                          <m:r>
                            <m:rPr>
                              <m:nor/>
                            </m:rPr>
                            <a:rPr lang="en-US" sz="1600">
                              <a:latin typeface="Cambria Math" charset="0"/>
                            </a:rPr>
                            <m:t>mul</m:t>
                          </m:r>
                        </m:num>
                        <m:den>
                          <m:r>
                            <a:rPr lang="mr-IN" sz="1600" i="1">
                              <a:latin typeface="Cambria Math" charset="0"/>
                            </a:rPr>
                            <m:t>𝜕</m:t>
                          </m:r>
                          <m:r>
                            <a:rPr lang="en-US" sz="1600" b="0" i="1" smtClean="0">
                              <a:latin typeface="Cambria Math" charset="0"/>
                            </a:rPr>
                            <m:t>𝑊</m:t>
                          </m:r>
                        </m:den>
                      </m:f>
                    </m:oMath>
                  </m:oMathPara>
                </a14:m>
                <a:endParaRPr lang="en-US" sz="1600" dirty="0"/>
              </a:p>
            </p:txBody>
          </p:sp>
        </mc:Choice>
        <mc:Fallback xmlns="">
          <p:sp>
            <p:nvSpPr>
              <p:cNvPr id="40" name="Rectangle 39"/>
              <p:cNvSpPr>
                <a:spLocks noRot="1" noChangeAspect="1" noMove="1" noResize="1" noEditPoints="1" noAdjustHandles="1" noChangeArrowheads="1" noChangeShapeType="1" noTextEdit="1"/>
              </p:cNvSpPr>
              <p:nvPr/>
            </p:nvSpPr>
            <p:spPr>
              <a:xfrm>
                <a:off x="3608890" y="4789367"/>
                <a:ext cx="742511" cy="560538"/>
              </a:xfrm>
              <a:prstGeom prst="rect">
                <a:avLst/>
              </a:prstGeom>
              <a:blipFill rotWithShape="0">
                <a:blip r:embed="rId10"/>
                <a:stretch>
                  <a:fillRect/>
                </a:stretch>
              </a:blipFill>
            </p:spPr>
            <p:txBody>
              <a:bodyPr/>
              <a:lstStyle/>
              <a:p>
                <a:r>
                  <a:rPr lang="en-US">
                    <a:noFill/>
                  </a:rPr>
                  <a:t> </a:t>
                </a:r>
              </a:p>
            </p:txBody>
          </p:sp>
        </mc:Fallback>
      </mc:AlternateContent>
      <p:sp>
        <p:nvSpPr>
          <p:cNvPr id="39" name="Oval 38"/>
          <p:cNvSpPr/>
          <p:nvPr/>
        </p:nvSpPr>
        <p:spPr>
          <a:xfrm>
            <a:off x="3187202" y="4307946"/>
            <a:ext cx="574146" cy="574146"/>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wrap="none" rtlCol="0" anchor="ctr"/>
          <a:lstStyle/>
          <a:p>
            <a:pPr algn="ctr"/>
            <a:r>
              <a:rPr lang="en-US" sz="1600" dirty="0" smtClean="0">
                <a:solidFill>
                  <a:schemeClr val="tx2"/>
                </a:solidFill>
              </a:rPr>
              <a:t>X</a:t>
            </a:r>
            <a:endParaRPr lang="en-US" sz="1600" dirty="0">
              <a:solidFill>
                <a:schemeClr val="tx2"/>
              </a:solidFill>
            </a:endParaRPr>
          </a:p>
        </p:txBody>
      </p:sp>
      <p:sp>
        <p:nvSpPr>
          <p:cNvPr id="41" name="Oval 40"/>
          <p:cNvSpPr/>
          <p:nvPr/>
        </p:nvSpPr>
        <p:spPr>
          <a:xfrm>
            <a:off x="3187202" y="5456237"/>
            <a:ext cx="574146" cy="574146"/>
          </a:xfrm>
          <a:prstGeom prst="ellipse">
            <a:avLst/>
          </a:prstGeom>
          <a:ln>
            <a:solidFill>
              <a:schemeClr val="bg1"/>
            </a:solidFill>
          </a:ln>
        </p:spPr>
        <p:style>
          <a:lnRef idx="3">
            <a:schemeClr val="lt1"/>
          </a:lnRef>
          <a:fillRef idx="1">
            <a:schemeClr val="dk1"/>
          </a:fillRef>
          <a:effectRef idx="1">
            <a:schemeClr val="dk1"/>
          </a:effectRef>
          <a:fontRef idx="minor">
            <a:schemeClr val="lt1"/>
          </a:fontRef>
        </p:style>
        <p:txBody>
          <a:bodyPr wrap="none" rtlCol="0" anchor="ctr"/>
          <a:lstStyle/>
          <a:p>
            <a:pPr algn="ctr"/>
            <a:r>
              <a:rPr lang="en-US" sz="1600" dirty="0" smtClean="0">
                <a:solidFill>
                  <a:schemeClr val="bg1"/>
                </a:solidFill>
              </a:rPr>
              <a:t>W</a:t>
            </a:r>
          </a:p>
          <a:p>
            <a:pPr algn="ctr"/>
            <a:r>
              <a:rPr lang="en-US" sz="1600" dirty="0" err="1" smtClean="0">
                <a:solidFill>
                  <a:schemeClr val="bg1"/>
                </a:solidFill>
              </a:rPr>
              <a:t>var</a:t>
            </a:r>
            <a:endParaRPr lang="en-US" sz="1600" dirty="0">
              <a:solidFill>
                <a:schemeClr val="bg1"/>
              </a:solidFill>
            </a:endParaRPr>
          </a:p>
        </p:txBody>
      </p:sp>
      <p:sp>
        <p:nvSpPr>
          <p:cNvPr id="42" name="Oval 41"/>
          <p:cNvSpPr/>
          <p:nvPr/>
        </p:nvSpPr>
        <p:spPr>
          <a:xfrm>
            <a:off x="4586682" y="5456237"/>
            <a:ext cx="574146" cy="574146"/>
          </a:xfrm>
          <a:prstGeom prst="ellipse">
            <a:avLst/>
          </a:prstGeom>
        </p:spPr>
        <p:style>
          <a:lnRef idx="3">
            <a:schemeClr val="lt1"/>
          </a:lnRef>
          <a:fillRef idx="1">
            <a:schemeClr val="dk1"/>
          </a:fillRef>
          <a:effectRef idx="1">
            <a:schemeClr val="dk1"/>
          </a:effectRef>
          <a:fontRef idx="minor">
            <a:schemeClr val="lt1"/>
          </a:fontRef>
        </p:style>
        <p:txBody>
          <a:bodyPr wrap="none" rtlCol="0" anchor="ctr"/>
          <a:lstStyle/>
          <a:p>
            <a:pPr algn="ctr"/>
            <a:r>
              <a:rPr lang="en-US" sz="1600" dirty="0" smtClean="0">
                <a:solidFill>
                  <a:schemeClr val="bg1"/>
                </a:solidFill>
              </a:rPr>
              <a:t>b</a:t>
            </a:r>
          </a:p>
          <a:p>
            <a:pPr algn="ctr"/>
            <a:r>
              <a:rPr lang="en-US" sz="1600" dirty="0" err="1" smtClean="0">
                <a:solidFill>
                  <a:schemeClr val="bg1"/>
                </a:solidFill>
              </a:rPr>
              <a:t>var</a:t>
            </a:r>
            <a:endParaRPr lang="en-US" sz="1600" dirty="0">
              <a:solidFill>
                <a:schemeClr val="bg1"/>
              </a:solidFill>
            </a:endParaRPr>
          </a:p>
        </p:txBody>
      </p:sp>
      <p:sp>
        <p:nvSpPr>
          <p:cNvPr id="43" name="Oval 42"/>
          <p:cNvSpPr/>
          <p:nvPr/>
        </p:nvSpPr>
        <p:spPr>
          <a:xfrm>
            <a:off x="3187202" y="3124200"/>
            <a:ext cx="574146" cy="574146"/>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wrap="none" rtlCol="0" anchor="ctr"/>
          <a:lstStyle/>
          <a:p>
            <a:pPr algn="ctr"/>
            <a:r>
              <a:rPr lang="en-US" sz="1600" dirty="0" smtClean="0">
                <a:solidFill>
                  <a:schemeClr val="tx2"/>
                </a:solidFill>
              </a:rPr>
              <a:t>Y</a:t>
            </a:r>
            <a:endParaRPr lang="en-US" sz="1600" dirty="0">
              <a:solidFill>
                <a:schemeClr val="tx2"/>
              </a:solidFill>
            </a:endParaRPr>
          </a:p>
        </p:txBody>
      </p:sp>
    </p:spTree>
    <p:extLst>
      <p:ext uri="{BB962C8B-B14F-4D97-AF65-F5344CB8AC3E}">
        <p14:creationId xmlns:p14="http://schemas.microsoft.com/office/powerpoint/2010/main" val="65900321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7" name="Straight Arrow Connector 36"/>
          <p:cNvCxnSpPr>
            <a:cxnSpLocks/>
          </p:cNvCxnSpPr>
          <p:nvPr/>
        </p:nvCxnSpPr>
        <p:spPr>
          <a:xfrm flipV="1">
            <a:off x="9966616" y="5164321"/>
            <a:ext cx="540738" cy="968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normAutofit/>
          </a:bodyPr>
          <a:lstStyle/>
          <a:p>
            <a:r>
              <a:rPr lang="en-US" sz="2400" dirty="0" smtClean="0"/>
              <a:t>With respect to b:</a:t>
            </a:r>
            <a:endParaRPr lang="en-US" sz="2400" dirty="0"/>
          </a:p>
        </p:txBody>
      </p:sp>
      <p:cxnSp>
        <p:nvCxnSpPr>
          <p:cNvPr id="10" name="Straight Arrow Connector 9"/>
          <p:cNvCxnSpPr>
            <a:cxnSpLocks/>
          </p:cNvCxnSpPr>
          <p:nvPr/>
        </p:nvCxnSpPr>
        <p:spPr>
          <a:xfrm>
            <a:off x="2469520" y="4595019"/>
            <a:ext cx="717682"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a:cxnSpLocks/>
          </p:cNvCxnSpPr>
          <p:nvPr/>
        </p:nvCxnSpPr>
        <p:spPr>
          <a:xfrm>
            <a:off x="2469520" y="5743310"/>
            <a:ext cx="717682"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a:off x="3761348" y="4595019"/>
            <a:ext cx="825334"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a:cxnSpLocks/>
          </p:cNvCxnSpPr>
          <p:nvPr/>
        </p:nvCxnSpPr>
        <p:spPr>
          <a:xfrm flipV="1">
            <a:off x="3761348" y="4798010"/>
            <a:ext cx="909416" cy="94530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a:off x="5160828" y="4595019"/>
            <a:ext cx="801764" cy="371155"/>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flipV="1">
            <a:off x="5160828" y="5372156"/>
            <a:ext cx="801764" cy="371155"/>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cxnSpLocks/>
          </p:cNvCxnSpPr>
          <p:nvPr/>
        </p:nvCxnSpPr>
        <p:spPr>
          <a:xfrm>
            <a:off x="6452656" y="5169165"/>
            <a:ext cx="717682"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cxnSpLocks/>
          </p:cNvCxnSpPr>
          <p:nvPr/>
        </p:nvCxnSpPr>
        <p:spPr>
          <a:xfrm>
            <a:off x="2469520" y="3411273"/>
            <a:ext cx="717682"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20" name="Elbow Connector 19"/>
          <p:cNvCxnSpPr/>
          <p:nvPr/>
        </p:nvCxnSpPr>
        <p:spPr>
          <a:xfrm>
            <a:off x="3761348" y="3411274"/>
            <a:ext cx="3696063" cy="1458382"/>
          </a:xfrm>
          <a:prstGeom prst="bentConnector2">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22" name="Rounded Rectangle 21"/>
          <p:cNvSpPr/>
          <p:nvPr/>
        </p:nvSpPr>
        <p:spPr>
          <a:xfrm>
            <a:off x="6932612" y="4419600"/>
            <a:ext cx="3309308" cy="1407847"/>
          </a:xfrm>
          <a:prstGeom prst="roundRect">
            <a:avLst/>
          </a:prstGeom>
          <a:noFill/>
          <a:ln w="28575">
            <a:solidFill>
              <a:schemeClr val="accent5">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tIns="0" rtlCol="0" anchor="t" anchorCtr="0"/>
          <a:lstStyle/>
          <a:p>
            <a:pPr algn="ctr"/>
            <a:r>
              <a:rPr lang="en-US">
                <a:solidFill>
                  <a:schemeClr val="accent5">
                    <a:lumMod val="75000"/>
                  </a:schemeClr>
                </a:solidFill>
              </a:rPr>
              <a:t>c</a:t>
            </a:r>
            <a:r>
              <a:rPr lang="en-US" smtClean="0">
                <a:solidFill>
                  <a:schemeClr val="accent5">
                    <a:lumMod val="75000"/>
                  </a:schemeClr>
                </a:solidFill>
              </a:rPr>
              <a:t>ost (J</a:t>
            </a:r>
            <a:r>
              <a:rPr lang="en-US" dirty="0" smtClean="0">
                <a:solidFill>
                  <a:schemeClr val="accent5">
                    <a:lumMod val="75000"/>
                  </a:schemeClr>
                </a:solidFill>
              </a:rPr>
              <a:t>)</a:t>
            </a:r>
            <a:endParaRPr lang="en-US" dirty="0">
              <a:solidFill>
                <a:schemeClr val="accent5">
                  <a:lumMod val="75000"/>
                </a:schemeClr>
              </a:solidFill>
            </a:endParaRPr>
          </a:p>
        </p:txBody>
      </p:sp>
      <p:cxnSp>
        <p:nvCxnSpPr>
          <p:cNvPr id="24" name="Straight Arrow Connector 23"/>
          <p:cNvCxnSpPr>
            <a:cxnSpLocks/>
          </p:cNvCxnSpPr>
          <p:nvPr/>
        </p:nvCxnSpPr>
        <p:spPr>
          <a:xfrm flipV="1">
            <a:off x="7744484" y="5169165"/>
            <a:ext cx="540738" cy="968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35" name="Oval 34"/>
          <p:cNvSpPr/>
          <p:nvPr/>
        </p:nvSpPr>
        <p:spPr>
          <a:xfrm>
            <a:off x="9396022" y="4869656"/>
            <a:ext cx="574146" cy="574146"/>
          </a:xfrm>
          <a:prstGeom prst="ellipse">
            <a:avLst/>
          </a:prstGeom>
          <a:ln/>
        </p:spPr>
        <p:style>
          <a:lnRef idx="2">
            <a:schemeClr val="dk1">
              <a:shade val="50000"/>
            </a:schemeClr>
          </a:lnRef>
          <a:fillRef idx="1">
            <a:schemeClr val="dk1"/>
          </a:fillRef>
          <a:effectRef idx="0">
            <a:schemeClr val="dk1"/>
          </a:effectRef>
          <a:fontRef idx="minor">
            <a:schemeClr val="lt1"/>
          </a:fontRef>
        </p:style>
        <p:txBody>
          <a:bodyPr wrap="none" rtlCol="0" anchor="ctr"/>
          <a:lstStyle/>
          <a:p>
            <a:pPr algn="ctr"/>
            <a:r>
              <a:rPr lang="en-US" sz="1600" smtClean="0">
                <a:solidFill>
                  <a:schemeClr val="bg1"/>
                </a:solidFill>
              </a:rPr>
              <a:t>sum</a:t>
            </a:r>
            <a:endParaRPr lang="en-US" sz="1600" dirty="0">
              <a:solidFill>
                <a:schemeClr val="bg1"/>
              </a:solidFill>
            </a:endParaRPr>
          </a:p>
        </p:txBody>
      </p:sp>
      <p:cxnSp>
        <p:nvCxnSpPr>
          <p:cNvPr id="36" name="Straight Arrow Connector 35"/>
          <p:cNvCxnSpPr>
            <a:cxnSpLocks/>
          </p:cNvCxnSpPr>
          <p:nvPr/>
        </p:nvCxnSpPr>
        <p:spPr>
          <a:xfrm flipV="1">
            <a:off x="8866858" y="5169165"/>
            <a:ext cx="540738" cy="968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27" name="Oval 26"/>
          <p:cNvSpPr/>
          <p:nvPr/>
        </p:nvSpPr>
        <p:spPr>
          <a:xfrm>
            <a:off x="8282745" y="4869656"/>
            <a:ext cx="574146" cy="574146"/>
          </a:xfrm>
          <a:prstGeom prst="ellipse">
            <a:avLst/>
          </a:prstGeom>
          <a:solidFill>
            <a:srgbClr val="197709"/>
          </a:solidFill>
          <a:ln>
            <a:solidFill>
              <a:schemeClr val="accent2">
                <a:lumMod val="50000"/>
              </a:schemeClr>
            </a:solidFill>
          </a:ln>
        </p:spPr>
        <p:style>
          <a:lnRef idx="2">
            <a:schemeClr val="accent4">
              <a:shade val="50000"/>
            </a:schemeClr>
          </a:lnRef>
          <a:fillRef idx="1">
            <a:schemeClr val="accent4"/>
          </a:fillRef>
          <a:effectRef idx="0">
            <a:schemeClr val="accent4"/>
          </a:effectRef>
          <a:fontRef idx="minor">
            <a:schemeClr val="lt1"/>
          </a:fontRef>
        </p:style>
        <p:txBody>
          <a:bodyPr wrap="none" rtlCol="0" anchor="ctr"/>
          <a:lstStyle/>
          <a:p>
            <a:pPr algn="ctr"/>
            <a:r>
              <a:rPr lang="en-US" sz="1400" dirty="0" smtClean="0">
                <a:solidFill>
                  <a:schemeClr val="bg1"/>
                </a:solidFill>
              </a:rPr>
              <a:t>square</a:t>
            </a:r>
            <a:endParaRPr lang="en-US" sz="1400" dirty="0">
              <a:solidFill>
                <a:schemeClr val="bg1"/>
              </a:solidFill>
            </a:endParaRPr>
          </a:p>
        </p:txBody>
      </p:sp>
      <mc:AlternateContent xmlns:mc="http://schemas.openxmlformats.org/markup-compatibility/2006" xmlns:a14="http://schemas.microsoft.com/office/drawing/2010/main">
        <mc:Choice Requires="a14">
          <p:sp>
            <p:nvSpPr>
              <p:cNvPr id="30" name="TextBox 29"/>
              <p:cNvSpPr txBox="1"/>
              <p:nvPr/>
            </p:nvSpPr>
            <p:spPr>
              <a:xfrm>
                <a:off x="9363566" y="3866651"/>
                <a:ext cx="857286" cy="50969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mr-IN" sz="1600" i="1" smtClean="0">
                              <a:latin typeface="Cambria Math" panose="02040503050406030204" pitchFamily="18" charset="0"/>
                            </a:rPr>
                          </m:ctrlPr>
                        </m:fPr>
                        <m:num>
                          <m:r>
                            <a:rPr lang="mr-IN" sz="1600" i="1" smtClean="0">
                              <a:latin typeface="Cambria Math" charset="0"/>
                            </a:rPr>
                            <m:t>𝜕</m:t>
                          </m:r>
                          <m:r>
                            <a:rPr lang="en-US" sz="1600" b="0" i="1" smtClean="0">
                              <a:latin typeface="Cambria Math" charset="0"/>
                            </a:rPr>
                            <m:t>𝑠𝑢𝑚</m:t>
                          </m:r>
                        </m:num>
                        <m:den>
                          <m:r>
                            <a:rPr lang="mr-IN" sz="1600" i="1" smtClean="0">
                              <a:latin typeface="Cambria Math" charset="0"/>
                            </a:rPr>
                            <m:t>𝜕</m:t>
                          </m:r>
                          <m:r>
                            <a:rPr lang="en-US" sz="1600" b="0" i="1" smtClean="0">
                              <a:latin typeface="Cambria Math" charset="0"/>
                            </a:rPr>
                            <m:t>𝑠𝑞𝑢𝑎𝑟𝑒</m:t>
                          </m:r>
                        </m:den>
                      </m:f>
                    </m:oMath>
                  </m:oMathPara>
                </a14:m>
                <a:endParaRPr lang="en-US" sz="2800" dirty="0"/>
              </a:p>
            </p:txBody>
          </p:sp>
        </mc:Choice>
        <mc:Fallback xmlns="">
          <p:sp>
            <p:nvSpPr>
              <p:cNvPr id="30" name="TextBox 29"/>
              <p:cNvSpPr txBox="1">
                <a:spLocks noRot="1" noChangeAspect="1" noMove="1" noResize="1" noEditPoints="1" noAdjustHandles="1" noChangeArrowheads="1" noChangeShapeType="1" noTextEdit="1"/>
              </p:cNvSpPr>
              <p:nvPr/>
            </p:nvSpPr>
            <p:spPr>
              <a:xfrm>
                <a:off x="9363566" y="3866651"/>
                <a:ext cx="857286" cy="509691"/>
              </a:xfrm>
              <a:prstGeom prst="rect">
                <a:avLst/>
              </a:prstGeom>
              <a:blipFill rotWithShape="0">
                <a:blip r:embed="rId3"/>
                <a:stretch>
                  <a:fillRect/>
                </a:stretch>
              </a:blipFill>
            </p:spPr>
            <p:txBody>
              <a:bodyPr/>
              <a:lstStyle/>
              <a:p>
                <a:r>
                  <a:rPr lang="en-US">
                    <a:noFill/>
                  </a:rPr>
                  <a:t> </a:t>
                </a:r>
              </a:p>
            </p:txBody>
          </p:sp>
        </mc:Fallback>
      </mc:AlternateContent>
      <p:sp>
        <p:nvSpPr>
          <p:cNvPr id="28" name="Oval 27"/>
          <p:cNvSpPr/>
          <p:nvPr/>
        </p:nvSpPr>
        <p:spPr>
          <a:xfrm>
            <a:off x="7170338" y="4869656"/>
            <a:ext cx="574146" cy="574146"/>
          </a:xfrm>
          <a:prstGeom prst="ellipse">
            <a:avLst/>
          </a:prstGeom>
          <a:solidFill>
            <a:schemeClr val="accent5">
              <a:lumMod val="60000"/>
              <a:lumOff val="40000"/>
            </a:schemeClr>
          </a:solidFill>
          <a:ln>
            <a:solidFill>
              <a:schemeClr val="accent5">
                <a:lumMod val="75000"/>
              </a:schemeClr>
            </a:solidFill>
          </a:ln>
        </p:spPr>
        <p:style>
          <a:lnRef idx="2">
            <a:schemeClr val="accent4">
              <a:shade val="50000"/>
            </a:schemeClr>
          </a:lnRef>
          <a:fillRef idx="1">
            <a:schemeClr val="accent4"/>
          </a:fillRef>
          <a:effectRef idx="0">
            <a:schemeClr val="accent4"/>
          </a:effectRef>
          <a:fontRef idx="minor">
            <a:schemeClr val="lt1"/>
          </a:fontRef>
        </p:style>
        <p:txBody>
          <a:bodyPr wrap="none" rtlCol="0" anchor="ctr"/>
          <a:lstStyle/>
          <a:p>
            <a:pPr algn="ctr"/>
            <a:r>
              <a:rPr lang="en-US" sz="1600" dirty="0" smtClean="0">
                <a:solidFill>
                  <a:schemeClr val="tx2"/>
                </a:solidFill>
              </a:rPr>
              <a:t>minus</a:t>
            </a:r>
            <a:endParaRPr lang="en-US" sz="1600" dirty="0">
              <a:solidFill>
                <a:schemeClr val="tx2"/>
              </a:solidFill>
            </a:endParaRPr>
          </a:p>
        </p:txBody>
      </p:sp>
      <mc:AlternateContent xmlns:mc="http://schemas.openxmlformats.org/markup-compatibility/2006" xmlns:a14="http://schemas.microsoft.com/office/drawing/2010/main">
        <mc:Choice Requires="a14">
          <p:sp>
            <p:nvSpPr>
              <p:cNvPr id="33" name="Rectangle 32"/>
              <p:cNvSpPr/>
              <p:nvPr/>
            </p:nvSpPr>
            <p:spPr>
              <a:xfrm>
                <a:off x="8031557" y="3842927"/>
                <a:ext cx="1000594" cy="56053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mr-IN" sz="1600" i="1" smtClean="0">
                              <a:latin typeface="Cambria Math" panose="02040503050406030204" pitchFamily="18" charset="0"/>
                            </a:rPr>
                          </m:ctrlPr>
                        </m:fPr>
                        <m:num>
                          <m:r>
                            <a:rPr lang="mr-IN" sz="1600" i="1">
                              <a:latin typeface="Cambria Math" charset="0"/>
                            </a:rPr>
                            <m:t>𝜕</m:t>
                          </m:r>
                          <m:r>
                            <m:rPr>
                              <m:nor/>
                            </m:rPr>
                            <a:rPr lang="en-US" sz="1600">
                              <a:latin typeface="Cambria Math" charset="0"/>
                            </a:rPr>
                            <m:t>square</m:t>
                          </m:r>
                        </m:num>
                        <m:den>
                          <m:r>
                            <a:rPr lang="mr-IN" sz="1600" i="1">
                              <a:latin typeface="Cambria Math" charset="0"/>
                            </a:rPr>
                            <m:t>𝜕</m:t>
                          </m:r>
                          <m:r>
                            <a:rPr lang="en-US" sz="1600" b="0" i="1" smtClean="0">
                              <a:latin typeface="Cambria Math" charset="0"/>
                            </a:rPr>
                            <m:t>𝑚𝑖𝑛𝑢𝑠</m:t>
                          </m:r>
                        </m:den>
                      </m:f>
                    </m:oMath>
                  </m:oMathPara>
                </a14:m>
                <a:endParaRPr lang="en-US" sz="1600" dirty="0"/>
              </a:p>
            </p:txBody>
          </p:sp>
        </mc:Choice>
        <mc:Fallback xmlns="">
          <p:sp>
            <p:nvSpPr>
              <p:cNvPr id="33" name="Rectangle 32"/>
              <p:cNvSpPr>
                <a:spLocks noRot="1" noChangeAspect="1" noMove="1" noResize="1" noEditPoints="1" noAdjustHandles="1" noChangeArrowheads="1" noChangeShapeType="1" noTextEdit="1"/>
              </p:cNvSpPr>
              <p:nvPr/>
            </p:nvSpPr>
            <p:spPr>
              <a:xfrm>
                <a:off x="8031557" y="3842927"/>
                <a:ext cx="1000594" cy="560538"/>
              </a:xfrm>
              <a:prstGeom prst="rect">
                <a:avLst/>
              </a:prstGeom>
              <a:blipFill rotWithShape="0">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Rectangle 30"/>
              <p:cNvSpPr/>
              <p:nvPr/>
            </p:nvSpPr>
            <p:spPr>
              <a:xfrm>
                <a:off x="6281917" y="4069394"/>
                <a:ext cx="946092" cy="56053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mr-IN" sz="1600" i="1" smtClean="0">
                              <a:latin typeface="Cambria Math" panose="02040503050406030204" pitchFamily="18" charset="0"/>
                            </a:rPr>
                          </m:ctrlPr>
                        </m:fPr>
                        <m:num>
                          <m:r>
                            <a:rPr lang="mr-IN" sz="1600" i="1">
                              <a:latin typeface="Cambria Math" charset="0"/>
                            </a:rPr>
                            <m:t>𝜕</m:t>
                          </m:r>
                          <m:r>
                            <m:rPr>
                              <m:nor/>
                            </m:rPr>
                            <a:rPr lang="en-US" sz="1600" b="0" i="0" smtClean="0">
                              <a:latin typeface="Cambria Math" charset="0"/>
                            </a:rPr>
                            <m:t>minus</m:t>
                          </m:r>
                        </m:num>
                        <m:den>
                          <m:r>
                            <a:rPr lang="mr-IN" sz="1600" i="1">
                              <a:latin typeface="Cambria Math" charset="0"/>
                            </a:rPr>
                            <m:t>𝜕</m:t>
                          </m:r>
                          <m:r>
                            <a:rPr lang="en-US" sz="1600" b="0" i="1" smtClean="0">
                              <a:latin typeface="Cambria Math" charset="0"/>
                            </a:rPr>
                            <m:t>𝑎𝑑𝑑</m:t>
                          </m:r>
                        </m:den>
                      </m:f>
                    </m:oMath>
                  </m:oMathPara>
                </a14:m>
                <a:endParaRPr lang="en-US" sz="1600" dirty="0"/>
              </a:p>
            </p:txBody>
          </p:sp>
        </mc:Choice>
        <mc:Fallback xmlns="">
          <p:sp>
            <p:nvSpPr>
              <p:cNvPr id="31" name="Rectangle 30"/>
              <p:cNvSpPr>
                <a:spLocks noRot="1" noChangeAspect="1" noMove="1" noResize="1" noEditPoints="1" noAdjustHandles="1" noChangeArrowheads="1" noChangeShapeType="1" noTextEdit="1"/>
              </p:cNvSpPr>
              <p:nvPr/>
            </p:nvSpPr>
            <p:spPr>
              <a:xfrm>
                <a:off x="6281917" y="4069394"/>
                <a:ext cx="946092" cy="560538"/>
              </a:xfrm>
              <a:prstGeom prst="rect">
                <a:avLst/>
              </a:prstGeom>
              <a:blipFill rotWithShape="0">
                <a:blip r:embed="rId5"/>
                <a:stretch>
                  <a:fillRect/>
                </a:stretch>
              </a:blipFill>
            </p:spPr>
            <p:txBody>
              <a:bodyPr/>
              <a:lstStyle/>
              <a:p>
                <a:r>
                  <a:rPr lang="en-US">
                    <a:noFill/>
                  </a:rPr>
                  <a:t> </a:t>
                </a:r>
              </a:p>
            </p:txBody>
          </p:sp>
        </mc:Fallback>
      </mc:AlternateContent>
      <p:sp>
        <p:nvSpPr>
          <p:cNvPr id="34" name="Oval 33"/>
          <p:cNvSpPr/>
          <p:nvPr/>
        </p:nvSpPr>
        <p:spPr>
          <a:xfrm>
            <a:off x="5878510" y="4882092"/>
            <a:ext cx="574146" cy="574146"/>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wrap="none" rtlCol="0" anchor="ctr"/>
          <a:lstStyle/>
          <a:p>
            <a:pPr algn="ctr"/>
            <a:r>
              <a:rPr lang="en-US" sz="1600" dirty="0" smtClean="0">
                <a:solidFill>
                  <a:schemeClr val="tx2"/>
                </a:solidFill>
              </a:rPr>
              <a:t>add</a:t>
            </a:r>
            <a:endParaRPr lang="en-US" sz="1600" dirty="0">
              <a:solidFill>
                <a:schemeClr val="tx2"/>
              </a:solidFill>
            </a:endParaRPr>
          </a:p>
        </p:txBody>
      </p:sp>
      <mc:AlternateContent xmlns:mc="http://schemas.openxmlformats.org/markup-compatibility/2006" xmlns:a14="http://schemas.microsoft.com/office/drawing/2010/main">
        <mc:Choice Requires="a14">
          <p:sp>
            <p:nvSpPr>
              <p:cNvPr id="9" name="Rectangle 8"/>
              <p:cNvSpPr/>
              <p:nvPr/>
            </p:nvSpPr>
            <p:spPr>
              <a:xfrm>
                <a:off x="4962634" y="4945166"/>
                <a:ext cx="729687" cy="56053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mr-IN" sz="1600" i="1" smtClean="0">
                              <a:latin typeface="Cambria Math" panose="02040503050406030204" pitchFamily="18" charset="0"/>
                            </a:rPr>
                          </m:ctrlPr>
                        </m:fPr>
                        <m:num>
                          <m:r>
                            <a:rPr lang="mr-IN" sz="1600" i="1">
                              <a:latin typeface="Cambria Math" charset="0"/>
                            </a:rPr>
                            <m:t>𝜕</m:t>
                          </m:r>
                          <m:r>
                            <m:rPr>
                              <m:nor/>
                            </m:rPr>
                            <a:rPr lang="en-US" sz="1600">
                              <a:latin typeface="Cambria Math" charset="0"/>
                            </a:rPr>
                            <m:t>add</m:t>
                          </m:r>
                        </m:num>
                        <m:den>
                          <m:r>
                            <a:rPr lang="mr-IN" sz="1600" i="1">
                              <a:latin typeface="Cambria Math" charset="0"/>
                            </a:rPr>
                            <m:t>𝜕</m:t>
                          </m:r>
                          <m:r>
                            <a:rPr lang="en-US" sz="1600" b="0" i="1" smtClean="0">
                              <a:latin typeface="Cambria Math" charset="0"/>
                            </a:rPr>
                            <m:t>𝑏</m:t>
                          </m:r>
                        </m:den>
                      </m:f>
                    </m:oMath>
                  </m:oMathPara>
                </a14:m>
                <a:endParaRPr lang="en-US" sz="1600" dirty="0"/>
              </a:p>
            </p:txBody>
          </p:sp>
        </mc:Choice>
        <mc:Fallback xmlns="">
          <p:sp>
            <p:nvSpPr>
              <p:cNvPr id="9" name="Rectangle 8"/>
              <p:cNvSpPr>
                <a:spLocks noRot="1" noChangeAspect="1" noMove="1" noResize="1" noEditPoints="1" noAdjustHandles="1" noChangeArrowheads="1" noChangeShapeType="1" noTextEdit="1"/>
              </p:cNvSpPr>
              <p:nvPr/>
            </p:nvSpPr>
            <p:spPr>
              <a:xfrm>
                <a:off x="4962634" y="4945166"/>
                <a:ext cx="729687" cy="560538"/>
              </a:xfrm>
              <a:prstGeom prst="rect">
                <a:avLst/>
              </a:prstGeom>
              <a:blipFill rotWithShape="0">
                <a:blip r:embed="rId6"/>
                <a:stretch>
                  <a:fillRect/>
                </a:stretch>
              </a:blipFill>
            </p:spPr>
            <p:txBody>
              <a:bodyPr/>
              <a:lstStyle/>
              <a:p>
                <a:r>
                  <a:rPr lang="en-US">
                    <a:noFill/>
                  </a:rPr>
                  <a:t> </a:t>
                </a:r>
              </a:p>
            </p:txBody>
          </p:sp>
        </mc:Fallback>
      </mc:AlternateContent>
      <p:sp>
        <p:nvSpPr>
          <p:cNvPr id="38" name="Oval 37"/>
          <p:cNvSpPr/>
          <p:nvPr/>
        </p:nvSpPr>
        <p:spPr>
          <a:xfrm>
            <a:off x="4586682" y="4307946"/>
            <a:ext cx="574146" cy="574146"/>
          </a:xfrm>
          <a:prstGeom prst="ellipse">
            <a:avLst/>
          </a:prstGeom>
          <a:solidFill>
            <a:schemeClr val="bg1">
              <a:lumMod val="75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wrap="none" rtlCol="0" anchor="ctr"/>
          <a:lstStyle/>
          <a:p>
            <a:pPr algn="ctr"/>
            <a:endParaRPr lang="en-US" sz="1600" dirty="0">
              <a:solidFill>
                <a:schemeClr val="tx2"/>
              </a:solidFill>
            </a:endParaRPr>
          </a:p>
        </p:txBody>
      </p:sp>
      <p:sp>
        <p:nvSpPr>
          <p:cNvPr id="39" name="Oval 38"/>
          <p:cNvSpPr/>
          <p:nvPr/>
        </p:nvSpPr>
        <p:spPr>
          <a:xfrm>
            <a:off x="3187202" y="4307946"/>
            <a:ext cx="574146" cy="574146"/>
          </a:xfrm>
          <a:prstGeom prst="ellipse">
            <a:avLst/>
          </a:prstGeom>
          <a:solidFill>
            <a:schemeClr val="bg1">
              <a:lumMod val="75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wrap="none" rtlCol="0" anchor="ctr"/>
          <a:lstStyle/>
          <a:p>
            <a:pPr algn="ctr"/>
            <a:endParaRPr lang="en-US" sz="1600" dirty="0">
              <a:solidFill>
                <a:schemeClr val="tx2"/>
              </a:solidFill>
            </a:endParaRPr>
          </a:p>
        </p:txBody>
      </p:sp>
      <p:sp>
        <p:nvSpPr>
          <p:cNvPr id="41" name="Oval 40"/>
          <p:cNvSpPr/>
          <p:nvPr/>
        </p:nvSpPr>
        <p:spPr>
          <a:xfrm>
            <a:off x="3187202" y="5456237"/>
            <a:ext cx="574146" cy="574146"/>
          </a:xfrm>
          <a:prstGeom prst="ellipse">
            <a:avLst/>
          </a:prstGeom>
          <a:solidFill>
            <a:schemeClr val="bg1">
              <a:lumMod val="75000"/>
            </a:schemeClr>
          </a:solidFill>
          <a:ln>
            <a:noFill/>
          </a:ln>
        </p:spPr>
        <p:style>
          <a:lnRef idx="3">
            <a:schemeClr val="lt1"/>
          </a:lnRef>
          <a:fillRef idx="1">
            <a:schemeClr val="dk1"/>
          </a:fillRef>
          <a:effectRef idx="1">
            <a:schemeClr val="dk1"/>
          </a:effectRef>
          <a:fontRef idx="minor">
            <a:schemeClr val="lt1"/>
          </a:fontRef>
        </p:style>
        <p:txBody>
          <a:bodyPr wrap="none" rtlCol="0" anchor="ctr"/>
          <a:lstStyle/>
          <a:p>
            <a:pPr algn="ctr"/>
            <a:endParaRPr lang="en-US" sz="1600" dirty="0">
              <a:solidFill>
                <a:schemeClr val="bg1"/>
              </a:solidFill>
            </a:endParaRPr>
          </a:p>
        </p:txBody>
      </p:sp>
      <p:sp>
        <p:nvSpPr>
          <p:cNvPr id="42" name="Oval 41"/>
          <p:cNvSpPr/>
          <p:nvPr/>
        </p:nvSpPr>
        <p:spPr>
          <a:xfrm>
            <a:off x="4586682" y="5456237"/>
            <a:ext cx="574146" cy="574146"/>
          </a:xfrm>
          <a:prstGeom prst="ellipse">
            <a:avLst/>
          </a:prstGeom>
        </p:spPr>
        <p:style>
          <a:lnRef idx="3">
            <a:schemeClr val="lt1"/>
          </a:lnRef>
          <a:fillRef idx="1">
            <a:schemeClr val="dk1"/>
          </a:fillRef>
          <a:effectRef idx="1">
            <a:schemeClr val="dk1"/>
          </a:effectRef>
          <a:fontRef idx="minor">
            <a:schemeClr val="lt1"/>
          </a:fontRef>
        </p:style>
        <p:txBody>
          <a:bodyPr wrap="none" rtlCol="0" anchor="ctr"/>
          <a:lstStyle/>
          <a:p>
            <a:pPr algn="ctr"/>
            <a:r>
              <a:rPr lang="en-US" sz="1600" dirty="0" smtClean="0">
                <a:solidFill>
                  <a:schemeClr val="bg1"/>
                </a:solidFill>
              </a:rPr>
              <a:t>b</a:t>
            </a:r>
          </a:p>
          <a:p>
            <a:pPr algn="ctr"/>
            <a:r>
              <a:rPr lang="en-US" sz="1600" dirty="0" err="1" smtClean="0">
                <a:solidFill>
                  <a:schemeClr val="bg1"/>
                </a:solidFill>
              </a:rPr>
              <a:t>var</a:t>
            </a:r>
            <a:endParaRPr lang="en-US" sz="1600" dirty="0">
              <a:solidFill>
                <a:schemeClr val="bg1"/>
              </a:solidFill>
            </a:endParaRPr>
          </a:p>
        </p:txBody>
      </p:sp>
      <p:sp>
        <p:nvSpPr>
          <p:cNvPr id="43" name="Oval 42"/>
          <p:cNvSpPr/>
          <p:nvPr/>
        </p:nvSpPr>
        <p:spPr>
          <a:xfrm>
            <a:off x="3187202" y="3124200"/>
            <a:ext cx="574146" cy="574146"/>
          </a:xfrm>
          <a:prstGeom prst="ellipse">
            <a:avLst/>
          </a:prstGeom>
          <a:solidFill>
            <a:schemeClr val="bg1">
              <a:lumMod val="75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wrap="none" rtlCol="0" anchor="ctr"/>
          <a:lstStyle/>
          <a:p>
            <a:pPr algn="ctr"/>
            <a:endParaRPr lang="en-US" sz="1600" dirty="0">
              <a:solidFill>
                <a:schemeClr val="tx2"/>
              </a:solidFill>
            </a:endParaRPr>
          </a:p>
        </p:txBody>
      </p:sp>
      <mc:AlternateContent xmlns:mc="http://schemas.openxmlformats.org/markup-compatibility/2006" xmlns:a14="http://schemas.microsoft.com/office/drawing/2010/main">
        <mc:Choice Requires="a14">
          <p:sp>
            <p:nvSpPr>
              <p:cNvPr id="5" name="TextBox 4"/>
              <p:cNvSpPr txBox="1"/>
              <p:nvPr/>
            </p:nvSpPr>
            <p:spPr>
              <a:xfrm>
                <a:off x="2468353" y="1784949"/>
                <a:ext cx="7394460" cy="76450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charset="0"/>
                        </a:rPr>
                        <m:t>𝐽</m:t>
                      </m:r>
                      <m:r>
                        <a:rPr lang="en-US" sz="2400" b="0" i="1" smtClean="0">
                          <a:latin typeface="Cambria Math" charset="0"/>
                        </a:rPr>
                        <m:t>=</m:t>
                      </m:r>
                      <m:r>
                        <a:rPr lang="en-US" sz="2400" b="0" i="1" smtClean="0">
                          <a:latin typeface="Cambria Math" charset="0"/>
                        </a:rPr>
                        <m:t>𝑠𝑢𝑚</m:t>
                      </m:r>
                      <m:r>
                        <a:rPr lang="en-US" sz="2400" b="0" i="1" smtClean="0">
                          <a:latin typeface="Cambria Math" charset="0"/>
                        </a:rPr>
                        <m:t>;   </m:t>
                      </m:r>
                      <m:f>
                        <m:fPr>
                          <m:ctrlPr>
                            <a:rPr lang="mr-IN" sz="2400" b="0" i="1" smtClean="0">
                              <a:latin typeface="Cambria Math" panose="02040503050406030204" pitchFamily="18" charset="0"/>
                            </a:rPr>
                          </m:ctrlPr>
                        </m:fPr>
                        <m:num>
                          <m:r>
                            <a:rPr lang="mr-IN" sz="2400" b="0" i="1" smtClean="0">
                              <a:latin typeface="Cambria Math" charset="0"/>
                            </a:rPr>
                            <m:t>𝜕</m:t>
                          </m:r>
                          <m:r>
                            <a:rPr lang="en-US" sz="2400" b="0" i="1" smtClean="0">
                              <a:latin typeface="Cambria Math" charset="0"/>
                            </a:rPr>
                            <m:t>𝑠𝑢𝑚</m:t>
                          </m:r>
                        </m:num>
                        <m:den>
                          <m:r>
                            <a:rPr lang="mr-IN" sz="2400" b="0" i="1" smtClean="0">
                              <a:latin typeface="Cambria Math" charset="0"/>
                            </a:rPr>
                            <m:t>𝜕</m:t>
                          </m:r>
                          <m:r>
                            <a:rPr lang="en-US" sz="2400" b="0" i="1" smtClean="0">
                              <a:latin typeface="Cambria Math" charset="0"/>
                            </a:rPr>
                            <m:t>𝑏</m:t>
                          </m:r>
                        </m:den>
                      </m:f>
                      <m:r>
                        <a:rPr lang="en-US" sz="2400" b="0" i="1" smtClean="0">
                          <a:latin typeface="Cambria Math" charset="0"/>
                        </a:rPr>
                        <m:t>=</m:t>
                      </m:r>
                      <m:f>
                        <m:fPr>
                          <m:ctrlPr>
                            <a:rPr lang="mr-IN" sz="2400" i="1">
                              <a:latin typeface="Cambria Math" panose="02040503050406030204" pitchFamily="18" charset="0"/>
                            </a:rPr>
                          </m:ctrlPr>
                        </m:fPr>
                        <m:num>
                          <m:r>
                            <a:rPr lang="mr-IN" sz="2400" i="1">
                              <a:latin typeface="Cambria Math" charset="0"/>
                            </a:rPr>
                            <m:t>𝜕</m:t>
                          </m:r>
                          <m:r>
                            <a:rPr lang="en-US" sz="2400" i="1">
                              <a:latin typeface="Cambria Math" charset="0"/>
                            </a:rPr>
                            <m:t>𝑠𝑢𝑚</m:t>
                          </m:r>
                        </m:num>
                        <m:den>
                          <m:r>
                            <a:rPr lang="mr-IN" sz="2400" i="1">
                              <a:latin typeface="Cambria Math" charset="0"/>
                            </a:rPr>
                            <m:t>𝜕</m:t>
                          </m:r>
                          <m:r>
                            <a:rPr lang="en-US" sz="2400" i="1">
                              <a:latin typeface="Cambria Math" charset="0"/>
                            </a:rPr>
                            <m:t>𝑠𝑞𝑢𝑎𝑟𝑒</m:t>
                          </m:r>
                        </m:den>
                      </m:f>
                      <m:r>
                        <a:rPr lang="en-US" sz="2400" b="0" i="1" smtClean="0">
                          <a:latin typeface="Cambria Math" charset="0"/>
                        </a:rPr>
                        <m:t> ∙</m:t>
                      </m:r>
                      <m:f>
                        <m:fPr>
                          <m:ctrlPr>
                            <a:rPr lang="mr-IN" sz="2400" i="1">
                              <a:latin typeface="Cambria Math" panose="02040503050406030204" pitchFamily="18" charset="0"/>
                            </a:rPr>
                          </m:ctrlPr>
                        </m:fPr>
                        <m:num>
                          <m:r>
                            <a:rPr lang="mr-IN" sz="2400" i="1">
                              <a:latin typeface="Cambria Math" charset="0"/>
                            </a:rPr>
                            <m:t>𝜕</m:t>
                          </m:r>
                          <m:r>
                            <m:rPr>
                              <m:nor/>
                            </m:rPr>
                            <a:rPr lang="en-US" sz="2400">
                              <a:latin typeface="Cambria Math" charset="0"/>
                            </a:rPr>
                            <m:t>square</m:t>
                          </m:r>
                        </m:num>
                        <m:den>
                          <m:r>
                            <a:rPr lang="mr-IN" sz="2400" i="1">
                              <a:latin typeface="Cambria Math" charset="0"/>
                            </a:rPr>
                            <m:t>𝜕</m:t>
                          </m:r>
                          <m:r>
                            <a:rPr lang="en-US" sz="2400" i="1">
                              <a:latin typeface="Cambria Math" charset="0"/>
                            </a:rPr>
                            <m:t>𝑚𝑖𝑛𝑢𝑠</m:t>
                          </m:r>
                        </m:den>
                      </m:f>
                      <m:r>
                        <a:rPr lang="en-US" sz="2400" b="0" i="1" smtClean="0">
                          <a:latin typeface="Cambria Math" charset="0"/>
                        </a:rPr>
                        <m:t>∙</m:t>
                      </m:r>
                      <m:f>
                        <m:fPr>
                          <m:ctrlPr>
                            <a:rPr lang="mr-IN" sz="2400" i="1">
                              <a:latin typeface="Cambria Math" panose="02040503050406030204" pitchFamily="18" charset="0"/>
                            </a:rPr>
                          </m:ctrlPr>
                        </m:fPr>
                        <m:num>
                          <m:r>
                            <a:rPr lang="mr-IN" sz="2400" i="1">
                              <a:latin typeface="Cambria Math" charset="0"/>
                            </a:rPr>
                            <m:t>𝜕</m:t>
                          </m:r>
                          <m:r>
                            <m:rPr>
                              <m:nor/>
                            </m:rPr>
                            <a:rPr lang="en-US" sz="2400">
                              <a:latin typeface="Cambria Math" charset="0"/>
                            </a:rPr>
                            <m:t>minus</m:t>
                          </m:r>
                        </m:num>
                        <m:den>
                          <m:r>
                            <a:rPr lang="mr-IN" sz="2400" i="1">
                              <a:latin typeface="Cambria Math" charset="0"/>
                            </a:rPr>
                            <m:t>𝜕</m:t>
                          </m:r>
                          <m:r>
                            <a:rPr lang="en-US" sz="2400" i="1">
                              <a:latin typeface="Cambria Math" charset="0"/>
                            </a:rPr>
                            <m:t>𝑎𝑑𝑑</m:t>
                          </m:r>
                        </m:den>
                      </m:f>
                      <m:r>
                        <a:rPr lang="en-US" sz="2400" b="0" i="1" smtClean="0">
                          <a:latin typeface="Cambria Math" charset="0"/>
                        </a:rPr>
                        <m:t>∙</m:t>
                      </m:r>
                      <m:f>
                        <m:fPr>
                          <m:ctrlPr>
                            <a:rPr lang="mr-IN" sz="2400" i="1">
                              <a:latin typeface="Cambria Math" panose="02040503050406030204" pitchFamily="18" charset="0"/>
                            </a:rPr>
                          </m:ctrlPr>
                        </m:fPr>
                        <m:num>
                          <m:r>
                            <a:rPr lang="mr-IN" sz="2400" i="1">
                              <a:latin typeface="Cambria Math" charset="0"/>
                            </a:rPr>
                            <m:t>𝜕</m:t>
                          </m:r>
                          <m:r>
                            <m:rPr>
                              <m:nor/>
                            </m:rPr>
                            <a:rPr lang="en-US" sz="2400">
                              <a:latin typeface="Cambria Math" charset="0"/>
                            </a:rPr>
                            <m:t>add</m:t>
                          </m:r>
                        </m:num>
                        <m:den>
                          <m:r>
                            <a:rPr lang="mr-IN" sz="2400" i="1">
                              <a:latin typeface="Cambria Math" charset="0"/>
                            </a:rPr>
                            <m:t>𝜕</m:t>
                          </m:r>
                          <m:r>
                            <a:rPr lang="en-US" sz="2400" i="1">
                              <a:latin typeface="Cambria Math" charset="0"/>
                            </a:rPr>
                            <m:t>𝑏</m:t>
                          </m:r>
                        </m:den>
                      </m:f>
                    </m:oMath>
                  </m:oMathPara>
                </a14:m>
                <a:endParaRPr lang="en-US" sz="2400" dirty="0"/>
              </a:p>
            </p:txBody>
          </p:sp>
        </mc:Choice>
        <mc:Fallback xmlns="">
          <p:sp>
            <p:nvSpPr>
              <p:cNvPr id="5" name="TextBox 4"/>
              <p:cNvSpPr txBox="1">
                <a:spLocks noRot="1" noChangeAspect="1" noMove="1" noResize="1" noEditPoints="1" noAdjustHandles="1" noChangeArrowheads="1" noChangeShapeType="1" noTextEdit="1"/>
              </p:cNvSpPr>
              <p:nvPr/>
            </p:nvSpPr>
            <p:spPr>
              <a:xfrm>
                <a:off x="2468353" y="1784949"/>
                <a:ext cx="7394460" cy="764505"/>
              </a:xfrm>
              <a:prstGeom prst="rect">
                <a:avLst/>
              </a:prstGeom>
              <a:blipFill rotWithShape="0">
                <a:blip r:embed="rId7"/>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74838590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7" name="Straight Arrow Connector 36"/>
          <p:cNvCxnSpPr>
            <a:cxnSpLocks/>
          </p:cNvCxnSpPr>
          <p:nvPr/>
        </p:nvCxnSpPr>
        <p:spPr>
          <a:xfrm flipV="1">
            <a:off x="9966616" y="5164321"/>
            <a:ext cx="540738" cy="968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normAutofit/>
          </a:bodyPr>
          <a:lstStyle/>
          <a:p>
            <a:r>
              <a:rPr lang="en-US" sz="2400" dirty="0" smtClean="0"/>
              <a:t>Remember the “cancelling” effect of chain rule:</a:t>
            </a:r>
            <a:endParaRPr lang="en-US" sz="2400" dirty="0"/>
          </a:p>
        </p:txBody>
      </p:sp>
      <p:cxnSp>
        <p:nvCxnSpPr>
          <p:cNvPr id="10" name="Straight Arrow Connector 9"/>
          <p:cNvCxnSpPr>
            <a:cxnSpLocks/>
          </p:cNvCxnSpPr>
          <p:nvPr/>
        </p:nvCxnSpPr>
        <p:spPr>
          <a:xfrm>
            <a:off x="2469520" y="4595019"/>
            <a:ext cx="717682"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a:cxnSpLocks/>
          </p:cNvCxnSpPr>
          <p:nvPr/>
        </p:nvCxnSpPr>
        <p:spPr>
          <a:xfrm>
            <a:off x="2469520" y="5743310"/>
            <a:ext cx="717682"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a:off x="3761348" y="4595019"/>
            <a:ext cx="825334"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a:cxnSpLocks/>
          </p:cNvCxnSpPr>
          <p:nvPr/>
        </p:nvCxnSpPr>
        <p:spPr>
          <a:xfrm flipV="1">
            <a:off x="3761348" y="4798010"/>
            <a:ext cx="909416" cy="94530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a:off x="5160828" y="4595019"/>
            <a:ext cx="801764" cy="371155"/>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flipV="1">
            <a:off x="5160828" y="5372156"/>
            <a:ext cx="801764" cy="371155"/>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cxnSpLocks/>
          </p:cNvCxnSpPr>
          <p:nvPr/>
        </p:nvCxnSpPr>
        <p:spPr>
          <a:xfrm>
            <a:off x="6452656" y="5169165"/>
            <a:ext cx="717682"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cxnSpLocks/>
          </p:cNvCxnSpPr>
          <p:nvPr/>
        </p:nvCxnSpPr>
        <p:spPr>
          <a:xfrm>
            <a:off x="2469520" y="3411273"/>
            <a:ext cx="717682"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20" name="Elbow Connector 19"/>
          <p:cNvCxnSpPr/>
          <p:nvPr/>
        </p:nvCxnSpPr>
        <p:spPr>
          <a:xfrm>
            <a:off x="3761348" y="3411274"/>
            <a:ext cx="3696063" cy="1458382"/>
          </a:xfrm>
          <a:prstGeom prst="bentConnector2">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22" name="Rounded Rectangle 21"/>
          <p:cNvSpPr/>
          <p:nvPr/>
        </p:nvSpPr>
        <p:spPr>
          <a:xfrm>
            <a:off x="6932612" y="4419600"/>
            <a:ext cx="3309308" cy="1407847"/>
          </a:xfrm>
          <a:prstGeom prst="roundRect">
            <a:avLst/>
          </a:prstGeom>
          <a:noFill/>
          <a:ln w="28575">
            <a:solidFill>
              <a:schemeClr val="accent5">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tIns="0" rtlCol="0" anchor="t" anchorCtr="0"/>
          <a:lstStyle/>
          <a:p>
            <a:pPr algn="ctr"/>
            <a:r>
              <a:rPr lang="en-US">
                <a:solidFill>
                  <a:schemeClr val="accent5">
                    <a:lumMod val="75000"/>
                  </a:schemeClr>
                </a:solidFill>
              </a:rPr>
              <a:t>c</a:t>
            </a:r>
            <a:r>
              <a:rPr lang="en-US" smtClean="0">
                <a:solidFill>
                  <a:schemeClr val="accent5">
                    <a:lumMod val="75000"/>
                  </a:schemeClr>
                </a:solidFill>
              </a:rPr>
              <a:t>ost (J</a:t>
            </a:r>
            <a:r>
              <a:rPr lang="en-US" dirty="0" smtClean="0">
                <a:solidFill>
                  <a:schemeClr val="accent5">
                    <a:lumMod val="75000"/>
                  </a:schemeClr>
                </a:solidFill>
              </a:rPr>
              <a:t>)</a:t>
            </a:r>
            <a:endParaRPr lang="en-US" dirty="0">
              <a:solidFill>
                <a:schemeClr val="accent5">
                  <a:lumMod val="75000"/>
                </a:schemeClr>
              </a:solidFill>
            </a:endParaRPr>
          </a:p>
        </p:txBody>
      </p:sp>
      <p:cxnSp>
        <p:nvCxnSpPr>
          <p:cNvPr id="24" name="Straight Arrow Connector 23"/>
          <p:cNvCxnSpPr>
            <a:cxnSpLocks/>
          </p:cNvCxnSpPr>
          <p:nvPr/>
        </p:nvCxnSpPr>
        <p:spPr>
          <a:xfrm flipV="1">
            <a:off x="7744484" y="5169165"/>
            <a:ext cx="540738" cy="968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35" name="Oval 34"/>
          <p:cNvSpPr/>
          <p:nvPr/>
        </p:nvSpPr>
        <p:spPr>
          <a:xfrm>
            <a:off x="9396022" y="4869656"/>
            <a:ext cx="574146" cy="574146"/>
          </a:xfrm>
          <a:prstGeom prst="ellipse">
            <a:avLst/>
          </a:prstGeom>
          <a:ln/>
        </p:spPr>
        <p:style>
          <a:lnRef idx="2">
            <a:schemeClr val="dk1">
              <a:shade val="50000"/>
            </a:schemeClr>
          </a:lnRef>
          <a:fillRef idx="1">
            <a:schemeClr val="dk1"/>
          </a:fillRef>
          <a:effectRef idx="0">
            <a:schemeClr val="dk1"/>
          </a:effectRef>
          <a:fontRef idx="minor">
            <a:schemeClr val="lt1"/>
          </a:fontRef>
        </p:style>
        <p:txBody>
          <a:bodyPr wrap="none" rtlCol="0" anchor="ctr"/>
          <a:lstStyle/>
          <a:p>
            <a:pPr algn="ctr"/>
            <a:r>
              <a:rPr lang="en-US" sz="1600" smtClean="0">
                <a:solidFill>
                  <a:schemeClr val="bg1"/>
                </a:solidFill>
              </a:rPr>
              <a:t>sum</a:t>
            </a:r>
            <a:endParaRPr lang="en-US" sz="1600" dirty="0">
              <a:solidFill>
                <a:schemeClr val="bg1"/>
              </a:solidFill>
            </a:endParaRPr>
          </a:p>
        </p:txBody>
      </p:sp>
      <p:cxnSp>
        <p:nvCxnSpPr>
          <p:cNvPr id="36" name="Straight Arrow Connector 35"/>
          <p:cNvCxnSpPr>
            <a:cxnSpLocks/>
          </p:cNvCxnSpPr>
          <p:nvPr/>
        </p:nvCxnSpPr>
        <p:spPr>
          <a:xfrm flipV="1">
            <a:off x="8866858" y="5169165"/>
            <a:ext cx="540738" cy="968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27" name="Oval 26"/>
          <p:cNvSpPr/>
          <p:nvPr/>
        </p:nvSpPr>
        <p:spPr>
          <a:xfrm>
            <a:off x="8282745" y="4869656"/>
            <a:ext cx="574146" cy="574146"/>
          </a:xfrm>
          <a:prstGeom prst="ellipse">
            <a:avLst/>
          </a:prstGeom>
          <a:solidFill>
            <a:srgbClr val="197709"/>
          </a:solidFill>
          <a:ln>
            <a:solidFill>
              <a:schemeClr val="accent2">
                <a:lumMod val="50000"/>
              </a:schemeClr>
            </a:solidFill>
          </a:ln>
        </p:spPr>
        <p:style>
          <a:lnRef idx="2">
            <a:schemeClr val="accent4">
              <a:shade val="50000"/>
            </a:schemeClr>
          </a:lnRef>
          <a:fillRef idx="1">
            <a:schemeClr val="accent4"/>
          </a:fillRef>
          <a:effectRef idx="0">
            <a:schemeClr val="accent4"/>
          </a:effectRef>
          <a:fontRef idx="minor">
            <a:schemeClr val="lt1"/>
          </a:fontRef>
        </p:style>
        <p:txBody>
          <a:bodyPr wrap="none" rtlCol="0" anchor="ctr"/>
          <a:lstStyle/>
          <a:p>
            <a:pPr algn="ctr"/>
            <a:r>
              <a:rPr lang="en-US" sz="1400" dirty="0" smtClean="0">
                <a:solidFill>
                  <a:schemeClr val="bg1"/>
                </a:solidFill>
              </a:rPr>
              <a:t>square</a:t>
            </a:r>
            <a:endParaRPr lang="en-US" sz="1400" dirty="0">
              <a:solidFill>
                <a:schemeClr val="bg1"/>
              </a:solidFill>
            </a:endParaRPr>
          </a:p>
        </p:txBody>
      </p:sp>
      <mc:AlternateContent xmlns:mc="http://schemas.openxmlformats.org/markup-compatibility/2006" xmlns:a14="http://schemas.microsoft.com/office/drawing/2010/main">
        <mc:Choice Requires="a14">
          <p:sp>
            <p:nvSpPr>
              <p:cNvPr id="30" name="TextBox 29"/>
              <p:cNvSpPr txBox="1"/>
              <p:nvPr/>
            </p:nvSpPr>
            <p:spPr>
              <a:xfrm>
                <a:off x="9363566" y="3866651"/>
                <a:ext cx="857286" cy="50969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mr-IN" sz="1600" i="1" smtClean="0">
                              <a:latin typeface="Cambria Math" panose="02040503050406030204" pitchFamily="18" charset="0"/>
                            </a:rPr>
                          </m:ctrlPr>
                        </m:fPr>
                        <m:num>
                          <m:r>
                            <a:rPr lang="mr-IN" sz="1600" i="1" smtClean="0">
                              <a:latin typeface="Cambria Math" charset="0"/>
                            </a:rPr>
                            <m:t>𝜕</m:t>
                          </m:r>
                          <m:r>
                            <a:rPr lang="en-US" sz="1600" b="0" i="1" smtClean="0">
                              <a:latin typeface="Cambria Math" charset="0"/>
                            </a:rPr>
                            <m:t>𝑠𝑢𝑚</m:t>
                          </m:r>
                        </m:num>
                        <m:den>
                          <m:r>
                            <a:rPr lang="mr-IN" sz="1600" i="1" smtClean="0">
                              <a:latin typeface="Cambria Math" charset="0"/>
                            </a:rPr>
                            <m:t>𝜕</m:t>
                          </m:r>
                          <m:r>
                            <a:rPr lang="en-US" sz="1600" b="0" i="1" smtClean="0">
                              <a:latin typeface="Cambria Math" charset="0"/>
                            </a:rPr>
                            <m:t>𝑠𝑞𝑢𝑎𝑟𝑒</m:t>
                          </m:r>
                        </m:den>
                      </m:f>
                    </m:oMath>
                  </m:oMathPara>
                </a14:m>
                <a:endParaRPr lang="en-US" sz="2800" dirty="0"/>
              </a:p>
            </p:txBody>
          </p:sp>
        </mc:Choice>
        <mc:Fallback xmlns="">
          <p:sp>
            <p:nvSpPr>
              <p:cNvPr id="30" name="TextBox 29"/>
              <p:cNvSpPr txBox="1">
                <a:spLocks noRot="1" noChangeAspect="1" noMove="1" noResize="1" noEditPoints="1" noAdjustHandles="1" noChangeArrowheads="1" noChangeShapeType="1" noTextEdit="1"/>
              </p:cNvSpPr>
              <p:nvPr/>
            </p:nvSpPr>
            <p:spPr>
              <a:xfrm>
                <a:off x="9363566" y="3866651"/>
                <a:ext cx="857286" cy="509691"/>
              </a:xfrm>
              <a:prstGeom prst="rect">
                <a:avLst/>
              </a:prstGeom>
              <a:blipFill rotWithShape="0">
                <a:blip r:embed="rId3"/>
                <a:stretch>
                  <a:fillRect/>
                </a:stretch>
              </a:blipFill>
            </p:spPr>
            <p:txBody>
              <a:bodyPr/>
              <a:lstStyle/>
              <a:p>
                <a:r>
                  <a:rPr lang="en-US">
                    <a:noFill/>
                  </a:rPr>
                  <a:t> </a:t>
                </a:r>
              </a:p>
            </p:txBody>
          </p:sp>
        </mc:Fallback>
      </mc:AlternateContent>
      <p:sp>
        <p:nvSpPr>
          <p:cNvPr id="28" name="Oval 27"/>
          <p:cNvSpPr/>
          <p:nvPr/>
        </p:nvSpPr>
        <p:spPr>
          <a:xfrm>
            <a:off x="7170338" y="4869656"/>
            <a:ext cx="574146" cy="574146"/>
          </a:xfrm>
          <a:prstGeom prst="ellipse">
            <a:avLst/>
          </a:prstGeom>
          <a:solidFill>
            <a:schemeClr val="accent5">
              <a:lumMod val="60000"/>
              <a:lumOff val="40000"/>
            </a:schemeClr>
          </a:solidFill>
          <a:ln>
            <a:solidFill>
              <a:schemeClr val="accent5">
                <a:lumMod val="75000"/>
              </a:schemeClr>
            </a:solidFill>
          </a:ln>
        </p:spPr>
        <p:style>
          <a:lnRef idx="2">
            <a:schemeClr val="accent4">
              <a:shade val="50000"/>
            </a:schemeClr>
          </a:lnRef>
          <a:fillRef idx="1">
            <a:schemeClr val="accent4"/>
          </a:fillRef>
          <a:effectRef idx="0">
            <a:schemeClr val="accent4"/>
          </a:effectRef>
          <a:fontRef idx="minor">
            <a:schemeClr val="lt1"/>
          </a:fontRef>
        </p:style>
        <p:txBody>
          <a:bodyPr wrap="none" rtlCol="0" anchor="ctr"/>
          <a:lstStyle/>
          <a:p>
            <a:pPr algn="ctr"/>
            <a:r>
              <a:rPr lang="en-US" sz="1600" dirty="0" smtClean="0">
                <a:solidFill>
                  <a:schemeClr val="tx2"/>
                </a:solidFill>
              </a:rPr>
              <a:t>minus</a:t>
            </a:r>
            <a:endParaRPr lang="en-US" sz="1600" dirty="0">
              <a:solidFill>
                <a:schemeClr val="tx2"/>
              </a:solidFill>
            </a:endParaRPr>
          </a:p>
        </p:txBody>
      </p:sp>
      <mc:AlternateContent xmlns:mc="http://schemas.openxmlformats.org/markup-compatibility/2006" xmlns:a14="http://schemas.microsoft.com/office/drawing/2010/main">
        <mc:Choice Requires="a14">
          <p:sp>
            <p:nvSpPr>
              <p:cNvPr id="33" name="Rectangle 32"/>
              <p:cNvSpPr/>
              <p:nvPr/>
            </p:nvSpPr>
            <p:spPr>
              <a:xfrm>
                <a:off x="8031557" y="3842927"/>
                <a:ext cx="1000594" cy="56053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mr-IN" sz="1600" i="1" smtClean="0">
                              <a:latin typeface="Cambria Math" panose="02040503050406030204" pitchFamily="18" charset="0"/>
                            </a:rPr>
                          </m:ctrlPr>
                        </m:fPr>
                        <m:num>
                          <m:r>
                            <a:rPr lang="mr-IN" sz="1600" i="1">
                              <a:latin typeface="Cambria Math" charset="0"/>
                            </a:rPr>
                            <m:t>𝜕</m:t>
                          </m:r>
                          <m:r>
                            <m:rPr>
                              <m:nor/>
                            </m:rPr>
                            <a:rPr lang="en-US" sz="1600">
                              <a:latin typeface="Cambria Math" charset="0"/>
                            </a:rPr>
                            <m:t>square</m:t>
                          </m:r>
                        </m:num>
                        <m:den>
                          <m:r>
                            <a:rPr lang="mr-IN" sz="1600" i="1">
                              <a:latin typeface="Cambria Math" charset="0"/>
                            </a:rPr>
                            <m:t>𝜕</m:t>
                          </m:r>
                          <m:r>
                            <a:rPr lang="en-US" sz="1600" b="0" i="1" smtClean="0">
                              <a:latin typeface="Cambria Math" charset="0"/>
                            </a:rPr>
                            <m:t>𝑚𝑖𝑛𝑢𝑠</m:t>
                          </m:r>
                        </m:den>
                      </m:f>
                    </m:oMath>
                  </m:oMathPara>
                </a14:m>
                <a:endParaRPr lang="en-US" sz="1600" dirty="0"/>
              </a:p>
            </p:txBody>
          </p:sp>
        </mc:Choice>
        <mc:Fallback xmlns="">
          <p:sp>
            <p:nvSpPr>
              <p:cNvPr id="33" name="Rectangle 32"/>
              <p:cNvSpPr>
                <a:spLocks noRot="1" noChangeAspect="1" noMove="1" noResize="1" noEditPoints="1" noAdjustHandles="1" noChangeArrowheads="1" noChangeShapeType="1" noTextEdit="1"/>
              </p:cNvSpPr>
              <p:nvPr/>
            </p:nvSpPr>
            <p:spPr>
              <a:xfrm>
                <a:off x="8031557" y="3842927"/>
                <a:ext cx="1000594" cy="560538"/>
              </a:xfrm>
              <a:prstGeom prst="rect">
                <a:avLst/>
              </a:prstGeom>
              <a:blipFill rotWithShape="0">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Rectangle 30"/>
              <p:cNvSpPr/>
              <p:nvPr/>
            </p:nvSpPr>
            <p:spPr>
              <a:xfrm>
                <a:off x="6281917" y="4069394"/>
                <a:ext cx="946092" cy="56053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mr-IN" sz="1600" i="1" smtClean="0">
                              <a:latin typeface="Cambria Math" panose="02040503050406030204" pitchFamily="18" charset="0"/>
                            </a:rPr>
                          </m:ctrlPr>
                        </m:fPr>
                        <m:num>
                          <m:r>
                            <a:rPr lang="mr-IN" sz="1600" i="1">
                              <a:latin typeface="Cambria Math" charset="0"/>
                            </a:rPr>
                            <m:t>𝜕</m:t>
                          </m:r>
                          <m:r>
                            <m:rPr>
                              <m:nor/>
                            </m:rPr>
                            <a:rPr lang="en-US" sz="1600" b="0" i="0" smtClean="0">
                              <a:latin typeface="Cambria Math" charset="0"/>
                            </a:rPr>
                            <m:t>minus</m:t>
                          </m:r>
                        </m:num>
                        <m:den>
                          <m:r>
                            <a:rPr lang="mr-IN" sz="1600" i="1">
                              <a:latin typeface="Cambria Math" charset="0"/>
                            </a:rPr>
                            <m:t>𝜕</m:t>
                          </m:r>
                          <m:r>
                            <a:rPr lang="en-US" sz="1600" b="0" i="1" smtClean="0">
                              <a:latin typeface="Cambria Math" charset="0"/>
                            </a:rPr>
                            <m:t>𝑎𝑑𝑑</m:t>
                          </m:r>
                        </m:den>
                      </m:f>
                    </m:oMath>
                  </m:oMathPara>
                </a14:m>
                <a:endParaRPr lang="en-US" sz="1600" dirty="0"/>
              </a:p>
            </p:txBody>
          </p:sp>
        </mc:Choice>
        <mc:Fallback xmlns="">
          <p:sp>
            <p:nvSpPr>
              <p:cNvPr id="31" name="Rectangle 30"/>
              <p:cNvSpPr>
                <a:spLocks noRot="1" noChangeAspect="1" noMove="1" noResize="1" noEditPoints="1" noAdjustHandles="1" noChangeArrowheads="1" noChangeShapeType="1" noTextEdit="1"/>
              </p:cNvSpPr>
              <p:nvPr/>
            </p:nvSpPr>
            <p:spPr>
              <a:xfrm>
                <a:off x="6281917" y="4069394"/>
                <a:ext cx="946092" cy="560538"/>
              </a:xfrm>
              <a:prstGeom prst="rect">
                <a:avLst/>
              </a:prstGeom>
              <a:blipFill rotWithShape="0">
                <a:blip r:embed="rId5"/>
                <a:stretch>
                  <a:fillRect/>
                </a:stretch>
              </a:blipFill>
            </p:spPr>
            <p:txBody>
              <a:bodyPr/>
              <a:lstStyle/>
              <a:p>
                <a:r>
                  <a:rPr lang="en-US">
                    <a:noFill/>
                  </a:rPr>
                  <a:t> </a:t>
                </a:r>
              </a:p>
            </p:txBody>
          </p:sp>
        </mc:Fallback>
      </mc:AlternateContent>
      <p:sp>
        <p:nvSpPr>
          <p:cNvPr id="34" name="Oval 33"/>
          <p:cNvSpPr/>
          <p:nvPr/>
        </p:nvSpPr>
        <p:spPr>
          <a:xfrm>
            <a:off x="5878510" y="4882092"/>
            <a:ext cx="574146" cy="574146"/>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wrap="none" rtlCol="0" anchor="ctr"/>
          <a:lstStyle/>
          <a:p>
            <a:pPr algn="ctr"/>
            <a:r>
              <a:rPr lang="en-US" sz="1600" dirty="0" smtClean="0">
                <a:solidFill>
                  <a:schemeClr val="tx2"/>
                </a:solidFill>
              </a:rPr>
              <a:t>add</a:t>
            </a:r>
            <a:endParaRPr lang="en-US" sz="1600" dirty="0">
              <a:solidFill>
                <a:schemeClr val="tx2"/>
              </a:solidFill>
            </a:endParaRPr>
          </a:p>
        </p:txBody>
      </p:sp>
      <mc:AlternateContent xmlns:mc="http://schemas.openxmlformats.org/markup-compatibility/2006" xmlns:a14="http://schemas.microsoft.com/office/drawing/2010/main">
        <mc:Choice Requires="a14">
          <p:sp>
            <p:nvSpPr>
              <p:cNvPr id="9" name="Rectangle 8"/>
              <p:cNvSpPr/>
              <p:nvPr/>
            </p:nvSpPr>
            <p:spPr>
              <a:xfrm>
                <a:off x="4962634" y="4945166"/>
                <a:ext cx="729687" cy="56053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mr-IN" sz="1600" i="1" smtClean="0">
                              <a:latin typeface="Cambria Math" panose="02040503050406030204" pitchFamily="18" charset="0"/>
                            </a:rPr>
                          </m:ctrlPr>
                        </m:fPr>
                        <m:num>
                          <m:r>
                            <a:rPr lang="mr-IN" sz="1600" i="1">
                              <a:latin typeface="Cambria Math" charset="0"/>
                            </a:rPr>
                            <m:t>𝜕</m:t>
                          </m:r>
                          <m:r>
                            <m:rPr>
                              <m:nor/>
                            </m:rPr>
                            <a:rPr lang="en-US" sz="1600">
                              <a:latin typeface="Cambria Math" charset="0"/>
                            </a:rPr>
                            <m:t>add</m:t>
                          </m:r>
                        </m:num>
                        <m:den>
                          <m:r>
                            <a:rPr lang="mr-IN" sz="1600" i="1">
                              <a:latin typeface="Cambria Math" charset="0"/>
                            </a:rPr>
                            <m:t>𝜕</m:t>
                          </m:r>
                          <m:r>
                            <a:rPr lang="en-US" sz="1600" b="0" i="1" smtClean="0">
                              <a:latin typeface="Cambria Math" charset="0"/>
                            </a:rPr>
                            <m:t>𝑏</m:t>
                          </m:r>
                        </m:den>
                      </m:f>
                    </m:oMath>
                  </m:oMathPara>
                </a14:m>
                <a:endParaRPr lang="en-US" sz="1600" dirty="0"/>
              </a:p>
            </p:txBody>
          </p:sp>
        </mc:Choice>
        <mc:Fallback xmlns="">
          <p:sp>
            <p:nvSpPr>
              <p:cNvPr id="9" name="Rectangle 8"/>
              <p:cNvSpPr>
                <a:spLocks noRot="1" noChangeAspect="1" noMove="1" noResize="1" noEditPoints="1" noAdjustHandles="1" noChangeArrowheads="1" noChangeShapeType="1" noTextEdit="1"/>
              </p:cNvSpPr>
              <p:nvPr/>
            </p:nvSpPr>
            <p:spPr>
              <a:xfrm>
                <a:off x="4962634" y="4945166"/>
                <a:ext cx="729687" cy="560538"/>
              </a:xfrm>
              <a:prstGeom prst="rect">
                <a:avLst/>
              </a:prstGeom>
              <a:blipFill rotWithShape="0">
                <a:blip r:embed="rId6"/>
                <a:stretch>
                  <a:fillRect/>
                </a:stretch>
              </a:blipFill>
            </p:spPr>
            <p:txBody>
              <a:bodyPr/>
              <a:lstStyle/>
              <a:p>
                <a:r>
                  <a:rPr lang="en-US">
                    <a:noFill/>
                  </a:rPr>
                  <a:t> </a:t>
                </a:r>
              </a:p>
            </p:txBody>
          </p:sp>
        </mc:Fallback>
      </mc:AlternateContent>
      <p:sp>
        <p:nvSpPr>
          <p:cNvPr id="38" name="Oval 37"/>
          <p:cNvSpPr/>
          <p:nvPr/>
        </p:nvSpPr>
        <p:spPr>
          <a:xfrm>
            <a:off x="4586682" y="4307946"/>
            <a:ext cx="574146" cy="574146"/>
          </a:xfrm>
          <a:prstGeom prst="ellipse">
            <a:avLst/>
          </a:prstGeom>
          <a:solidFill>
            <a:schemeClr val="bg1">
              <a:lumMod val="75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wrap="none" rtlCol="0" anchor="ctr"/>
          <a:lstStyle/>
          <a:p>
            <a:pPr algn="ctr"/>
            <a:endParaRPr lang="en-US" sz="1600" dirty="0">
              <a:solidFill>
                <a:schemeClr val="tx2"/>
              </a:solidFill>
            </a:endParaRPr>
          </a:p>
        </p:txBody>
      </p:sp>
      <p:sp>
        <p:nvSpPr>
          <p:cNvPr id="39" name="Oval 38"/>
          <p:cNvSpPr/>
          <p:nvPr/>
        </p:nvSpPr>
        <p:spPr>
          <a:xfrm>
            <a:off x="3187202" y="4307946"/>
            <a:ext cx="574146" cy="574146"/>
          </a:xfrm>
          <a:prstGeom prst="ellipse">
            <a:avLst/>
          </a:prstGeom>
          <a:solidFill>
            <a:schemeClr val="bg1">
              <a:lumMod val="75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wrap="none" rtlCol="0" anchor="ctr"/>
          <a:lstStyle/>
          <a:p>
            <a:pPr algn="ctr"/>
            <a:endParaRPr lang="en-US" sz="1600" dirty="0">
              <a:solidFill>
                <a:schemeClr val="tx2"/>
              </a:solidFill>
            </a:endParaRPr>
          </a:p>
        </p:txBody>
      </p:sp>
      <p:sp>
        <p:nvSpPr>
          <p:cNvPr id="41" name="Oval 40"/>
          <p:cNvSpPr/>
          <p:nvPr/>
        </p:nvSpPr>
        <p:spPr>
          <a:xfrm>
            <a:off x="3187202" y="5456237"/>
            <a:ext cx="574146" cy="574146"/>
          </a:xfrm>
          <a:prstGeom prst="ellipse">
            <a:avLst/>
          </a:prstGeom>
          <a:solidFill>
            <a:schemeClr val="bg1">
              <a:lumMod val="75000"/>
            </a:schemeClr>
          </a:solidFill>
          <a:ln>
            <a:noFill/>
          </a:ln>
        </p:spPr>
        <p:style>
          <a:lnRef idx="3">
            <a:schemeClr val="lt1"/>
          </a:lnRef>
          <a:fillRef idx="1">
            <a:schemeClr val="dk1"/>
          </a:fillRef>
          <a:effectRef idx="1">
            <a:schemeClr val="dk1"/>
          </a:effectRef>
          <a:fontRef idx="minor">
            <a:schemeClr val="lt1"/>
          </a:fontRef>
        </p:style>
        <p:txBody>
          <a:bodyPr wrap="none" rtlCol="0" anchor="ctr"/>
          <a:lstStyle/>
          <a:p>
            <a:pPr algn="ctr"/>
            <a:endParaRPr lang="en-US" sz="1600" dirty="0">
              <a:solidFill>
                <a:schemeClr val="bg1"/>
              </a:solidFill>
            </a:endParaRPr>
          </a:p>
        </p:txBody>
      </p:sp>
      <p:sp>
        <p:nvSpPr>
          <p:cNvPr id="42" name="Oval 41"/>
          <p:cNvSpPr/>
          <p:nvPr/>
        </p:nvSpPr>
        <p:spPr>
          <a:xfrm>
            <a:off x="4586682" y="5456237"/>
            <a:ext cx="574146" cy="574146"/>
          </a:xfrm>
          <a:prstGeom prst="ellipse">
            <a:avLst/>
          </a:prstGeom>
        </p:spPr>
        <p:style>
          <a:lnRef idx="3">
            <a:schemeClr val="lt1"/>
          </a:lnRef>
          <a:fillRef idx="1">
            <a:schemeClr val="dk1"/>
          </a:fillRef>
          <a:effectRef idx="1">
            <a:schemeClr val="dk1"/>
          </a:effectRef>
          <a:fontRef idx="minor">
            <a:schemeClr val="lt1"/>
          </a:fontRef>
        </p:style>
        <p:txBody>
          <a:bodyPr wrap="none" rtlCol="0" anchor="ctr"/>
          <a:lstStyle/>
          <a:p>
            <a:pPr algn="ctr"/>
            <a:r>
              <a:rPr lang="en-US" sz="1600" dirty="0" smtClean="0">
                <a:solidFill>
                  <a:schemeClr val="bg1"/>
                </a:solidFill>
              </a:rPr>
              <a:t>b</a:t>
            </a:r>
          </a:p>
          <a:p>
            <a:pPr algn="ctr"/>
            <a:r>
              <a:rPr lang="en-US" sz="1600" dirty="0" err="1" smtClean="0">
                <a:solidFill>
                  <a:schemeClr val="bg1"/>
                </a:solidFill>
              </a:rPr>
              <a:t>var</a:t>
            </a:r>
            <a:endParaRPr lang="en-US" sz="1600" dirty="0">
              <a:solidFill>
                <a:schemeClr val="bg1"/>
              </a:solidFill>
            </a:endParaRPr>
          </a:p>
        </p:txBody>
      </p:sp>
      <p:sp>
        <p:nvSpPr>
          <p:cNvPr id="43" name="Oval 42"/>
          <p:cNvSpPr/>
          <p:nvPr/>
        </p:nvSpPr>
        <p:spPr>
          <a:xfrm>
            <a:off x="3187202" y="3124200"/>
            <a:ext cx="574146" cy="574146"/>
          </a:xfrm>
          <a:prstGeom prst="ellipse">
            <a:avLst/>
          </a:prstGeom>
          <a:solidFill>
            <a:schemeClr val="bg1">
              <a:lumMod val="75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wrap="none" rtlCol="0" anchor="ctr"/>
          <a:lstStyle/>
          <a:p>
            <a:pPr algn="ctr"/>
            <a:endParaRPr lang="en-US" sz="1600" dirty="0">
              <a:solidFill>
                <a:schemeClr val="tx2"/>
              </a:solidFill>
            </a:endParaRPr>
          </a:p>
        </p:txBody>
      </p:sp>
      <mc:AlternateContent xmlns:mc="http://schemas.openxmlformats.org/markup-compatibility/2006" xmlns:a14="http://schemas.microsoft.com/office/drawing/2010/main">
        <mc:Choice Requires="a14">
          <p:sp>
            <p:nvSpPr>
              <p:cNvPr id="5" name="TextBox 4"/>
              <p:cNvSpPr txBox="1"/>
              <p:nvPr/>
            </p:nvSpPr>
            <p:spPr>
              <a:xfrm>
                <a:off x="2468353" y="1784949"/>
                <a:ext cx="7394460" cy="76450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charset="0"/>
                        </a:rPr>
                        <m:t>𝐽</m:t>
                      </m:r>
                      <m:r>
                        <a:rPr lang="en-US" sz="2400" b="0" i="1" smtClean="0">
                          <a:latin typeface="Cambria Math" charset="0"/>
                        </a:rPr>
                        <m:t>=</m:t>
                      </m:r>
                      <m:r>
                        <a:rPr lang="en-US" sz="2400" b="0" i="1" smtClean="0">
                          <a:latin typeface="Cambria Math" charset="0"/>
                        </a:rPr>
                        <m:t>𝑠𝑢𝑚</m:t>
                      </m:r>
                      <m:r>
                        <a:rPr lang="en-US" sz="2400" b="0" i="1" smtClean="0">
                          <a:latin typeface="Cambria Math" charset="0"/>
                        </a:rPr>
                        <m:t>;   </m:t>
                      </m:r>
                      <m:f>
                        <m:fPr>
                          <m:ctrlPr>
                            <a:rPr lang="mr-IN" sz="2400" b="0" i="1" smtClean="0">
                              <a:latin typeface="Cambria Math" panose="02040503050406030204" pitchFamily="18" charset="0"/>
                            </a:rPr>
                          </m:ctrlPr>
                        </m:fPr>
                        <m:num>
                          <m:r>
                            <a:rPr lang="mr-IN" sz="2400" b="0" i="1" smtClean="0">
                              <a:latin typeface="Cambria Math" charset="0"/>
                            </a:rPr>
                            <m:t>𝜕</m:t>
                          </m:r>
                          <m:r>
                            <a:rPr lang="en-US" sz="2400" b="0" i="1" smtClean="0">
                              <a:latin typeface="Cambria Math" charset="0"/>
                            </a:rPr>
                            <m:t>𝑠𝑢𝑚</m:t>
                          </m:r>
                        </m:num>
                        <m:den>
                          <m:r>
                            <a:rPr lang="mr-IN" sz="2400" b="0" i="1" smtClean="0">
                              <a:latin typeface="Cambria Math" charset="0"/>
                            </a:rPr>
                            <m:t>𝜕</m:t>
                          </m:r>
                          <m:r>
                            <a:rPr lang="en-US" sz="2400" b="0" i="1" smtClean="0">
                              <a:latin typeface="Cambria Math" charset="0"/>
                            </a:rPr>
                            <m:t>𝑏</m:t>
                          </m:r>
                        </m:den>
                      </m:f>
                      <m:r>
                        <a:rPr lang="en-US" sz="2400" b="0" i="1" smtClean="0">
                          <a:latin typeface="Cambria Math" charset="0"/>
                        </a:rPr>
                        <m:t>=</m:t>
                      </m:r>
                      <m:f>
                        <m:fPr>
                          <m:ctrlPr>
                            <a:rPr lang="mr-IN" sz="2400" i="1">
                              <a:latin typeface="Cambria Math" panose="02040503050406030204" pitchFamily="18" charset="0"/>
                            </a:rPr>
                          </m:ctrlPr>
                        </m:fPr>
                        <m:num>
                          <m:r>
                            <a:rPr lang="mr-IN" sz="2400" i="1">
                              <a:latin typeface="Cambria Math" charset="0"/>
                            </a:rPr>
                            <m:t>𝜕</m:t>
                          </m:r>
                          <m:r>
                            <a:rPr lang="en-US" sz="2400" i="1">
                              <a:latin typeface="Cambria Math" charset="0"/>
                            </a:rPr>
                            <m:t>𝑠𝑢𝑚</m:t>
                          </m:r>
                        </m:num>
                        <m:den>
                          <m:r>
                            <a:rPr lang="mr-IN" sz="2400" i="1">
                              <a:latin typeface="Cambria Math" charset="0"/>
                            </a:rPr>
                            <m:t>𝜕</m:t>
                          </m:r>
                          <m:r>
                            <a:rPr lang="en-US" sz="2400" i="1">
                              <a:latin typeface="Cambria Math" charset="0"/>
                            </a:rPr>
                            <m:t>𝑠𝑞𝑢𝑎𝑟𝑒</m:t>
                          </m:r>
                        </m:den>
                      </m:f>
                      <m:r>
                        <a:rPr lang="en-US" sz="2400" b="0" i="1" smtClean="0">
                          <a:latin typeface="Cambria Math" charset="0"/>
                        </a:rPr>
                        <m:t> ∙</m:t>
                      </m:r>
                      <m:f>
                        <m:fPr>
                          <m:ctrlPr>
                            <a:rPr lang="mr-IN" sz="2400" i="1">
                              <a:latin typeface="Cambria Math" panose="02040503050406030204" pitchFamily="18" charset="0"/>
                            </a:rPr>
                          </m:ctrlPr>
                        </m:fPr>
                        <m:num>
                          <m:r>
                            <a:rPr lang="mr-IN" sz="2400" i="1">
                              <a:latin typeface="Cambria Math" charset="0"/>
                            </a:rPr>
                            <m:t>𝜕</m:t>
                          </m:r>
                          <m:r>
                            <m:rPr>
                              <m:nor/>
                            </m:rPr>
                            <a:rPr lang="en-US" sz="2400">
                              <a:latin typeface="Cambria Math" charset="0"/>
                            </a:rPr>
                            <m:t>square</m:t>
                          </m:r>
                        </m:num>
                        <m:den>
                          <m:r>
                            <a:rPr lang="mr-IN" sz="2400" i="1">
                              <a:latin typeface="Cambria Math" charset="0"/>
                            </a:rPr>
                            <m:t>𝜕</m:t>
                          </m:r>
                          <m:r>
                            <a:rPr lang="en-US" sz="2400" i="1">
                              <a:latin typeface="Cambria Math" charset="0"/>
                            </a:rPr>
                            <m:t>𝑚𝑖𝑛𝑢𝑠</m:t>
                          </m:r>
                        </m:den>
                      </m:f>
                      <m:r>
                        <a:rPr lang="en-US" sz="2400" b="0" i="1" smtClean="0">
                          <a:latin typeface="Cambria Math" charset="0"/>
                        </a:rPr>
                        <m:t>∙</m:t>
                      </m:r>
                      <m:f>
                        <m:fPr>
                          <m:ctrlPr>
                            <a:rPr lang="mr-IN" sz="2400" i="1">
                              <a:latin typeface="Cambria Math" panose="02040503050406030204" pitchFamily="18" charset="0"/>
                            </a:rPr>
                          </m:ctrlPr>
                        </m:fPr>
                        <m:num>
                          <m:r>
                            <a:rPr lang="mr-IN" sz="2400" i="1">
                              <a:latin typeface="Cambria Math" charset="0"/>
                            </a:rPr>
                            <m:t>𝜕</m:t>
                          </m:r>
                          <m:r>
                            <m:rPr>
                              <m:nor/>
                            </m:rPr>
                            <a:rPr lang="en-US" sz="2400">
                              <a:latin typeface="Cambria Math" charset="0"/>
                            </a:rPr>
                            <m:t>minus</m:t>
                          </m:r>
                        </m:num>
                        <m:den>
                          <m:r>
                            <a:rPr lang="mr-IN" sz="2400" i="1">
                              <a:latin typeface="Cambria Math" charset="0"/>
                            </a:rPr>
                            <m:t>𝜕</m:t>
                          </m:r>
                          <m:r>
                            <a:rPr lang="en-US" sz="2400" i="1">
                              <a:latin typeface="Cambria Math" charset="0"/>
                            </a:rPr>
                            <m:t>𝑎𝑑𝑑</m:t>
                          </m:r>
                        </m:den>
                      </m:f>
                      <m:r>
                        <a:rPr lang="en-US" sz="2400" b="0" i="1" smtClean="0">
                          <a:latin typeface="Cambria Math" charset="0"/>
                        </a:rPr>
                        <m:t>∙</m:t>
                      </m:r>
                      <m:f>
                        <m:fPr>
                          <m:ctrlPr>
                            <a:rPr lang="mr-IN" sz="2400" i="1">
                              <a:latin typeface="Cambria Math" panose="02040503050406030204" pitchFamily="18" charset="0"/>
                            </a:rPr>
                          </m:ctrlPr>
                        </m:fPr>
                        <m:num>
                          <m:r>
                            <a:rPr lang="mr-IN" sz="2400" i="1">
                              <a:latin typeface="Cambria Math" charset="0"/>
                            </a:rPr>
                            <m:t>𝜕</m:t>
                          </m:r>
                          <m:r>
                            <m:rPr>
                              <m:nor/>
                            </m:rPr>
                            <a:rPr lang="en-US" sz="2400">
                              <a:latin typeface="Cambria Math" charset="0"/>
                            </a:rPr>
                            <m:t>add</m:t>
                          </m:r>
                        </m:num>
                        <m:den>
                          <m:r>
                            <a:rPr lang="mr-IN" sz="2400" i="1">
                              <a:latin typeface="Cambria Math" charset="0"/>
                            </a:rPr>
                            <m:t>𝜕</m:t>
                          </m:r>
                          <m:r>
                            <a:rPr lang="en-US" sz="2400" i="1">
                              <a:latin typeface="Cambria Math" charset="0"/>
                            </a:rPr>
                            <m:t>𝑏</m:t>
                          </m:r>
                        </m:den>
                      </m:f>
                    </m:oMath>
                  </m:oMathPara>
                </a14:m>
                <a:endParaRPr lang="en-US" sz="2400" dirty="0"/>
              </a:p>
            </p:txBody>
          </p:sp>
        </mc:Choice>
        <mc:Fallback xmlns="">
          <p:sp>
            <p:nvSpPr>
              <p:cNvPr id="5" name="TextBox 4"/>
              <p:cNvSpPr txBox="1">
                <a:spLocks noRot="1" noChangeAspect="1" noMove="1" noResize="1" noEditPoints="1" noAdjustHandles="1" noChangeArrowheads="1" noChangeShapeType="1" noTextEdit="1"/>
              </p:cNvSpPr>
              <p:nvPr/>
            </p:nvSpPr>
            <p:spPr>
              <a:xfrm>
                <a:off x="2468353" y="1784949"/>
                <a:ext cx="7394460" cy="764505"/>
              </a:xfrm>
              <a:prstGeom prst="rect">
                <a:avLst/>
              </a:prstGeom>
              <a:blipFill rotWithShape="0">
                <a:blip r:embed="rId7"/>
                <a:stretch>
                  <a:fillRect/>
                </a:stretch>
              </a:blipFill>
            </p:spPr>
            <p:txBody>
              <a:bodyPr/>
              <a:lstStyle/>
              <a:p>
                <a:r>
                  <a:rPr lang="en-US">
                    <a:noFill/>
                  </a:rPr>
                  <a:t> </a:t>
                </a:r>
              </a:p>
            </p:txBody>
          </p:sp>
        </mc:Fallback>
      </mc:AlternateContent>
      <p:cxnSp>
        <p:nvCxnSpPr>
          <p:cNvPr id="4" name="Straight Connector 3"/>
          <p:cNvCxnSpPr/>
          <p:nvPr/>
        </p:nvCxnSpPr>
        <p:spPr>
          <a:xfrm flipV="1">
            <a:off x="5160828" y="2246963"/>
            <a:ext cx="1121089" cy="263454"/>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flipV="1">
            <a:off x="6594655" y="1855950"/>
            <a:ext cx="1121089" cy="263454"/>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flipV="1">
            <a:off x="6594655" y="2262319"/>
            <a:ext cx="1121089" cy="263454"/>
          </a:xfrm>
          <a:prstGeom prst="line">
            <a:avLst/>
          </a:prstGeom>
          <a:ln w="28575">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a:xfrm flipV="1">
            <a:off x="7847012" y="1867693"/>
            <a:ext cx="1121089" cy="263454"/>
          </a:xfrm>
          <a:prstGeom prst="line">
            <a:avLst/>
          </a:prstGeom>
          <a:ln w="28575">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a:xfrm flipV="1">
            <a:off x="7923212" y="2246964"/>
            <a:ext cx="933679" cy="234389"/>
          </a:xfrm>
          <a:prstGeom prst="line">
            <a:avLst/>
          </a:prstGeom>
          <a:ln w="28575">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a:xfrm flipV="1">
            <a:off x="9099763" y="1855950"/>
            <a:ext cx="763050" cy="194392"/>
          </a:xfrm>
          <a:prstGeom prst="line">
            <a:avLst/>
          </a:prstGeom>
          <a:ln w="28575">
            <a:solidFill>
              <a:srgbClr val="92D05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1092808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7" name="Straight Arrow Connector 36"/>
          <p:cNvCxnSpPr>
            <a:cxnSpLocks/>
          </p:cNvCxnSpPr>
          <p:nvPr/>
        </p:nvCxnSpPr>
        <p:spPr>
          <a:xfrm flipV="1">
            <a:off x="9966616" y="5164321"/>
            <a:ext cx="540738" cy="968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normAutofit/>
          </a:bodyPr>
          <a:lstStyle/>
          <a:p>
            <a:r>
              <a:rPr lang="en-US" sz="2400" dirty="0" smtClean="0"/>
              <a:t>Similar process for derivative with respect to W</a:t>
            </a:r>
            <a:endParaRPr lang="en-US" sz="2400" dirty="0"/>
          </a:p>
        </p:txBody>
      </p:sp>
      <p:cxnSp>
        <p:nvCxnSpPr>
          <p:cNvPr id="10" name="Straight Arrow Connector 9"/>
          <p:cNvCxnSpPr>
            <a:cxnSpLocks/>
          </p:cNvCxnSpPr>
          <p:nvPr/>
        </p:nvCxnSpPr>
        <p:spPr>
          <a:xfrm>
            <a:off x="2469520" y="4595019"/>
            <a:ext cx="717682"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a:cxnSpLocks/>
          </p:cNvCxnSpPr>
          <p:nvPr/>
        </p:nvCxnSpPr>
        <p:spPr>
          <a:xfrm>
            <a:off x="2469520" y="5743310"/>
            <a:ext cx="717682"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a:off x="3761348" y="4595019"/>
            <a:ext cx="825334"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a:cxnSpLocks/>
          </p:cNvCxnSpPr>
          <p:nvPr/>
        </p:nvCxnSpPr>
        <p:spPr>
          <a:xfrm flipV="1">
            <a:off x="3761348" y="4798010"/>
            <a:ext cx="909416" cy="94530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a:off x="5160828" y="4595019"/>
            <a:ext cx="801764" cy="371155"/>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flipV="1">
            <a:off x="5160828" y="5372156"/>
            <a:ext cx="801764" cy="371155"/>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cxnSpLocks/>
          </p:cNvCxnSpPr>
          <p:nvPr/>
        </p:nvCxnSpPr>
        <p:spPr>
          <a:xfrm>
            <a:off x="6452656" y="5169165"/>
            <a:ext cx="717682"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cxnSpLocks/>
          </p:cNvCxnSpPr>
          <p:nvPr/>
        </p:nvCxnSpPr>
        <p:spPr>
          <a:xfrm>
            <a:off x="2469520" y="3411273"/>
            <a:ext cx="717682"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20" name="Elbow Connector 19"/>
          <p:cNvCxnSpPr/>
          <p:nvPr/>
        </p:nvCxnSpPr>
        <p:spPr>
          <a:xfrm>
            <a:off x="3761348" y="3411274"/>
            <a:ext cx="3696063" cy="1458382"/>
          </a:xfrm>
          <a:prstGeom prst="bentConnector2">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22" name="Rounded Rectangle 21"/>
          <p:cNvSpPr/>
          <p:nvPr/>
        </p:nvSpPr>
        <p:spPr>
          <a:xfrm>
            <a:off x="6932612" y="4419600"/>
            <a:ext cx="3309308" cy="1407847"/>
          </a:xfrm>
          <a:prstGeom prst="roundRect">
            <a:avLst/>
          </a:prstGeom>
          <a:noFill/>
          <a:ln w="28575">
            <a:solidFill>
              <a:schemeClr val="accent5">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tIns="0" rtlCol="0" anchor="t" anchorCtr="0"/>
          <a:lstStyle/>
          <a:p>
            <a:pPr algn="ctr"/>
            <a:r>
              <a:rPr lang="en-US">
                <a:solidFill>
                  <a:schemeClr val="accent5">
                    <a:lumMod val="75000"/>
                  </a:schemeClr>
                </a:solidFill>
              </a:rPr>
              <a:t>c</a:t>
            </a:r>
            <a:r>
              <a:rPr lang="en-US" smtClean="0">
                <a:solidFill>
                  <a:schemeClr val="accent5">
                    <a:lumMod val="75000"/>
                  </a:schemeClr>
                </a:solidFill>
              </a:rPr>
              <a:t>ost (J</a:t>
            </a:r>
            <a:r>
              <a:rPr lang="en-US" dirty="0" smtClean="0">
                <a:solidFill>
                  <a:schemeClr val="accent5">
                    <a:lumMod val="75000"/>
                  </a:schemeClr>
                </a:solidFill>
              </a:rPr>
              <a:t>)</a:t>
            </a:r>
            <a:endParaRPr lang="en-US" dirty="0">
              <a:solidFill>
                <a:schemeClr val="accent5">
                  <a:lumMod val="75000"/>
                </a:schemeClr>
              </a:solidFill>
            </a:endParaRPr>
          </a:p>
        </p:txBody>
      </p:sp>
      <p:cxnSp>
        <p:nvCxnSpPr>
          <p:cNvPr id="24" name="Straight Arrow Connector 23"/>
          <p:cNvCxnSpPr>
            <a:cxnSpLocks/>
          </p:cNvCxnSpPr>
          <p:nvPr/>
        </p:nvCxnSpPr>
        <p:spPr>
          <a:xfrm flipV="1">
            <a:off x="7744484" y="5169165"/>
            <a:ext cx="540738" cy="968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35" name="Oval 34"/>
          <p:cNvSpPr/>
          <p:nvPr/>
        </p:nvSpPr>
        <p:spPr>
          <a:xfrm>
            <a:off x="9396022" y="4869656"/>
            <a:ext cx="574146" cy="574146"/>
          </a:xfrm>
          <a:prstGeom prst="ellipse">
            <a:avLst/>
          </a:prstGeom>
          <a:ln/>
        </p:spPr>
        <p:style>
          <a:lnRef idx="2">
            <a:schemeClr val="dk1">
              <a:shade val="50000"/>
            </a:schemeClr>
          </a:lnRef>
          <a:fillRef idx="1">
            <a:schemeClr val="dk1"/>
          </a:fillRef>
          <a:effectRef idx="0">
            <a:schemeClr val="dk1"/>
          </a:effectRef>
          <a:fontRef idx="minor">
            <a:schemeClr val="lt1"/>
          </a:fontRef>
        </p:style>
        <p:txBody>
          <a:bodyPr wrap="none" rtlCol="0" anchor="ctr"/>
          <a:lstStyle/>
          <a:p>
            <a:pPr algn="ctr"/>
            <a:r>
              <a:rPr lang="en-US" sz="1600" smtClean="0">
                <a:solidFill>
                  <a:schemeClr val="bg1"/>
                </a:solidFill>
              </a:rPr>
              <a:t>sum</a:t>
            </a:r>
            <a:endParaRPr lang="en-US" sz="1600" dirty="0">
              <a:solidFill>
                <a:schemeClr val="bg1"/>
              </a:solidFill>
            </a:endParaRPr>
          </a:p>
        </p:txBody>
      </p:sp>
      <p:cxnSp>
        <p:nvCxnSpPr>
          <p:cNvPr id="36" name="Straight Arrow Connector 35"/>
          <p:cNvCxnSpPr>
            <a:cxnSpLocks/>
          </p:cNvCxnSpPr>
          <p:nvPr/>
        </p:nvCxnSpPr>
        <p:spPr>
          <a:xfrm flipV="1">
            <a:off x="8866858" y="5169165"/>
            <a:ext cx="540738" cy="968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27" name="Oval 26"/>
          <p:cNvSpPr/>
          <p:nvPr/>
        </p:nvSpPr>
        <p:spPr>
          <a:xfrm>
            <a:off x="8282745" y="4869656"/>
            <a:ext cx="574146" cy="574146"/>
          </a:xfrm>
          <a:prstGeom prst="ellipse">
            <a:avLst/>
          </a:prstGeom>
          <a:solidFill>
            <a:srgbClr val="197709"/>
          </a:solidFill>
          <a:ln>
            <a:solidFill>
              <a:schemeClr val="accent2">
                <a:lumMod val="50000"/>
              </a:schemeClr>
            </a:solidFill>
          </a:ln>
        </p:spPr>
        <p:style>
          <a:lnRef idx="2">
            <a:schemeClr val="accent4">
              <a:shade val="50000"/>
            </a:schemeClr>
          </a:lnRef>
          <a:fillRef idx="1">
            <a:schemeClr val="accent4"/>
          </a:fillRef>
          <a:effectRef idx="0">
            <a:schemeClr val="accent4"/>
          </a:effectRef>
          <a:fontRef idx="minor">
            <a:schemeClr val="lt1"/>
          </a:fontRef>
        </p:style>
        <p:txBody>
          <a:bodyPr wrap="none" rtlCol="0" anchor="ctr"/>
          <a:lstStyle/>
          <a:p>
            <a:pPr algn="ctr"/>
            <a:r>
              <a:rPr lang="en-US" sz="1400" dirty="0" smtClean="0">
                <a:solidFill>
                  <a:schemeClr val="bg1"/>
                </a:solidFill>
              </a:rPr>
              <a:t>square</a:t>
            </a:r>
            <a:endParaRPr lang="en-US" sz="1400" dirty="0">
              <a:solidFill>
                <a:schemeClr val="bg1"/>
              </a:solidFill>
            </a:endParaRPr>
          </a:p>
        </p:txBody>
      </p:sp>
      <mc:AlternateContent xmlns:mc="http://schemas.openxmlformats.org/markup-compatibility/2006" xmlns:a14="http://schemas.microsoft.com/office/drawing/2010/main">
        <mc:Choice Requires="a14">
          <p:sp>
            <p:nvSpPr>
              <p:cNvPr id="30" name="TextBox 29"/>
              <p:cNvSpPr txBox="1"/>
              <p:nvPr/>
            </p:nvSpPr>
            <p:spPr>
              <a:xfrm>
                <a:off x="9363566" y="3866651"/>
                <a:ext cx="857286" cy="50969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mr-IN" sz="1600" i="1" smtClean="0">
                              <a:latin typeface="Cambria Math" panose="02040503050406030204" pitchFamily="18" charset="0"/>
                            </a:rPr>
                          </m:ctrlPr>
                        </m:fPr>
                        <m:num>
                          <m:r>
                            <a:rPr lang="mr-IN" sz="1600" i="1" smtClean="0">
                              <a:latin typeface="Cambria Math" charset="0"/>
                            </a:rPr>
                            <m:t>𝜕</m:t>
                          </m:r>
                          <m:r>
                            <a:rPr lang="en-US" sz="1600" b="0" i="1" smtClean="0">
                              <a:latin typeface="Cambria Math" charset="0"/>
                            </a:rPr>
                            <m:t>𝑠𝑢𝑚</m:t>
                          </m:r>
                        </m:num>
                        <m:den>
                          <m:r>
                            <a:rPr lang="mr-IN" sz="1600" i="1" smtClean="0">
                              <a:latin typeface="Cambria Math" charset="0"/>
                            </a:rPr>
                            <m:t>𝜕</m:t>
                          </m:r>
                          <m:r>
                            <a:rPr lang="en-US" sz="1600" b="0" i="1" smtClean="0">
                              <a:latin typeface="Cambria Math" charset="0"/>
                            </a:rPr>
                            <m:t>𝑠𝑞𝑢𝑎𝑟𝑒</m:t>
                          </m:r>
                        </m:den>
                      </m:f>
                    </m:oMath>
                  </m:oMathPara>
                </a14:m>
                <a:endParaRPr lang="en-US" sz="2800" dirty="0"/>
              </a:p>
            </p:txBody>
          </p:sp>
        </mc:Choice>
        <mc:Fallback xmlns="">
          <p:sp>
            <p:nvSpPr>
              <p:cNvPr id="30" name="TextBox 29"/>
              <p:cNvSpPr txBox="1">
                <a:spLocks noRot="1" noChangeAspect="1" noMove="1" noResize="1" noEditPoints="1" noAdjustHandles="1" noChangeArrowheads="1" noChangeShapeType="1" noTextEdit="1"/>
              </p:cNvSpPr>
              <p:nvPr/>
            </p:nvSpPr>
            <p:spPr>
              <a:xfrm>
                <a:off x="9363566" y="3866651"/>
                <a:ext cx="857286" cy="509691"/>
              </a:xfrm>
              <a:prstGeom prst="rect">
                <a:avLst/>
              </a:prstGeom>
              <a:blipFill rotWithShape="0">
                <a:blip r:embed="rId3"/>
                <a:stretch>
                  <a:fillRect/>
                </a:stretch>
              </a:blipFill>
            </p:spPr>
            <p:txBody>
              <a:bodyPr/>
              <a:lstStyle/>
              <a:p>
                <a:r>
                  <a:rPr lang="en-US">
                    <a:noFill/>
                  </a:rPr>
                  <a:t> </a:t>
                </a:r>
              </a:p>
            </p:txBody>
          </p:sp>
        </mc:Fallback>
      </mc:AlternateContent>
      <p:sp>
        <p:nvSpPr>
          <p:cNvPr id="28" name="Oval 27"/>
          <p:cNvSpPr/>
          <p:nvPr/>
        </p:nvSpPr>
        <p:spPr>
          <a:xfrm>
            <a:off x="7170338" y="4869656"/>
            <a:ext cx="574146" cy="574146"/>
          </a:xfrm>
          <a:prstGeom prst="ellipse">
            <a:avLst/>
          </a:prstGeom>
          <a:solidFill>
            <a:schemeClr val="accent5">
              <a:lumMod val="60000"/>
              <a:lumOff val="40000"/>
            </a:schemeClr>
          </a:solidFill>
          <a:ln>
            <a:solidFill>
              <a:schemeClr val="accent5">
                <a:lumMod val="75000"/>
              </a:schemeClr>
            </a:solidFill>
          </a:ln>
        </p:spPr>
        <p:style>
          <a:lnRef idx="2">
            <a:schemeClr val="accent4">
              <a:shade val="50000"/>
            </a:schemeClr>
          </a:lnRef>
          <a:fillRef idx="1">
            <a:schemeClr val="accent4"/>
          </a:fillRef>
          <a:effectRef idx="0">
            <a:schemeClr val="accent4"/>
          </a:effectRef>
          <a:fontRef idx="minor">
            <a:schemeClr val="lt1"/>
          </a:fontRef>
        </p:style>
        <p:txBody>
          <a:bodyPr wrap="none" rtlCol="0" anchor="ctr"/>
          <a:lstStyle/>
          <a:p>
            <a:pPr algn="ctr"/>
            <a:r>
              <a:rPr lang="en-US" sz="1600" dirty="0" smtClean="0">
                <a:solidFill>
                  <a:schemeClr val="tx2"/>
                </a:solidFill>
              </a:rPr>
              <a:t>minus</a:t>
            </a:r>
            <a:endParaRPr lang="en-US" sz="1600" dirty="0">
              <a:solidFill>
                <a:schemeClr val="tx2"/>
              </a:solidFill>
            </a:endParaRPr>
          </a:p>
        </p:txBody>
      </p:sp>
      <mc:AlternateContent xmlns:mc="http://schemas.openxmlformats.org/markup-compatibility/2006" xmlns:a14="http://schemas.microsoft.com/office/drawing/2010/main">
        <mc:Choice Requires="a14">
          <p:sp>
            <p:nvSpPr>
              <p:cNvPr id="33" name="Rectangle 32"/>
              <p:cNvSpPr/>
              <p:nvPr/>
            </p:nvSpPr>
            <p:spPr>
              <a:xfrm>
                <a:off x="8031557" y="3842927"/>
                <a:ext cx="1000594" cy="56053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mr-IN" sz="1600" i="1" smtClean="0">
                              <a:latin typeface="Cambria Math" panose="02040503050406030204" pitchFamily="18" charset="0"/>
                            </a:rPr>
                          </m:ctrlPr>
                        </m:fPr>
                        <m:num>
                          <m:r>
                            <a:rPr lang="mr-IN" sz="1600" i="1">
                              <a:latin typeface="Cambria Math" charset="0"/>
                            </a:rPr>
                            <m:t>𝜕</m:t>
                          </m:r>
                          <m:r>
                            <m:rPr>
                              <m:nor/>
                            </m:rPr>
                            <a:rPr lang="en-US" sz="1600">
                              <a:latin typeface="Cambria Math" charset="0"/>
                            </a:rPr>
                            <m:t>square</m:t>
                          </m:r>
                        </m:num>
                        <m:den>
                          <m:r>
                            <a:rPr lang="mr-IN" sz="1600" i="1">
                              <a:latin typeface="Cambria Math" charset="0"/>
                            </a:rPr>
                            <m:t>𝜕</m:t>
                          </m:r>
                          <m:r>
                            <a:rPr lang="en-US" sz="1600" b="0" i="1" smtClean="0">
                              <a:latin typeface="Cambria Math" charset="0"/>
                            </a:rPr>
                            <m:t>𝑚𝑖𝑛𝑢𝑠</m:t>
                          </m:r>
                        </m:den>
                      </m:f>
                    </m:oMath>
                  </m:oMathPara>
                </a14:m>
                <a:endParaRPr lang="en-US" sz="1600" dirty="0"/>
              </a:p>
            </p:txBody>
          </p:sp>
        </mc:Choice>
        <mc:Fallback xmlns="">
          <p:sp>
            <p:nvSpPr>
              <p:cNvPr id="33" name="Rectangle 32"/>
              <p:cNvSpPr>
                <a:spLocks noRot="1" noChangeAspect="1" noMove="1" noResize="1" noEditPoints="1" noAdjustHandles="1" noChangeArrowheads="1" noChangeShapeType="1" noTextEdit="1"/>
              </p:cNvSpPr>
              <p:nvPr/>
            </p:nvSpPr>
            <p:spPr>
              <a:xfrm>
                <a:off x="8031557" y="3842927"/>
                <a:ext cx="1000594" cy="560538"/>
              </a:xfrm>
              <a:prstGeom prst="rect">
                <a:avLst/>
              </a:prstGeom>
              <a:blipFill rotWithShape="0">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Rectangle 30"/>
              <p:cNvSpPr/>
              <p:nvPr/>
            </p:nvSpPr>
            <p:spPr>
              <a:xfrm>
                <a:off x="6281917" y="4069394"/>
                <a:ext cx="946092" cy="56053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mr-IN" sz="1600" i="1" smtClean="0">
                              <a:latin typeface="Cambria Math" panose="02040503050406030204" pitchFamily="18" charset="0"/>
                            </a:rPr>
                          </m:ctrlPr>
                        </m:fPr>
                        <m:num>
                          <m:r>
                            <a:rPr lang="mr-IN" sz="1600" i="1">
                              <a:latin typeface="Cambria Math" charset="0"/>
                            </a:rPr>
                            <m:t>𝜕</m:t>
                          </m:r>
                          <m:r>
                            <m:rPr>
                              <m:nor/>
                            </m:rPr>
                            <a:rPr lang="en-US" sz="1600" b="0" i="0" smtClean="0">
                              <a:latin typeface="Cambria Math" charset="0"/>
                            </a:rPr>
                            <m:t>minus</m:t>
                          </m:r>
                        </m:num>
                        <m:den>
                          <m:r>
                            <a:rPr lang="mr-IN" sz="1600" i="1">
                              <a:latin typeface="Cambria Math" charset="0"/>
                            </a:rPr>
                            <m:t>𝜕</m:t>
                          </m:r>
                          <m:r>
                            <a:rPr lang="en-US" sz="1600" b="0" i="1" smtClean="0">
                              <a:latin typeface="Cambria Math" charset="0"/>
                            </a:rPr>
                            <m:t>𝑎𝑑𝑑</m:t>
                          </m:r>
                        </m:den>
                      </m:f>
                    </m:oMath>
                  </m:oMathPara>
                </a14:m>
                <a:endParaRPr lang="en-US" sz="1600" dirty="0"/>
              </a:p>
            </p:txBody>
          </p:sp>
        </mc:Choice>
        <mc:Fallback xmlns="">
          <p:sp>
            <p:nvSpPr>
              <p:cNvPr id="31" name="Rectangle 30"/>
              <p:cNvSpPr>
                <a:spLocks noRot="1" noChangeAspect="1" noMove="1" noResize="1" noEditPoints="1" noAdjustHandles="1" noChangeArrowheads="1" noChangeShapeType="1" noTextEdit="1"/>
              </p:cNvSpPr>
              <p:nvPr/>
            </p:nvSpPr>
            <p:spPr>
              <a:xfrm>
                <a:off x="6281917" y="4069394"/>
                <a:ext cx="946092" cy="560538"/>
              </a:xfrm>
              <a:prstGeom prst="rect">
                <a:avLst/>
              </a:prstGeom>
              <a:blipFill rotWithShape="0">
                <a:blip r:embed="rId5"/>
                <a:stretch>
                  <a:fillRect/>
                </a:stretch>
              </a:blipFill>
            </p:spPr>
            <p:txBody>
              <a:bodyPr/>
              <a:lstStyle/>
              <a:p>
                <a:r>
                  <a:rPr lang="en-US">
                    <a:noFill/>
                  </a:rPr>
                  <a:t> </a:t>
                </a:r>
              </a:p>
            </p:txBody>
          </p:sp>
        </mc:Fallback>
      </mc:AlternateContent>
      <p:sp>
        <p:nvSpPr>
          <p:cNvPr id="34" name="Oval 33"/>
          <p:cNvSpPr/>
          <p:nvPr/>
        </p:nvSpPr>
        <p:spPr>
          <a:xfrm>
            <a:off x="5878510" y="4882092"/>
            <a:ext cx="574146" cy="574146"/>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wrap="none" rtlCol="0" anchor="ctr"/>
          <a:lstStyle/>
          <a:p>
            <a:pPr algn="ctr"/>
            <a:r>
              <a:rPr lang="en-US" sz="1600" dirty="0" smtClean="0">
                <a:solidFill>
                  <a:schemeClr val="tx2"/>
                </a:solidFill>
              </a:rPr>
              <a:t>add</a:t>
            </a:r>
            <a:endParaRPr lang="en-US" sz="1600" dirty="0">
              <a:solidFill>
                <a:schemeClr val="tx2"/>
              </a:solidFill>
            </a:endParaRPr>
          </a:p>
        </p:txBody>
      </p:sp>
      <mc:AlternateContent xmlns:mc="http://schemas.openxmlformats.org/markup-compatibility/2006" xmlns:a14="http://schemas.microsoft.com/office/drawing/2010/main">
        <mc:Choice Requires="a14">
          <p:sp>
            <p:nvSpPr>
              <p:cNvPr id="19" name="Rectangle 18"/>
              <p:cNvSpPr/>
              <p:nvPr/>
            </p:nvSpPr>
            <p:spPr>
              <a:xfrm>
                <a:off x="5242277" y="4106383"/>
                <a:ext cx="760272" cy="56053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mr-IN" sz="1600" i="1" smtClean="0">
                              <a:latin typeface="Cambria Math" panose="02040503050406030204" pitchFamily="18" charset="0"/>
                            </a:rPr>
                          </m:ctrlPr>
                        </m:fPr>
                        <m:num>
                          <m:r>
                            <a:rPr lang="mr-IN" sz="1600" i="1">
                              <a:latin typeface="Cambria Math" charset="0"/>
                            </a:rPr>
                            <m:t>𝜕</m:t>
                          </m:r>
                          <m:r>
                            <m:rPr>
                              <m:nor/>
                            </m:rPr>
                            <a:rPr lang="en-US" sz="1600">
                              <a:latin typeface="Cambria Math" charset="0"/>
                            </a:rPr>
                            <m:t>add</m:t>
                          </m:r>
                        </m:num>
                        <m:den>
                          <m:r>
                            <a:rPr lang="mr-IN" sz="1600" i="1">
                              <a:latin typeface="Cambria Math" charset="0"/>
                            </a:rPr>
                            <m:t>𝜕</m:t>
                          </m:r>
                          <m:r>
                            <a:rPr lang="en-US" sz="1600" b="0" i="1" smtClean="0">
                              <a:latin typeface="Cambria Math" charset="0"/>
                            </a:rPr>
                            <m:t>𝑚𝑢𝑙</m:t>
                          </m:r>
                        </m:den>
                      </m:f>
                    </m:oMath>
                  </m:oMathPara>
                </a14:m>
                <a:endParaRPr lang="en-US" sz="1600" dirty="0"/>
              </a:p>
            </p:txBody>
          </p:sp>
        </mc:Choice>
        <mc:Fallback xmlns="">
          <p:sp>
            <p:nvSpPr>
              <p:cNvPr id="19" name="Rectangle 18"/>
              <p:cNvSpPr>
                <a:spLocks noRot="1" noChangeAspect="1" noMove="1" noResize="1" noEditPoints="1" noAdjustHandles="1" noChangeArrowheads="1" noChangeShapeType="1" noTextEdit="1"/>
              </p:cNvSpPr>
              <p:nvPr/>
            </p:nvSpPr>
            <p:spPr>
              <a:xfrm>
                <a:off x="5242277" y="4106383"/>
                <a:ext cx="760272" cy="560538"/>
              </a:xfrm>
              <a:prstGeom prst="rect">
                <a:avLst/>
              </a:prstGeom>
              <a:blipFill rotWithShape="0">
                <a:blip r:embed="rId6"/>
                <a:stretch>
                  <a:fillRect/>
                </a:stretch>
              </a:blipFill>
            </p:spPr>
            <p:txBody>
              <a:bodyPr/>
              <a:lstStyle/>
              <a:p>
                <a:r>
                  <a:rPr lang="en-US">
                    <a:noFill/>
                  </a:rPr>
                  <a:t> </a:t>
                </a:r>
              </a:p>
            </p:txBody>
          </p:sp>
        </mc:Fallback>
      </mc:AlternateContent>
      <p:sp>
        <p:nvSpPr>
          <p:cNvPr id="38" name="Oval 37"/>
          <p:cNvSpPr/>
          <p:nvPr/>
        </p:nvSpPr>
        <p:spPr>
          <a:xfrm>
            <a:off x="4586682" y="4307946"/>
            <a:ext cx="574146" cy="574146"/>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wrap="none" rtlCol="0" anchor="ctr"/>
          <a:lstStyle/>
          <a:p>
            <a:pPr algn="ctr"/>
            <a:r>
              <a:rPr lang="en-US" sz="1600" dirty="0" err="1" smtClean="0">
                <a:solidFill>
                  <a:schemeClr val="tx2"/>
                </a:solidFill>
              </a:rPr>
              <a:t>mul</a:t>
            </a:r>
            <a:endParaRPr lang="en-US" sz="1600" dirty="0">
              <a:solidFill>
                <a:schemeClr val="tx2"/>
              </a:solidFill>
            </a:endParaRPr>
          </a:p>
        </p:txBody>
      </p:sp>
      <mc:AlternateContent xmlns:mc="http://schemas.openxmlformats.org/markup-compatibility/2006" xmlns:a14="http://schemas.microsoft.com/office/drawing/2010/main">
        <mc:Choice Requires="a14">
          <p:sp>
            <p:nvSpPr>
              <p:cNvPr id="40" name="Rectangle 39"/>
              <p:cNvSpPr/>
              <p:nvPr/>
            </p:nvSpPr>
            <p:spPr>
              <a:xfrm>
                <a:off x="3608890" y="4789367"/>
                <a:ext cx="742511" cy="56053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mr-IN" sz="1600" i="1" smtClean="0">
                              <a:latin typeface="Cambria Math" panose="02040503050406030204" pitchFamily="18" charset="0"/>
                            </a:rPr>
                          </m:ctrlPr>
                        </m:fPr>
                        <m:num>
                          <m:r>
                            <a:rPr lang="mr-IN" sz="1600" i="1">
                              <a:latin typeface="Cambria Math" charset="0"/>
                            </a:rPr>
                            <m:t>𝜕</m:t>
                          </m:r>
                          <m:r>
                            <m:rPr>
                              <m:nor/>
                            </m:rPr>
                            <a:rPr lang="en-US" sz="1600">
                              <a:latin typeface="Cambria Math" charset="0"/>
                            </a:rPr>
                            <m:t>mul</m:t>
                          </m:r>
                        </m:num>
                        <m:den>
                          <m:r>
                            <a:rPr lang="mr-IN" sz="1600" i="1">
                              <a:latin typeface="Cambria Math" charset="0"/>
                            </a:rPr>
                            <m:t>𝜕</m:t>
                          </m:r>
                          <m:r>
                            <a:rPr lang="en-US" sz="1600" b="0" i="1" smtClean="0">
                              <a:latin typeface="Cambria Math" charset="0"/>
                            </a:rPr>
                            <m:t>𝑊</m:t>
                          </m:r>
                        </m:den>
                      </m:f>
                    </m:oMath>
                  </m:oMathPara>
                </a14:m>
                <a:endParaRPr lang="en-US" sz="1600" dirty="0"/>
              </a:p>
            </p:txBody>
          </p:sp>
        </mc:Choice>
        <mc:Fallback xmlns="">
          <p:sp>
            <p:nvSpPr>
              <p:cNvPr id="40" name="Rectangle 39"/>
              <p:cNvSpPr>
                <a:spLocks noRot="1" noChangeAspect="1" noMove="1" noResize="1" noEditPoints="1" noAdjustHandles="1" noChangeArrowheads="1" noChangeShapeType="1" noTextEdit="1"/>
              </p:cNvSpPr>
              <p:nvPr/>
            </p:nvSpPr>
            <p:spPr>
              <a:xfrm>
                <a:off x="3608890" y="4789367"/>
                <a:ext cx="742511" cy="560538"/>
              </a:xfrm>
              <a:prstGeom prst="rect">
                <a:avLst/>
              </a:prstGeom>
              <a:blipFill rotWithShape="0">
                <a:blip r:embed="rId7"/>
                <a:stretch>
                  <a:fillRect/>
                </a:stretch>
              </a:blipFill>
            </p:spPr>
            <p:txBody>
              <a:bodyPr/>
              <a:lstStyle/>
              <a:p>
                <a:r>
                  <a:rPr lang="en-US">
                    <a:noFill/>
                  </a:rPr>
                  <a:t> </a:t>
                </a:r>
              </a:p>
            </p:txBody>
          </p:sp>
        </mc:Fallback>
      </mc:AlternateContent>
      <p:sp>
        <p:nvSpPr>
          <p:cNvPr id="39" name="Oval 38"/>
          <p:cNvSpPr/>
          <p:nvPr/>
        </p:nvSpPr>
        <p:spPr>
          <a:xfrm>
            <a:off x="3187202" y="4307946"/>
            <a:ext cx="574146" cy="574146"/>
          </a:xfrm>
          <a:prstGeom prst="ellipse">
            <a:avLst/>
          </a:prstGeom>
          <a:solidFill>
            <a:schemeClr val="bg1">
              <a:lumMod val="75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wrap="none" rtlCol="0" anchor="ctr"/>
          <a:lstStyle/>
          <a:p>
            <a:pPr algn="ctr"/>
            <a:endParaRPr lang="en-US" sz="1600" dirty="0">
              <a:solidFill>
                <a:schemeClr val="tx2"/>
              </a:solidFill>
            </a:endParaRPr>
          </a:p>
        </p:txBody>
      </p:sp>
      <p:sp>
        <p:nvSpPr>
          <p:cNvPr id="41" name="Oval 40"/>
          <p:cNvSpPr/>
          <p:nvPr/>
        </p:nvSpPr>
        <p:spPr>
          <a:xfrm>
            <a:off x="3187202" y="5456237"/>
            <a:ext cx="574146" cy="574146"/>
          </a:xfrm>
          <a:prstGeom prst="ellipse">
            <a:avLst/>
          </a:prstGeom>
          <a:ln>
            <a:solidFill>
              <a:schemeClr val="bg1"/>
            </a:solidFill>
          </a:ln>
        </p:spPr>
        <p:style>
          <a:lnRef idx="3">
            <a:schemeClr val="lt1"/>
          </a:lnRef>
          <a:fillRef idx="1">
            <a:schemeClr val="dk1"/>
          </a:fillRef>
          <a:effectRef idx="1">
            <a:schemeClr val="dk1"/>
          </a:effectRef>
          <a:fontRef idx="minor">
            <a:schemeClr val="lt1"/>
          </a:fontRef>
        </p:style>
        <p:txBody>
          <a:bodyPr wrap="none" rtlCol="0" anchor="ctr"/>
          <a:lstStyle/>
          <a:p>
            <a:pPr algn="ctr"/>
            <a:r>
              <a:rPr lang="en-US" sz="1600" dirty="0" smtClean="0">
                <a:solidFill>
                  <a:schemeClr val="bg1"/>
                </a:solidFill>
              </a:rPr>
              <a:t>W</a:t>
            </a:r>
          </a:p>
          <a:p>
            <a:pPr algn="ctr"/>
            <a:r>
              <a:rPr lang="en-US" sz="1600" dirty="0" err="1" smtClean="0">
                <a:solidFill>
                  <a:schemeClr val="bg1"/>
                </a:solidFill>
              </a:rPr>
              <a:t>var</a:t>
            </a:r>
            <a:endParaRPr lang="en-US" sz="1600" dirty="0">
              <a:solidFill>
                <a:schemeClr val="bg1"/>
              </a:solidFill>
            </a:endParaRPr>
          </a:p>
        </p:txBody>
      </p:sp>
      <p:sp>
        <p:nvSpPr>
          <p:cNvPr id="42" name="Oval 41"/>
          <p:cNvSpPr/>
          <p:nvPr/>
        </p:nvSpPr>
        <p:spPr>
          <a:xfrm>
            <a:off x="4586682" y="5456237"/>
            <a:ext cx="574146" cy="574146"/>
          </a:xfrm>
          <a:prstGeom prst="ellipse">
            <a:avLst/>
          </a:prstGeom>
          <a:solidFill>
            <a:schemeClr val="bg1">
              <a:lumMod val="75000"/>
            </a:schemeClr>
          </a:solidFill>
          <a:ln>
            <a:noFill/>
          </a:ln>
        </p:spPr>
        <p:style>
          <a:lnRef idx="3">
            <a:schemeClr val="lt1"/>
          </a:lnRef>
          <a:fillRef idx="1">
            <a:schemeClr val="dk1"/>
          </a:fillRef>
          <a:effectRef idx="1">
            <a:schemeClr val="dk1"/>
          </a:effectRef>
          <a:fontRef idx="minor">
            <a:schemeClr val="lt1"/>
          </a:fontRef>
        </p:style>
        <p:txBody>
          <a:bodyPr wrap="none" rtlCol="0" anchor="ctr"/>
          <a:lstStyle/>
          <a:p>
            <a:pPr algn="ctr"/>
            <a:endParaRPr lang="en-US" sz="1600" dirty="0">
              <a:solidFill>
                <a:schemeClr val="bg1"/>
              </a:solidFill>
            </a:endParaRPr>
          </a:p>
        </p:txBody>
      </p:sp>
      <p:sp>
        <p:nvSpPr>
          <p:cNvPr id="43" name="Oval 42"/>
          <p:cNvSpPr/>
          <p:nvPr/>
        </p:nvSpPr>
        <p:spPr>
          <a:xfrm>
            <a:off x="3187202" y="3124200"/>
            <a:ext cx="574146" cy="574146"/>
          </a:xfrm>
          <a:prstGeom prst="ellipse">
            <a:avLst/>
          </a:prstGeom>
          <a:solidFill>
            <a:schemeClr val="bg1">
              <a:lumMod val="75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wrap="none" rtlCol="0" anchor="ctr"/>
          <a:lstStyle/>
          <a:p>
            <a:pPr algn="ctr"/>
            <a:endParaRPr lang="en-US" sz="1600" dirty="0">
              <a:solidFill>
                <a:schemeClr val="tx2"/>
              </a:solidFill>
            </a:endParaRPr>
          </a:p>
        </p:txBody>
      </p:sp>
      <mc:AlternateContent xmlns:mc="http://schemas.openxmlformats.org/markup-compatibility/2006" xmlns:a14="http://schemas.microsoft.com/office/drawing/2010/main">
        <mc:Choice Requires="a14">
          <p:sp>
            <p:nvSpPr>
              <p:cNvPr id="44" name="TextBox 43"/>
              <p:cNvSpPr txBox="1"/>
              <p:nvPr/>
            </p:nvSpPr>
            <p:spPr>
              <a:xfrm>
                <a:off x="2050374" y="1784949"/>
                <a:ext cx="8463086" cy="76450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charset="0"/>
                        </a:rPr>
                        <m:t>𝐽</m:t>
                      </m:r>
                      <m:r>
                        <a:rPr lang="en-US" sz="2400" b="0" i="1" smtClean="0">
                          <a:latin typeface="Cambria Math" charset="0"/>
                        </a:rPr>
                        <m:t>=</m:t>
                      </m:r>
                      <m:r>
                        <a:rPr lang="en-US" sz="2400" b="0" i="1" smtClean="0">
                          <a:latin typeface="Cambria Math" charset="0"/>
                        </a:rPr>
                        <m:t>𝑠𝑢𝑚</m:t>
                      </m:r>
                      <m:r>
                        <a:rPr lang="en-US" sz="2400" b="0" i="1" smtClean="0">
                          <a:latin typeface="Cambria Math" charset="0"/>
                        </a:rPr>
                        <m:t>;   </m:t>
                      </m:r>
                      <m:f>
                        <m:fPr>
                          <m:ctrlPr>
                            <a:rPr lang="mr-IN" sz="2400" b="0" i="1" smtClean="0">
                              <a:latin typeface="Cambria Math" panose="02040503050406030204" pitchFamily="18" charset="0"/>
                            </a:rPr>
                          </m:ctrlPr>
                        </m:fPr>
                        <m:num>
                          <m:r>
                            <a:rPr lang="mr-IN" sz="2400" b="0" i="1" smtClean="0">
                              <a:latin typeface="Cambria Math" charset="0"/>
                            </a:rPr>
                            <m:t>𝜕</m:t>
                          </m:r>
                          <m:r>
                            <a:rPr lang="en-US" sz="2400" b="0" i="1" smtClean="0">
                              <a:latin typeface="Cambria Math" charset="0"/>
                            </a:rPr>
                            <m:t>𝑠𝑢𝑚</m:t>
                          </m:r>
                        </m:num>
                        <m:den>
                          <m:r>
                            <a:rPr lang="mr-IN" sz="2400" b="0" i="1" smtClean="0">
                              <a:latin typeface="Cambria Math" charset="0"/>
                            </a:rPr>
                            <m:t>𝜕</m:t>
                          </m:r>
                          <m:r>
                            <a:rPr lang="en-US" sz="2400" b="0" i="1" smtClean="0">
                              <a:latin typeface="Cambria Math" charset="0"/>
                            </a:rPr>
                            <m:t>𝑊</m:t>
                          </m:r>
                        </m:den>
                      </m:f>
                      <m:r>
                        <a:rPr lang="en-US" sz="2400" b="0" i="1" smtClean="0">
                          <a:latin typeface="Cambria Math" charset="0"/>
                        </a:rPr>
                        <m:t>=</m:t>
                      </m:r>
                      <m:f>
                        <m:fPr>
                          <m:ctrlPr>
                            <a:rPr lang="mr-IN" sz="2400" i="1">
                              <a:latin typeface="Cambria Math" panose="02040503050406030204" pitchFamily="18" charset="0"/>
                            </a:rPr>
                          </m:ctrlPr>
                        </m:fPr>
                        <m:num>
                          <m:r>
                            <a:rPr lang="mr-IN" sz="2400" i="1">
                              <a:latin typeface="Cambria Math" charset="0"/>
                            </a:rPr>
                            <m:t>𝜕</m:t>
                          </m:r>
                          <m:r>
                            <a:rPr lang="en-US" sz="2400" i="1">
                              <a:latin typeface="Cambria Math" charset="0"/>
                            </a:rPr>
                            <m:t>𝑠𝑢𝑚</m:t>
                          </m:r>
                        </m:num>
                        <m:den>
                          <m:r>
                            <a:rPr lang="mr-IN" sz="2400" i="1">
                              <a:latin typeface="Cambria Math" charset="0"/>
                            </a:rPr>
                            <m:t>𝜕</m:t>
                          </m:r>
                          <m:r>
                            <a:rPr lang="en-US" sz="2400" i="1">
                              <a:latin typeface="Cambria Math" charset="0"/>
                            </a:rPr>
                            <m:t>𝑠𝑞𝑢𝑎𝑟𝑒</m:t>
                          </m:r>
                        </m:den>
                      </m:f>
                      <m:r>
                        <a:rPr lang="en-US" sz="2400" b="0" i="1" smtClean="0">
                          <a:latin typeface="Cambria Math" charset="0"/>
                        </a:rPr>
                        <m:t> ∙</m:t>
                      </m:r>
                      <m:f>
                        <m:fPr>
                          <m:ctrlPr>
                            <a:rPr lang="mr-IN" sz="2400" i="1">
                              <a:latin typeface="Cambria Math" panose="02040503050406030204" pitchFamily="18" charset="0"/>
                            </a:rPr>
                          </m:ctrlPr>
                        </m:fPr>
                        <m:num>
                          <m:r>
                            <a:rPr lang="mr-IN" sz="2400" i="1">
                              <a:latin typeface="Cambria Math" charset="0"/>
                            </a:rPr>
                            <m:t>𝜕</m:t>
                          </m:r>
                          <m:r>
                            <a:rPr lang="en-US" sz="2400" i="1">
                              <a:latin typeface="Cambria Math" charset="0"/>
                            </a:rPr>
                            <m:t>𝑠𝑞𝑢𝑎𝑟𝑒</m:t>
                          </m:r>
                        </m:num>
                        <m:den>
                          <m:r>
                            <a:rPr lang="mr-IN" sz="2400" i="1">
                              <a:latin typeface="Cambria Math" charset="0"/>
                            </a:rPr>
                            <m:t>𝜕</m:t>
                          </m:r>
                          <m:r>
                            <a:rPr lang="en-US" sz="2400" i="1">
                              <a:latin typeface="Cambria Math" charset="0"/>
                            </a:rPr>
                            <m:t>𝑚𝑖𝑛𝑢𝑠</m:t>
                          </m:r>
                        </m:den>
                      </m:f>
                      <m:r>
                        <a:rPr lang="en-US" sz="2400" b="0" i="1" smtClean="0">
                          <a:latin typeface="Cambria Math" charset="0"/>
                        </a:rPr>
                        <m:t>∙</m:t>
                      </m:r>
                      <m:f>
                        <m:fPr>
                          <m:ctrlPr>
                            <a:rPr lang="mr-IN" sz="2400" i="1">
                              <a:latin typeface="Cambria Math" panose="02040503050406030204" pitchFamily="18" charset="0"/>
                            </a:rPr>
                          </m:ctrlPr>
                        </m:fPr>
                        <m:num>
                          <m:r>
                            <a:rPr lang="mr-IN" sz="2400" i="1">
                              <a:latin typeface="Cambria Math" charset="0"/>
                            </a:rPr>
                            <m:t>𝜕</m:t>
                          </m:r>
                          <m:r>
                            <a:rPr lang="en-US" sz="2400" i="1">
                              <a:latin typeface="Cambria Math" charset="0"/>
                            </a:rPr>
                            <m:t>𝑚𝑖𝑛𝑢𝑠</m:t>
                          </m:r>
                        </m:num>
                        <m:den>
                          <m:r>
                            <a:rPr lang="mr-IN" sz="2400" i="1">
                              <a:latin typeface="Cambria Math" charset="0"/>
                            </a:rPr>
                            <m:t>𝜕</m:t>
                          </m:r>
                          <m:r>
                            <a:rPr lang="en-US" sz="2400" i="1">
                              <a:latin typeface="Cambria Math" charset="0"/>
                            </a:rPr>
                            <m:t>𝑎𝑑𝑑</m:t>
                          </m:r>
                        </m:den>
                      </m:f>
                      <m:r>
                        <a:rPr lang="en-US" sz="2400" b="0" i="1" smtClean="0">
                          <a:latin typeface="Cambria Math" charset="0"/>
                        </a:rPr>
                        <m:t>∙</m:t>
                      </m:r>
                      <m:f>
                        <m:fPr>
                          <m:ctrlPr>
                            <a:rPr lang="mr-IN" sz="2400" i="1">
                              <a:latin typeface="Cambria Math" panose="02040503050406030204" pitchFamily="18" charset="0"/>
                            </a:rPr>
                          </m:ctrlPr>
                        </m:fPr>
                        <m:num>
                          <m:r>
                            <a:rPr lang="mr-IN" sz="2400" i="1">
                              <a:latin typeface="Cambria Math" charset="0"/>
                            </a:rPr>
                            <m:t>𝜕</m:t>
                          </m:r>
                          <m:r>
                            <a:rPr lang="en-US" sz="2400" i="1">
                              <a:latin typeface="Cambria Math" charset="0"/>
                            </a:rPr>
                            <m:t>𝑎𝑑𝑑</m:t>
                          </m:r>
                        </m:num>
                        <m:den>
                          <m:r>
                            <a:rPr lang="mr-IN" sz="2400" i="1">
                              <a:latin typeface="Cambria Math" charset="0"/>
                            </a:rPr>
                            <m:t>𝜕</m:t>
                          </m:r>
                          <m:r>
                            <a:rPr lang="en-US" sz="2400" b="0" i="1" smtClean="0">
                              <a:latin typeface="Cambria Math" charset="0"/>
                            </a:rPr>
                            <m:t>𝑚𝑢𝑙</m:t>
                          </m:r>
                        </m:den>
                      </m:f>
                      <m:r>
                        <a:rPr lang="en-US" sz="2400" b="0" i="1" smtClean="0">
                          <a:latin typeface="Cambria Math" charset="0"/>
                        </a:rPr>
                        <m:t>∙</m:t>
                      </m:r>
                      <m:f>
                        <m:fPr>
                          <m:ctrlPr>
                            <a:rPr lang="mr-IN" sz="2400" i="1">
                              <a:latin typeface="Cambria Math" panose="02040503050406030204" pitchFamily="18" charset="0"/>
                            </a:rPr>
                          </m:ctrlPr>
                        </m:fPr>
                        <m:num>
                          <m:r>
                            <a:rPr lang="mr-IN" sz="2400" i="1">
                              <a:latin typeface="Cambria Math" charset="0"/>
                            </a:rPr>
                            <m:t>𝜕</m:t>
                          </m:r>
                          <m:r>
                            <a:rPr lang="en-US" sz="2400" i="1">
                              <a:latin typeface="Cambria Math" charset="0"/>
                            </a:rPr>
                            <m:t>𝑚𝑢𝑙</m:t>
                          </m:r>
                        </m:num>
                        <m:den>
                          <m:r>
                            <a:rPr lang="mr-IN" sz="2400" i="1">
                              <a:latin typeface="Cambria Math" charset="0"/>
                            </a:rPr>
                            <m:t>𝜕</m:t>
                          </m:r>
                          <m:r>
                            <a:rPr lang="en-US" sz="2400" i="1">
                              <a:latin typeface="Cambria Math" charset="0"/>
                            </a:rPr>
                            <m:t>𝑊</m:t>
                          </m:r>
                        </m:den>
                      </m:f>
                    </m:oMath>
                  </m:oMathPara>
                </a14:m>
                <a:endParaRPr lang="en-US" sz="2400" dirty="0"/>
              </a:p>
            </p:txBody>
          </p:sp>
        </mc:Choice>
        <mc:Fallback xmlns="">
          <p:sp>
            <p:nvSpPr>
              <p:cNvPr id="44" name="TextBox 43"/>
              <p:cNvSpPr txBox="1">
                <a:spLocks noRot="1" noChangeAspect="1" noMove="1" noResize="1" noEditPoints="1" noAdjustHandles="1" noChangeArrowheads="1" noChangeShapeType="1" noTextEdit="1"/>
              </p:cNvSpPr>
              <p:nvPr/>
            </p:nvSpPr>
            <p:spPr>
              <a:xfrm>
                <a:off x="2050374" y="1784949"/>
                <a:ext cx="8463086" cy="764505"/>
              </a:xfrm>
              <a:prstGeom prst="rect">
                <a:avLst/>
              </a:prstGeom>
              <a:blipFill rotWithShape="0">
                <a:blip r:embed="rId8"/>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59777422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This is automatic differentiation</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By using easily differentiable pieces, we get the derivative with respect to arbitrary inputs</a:t>
            </a:r>
          </a:p>
          <a:p>
            <a:endParaRPr lang="en-US" dirty="0"/>
          </a:p>
          <a:p>
            <a:r>
              <a:rPr lang="en-US" dirty="0" smtClean="0"/>
              <a:t>Generalizes as long as you use differentiable pieces</a:t>
            </a:r>
          </a:p>
          <a:p>
            <a:endParaRPr lang="en-US" dirty="0" smtClean="0"/>
          </a:p>
          <a:p>
            <a:r>
              <a:rPr lang="en-US" dirty="0" smtClean="0"/>
              <a:t>This is how </a:t>
            </a:r>
            <a:r>
              <a:rPr lang="en-US" dirty="0" err="1" smtClean="0"/>
              <a:t>TensorFlow</a:t>
            </a:r>
            <a:r>
              <a:rPr lang="en-US" dirty="0" smtClean="0"/>
              <a:t>, </a:t>
            </a:r>
            <a:r>
              <a:rPr lang="en-US" dirty="0" err="1" smtClean="0"/>
              <a:t>Theano</a:t>
            </a:r>
            <a:r>
              <a:rPr lang="en-US" dirty="0" smtClean="0"/>
              <a:t>, Torch, etc. work</a:t>
            </a:r>
          </a:p>
          <a:p>
            <a:pPr lvl="1"/>
            <a:r>
              <a:rPr lang="en-US" dirty="0" smtClean="0"/>
              <a:t>Each differentiable </a:t>
            </a:r>
            <a:r>
              <a:rPr lang="en-US" dirty="0" smtClean="0">
                <a:latin typeface="Consolas" charset="0"/>
                <a:ea typeface="Consolas" charset="0"/>
                <a:cs typeface="Consolas" charset="0"/>
              </a:rPr>
              <a:t>Operation</a:t>
            </a:r>
            <a:r>
              <a:rPr lang="en-US" dirty="0" smtClean="0"/>
              <a:t> has a “gradient” function that defines how to take the derivative </a:t>
            </a:r>
            <a:r>
              <a:rPr lang="en-US" dirty="0" err="1" smtClean="0"/>
              <a:t>w.r.t</a:t>
            </a:r>
            <a:r>
              <a:rPr lang="en-US" dirty="0" smtClean="0"/>
              <a:t> its different inputs</a:t>
            </a:r>
          </a:p>
          <a:p>
            <a:endParaRPr lang="en-US" dirty="0" smtClean="0"/>
          </a:p>
          <a:p>
            <a:r>
              <a:rPr lang="en-US" dirty="0" smtClean="0"/>
              <a:t>This is essentially </a:t>
            </a:r>
            <a:r>
              <a:rPr lang="en-US" i="1" dirty="0" smtClean="0"/>
              <a:t>Backpropagation</a:t>
            </a:r>
            <a:endParaRPr lang="en-US" dirty="0" smtClean="0"/>
          </a:p>
        </p:txBody>
      </p:sp>
    </p:spTree>
    <p:extLst>
      <p:ext uri="{BB962C8B-B14F-4D97-AF65-F5344CB8AC3E}">
        <p14:creationId xmlns:p14="http://schemas.microsoft.com/office/powerpoint/2010/main" val="46896635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Vectorization</a:t>
            </a:r>
            <a:endParaRPr lang="en-US" dirty="0"/>
          </a:p>
        </p:txBody>
      </p:sp>
    </p:spTree>
    <p:extLst>
      <p:ext uri="{BB962C8B-B14F-4D97-AF65-F5344CB8AC3E}">
        <p14:creationId xmlns:p14="http://schemas.microsoft.com/office/powerpoint/2010/main" val="164928344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Parallelizing our math</a:t>
            </a:r>
            <a:endParaRPr lang="en-US" dirty="0"/>
          </a:p>
        </p:txBody>
      </p:sp>
      <p:sp>
        <p:nvSpPr>
          <p:cNvPr id="3" name="Content Placeholder 2"/>
          <p:cNvSpPr>
            <a:spLocks noGrp="1"/>
          </p:cNvSpPr>
          <p:nvPr>
            <p:ph idx="1"/>
          </p:nvPr>
        </p:nvSpPr>
        <p:spPr/>
        <p:txBody>
          <a:bodyPr/>
          <a:lstStyle/>
          <a:p>
            <a:r>
              <a:rPr lang="en-US" dirty="0" smtClean="0"/>
              <a:t>So far, we’ve limited our model:</a:t>
            </a:r>
          </a:p>
          <a:p>
            <a:pPr lvl="1">
              <a:buFont typeface="Arial" charset="0"/>
              <a:buChar char="•"/>
            </a:pPr>
            <a:r>
              <a:rPr lang="en-US" dirty="0"/>
              <a:t>S</a:t>
            </a:r>
            <a:r>
              <a:rPr lang="en-US" dirty="0" smtClean="0"/>
              <a:t>ingle-variable regression </a:t>
            </a:r>
          </a:p>
          <a:p>
            <a:pPr lvl="2">
              <a:buFont typeface="Arial" charset="0"/>
              <a:buChar char="•"/>
            </a:pPr>
            <a:r>
              <a:rPr lang="en-US" dirty="0" smtClean="0"/>
              <a:t>Or, at least explicit placeholders for each input x</a:t>
            </a:r>
          </a:p>
          <a:p>
            <a:pPr lvl="1">
              <a:buFont typeface="Arial" charset="0"/>
              <a:buChar char="•"/>
            </a:pPr>
            <a:r>
              <a:rPr lang="en-US" dirty="0"/>
              <a:t>O</a:t>
            </a:r>
            <a:r>
              <a:rPr lang="en-US" dirty="0" smtClean="0"/>
              <a:t>nly processing one example at a time</a:t>
            </a:r>
          </a:p>
          <a:p>
            <a:pPr>
              <a:buFont typeface="Arial" charset="0"/>
              <a:buChar char="•"/>
            </a:pPr>
            <a:endParaRPr lang="en-US" dirty="0"/>
          </a:p>
          <a:p>
            <a:r>
              <a:rPr lang="en-US" dirty="0" smtClean="0"/>
              <a:t>We can do better on both:</a:t>
            </a:r>
          </a:p>
          <a:p>
            <a:pPr lvl="1">
              <a:buFont typeface="Arial" charset="0"/>
              <a:buChar char="•"/>
            </a:pPr>
            <a:r>
              <a:rPr lang="en-US" dirty="0" smtClean="0"/>
              <a:t>Multi-variable regression - with only one placeholder input!</a:t>
            </a:r>
          </a:p>
          <a:p>
            <a:pPr lvl="1">
              <a:buFont typeface="Arial" charset="0"/>
              <a:buChar char="•"/>
            </a:pPr>
            <a:r>
              <a:rPr lang="en-US" dirty="0" smtClean="0"/>
              <a:t>Process many pieces of data in a “batch”</a:t>
            </a:r>
            <a:endParaRPr lang="en-US" dirty="0"/>
          </a:p>
        </p:txBody>
      </p:sp>
    </p:spTree>
    <p:extLst>
      <p:ext uri="{BB962C8B-B14F-4D97-AF65-F5344CB8AC3E}">
        <p14:creationId xmlns:p14="http://schemas.microsoft.com/office/powerpoint/2010/main" val="57999997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Vectorization #1: multi-variable regression</a:t>
            </a:r>
            <a:endParaRPr lang="en-US" dirty="0"/>
          </a:p>
        </p:txBody>
      </p:sp>
      <p:sp>
        <p:nvSpPr>
          <p:cNvPr id="3" name="Content Placeholder 2"/>
          <p:cNvSpPr>
            <a:spLocks noGrp="1"/>
          </p:cNvSpPr>
          <p:nvPr>
            <p:ph idx="1"/>
          </p:nvPr>
        </p:nvSpPr>
        <p:spPr>
          <a:xfrm>
            <a:off x="1593436" y="1600200"/>
            <a:ext cx="9782801" cy="762000"/>
          </a:xfrm>
        </p:spPr>
        <p:txBody>
          <a:bodyPr/>
          <a:lstStyle/>
          <a:p>
            <a:r>
              <a:rPr lang="en-US" dirty="0" smtClean="0"/>
              <a:t>Let’s modify the function for our linear model:</a:t>
            </a:r>
            <a:endParaRPr lang="en-US" dirty="0"/>
          </a:p>
        </p:txBody>
      </p:sp>
      <mc:AlternateContent xmlns:mc="http://schemas.openxmlformats.org/markup-compatibility/2006" xmlns:a14="http://schemas.microsoft.com/office/drawing/2010/main">
        <mc:Choice Requires="a14">
          <p:sp>
            <p:nvSpPr>
              <p:cNvPr id="4" name="Rectangle 3"/>
              <p:cNvSpPr/>
              <p:nvPr/>
            </p:nvSpPr>
            <p:spPr>
              <a:xfrm>
                <a:off x="4265612" y="2362200"/>
                <a:ext cx="3130537" cy="66140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acc>
                        <m:accPr>
                          <m:chr m:val="̂"/>
                          <m:ctrlPr>
                            <a:rPr lang="en-US" sz="3600" i="1" smtClean="0">
                              <a:latin typeface="Cambria Math" panose="02040503050406030204" pitchFamily="18" charset="0"/>
                            </a:rPr>
                          </m:ctrlPr>
                        </m:accPr>
                        <m:e>
                          <m:r>
                            <a:rPr lang="en-US" sz="3600" b="0" i="1" smtClean="0">
                              <a:latin typeface="Cambria Math" charset="0"/>
                            </a:rPr>
                            <m:t>𝑌</m:t>
                          </m:r>
                        </m:e>
                      </m:acc>
                      <m:r>
                        <a:rPr lang="en-US" sz="3600" i="1">
                          <a:latin typeface="Cambria Math" charset="0"/>
                        </a:rPr>
                        <m:t>=</m:t>
                      </m:r>
                      <m:sSup>
                        <m:sSupPr>
                          <m:ctrlPr>
                            <a:rPr lang="en-US" sz="3600" b="0" i="1" smtClean="0">
                              <a:latin typeface="Cambria Math" panose="02040503050406030204" pitchFamily="18" charset="0"/>
                            </a:rPr>
                          </m:ctrlPr>
                        </m:sSupPr>
                        <m:e>
                          <m:r>
                            <a:rPr lang="en-US" sz="3600" b="0" i="1" smtClean="0">
                              <a:latin typeface="Cambria Math" charset="0"/>
                            </a:rPr>
                            <m:t>𝑋</m:t>
                          </m:r>
                        </m:e>
                        <m:sup>
                          <m:r>
                            <a:rPr lang="en-US" sz="3600" b="0" i="1" smtClean="0">
                              <a:latin typeface="Cambria Math" charset="0"/>
                            </a:rPr>
                            <m:t>𝑇</m:t>
                          </m:r>
                        </m:sup>
                      </m:sSup>
                      <m:r>
                        <a:rPr lang="en-US" sz="3600" b="0" i="1" smtClean="0">
                          <a:latin typeface="Cambria Math" charset="0"/>
                        </a:rPr>
                        <m:t>𝑊</m:t>
                      </m:r>
                      <m:r>
                        <a:rPr lang="en-US" sz="3600" i="1">
                          <a:latin typeface="Cambria Math" charset="0"/>
                        </a:rPr>
                        <m:t>+</m:t>
                      </m:r>
                      <m:r>
                        <a:rPr lang="en-US" sz="3600" i="1">
                          <a:latin typeface="Cambria Math" charset="0"/>
                        </a:rPr>
                        <m:t>𝑏</m:t>
                      </m:r>
                    </m:oMath>
                  </m:oMathPara>
                </a14:m>
                <a:endParaRPr lang="en-US" sz="3600" dirty="0"/>
              </a:p>
            </p:txBody>
          </p:sp>
        </mc:Choice>
        <mc:Fallback xmlns="">
          <p:sp>
            <p:nvSpPr>
              <p:cNvPr id="4" name="Rectangle 3"/>
              <p:cNvSpPr>
                <a:spLocks noRot="1" noChangeAspect="1" noMove="1" noResize="1" noEditPoints="1" noAdjustHandles="1" noChangeArrowheads="1" noChangeShapeType="1" noTextEdit="1"/>
              </p:cNvSpPr>
              <p:nvPr/>
            </p:nvSpPr>
            <p:spPr>
              <a:xfrm>
                <a:off x="4265612" y="2362200"/>
                <a:ext cx="3130537" cy="661400"/>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Content Placeholder 2"/>
              <p:cNvSpPr txBox="1">
                <a:spLocks/>
              </p:cNvSpPr>
              <p:nvPr/>
            </p:nvSpPr>
            <p:spPr>
              <a:xfrm>
                <a:off x="1598612" y="3276600"/>
                <a:ext cx="9782801" cy="3505200"/>
              </a:xfrm>
              <a:prstGeom prst="rect">
                <a:avLst/>
              </a:prstGeom>
            </p:spPr>
            <p:txBody>
              <a:bodyPr vert="horz" lIns="91440" tIns="45720" rIns="91440" bIns="45720" rtlCol="0">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buNone/>
                </a:pPr>
                <a14:m>
                  <m:oMath xmlns:m="http://schemas.openxmlformats.org/officeDocument/2006/math">
                    <m:acc>
                      <m:accPr>
                        <m:chr m:val="̂"/>
                        <m:ctrlPr>
                          <a:rPr lang="en-US" i="1" smtClean="0">
                            <a:latin typeface="Cambria Math" panose="02040503050406030204" pitchFamily="18" charset="0"/>
                          </a:rPr>
                        </m:ctrlPr>
                      </m:accPr>
                      <m:e>
                        <m:r>
                          <a:rPr lang="en-US" i="1">
                            <a:latin typeface="Cambria Math" charset="0"/>
                          </a:rPr>
                          <m:t>𝑌</m:t>
                        </m:r>
                      </m:e>
                    </m:acc>
                    <m:r>
                      <a:rPr lang="en-US" b="0" i="1" smtClean="0">
                        <a:latin typeface="Cambria Math" charset="0"/>
                      </a:rPr>
                      <m:t>∈</m:t>
                    </m:r>
                    <m:r>
                      <a:rPr lang="en-US" b="0" i="1" smtClean="0">
                        <a:latin typeface="Cambria Math" charset="0"/>
                        <a:ea typeface="Cambria Math" charset="0"/>
                        <a:cs typeface="Cambria Math" charset="0"/>
                      </a:rPr>
                      <m:t>ℝ</m:t>
                    </m:r>
                  </m:oMath>
                </a14:m>
                <a:r>
                  <a:rPr lang="en-US" dirty="0" smtClean="0"/>
                  <a:t> - an scalar prediction</a:t>
                </a:r>
              </a:p>
              <a:p>
                <a:pPr marL="0" indent="0">
                  <a:buNone/>
                </a:pPr>
                <a14:m>
                  <m:oMath xmlns:m="http://schemas.openxmlformats.org/officeDocument/2006/math">
                    <m:r>
                      <a:rPr lang="en-US" b="0" i="1" smtClean="0">
                        <a:latin typeface="Cambria Math" charset="0"/>
                      </a:rPr>
                      <m:t>𝑋</m:t>
                    </m:r>
                    <m:r>
                      <a:rPr lang="en-US" i="1">
                        <a:latin typeface="Cambria Math" charset="0"/>
                      </a:rPr>
                      <m:t>∈</m:t>
                    </m:r>
                    <m:sSup>
                      <m:sSupPr>
                        <m:ctrlPr>
                          <a:rPr lang="en-US" i="1">
                            <a:latin typeface="Cambria Math" panose="02040503050406030204" pitchFamily="18" charset="0"/>
                            <a:ea typeface="Cambria Math" charset="0"/>
                            <a:cs typeface="Cambria Math" charset="0"/>
                          </a:rPr>
                        </m:ctrlPr>
                      </m:sSupPr>
                      <m:e>
                        <m:r>
                          <a:rPr lang="en-US" i="1">
                            <a:latin typeface="Cambria Math" charset="0"/>
                            <a:ea typeface="Cambria Math" charset="0"/>
                            <a:cs typeface="Cambria Math" charset="0"/>
                          </a:rPr>
                          <m:t>ℝ</m:t>
                        </m:r>
                      </m:e>
                      <m:sup>
                        <m:r>
                          <a:rPr lang="en-US" b="0" i="1" smtClean="0">
                            <a:latin typeface="Cambria Math" charset="0"/>
                            <a:ea typeface="Cambria Math" charset="0"/>
                            <a:cs typeface="Cambria Math" charset="0"/>
                          </a:rPr>
                          <m:t>𝑚</m:t>
                        </m:r>
                      </m:sup>
                    </m:sSup>
                  </m:oMath>
                </a14:m>
                <a:r>
                  <a:rPr lang="en-US" dirty="0"/>
                  <a:t> - an </a:t>
                </a:r>
                <a:r>
                  <a:rPr lang="en-US" dirty="0" smtClean="0"/>
                  <a:t>m length vector.  Inputs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charset="0"/>
                          </a:rPr>
                          <m:t>𝑥</m:t>
                        </m:r>
                      </m:e>
                      <m:sub>
                        <m:r>
                          <a:rPr lang="en-US" b="0" i="1" smtClean="0">
                            <a:latin typeface="Cambria Math" charset="0"/>
                          </a:rPr>
                          <m:t>1</m:t>
                        </m:r>
                      </m:sub>
                    </m:sSub>
                    <m:r>
                      <a:rPr lang="en-US" b="0" i="1" smtClean="0">
                        <a:latin typeface="Cambria Math" charset="0"/>
                      </a:rPr>
                      <m:t>,</m:t>
                    </m:r>
                    <m:sSub>
                      <m:sSubPr>
                        <m:ctrlPr>
                          <a:rPr lang="en-US" b="0" i="1" smtClean="0">
                            <a:latin typeface="Cambria Math" panose="02040503050406030204" pitchFamily="18" charset="0"/>
                          </a:rPr>
                        </m:ctrlPr>
                      </m:sSubPr>
                      <m:e>
                        <m:r>
                          <a:rPr lang="en-US" b="0" i="1" smtClean="0">
                            <a:latin typeface="Cambria Math" charset="0"/>
                          </a:rPr>
                          <m:t>𝑥</m:t>
                        </m:r>
                      </m:e>
                      <m:sub>
                        <m:r>
                          <a:rPr lang="en-US" b="0" i="1" smtClean="0">
                            <a:latin typeface="Cambria Math" charset="0"/>
                          </a:rPr>
                          <m:t>2</m:t>
                        </m:r>
                      </m:sub>
                    </m:sSub>
                    <m:r>
                      <a:rPr lang="en-US" b="0" i="1" smtClean="0">
                        <a:latin typeface="Cambria Math" charset="0"/>
                      </a:rPr>
                      <m:t>,…, </m:t>
                    </m:r>
                    <m:sSub>
                      <m:sSubPr>
                        <m:ctrlPr>
                          <a:rPr lang="en-US" b="0" i="1" smtClean="0">
                            <a:latin typeface="Cambria Math" panose="02040503050406030204" pitchFamily="18" charset="0"/>
                          </a:rPr>
                        </m:ctrlPr>
                      </m:sSubPr>
                      <m:e>
                        <m:r>
                          <a:rPr lang="en-US" b="0" i="1" smtClean="0">
                            <a:latin typeface="Cambria Math" charset="0"/>
                          </a:rPr>
                          <m:t>𝑥</m:t>
                        </m:r>
                      </m:e>
                      <m:sub>
                        <m:r>
                          <a:rPr lang="en-US" b="0" i="1" smtClean="0">
                            <a:latin typeface="Cambria Math" charset="0"/>
                          </a:rPr>
                          <m:t>𝑚</m:t>
                        </m:r>
                      </m:sub>
                    </m:sSub>
                  </m:oMath>
                </a14:m>
                <a:endParaRPr lang="en-US" dirty="0" smtClean="0"/>
              </a:p>
              <a:p>
                <a:pPr marL="0" indent="0">
                  <a:buNone/>
                </a:pPr>
                <a:endParaRPr lang="en-US" b="0" i="1" dirty="0" smtClean="0">
                  <a:latin typeface="Cambria Math" charset="0"/>
                </a:endParaRPr>
              </a:p>
              <a:p>
                <a:pPr marL="0" indent="0">
                  <a:buNone/>
                </a:pPr>
                <a14:m>
                  <m:oMath xmlns:m="http://schemas.openxmlformats.org/officeDocument/2006/math">
                    <m:r>
                      <a:rPr lang="en-US" b="0" i="1" smtClean="0">
                        <a:latin typeface="Cambria Math" charset="0"/>
                      </a:rPr>
                      <m:t>𝑊</m:t>
                    </m:r>
                    <m:r>
                      <a:rPr lang="en-US" i="1">
                        <a:latin typeface="Cambria Math" charset="0"/>
                      </a:rPr>
                      <m:t>∈</m:t>
                    </m:r>
                    <m:sSup>
                      <m:sSupPr>
                        <m:ctrlPr>
                          <a:rPr lang="en-US" i="1">
                            <a:latin typeface="Cambria Math" panose="02040503050406030204" pitchFamily="18" charset="0"/>
                            <a:ea typeface="Cambria Math" charset="0"/>
                            <a:cs typeface="Cambria Math" charset="0"/>
                          </a:rPr>
                        </m:ctrlPr>
                      </m:sSupPr>
                      <m:e>
                        <m:r>
                          <a:rPr lang="en-US" i="1">
                            <a:latin typeface="Cambria Math" charset="0"/>
                            <a:ea typeface="Cambria Math" charset="0"/>
                            <a:cs typeface="Cambria Math" charset="0"/>
                          </a:rPr>
                          <m:t>ℝ</m:t>
                        </m:r>
                      </m:e>
                      <m:sup>
                        <m:r>
                          <a:rPr lang="en-US" b="0" i="1" smtClean="0">
                            <a:latin typeface="Cambria Math" charset="0"/>
                            <a:ea typeface="Cambria Math" charset="0"/>
                            <a:cs typeface="Cambria Math" charset="0"/>
                          </a:rPr>
                          <m:t>𝑚</m:t>
                        </m:r>
                      </m:sup>
                    </m:sSup>
                  </m:oMath>
                </a14:m>
                <a:r>
                  <a:rPr lang="en-US" dirty="0"/>
                  <a:t> - an m</a:t>
                </a:r>
                <a:r>
                  <a:rPr lang="en-US" dirty="0" smtClean="0"/>
                  <a:t>-dimensional </a:t>
                </a:r>
                <a:r>
                  <a:rPr lang="en-US" dirty="0"/>
                  <a:t>vector</a:t>
                </a:r>
                <a:r>
                  <a:rPr lang="en-US" dirty="0" smtClean="0"/>
                  <a:t>.</a:t>
                </a:r>
              </a:p>
              <a:p>
                <a:pPr marL="365760" lvl="1" indent="0">
                  <a:buNone/>
                </a:pPr>
                <a:r>
                  <a:rPr lang="en-US" dirty="0" smtClean="0"/>
                  <a:t>m weights corresponding to </a:t>
                </a:r>
                <a14:m>
                  <m:oMath xmlns:m="http://schemas.openxmlformats.org/officeDocument/2006/math">
                    <m:sSub>
                      <m:sSubPr>
                        <m:ctrlPr>
                          <a:rPr lang="en-US" i="1">
                            <a:latin typeface="Cambria Math" panose="02040503050406030204" pitchFamily="18" charset="0"/>
                          </a:rPr>
                        </m:ctrlPr>
                      </m:sSubPr>
                      <m:e>
                        <m:r>
                          <a:rPr lang="en-US" i="1">
                            <a:latin typeface="Cambria Math" charset="0"/>
                          </a:rPr>
                          <m:t>𝑥</m:t>
                        </m:r>
                      </m:e>
                      <m:sub>
                        <m:r>
                          <a:rPr lang="en-US" i="1">
                            <a:latin typeface="Cambria Math" charset="0"/>
                          </a:rPr>
                          <m:t>1</m:t>
                        </m:r>
                      </m:sub>
                    </m:sSub>
                    <m:r>
                      <a:rPr lang="en-US" i="1">
                        <a:latin typeface="Cambria Math" charset="0"/>
                      </a:rPr>
                      <m:t>,</m:t>
                    </m:r>
                    <m:sSub>
                      <m:sSubPr>
                        <m:ctrlPr>
                          <a:rPr lang="en-US" i="1">
                            <a:latin typeface="Cambria Math" panose="02040503050406030204" pitchFamily="18" charset="0"/>
                          </a:rPr>
                        </m:ctrlPr>
                      </m:sSubPr>
                      <m:e>
                        <m:r>
                          <a:rPr lang="en-US" i="1">
                            <a:latin typeface="Cambria Math" charset="0"/>
                          </a:rPr>
                          <m:t>𝑥</m:t>
                        </m:r>
                      </m:e>
                      <m:sub>
                        <m:r>
                          <a:rPr lang="en-US" i="1">
                            <a:latin typeface="Cambria Math" charset="0"/>
                          </a:rPr>
                          <m:t>2</m:t>
                        </m:r>
                      </m:sub>
                    </m:sSub>
                    <m:r>
                      <a:rPr lang="en-US" i="1">
                        <a:latin typeface="Cambria Math" charset="0"/>
                      </a:rPr>
                      <m:t>,…, </m:t>
                    </m:r>
                    <m:sSub>
                      <m:sSubPr>
                        <m:ctrlPr>
                          <a:rPr lang="en-US" i="1">
                            <a:latin typeface="Cambria Math" panose="02040503050406030204" pitchFamily="18" charset="0"/>
                          </a:rPr>
                        </m:ctrlPr>
                      </m:sSubPr>
                      <m:e>
                        <m:r>
                          <a:rPr lang="en-US" i="1">
                            <a:latin typeface="Cambria Math" charset="0"/>
                          </a:rPr>
                          <m:t>𝑥</m:t>
                        </m:r>
                      </m:e>
                      <m:sub>
                        <m:r>
                          <a:rPr lang="en-US" i="1">
                            <a:latin typeface="Cambria Math" charset="0"/>
                          </a:rPr>
                          <m:t>𝑚</m:t>
                        </m:r>
                      </m:sub>
                    </m:sSub>
                  </m:oMath>
                </a14:m>
                <a:r>
                  <a:rPr lang="en-US" dirty="0" smtClean="0"/>
                  <a:t>  </a:t>
                </a:r>
                <a:endParaRPr lang="en-US" b="0" i="1" dirty="0" smtClean="0">
                  <a:latin typeface="Cambria Math" charset="0"/>
                </a:endParaRPr>
              </a:p>
              <a:p>
                <a:pPr marL="0" indent="0">
                  <a:buNone/>
                </a:pPr>
                <a14:m>
                  <m:oMath xmlns:m="http://schemas.openxmlformats.org/officeDocument/2006/math">
                    <m:r>
                      <a:rPr lang="en-US" b="0" i="1" smtClean="0">
                        <a:latin typeface="Cambria Math" charset="0"/>
                      </a:rPr>
                      <m:t>𝑏</m:t>
                    </m:r>
                    <m:r>
                      <a:rPr lang="en-US" i="1">
                        <a:latin typeface="Cambria Math" charset="0"/>
                      </a:rPr>
                      <m:t>∈</m:t>
                    </m:r>
                    <m:r>
                      <a:rPr lang="en-US" i="1">
                        <a:latin typeface="Cambria Math" charset="0"/>
                        <a:ea typeface="Cambria Math" charset="0"/>
                        <a:cs typeface="Cambria Math" charset="0"/>
                      </a:rPr>
                      <m:t>ℝ</m:t>
                    </m:r>
                  </m:oMath>
                </a14:m>
                <a:r>
                  <a:rPr lang="en-US" dirty="0" smtClean="0"/>
                  <a:t> - a scalar bias</a:t>
                </a:r>
                <a:endParaRPr lang="en-US" dirty="0"/>
              </a:p>
            </p:txBody>
          </p:sp>
        </mc:Choice>
        <mc:Fallback xmlns="">
          <p:sp>
            <p:nvSpPr>
              <p:cNvPr id="5" name="Content Placeholder 2"/>
              <p:cNvSpPr txBox="1">
                <a:spLocks noRot="1" noChangeAspect="1" noMove="1" noResize="1" noEditPoints="1" noAdjustHandles="1" noChangeArrowheads="1" noChangeShapeType="1" noTextEdit="1"/>
              </p:cNvSpPr>
              <p:nvPr/>
            </p:nvSpPr>
            <p:spPr>
              <a:xfrm>
                <a:off x="1598612" y="3276600"/>
                <a:ext cx="9782801" cy="3505200"/>
              </a:xfrm>
              <a:prstGeom prst="rect">
                <a:avLst/>
              </a:prstGeom>
              <a:blipFill rotWithShape="0">
                <a:blip r:embed="rId4"/>
                <a:stretch>
                  <a:fillRect t="-2957"/>
                </a:stretch>
              </a:blipFill>
            </p:spPr>
            <p:txBody>
              <a:bodyPr/>
              <a:lstStyle/>
              <a:p>
                <a:r>
                  <a:rPr lang="en-US">
                    <a:noFill/>
                  </a:rPr>
                  <a:t> </a:t>
                </a:r>
              </a:p>
            </p:txBody>
          </p:sp>
        </mc:Fallback>
      </mc:AlternateContent>
    </p:spTree>
    <p:extLst>
      <p:ext uri="{BB962C8B-B14F-4D97-AF65-F5344CB8AC3E}">
        <p14:creationId xmlns:p14="http://schemas.microsoft.com/office/powerpoint/2010/main" val="22706269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Vectorization #1: multi-variable regression</a:t>
            </a:r>
            <a:endParaRPr lang="en-US" dirty="0"/>
          </a:p>
        </p:txBody>
      </p:sp>
      <p:sp>
        <p:nvSpPr>
          <p:cNvPr id="3" name="Content Placeholder 2"/>
          <p:cNvSpPr>
            <a:spLocks noGrp="1"/>
          </p:cNvSpPr>
          <p:nvPr>
            <p:ph idx="1"/>
          </p:nvPr>
        </p:nvSpPr>
        <p:spPr>
          <a:xfrm>
            <a:off x="1593436" y="1600200"/>
            <a:ext cx="9782801" cy="762000"/>
          </a:xfrm>
        </p:spPr>
        <p:txBody>
          <a:bodyPr/>
          <a:lstStyle/>
          <a:p>
            <a:r>
              <a:rPr lang="en-US" dirty="0" smtClean="0"/>
              <a:t>Double check that matrix dimensions work out </a:t>
            </a:r>
            <a:endParaRPr lang="en-US" dirty="0"/>
          </a:p>
        </p:txBody>
      </p:sp>
      <mc:AlternateContent xmlns:mc="http://schemas.openxmlformats.org/markup-compatibility/2006" xmlns:a14="http://schemas.microsoft.com/office/drawing/2010/main">
        <mc:Choice Requires="a14">
          <p:sp>
            <p:nvSpPr>
              <p:cNvPr id="4" name="Rectangle 3"/>
              <p:cNvSpPr/>
              <p:nvPr/>
            </p:nvSpPr>
            <p:spPr>
              <a:xfrm>
                <a:off x="3579812" y="2987129"/>
                <a:ext cx="5093895" cy="104060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acc>
                        <m:accPr>
                          <m:chr m:val="̂"/>
                          <m:ctrlPr>
                            <a:rPr lang="en-US" sz="6000" i="1" smtClean="0">
                              <a:latin typeface="Cambria Math" panose="02040503050406030204" pitchFamily="18" charset="0"/>
                            </a:rPr>
                          </m:ctrlPr>
                        </m:accPr>
                        <m:e>
                          <m:r>
                            <a:rPr lang="en-US" sz="6000" b="0" i="1" smtClean="0">
                              <a:latin typeface="Cambria Math" charset="0"/>
                            </a:rPr>
                            <m:t>𝑌</m:t>
                          </m:r>
                        </m:e>
                      </m:acc>
                      <m:r>
                        <a:rPr lang="en-US" sz="6000" i="1">
                          <a:latin typeface="Cambria Math" charset="0"/>
                        </a:rPr>
                        <m:t>=</m:t>
                      </m:r>
                      <m:sSup>
                        <m:sSupPr>
                          <m:ctrlPr>
                            <a:rPr lang="en-US" sz="6000" b="0" i="1" smtClean="0">
                              <a:latin typeface="Cambria Math" panose="02040503050406030204" pitchFamily="18" charset="0"/>
                            </a:rPr>
                          </m:ctrlPr>
                        </m:sSupPr>
                        <m:e>
                          <m:r>
                            <a:rPr lang="en-US" sz="6000" b="0" i="1" smtClean="0">
                              <a:latin typeface="Cambria Math" charset="0"/>
                            </a:rPr>
                            <m:t>𝑋</m:t>
                          </m:r>
                        </m:e>
                        <m:sup>
                          <m:r>
                            <a:rPr lang="en-US" sz="6000" b="0" i="1" smtClean="0">
                              <a:latin typeface="Cambria Math" charset="0"/>
                            </a:rPr>
                            <m:t>𝑇</m:t>
                          </m:r>
                        </m:sup>
                      </m:sSup>
                      <m:r>
                        <a:rPr lang="en-US" sz="6000" b="0" i="1" smtClean="0">
                          <a:latin typeface="Cambria Math" charset="0"/>
                        </a:rPr>
                        <m:t>𝑊</m:t>
                      </m:r>
                      <m:r>
                        <a:rPr lang="en-US" sz="6000" i="1">
                          <a:latin typeface="Cambria Math" charset="0"/>
                        </a:rPr>
                        <m:t>+</m:t>
                      </m:r>
                      <m:r>
                        <a:rPr lang="en-US" sz="6000" i="1">
                          <a:latin typeface="Cambria Math" charset="0"/>
                        </a:rPr>
                        <m:t>𝑏</m:t>
                      </m:r>
                    </m:oMath>
                  </m:oMathPara>
                </a14:m>
                <a:endParaRPr lang="en-US" sz="6000" dirty="0"/>
              </a:p>
            </p:txBody>
          </p:sp>
        </mc:Choice>
        <mc:Fallback xmlns="">
          <p:sp>
            <p:nvSpPr>
              <p:cNvPr id="4" name="Rectangle 3"/>
              <p:cNvSpPr>
                <a:spLocks noRot="1" noChangeAspect="1" noMove="1" noResize="1" noEditPoints="1" noAdjustHandles="1" noChangeArrowheads="1" noChangeShapeType="1" noTextEdit="1"/>
              </p:cNvSpPr>
              <p:nvPr/>
            </p:nvSpPr>
            <p:spPr>
              <a:xfrm>
                <a:off x="3579812" y="2987129"/>
                <a:ext cx="5093895" cy="1040606"/>
              </a:xfrm>
              <a:prstGeom prst="rect">
                <a:avLst/>
              </a:prstGeom>
              <a:blipFill rotWithShape="0">
                <a:blip r:embed="rId3"/>
                <a:stretch>
                  <a:fillRect/>
                </a:stretch>
              </a:blipFill>
            </p:spPr>
            <p:txBody>
              <a:bodyPr/>
              <a:lstStyle/>
              <a:p>
                <a:r>
                  <a:rPr lang="en-US">
                    <a:noFill/>
                  </a:rPr>
                  <a:t> </a:t>
                </a:r>
              </a:p>
            </p:txBody>
          </p:sp>
        </mc:Fallback>
      </mc:AlternateContent>
      <p:sp>
        <p:nvSpPr>
          <p:cNvPr id="6" name="TextBox 5"/>
          <p:cNvSpPr txBox="1"/>
          <p:nvPr/>
        </p:nvSpPr>
        <p:spPr>
          <a:xfrm>
            <a:off x="3720934" y="4190999"/>
            <a:ext cx="694421" cy="461665"/>
          </a:xfrm>
          <a:prstGeom prst="rect">
            <a:avLst/>
          </a:prstGeom>
          <a:noFill/>
        </p:spPr>
        <p:txBody>
          <a:bodyPr wrap="none" rtlCol="0">
            <a:spAutoFit/>
          </a:bodyPr>
          <a:lstStyle/>
          <a:p>
            <a:r>
              <a:rPr lang="en-US" sz="2400" smtClean="0">
                <a:latin typeface="Consolas" charset="0"/>
                <a:ea typeface="Consolas" charset="0"/>
                <a:cs typeface="Consolas" charset="0"/>
              </a:rPr>
              <a:t>[1]</a:t>
            </a:r>
            <a:endParaRPr lang="en-US" sz="2400" dirty="0">
              <a:latin typeface="Consolas" charset="0"/>
              <a:ea typeface="Consolas" charset="0"/>
              <a:cs typeface="Consolas" charset="0"/>
            </a:endParaRPr>
          </a:p>
        </p:txBody>
      </p:sp>
      <p:sp>
        <p:nvSpPr>
          <p:cNvPr id="7" name="TextBox 6"/>
          <p:cNvSpPr txBox="1"/>
          <p:nvPr/>
        </p:nvSpPr>
        <p:spPr>
          <a:xfrm>
            <a:off x="5092502" y="4190999"/>
            <a:ext cx="1034257" cy="461665"/>
          </a:xfrm>
          <a:prstGeom prst="rect">
            <a:avLst/>
          </a:prstGeom>
          <a:noFill/>
        </p:spPr>
        <p:txBody>
          <a:bodyPr wrap="none" rtlCol="0">
            <a:spAutoFit/>
          </a:bodyPr>
          <a:lstStyle/>
          <a:p>
            <a:r>
              <a:rPr lang="en-US" sz="2400" dirty="0" smtClean="0">
                <a:latin typeface="Consolas" charset="0"/>
                <a:ea typeface="Consolas" charset="0"/>
                <a:cs typeface="Consolas" charset="0"/>
              </a:rPr>
              <a:t>[</a:t>
            </a:r>
            <a:r>
              <a:rPr lang="en-US" sz="2400" dirty="0">
                <a:latin typeface="Consolas" charset="0"/>
                <a:ea typeface="Consolas" charset="0"/>
                <a:cs typeface="Consolas" charset="0"/>
              </a:rPr>
              <a:t>1</a:t>
            </a:r>
            <a:r>
              <a:rPr lang="en-US" sz="2400" dirty="0" smtClean="0">
                <a:latin typeface="Consolas" charset="0"/>
                <a:ea typeface="Consolas" charset="0"/>
                <a:cs typeface="Consolas" charset="0"/>
              </a:rPr>
              <a:t>,m]</a:t>
            </a:r>
            <a:endParaRPr lang="en-US" sz="2400" dirty="0">
              <a:latin typeface="Consolas" charset="0"/>
              <a:ea typeface="Consolas" charset="0"/>
              <a:cs typeface="Consolas" charset="0"/>
            </a:endParaRPr>
          </a:p>
        </p:txBody>
      </p:sp>
      <p:sp>
        <p:nvSpPr>
          <p:cNvPr id="8" name="TextBox 7"/>
          <p:cNvSpPr txBox="1"/>
          <p:nvPr/>
        </p:nvSpPr>
        <p:spPr>
          <a:xfrm>
            <a:off x="6126759" y="4190999"/>
            <a:ext cx="1034257" cy="461665"/>
          </a:xfrm>
          <a:prstGeom prst="rect">
            <a:avLst/>
          </a:prstGeom>
          <a:noFill/>
        </p:spPr>
        <p:txBody>
          <a:bodyPr wrap="none" rtlCol="0">
            <a:spAutoFit/>
          </a:bodyPr>
          <a:lstStyle/>
          <a:p>
            <a:r>
              <a:rPr lang="en-US" sz="2400" dirty="0" smtClean="0">
                <a:latin typeface="Consolas" charset="0"/>
                <a:ea typeface="Consolas" charset="0"/>
                <a:cs typeface="Consolas" charset="0"/>
              </a:rPr>
              <a:t>[m,1]</a:t>
            </a:r>
            <a:endParaRPr lang="en-US" sz="2400" dirty="0">
              <a:latin typeface="Consolas" charset="0"/>
              <a:ea typeface="Consolas" charset="0"/>
              <a:cs typeface="Consolas" charset="0"/>
            </a:endParaRPr>
          </a:p>
        </p:txBody>
      </p:sp>
      <p:sp>
        <p:nvSpPr>
          <p:cNvPr id="9" name="TextBox 8"/>
          <p:cNvSpPr txBox="1"/>
          <p:nvPr/>
        </p:nvSpPr>
        <p:spPr>
          <a:xfrm>
            <a:off x="7770812" y="4190999"/>
            <a:ext cx="694421" cy="461665"/>
          </a:xfrm>
          <a:prstGeom prst="rect">
            <a:avLst/>
          </a:prstGeom>
          <a:noFill/>
        </p:spPr>
        <p:txBody>
          <a:bodyPr wrap="none" rtlCol="0">
            <a:spAutoFit/>
          </a:bodyPr>
          <a:lstStyle/>
          <a:p>
            <a:r>
              <a:rPr lang="en-US" sz="2400" smtClean="0">
                <a:latin typeface="Consolas" charset="0"/>
                <a:ea typeface="Consolas" charset="0"/>
                <a:cs typeface="Consolas" charset="0"/>
              </a:rPr>
              <a:t>[1</a:t>
            </a:r>
            <a:r>
              <a:rPr lang="en-US" sz="2400" dirty="0" smtClean="0">
                <a:latin typeface="Consolas" charset="0"/>
                <a:ea typeface="Consolas" charset="0"/>
                <a:cs typeface="Consolas" charset="0"/>
              </a:rPr>
              <a:t>]</a:t>
            </a:r>
            <a:endParaRPr lang="en-US" sz="2400" dirty="0">
              <a:latin typeface="Consolas" charset="0"/>
              <a:ea typeface="Consolas" charset="0"/>
              <a:cs typeface="Consolas" charset="0"/>
            </a:endParaRPr>
          </a:p>
        </p:txBody>
      </p:sp>
      <p:sp>
        <p:nvSpPr>
          <p:cNvPr id="15" name="TextBox 14"/>
          <p:cNvSpPr txBox="1"/>
          <p:nvPr/>
        </p:nvSpPr>
        <p:spPr>
          <a:xfrm>
            <a:off x="5800479" y="4953000"/>
            <a:ext cx="694421" cy="461665"/>
          </a:xfrm>
          <a:prstGeom prst="rect">
            <a:avLst/>
          </a:prstGeom>
          <a:noFill/>
        </p:spPr>
        <p:txBody>
          <a:bodyPr wrap="none" rtlCol="0">
            <a:spAutoFit/>
          </a:bodyPr>
          <a:lstStyle/>
          <a:p>
            <a:r>
              <a:rPr lang="en-US" sz="2400" smtClean="0">
                <a:latin typeface="Consolas" charset="0"/>
                <a:ea typeface="Consolas" charset="0"/>
                <a:cs typeface="Consolas" charset="0"/>
              </a:rPr>
              <a:t>[1</a:t>
            </a:r>
            <a:r>
              <a:rPr lang="en-US" sz="2400" dirty="0" smtClean="0">
                <a:latin typeface="Consolas" charset="0"/>
                <a:ea typeface="Consolas" charset="0"/>
                <a:cs typeface="Consolas" charset="0"/>
              </a:rPr>
              <a:t>]</a:t>
            </a:r>
            <a:endParaRPr lang="en-US" sz="2400" dirty="0">
              <a:latin typeface="Consolas" charset="0"/>
              <a:ea typeface="Consolas" charset="0"/>
              <a:cs typeface="Consolas" charset="0"/>
            </a:endParaRPr>
          </a:p>
        </p:txBody>
      </p:sp>
      <p:cxnSp>
        <p:nvCxnSpPr>
          <p:cNvPr id="17" name="Straight Arrow Connector 16"/>
          <p:cNvCxnSpPr>
            <a:stCxn id="7" idx="2"/>
          </p:cNvCxnSpPr>
          <p:nvPr/>
        </p:nvCxnSpPr>
        <p:spPr>
          <a:xfrm>
            <a:off x="5609631" y="4652664"/>
            <a:ext cx="179981" cy="376536"/>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a:stCxn id="8" idx="2"/>
          </p:cNvCxnSpPr>
          <p:nvPr/>
        </p:nvCxnSpPr>
        <p:spPr>
          <a:xfrm flipH="1">
            <a:off x="6484837" y="4652664"/>
            <a:ext cx="159051" cy="376536"/>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0" name="Rectangle 19"/>
          <p:cNvSpPr/>
          <p:nvPr/>
        </p:nvSpPr>
        <p:spPr>
          <a:xfrm>
            <a:off x="5971107" y="4248834"/>
            <a:ext cx="311304" cy="369332"/>
          </a:xfrm>
          <a:prstGeom prst="rect">
            <a:avLst/>
          </a:prstGeom>
        </p:spPr>
        <p:txBody>
          <a:bodyPr wrap="none">
            <a:spAutoFit/>
          </a:bodyPr>
          <a:lstStyle/>
          <a:p>
            <a:r>
              <a:rPr lang="en-US" smtClean="0">
                <a:latin typeface="Consolas" charset="0"/>
                <a:ea typeface="Consolas" charset="0"/>
                <a:cs typeface="Consolas" charset="0"/>
              </a:rPr>
              <a:t>x</a:t>
            </a:r>
            <a:endParaRPr lang="en-US"/>
          </a:p>
        </p:txBody>
      </p:sp>
    </p:spTree>
    <p:extLst>
      <p:ext uri="{BB962C8B-B14F-4D97-AF65-F5344CB8AC3E}">
        <p14:creationId xmlns:p14="http://schemas.microsoft.com/office/powerpoint/2010/main" val="136390641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How to accomplish this in </a:t>
            </a:r>
            <a:r>
              <a:rPr lang="en-US" dirty="0" err="1" smtClean="0"/>
              <a:t>TensorFlow</a:t>
            </a:r>
            <a:endParaRPr lang="en-US" dirty="0"/>
          </a:p>
        </p:txBody>
      </p:sp>
      <p:sp>
        <p:nvSpPr>
          <p:cNvPr id="3" name="Content Placeholder 2"/>
          <p:cNvSpPr>
            <a:spLocks noGrp="1"/>
          </p:cNvSpPr>
          <p:nvPr>
            <p:ph idx="1"/>
          </p:nvPr>
        </p:nvSpPr>
        <p:spPr/>
        <p:txBody>
          <a:bodyPr/>
          <a:lstStyle/>
          <a:p>
            <a:r>
              <a:rPr lang="en-US" dirty="0" smtClean="0"/>
              <a:t>Give x placeholder and W weight a vector shape:</a:t>
            </a:r>
          </a:p>
          <a:p>
            <a:pPr marL="0" indent="0">
              <a:buNone/>
            </a:pPr>
            <a:r>
              <a:rPr lang="en-US" dirty="0">
                <a:latin typeface="Consolas" charset="0"/>
                <a:ea typeface="Consolas" charset="0"/>
                <a:cs typeface="Consolas" charset="0"/>
              </a:rPr>
              <a:t>x</a:t>
            </a:r>
            <a:r>
              <a:rPr lang="en-US" dirty="0" smtClean="0">
                <a:latin typeface="Consolas" charset="0"/>
                <a:ea typeface="Consolas" charset="0"/>
                <a:cs typeface="Consolas" charset="0"/>
              </a:rPr>
              <a:t> = </a:t>
            </a:r>
            <a:r>
              <a:rPr lang="en-US" dirty="0" err="1" smtClean="0">
                <a:latin typeface="Consolas" charset="0"/>
                <a:ea typeface="Consolas" charset="0"/>
                <a:cs typeface="Consolas" charset="0"/>
              </a:rPr>
              <a:t>tf.placeholder</a:t>
            </a:r>
            <a:r>
              <a:rPr lang="en-US" dirty="0" smtClean="0">
                <a:latin typeface="Consolas" charset="0"/>
                <a:ea typeface="Consolas" charset="0"/>
                <a:cs typeface="Consolas" charset="0"/>
              </a:rPr>
              <a:t>(tf.float32, shape=[m, 1])</a:t>
            </a:r>
          </a:p>
          <a:p>
            <a:pPr marL="0" indent="0">
              <a:buNone/>
            </a:pPr>
            <a:r>
              <a:rPr lang="en-US" dirty="0" smtClean="0">
                <a:latin typeface="Consolas" charset="0"/>
                <a:ea typeface="Consolas" charset="0"/>
                <a:cs typeface="Consolas" charset="0"/>
              </a:rPr>
              <a:t>W = </a:t>
            </a:r>
            <a:r>
              <a:rPr lang="en-US" dirty="0" err="1" smtClean="0">
                <a:latin typeface="Consolas" charset="0"/>
                <a:ea typeface="Consolas" charset="0"/>
                <a:cs typeface="Consolas" charset="0"/>
              </a:rPr>
              <a:t>tf.Variable</a:t>
            </a:r>
            <a:r>
              <a:rPr lang="en-US" dirty="0" smtClean="0">
                <a:latin typeface="Consolas" charset="0"/>
                <a:ea typeface="Consolas" charset="0"/>
                <a:cs typeface="Consolas" charset="0"/>
              </a:rPr>
              <a:t>(</a:t>
            </a:r>
            <a:r>
              <a:rPr lang="en-US" dirty="0" err="1" smtClean="0">
                <a:latin typeface="Consolas" charset="0"/>
                <a:ea typeface="Consolas" charset="0"/>
                <a:cs typeface="Consolas" charset="0"/>
              </a:rPr>
              <a:t>tf.truncated_normal</a:t>
            </a:r>
            <a:r>
              <a:rPr lang="en-US" dirty="0" smtClean="0">
                <a:latin typeface="Consolas" charset="0"/>
                <a:ea typeface="Consolas" charset="0"/>
                <a:cs typeface="Consolas" charset="0"/>
              </a:rPr>
              <a:t>([m,1]))</a:t>
            </a:r>
          </a:p>
          <a:p>
            <a:pPr marL="0" indent="0">
              <a:buNone/>
            </a:pPr>
            <a:endParaRPr lang="en-US" dirty="0" smtClean="0">
              <a:latin typeface="Consolas" charset="0"/>
              <a:ea typeface="Consolas" charset="0"/>
              <a:cs typeface="Consolas" charset="0"/>
            </a:endParaRPr>
          </a:p>
          <a:p>
            <a:r>
              <a:rPr lang="en-US" dirty="0" smtClean="0">
                <a:latin typeface="Euphemia" charset="0"/>
                <a:ea typeface="Euphemia" charset="0"/>
                <a:cs typeface="Euphemia" charset="0"/>
              </a:rPr>
              <a:t>Use matrix multiplication and transpose to calculate</a:t>
            </a:r>
          </a:p>
          <a:p>
            <a:pPr marL="0" indent="0">
              <a:buNone/>
            </a:pPr>
            <a:r>
              <a:rPr lang="en-US" dirty="0" smtClean="0">
                <a:latin typeface="Consolas" charset="0"/>
                <a:ea typeface="Consolas" charset="0"/>
                <a:cs typeface="Consolas" charset="0"/>
              </a:rPr>
              <a:t>y_hat = </a:t>
            </a:r>
            <a:r>
              <a:rPr lang="en-US" dirty="0" err="1" smtClean="0">
                <a:latin typeface="Consolas" charset="0"/>
                <a:ea typeface="Consolas" charset="0"/>
                <a:cs typeface="Consolas" charset="0"/>
              </a:rPr>
              <a:t>tf.matmul</a:t>
            </a:r>
            <a:r>
              <a:rPr lang="en-US" dirty="0" smtClean="0">
                <a:latin typeface="Consolas" charset="0"/>
                <a:ea typeface="Consolas" charset="0"/>
                <a:cs typeface="Consolas" charset="0"/>
              </a:rPr>
              <a:t>(</a:t>
            </a:r>
            <a:r>
              <a:rPr lang="en-US" dirty="0" err="1" smtClean="0">
                <a:latin typeface="Consolas" charset="0"/>
                <a:ea typeface="Consolas" charset="0"/>
                <a:cs typeface="Consolas" charset="0"/>
              </a:rPr>
              <a:t>tf.transpose</a:t>
            </a:r>
            <a:r>
              <a:rPr lang="en-US" dirty="0" smtClean="0">
                <a:latin typeface="Consolas" charset="0"/>
                <a:ea typeface="Consolas" charset="0"/>
                <a:cs typeface="Consolas" charset="0"/>
              </a:rPr>
              <a:t>(x), W) + b</a:t>
            </a:r>
            <a:endParaRPr lang="en-US" dirty="0">
              <a:latin typeface="Consolas" charset="0"/>
              <a:ea typeface="Consolas" charset="0"/>
              <a:cs typeface="Consolas" charset="0"/>
            </a:endParaRPr>
          </a:p>
        </p:txBody>
      </p:sp>
    </p:spTree>
    <p:extLst>
      <p:ext uri="{BB962C8B-B14F-4D97-AF65-F5344CB8AC3E}">
        <p14:creationId xmlns:p14="http://schemas.microsoft.com/office/powerpoint/2010/main" val="13947625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Vectorization #2: Batch examples</a:t>
            </a:r>
            <a:endParaRPr lang="en-US" dirty="0"/>
          </a:p>
        </p:txBody>
      </p:sp>
      <p:sp>
        <p:nvSpPr>
          <p:cNvPr id="3" name="Content Placeholder 2"/>
          <p:cNvSpPr>
            <a:spLocks noGrp="1"/>
          </p:cNvSpPr>
          <p:nvPr>
            <p:ph idx="1"/>
          </p:nvPr>
        </p:nvSpPr>
        <p:spPr>
          <a:xfrm>
            <a:off x="1593436" y="1600200"/>
            <a:ext cx="9782801" cy="762000"/>
          </a:xfrm>
        </p:spPr>
        <p:txBody>
          <a:bodyPr/>
          <a:lstStyle/>
          <a:p>
            <a:r>
              <a:rPr lang="en-US" dirty="0" smtClean="0"/>
              <a:t>Let’s modify the function for our linear model:</a:t>
            </a:r>
            <a:endParaRPr lang="en-US" dirty="0"/>
          </a:p>
        </p:txBody>
      </p:sp>
      <mc:AlternateContent xmlns:mc="http://schemas.openxmlformats.org/markup-compatibility/2006" xmlns:a14="http://schemas.microsoft.com/office/drawing/2010/main">
        <mc:Choice Requires="a14">
          <p:sp>
            <p:nvSpPr>
              <p:cNvPr id="4" name="Rectangle 3"/>
              <p:cNvSpPr/>
              <p:nvPr/>
            </p:nvSpPr>
            <p:spPr>
              <a:xfrm>
                <a:off x="4265612" y="2362200"/>
                <a:ext cx="3130537" cy="66140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acc>
                        <m:accPr>
                          <m:chr m:val="̂"/>
                          <m:ctrlPr>
                            <a:rPr lang="en-US" sz="3600" i="1" smtClean="0">
                              <a:latin typeface="Cambria Math" panose="02040503050406030204" pitchFamily="18" charset="0"/>
                            </a:rPr>
                          </m:ctrlPr>
                        </m:accPr>
                        <m:e>
                          <m:r>
                            <a:rPr lang="en-US" sz="3600" b="0" i="1" smtClean="0">
                              <a:latin typeface="Cambria Math" charset="0"/>
                            </a:rPr>
                            <m:t>𝑌</m:t>
                          </m:r>
                        </m:e>
                      </m:acc>
                      <m:r>
                        <a:rPr lang="en-US" sz="3600" i="1">
                          <a:latin typeface="Cambria Math" charset="0"/>
                        </a:rPr>
                        <m:t>=</m:t>
                      </m:r>
                      <m:sSup>
                        <m:sSupPr>
                          <m:ctrlPr>
                            <a:rPr lang="en-US" sz="3600" b="0" i="1" smtClean="0">
                              <a:latin typeface="Cambria Math" panose="02040503050406030204" pitchFamily="18" charset="0"/>
                            </a:rPr>
                          </m:ctrlPr>
                        </m:sSupPr>
                        <m:e>
                          <m:r>
                            <a:rPr lang="en-US" sz="3600" b="0" i="1" smtClean="0">
                              <a:latin typeface="Cambria Math" charset="0"/>
                            </a:rPr>
                            <m:t>𝑋</m:t>
                          </m:r>
                        </m:e>
                        <m:sup>
                          <m:r>
                            <a:rPr lang="en-US" sz="3600" b="0" i="1" smtClean="0">
                              <a:latin typeface="Cambria Math" charset="0"/>
                            </a:rPr>
                            <m:t>𝑇</m:t>
                          </m:r>
                        </m:sup>
                      </m:sSup>
                      <m:r>
                        <a:rPr lang="en-US" sz="3600" b="0" i="1" smtClean="0">
                          <a:latin typeface="Cambria Math" charset="0"/>
                        </a:rPr>
                        <m:t>𝑊</m:t>
                      </m:r>
                      <m:r>
                        <a:rPr lang="en-US" sz="3600" i="1">
                          <a:latin typeface="Cambria Math" charset="0"/>
                        </a:rPr>
                        <m:t>+</m:t>
                      </m:r>
                      <m:r>
                        <a:rPr lang="en-US" sz="3600" i="1">
                          <a:latin typeface="Cambria Math" charset="0"/>
                        </a:rPr>
                        <m:t>𝑏</m:t>
                      </m:r>
                    </m:oMath>
                  </m:oMathPara>
                </a14:m>
                <a:endParaRPr lang="en-US" sz="3600" dirty="0"/>
              </a:p>
            </p:txBody>
          </p:sp>
        </mc:Choice>
        <mc:Fallback xmlns="">
          <p:sp>
            <p:nvSpPr>
              <p:cNvPr id="4" name="Rectangle 3"/>
              <p:cNvSpPr>
                <a:spLocks noRot="1" noChangeAspect="1" noMove="1" noResize="1" noEditPoints="1" noAdjustHandles="1" noChangeArrowheads="1" noChangeShapeType="1" noTextEdit="1"/>
              </p:cNvSpPr>
              <p:nvPr/>
            </p:nvSpPr>
            <p:spPr>
              <a:xfrm>
                <a:off x="4265612" y="2362200"/>
                <a:ext cx="3130537" cy="661400"/>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Content Placeholder 2"/>
              <p:cNvSpPr txBox="1">
                <a:spLocks/>
              </p:cNvSpPr>
              <p:nvPr/>
            </p:nvSpPr>
            <p:spPr>
              <a:xfrm>
                <a:off x="1598612" y="3276600"/>
                <a:ext cx="9782801" cy="3505200"/>
              </a:xfrm>
              <a:prstGeom prst="rect">
                <a:avLst/>
              </a:prstGeom>
            </p:spPr>
            <p:txBody>
              <a:bodyPr vert="horz" lIns="91440" tIns="45720" rIns="91440" bIns="45720" rtlCol="0">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buNone/>
                </a:pPr>
                <a14:m>
                  <m:oMath xmlns:m="http://schemas.openxmlformats.org/officeDocument/2006/math">
                    <m:acc>
                      <m:accPr>
                        <m:chr m:val="̂"/>
                        <m:ctrlPr>
                          <a:rPr lang="en-US" i="1" smtClean="0">
                            <a:latin typeface="Cambria Math" panose="02040503050406030204" pitchFamily="18" charset="0"/>
                          </a:rPr>
                        </m:ctrlPr>
                      </m:accPr>
                      <m:e>
                        <m:r>
                          <a:rPr lang="en-US" i="1">
                            <a:latin typeface="Cambria Math" charset="0"/>
                          </a:rPr>
                          <m:t>𝑌</m:t>
                        </m:r>
                      </m:e>
                    </m:acc>
                    <m:r>
                      <a:rPr lang="en-US" b="0" i="1" smtClean="0">
                        <a:latin typeface="Cambria Math" charset="0"/>
                      </a:rPr>
                      <m:t>∈</m:t>
                    </m:r>
                    <m:sSup>
                      <m:sSupPr>
                        <m:ctrlPr>
                          <a:rPr lang="en-US" b="0" i="1" smtClean="0">
                            <a:latin typeface="Cambria Math" panose="02040503050406030204" pitchFamily="18" charset="0"/>
                            <a:ea typeface="Cambria Math" charset="0"/>
                            <a:cs typeface="Cambria Math" charset="0"/>
                          </a:rPr>
                        </m:ctrlPr>
                      </m:sSupPr>
                      <m:e>
                        <m:r>
                          <a:rPr lang="en-US" b="0" i="1" smtClean="0">
                            <a:latin typeface="Cambria Math" charset="0"/>
                            <a:ea typeface="Cambria Math" charset="0"/>
                            <a:cs typeface="Cambria Math" charset="0"/>
                          </a:rPr>
                          <m:t>ℝ</m:t>
                        </m:r>
                      </m:e>
                      <m:sup>
                        <m:r>
                          <a:rPr lang="en-US" b="0" i="1" smtClean="0">
                            <a:latin typeface="Cambria Math" charset="0"/>
                            <a:ea typeface="Cambria Math" charset="0"/>
                            <a:cs typeface="Cambria Math" charset="0"/>
                          </a:rPr>
                          <m:t>𝑛</m:t>
                        </m:r>
                      </m:sup>
                    </m:sSup>
                  </m:oMath>
                </a14:m>
                <a:r>
                  <a:rPr lang="en-US" dirty="0" smtClean="0"/>
                  <a:t> - an n-dimensional vector. </a:t>
                </a:r>
              </a:p>
              <a:p>
                <a:pPr lvl="1">
                  <a:buFont typeface="Arial" charset="0"/>
                  <a:buChar char="•"/>
                </a:pPr>
                <a:r>
                  <a:rPr lang="en-US" dirty="0" smtClean="0"/>
                  <a:t>Predictions for n examples</a:t>
                </a:r>
              </a:p>
              <a:p>
                <a:pPr marL="0" indent="0">
                  <a:buNone/>
                </a:pPr>
                <a14:m>
                  <m:oMath xmlns:m="http://schemas.openxmlformats.org/officeDocument/2006/math">
                    <m:r>
                      <a:rPr lang="en-US" b="0" i="1" smtClean="0">
                        <a:latin typeface="Cambria Math" charset="0"/>
                      </a:rPr>
                      <m:t>𝑋</m:t>
                    </m:r>
                    <m:r>
                      <a:rPr lang="en-US" i="1">
                        <a:latin typeface="Cambria Math" charset="0"/>
                      </a:rPr>
                      <m:t>∈</m:t>
                    </m:r>
                    <m:sSup>
                      <m:sSupPr>
                        <m:ctrlPr>
                          <a:rPr lang="en-US" i="1">
                            <a:latin typeface="Cambria Math" panose="02040503050406030204" pitchFamily="18" charset="0"/>
                            <a:ea typeface="Cambria Math" charset="0"/>
                            <a:cs typeface="Cambria Math" charset="0"/>
                          </a:rPr>
                        </m:ctrlPr>
                      </m:sSupPr>
                      <m:e>
                        <m:r>
                          <a:rPr lang="en-US" i="1">
                            <a:latin typeface="Cambria Math" charset="0"/>
                            <a:ea typeface="Cambria Math" charset="0"/>
                            <a:cs typeface="Cambria Math" charset="0"/>
                          </a:rPr>
                          <m:t>ℝ</m:t>
                        </m:r>
                      </m:e>
                      <m:sup>
                        <m:r>
                          <a:rPr lang="en-US" i="1">
                            <a:latin typeface="Cambria Math" charset="0"/>
                            <a:ea typeface="Cambria Math" charset="0"/>
                            <a:cs typeface="Cambria Math" charset="0"/>
                          </a:rPr>
                          <m:t>𝑛</m:t>
                        </m:r>
                        <m:r>
                          <a:rPr lang="en-US" b="0" i="1" smtClean="0">
                            <a:latin typeface="Cambria Math" charset="0"/>
                            <a:ea typeface="Cambria Math" charset="0"/>
                            <a:cs typeface="Cambria Math" charset="0"/>
                          </a:rPr>
                          <m:t>×</m:t>
                        </m:r>
                        <m:r>
                          <a:rPr lang="en-US" b="0" i="1" smtClean="0">
                            <a:latin typeface="Cambria Math" charset="0"/>
                            <a:ea typeface="Cambria Math" charset="0"/>
                            <a:cs typeface="Cambria Math" charset="0"/>
                          </a:rPr>
                          <m:t>𝑚</m:t>
                        </m:r>
                      </m:sup>
                    </m:sSup>
                  </m:oMath>
                </a14:m>
                <a:r>
                  <a:rPr lang="en-US" dirty="0"/>
                  <a:t> - an </a:t>
                </a:r>
                <a:r>
                  <a:rPr lang="en-US" dirty="0" smtClean="0"/>
                  <a:t>n-by-m matrix.</a:t>
                </a:r>
              </a:p>
              <a:p>
                <a:pPr lvl="1">
                  <a:buFont typeface="Arial" charset="0"/>
                  <a:buChar char="•"/>
                </a:pPr>
                <a:r>
                  <a:rPr lang="en-US" dirty="0" smtClean="0"/>
                  <a:t>Inputs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charset="0"/>
                          </a:rPr>
                          <m:t>𝑥</m:t>
                        </m:r>
                      </m:e>
                      <m:sub>
                        <m:r>
                          <a:rPr lang="en-US" b="0" i="1" smtClean="0">
                            <a:latin typeface="Cambria Math" charset="0"/>
                          </a:rPr>
                          <m:t>1</m:t>
                        </m:r>
                      </m:sub>
                    </m:sSub>
                    <m:r>
                      <a:rPr lang="en-US" b="0" i="1" smtClean="0">
                        <a:latin typeface="Cambria Math" charset="0"/>
                      </a:rPr>
                      <m:t>,</m:t>
                    </m:r>
                    <m:sSub>
                      <m:sSubPr>
                        <m:ctrlPr>
                          <a:rPr lang="en-US" b="0" i="1" smtClean="0">
                            <a:latin typeface="Cambria Math" panose="02040503050406030204" pitchFamily="18" charset="0"/>
                          </a:rPr>
                        </m:ctrlPr>
                      </m:sSubPr>
                      <m:e>
                        <m:r>
                          <a:rPr lang="en-US" b="0" i="1" smtClean="0">
                            <a:latin typeface="Cambria Math" charset="0"/>
                          </a:rPr>
                          <m:t>𝑥</m:t>
                        </m:r>
                      </m:e>
                      <m:sub>
                        <m:r>
                          <a:rPr lang="en-US" b="0" i="1" smtClean="0">
                            <a:latin typeface="Cambria Math" charset="0"/>
                          </a:rPr>
                          <m:t>2</m:t>
                        </m:r>
                      </m:sub>
                    </m:sSub>
                    <m:r>
                      <a:rPr lang="en-US" b="0" i="1" smtClean="0">
                        <a:latin typeface="Cambria Math" charset="0"/>
                      </a:rPr>
                      <m:t>,…, </m:t>
                    </m:r>
                    <m:sSub>
                      <m:sSubPr>
                        <m:ctrlPr>
                          <a:rPr lang="en-US" b="0" i="1" smtClean="0">
                            <a:latin typeface="Cambria Math" panose="02040503050406030204" pitchFamily="18" charset="0"/>
                          </a:rPr>
                        </m:ctrlPr>
                      </m:sSubPr>
                      <m:e>
                        <m:r>
                          <a:rPr lang="en-US" b="0" i="1" smtClean="0">
                            <a:latin typeface="Cambria Math" charset="0"/>
                          </a:rPr>
                          <m:t>𝑥</m:t>
                        </m:r>
                      </m:e>
                      <m:sub>
                        <m:r>
                          <a:rPr lang="en-US" b="0" i="1" smtClean="0">
                            <a:latin typeface="Cambria Math" charset="0"/>
                          </a:rPr>
                          <m:t>𝑚</m:t>
                        </m:r>
                      </m:sub>
                    </m:sSub>
                  </m:oMath>
                </a14:m>
                <a:r>
                  <a:rPr lang="en-US" dirty="0" smtClean="0"/>
                  <a:t> for n examples</a:t>
                </a:r>
              </a:p>
              <a:p>
                <a:pPr marL="0" indent="0">
                  <a:buNone/>
                </a:pPr>
                <a14:m>
                  <m:oMath xmlns:m="http://schemas.openxmlformats.org/officeDocument/2006/math">
                    <m:r>
                      <a:rPr lang="en-US" b="0" i="1" smtClean="0">
                        <a:latin typeface="Cambria Math" charset="0"/>
                      </a:rPr>
                      <m:t>𝑊</m:t>
                    </m:r>
                    <m:r>
                      <a:rPr lang="en-US" i="1">
                        <a:latin typeface="Cambria Math" charset="0"/>
                      </a:rPr>
                      <m:t>∈</m:t>
                    </m:r>
                    <m:sSup>
                      <m:sSupPr>
                        <m:ctrlPr>
                          <a:rPr lang="en-US" i="1">
                            <a:latin typeface="Cambria Math" panose="02040503050406030204" pitchFamily="18" charset="0"/>
                            <a:ea typeface="Cambria Math" charset="0"/>
                            <a:cs typeface="Cambria Math" charset="0"/>
                          </a:rPr>
                        </m:ctrlPr>
                      </m:sSupPr>
                      <m:e>
                        <m:r>
                          <a:rPr lang="en-US" i="1">
                            <a:latin typeface="Cambria Math" charset="0"/>
                            <a:ea typeface="Cambria Math" charset="0"/>
                            <a:cs typeface="Cambria Math" charset="0"/>
                          </a:rPr>
                          <m:t>ℝ</m:t>
                        </m:r>
                      </m:e>
                      <m:sup>
                        <m:r>
                          <a:rPr lang="en-US" b="0" i="1" smtClean="0">
                            <a:latin typeface="Cambria Math" charset="0"/>
                            <a:ea typeface="Cambria Math" charset="0"/>
                            <a:cs typeface="Cambria Math" charset="0"/>
                          </a:rPr>
                          <m:t>𝑚</m:t>
                        </m:r>
                      </m:sup>
                    </m:sSup>
                  </m:oMath>
                </a14:m>
                <a:r>
                  <a:rPr lang="en-US" dirty="0"/>
                  <a:t> - an m</a:t>
                </a:r>
                <a:r>
                  <a:rPr lang="en-US" dirty="0" smtClean="0"/>
                  <a:t>-dimensional </a:t>
                </a:r>
                <a:r>
                  <a:rPr lang="en-US" dirty="0"/>
                  <a:t>vector</a:t>
                </a:r>
                <a:r>
                  <a:rPr lang="en-US" dirty="0" smtClean="0"/>
                  <a:t>.</a:t>
                </a:r>
              </a:p>
              <a:p>
                <a:pPr lvl="1">
                  <a:buFont typeface="Arial" charset="0"/>
                  <a:buChar char="•"/>
                </a:pPr>
                <a:r>
                  <a:rPr lang="en-US" dirty="0" smtClean="0"/>
                  <a:t>m weights corresponding to  </a:t>
                </a:r>
                <a14:m>
                  <m:oMath xmlns:m="http://schemas.openxmlformats.org/officeDocument/2006/math">
                    <m:sSub>
                      <m:sSubPr>
                        <m:ctrlPr>
                          <a:rPr lang="en-US" i="1">
                            <a:latin typeface="Cambria Math" panose="02040503050406030204" pitchFamily="18" charset="0"/>
                          </a:rPr>
                        </m:ctrlPr>
                      </m:sSubPr>
                      <m:e>
                        <m:r>
                          <a:rPr lang="en-US" i="1">
                            <a:latin typeface="Cambria Math" charset="0"/>
                          </a:rPr>
                          <m:t>𝑥</m:t>
                        </m:r>
                      </m:e>
                      <m:sub>
                        <m:r>
                          <a:rPr lang="en-US" i="1">
                            <a:latin typeface="Cambria Math" charset="0"/>
                          </a:rPr>
                          <m:t>1</m:t>
                        </m:r>
                      </m:sub>
                    </m:sSub>
                    <m:r>
                      <a:rPr lang="en-US" i="1">
                        <a:latin typeface="Cambria Math" charset="0"/>
                      </a:rPr>
                      <m:t>,</m:t>
                    </m:r>
                    <m:sSub>
                      <m:sSubPr>
                        <m:ctrlPr>
                          <a:rPr lang="en-US" i="1">
                            <a:latin typeface="Cambria Math" panose="02040503050406030204" pitchFamily="18" charset="0"/>
                          </a:rPr>
                        </m:ctrlPr>
                      </m:sSubPr>
                      <m:e>
                        <m:r>
                          <a:rPr lang="en-US" i="1">
                            <a:latin typeface="Cambria Math" charset="0"/>
                          </a:rPr>
                          <m:t>𝑥</m:t>
                        </m:r>
                      </m:e>
                      <m:sub>
                        <m:r>
                          <a:rPr lang="en-US" i="1">
                            <a:latin typeface="Cambria Math" charset="0"/>
                          </a:rPr>
                          <m:t>2</m:t>
                        </m:r>
                      </m:sub>
                    </m:sSub>
                    <m:r>
                      <a:rPr lang="en-US" i="1">
                        <a:latin typeface="Cambria Math" charset="0"/>
                      </a:rPr>
                      <m:t>,…, </m:t>
                    </m:r>
                    <m:sSub>
                      <m:sSubPr>
                        <m:ctrlPr>
                          <a:rPr lang="en-US" i="1">
                            <a:latin typeface="Cambria Math" panose="02040503050406030204" pitchFamily="18" charset="0"/>
                          </a:rPr>
                        </m:ctrlPr>
                      </m:sSubPr>
                      <m:e>
                        <m:r>
                          <a:rPr lang="en-US" i="1">
                            <a:latin typeface="Cambria Math" charset="0"/>
                          </a:rPr>
                          <m:t>𝑥</m:t>
                        </m:r>
                      </m:e>
                      <m:sub>
                        <m:r>
                          <a:rPr lang="en-US" i="1">
                            <a:latin typeface="Cambria Math" charset="0"/>
                          </a:rPr>
                          <m:t>𝑚</m:t>
                        </m:r>
                      </m:sub>
                    </m:sSub>
                  </m:oMath>
                </a14:m>
                <a:r>
                  <a:rPr lang="en-US" dirty="0" smtClean="0"/>
                  <a:t>  </a:t>
                </a:r>
                <a:endParaRPr lang="en-US" dirty="0"/>
              </a:p>
              <a:p>
                <a:pPr marL="0" indent="0">
                  <a:buNone/>
                </a:pPr>
                <a14:m>
                  <m:oMath xmlns:m="http://schemas.openxmlformats.org/officeDocument/2006/math">
                    <m:r>
                      <a:rPr lang="en-US" b="0" i="1" smtClean="0">
                        <a:latin typeface="Cambria Math" charset="0"/>
                      </a:rPr>
                      <m:t>𝑏</m:t>
                    </m:r>
                    <m:r>
                      <a:rPr lang="en-US" i="1">
                        <a:latin typeface="Cambria Math" charset="0"/>
                      </a:rPr>
                      <m:t>∈</m:t>
                    </m:r>
                    <m:sSup>
                      <m:sSupPr>
                        <m:ctrlPr>
                          <a:rPr lang="en-US" b="0" i="1" smtClean="0">
                            <a:latin typeface="Cambria Math" panose="02040503050406030204" pitchFamily="18" charset="0"/>
                            <a:ea typeface="Cambria Math" charset="0"/>
                            <a:cs typeface="Cambria Math" charset="0"/>
                          </a:rPr>
                        </m:ctrlPr>
                      </m:sSupPr>
                      <m:e>
                        <m:r>
                          <a:rPr lang="en-US" i="1">
                            <a:latin typeface="Cambria Math" charset="0"/>
                            <a:ea typeface="Cambria Math" charset="0"/>
                            <a:cs typeface="Cambria Math" charset="0"/>
                          </a:rPr>
                          <m:t>ℝ</m:t>
                        </m:r>
                      </m:e>
                      <m:sup>
                        <m:r>
                          <a:rPr lang="en-US" b="0" i="1" smtClean="0">
                            <a:latin typeface="Cambria Math" charset="0"/>
                            <a:ea typeface="Cambria Math" charset="0"/>
                            <a:cs typeface="Cambria Math" charset="0"/>
                          </a:rPr>
                          <m:t>𝑛</m:t>
                        </m:r>
                      </m:sup>
                    </m:sSup>
                  </m:oMath>
                </a14:m>
                <a:r>
                  <a:rPr lang="en-US" dirty="0" smtClean="0"/>
                  <a:t> - a vector of identical bias numbers</a:t>
                </a:r>
                <a:endParaRPr lang="en-US" dirty="0"/>
              </a:p>
            </p:txBody>
          </p:sp>
        </mc:Choice>
        <mc:Fallback xmlns="">
          <p:sp>
            <p:nvSpPr>
              <p:cNvPr id="5" name="Content Placeholder 2"/>
              <p:cNvSpPr txBox="1">
                <a:spLocks noRot="1" noChangeAspect="1" noMove="1" noResize="1" noEditPoints="1" noAdjustHandles="1" noChangeArrowheads="1" noChangeShapeType="1" noTextEdit="1"/>
              </p:cNvSpPr>
              <p:nvPr/>
            </p:nvSpPr>
            <p:spPr>
              <a:xfrm>
                <a:off x="1598612" y="3276600"/>
                <a:ext cx="9782801" cy="3505200"/>
              </a:xfrm>
              <a:prstGeom prst="rect">
                <a:avLst/>
              </a:prstGeom>
              <a:blipFill rotWithShape="0">
                <a:blip r:embed="rId4"/>
                <a:stretch>
                  <a:fillRect t="-2957" b="-1217"/>
                </a:stretch>
              </a:blipFill>
            </p:spPr>
            <p:txBody>
              <a:bodyPr/>
              <a:lstStyle/>
              <a:p>
                <a:r>
                  <a:rPr lang="en-US">
                    <a:noFill/>
                  </a:rPr>
                  <a:t> </a:t>
                </a:r>
              </a:p>
            </p:txBody>
          </p:sp>
        </mc:Fallback>
      </mc:AlternateContent>
    </p:spTree>
    <p:extLst>
      <p:ext uri="{BB962C8B-B14F-4D97-AF65-F5344CB8AC3E}">
        <p14:creationId xmlns:p14="http://schemas.microsoft.com/office/powerpoint/2010/main" val="149432513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Vectorization #2: Batch examples</a:t>
            </a:r>
            <a:endParaRPr lang="en-US" dirty="0"/>
          </a:p>
        </p:txBody>
      </p:sp>
      <p:sp>
        <p:nvSpPr>
          <p:cNvPr id="3" name="Content Placeholder 2"/>
          <p:cNvSpPr>
            <a:spLocks noGrp="1"/>
          </p:cNvSpPr>
          <p:nvPr>
            <p:ph idx="1"/>
          </p:nvPr>
        </p:nvSpPr>
        <p:spPr>
          <a:xfrm>
            <a:off x="1593436" y="1600200"/>
            <a:ext cx="9782801" cy="762000"/>
          </a:xfrm>
        </p:spPr>
        <p:txBody>
          <a:bodyPr/>
          <a:lstStyle/>
          <a:p>
            <a:r>
              <a:rPr lang="en-US" dirty="0" smtClean="0"/>
              <a:t>Double check that matrix dimensions work out </a:t>
            </a:r>
            <a:endParaRPr lang="en-US" dirty="0"/>
          </a:p>
        </p:txBody>
      </p:sp>
      <mc:AlternateContent xmlns:mc="http://schemas.openxmlformats.org/markup-compatibility/2006" xmlns:a14="http://schemas.microsoft.com/office/drawing/2010/main">
        <mc:Choice Requires="a14">
          <p:sp>
            <p:nvSpPr>
              <p:cNvPr id="4" name="Rectangle 3"/>
              <p:cNvSpPr/>
              <p:nvPr/>
            </p:nvSpPr>
            <p:spPr>
              <a:xfrm>
                <a:off x="3579812" y="2987129"/>
                <a:ext cx="5248424" cy="109472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acc>
                        <m:accPr>
                          <m:chr m:val="̂"/>
                          <m:ctrlPr>
                            <a:rPr lang="en-US" sz="6000" i="1" smtClean="0">
                              <a:latin typeface="Cambria Math" panose="02040503050406030204" pitchFamily="18" charset="0"/>
                            </a:rPr>
                          </m:ctrlPr>
                        </m:accPr>
                        <m:e>
                          <m:r>
                            <a:rPr lang="en-US" sz="6000" b="0" i="1" smtClean="0">
                              <a:latin typeface="Cambria Math" charset="0"/>
                            </a:rPr>
                            <m:t>𝑌</m:t>
                          </m:r>
                        </m:e>
                      </m:acc>
                      <m:r>
                        <a:rPr lang="en-US" sz="6000" i="1">
                          <a:latin typeface="Cambria Math" charset="0"/>
                        </a:rPr>
                        <m:t>=</m:t>
                      </m:r>
                      <m:sSup>
                        <m:sSupPr>
                          <m:ctrlPr>
                            <a:rPr lang="en-US" sz="6000" b="0" i="1" smtClean="0">
                              <a:latin typeface="Cambria Math" panose="02040503050406030204" pitchFamily="18" charset="0"/>
                            </a:rPr>
                          </m:ctrlPr>
                        </m:sSupPr>
                        <m:e>
                          <m:r>
                            <a:rPr lang="en-US" sz="6000" b="0" i="1" smtClean="0">
                              <a:latin typeface="Cambria Math" charset="0"/>
                            </a:rPr>
                            <m:t>𝑋</m:t>
                          </m:r>
                        </m:e>
                        <m:sup/>
                      </m:sSup>
                      <m:r>
                        <a:rPr lang="en-US" sz="6000" b="0" i="1" smtClean="0">
                          <a:latin typeface="Cambria Math" charset="0"/>
                        </a:rPr>
                        <m:t>𝑊</m:t>
                      </m:r>
                      <m:r>
                        <a:rPr lang="en-US" sz="6000" i="1">
                          <a:latin typeface="Cambria Math" charset="0"/>
                        </a:rPr>
                        <m:t>+</m:t>
                      </m:r>
                      <m:r>
                        <a:rPr lang="en-US" sz="6000" i="1">
                          <a:latin typeface="Cambria Math" charset="0"/>
                        </a:rPr>
                        <m:t>𝑏</m:t>
                      </m:r>
                    </m:oMath>
                  </m:oMathPara>
                </a14:m>
                <a:endParaRPr lang="en-US" sz="6000" dirty="0"/>
              </a:p>
            </p:txBody>
          </p:sp>
        </mc:Choice>
        <mc:Fallback xmlns="">
          <p:sp>
            <p:nvSpPr>
              <p:cNvPr id="4" name="Rectangle 3"/>
              <p:cNvSpPr>
                <a:spLocks noRot="1" noChangeAspect="1" noMove="1" noResize="1" noEditPoints="1" noAdjustHandles="1" noChangeArrowheads="1" noChangeShapeType="1" noTextEdit="1"/>
              </p:cNvSpPr>
              <p:nvPr/>
            </p:nvSpPr>
            <p:spPr>
              <a:xfrm>
                <a:off x="3579812" y="2987129"/>
                <a:ext cx="5248424" cy="1094723"/>
              </a:xfrm>
              <a:prstGeom prst="rect">
                <a:avLst/>
              </a:prstGeom>
              <a:blipFill rotWithShape="0">
                <a:blip r:embed="rId3"/>
                <a:stretch>
                  <a:fillRect/>
                </a:stretch>
              </a:blipFill>
            </p:spPr>
            <p:txBody>
              <a:bodyPr/>
              <a:lstStyle/>
              <a:p>
                <a:r>
                  <a:rPr lang="en-US">
                    <a:noFill/>
                  </a:rPr>
                  <a:t> </a:t>
                </a:r>
              </a:p>
            </p:txBody>
          </p:sp>
        </mc:Fallback>
      </mc:AlternateContent>
      <p:sp>
        <p:nvSpPr>
          <p:cNvPr id="6" name="TextBox 5"/>
          <p:cNvSpPr txBox="1"/>
          <p:nvPr/>
        </p:nvSpPr>
        <p:spPr>
          <a:xfrm>
            <a:off x="3561018" y="4190999"/>
            <a:ext cx="1034257" cy="461665"/>
          </a:xfrm>
          <a:prstGeom prst="rect">
            <a:avLst/>
          </a:prstGeom>
          <a:noFill/>
        </p:spPr>
        <p:txBody>
          <a:bodyPr wrap="none" rtlCol="0">
            <a:spAutoFit/>
          </a:bodyPr>
          <a:lstStyle/>
          <a:p>
            <a:r>
              <a:rPr lang="en-US" sz="2400" dirty="0" smtClean="0">
                <a:latin typeface="Consolas" charset="0"/>
                <a:ea typeface="Consolas" charset="0"/>
                <a:cs typeface="Consolas" charset="0"/>
              </a:rPr>
              <a:t>[n,1]</a:t>
            </a:r>
            <a:endParaRPr lang="en-US" sz="2400" dirty="0">
              <a:latin typeface="Consolas" charset="0"/>
              <a:ea typeface="Consolas" charset="0"/>
              <a:cs typeface="Consolas" charset="0"/>
            </a:endParaRPr>
          </a:p>
        </p:txBody>
      </p:sp>
      <p:sp>
        <p:nvSpPr>
          <p:cNvPr id="7" name="TextBox 6"/>
          <p:cNvSpPr txBox="1"/>
          <p:nvPr/>
        </p:nvSpPr>
        <p:spPr>
          <a:xfrm>
            <a:off x="5092502" y="4190999"/>
            <a:ext cx="1034257" cy="461665"/>
          </a:xfrm>
          <a:prstGeom prst="rect">
            <a:avLst/>
          </a:prstGeom>
          <a:noFill/>
        </p:spPr>
        <p:txBody>
          <a:bodyPr wrap="none" rtlCol="0">
            <a:spAutoFit/>
          </a:bodyPr>
          <a:lstStyle/>
          <a:p>
            <a:r>
              <a:rPr lang="en-US" sz="2400" dirty="0" smtClean="0">
                <a:latin typeface="Consolas" charset="0"/>
                <a:ea typeface="Consolas" charset="0"/>
                <a:cs typeface="Consolas" charset="0"/>
              </a:rPr>
              <a:t>[</a:t>
            </a:r>
            <a:r>
              <a:rPr lang="en-US" sz="2400" dirty="0" err="1" smtClean="0">
                <a:latin typeface="Consolas" charset="0"/>
                <a:ea typeface="Consolas" charset="0"/>
                <a:cs typeface="Consolas" charset="0"/>
              </a:rPr>
              <a:t>n,m</a:t>
            </a:r>
            <a:r>
              <a:rPr lang="en-US" sz="2400" dirty="0" smtClean="0">
                <a:latin typeface="Consolas" charset="0"/>
                <a:ea typeface="Consolas" charset="0"/>
                <a:cs typeface="Consolas" charset="0"/>
              </a:rPr>
              <a:t>]</a:t>
            </a:r>
            <a:endParaRPr lang="en-US" sz="2400" dirty="0">
              <a:latin typeface="Consolas" charset="0"/>
              <a:ea typeface="Consolas" charset="0"/>
              <a:cs typeface="Consolas" charset="0"/>
            </a:endParaRPr>
          </a:p>
        </p:txBody>
      </p:sp>
      <p:sp>
        <p:nvSpPr>
          <p:cNvPr id="8" name="TextBox 7"/>
          <p:cNvSpPr txBox="1"/>
          <p:nvPr/>
        </p:nvSpPr>
        <p:spPr>
          <a:xfrm>
            <a:off x="6126759" y="4190999"/>
            <a:ext cx="1034257" cy="461665"/>
          </a:xfrm>
          <a:prstGeom prst="rect">
            <a:avLst/>
          </a:prstGeom>
          <a:noFill/>
        </p:spPr>
        <p:txBody>
          <a:bodyPr wrap="none" rtlCol="0">
            <a:spAutoFit/>
          </a:bodyPr>
          <a:lstStyle/>
          <a:p>
            <a:r>
              <a:rPr lang="en-US" sz="2400" dirty="0" smtClean="0">
                <a:latin typeface="Consolas" charset="0"/>
                <a:ea typeface="Consolas" charset="0"/>
                <a:cs typeface="Consolas" charset="0"/>
              </a:rPr>
              <a:t>[m,1]</a:t>
            </a:r>
            <a:endParaRPr lang="en-US" sz="2400" dirty="0">
              <a:latin typeface="Consolas" charset="0"/>
              <a:ea typeface="Consolas" charset="0"/>
              <a:cs typeface="Consolas" charset="0"/>
            </a:endParaRPr>
          </a:p>
        </p:txBody>
      </p:sp>
      <p:sp>
        <p:nvSpPr>
          <p:cNvPr id="9" name="TextBox 8"/>
          <p:cNvSpPr txBox="1"/>
          <p:nvPr/>
        </p:nvSpPr>
        <p:spPr>
          <a:xfrm>
            <a:off x="7608365" y="4190999"/>
            <a:ext cx="1034257" cy="461665"/>
          </a:xfrm>
          <a:prstGeom prst="rect">
            <a:avLst/>
          </a:prstGeom>
          <a:noFill/>
        </p:spPr>
        <p:txBody>
          <a:bodyPr wrap="none" rtlCol="0">
            <a:spAutoFit/>
          </a:bodyPr>
          <a:lstStyle/>
          <a:p>
            <a:r>
              <a:rPr lang="en-US" sz="2400" dirty="0" smtClean="0">
                <a:latin typeface="Consolas" charset="0"/>
                <a:ea typeface="Consolas" charset="0"/>
                <a:cs typeface="Consolas" charset="0"/>
              </a:rPr>
              <a:t>[n,1]</a:t>
            </a:r>
            <a:endParaRPr lang="en-US" sz="2400" dirty="0">
              <a:latin typeface="Consolas" charset="0"/>
              <a:ea typeface="Consolas" charset="0"/>
              <a:cs typeface="Consolas" charset="0"/>
            </a:endParaRPr>
          </a:p>
        </p:txBody>
      </p:sp>
      <p:sp>
        <p:nvSpPr>
          <p:cNvPr id="15" name="TextBox 14"/>
          <p:cNvSpPr txBox="1"/>
          <p:nvPr/>
        </p:nvSpPr>
        <p:spPr>
          <a:xfrm>
            <a:off x="5625248" y="4953000"/>
            <a:ext cx="1034257" cy="461665"/>
          </a:xfrm>
          <a:prstGeom prst="rect">
            <a:avLst/>
          </a:prstGeom>
          <a:noFill/>
        </p:spPr>
        <p:txBody>
          <a:bodyPr wrap="none" rtlCol="0">
            <a:spAutoFit/>
          </a:bodyPr>
          <a:lstStyle/>
          <a:p>
            <a:r>
              <a:rPr lang="en-US" sz="2400" dirty="0" smtClean="0">
                <a:latin typeface="Consolas" charset="0"/>
                <a:ea typeface="Consolas" charset="0"/>
                <a:cs typeface="Consolas" charset="0"/>
              </a:rPr>
              <a:t>[n,1]</a:t>
            </a:r>
            <a:endParaRPr lang="en-US" sz="2400" dirty="0">
              <a:latin typeface="Consolas" charset="0"/>
              <a:ea typeface="Consolas" charset="0"/>
              <a:cs typeface="Consolas" charset="0"/>
            </a:endParaRPr>
          </a:p>
        </p:txBody>
      </p:sp>
      <p:cxnSp>
        <p:nvCxnSpPr>
          <p:cNvPr id="17" name="Straight Arrow Connector 16"/>
          <p:cNvCxnSpPr>
            <a:stCxn id="7" idx="2"/>
          </p:cNvCxnSpPr>
          <p:nvPr/>
        </p:nvCxnSpPr>
        <p:spPr>
          <a:xfrm>
            <a:off x="5609631" y="4652664"/>
            <a:ext cx="179981" cy="376536"/>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a:stCxn id="8" idx="2"/>
          </p:cNvCxnSpPr>
          <p:nvPr/>
        </p:nvCxnSpPr>
        <p:spPr>
          <a:xfrm flipH="1">
            <a:off x="6484837" y="4652664"/>
            <a:ext cx="159051" cy="376536"/>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0" name="Rectangle 19"/>
          <p:cNvSpPr/>
          <p:nvPr/>
        </p:nvSpPr>
        <p:spPr>
          <a:xfrm>
            <a:off x="5971107" y="4248834"/>
            <a:ext cx="311304" cy="369332"/>
          </a:xfrm>
          <a:prstGeom prst="rect">
            <a:avLst/>
          </a:prstGeom>
        </p:spPr>
        <p:txBody>
          <a:bodyPr wrap="none">
            <a:spAutoFit/>
          </a:bodyPr>
          <a:lstStyle/>
          <a:p>
            <a:r>
              <a:rPr lang="en-US" smtClean="0">
                <a:latin typeface="Consolas" charset="0"/>
                <a:ea typeface="Consolas" charset="0"/>
                <a:cs typeface="Consolas" charset="0"/>
              </a:rPr>
              <a:t>x</a:t>
            </a:r>
            <a:endParaRPr lang="en-US"/>
          </a:p>
        </p:txBody>
      </p:sp>
    </p:spTree>
    <p:extLst>
      <p:ext uri="{BB962C8B-B14F-4D97-AF65-F5344CB8AC3E}">
        <p14:creationId xmlns:p14="http://schemas.microsoft.com/office/powerpoint/2010/main" val="151264119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How to accomplish this in </a:t>
            </a:r>
            <a:r>
              <a:rPr lang="en-US" dirty="0" err="1" smtClean="0"/>
              <a:t>TensorFlow</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Give x placeholder matrix shape, W vector shape:</a:t>
            </a:r>
          </a:p>
          <a:p>
            <a:pPr marL="0" indent="0">
              <a:buNone/>
            </a:pPr>
            <a:r>
              <a:rPr lang="en-US" dirty="0">
                <a:latin typeface="Consolas" charset="0"/>
                <a:ea typeface="Consolas" charset="0"/>
                <a:cs typeface="Consolas" charset="0"/>
              </a:rPr>
              <a:t>x</a:t>
            </a:r>
            <a:r>
              <a:rPr lang="en-US" dirty="0" smtClean="0">
                <a:latin typeface="Consolas" charset="0"/>
                <a:ea typeface="Consolas" charset="0"/>
                <a:cs typeface="Consolas" charset="0"/>
              </a:rPr>
              <a:t> = </a:t>
            </a:r>
            <a:r>
              <a:rPr lang="en-US" dirty="0" err="1" smtClean="0">
                <a:latin typeface="Consolas" charset="0"/>
                <a:ea typeface="Consolas" charset="0"/>
                <a:cs typeface="Consolas" charset="0"/>
              </a:rPr>
              <a:t>tf.placeholder</a:t>
            </a:r>
            <a:r>
              <a:rPr lang="en-US" dirty="0" smtClean="0">
                <a:latin typeface="Consolas" charset="0"/>
                <a:ea typeface="Consolas" charset="0"/>
                <a:cs typeface="Consolas" charset="0"/>
              </a:rPr>
              <a:t>(tf.float32, shape=[None, m])</a:t>
            </a:r>
          </a:p>
          <a:p>
            <a:pPr marL="0" indent="0">
              <a:buNone/>
            </a:pPr>
            <a:r>
              <a:rPr lang="en-US" dirty="0" smtClean="0">
                <a:latin typeface="Consolas" charset="0"/>
                <a:ea typeface="Consolas" charset="0"/>
                <a:cs typeface="Consolas" charset="0"/>
              </a:rPr>
              <a:t>W = </a:t>
            </a:r>
            <a:r>
              <a:rPr lang="en-US" dirty="0" err="1" smtClean="0">
                <a:latin typeface="Consolas" charset="0"/>
                <a:ea typeface="Consolas" charset="0"/>
                <a:cs typeface="Consolas" charset="0"/>
              </a:rPr>
              <a:t>tf.Variable</a:t>
            </a:r>
            <a:r>
              <a:rPr lang="en-US" dirty="0" smtClean="0">
                <a:latin typeface="Consolas" charset="0"/>
                <a:ea typeface="Consolas" charset="0"/>
                <a:cs typeface="Consolas" charset="0"/>
              </a:rPr>
              <a:t>(</a:t>
            </a:r>
            <a:r>
              <a:rPr lang="en-US" dirty="0" err="1" smtClean="0">
                <a:latin typeface="Consolas" charset="0"/>
                <a:ea typeface="Consolas" charset="0"/>
                <a:cs typeface="Consolas" charset="0"/>
              </a:rPr>
              <a:t>tf.truncated_normal</a:t>
            </a:r>
            <a:r>
              <a:rPr lang="en-US" dirty="0" smtClean="0">
                <a:latin typeface="Consolas" charset="0"/>
                <a:ea typeface="Consolas" charset="0"/>
                <a:cs typeface="Consolas" charset="0"/>
              </a:rPr>
              <a:t>([m,1]))</a:t>
            </a:r>
          </a:p>
          <a:p>
            <a:pPr lvl="1"/>
            <a:r>
              <a:rPr lang="en-US" dirty="0" smtClean="0">
                <a:latin typeface="Consolas" charset="0"/>
                <a:ea typeface="Consolas" charset="0"/>
                <a:cs typeface="Consolas" charset="0"/>
              </a:rPr>
              <a:t>None</a:t>
            </a:r>
            <a:r>
              <a:rPr lang="en-US" dirty="0" smtClean="0">
                <a:latin typeface="Euphemia" charset="0"/>
                <a:ea typeface="Euphemia" charset="0"/>
                <a:cs typeface="Euphemia" charset="0"/>
              </a:rPr>
              <a:t> in a </a:t>
            </a:r>
            <a:r>
              <a:rPr lang="en-US" dirty="0" err="1" smtClean="0">
                <a:latin typeface="Euphemia" charset="0"/>
                <a:ea typeface="Euphemia" charset="0"/>
                <a:cs typeface="Euphemia" charset="0"/>
              </a:rPr>
              <a:t>TensorFlow</a:t>
            </a:r>
            <a:r>
              <a:rPr lang="en-US" dirty="0" smtClean="0">
                <a:latin typeface="Euphemia" charset="0"/>
                <a:ea typeface="Euphemia" charset="0"/>
                <a:cs typeface="Euphemia" charset="0"/>
              </a:rPr>
              <a:t> shape means that any length is allowed</a:t>
            </a:r>
          </a:p>
          <a:p>
            <a:pPr lvl="1"/>
            <a:r>
              <a:rPr lang="en-US" dirty="0" smtClean="0">
                <a:latin typeface="Euphemia" charset="0"/>
                <a:ea typeface="Euphemia" charset="0"/>
                <a:cs typeface="Euphemia" charset="0"/>
              </a:rPr>
              <a:t>Allows you to input any amount of training examples</a:t>
            </a:r>
          </a:p>
          <a:p>
            <a:pPr marL="0" indent="0">
              <a:buNone/>
            </a:pPr>
            <a:endParaRPr lang="en-US" dirty="0" smtClean="0">
              <a:latin typeface="Consolas" charset="0"/>
              <a:ea typeface="Consolas" charset="0"/>
              <a:cs typeface="Consolas" charset="0"/>
            </a:endParaRPr>
          </a:p>
          <a:p>
            <a:r>
              <a:rPr lang="en-US" dirty="0" smtClean="0">
                <a:latin typeface="Euphemia" charset="0"/>
                <a:ea typeface="Euphemia" charset="0"/>
                <a:cs typeface="Euphemia" charset="0"/>
              </a:rPr>
              <a:t>Use matrix multiplication to calculate</a:t>
            </a:r>
          </a:p>
          <a:p>
            <a:pPr marL="0" indent="0">
              <a:buNone/>
            </a:pPr>
            <a:r>
              <a:rPr lang="en-US" dirty="0">
                <a:latin typeface="Consolas" charset="0"/>
                <a:ea typeface="Consolas" charset="0"/>
                <a:cs typeface="Consolas" charset="0"/>
              </a:rPr>
              <a:t>y</a:t>
            </a:r>
            <a:r>
              <a:rPr lang="en-US" dirty="0" smtClean="0">
                <a:latin typeface="Consolas" charset="0"/>
                <a:ea typeface="Consolas" charset="0"/>
                <a:cs typeface="Consolas" charset="0"/>
              </a:rPr>
              <a:t>_hat = </a:t>
            </a:r>
            <a:r>
              <a:rPr lang="en-US" dirty="0" err="1" smtClean="0">
                <a:latin typeface="Consolas" charset="0"/>
                <a:ea typeface="Consolas" charset="0"/>
                <a:cs typeface="Consolas" charset="0"/>
              </a:rPr>
              <a:t>tf.matmul</a:t>
            </a:r>
            <a:r>
              <a:rPr lang="en-US" dirty="0" smtClean="0">
                <a:latin typeface="Consolas" charset="0"/>
                <a:ea typeface="Consolas" charset="0"/>
                <a:cs typeface="Consolas" charset="0"/>
              </a:rPr>
              <a:t>(x, W) + b</a:t>
            </a:r>
          </a:p>
          <a:p>
            <a:pPr marL="0" indent="0">
              <a:buNone/>
            </a:pPr>
            <a:endParaRPr lang="en-US" dirty="0">
              <a:latin typeface="Consolas" charset="0"/>
              <a:ea typeface="Consolas" charset="0"/>
              <a:cs typeface="Consolas" charset="0"/>
            </a:endParaRPr>
          </a:p>
          <a:p>
            <a:r>
              <a:rPr lang="en-US" dirty="0" smtClean="0">
                <a:latin typeface="Euphemia" charset="0"/>
                <a:ea typeface="Euphemia" charset="0"/>
                <a:cs typeface="Euphemia" charset="0"/>
              </a:rPr>
              <a:t>This is what we’ll end up doing for most of this class.</a:t>
            </a:r>
            <a:endParaRPr lang="en-US" dirty="0">
              <a:latin typeface="Euphemia" charset="0"/>
              <a:ea typeface="Euphemia" charset="0"/>
              <a:cs typeface="Euphemia" charset="0"/>
            </a:endParaRPr>
          </a:p>
        </p:txBody>
      </p:sp>
    </p:spTree>
    <p:extLst>
      <p:ext uri="{BB962C8B-B14F-4D97-AF65-F5344CB8AC3E}">
        <p14:creationId xmlns:p14="http://schemas.microsoft.com/office/powerpoint/2010/main" val="11362024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Odds and ends</a:t>
            </a:r>
            <a:endParaRPr lang="en-US" dirty="0"/>
          </a:p>
        </p:txBody>
      </p:sp>
    </p:spTree>
    <p:extLst>
      <p:ext uri="{BB962C8B-B14F-4D97-AF65-F5344CB8AC3E}">
        <p14:creationId xmlns:p14="http://schemas.microsoft.com/office/powerpoint/2010/main" val="8204444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Training, validation, and test sets</a:t>
            </a:r>
            <a:endParaRPr lang="en-US" dirty="0"/>
          </a:p>
        </p:txBody>
      </p:sp>
      <p:sp>
        <p:nvSpPr>
          <p:cNvPr id="3" name="Content Placeholder 2"/>
          <p:cNvSpPr>
            <a:spLocks noGrp="1"/>
          </p:cNvSpPr>
          <p:nvPr>
            <p:ph idx="1"/>
          </p:nvPr>
        </p:nvSpPr>
        <p:spPr/>
        <p:txBody>
          <a:bodyPr>
            <a:normAutofit/>
          </a:bodyPr>
          <a:lstStyle/>
          <a:p>
            <a:r>
              <a:rPr lang="en-US" dirty="0" smtClean="0"/>
              <a:t>In order to better evaluate our model, we split our data into </a:t>
            </a:r>
            <a:r>
              <a:rPr lang="en-US" i="1" dirty="0" smtClean="0"/>
              <a:t>training, validation, </a:t>
            </a:r>
            <a:r>
              <a:rPr lang="en-US" dirty="0" smtClean="0"/>
              <a:t>and </a:t>
            </a:r>
            <a:r>
              <a:rPr lang="en-US" i="1" dirty="0" smtClean="0"/>
              <a:t>test</a:t>
            </a:r>
            <a:r>
              <a:rPr lang="en-US" dirty="0" smtClean="0"/>
              <a:t> sets</a:t>
            </a:r>
          </a:p>
          <a:p>
            <a:r>
              <a:rPr lang="en-US" i="1" dirty="0" smtClean="0"/>
              <a:t>Training</a:t>
            </a:r>
            <a:r>
              <a:rPr lang="en-US" dirty="0" smtClean="0"/>
              <a:t> data is used to train the model as we discussed</a:t>
            </a:r>
          </a:p>
          <a:p>
            <a:r>
              <a:rPr lang="en-US" i="1" dirty="0" smtClean="0"/>
              <a:t>Validation</a:t>
            </a:r>
            <a:r>
              <a:rPr lang="en-US" dirty="0" smtClean="0"/>
              <a:t> data is used to periodically evaluate the model on held-out data.  </a:t>
            </a:r>
          </a:p>
          <a:p>
            <a:r>
              <a:rPr lang="en-US" i="1" dirty="0" smtClean="0"/>
              <a:t>Test</a:t>
            </a:r>
            <a:r>
              <a:rPr lang="en-US" dirty="0" smtClean="0"/>
              <a:t> data is only ever used once, as a final evaluation of the model</a:t>
            </a:r>
          </a:p>
          <a:p>
            <a:r>
              <a:rPr lang="en-US" dirty="0" smtClean="0"/>
              <a:t>Common split percentages are 60%, 20%, 20%</a:t>
            </a:r>
            <a:endParaRPr lang="en-US" dirty="0"/>
          </a:p>
        </p:txBody>
      </p:sp>
    </p:spTree>
    <p:extLst>
      <p:ext uri="{BB962C8B-B14F-4D97-AF65-F5344CB8AC3E}">
        <p14:creationId xmlns:p14="http://schemas.microsoft.com/office/powerpoint/2010/main" val="7057029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Training, validation, and test sets</a:t>
            </a:r>
            <a:endParaRPr lang="en-US" dirty="0"/>
          </a:p>
        </p:txBody>
      </p:sp>
      <p:sp>
        <p:nvSpPr>
          <p:cNvPr id="3" name="Content Placeholder 2"/>
          <p:cNvSpPr>
            <a:spLocks noGrp="1"/>
          </p:cNvSpPr>
          <p:nvPr>
            <p:ph idx="1"/>
          </p:nvPr>
        </p:nvSpPr>
        <p:spPr/>
        <p:txBody>
          <a:bodyPr/>
          <a:lstStyle/>
          <a:p>
            <a:r>
              <a:rPr lang="en-US" dirty="0" smtClean="0"/>
              <a:t>We do this to evaluate how much our model is </a:t>
            </a:r>
            <a:r>
              <a:rPr lang="en-US" i="1" dirty="0" smtClean="0"/>
              <a:t>overfitting</a:t>
            </a:r>
            <a:r>
              <a:rPr lang="en-US" dirty="0" smtClean="0"/>
              <a:t> the data, or “memorizing” answers</a:t>
            </a:r>
          </a:p>
          <a:p>
            <a:r>
              <a:rPr lang="en-US" dirty="0" smtClean="0"/>
              <a:t>We want the model to generalize to examples not in the training data</a:t>
            </a:r>
            <a:endParaRPr lang="en-US" dirty="0"/>
          </a:p>
        </p:txBody>
      </p:sp>
    </p:spTree>
    <p:extLst>
      <p:ext uri="{BB962C8B-B14F-4D97-AF65-F5344CB8AC3E}">
        <p14:creationId xmlns:p14="http://schemas.microsoft.com/office/powerpoint/2010/main" val="15129107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Logistic regression (binary classification)</a:t>
            </a:r>
            <a:endParaRPr lang="en-US" dirty="0"/>
          </a:p>
        </p:txBody>
      </p:sp>
      <mc:AlternateContent xmlns:mc="http://schemas.openxmlformats.org/markup-compatibility/2006" xmlns:a14="http://schemas.microsoft.com/office/drawing/2010/main">
        <mc:Choice Requires="a14">
          <p:sp>
            <p:nvSpPr>
              <p:cNvPr id="4" name="TextBox 3"/>
              <p:cNvSpPr txBox="1"/>
              <p:nvPr/>
            </p:nvSpPr>
            <p:spPr>
              <a:xfrm>
                <a:off x="1827212" y="2438400"/>
                <a:ext cx="9257983" cy="151227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nor/>
                        </m:rPr>
                        <a:rPr lang="en-US" sz="3600" b="0" i="0" smtClean="0">
                          <a:latin typeface="Cambria Math" charset="0"/>
                        </a:rPr>
                        <m:t>J</m:t>
                      </m:r>
                      <m:r>
                        <a:rPr lang="en-US" sz="3600" b="0" i="1" smtClean="0">
                          <a:latin typeface="Cambria Math" charset="0"/>
                        </a:rPr>
                        <m:t>=−</m:t>
                      </m:r>
                      <m:f>
                        <m:fPr>
                          <m:ctrlPr>
                            <a:rPr lang="mr-IN" sz="3600" b="0" i="1" smtClean="0">
                              <a:latin typeface="Cambria Math" panose="02040503050406030204" pitchFamily="18" charset="0"/>
                            </a:rPr>
                          </m:ctrlPr>
                        </m:fPr>
                        <m:num>
                          <m:r>
                            <a:rPr lang="en-US" sz="3600" b="0" i="1" smtClean="0">
                              <a:latin typeface="Cambria Math" charset="0"/>
                            </a:rPr>
                            <m:t>1</m:t>
                          </m:r>
                        </m:num>
                        <m:den>
                          <m:r>
                            <a:rPr lang="en-US" sz="3600" b="0" i="1" smtClean="0">
                              <a:latin typeface="Cambria Math" charset="0"/>
                            </a:rPr>
                            <m:t>𝑛</m:t>
                          </m:r>
                        </m:den>
                      </m:f>
                      <m:nary>
                        <m:naryPr>
                          <m:chr m:val="∑"/>
                          <m:ctrlPr>
                            <a:rPr lang="is-IS" sz="3600" b="0" i="1" smtClean="0">
                              <a:latin typeface="Cambria Math" panose="02040503050406030204" pitchFamily="18" charset="0"/>
                            </a:rPr>
                          </m:ctrlPr>
                        </m:naryPr>
                        <m:sub>
                          <m:r>
                            <m:rPr>
                              <m:brk m:alnAt="23"/>
                            </m:rPr>
                            <a:rPr lang="en-US" sz="3600" b="0" i="1" smtClean="0">
                              <a:latin typeface="Cambria Math" charset="0"/>
                            </a:rPr>
                            <m:t>𝑖</m:t>
                          </m:r>
                          <m:r>
                            <a:rPr lang="en-US" sz="3600" b="0" i="1" smtClean="0">
                              <a:latin typeface="Cambria Math" charset="0"/>
                            </a:rPr>
                            <m:t>=1</m:t>
                          </m:r>
                        </m:sub>
                        <m:sup>
                          <m:r>
                            <a:rPr lang="en-US" sz="3600" b="0" i="1" smtClean="0">
                              <a:latin typeface="Cambria Math" charset="0"/>
                            </a:rPr>
                            <m:t>𝑛</m:t>
                          </m:r>
                        </m:sup>
                        <m:e>
                          <m:sSub>
                            <m:sSubPr>
                              <m:ctrlPr>
                                <a:rPr lang="en-US" sz="3600" b="0" i="1" smtClean="0">
                                  <a:latin typeface="Cambria Math" panose="02040503050406030204" pitchFamily="18" charset="0"/>
                                </a:rPr>
                              </m:ctrlPr>
                            </m:sSubPr>
                            <m:e>
                              <m:r>
                                <a:rPr lang="en-US" sz="3600" b="0" i="1" smtClean="0">
                                  <a:latin typeface="Cambria Math" charset="0"/>
                                </a:rPr>
                                <m:t>𝑦</m:t>
                              </m:r>
                            </m:e>
                            <m:sub>
                              <m:r>
                                <a:rPr lang="en-US" sz="3600" b="0" i="1" smtClean="0">
                                  <a:latin typeface="Cambria Math" charset="0"/>
                                </a:rPr>
                                <m:t>𝑖</m:t>
                              </m:r>
                            </m:sub>
                          </m:sSub>
                          <m:d>
                            <m:dPr>
                              <m:ctrlPr>
                                <a:rPr lang="en-US" sz="3600" b="0" i="1" smtClean="0">
                                  <a:latin typeface="Cambria Math" panose="02040503050406030204" pitchFamily="18" charset="0"/>
                                </a:rPr>
                              </m:ctrlPr>
                            </m:dPr>
                            <m:e>
                              <m:func>
                                <m:funcPr>
                                  <m:ctrlPr>
                                    <a:rPr lang="en-US" sz="3600" b="0" i="1" smtClean="0">
                                      <a:latin typeface="Cambria Math" panose="02040503050406030204" pitchFamily="18" charset="0"/>
                                    </a:rPr>
                                  </m:ctrlPr>
                                </m:funcPr>
                                <m:fName>
                                  <m:r>
                                    <m:rPr>
                                      <m:sty m:val="p"/>
                                    </m:rPr>
                                    <a:rPr lang="en-US" sz="3600" b="0" i="0" smtClean="0">
                                      <a:latin typeface="Cambria Math" charset="0"/>
                                    </a:rPr>
                                    <m:t>log</m:t>
                                  </m:r>
                                </m:fName>
                                <m:e>
                                  <m:d>
                                    <m:dPr>
                                      <m:ctrlPr>
                                        <a:rPr lang="en-US" sz="3600" b="0" i="1" smtClean="0">
                                          <a:latin typeface="Cambria Math" panose="02040503050406030204" pitchFamily="18" charset="0"/>
                                        </a:rPr>
                                      </m:ctrlPr>
                                    </m:dPr>
                                    <m:e>
                                      <m:sSub>
                                        <m:sSubPr>
                                          <m:ctrlPr>
                                            <a:rPr lang="en-US" sz="3600" b="0" i="1" smtClean="0">
                                              <a:latin typeface="Cambria Math" panose="02040503050406030204" pitchFamily="18" charset="0"/>
                                            </a:rPr>
                                          </m:ctrlPr>
                                        </m:sSubPr>
                                        <m:e>
                                          <m:acc>
                                            <m:accPr>
                                              <m:chr m:val="̂"/>
                                              <m:ctrlPr>
                                                <a:rPr lang="en-US" sz="3600" b="0" i="1" smtClean="0">
                                                  <a:latin typeface="Cambria Math" panose="02040503050406030204" pitchFamily="18" charset="0"/>
                                                </a:rPr>
                                              </m:ctrlPr>
                                            </m:accPr>
                                            <m:e>
                                              <m:r>
                                                <a:rPr lang="en-US" sz="3600" b="0" i="1" smtClean="0">
                                                  <a:latin typeface="Cambria Math" charset="0"/>
                                                </a:rPr>
                                                <m:t>𝑦</m:t>
                                              </m:r>
                                            </m:e>
                                          </m:acc>
                                        </m:e>
                                        <m:sub>
                                          <m:r>
                                            <a:rPr lang="en-US" sz="3600" b="0" i="1" smtClean="0">
                                              <a:latin typeface="Cambria Math" charset="0"/>
                                            </a:rPr>
                                            <m:t>𝑖</m:t>
                                          </m:r>
                                        </m:sub>
                                      </m:sSub>
                                    </m:e>
                                  </m:d>
                                </m:e>
                              </m:func>
                            </m:e>
                          </m:d>
                          <m:r>
                            <a:rPr lang="en-US" sz="3600" b="0" i="1" smtClean="0">
                              <a:latin typeface="Cambria Math" charset="0"/>
                            </a:rPr>
                            <m:t>+(1−</m:t>
                          </m:r>
                          <m:sSub>
                            <m:sSubPr>
                              <m:ctrlPr>
                                <a:rPr lang="en-US" sz="3600" b="0" i="1" smtClean="0">
                                  <a:latin typeface="Cambria Math" panose="02040503050406030204" pitchFamily="18" charset="0"/>
                                </a:rPr>
                              </m:ctrlPr>
                            </m:sSubPr>
                            <m:e>
                              <m:r>
                                <a:rPr lang="en-US" sz="3600" b="0" i="1" smtClean="0">
                                  <a:latin typeface="Cambria Math" charset="0"/>
                                </a:rPr>
                                <m:t>𝑦</m:t>
                              </m:r>
                            </m:e>
                            <m:sub>
                              <m:r>
                                <a:rPr lang="en-US" sz="3600" b="0" i="1" smtClean="0">
                                  <a:latin typeface="Cambria Math" charset="0"/>
                                </a:rPr>
                                <m:t>𝑖</m:t>
                              </m:r>
                            </m:sub>
                          </m:sSub>
                          <m:r>
                            <a:rPr lang="en-US" sz="3600" b="0" i="1" smtClean="0">
                              <a:latin typeface="Cambria Math" charset="0"/>
                            </a:rPr>
                            <m:t>)(</m:t>
                          </m:r>
                          <m:r>
                            <m:rPr>
                              <m:sty m:val="p"/>
                            </m:rPr>
                            <a:rPr lang="en-US" sz="3600" b="0" i="0" smtClean="0">
                              <a:latin typeface="Cambria Math" charset="0"/>
                            </a:rPr>
                            <m:t>log</m:t>
                          </m:r>
                          <m:r>
                            <a:rPr lang="en-US" sz="3600" b="0" i="1" smtClean="0">
                              <a:latin typeface="Cambria Math" charset="0"/>
                            </a:rPr>
                            <m:t>⁡(1−</m:t>
                          </m:r>
                        </m:e>
                      </m:nary>
                      <m:sSub>
                        <m:sSubPr>
                          <m:ctrlPr>
                            <a:rPr lang="en-US" sz="3600" b="0" i="1" smtClean="0">
                              <a:latin typeface="Cambria Math" panose="02040503050406030204" pitchFamily="18" charset="0"/>
                            </a:rPr>
                          </m:ctrlPr>
                        </m:sSubPr>
                        <m:e>
                          <m:acc>
                            <m:accPr>
                              <m:chr m:val="̂"/>
                              <m:ctrlPr>
                                <a:rPr lang="is-IS" sz="3600" b="0" i="1" smtClean="0">
                                  <a:latin typeface="Cambria Math" panose="02040503050406030204" pitchFamily="18" charset="0"/>
                                </a:rPr>
                              </m:ctrlPr>
                            </m:accPr>
                            <m:e>
                              <m:r>
                                <a:rPr lang="en-US" sz="3600" b="0" i="1" smtClean="0">
                                  <a:latin typeface="Cambria Math" charset="0"/>
                                </a:rPr>
                                <m:t>𝑦</m:t>
                              </m:r>
                            </m:e>
                          </m:acc>
                        </m:e>
                        <m:sub>
                          <m:r>
                            <a:rPr lang="en-US" sz="3600" b="0" i="1" smtClean="0">
                              <a:latin typeface="Cambria Math" charset="0"/>
                            </a:rPr>
                            <m:t>𝑖</m:t>
                          </m:r>
                        </m:sub>
                      </m:sSub>
                      <m:r>
                        <a:rPr lang="en-US" sz="3600" b="0" i="1" smtClean="0">
                          <a:latin typeface="Cambria Math" charset="0"/>
                        </a:rPr>
                        <m:t>))</m:t>
                      </m:r>
                    </m:oMath>
                  </m:oMathPara>
                </a14:m>
                <a:endParaRPr lang="en-US" sz="3600" dirty="0"/>
              </a:p>
            </p:txBody>
          </p:sp>
        </mc:Choice>
        <mc:Fallback xmlns="">
          <p:sp>
            <p:nvSpPr>
              <p:cNvPr id="4" name="TextBox 3"/>
              <p:cNvSpPr txBox="1">
                <a:spLocks noRot="1" noChangeAspect="1" noMove="1" noResize="1" noEditPoints="1" noAdjustHandles="1" noChangeArrowheads="1" noChangeShapeType="1" noTextEdit="1"/>
              </p:cNvSpPr>
              <p:nvPr/>
            </p:nvSpPr>
            <p:spPr>
              <a:xfrm>
                <a:off x="1827212" y="2438400"/>
                <a:ext cx="9257983" cy="1512273"/>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p:cNvSpPr txBox="1"/>
              <p:nvPr/>
            </p:nvSpPr>
            <p:spPr>
              <a:xfrm>
                <a:off x="2592106" y="4542196"/>
                <a:ext cx="2846227" cy="105003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600" b="0" i="1" smtClean="0">
                              <a:latin typeface="Cambria Math" panose="02040503050406030204" pitchFamily="18" charset="0"/>
                            </a:rPr>
                          </m:ctrlPr>
                        </m:sSubPr>
                        <m:e>
                          <m:acc>
                            <m:accPr>
                              <m:chr m:val="̂"/>
                              <m:ctrlPr>
                                <a:rPr lang="en-US" sz="3600" i="1" smtClean="0">
                                  <a:latin typeface="Cambria Math" panose="02040503050406030204" pitchFamily="18" charset="0"/>
                                </a:rPr>
                              </m:ctrlPr>
                            </m:accPr>
                            <m:e>
                              <m:r>
                                <a:rPr lang="en-US" sz="3600" b="0" i="1" smtClean="0">
                                  <a:latin typeface="Cambria Math" charset="0"/>
                                </a:rPr>
                                <m:t>𝑦</m:t>
                              </m:r>
                            </m:e>
                          </m:acc>
                        </m:e>
                        <m:sub>
                          <m:r>
                            <a:rPr lang="en-US" sz="3600" b="0" i="1" smtClean="0">
                              <a:latin typeface="Cambria Math" charset="0"/>
                            </a:rPr>
                            <m:t>𝑖</m:t>
                          </m:r>
                        </m:sub>
                      </m:sSub>
                      <m:r>
                        <a:rPr lang="en-US" sz="3600" b="0" i="1" smtClean="0">
                          <a:latin typeface="Cambria Math" charset="0"/>
                        </a:rPr>
                        <m:t>=</m:t>
                      </m:r>
                      <m:f>
                        <m:fPr>
                          <m:ctrlPr>
                            <a:rPr lang="mr-IN" sz="3600" b="0" i="1" smtClean="0">
                              <a:latin typeface="Cambria Math" panose="02040503050406030204" pitchFamily="18" charset="0"/>
                            </a:rPr>
                          </m:ctrlPr>
                        </m:fPr>
                        <m:num>
                          <m:r>
                            <a:rPr lang="en-US" sz="3600" b="0" i="1" smtClean="0">
                              <a:latin typeface="Cambria Math" charset="0"/>
                            </a:rPr>
                            <m:t>1</m:t>
                          </m:r>
                        </m:num>
                        <m:den>
                          <m:r>
                            <a:rPr lang="en-US" sz="3600" b="0" i="1" smtClean="0">
                              <a:latin typeface="Cambria Math" charset="0"/>
                            </a:rPr>
                            <m:t>1+</m:t>
                          </m:r>
                          <m:sSup>
                            <m:sSupPr>
                              <m:ctrlPr>
                                <a:rPr lang="en-US" sz="3600" b="0" i="1" smtClean="0">
                                  <a:latin typeface="Cambria Math" panose="02040503050406030204" pitchFamily="18" charset="0"/>
                                </a:rPr>
                              </m:ctrlPr>
                            </m:sSupPr>
                            <m:e>
                              <m:r>
                                <a:rPr lang="en-US" sz="3600" b="0" i="1" smtClean="0">
                                  <a:latin typeface="Cambria Math" charset="0"/>
                                </a:rPr>
                                <m:t>𝑒</m:t>
                              </m:r>
                            </m:e>
                            <m:sup>
                              <m:r>
                                <a:rPr lang="en-US" sz="3600" b="0" i="1" smtClean="0">
                                  <a:latin typeface="Cambria Math" charset="0"/>
                                </a:rPr>
                                <m:t>−</m:t>
                              </m:r>
                              <m:sSub>
                                <m:sSubPr>
                                  <m:ctrlPr>
                                    <a:rPr lang="en-US" sz="3600" b="0" i="1" smtClean="0">
                                      <a:latin typeface="Cambria Math" panose="02040503050406030204" pitchFamily="18" charset="0"/>
                                    </a:rPr>
                                  </m:ctrlPr>
                                </m:sSubPr>
                                <m:e>
                                  <m:r>
                                    <a:rPr lang="en-US" sz="3600" b="0" i="1" smtClean="0">
                                      <a:latin typeface="Cambria Math" charset="0"/>
                                    </a:rPr>
                                    <m:t>𝑧</m:t>
                                  </m:r>
                                </m:e>
                                <m:sub>
                                  <m:r>
                                    <a:rPr lang="en-US" sz="3600" b="0" i="1" smtClean="0">
                                      <a:latin typeface="Cambria Math" charset="0"/>
                                    </a:rPr>
                                    <m:t>𝑖</m:t>
                                  </m:r>
                                </m:sub>
                              </m:sSub>
                            </m:sup>
                          </m:sSup>
                        </m:den>
                      </m:f>
                    </m:oMath>
                  </m:oMathPara>
                </a14:m>
                <a:endParaRPr lang="en-US" sz="3600" dirty="0"/>
              </a:p>
            </p:txBody>
          </p:sp>
        </mc:Choice>
        <mc:Fallback xmlns="">
          <p:sp>
            <p:nvSpPr>
              <p:cNvPr id="5" name="TextBox 4"/>
              <p:cNvSpPr txBox="1">
                <a:spLocks noRot="1" noChangeAspect="1" noMove="1" noResize="1" noEditPoints="1" noAdjustHandles="1" noChangeArrowheads="1" noChangeShapeType="1" noTextEdit="1"/>
              </p:cNvSpPr>
              <p:nvPr/>
            </p:nvSpPr>
            <p:spPr>
              <a:xfrm>
                <a:off x="2592106" y="4542196"/>
                <a:ext cx="2846227" cy="1050031"/>
              </a:xfrm>
              <a:prstGeom prst="rect">
                <a:avLst/>
              </a:prstGeom>
              <a:blipFill rotWithShape="0">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6780212" y="4743692"/>
                <a:ext cx="3191322" cy="64703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600" b="0" i="1" smtClean="0">
                              <a:latin typeface="Cambria Math" panose="02040503050406030204" pitchFamily="18" charset="0"/>
                            </a:rPr>
                          </m:ctrlPr>
                        </m:sSubPr>
                        <m:e>
                          <m:r>
                            <a:rPr lang="en-US" sz="3600" b="0" i="1" smtClean="0">
                              <a:latin typeface="Cambria Math" charset="0"/>
                            </a:rPr>
                            <m:t>𝑧</m:t>
                          </m:r>
                        </m:e>
                        <m:sub>
                          <m:r>
                            <a:rPr lang="en-US" sz="3600" b="0" i="1" smtClean="0">
                              <a:latin typeface="Cambria Math" charset="0"/>
                            </a:rPr>
                            <m:t>𝑖</m:t>
                          </m:r>
                        </m:sub>
                      </m:sSub>
                      <m:r>
                        <a:rPr lang="en-US" sz="3600" b="0" i="1" smtClean="0">
                          <a:latin typeface="Cambria Math" charset="0"/>
                        </a:rPr>
                        <m:t>=</m:t>
                      </m:r>
                      <m:sSup>
                        <m:sSupPr>
                          <m:ctrlPr>
                            <a:rPr lang="en-US" sz="3600" b="0" i="1" smtClean="0">
                              <a:latin typeface="Cambria Math" panose="02040503050406030204" pitchFamily="18" charset="0"/>
                            </a:rPr>
                          </m:ctrlPr>
                        </m:sSupPr>
                        <m:e>
                          <m:r>
                            <a:rPr lang="en-US" sz="3600" b="0" i="1" smtClean="0">
                              <a:latin typeface="Cambria Math" charset="0"/>
                            </a:rPr>
                            <m:t>𝑊</m:t>
                          </m:r>
                        </m:e>
                        <m:sup>
                          <m:r>
                            <m:rPr>
                              <m:nor/>
                            </m:rPr>
                            <a:rPr lang="en-US" sz="3600" b="0" i="0" smtClean="0">
                              <a:latin typeface="Cambria Math" charset="0"/>
                            </a:rPr>
                            <m:t>T</m:t>
                          </m:r>
                        </m:sup>
                      </m:sSup>
                      <m:sSub>
                        <m:sSubPr>
                          <m:ctrlPr>
                            <a:rPr lang="en-US" sz="3600" b="0" i="1" smtClean="0">
                              <a:latin typeface="Cambria Math" panose="02040503050406030204" pitchFamily="18" charset="0"/>
                            </a:rPr>
                          </m:ctrlPr>
                        </m:sSubPr>
                        <m:e>
                          <m:r>
                            <a:rPr lang="en-US" sz="3600" b="0" i="1" smtClean="0">
                              <a:latin typeface="Cambria Math" charset="0"/>
                            </a:rPr>
                            <m:t>𝑋</m:t>
                          </m:r>
                        </m:e>
                        <m:sub>
                          <m:r>
                            <a:rPr lang="en-US" sz="3600" b="0" i="1" smtClean="0">
                              <a:latin typeface="Cambria Math" charset="0"/>
                            </a:rPr>
                            <m:t>𝑖</m:t>
                          </m:r>
                        </m:sub>
                      </m:sSub>
                      <m:r>
                        <a:rPr lang="en-US" sz="3600" b="0" i="1" smtClean="0">
                          <a:latin typeface="Cambria Math" charset="0"/>
                        </a:rPr>
                        <m:t>+</m:t>
                      </m:r>
                      <m:r>
                        <a:rPr lang="en-US" sz="3600" b="0" i="1" smtClean="0">
                          <a:latin typeface="Cambria Math" charset="0"/>
                        </a:rPr>
                        <m:t>𝑏</m:t>
                      </m:r>
                    </m:oMath>
                  </m:oMathPara>
                </a14:m>
                <a:endParaRPr lang="en-US" sz="3600" dirty="0"/>
              </a:p>
            </p:txBody>
          </p:sp>
        </mc:Choice>
        <mc:Fallback xmlns="">
          <p:sp>
            <p:nvSpPr>
              <p:cNvPr id="7" name="TextBox 6"/>
              <p:cNvSpPr txBox="1">
                <a:spLocks noRot="1" noChangeAspect="1" noMove="1" noResize="1" noEditPoints="1" noAdjustHandles="1" noChangeArrowheads="1" noChangeShapeType="1" noTextEdit="1"/>
              </p:cNvSpPr>
              <p:nvPr/>
            </p:nvSpPr>
            <p:spPr>
              <a:xfrm>
                <a:off x="6780212" y="4743692"/>
                <a:ext cx="3191322" cy="647037"/>
              </a:xfrm>
              <a:prstGeom prst="rect">
                <a:avLst/>
              </a:prstGeom>
              <a:blipFill rotWithShape="0">
                <a:blip r:embed="rId5"/>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72949647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But wait, there’s more!</a:t>
            </a:r>
            <a:endParaRPr lang="en-US" dirty="0"/>
          </a:p>
        </p:txBody>
      </p:sp>
      <p:sp>
        <p:nvSpPr>
          <p:cNvPr id="3" name="Content Placeholder 2"/>
          <p:cNvSpPr>
            <a:spLocks noGrp="1"/>
          </p:cNvSpPr>
          <p:nvPr>
            <p:ph idx="1"/>
          </p:nvPr>
        </p:nvSpPr>
        <p:spPr/>
        <p:txBody>
          <a:bodyPr>
            <a:normAutofit/>
          </a:bodyPr>
          <a:lstStyle/>
          <a:p>
            <a:r>
              <a:rPr lang="en-US" sz="3600" dirty="0" smtClean="0"/>
              <a:t>Regularization</a:t>
            </a:r>
          </a:p>
          <a:p>
            <a:r>
              <a:rPr lang="en-US" sz="3600" dirty="0" smtClean="0"/>
              <a:t>Input normalization</a:t>
            </a:r>
          </a:p>
          <a:p>
            <a:endParaRPr lang="en-US" sz="3600" dirty="0"/>
          </a:p>
          <a:p>
            <a:pPr marL="0" indent="0">
              <a:buNone/>
            </a:pPr>
            <a:r>
              <a:rPr lang="en-US" sz="3600" dirty="0" smtClean="0"/>
              <a:t>But we’ll hold off until next week.</a:t>
            </a:r>
            <a:endParaRPr lang="en-US" sz="3600" dirty="0"/>
          </a:p>
        </p:txBody>
      </p:sp>
    </p:spTree>
    <p:extLst>
      <p:ext uri="{BB962C8B-B14F-4D97-AF65-F5344CB8AC3E}">
        <p14:creationId xmlns:p14="http://schemas.microsoft.com/office/powerpoint/2010/main" val="13408867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theme/theme1.xml><?xml version="1.0" encoding="utf-8"?>
<a:theme xmlns:a="http://schemas.openxmlformats.org/drawingml/2006/main" name="IS_PPT Template_ClearPro_16x9_051915">
  <a:themeElements>
    <a:clrScheme name="Custom 2">
      <a:dk1>
        <a:sysClr val="windowText" lastClr="000000"/>
      </a:dk1>
      <a:lt1>
        <a:sysClr val="window" lastClr="FFFFFF"/>
      </a:lt1>
      <a:dk2>
        <a:srgbClr val="003C71"/>
      </a:dk2>
      <a:lt2>
        <a:srgbClr val="B1BABF"/>
      </a:lt2>
      <a:accent1>
        <a:srgbClr val="B7D108"/>
      </a:accent1>
      <a:accent2>
        <a:srgbClr val="0071C5"/>
      </a:accent2>
      <a:accent3>
        <a:srgbClr val="009CDA"/>
      </a:accent3>
      <a:accent4>
        <a:srgbClr val="F8D44C"/>
      </a:accent4>
      <a:accent5>
        <a:srgbClr val="FFA400"/>
      </a:accent5>
      <a:accent6>
        <a:srgbClr val="FF4E00"/>
      </a:accent6>
      <a:hlink>
        <a:srgbClr val="C3D600"/>
      </a:hlink>
      <a:folHlink>
        <a:srgbClr val="0071C5"/>
      </a:folHlink>
    </a:clrScheme>
    <a:fontScheme name="Intel Clear">
      <a:majorFont>
        <a:latin typeface="Intel Clear"/>
        <a:ea typeface=""/>
        <a:cs typeface=""/>
      </a:majorFont>
      <a:minorFont>
        <a:latin typeface="Intel Clear"/>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a:solidFill>
            <a:schemeClr val="tx2"/>
          </a:solidFill>
        </a:ln>
        <a:effectLst/>
      </a:spPr>
      <a:bodyPr/>
      <a:lstStyle/>
      <a:style>
        <a:lnRef idx="2">
          <a:schemeClr val="accent1"/>
        </a:lnRef>
        <a:fillRef idx="0">
          <a:schemeClr val="accent1"/>
        </a:fillRef>
        <a:effectRef idx="1">
          <a:schemeClr val="accent1"/>
        </a:effectRef>
        <a:fontRef idx="minor">
          <a:schemeClr val="tx1"/>
        </a:fontRef>
      </a:style>
    </a:lnDef>
    <a:txDef>
      <a:spPr>
        <a:solidFill>
          <a:schemeClr val="bg2">
            <a:lumMod val="20000"/>
            <a:lumOff val="80000"/>
          </a:schemeClr>
        </a:solidFill>
      </a:spPr>
      <a:bodyPr vert="horz" lIns="0" tIns="0" rIns="0" bIns="0" rtlCol="0">
        <a:noAutofit/>
      </a:bodyPr>
      <a:lstStyle>
        <a:defPPr>
          <a:defRPr sz="1100" dirty="0" smtClean="0">
            <a:solidFill>
              <a:srgbClr val="003C71"/>
            </a:solidFill>
          </a:defRPr>
        </a:defPPr>
      </a:lstStyle>
    </a:txDef>
  </a:objectDefaults>
  <a:extraClrSchemeLst/>
  <a:extLst>
    <a:ext uri="{05A4C25C-085E-4340-85A3-A5531E510DB2}">
      <thm15:themeFamily xmlns:thm15="http://schemas.microsoft.com/office/thememl/2012/main" name="IS_External_Template_ClearPro_16x9.potx [Read-Only]" id="{6AFB86A7-0267-4CB1-9FC3-652CFE2BAB26}" vid="{5D3D9D23-DC57-4FBF-B0A2-198F4179BAD5}"/>
    </a:ext>
  </a:extLst>
</a:theme>
</file>

<file path=ppt/theme/theme2.xml><?xml version="1.0" encoding="utf-8"?>
<a:theme xmlns:a="http://schemas.openxmlformats.org/drawingml/2006/main" name="Office Theme">
  <a:themeElements>
    <a:clrScheme name="Math_16x9">
      <a:dk1>
        <a:srgbClr val="465562"/>
      </a:dk1>
      <a:lt1>
        <a:srgbClr val="FFFFFF"/>
      </a:lt1>
      <a:dk2>
        <a:srgbClr val="000000"/>
      </a:dk2>
      <a:lt2>
        <a:srgbClr val="F2ECE2"/>
      </a:lt2>
      <a:accent1>
        <a:srgbClr val="9BAAB7"/>
      </a:accent1>
      <a:accent2>
        <a:srgbClr val="B8D082"/>
      </a:accent2>
      <a:accent3>
        <a:srgbClr val="EFDB85"/>
      </a:accent3>
      <a:accent4>
        <a:srgbClr val="E8A565"/>
      </a:accent4>
      <a:accent5>
        <a:srgbClr val="BC9AAE"/>
      </a:accent5>
      <a:accent6>
        <a:srgbClr val="BABABA"/>
      </a:accent6>
      <a:hlink>
        <a:srgbClr val="8FC48C"/>
      </a:hlink>
      <a:folHlink>
        <a:srgbClr val="A97C96"/>
      </a:folHlink>
    </a:clrScheme>
    <a:fontScheme name="Euphemia">
      <a:majorFont>
        <a:latin typeface="Euphemia"/>
        <a:ea typeface=""/>
        <a:cs typeface=""/>
      </a:majorFont>
      <a:minorFont>
        <a:latin typeface="Euphemi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Office Theme">
  <a:themeElements>
    <a:clrScheme name="Math_16x9">
      <a:dk1>
        <a:srgbClr val="465562"/>
      </a:dk1>
      <a:lt1>
        <a:srgbClr val="FFFFFF"/>
      </a:lt1>
      <a:dk2>
        <a:srgbClr val="000000"/>
      </a:dk2>
      <a:lt2>
        <a:srgbClr val="F2ECE2"/>
      </a:lt2>
      <a:accent1>
        <a:srgbClr val="9BAAB7"/>
      </a:accent1>
      <a:accent2>
        <a:srgbClr val="B8D082"/>
      </a:accent2>
      <a:accent3>
        <a:srgbClr val="EFDB85"/>
      </a:accent3>
      <a:accent4>
        <a:srgbClr val="E8A565"/>
      </a:accent4>
      <a:accent5>
        <a:srgbClr val="BC9AAE"/>
      </a:accent5>
      <a:accent6>
        <a:srgbClr val="BABABA"/>
      </a:accent6>
      <a:hlink>
        <a:srgbClr val="8FC48C"/>
      </a:hlink>
      <a:folHlink>
        <a:srgbClr val="A97C96"/>
      </a:folHlink>
    </a:clrScheme>
    <a:fontScheme name="Euphemia">
      <a:majorFont>
        <a:latin typeface="Euphemia"/>
        <a:ea typeface=""/>
        <a:cs typeface=""/>
      </a:majorFont>
      <a:minorFont>
        <a:latin typeface="Euphemi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mso-contentType ?>
<FormTemplates xmlns="http://schemas.microsoft.com/sharepoint/v3/contenttype/forms">
  <Display>DocumentLibraryForm</Display>
  <Edit>AssetEditForm</Edit>
  <New>DocumentLibraryForm</New>
</FormTemplates>
</file>

<file path=customXml/itemProps1.xml><?xml version="1.0" encoding="utf-8"?>
<ds:datastoreItem xmlns:ds="http://schemas.openxmlformats.org/officeDocument/2006/customXml" ds:itemID="{F20C675A-9AD3-40BB-AC57-0E9EFA3E4FBF}">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IS_External_Template_ClearPro_16x9</Template>
  <TotalTime>0</TotalTime>
  <Words>2375</Words>
  <Application>Microsoft Office PowerPoint</Application>
  <PresentationFormat>Custom</PresentationFormat>
  <Paragraphs>658</Paragraphs>
  <Slides>69</Slides>
  <Notes>68</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69</vt:i4>
      </vt:variant>
    </vt:vector>
  </HeadingPairs>
  <TitlesOfParts>
    <vt:vector size="81" baseType="lpstr">
      <vt:lpstr>Arial</vt:lpstr>
      <vt:lpstr>Cambria Math</vt:lpstr>
      <vt:lpstr>Consolas</vt:lpstr>
      <vt:lpstr>Euphemia</vt:lpstr>
      <vt:lpstr>Intel Clear</vt:lpstr>
      <vt:lpstr>Intel Clear Light</vt:lpstr>
      <vt:lpstr>Intel Clear Pro</vt:lpstr>
      <vt:lpstr>Lucida Grande</vt:lpstr>
      <vt:lpstr>Montserrat</vt:lpstr>
      <vt:lpstr>Neo Sans Intel</vt:lpstr>
      <vt:lpstr>Wingdings</vt:lpstr>
      <vt:lpstr>IS_PPT Template_ClearPro_16x9_051915</vt:lpstr>
      <vt:lpstr>Machine Learning Fundamentals</vt:lpstr>
      <vt:lpstr>Legal Notices and Disclaimers</vt:lpstr>
      <vt:lpstr>Things to cover in slides</vt:lpstr>
      <vt:lpstr>Key things to take away from today</vt:lpstr>
      <vt:lpstr>What is Machine Learning?</vt:lpstr>
      <vt:lpstr>Machine Learning</vt:lpstr>
      <vt:lpstr>Remember Excel?</vt:lpstr>
      <vt:lpstr>Remember Excel?</vt:lpstr>
      <vt:lpstr>Kinds of Machine Learning Tasks</vt:lpstr>
      <vt:lpstr>A regression task </vt:lpstr>
      <vt:lpstr>Kinds of Machine Learning Methods</vt:lpstr>
      <vt:lpstr>A is supervised learning task</vt:lpstr>
      <vt:lpstr>Linear Regression</vt:lpstr>
      <vt:lpstr>Cost Function: J</vt:lpstr>
      <vt:lpstr>Cost function for linear regression</vt:lpstr>
      <vt:lpstr>How to minimize loss?</vt:lpstr>
      <vt:lpstr>How to make derivative equal zero?</vt:lpstr>
      <vt:lpstr>Gradient Descent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The process of doing gradient descent (math-version)</vt:lpstr>
      <vt:lpstr>The process of doing gradient descent (math-version)</vt:lpstr>
      <vt:lpstr>PowerPoint Presentation</vt:lpstr>
      <vt:lpstr>PowerPoint Presentation</vt:lpstr>
      <vt:lpstr>PowerPoint Presentation</vt:lpstr>
      <vt:lpstr>Process of gradient decent (computation graph)</vt:lpstr>
      <vt:lpstr>Process of gradient decent (computation graph)</vt:lpstr>
      <vt:lpstr>Process of gradient decent (computation graph)</vt:lpstr>
      <vt:lpstr>Process of doing gradient decent (computation graph)</vt:lpstr>
      <vt:lpstr>Cost needs to be defined like other operations in TF</vt:lpstr>
      <vt:lpstr>Derivatives and updates use a tf.Optimizer</vt:lpstr>
      <vt:lpstr>The Optimizer super-class</vt:lpstr>
      <vt:lpstr>Helper function: Optimizer.minimize()</vt:lpstr>
      <vt:lpstr>How does tf.Optimizer work?</vt:lpstr>
      <vt:lpstr>How does tf.Optimizer work?</vt:lpstr>
      <vt:lpstr>What is derivative of sum function w.r.t any input?</vt:lpstr>
      <vt:lpstr>What is derivative of square function w.r.t any input?</vt:lpstr>
      <vt:lpstr>What is derivative of minus w.r.t either input?</vt:lpstr>
      <vt:lpstr>What is derivative of add w.r.t either input?</vt:lpstr>
      <vt:lpstr>What is derivative of multiplication w.r.t either input?</vt:lpstr>
      <vt:lpstr>What is derivative of multiplication w.r.t either input?</vt:lpstr>
      <vt:lpstr>Now, we move from generic arguments to specific links (outputs) in our graph.</vt:lpstr>
      <vt:lpstr>Now we can use the chain rule to get derivative w.r.t weights!</vt:lpstr>
      <vt:lpstr>With respect to b:</vt:lpstr>
      <vt:lpstr>Remember the “cancelling” effect of chain rule:</vt:lpstr>
      <vt:lpstr>Similar process for derivative with respect to W</vt:lpstr>
      <vt:lpstr>This is automatic differentiation</vt:lpstr>
      <vt:lpstr>Vectorization</vt:lpstr>
      <vt:lpstr>Parallelizing our math</vt:lpstr>
      <vt:lpstr>Vectorization #1: multi-variable regression</vt:lpstr>
      <vt:lpstr>Vectorization #1: multi-variable regression</vt:lpstr>
      <vt:lpstr>How to accomplish this in TensorFlow</vt:lpstr>
      <vt:lpstr>Vectorization #2: Batch examples</vt:lpstr>
      <vt:lpstr>Vectorization #2: Batch examples</vt:lpstr>
      <vt:lpstr>How to accomplish this in TensorFlow</vt:lpstr>
      <vt:lpstr>Odds and ends</vt:lpstr>
      <vt:lpstr>Training, validation, and test sets</vt:lpstr>
      <vt:lpstr>Training, validation, and test sets</vt:lpstr>
      <vt:lpstr>Logistic regression (binary classification)</vt:lpstr>
      <vt:lpstr>But wait, there’s more!</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CTPClassification=CTP_NT</cp:keywords>
  <cp:lastModifiedBy/>
  <cp:revision>1</cp:revision>
  <dcterms:created xsi:type="dcterms:W3CDTF">2017-02-08T03:57:32Z</dcterms:created>
  <dcterms:modified xsi:type="dcterms:W3CDTF">2018-01-26T01:15:41Z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TC027879479991</vt:lpwstr>
  </property>
  <property fmtid="{D5CDD505-2E9C-101B-9397-08002B2CF9AE}" pid="3" name="TitusGUID">
    <vt:lpwstr>d28939d5-7213-432f-a9d3-30d2762bc43b</vt:lpwstr>
  </property>
  <property fmtid="{D5CDD505-2E9C-101B-9397-08002B2CF9AE}" pid="4" name="CTP_TimeStamp">
    <vt:lpwstr>2018-01-26 01:15:38Z</vt:lpwstr>
  </property>
  <property fmtid="{D5CDD505-2E9C-101B-9397-08002B2CF9AE}" pid="5" name="CTP_BU">
    <vt:lpwstr>NA</vt:lpwstr>
  </property>
  <property fmtid="{D5CDD505-2E9C-101B-9397-08002B2CF9AE}" pid="6" name="CTP_IDSID">
    <vt:lpwstr>NA</vt:lpwstr>
  </property>
  <property fmtid="{D5CDD505-2E9C-101B-9397-08002B2CF9AE}" pid="7" name="CTP_WWID">
    <vt:lpwstr>NA</vt:lpwstr>
  </property>
  <property fmtid="{D5CDD505-2E9C-101B-9397-08002B2CF9AE}" pid="8" name="CTPClassification">
    <vt:lpwstr>CTP_NT</vt:lpwstr>
  </property>
</Properties>
</file>
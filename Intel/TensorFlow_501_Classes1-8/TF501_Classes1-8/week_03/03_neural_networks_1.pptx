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88"/>
  </p:notesMasterIdLst>
  <p:handoutMasterIdLst>
    <p:handoutMasterId r:id="rId89"/>
  </p:handoutMasterIdLst>
  <p:sldIdLst>
    <p:sldId id="256" r:id="rId3"/>
    <p:sldId id="351" r:id="rId4"/>
    <p:sldId id="282" r:id="rId5"/>
    <p:sldId id="279" r:id="rId6"/>
    <p:sldId id="280" r:id="rId7"/>
    <p:sldId id="281" r:id="rId8"/>
    <p:sldId id="291" r:id="rId9"/>
    <p:sldId id="283" r:id="rId10"/>
    <p:sldId id="284" r:id="rId11"/>
    <p:sldId id="285" r:id="rId12"/>
    <p:sldId id="286" r:id="rId13"/>
    <p:sldId id="287" r:id="rId14"/>
    <p:sldId id="289" r:id="rId15"/>
    <p:sldId id="288" r:id="rId16"/>
    <p:sldId id="290" r:id="rId17"/>
    <p:sldId id="296" r:id="rId18"/>
    <p:sldId id="297" r:id="rId19"/>
    <p:sldId id="258" r:id="rId20"/>
    <p:sldId id="259" r:id="rId21"/>
    <p:sldId id="260" r:id="rId22"/>
    <p:sldId id="261" r:id="rId23"/>
    <p:sldId id="262" r:id="rId24"/>
    <p:sldId id="292" r:id="rId25"/>
    <p:sldId id="293" r:id="rId26"/>
    <p:sldId id="294" r:id="rId27"/>
    <p:sldId id="295" r:id="rId28"/>
    <p:sldId id="263" r:id="rId29"/>
    <p:sldId id="264" r:id="rId30"/>
    <p:sldId id="268" r:id="rId31"/>
    <p:sldId id="265" r:id="rId32"/>
    <p:sldId id="266" r:id="rId33"/>
    <p:sldId id="267" r:id="rId34"/>
    <p:sldId id="269" r:id="rId35"/>
    <p:sldId id="328" r:id="rId36"/>
    <p:sldId id="329" r:id="rId37"/>
    <p:sldId id="330" r:id="rId38"/>
    <p:sldId id="331" r:id="rId39"/>
    <p:sldId id="298" r:id="rId40"/>
    <p:sldId id="299" r:id="rId41"/>
    <p:sldId id="300" r:id="rId42"/>
    <p:sldId id="301" r:id="rId43"/>
    <p:sldId id="303" r:id="rId44"/>
    <p:sldId id="302" r:id="rId45"/>
    <p:sldId id="304" r:id="rId46"/>
    <p:sldId id="305" r:id="rId47"/>
    <p:sldId id="306" r:id="rId48"/>
    <p:sldId id="270" r:id="rId49"/>
    <p:sldId id="271" r:id="rId50"/>
    <p:sldId id="307" r:id="rId51"/>
    <p:sldId id="308" r:id="rId52"/>
    <p:sldId id="309" r:id="rId53"/>
    <p:sldId id="310" r:id="rId54"/>
    <p:sldId id="311" r:id="rId55"/>
    <p:sldId id="312" r:id="rId56"/>
    <p:sldId id="315" r:id="rId57"/>
    <p:sldId id="313" r:id="rId58"/>
    <p:sldId id="314" r:id="rId59"/>
    <p:sldId id="316" r:id="rId60"/>
    <p:sldId id="343" r:id="rId61"/>
    <p:sldId id="321" r:id="rId62"/>
    <p:sldId id="323" r:id="rId63"/>
    <p:sldId id="324" r:id="rId64"/>
    <p:sldId id="325" r:id="rId65"/>
    <p:sldId id="327" r:id="rId66"/>
    <p:sldId id="332" r:id="rId67"/>
    <p:sldId id="333" r:id="rId68"/>
    <p:sldId id="334" r:id="rId69"/>
    <p:sldId id="335" r:id="rId70"/>
    <p:sldId id="336" r:id="rId71"/>
    <p:sldId id="338" r:id="rId72"/>
    <p:sldId id="339" r:id="rId73"/>
    <p:sldId id="340" r:id="rId74"/>
    <p:sldId id="341" r:id="rId75"/>
    <p:sldId id="342" r:id="rId76"/>
    <p:sldId id="322" r:id="rId77"/>
    <p:sldId id="320" r:id="rId78"/>
    <p:sldId id="318" r:id="rId79"/>
    <p:sldId id="319" r:id="rId80"/>
    <p:sldId id="317" r:id="rId81"/>
    <p:sldId id="345" r:id="rId82"/>
    <p:sldId id="346" r:id="rId83"/>
    <p:sldId id="347" r:id="rId84"/>
    <p:sldId id="348" r:id="rId85"/>
    <p:sldId id="349" r:id="rId86"/>
    <p:sldId id="350" r:id="rId8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F92832D-F12B-7A4A-906F-BD409EDF78BF}">
          <p14:sldIdLst>
            <p14:sldId id="256"/>
            <p14:sldId id="351"/>
          </p14:sldIdLst>
        </p14:section>
        <p14:section name="Input Normalization" id="{0E7FAAD5-8DE6-464B-A035-C9BA6BA06FB4}">
          <p14:sldIdLst>
            <p14:sldId id="282"/>
            <p14:sldId id="279"/>
            <p14:sldId id="280"/>
            <p14:sldId id="281"/>
            <p14:sldId id="291"/>
          </p14:sldIdLst>
        </p14:section>
        <p14:section name="Regularization" id="{6A45108E-6149-0847-B233-A8FB5C31CBA2}">
          <p14:sldIdLst>
            <p14:sldId id="283"/>
            <p14:sldId id="284"/>
            <p14:sldId id="285"/>
            <p14:sldId id="286"/>
            <p14:sldId id="287"/>
            <p14:sldId id="289"/>
            <p14:sldId id="288"/>
            <p14:sldId id="290"/>
          </p14:sldIdLst>
        </p14:section>
        <p14:section name="Neuron Basics" id="{347C9F67-5EDF-2247-AF18-D3C5D9E8A73E}">
          <p14:sldIdLst>
            <p14:sldId id="296"/>
            <p14:sldId id="297"/>
            <p14:sldId id="258"/>
            <p14:sldId id="259"/>
            <p14:sldId id="260"/>
            <p14:sldId id="261"/>
            <p14:sldId id="262"/>
            <p14:sldId id="292"/>
            <p14:sldId id="293"/>
            <p14:sldId id="294"/>
            <p14:sldId id="295"/>
            <p14:sldId id="263"/>
            <p14:sldId id="264"/>
            <p14:sldId id="268"/>
            <p14:sldId id="265"/>
            <p14:sldId id="266"/>
            <p14:sldId id="267"/>
            <p14:sldId id="269"/>
            <p14:sldId id="328"/>
            <p14:sldId id="329"/>
            <p14:sldId id="330"/>
            <p14:sldId id="331"/>
            <p14:sldId id="298"/>
            <p14:sldId id="299"/>
            <p14:sldId id="300"/>
            <p14:sldId id="301"/>
            <p14:sldId id="303"/>
            <p14:sldId id="302"/>
            <p14:sldId id="304"/>
            <p14:sldId id="305"/>
            <p14:sldId id="306"/>
            <p14:sldId id="270"/>
            <p14:sldId id="271"/>
            <p14:sldId id="307"/>
            <p14:sldId id="308"/>
            <p14:sldId id="309"/>
            <p14:sldId id="310"/>
            <p14:sldId id="311"/>
            <p14:sldId id="312"/>
            <p14:sldId id="315"/>
            <p14:sldId id="313"/>
            <p14:sldId id="314"/>
            <p14:sldId id="316"/>
            <p14:sldId id="343"/>
            <p14:sldId id="321"/>
            <p14:sldId id="323"/>
            <p14:sldId id="324"/>
            <p14:sldId id="325"/>
            <p14:sldId id="327"/>
            <p14:sldId id="332"/>
            <p14:sldId id="333"/>
            <p14:sldId id="334"/>
            <p14:sldId id="335"/>
            <p14:sldId id="336"/>
            <p14:sldId id="338"/>
            <p14:sldId id="339"/>
            <p14:sldId id="340"/>
            <p14:sldId id="341"/>
            <p14:sldId id="342"/>
            <p14:sldId id="322"/>
            <p14:sldId id="320"/>
            <p14:sldId id="318"/>
            <p14:sldId id="319"/>
            <p14:sldId id="317"/>
            <p14:sldId id="345"/>
            <p14:sldId id="346"/>
            <p14:sldId id="347"/>
            <p14:sldId id="348"/>
            <p14:sldId id="349"/>
            <p14:sldId id="350"/>
          </p14:sldIdLst>
        </p14:section>
      </p14:sectionLst>
    </p:ex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FDFF"/>
    <a:srgbClr val="FFFFFF"/>
    <a:srgbClr val="5C6B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11" autoAdjust="0"/>
    <p:restoredTop sz="70173"/>
  </p:normalViewPr>
  <p:slideViewPr>
    <p:cSldViewPr showGuides="1">
      <p:cViewPr varScale="1">
        <p:scale>
          <a:sx n="89" d="100"/>
          <a:sy n="89" d="100"/>
        </p:scale>
        <p:origin x="1032" y="90"/>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1/25/2018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1/25/2018</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Similar to scaling data for regression so that coefficients</a:t>
            </a:r>
            <a:r>
              <a:rPr lang="en-US" baseline="0" dirty="0" smtClean="0"/>
              <a:t> are on comparable scale (movie budgets in millions versus number of staff in hundreds)</a:t>
            </a:r>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684256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many, many alternatives here.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530959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“z scores” gives us a set of </a:t>
            </a:r>
            <a:r>
              <a:rPr lang="en-US" dirty="0" err="1" smtClean="0"/>
              <a:t>x_i</a:t>
            </a:r>
            <a:r>
              <a:rPr lang="en-US" dirty="0" smtClean="0"/>
              <a:t> with mean 0 and </a:t>
            </a:r>
            <a:r>
              <a:rPr lang="en-US" dirty="0" err="1" smtClean="0"/>
              <a:t>stddev</a:t>
            </a:r>
            <a:r>
              <a:rPr lang="en-US" baseline="0" dirty="0" smtClean="0"/>
              <a:t> 1.0</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198446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Z-scoring will take the x</a:t>
            </a:r>
            <a:r>
              <a:rPr lang="en-US" baseline="0" dirty="0" smtClean="0"/>
              <a:t> and y variability to 1.0. But, it won’t remove correlation (uneven spread) on diagonal.  That’s what PCA is for.  Consider this graphic an idealized scenario.</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631568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Overfitting is where we “teach to the training data” (similar to the phrase “teaching to the test”) at the expense of learning the real underlying</a:t>
            </a:r>
            <a:r>
              <a:rPr lang="en-US" baseline="0" dirty="0" smtClean="0"/>
              <a:t> phenomena.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9</a:t>
            </a:fld>
            <a:endParaRPr lang="en-US"/>
          </a:p>
        </p:txBody>
      </p:sp>
    </p:spTree>
    <p:extLst>
      <p:ext uri="{BB962C8B-B14F-4D97-AF65-F5344CB8AC3E}">
        <p14:creationId xmlns:p14="http://schemas.microsoft.com/office/powerpoint/2010/main" val="1666716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1153560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fit the red data points exactly.  Great!  But how does it do when we test?  Who knows.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172477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Much smoother.  We don’t have the right-hand dip.  We miss our data by a bit </a:t>
            </a:r>
            <a:r>
              <a:rPr lang="is-IS" dirty="0" smtClean="0"/>
              <a:t>…. </a:t>
            </a:r>
            <a:r>
              <a:rPr lang="en-US" dirty="0" smtClean="0"/>
              <a:t>B</a:t>
            </a:r>
            <a:r>
              <a:rPr lang="is-IS" dirty="0" smtClean="0"/>
              <a:t>ut hopefully</a:t>
            </a:r>
            <a:r>
              <a:rPr lang="is-IS" baseline="0" dirty="0" smtClean="0"/>
              <a:t> our data is more “regular” like this smoother model.</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13</a:t>
            </a:fld>
            <a:endParaRPr lang="en-US"/>
          </a:p>
        </p:txBody>
      </p:sp>
    </p:spTree>
    <p:extLst>
      <p:ext uri="{BB962C8B-B14F-4D97-AF65-F5344CB8AC3E}">
        <p14:creationId xmlns:p14="http://schemas.microsoft.com/office/powerpoint/2010/main" val="631951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We’ve</a:t>
            </a:r>
            <a:r>
              <a:rPr lang="en-US" baseline="0" dirty="0" smtClean="0"/>
              <a:t> overdone it.  We are super flat, but we can’t wiggle enough to capture the pattern.  This is also called being too “biased”.</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232911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Build</a:t>
            </a:r>
            <a:r>
              <a:rPr lang="en-US" baseline="0" dirty="0" smtClean="0"/>
              <a:t> up over the next few slides.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1056239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23</a:t>
            </a:fld>
            <a:endParaRPr lang="en-US"/>
          </a:p>
        </p:txBody>
      </p:sp>
    </p:spTree>
    <p:extLst>
      <p:ext uri="{BB962C8B-B14F-4D97-AF65-F5344CB8AC3E}">
        <p14:creationId xmlns:p14="http://schemas.microsoft.com/office/powerpoint/2010/main" val="763932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Z (net input) is bringing together all of the input side</a:t>
            </a:r>
            <a:r>
              <a:rPr lang="en-US" baseline="0" dirty="0" smtClean="0"/>
              <a:t> of the neuron (all the incoming arrows).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24</a:t>
            </a:fld>
            <a:endParaRPr lang="en-US"/>
          </a:p>
        </p:txBody>
      </p:sp>
    </p:spTree>
    <p:extLst>
      <p:ext uri="{BB962C8B-B14F-4D97-AF65-F5344CB8AC3E}">
        <p14:creationId xmlns:p14="http://schemas.microsoft.com/office/powerpoint/2010/main" val="1560463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26</a:t>
            </a:fld>
            <a:endParaRPr lang="en-US"/>
          </a:p>
        </p:txBody>
      </p:sp>
    </p:spTree>
    <p:extLst>
      <p:ext uri="{BB962C8B-B14F-4D97-AF65-F5344CB8AC3E}">
        <p14:creationId xmlns:p14="http://schemas.microsoft.com/office/powerpoint/2010/main" val="289884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Matmul</a:t>
            </a:r>
            <a:r>
              <a:rPr lang="en-US" dirty="0" smtClean="0"/>
              <a:t> does the dot product</a:t>
            </a:r>
            <a:r>
              <a:rPr lang="en-US" baseline="0" dirty="0" smtClean="0"/>
              <a:t> step (sum of products)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27</a:t>
            </a:fld>
            <a:endParaRPr lang="en-US"/>
          </a:p>
        </p:txBody>
      </p:sp>
    </p:spTree>
    <p:extLst>
      <p:ext uri="{BB962C8B-B14F-4D97-AF65-F5344CB8AC3E}">
        <p14:creationId xmlns:p14="http://schemas.microsoft.com/office/powerpoint/2010/main" val="15976616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That is, what about running for more than one example at a time.  Scale up the first dimension from 1 --&gt;</a:t>
            </a:r>
            <a:r>
              <a:rPr lang="en-US" baseline="0" dirty="0" smtClean="0"/>
              <a:t> N.</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34</a:t>
            </a:fld>
            <a:endParaRPr lang="en-US"/>
          </a:p>
        </p:txBody>
      </p:sp>
    </p:spTree>
    <p:extLst>
      <p:ext uri="{BB962C8B-B14F-4D97-AF65-F5344CB8AC3E}">
        <p14:creationId xmlns:p14="http://schemas.microsoft.com/office/powerpoint/2010/main" val="1360064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next few slides talk about some of the ways neural network/neuron diagrams summarize (compress) themselves.</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38</a:t>
            </a:fld>
            <a:endParaRPr lang="en-US"/>
          </a:p>
        </p:txBody>
      </p:sp>
    </p:spTree>
    <p:extLst>
      <p:ext uri="{BB962C8B-B14F-4D97-AF65-F5344CB8AC3E}">
        <p14:creationId xmlns:p14="http://schemas.microsoft.com/office/powerpoint/2010/main" val="1881708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we may use “bias” to mean the bias neuron and/or the bias weight.  Since 1 * </a:t>
            </a:r>
            <a:r>
              <a:rPr lang="en-US" dirty="0" err="1" smtClean="0"/>
              <a:t>bias_weight</a:t>
            </a:r>
            <a:r>
              <a:rPr lang="en-US" baseline="0" dirty="0" smtClean="0"/>
              <a:t> = </a:t>
            </a:r>
            <a:r>
              <a:rPr lang="en-US" baseline="0" dirty="0" err="1" smtClean="0"/>
              <a:t>bias_weight</a:t>
            </a:r>
            <a:r>
              <a:rPr lang="en-US" baseline="0" dirty="0" smtClean="0"/>
              <a:t>, it’s not too important.  The amount of the bias is the important part!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39</a:t>
            </a:fld>
            <a:endParaRPr lang="en-US"/>
          </a:p>
        </p:txBody>
      </p:sp>
    </p:spTree>
    <p:extLst>
      <p:ext uri="{BB962C8B-B14F-4D97-AF65-F5344CB8AC3E}">
        <p14:creationId xmlns:p14="http://schemas.microsoft.com/office/powerpoint/2010/main" val="574900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That is, in the classical</a:t>
            </a:r>
            <a:r>
              <a:rPr lang="en-US" baseline="0" dirty="0" smtClean="0"/>
              <a:t> neural network diagrams, the weights are implicitly give by the edges.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42</a:t>
            </a:fld>
            <a:endParaRPr lang="en-US"/>
          </a:p>
        </p:txBody>
      </p:sp>
    </p:spTree>
    <p:extLst>
      <p:ext uri="{BB962C8B-B14F-4D97-AF65-F5344CB8AC3E}">
        <p14:creationId xmlns:p14="http://schemas.microsoft.com/office/powerpoint/2010/main" val="20955040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43</a:t>
            </a:fld>
            <a:endParaRPr lang="en-US"/>
          </a:p>
        </p:txBody>
      </p:sp>
    </p:spTree>
    <p:extLst>
      <p:ext uri="{BB962C8B-B14F-4D97-AF65-F5344CB8AC3E}">
        <p14:creationId xmlns:p14="http://schemas.microsoft.com/office/powerpoint/2010/main" val="6802485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remember, it has a net input (computed</a:t>
            </a:r>
            <a:r>
              <a:rPr lang="en-US" baseline="0" dirty="0" smtClean="0"/>
              <a:t> from </a:t>
            </a:r>
            <a:r>
              <a:rPr lang="en-US" baseline="0" dirty="0" err="1" smtClean="0"/>
              <a:t>x_i</a:t>
            </a:r>
            <a:r>
              <a:rPr lang="en-US" baseline="0" dirty="0" smtClean="0"/>
              <a:t> and 1 through the bias and weights)</a:t>
            </a:r>
            <a:r>
              <a:rPr lang="en-US" dirty="0" smtClean="0"/>
              <a:t> feeding</a:t>
            </a:r>
            <a:r>
              <a:rPr lang="en-US" baseline="0" dirty="0" smtClean="0"/>
              <a:t> to the activation a.</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44</a:t>
            </a:fld>
            <a:endParaRPr lang="en-US"/>
          </a:p>
        </p:txBody>
      </p:sp>
    </p:spTree>
    <p:extLst>
      <p:ext uri="{BB962C8B-B14F-4D97-AF65-F5344CB8AC3E}">
        <p14:creationId xmlns:p14="http://schemas.microsoft.com/office/powerpoint/2010/main" val="1304183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Specifically, get towards</a:t>
            </a:r>
            <a:r>
              <a:rPr lang="en-US" baseline="0" dirty="0" smtClean="0"/>
              <a:t> -5 or -10, and we are “very” close to zero.  At 5 or 10, we are “very” close to 1.</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47</a:t>
            </a:fld>
            <a:endParaRPr lang="en-US"/>
          </a:p>
        </p:txBody>
      </p:sp>
    </p:spTree>
    <p:extLst>
      <p:ext uri="{BB962C8B-B14F-4D97-AF65-F5344CB8AC3E}">
        <p14:creationId xmlns:p14="http://schemas.microsoft.com/office/powerpoint/2010/main" val="1387351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recreat</a:t>
            </a:r>
            <a:r>
              <a:rPr lang="en-US" baseline="0" dirty="0" smtClean="0"/>
              <a:t>e this in the notebook, so don’t stress here.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48</a:t>
            </a:fld>
            <a:endParaRPr lang="en-US"/>
          </a:p>
        </p:txBody>
      </p:sp>
    </p:spTree>
    <p:extLst>
      <p:ext uri="{BB962C8B-B14F-4D97-AF65-F5344CB8AC3E}">
        <p14:creationId xmlns:p14="http://schemas.microsoft.com/office/powerpoint/2010/main" val="21333698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a common “middle” layer in neural networks.  They don’t *have* to be completely connected coming</a:t>
            </a:r>
            <a:r>
              <a:rPr lang="en-US" baseline="0" dirty="0" smtClean="0"/>
              <a:t> in and going out.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61</a:t>
            </a:fld>
            <a:endParaRPr lang="en-US"/>
          </a:p>
        </p:txBody>
      </p:sp>
    </p:spTree>
    <p:extLst>
      <p:ext uri="{BB962C8B-B14F-4D97-AF65-F5344CB8AC3E}">
        <p14:creationId xmlns:p14="http://schemas.microsoft.com/office/powerpoint/2010/main" val="16418802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More details on next slide:</a:t>
            </a:r>
            <a:r>
              <a:rPr lang="en-US" baseline="0" dirty="0" smtClean="0"/>
              <a:t>  </a:t>
            </a:r>
            <a:r>
              <a:rPr lang="en-US" dirty="0" smtClean="0"/>
              <a:t>X_1 outputs to each of the </a:t>
            </a:r>
            <a:r>
              <a:rPr lang="en-US" dirty="0" err="1" smtClean="0"/>
              <a:t>sigmoids</a:t>
            </a:r>
            <a:r>
              <a:rPr lang="en-US" dirty="0" smtClean="0"/>
              <a:t> (activations).  Same for x_2 and +1</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62</a:t>
            </a:fld>
            <a:endParaRPr lang="en-US"/>
          </a:p>
        </p:txBody>
      </p:sp>
    </p:spTree>
    <p:extLst>
      <p:ext uri="{BB962C8B-B14F-4D97-AF65-F5344CB8AC3E}">
        <p14:creationId xmlns:p14="http://schemas.microsoft.com/office/powerpoint/2010/main" val="1418455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65</a:t>
            </a:fld>
            <a:endParaRPr lang="en-US"/>
          </a:p>
        </p:txBody>
      </p:sp>
    </p:spTree>
    <p:extLst>
      <p:ext uri="{BB962C8B-B14F-4D97-AF65-F5344CB8AC3E}">
        <p14:creationId xmlns:p14="http://schemas.microsoft.com/office/powerpoint/2010/main" val="6533303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66</a:t>
            </a:fld>
            <a:endParaRPr lang="en-US"/>
          </a:p>
        </p:txBody>
      </p:sp>
    </p:spTree>
    <p:extLst>
      <p:ext uri="{BB962C8B-B14F-4D97-AF65-F5344CB8AC3E}">
        <p14:creationId xmlns:p14="http://schemas.microsoft.com/office/powerpoint/2010/main" val="13599825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69</a:t>
            </a:fld>
            <a:endParaRPr lang="en-US"/>
          </a:p>
        </p:txBody>
      </p:sp>
    </p:spTree>
    <p:extLst>
      <p:ext uri="{BB962C8B-B14F-4D97-AF65-F5344CB8AC3E}">
        <p14:creationId xmlns:p14="http://schemas.microsoft.com/office/powerpoint/2010/main" val="20458321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Size is the number of nodes</a:t>
            </a:r>
            <a:r>
              <a:rPr lang="en-US" baseline="0" dirty="0" smtClean="0"/>
              <a:t> in the layer.</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74</a:t>
            </a:fld>
            <a:endParaRPr lang="en-US"/>
          </a:p>
        </p:txBody>
      </p:sp>
    </p:spTree>
    <p:extLst>
      <p:ext uri="{BB962C8B-B14F-4D97-AF65-F5344CB8AC3E}">
        <p14:creationId xmlns:p14="http://schemas.microsoft.com/office/powerpoint/2010/main" val="14996716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next block of slides just introduce</a:t>
            </a:r>
            <a:r>
              <a:rPr lang="en-US" baseline="0" dirty="0" smtClean="0"/>
              <a:t> a very standard NN with complete layer interconnections </a:t>
            </a:r>
            <a:r>
              <a:rPr lang="is-IS" baseline="0" dirty="0" smtClean="0"/>
              <a:t>… and basic terminology.</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75</a:t>
            </a:fld>
            <a:endParaRPr lang="en-US"/>
          </a:p>
        </p:txBody>
      </p:sp>
    </p:spTree>
    <p:extLst>
      <p:ext uri="{BB962C8B-B14F-4D97-AF65-F5344CB8AC3E}">
        <p14:creationId xmlns:p14="http://schemas.microsoft.com/office/powerpoint/2010/main" val="19194048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a:t>
            </a:r>
            <a:r>
              <a:rPr lang="en-US" baseline="0" dirty="0" smtClean="0"/>
              <a:t> are many, many different conventions for labeling/numbering layers in network.  Some call the above a two or three layer (two hidden layers </a:t>
            </a:r>
            <a:r>
              <a:rPr lang="is-IS" baseline="0" dirty="0" smtClean="0"/>
              <a:t>…. </a:t>
            </a:r>
            <a:r>
              <a:rPr lang="en-US" baseline="0" dirty="0" smtClean="0"/>
              <a:t>Get three by including output layer).</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81</a:t>
            </a:fld>
            <a:endParaRPr lang="en-US"/>
          </a:p>
        </p:txBody>
      </p:sp>
    </p:spTree>
    <p:extLst>
      <p:ext uri="{BB962C8B-B14F-4D97-AF65-F5344CB8AC3E}">
        <p14:creationId xmlns:p14="http://schemas.microsoft.com/office/powerpoint/2010/main" val="16891924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616665" y="533064"/>
            <a:ext cx="1640574" cy="1542997"/>
          </a:xfrm>
          <a:prstGeom prst="rect">
            <a:avLst/>
          </a:prstGeom>
        </p:spPr>
      </p:pic>
      <p:sp>
        <p:nvSpPr>
          <p:cNvPr id="12" name="Rectangle 11"/>
          <p:cNvSpPr/>
          <p:nvPr/>
        </p:nvSpPr>
        <p:spPr>
          <a:xfrm>
            <a:off x="626112" y="6498502"/>
            <a:ext cx="2672206" cy="164019"/>
          </a:xfrm>
          <a:prstGeom prst="rect">
            <a:avLst/>
          </a:prstGeom>
        </p:spPr>
        <p:txBody>
          <a:bodyPr wrap="none" lIns="0" tIns="0" rIns="0" bIns="0">
            <a:spAutoFit/>
          </a:bodyPr>
          <a:lstStyle/>
          <a:p>
            <a:pPr algn="l" rtl="0"/>
            <a:r>
              <a:rPr lang="en-US" sz="1066" b="0" i="0" u="none" strike="noStrike" kern="1200" baseline="0" dirty="0" smtClean="0">
                <a:solidFill>
                  <a:schemeClr val="bg1"/>
                </a:solidFill>
                <a:latin typeface="+mn-lt"/>
                <a:ea typeface="+mn-ea"/>
                <a:cs typeface="Neo Sans Intel"/>
              </a:rPr>
              <a:t>Intel® Confidential — INTERNAL USE ONLY</a:t>
            </a:r>
          </a:p>
        </p:txBody>
      </p:sp>
    </p:spTree>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88825" cy="6358467"/>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92449" y="301124"/>
            <a:ext cx="1875189" cy="1538477"/>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32"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33"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58" name="Picture 57" descr="StackedISWhite.png"/>
          <p:cNvPicPr>
            <a:picLocks noChangeAspect="1"/>
          </p:cNvPicPr>
          <p:nvPr/>
        </p:nvPicPr>
        <p:blipFill>
          <a:blip r:embed="rId3"/>
          <a:stretch>
            <a:fillRect/>
          </a:stretch>
        </p:blipFill>
        <p:spPr>
          <a:xfrm>
            <a:off x="11056288" y="6407851"/>
            <a:ext cx="419545" cy="394592"/>
          </a:xfrm>
          <a:prstGeom prst="rect">
            <a:avLst/>
          </a:prstGeom>
        </p:spPr>
      </p:pic>
      <p:cxnSp>
        <p:nvCxnSpPr>
          <p:cNvPr id="74" name="Straight Connector 73"/>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607326" y="1604434"/>
            <a:ext cx="10967826" cy="4567767"/>
          </a:xfrm>
        </p:spPr>
        <p:txBody>
          <a:bodyPr/>
          <a:lstStyle>
            <a:lvl1pPr>
              <a:defRPr>
                <a:solidFill>
                  <a:srgbClr val="0071C5"/>
                </a:solidFill>
              </a:defRPr>
            </a:lvl1pPr>
            <a:lvl2pPr>
              <a:defRPr sz="2399"/>
            </a:lvl2pPr>
            <a:lvl3pPr>
              <a:defRPr sz="2399"/>
            </a:lvl3pPr>
            <a:lvl4pPr>
              <a:defRPr sz="2133"/>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pPr/>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6439341" y="1257907"/>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
        <p:nvSpPr>
          <p:cNvPr id="10" name="Picture Placeholder 8"/>
          <p:cNvSpPr>
            <a:spLocks noGrp="1"/>
          </p:cNvSpPr>
          <p:nvPr>
            <p:ph type="pic" sz="quarter" idx="14"/>
          </p:nvPr>
        </p:nvSpPr>
        <p:spPr>
          <a:xfrm>
            <a:off x="6439341" y="3791863"/>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6236193" y="1604433"/>
            <a:ext cx="5338961"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326" y="1604434"/>
            <a:ext cx="10967827" cy="4567767"/>
          </a:xfrm>
        </p:spPr>
        <p:txBody>
          <a:bodyPr anchor="ctr" anchorCtr="0"/>
          <a:lstStyle>
            <a:lvl1pPr marL="253937" indent="-253937">
              <a:defRPr sz="4799" b="1" baseline="0">
                <a:solidFill>
                  <a:schemeClr val="accent2"/>
                </a:solidFill>
                <a:latin typeface="+mn-lt"/>
                <a:cs typeface="Intel Clear Light" panose="020B0404020203020204" pitchFamily="34" charset="0"/>
              </a:defRPr>
            </a:lvl1pPr>
            <a:lvl2pPr marL="556545" indent="-300492">
              <a:buFont typeface="Lucida Grande"/>
              <a:buChar char="−"/>
              <a:defRPr sz="1600" baseline="0">
                <a:latin typeface="+mn-lt"/>
                <a:cs typeface="Intel Clear" panose="020B0604020203020204" pitchFamily="34" charset="0"/>
              </a:defRPr>
            </a:lvl2pPr>
            <a:lvl3pPr marL="914171" indent="-304724">
              <a:defRPr sz="1600">
                <a:latin typeface="+mn-lt"/>
              </a:defRPr>
            </a:lvl3pPr>
            <a:lvl4pPr>
              <a:defRPr sz="1466">
                <a:latin typeface="+mn-lt"/>
              </a:defRPr>
            </a:lvl4pPr>
            <a:lvl5pPr>
              <a:defRPr sz="140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825" cy="6350445"/>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88825" cy="2918271"/>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18" name="Content Placeholder 2"/>
          <p:cNvSpPr>
            <a:spLocks noGrp="1"/>
          </p:cNvSpPr>
          <p:nvPr>
            <p:ph sz="half" idx="1" hasCustomPrompt="1"/>
          </p:nvPr>
        </p:nvSpPr>
        <p:spPr>
          <a:xfrm>
            <a:off x="607326" y="1604433"/>
            <a:ext cx="5341077"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6236193" y="1604433"/>
            <a:ext cx="5338961"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345633" y="6634394"/>
            <a:ext cx="184731" cy="297454"/>
          </a:xfrm>
          <a:prstGeom prst="rect">
            <a:avLst/>
          </a:prstGeom>
          <a:noFill/>
        </p:spPr>
        <p:txBody>
          <a:bodyPr wrap="none" rtlCol="0">
            <a:spAutoFit/>
          </a:bodyPr>
          <a:lstStyle/>
          <a:p>
            <a:endParaRPr lang="en-US" sz="1333" dirty="0" smtClean="0">
              <a:solidFill>
                <a:schemeClr val="tx2"/>
              </a:solidFill>
              <a:cs typeface="Neo Sans Intel"/>
            </a:endParaRPr>
          </a:p>
        </p:txBody>
      </p:sp>
      <p:sp>
        <p:nvSpPr>
          <p:cNvPr id="10"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6194" y="3"/>
            <a:ext cx="5952632" cy="6340821"/>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607326" y="411797"/>
            <a:ext cx="5341075" cy="1158240"/>
          </a:xfrm>
        </p:spPr>
        <p:txBody>
          <a:bodyPr>
            <a:noAutofit/>
          </a:bodyPr>
          <a:lstStyle>
            <a:lvl1pPr>
              <a:defRPr sz="3732"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11631045" y="6394031"/>
            <a:ext cx="373763" cy="365125"/>
          </a:xfrm>
        </p:spPr>
        <p:txBody>
          <a:bodyPr/>
          <a:lstStyle/>
          <a:p>
            <a:fld id="{7DC1BBB0-96F0-4077-A278-0F3FB5C104D3}" type="slidenum">
              <a:rPr lang="en-US" smtClean="0"/>
              <a:pPr/>
              <a:t>‹#›</a:t>
            </a:fld>
            <a:endParaRPr lang="en-US"/>
          </a:p>
        </p:txBody>
      </p:sp>
      <p:sp>
        <p:nvSpPr>
          <p:cNvPr id="17" name="Content Placeholder 2"/>
          <p:cNvSpPr>
            <a:spLocks noGrp="1"/>
          </p:cNvSpPr>
          <p:nvPr>
            <p:ph sz="half" idx="1" hasCustomPrompt="1"/>
          </p:nvPr>
        </p:nvSpPr>
        <p:spPr>
          <a:xfrm>
            <a:off x="607327" y="1766992"/>
            <a:ext cx="5341075"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i="0" baseline="0">
                <a:solidFill>
                  <a:srgbClr val="F3D54E"/>
                </a:solidFill>
                <a:latin typeface="Intel Clear"/>
                <a:cs typeface="Intel Clear"/>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326" y="2979843"/>
            <a:ext cx="10360501" cy="1500187"/>
          </a:xfrm>
        </p:spPr>
        <p:txBody>
          <a:bodyPr anchor="t" anchorCtr="0">
            <a:noAutofit/>
          </a:bodyPr>
          <a:lstStyle>
            <a:lvl1pPr marL="0" indent="0">
              <a:buNone/>
              <a:defRPr sz="5332"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7" name="Title 1"/>
          <p:cNvSpPr>
            <a:spLocks noGrp="1"/>
          </p:cNvSpPr>
          <p:nvPr>
            <p:ph type="title" hasCustomPrompt="1"/>
          </p:nvPr>
        </p:nvSpPr>
        <p:spPr>
          <a:xfrm>
            <a:off x="607326" y="1469059"/>
            <a:ext cx="10360501" cy="1362075"/>
          </a:xfrm>
        </p:spPr>
        <p:txBody>
          <a:bodyPr anchor="b" anchorCtr="0">
            <a:noAutofit/>
          </a:bodyPr>
          <a:lstStyle>
            <a:lvl1pPr algn="l">
              <a:lnSpc>
                <a:spcPct val="80000"/>
              </a:lnSpc>
              <a:defRPr sz="5332"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3013451"/>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607326" y="4465049"/>
            <a:ext cx="10360501"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2"/>
            <a:ext cx="12188825" cy="3432175"/>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7DC1BBB0-96F0-4077-A278-0F3FB5C104D3}" type="slidenum">
              <a:rPr lang="en-US" smtClean="0"/>
              <a:t>‹#›</a:t>
            </a:fld>
            <a:endParaRPr lang="en-US"/>
          </a:p>
        </p:txBody>
      </p:sp>
      <p:sp>
        <p:nvSpPr>
          <p:cNvPr id="6"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12188825" cy="6358467"/>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a:solidFill>
                <a:srgbClr val="0071C5"/>
              </a:solidFill>
            </a:endParaRPr>
          </a:p>
        </p:txBody>
      </p:sp>
      <p:pic>
        <p:nvPicPr>
          <p:cNvPr id="5" name="Picture 4" descr="StackedISWhite.png"/>
          <p:cNvPicPr>
            <a:picLocks noChangeAspect="1"/>
          </p:cNvPicPr>
          <p:nvPr/>
        </p:nvPicPr>
        <p:blipFill>
          <a:blip r:embed="rId2"/>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9"/>
            </a:lvl1pPr>
          </a:lstStyle>
          <a:p>
            <a:r>
              <a:rPr lang="en-US" smtClean="0"/>
              <a:t>Click to edit Master title style</a:t>
            </a:r>
            <a:endParaRPr lang="en-US"/>
          </a:p>
        </p:txBody>
      </p:sp>
      <p:sp>
        <p:nvSpPr>
          <p:cNvPr id="3" name="Subtitle 2"/>
          <p:cNvSpPr>
            <a:spLocks noGrp="1"/>
          </p:cNvSpPr>
          <p:nvPr>
            <p:ph type="subTitle" idx="1"/>
          </p:nvPr>
        </p:nvSpPr>
        <p:spPr>
          <a:xfrm>
            <a:off x="1523603" y="3602037"/>
            <a:ext cx="9141619" cy="1655763"/>
          </a:xfrm>
        </p:spPr>
        <p:txBody>
          <a:bodyPr/>
          <a:lstStyle>
            <a:lvl1pPr marL="0" indent="0" algn="ctr">
              <a:buNone/>
              <a:defRPr sz="2399"/>
            </a:lvl1pPr>
            <a:lvl2pPr marL="457086" indent="0" algn="ctr">
              <a:buNone/>
              <a:defRPr sz="2000"/>
            </a:lvl2pPr>
            <a:lvl3pPr marL="914171" indent="0" algn="ctr">
              <a:buNone/>
              <a:defRPr sz="1800"/>
            </a:lvl3pPr>
            <a:lvl4pPr marL="1371257" indent="0" algn="ctr">
              <a:buNone/>
              <a:defRPr sz="1600"/>
            </a:lvl4pPr>
            <a:lvl5pPr marL="1828343" indent="0" algn="ctr">
              <a:buNone/>
              <a:defRPr sz="1600"/>
            </a:lvl5pPr>
            <a:lvl6pPr marL="2285429" indent="0" algn="ctr">
              <a:buNone/>
              <a:defRPr sz="1600"/>
            </a:lvl6pPr>
            <a:lvl7pPr marL="2742514" indent="0" algn="ctr">
              <a:buNone/>
              <a:defRPr sz="1600"/>
            </a:lvl7pPr>
            <a:lvl8pPr marL="3199600" indent="0" algn="ctr">
              <a:buNone/>
              <a:defRPr sz="1600"/>
            </a:lvl8pPr>
            <a:lvl9pPr marL="3656686"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37982" y="6356351"/>
            <a:ext cx="2742486" cy="365125"/>
          </a:xfrm>
          <a:prstGeom prst="rect">
            <a:avLst/>
          </a:prstGeom>
        </p:spPr>
        <p:txBody>
          <a:bodyPr/>
          <a:lstStyle/>
          <a:p>
            <a:fld id="{C2C6F8EA-316C-41DE-B9A4-EDCC3A85ED9A}" type="datetimeFigureOut">
              <a:rPr lang="en-US" smtClean="0"/>
              <a:pPr/>
              <a:t>1/25/2018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1/25/2018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16939889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2" name="Title Placeholder 1"/>
          <p:cNvSpPr>
            <a:spLocks noGrp="1"/>
          </p:cNvSpPr>
          <p:nvPr>
            <p:ph type="title"/>
          </p:nvPr>
        </p:nvSpPr>
        <p:spPr>
          <a:xfrm>
            <a:off x="607326" y="413507"/>
            <a:ext cx="10969943" cy="115824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607326" y="1604434"/>
            <a:ext cx="10967826" cy="4567767"/>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6"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16" name="Picture 15" descr="StackedISWhite.png"/>
          <p:cNvPicPr>
            <a:picLocks noChangeAspect="1"/>
          </p:cNvPicPr>
          <p:nvPr/>
        </p:nvPicPr>
        <p:blipFill>
          <a:blip r:embed="rId21"/>
          <a:stretch>
            <a:fillRect/>
          </a:stretch>
        </p:blipFill>
        <p:spPr>
          <a:xfrm>
            <a:off x="11056288" y="6407851"/>
            <a:ext cx="419545" cy="394592"/>
          </a:xfrm>
          <a:prstGeom prst="rect">
            <a:avLst/>
          </a:prstGeom>
        </p:spPr>
      </p:pic>
      <p:cxnSp>
        <p:nvCxnSpPr>
          <p:cNvPr id="37" name="Straight Connector 36"/>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22200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iming>
    <p:tnLst>
      <p:par>
        <p:cTn id="1" dur="indefinite" restart="never" nodeType="tmRoot"/>
      </p:par>
    </p:tnLst>
  </p:timing>
  <p:txStyles>
    <p:titleStyle>
      <a:lvl1pPr algn="l" defTabSz="609448" rtl="0" eaLnBrk="1" latinLnBrk="0" hangingPunct="1">
        <a:lnSpc>
          <a:spcPct val="100000"/>
        </a:lnSpc>
        <a:spcBef>
          <a:spcPct val="0"/>
        </a:spcBef>
        <a:buNone/>
        <a:defRPr sz="3732"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609448" rtl="0" eaLnBrk="1" latinLnBrk="0" hangingPunct="1">
        <a:spcBef>
          <a:spcPts val="1600"/>
        </a:spcBef>
        <a:spcAft>
          <a:spcPts val="0"/>
        </a:spcAft>
        <a:buFont typeface="Wingdings" panose="05000000000000000000" pitchFamily="2" charset="2"/>
        <a:buNone/>
        <a:defRPr sz="2399" b="0" kern="1200">
          <a:solidFill>
            <a:srgbClr val="0071C5"/>
          </a:solidFill>
          <a:latin typeface="+mn-lt"/>
          <a:ea typeface="+mn-ea"/>
          <a:cs typeface="Intel Clear" panose="020B0604020203020204" pitchFamily="34" charset="0"/>
        </a:defRPr>
      </a:lvl1pPr>
      <a:lvl2pPr marL="300492" indent="-300492" algn="l" defTabSz="609448"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810" indent="-304724" algn="l" defTabSz="609448" rtl="0" eaLnBrk="1" latinLnBrk="0" hangingPunct="1">
        <a:spcBef>
          <a:spcPts val="1066"/>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2961" indent="-304724" algn="l" defTabSz="609448" rtl="0" eaLnBrk="1" latinLnBrk="0" hangingPunct="1">
        <a:spcBef>
          <a:spcPct val="20000"/>
        </a:spcBef>
        <a:buFont typeface="Arial"/>
        <a:buChar char="–"/>
        <a:defRPr sz="1866" kern="1200">
          <a:solidFill>
            <a:srgbClr val="003C71"/>
          </a:solidFill>
          <a:latin typeface="+mn-lt"/>
          <a:ea typeface="+mn-ea"/>
          <a:cs typeface="Intel Clear" panose="020B0604020203020204" pitchFamily="34" charset="0"/>
        </a:defRPr>
      </a:lvl4pPr>
      <a:lvl5pPr marL="1758511" indent="-304724" algn="l" defTabSz="609448" rtl="0" eaLnBrk="1" latinLnBrk="0" hangingPunct="1">
        <a:spcBef>
          <a:spcPct val="20000"/>
        </a:spcBef>
        <a:buFont typeface="Intel Clear" panose="020B0604020203020204" pitchFamily="34" charset="0"/>
        <a:buChar char="–"/>
        <a:defRPr sz="1866" kern="1200">
          <a:solidFill>
            <a:srgbClr val="003C71"/>
          </a:solidFill>
          <a:latin typeface="+mn-lt"/>
          <a:ea typeface="+mn-ea"/>
          <a:cs typeface="Intel Clear" panose="020B0604020203020204" pitchFamily="34" charset="0"/>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4.xml"/><Relationship Id="rId5" Type="http://schemas.openxmlformats.org/officeDocument/2006/relationships/image" Target="../media/image21.png"/><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4.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6.png"/><Relationship Id="rId1" Type="http://schemas.openxmlformats.org/officeDocument/2006/relationships/slideLayout" Target="../slideLayouts/slideLayout19.xml"/><Relationship Id="rId5" Type="http://schemas.openxmlformats.org/officeDocument/2006/relationships/image" Target="../media/image35.png"/><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7.png"/><Relationship Id="rId1" Type="http://schemas.openxmlformats.org/officeDocument/2006/relationships/slideLayout" Target="../slideLayouts/slideLayout19.xml"/><Relationship Id="rId6" Type="http://schemas.openxmlformats.org/officeDocument/2006/relationships/image" Target="../media/image38.png"/><Relationship Id="rId5" Type="http://schemas.openxmlformats.org/officeDocument/2006/relationships/image" Target="../media/image35.png"/><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5.png"/></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5.png"/></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9.xml"/><Relationship Id="rId5" Type="http://schemas.openxmlformats.org/officeDocument/2006/relationships/image" Target="../media/image44.png"/><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9.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19.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27.xml"/><Relationship Id="rId1" Type="http://schemas.openxmlformats.org/officeDocument/2006/relationships/slideLayout" Target="../slideLayouts/slideLayout19.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70.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7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2.png"/><Relationship Id="rId7" Type="http://schemas.openxmlformats.org/officeDocument/2006/relationships/image" Target="../media/image57.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7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60.png"/><Relationship Id="rId7" Type="http://schemas.openxmlformats.org/officeDocument/2006/relationships/image" Target="../media/image54.png"/><Relationship Id="rId2" Type="http://schemas.openxmlformats.org/officeDocument/2006/relationships/image" Target="../media/image59.png"/><Relationship Id="rId1" Type="http://schemas.openxmlformats.org/officeDocument/2006/relationships/slideLayout" Target="../slideLayouts/slideLayout19.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7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61.png"/><Relationship Id="rId7" Type="http://schemas.openxmlformats.org/officeDocument/2006/relationships/image" Target="../media/image54.png"/><Relationship Id="rId2" Type="http://schemas.openxmlformats.org/officeDocument/2006/relationships/image" Target="../media/image59.png"/><Relationship Id="rId1" Type="http://schemas.openxmlformats.org/officeDocument/2006/relationships/slideLayout" Target="../slideLayouts/slideLayout19.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2.png"/><Relationship Id="rId7" Type="http://schemas.openxmlformats.org/officeDocument/2006/relationships/image" Target="../media/image62.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64.png"/></Relationships>
</file>

<file path=ppt/slides/_rels/slide7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2.png"/><Relationship Id="rId7" Type="http://schemas.openxmlformats.org/officeDocument/2006/relationships/image" Target="../media/image62.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64.png"/></Relationships>
</file>

<file path=ppt/slides/_rels/slide7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2.png"/><Relationship Id="rId7" Type="http://schemas.openxmlformats.org/officeDocument/2006/relationships/image" Target="../media/image62.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64.png"/></Relationships>
</file>

<file path=ppt/slides/_rels/slide7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2.png"/><Relationship Id="rId7" Type="http://schemas.openxmlformats.org/officeDocument/2006/relationships/image" Target="../media/image62.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64.png"/></Relationships>
</file>

<file path=ppt/slides/_rels/slide8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2.png"/><Relationship Id="rId7" Type="http://schemas.openxmlformats.org/officeDocument/2006/relationships/image" Target="../media/image62.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64.png"/></Relationships>
</file>

<file path=ppt/slides/_rels/slide8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19.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64.png"/><Relationship Id="rId4" Type="http://schemas.openxmlformats.org/officeDocument/2006/relationships/image" Target="../media/image52.png"/><Relationship Id="rId9" Type="http://schemas.openxmlformats.org/officeDocument/2006/relationships/image" Target="../media/image63.png"/></Relationships>
</file>

<file path=ppt/slides/_rels/slide82.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52.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11" Type="http://schemas.openxmlformats.org/officeDocument/2006/relationships/image" Target="../media/image66.png"/><Relationship Id="rId5" Type="http://schemas.openxmlformats.org/officeDocument/2006/relationships/image" Target="../media/image54.png"/><Relationship Id="rId10" Type="http://schemas.openxmlformats.org/officeDocument/2006/relationships/image" Target="../media/image65.png"/><Relationship Id="rId4" Type="http://schemas.openxmlformats.org/officeDocument/2006/relationships/image" Target="../media/image53.png"/><Relationship Id="rId9" Type="http://schemas.openxmlformats.org/officeDocument/2006/relationships/image" Target="../media/image64.png"/></Relationships>
</file>

<file path=ppt/slides/_rels/slide83.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72.png"/><Relationship Id="rId3" Type="http://schemas.openxmlformats.org/officeDocument/2006/relationships/image" Target="../media/image52.png"/><Relationship Id="rId7" Type="http://schemas.openxmlformats.org/officeDocument/2006/relationships/image" Target="../media/image62.png"/><Relationship Id="rId12" Type="http://schemas.openxmlformats.org/officeDocument/2006/relationships/image" Target="../media/image71.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11" Type="http://schemas.openxmlformats.org/officeDocument/2006/relationships/image" Target="../media/image70.png"/><Relationship Id="rId5" Type="http://schemas.openxmlformats.org/officeDocument/2006/relationships/image" Target="../media/image54.png"/><Relationship Id="rId10" Type="http://schemas.openxmlformats.org/officeDocument/2006/relationships/image" Target="../media/image69.png"/><Relationship Id="rId4" Type="http://schemas.openxmlformats.org/officeDocument/2006/relationships/image" Target="../media/image53.png"/><Relationship Id="rId9" Type="http://schemas.openxmlformats.org/officeDocument/2006/relationships/image" Target="../media/image64.png"/></Relationships>
</file>

<file path=ppt/slides/_rels/slide8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2.png"/><Relationship Id="rId7" Type="http://schemas.openxmlformats.org/officeDocument/2006/relationships/image" Target="../media/image62.png"/><Relationship Id="rId12" Type="http://schemas.openxmlformats.org/officeDocument/2006/relationships/image" Target="../media/image75.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11" Type="http://schemas.openxmlformats.org/officeDocument/2006/relationships/image" Target="../media/image74.png"/><Relationship Id="rId5" Type="http://schemas.openxmlformats.org/officeDocument/2006/relationships/image" Target="../media/image54.png"/><Relationship Id="rId10" Type="http://schemas.openxmlformats.org/officeDocument/2006/relationships/image" Target="../media/image73.png"/><Relationship Id="rId4" Type="http://schemas.openxmlformats.org/officeDocument/2006/relationships/image" Target="../media/image53.png"/><Relationship Id="rId9" Type="http://schemas.openxmlformats.org/officeDocument/2006/relationships/image" Target="../media/image64.png"/></Relationships>
</file>

<file path=ppt/slides/_rels/slide8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2.png"/><Relationship Id="rId7" Type="http://schemas.openxmlformats.org/officeDocument/2006/relationships/image" Target="../media/image62.png"/><Relationship Id="rId12" Type="http://schemas.openxmlformats.org/officeDocument/2006/relationships/image" Target="../media/image78.png"/><Relationship Id="rId2" Type="http://schemas.openxmlformats.org/officeDocument/2006/relationships/image" Target="../media/image51.png"/><Relationship Id="rId1" Type="http://schemas.openxmlformats.org/officeDocument/2006/relationships/slideLayout" Target="../slideLayouts/slideLayout19.xml"/><Relationship Id="rId6" Type="http://schemas.openxmlformats.org/officeDocument/2006/relationships/image" Target="../media/image55.png"/><Relationship Id="rId11" Type="http://schemas.openxmlformats.org/officeDocument/2006/relationships/image" Target="../media/image77.png"/><Relationship Id="rId5" Type="http://schemas.openxmlformats.org/officeDocument/2006/relationships/image" Target="../media/image54.png"/><Relationship Id="rId10" Type="http://schemas.openxmlformats.org/officeDocument/2006/relationships/image" Target="../media/image76.png"/><Relationship Id="rId4" Type="http://schemas.openxmlformats.org/officeDocument/2006/relationships/image" Target="../media/image53.png"/><Relationship Id="rId9"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smtClean="0"/>
              <a:t>Introduction to Neural Networks</a:t>
            </a:r>
            <a:endParaRPr lang="en-US" sz="4400" dirty="0"/>
          </a:p>
        </p:txBody>
      </p:sp>
      <p:sp>
        <p:nvSpPr>
          <p:cNvPr id="3" name="Subtitle 2"/>
          <p:cNvSpPr>
            <a:spLocks noGrp="1"/>
          </p:cNvSpPr>
          <p:nvPr>
            <p:ph type="subTitle" idx="1"/>
          </p:nvPr>
        </p:nvSpPr>
        <p:spPr>
          <a:xfrm>
            <a:off x="2428668" y="4344915"/>
            <a:ext cx="9228343" cy="1116085"/>
          </a:xfrm>
        </p:spPr>
        <p:txBody>
          <a:bodyPr/>
          <a:lstStyle/>
          <a:p>
            <a:r>
              <a:rPr lang="en-US" i="1" dirty="0" smtClean="0"/>
              <a:t>Deep Learning with </a:t>
            </a:r>
            <a:r>
              <a:rPr lang="en-US" i="1" dirty="0" err="1" smtClean="0"/>
              <a:t>TensorFlow</a:t>
            </a:r>
            <a:r>
              <a:rPr lang="en-US" i="1" dirty="0" smtClean="0"/>
              <a:t> </a:t>
            </a:r>
            <a:r>
              <a:rPr lang="mr-IN" dirty="0" smtClean="0"/>
              <a:t>–</a:t>
            </a:r>
            <a:r>
              <a:rPr lang="en-US" dirty="0" smtClean="0"/>
              <a:t> Day 3</a:t>
            </a:r>
            <a:endParaRPr lang="en-US" i="1" dirty="0"/>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2000" dirty="0"/>
              <a:t>This presentation is for informational purposes only. INTEL MAKES NO WARRANTIES, EXPRESS OR IMPLIED, IN THIS SUMMARY. </a:t>
            </a:r>
          </a:p>
          <a:p>
            <a:r>
              <a:rPr lang="en-US" sz="2000" dirty="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2000" dirty="0">
                <a:hlinkClick r:id="rId2"/>
              </a:rPr>
              <a:t>intel.com</a:t>
            </a:r>
            <a:r>
              <a:rPr lang="en-US" sz="2000" dirty="0"/>
              <a:t>. </a:t>
            </a:r>
          </a:p>
          <a:p>
            <a:r>
              <a:rPr lang="en-US" sz="2000" dirty="0"/>
              <a:t>This sample source code is released under the </a:t>
            </a:r>
            <a:r>
              <a:rPr lang="en-US" sz="2000" dirty="0">
                <a:hlinkClick r:id="rId3"/>
              </a:rPr>
              <a:t>Intel Sample Source Code License Agreement</a:t>
            </a:r>
            <a:r>
              <a:rPr lang="en-US" sz="2000" dirty="0"/>
              <a:t>. </a:t>
            </a:r>
          </a:p>
          <a:p>
            <a:r>
              <a:rPr lang="en-US" sz="2000" dirty="0"/>
              <a:t>Intel and the Intel logo are trademarks of Intel Corporation in the U.S. and/or other countries. </a:t>
            </a:r>
          </a:p>
          <a:p>
            <a:r>
              <a:rPr lang="en-US" sz="2000" dirty="0"/>
              <a:t>*Other names and brands may be claimed as the property of others. </a:t>
            </a:r>
          </a:p>
          <a:p>
            <a:r>
              <a:rPr lang="en-US" sz="2000" dirty="0"/>
              <a:t>Copyright © 2017, Intel Corporation. All rights reserved. </a:t>
            </a:r>
            <a:endParaRPr lang="en-US" sz="2000" dirty="0"/>
          </a:p>
        </p:txBody>
      </p:sp>
    </p:spTree>
    <p:extLst>
      <p:ext uri="{BB962C8B-B14F-4D97-AF65-F5344CB8AC3E}">
        <p14:creationId xmlns:p14="http://schemas.microsoft.com/office/powerpoint/2010/main" val="47318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Normalization</a:t>
            </a:r>
            <a:endParaRPr lang="en-US" dirty="0"/>
          </a:p>
        </p:txBody>
      </p:sp>
    </p:spTree>
    <p:extLst>
      <p:ext uri="{BB962C8B-B14F-4D97-AF65-F5344CB8AC3E}">
        <p14:creationId xmlns:p14="http://schemas.microsoft.com/office/powerpoint/2010/main" val="3757691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Normalization and rescaling of inputs</a:t>
            </a:r>
            <a:endParaRPr lang="en-US" dirty="0"/>
          </a:p>
        </p:txBody>
      </p:sp>
      <p:sp>
        <p:nvSpPr>
          <p:cNvPr id="3" name="Content Placeholder 2"/>
          <p:cNvSpPr>
            <a:spLocks noGrp="1"/>
          </p:cNvSpPr>
          <p:nvPr>
            <p:ph idx="1"/>
          </p:nvPr>
        </p:nvSpPr>
        <p:spPr/>
        <p:txBody>
          <a:bodyPr/>
          <a:lstStyle/>
          <a:p>
            <a:r>
              <a:rPr lang="en-US" dirty="0" smtClean="0"/>
              <a:t>Ideally, we want all inputs to have roughly the same scale</a:t>
            </a:r>
          </a:p>
          <a:p>
            <a:r>
              <a:rPr lang="en-US" dirty="0" smtClean="0"/>
              <a:t>Helps stabilize learning</a:t>
            </a:r>
          </a:p>
          <a:p>
            <a:r>
              <a:rPr lang="en-US" dirty="0" smtClean="0"/>
              <a:t>How to adjust inputs?</a:t>
            </a:r>
          </a:p>
          <a:p>
            <a:endParaRPr lang="en-US" dirty="0" smtClean="0"/>
          </a:p>
          <a:p>
            <a:endParaRPr lang="en-US" dirty="0" smtClean="0"/>
          </a:p>
          <a:p>
            <a:endParaRPr lang="en-US" dirty="0" smtClean="0"/>
          </a:p>
          <a:p>
            <a:endParaRPr lang="en-US" dirty="0" smtClean="0"/>
          </a:p>
        </p:txBody>
      </p:sp>
    </p:spTree>
    <p:extLst>
      <p:ext uri="{BB962C8B-B14F-4D97-AF65-F5344CB8AC3E}">
        <p14:creationId xmlns:p14="http://schemas.microsoft.com/office/powerpoint/2010/main" val="15260553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Shifting and rescaling</a:t>
            </a:r>
            <a:endParaRPr lang="en-US" dirty="0"/>
          </a:p>
        </p:txBody>
      </p:sp>
      <p:sp>
        <p:nvSpPr>
          <p:cNvPr id="3" name="Content Placeholder 2"/>
          <p:cNvSpPr>
            <a:spLocks noGrp="1"/>
          </p:cNvSpPr>
          <p:nvPr>
            <p:ph idx="1"/>
          </p:nvPr>
        </p:nvSpPr>
        <p:spPr/>
        <p:txBody>
          <a:bodyPr/>
          <a:lstStyle/>
          <a:p>
            <a:r>
              <a:rPr lang="en-US" dirty="0" smtClean="0"/>
              <a:t>To have inputs range [0, 1]:</a:t>
            </a:r>
          </a:p>
          <a:p>
            <a:endParaRPr lang="en-US" dirty="0"/>
          </a:p>
          <a:p>
            <a:endParaRPr lang="en-US" dirty="0" smtClean="0"/>
          </a:p>
          <a:p>
            <a:endParaRPr lang="en-US" dirty="0"/>
          </a:p>
          <a:p>
            <a:r>
              <a:rPr lang="en-US" dirty="0" smtClean="0"/>
              <a:t>To have inputs range [-1, 1]:</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4265612" y="2362200"/>
                <a:ext cx="4627101" cy="12740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charset="0"/>
                            </a:rPr>
                            <m:t>𝑥</m:t>
                          </m:r>
                        </m:e>
                        <m:sub>
                          <m:r>
                            <a:rPr lang="en-US" sz="4400" b="0" i="1" smtClean="0">
                              <a:latin typeface="Cambria Math" charset="0"/>
                            </a:rPr>
                            <m:t>𝑖</m:t>
                          </m:r>
                        </m:sub>
                      </m:sSub>
                      <m:r>
                        <a:rPr lang="en-US" sz="4400" b="0" i="1" smtClean="0">
                          <a:latin typeface="Cambria Math" charset="0"/>
                        </a:rPr>
                        <m:t>=</m:t>
                      </m:r>
                      <m:f>
                        <m:fPr>
                          <m:ctrlPr>
                            <a:rPr lang="mr-IN" sz="4400" b="0" i="1" smtClean="0">
                              <a:latin typeface="Cambria Math" panose="02040503050406030204" pitchFamily="18" charset="0"/>
                            </a:rPr>
                          </m:ctrlPr>
                        </m:fPr>
                        <m:num>
                          <m:sSub>
                            <m:sSubPr>
                              <m:ctrlPr>
                                <a:rPr lang="en-US" sz="4400" b="0" i="1" smtClean="0">
                                  <a:latin typeface="Cambria Math" panose="02040503050406030204" pitchFamily="18" charset="0"/>
                                </a:rPr>
                              </m:ctrlPr>
                            </m:sSubPr>
                            <m:e>
                              <m:r>
                                <a:rPr lang="en-US" sz="4400" b="0" i="1" smtClean="0">
                                  <a:latin typeface="Cambria Math" charset="0"/>
                                </a:rPr>
                                <m:t>𝑥</m:t>
                              </m:r>
                            </m:e>
                            <m:sub>
                              <m:r>
                                <a:rPr lang="en-US" sz="4400" b="0" i="1" smtClean="0">
                                  <a:latin typeface="Cambria Math" charset="0"/>
                                </a:rPr>
                                <m:t>𝑖</m:t>
                              </m:r>
                            </m:sub>
                          </m:sSub>
                          <m:r>
                            <a:rPr lang="en-US" sz="4400" b="0" i="1" smtClean="0">
                              <a:latin typeface="Cambria Math" charset="0"/>
                            </a:rPr>
                            <m:t>−</m:t>
                          </m:r>
                          <m:sSub>
                            <m:sSubPr>
                              <m:ctrlPr>
                                <a:rPr lang="en-US" sz="4400" b="0" i="1" smtClean="0">
                                  <a:latin typeface="Cambria Math" panose="02040503050406030204" pitchFamily="18" charset="0"/>
                                </a:rPr>
                              </m:ctrlPr>
                            </m:sSubPr>
                            <m:e>
                              <m:r>
                                <a:rPr lang="en-US" sz="4400" b="0" i="1" smtClean="0">
                                  <a:latin typeface="Cambria Math" charset="0"/>
                                </a:rPr>
                                <m:t>𝑥</m:t>
                              </m:r>
                            </m:e>
                            <m:sub>
                              <m:r>
                                <a:rPr lang="en-US" sz="4400" b="0" i="1" smtClean="0">
                                  <a:latin typeface="Cambria Math" charset="0"/>
                                </a:rPr>
                                <m:t>𝑚𝑖𝑛</m:t>
                              </m:r>
                            </m:sub>
                          </m:sSub>
                        </m:num>
                        <m:den>
                          <m:sSub>
                            <m:sSubPr>
                              <m:ctrlPr>
                                <a:rPr lang="en-US" sz="4400" b="0" i="1" smtClean="0">
                                  <a:latin typeface="Cambria Math" panose="02040503050406030204" pitchFamily="18" charset="0"/>
                                </a:rPr>
                              </m:ctrlPr>
                            </m:sSubPr>
                            <m:e>
                              <m:r>
                                <a:rPr lang="en-US" sz="4400" b="0" i="1" smtClean="0">
                                  <a:latin typeface="Cambria Math" charset="0"/>
                                </a:rPr>
                                <m:t>𝑥</m:t>
                              </m:r>
                            </m:e>
                            <m:sub>
                              <m:r>
                                <a:rPr lang="en-US" sz="4400" b="0" i="1" smtClean="0">
                                  <a:latin typeface="Cambria Math" charset="0"/>
                                </a:rPr>
                                <m:t>𝑚𝑎𝑥</m:t>
                              </m:r>
                            </m:sub>
                          </m:sSub>
                          <m:r>
                            <a:rPr lang="en-US" sz="4400" b="0" i="1" smtClean="0">
                              <a:latin typeface="Cambria Math" charset="0"/>
                            </a:rPr>
                            <m:t> −</m:t>
                          </m:r>
                          <m:sSub>
                            <m:sSubPr>
                              <m:ctrlPr>
                                <a:rPr lang="en-US" sz="4400" b="0" i="1" smtClean="0">
                                  <a:latin typeface="Cambria Math" panose="02040503050406030204" pitchFamily="18" charset="0"/>
                                </a:rPr>
                              </m:ctrlPr>
                            </m:sSubPr>
                            <m:e>
                              <m:r>
                                <a:rPr lang="en-US" sz="4400" b="0" i="1" smtClean="0">
                                  <a:latin typeface="Cambria Math" charset="0"/>
                                </a:rPr>
                                <m:t>𝑥</m:t>
                              </m:r>
                            </m:e>
                            <m:sub>
                              <m:r>
                                <a:rPr lang="en-US" sz="4400" b="0" i="1" smtClean="0">
                                  <a:latin typeface="Cambria Math" charset="0"/>
                                </a:rPr>
                                <m:t>𝑚𝑖𝑛</m:t>
                              </m:r>
                            </m:sub>
                          </m:sSub>
                        </m:den>
                      </m:f>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4265612" y="2362200"/>
                <a:ext cx="4627101" cy="127406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265612" y="4888577"/>
                <a:ext cx="6576352" cy="1297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400" b="0" i="1" smtClean="0">
                              <a:latin typeface="Cambria Math" panose="02040503050406030204" pitchFamily="18" charset="0"/>
                            </a:rPr>
                          </m:ctrlPr>
                        </m:sSubPr>
                        <m:e>
                          <m:r>
                            <a:rPr lang="en-US" sz="4400" b="0" i="1" smtClean="0">
                              <a:latin typeface="Cambria Math" charset="0"/>
                            </a:rPr>
                            <m:t>𝑥</m:t>
                          </m:r>
                        </m:e>
                        <m:sub>
                          <m:r>
                            <a:rPr lang="en-US" sz="4400" b="0" i="1" smtClean="0">
                              <a:latin typeface="Cambria Math" charset="0"/>
                            </a:rPr>
                            <m:t>𝑖</m:t>
                          </m:r>
                        </m:sub>
                      </m:sSub>
                      <m:r>
                        <a:rPr lang="en-US" sz="4400" b="0" i="1" smtClean="0">
                          <a:latin typeface="Cambria Math" charset="0"/>
                        </a:rPr>
                        <m:t>=2</m:t>
                      </m:r>
                      <m:d>
                        <m:dPr>
                          <m:ctrlPr>
                            <a:rPr lang="mr-IN" sz="4400" b="0" i="1" smtClean="0">
                              <a:latin typeface="Cambria Math" panose="02040503050406030204" pitchFamily="18" charset="0"/>
                            </a:rPr>
                          </m:ctrlPr>
                        </m:dPr>
                        <m:e>
                          <m:f>
                            <m:fPr>
                              <m:ctrlPr>
                                <a:rPr lang="mr-IN" sz="4400" i="1">
                                  <a:latin typeface="Cambria Math" panose="02040503050406030204" pitchFamily="18" charset="0"/>
                                </a:rPr>
                              </m:ctrlPr>
                            </m:fPr>
                            <m:num>
                              <m:sSub>
                                <m:sSubPr>
                                  <m:ctrlPr>
                                    <a:rPr lang="en-US" sz="4400" i="1">
                                      <a:latin typeface="Cambria Math" panose="02040503050406030204" pitchFamily="18" charset="0"/>
                                    </a:rPr>
                                  </m:ctrlPr>
                                </m:sSubPr>
                                <m:e>
                                  <m:r>
                                    <a:rPr lang="en-US" sz="4400" i="1">
                                      <a:latin typeface="Cambria Math" charset="0"/>
                                    </a:rPr>
                                    <m:t>𝑥</m:t>
                                  </m:r>
                                </m:e>
                                <m:sub>
                                  <m:r>
                                    <a:rPr lang="en-US" sz="4400" i="1">
                                      <a:latin typeface="Cambria Math" charset="0"/>
                                    </a:rPr>
                                    <m:t>𝑖</m:t>
                                  </m:r>
                                </m:sub>
                              </m:sSub>
                              <m:r>
                                <a:rPr lang="en-US" sz="4400" i="1">
                                  <a:latin typeface="Cambria Math" charset="0"/>
                                </a:rPr>
                                <m:t>−</m:t>
                              </m:r>
                              <m:sSub>
                                <m:sSubPr>
                                  <m:ctrlPr>
                                    <a:rPr lang="en-US" sz="4400" i="1">
                                      <a:latin typeface="Cambria Math" panose="02040503050406030204" pitchFamily="18" charset="0"/>
                                    </a:rPr>
                                  </m:ctrlPr>
                                </m:sSubPr>
                                <m:e>
                                  <m:r>
                                    <a:rPr lang="en-US" sz="4400" i="1">
                                      <a:latin typeface="Cambria Math" charset="0"/>
                                    </a:rPr>
                                    <m:t>𝑥</m:t>
                                  </m:r>
                                </m:e>
                                <m:sub>
                                  <m:r>
                                    <a:rPr lang="en-US" sz="4400" i="1">
                                      <a:latin typeface="Cambria Math" charset="0"/>
                                    </a:rPr>
                                    <m:t>𝑚𝑖𝑛</m:t>
                                  </m:r>
                                </m:sub>
                              </m:sSub>
                            </m:num>
                            <m:den>
                              <m:sSub>
                                <m:sSubPr>
                                  <m:ctrlPr>
                                    <a:rPr lang="en-US" sz="4400" i="1">
                                      <a:latin typeface="Cambria Math" panose="02040503050406030204" pitchFamily="18" charset="0"/>
                                    </a:rPr>
                                  </m:ctrlPr>
                                </m:sSubPr>
                                <m:e>
                                  <m:r>
                                    <a:rPr lang="en-US" sz="4400" i="1">
                                      <a:latin typeface="Cambria Math" charset="0"/>
                                    </a:rPr>
                                    <m:t>𝑥</m:t>
                                  </m:r>
                                </m:e>
                                <m:sub>
                                  <m:r>
                                    <a:rPr lang="en-US" sz="4400" i="1">
                                      <a:latin typeface="Cambria Math" charset="0"/>
                                    </a:rPr>
                                    <m:t>𝑚𝑎𝑥</m:t>
                                  </m:r>
                                </m:sub>
                              </m:sSub>
                              <m:r>
                                <a:rPr lang="en-US" sz="4400" i="1">
                                  <a:latin typeface="Cambria Math" charset="0"/>
                                </a:rPr>
                                <m:t> −</m:t>
                              </m:r>
                              <m:sSub>
                                <m:sSubPr>
                                  <m:ctrlPr>
                                    <a:rPr lang="en-US" sz="4400" i="1">
                                      <a:latin typeface="Cambria Math" panose="02040503050406030204" pitchFamily="18" charset="0"/>
                                    </a:rPr>
                                  </m:ctrlPr>
                                </m:sSubPr>
                                <m:e>
                                  <m:r>
                                    <a:rPr lang="en-US" sz="4400" i="1">
                                      <a:latin typeface="Cambria Math" charset="0"/>
                                    </a:rPr>
                                    <m:t>𝑥</m:t>
                                  </m:r>
                                </m:e>
                                <m:sub>
                                  <m:r>
                                    <a:rPr lang="en-US" sz="4400" i="1">
                                      <a:latin typeface="Cambria Math" charset="0"/>
                                    </a:rPr>
                                    <m:t>𝑚𝑖𝑛</m:t>
                                  </m:r>
                                </m:sub>
                              </m:sSub>
                            </m:den>
                          </m:f>
                        </m:e>
                      </m:d>
                      <m:r>
                        <a:rPr lang="en-US" sz="4400" b="0" i="1" smtClean="0">
                          <a:latin typeface="Cambria Math" charset="0"/>
                        </a:rPr>
                        <m:t>−1</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4265612" y="4888577"/>
                <a:ext cx="6576352" cy="1297471"/>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231311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Normalizing</a:t>
            </a:r>
            <a:endParaRPr lang="en-US" dirty="0"/>
          </a:p>
        </p:txBody>
      </p:sp>
      <p:sp>
        <p:nvSpPr>
          <p:cNvPr id="3" name="Content Placeholder 2"/>
          <p:cNvSpPr>
            <a:spLocks noGrp="1"/>
          </p:cNvSpPr>
          <p:nvPr>
            <p:ph idx="1"/>
          </p:nvPr>
        </p:nvSpPr>
        <p:spPr/>
        <p:txBody>
          <a:bodyPr/>
          <a:lstStyle/>
          <a:p>
            <a:r>
              <a:rPr lang="en-US" dirty="0" smtClean="0"/>
              <a:t>Mean zero, standard deviation one</a:t>
            </a:r>
          </a:p>
          <a:p>
            <a:endParaRPr lang="en-US" dirty="0"/>
          </a:p>
          <a:p>
            <a:endParaRPr lang="en-US" dirty="0" smtClean="0"/>
          </a:p>
          <a:p>
            <a:endParaRPr lang="en-US" dirty="0"/>
          </a:p>
          <a:p>
            <a:endParaRPr lang="en-US" dirty="0" smtClean="0"/>
          </a:p>
          <a:p>
            <a:endParaRPr lang="en-US" dirty="0"/>
          </a:p>
          <a:p>
            <a:endParaRPr lang="en-US" dirty="0" smtClean="0"/>
          </a:p>
        </p:txBody>
      </p:sp>
      <mc:AlternateContent xmlns:mc="http://schemas.openxmlformats.org/markup-compatibility/2006" xmlns:a14="http://schemas.microsoft.com/office/drawing/2010/main">
        <mc:Choice Requires="a14">
          <p:sp>
            <p:nvSpPr>
              <p:cNvPr id="4" name="TextBox 3"/>
              <p:cNvSpPr txBox="1"/>
              <p:nvPr/>
            </p:nvSpPr>
            <p:spPr>
              <a:xfrm>
                <a:off x="5942012" y="2492866"/>
                <a:ext cx="4327916" cy="21553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charset="0"/>
                        </a:rPr>
                        <m:t>𝜎</m:t>
                      </m:r>
                      <m:r>
                        <a:rPr lang="en-US" sz="3600" b="0" i="1" smtClean="0">
                          <a:latin typeface="Cambria Math" charset="0"/>
                        </a:rPr>
                        <m:t>=</m:t>
                      </m:r>
                      <m:rad>
                        <m:radPr>
                          <m:degHide m:val="on"/>
                          <m:ctrlPr>
                            <a:rPr lang="en-US" sz="3600" b="0" i="1" smtClean="0">
                              <a:latin typeface="Cambria Math" panose="02040503050406030204" pitchFamily="18" charset="0"/>
                            </a:rPr>
                          </m:ctrlPr>
                        </m:radPr>
                        <m:deg/>
                        <m:e>
                          <m:f>
                            <m:fPr>
                              <m:ctrlPr>
                                <a:rPr lang="mr-IN" sz="3600" b="0" i="1" smtClean="0">
                                  <a:latin typeface="Cambria Math" panose="02040503050406030204" pitchFamily="18" charset="0"/>
                                </a:rPr>
                              </m:ctrlPr>
                            </m:fPr>
                            <m:num>
                              <m:r>
                                <a:rPr lang="en-US" sz="3600" b="0" i="1" smtClean="0">
                                  <a:latin typeface="Cambria Math" charset="0"/>
                                </a:rPr>
                                <m:t>1</m:t>
                              </m:r>
                            </m:num>
                            <m:den>
                              <m:r>
                                <a:rPr lang="en-US" sz="3600" b="0" i="1" smtClean="0">
                                  <a:latin typeface="Cambria Math" charset="0"/>
                                </a:rPr>
                                <m:t>𝑛</m:t>
                              </m:r>
                            </m:den>
                          </m:f>
                          <m:nary>
                            <m:naryPr>
                              <m:chr m:val="∑"/>
                              <m:ctrlPr>
                                <a:rPr lang="is-IS" sz="3600" b="0" i="1" smtClean="0">
                                  <a:latin typeface="Cambria Math" panose="02040503050406030204" pitchFamily="18" charset="0"/>
                                </a:rPr>
                              </m:ctrlPr>
                            </m:naryPr>
                            <m:sub>
                              <m:r>
                                <m:rPr>
                                  <m:brk m:alnAt="23"/>
                                </m:rPr>
                                <a:rPr lang="en-US" sz="3600" b="0" i="1" smtClean="0">
                                  <a:latin typeface="Cambria Math" charset="0"/>
                                </a:rPr>
                                <m:t>𝑖</m:t>
                              </m:r>
                              <m:r>
                                <a:rPr lang="en-US" sz="3600" b="0" i="1" smtClean="0">
                                  <a:latin typeface="Cambria Math" charset="0"/>
                                </a:rPr>
                                <m:t>=1</m:t>
                              </m:r>
                            </m:sub>
                            <m:sup>
                              <m:r>
                                <a:rPr lang="en-US" sz="3600" b="0" i="1" smtClean="0">
                                  <a:latin typeface="Cambria Math" charset="0"/>
                                </a:rPr>
                                <m:t>𝑛</m:t>
                              </m:r>
                            </m:sup>
                            <m:e>
                              <m:sSup>
                                <m:sSupPr>
                                  <m:ctrlPr>
                                    <a:rPr lang="en-US" sz="3600" b="0" i="1" smtClean="0">
                                      <a:latin typeface="Cambria Math" panose="02040503050406030204" pitchFamily="18" charset="0"/>
                                    </a:rPr>
                                  </m:ctrlPr>
                                </m:sSupPr>
                                <m:e>
                                  <m:d>
                                    <m:dPr>
                                      <m:ctrlPr>
                                        <a:rPr lang="mr-IN"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r>
                                            <a:rPr lang="en-US" sz="3600" b="0" i="1" smtClean="0">
                                              <a:latin typeface="Cambria Math" charset="0"/>
                                            </a:rPr>
                                            <m:t>𝑥</m:t>
                                          </m:r>
                                        </m:e>
                                        <m:sub>
                                          <m:r>
                                            <a:rPr lang="en-US" sz="3600" b="0" i="1" smtClean="0">
                                              <a:latin typeface="Cambria Math" charset="0"/>
                                            </a:rPr>
                                            <m:t>𝑖</m:t>
                                          </m:r>
                                        </m:sub>
                                      </m:sSub>
                                      <m:r>
                                        <a:rPr lang="en-US" sz="3600" b="0" i="1" smtClean="0">
                                          <a:latin typeface="Cambria Math" charset="0"/>
                                        </a:rPr>
                                        <m:t>− </m:t>
                                      </m:r>
                                      <m:acc>
                                        <m:accPr>
                                          <m:chr m:val="̅"/>
                                          <m:ctrlPr>
                                            <a:rPr lang="en-US" sz="3600" b="0" i="1" smtClean="0">
                                              <a:latin typeface="Cambria Math" panose="02040503050406030204" pitchFamily="18" charset="0"/>
                                            </a:rPr>
                                          </m:ctrlPr>
                                        </m:accPr>
                                        <m:e>
                                          <m:r>
                                            <a:rPr lang="en-US" sz="3600" b="0" i="1" smtClean="0">
                                              <a:latin typeface="Cambria Math" charset="0"/>
                                            </a:rPr>
                                            <m:t>𝑥</m:t>
                                          </m:r>
                                        </m:e>
                                      </m:acc>
                                    </m:e>
                                  </m:d>
                                </m:e>
                                <m:sup>
                                  <m:r>
                                    <a:rPr lang="en-US" sz="3600" b="0" i="1" smtClean="0">
                                      <a:latin typeface="Cambria Math" charset="0"/>
                                    </a:rPr>
                                    <m:t>2</m:t>
                                  </m:r>
                                </m:sup>
                              </m:sSup>
                            </m:e>
                          </m:nary>
                        </m:e>
                      </m:rad>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5942012" y="2492866"/>
                <a:ext cx="4327916" cy="2155334"/>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665412" y="3058951"/>
                <a:ext cx="2722476" cy="1023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charset="0"/>
                            </a:rPr>
                            <m:t>𝑥</m:t>
                          </m:r>
                        </m:e>
                        <m:sub>
                          <m:r>
                            <a:rPr lang="en-US" sz="3600" b="0" i="1" smtClean="0">
                              <a:latin typeface="Cambria Math" charset="0"/>
                            </a:rPr>
                            <m:t>𝑖</m:t>
                          </m:r>
                        </m:sub>
                      </m:sSub>
                      <m:r>
                        <a:rPr lang="en-US" sz="3600" b="0" i="1" smtClean="0">
                          <a:latin typeface="Cambria Math" charset="0"/>
                        </a:rPr>
                        <m:t>=</m:t>
                      </m:r>
                      <m:f>
                        <m:fPr>
                          <m:ctrlPr>
                            <a:rPr lang="mr-IN" sz="3600" b="0" i="1" smtClean="0">
                              <a:latin typeface="Cambria Math" panose="02040503050406030204" pitchFamily="18" charset="0"/>
                            </a:rPr>
                          </m:ctrlPr>
                        </m:fPr>
                        <m:num>
                          <m:sSub>
                            <m:sSubPr>
                              <m:ctrlPr>
                                <a:rPr lang="en-US" sz="3600" b="0" i="1" smtClean="0">
                                  <a:latin typeface="Cambria Math" panose="02040503050406030204" pitchFamily="18" charset="0"/>
                                </a:rPr>
                              </m:ctrlPr>
                            </m:sSubPr>
                            <m:e>
                              <m:r>
                                <a:rPr lang="en-US" sz="3600" b="0" i="1" smtClean="0">
                                  <a:latin typeface="Cambria Math" charset="0"/>
                                </a:rPr>
                                <m:t>𝑥</m:t>
                              </m:r>
                            </m:e>
                            <m:sub>
                              <m:r>
                                <a:rPr lang="en-US" sz="3600" b="0" i="1" smtClean="0">
                                  <a:latin typeface="Cambria Math" charset="0"/>
                                </a:rPr>
                                <m:t>𝑖</m:t>
                              </m:r>
                            </m:sub>
                          </m:sSub>
                          <m:r>
                            <a:rPr lang="en-US" sz="3600" b="0" i="1" smtClean="0">
                              <a:latin typeface="Cambria Math" charset="0"/>
                            </a:rPr>
                            <m:t>− </m:t>
                          </m:r>
                          <m:acc>
                            <m:accPr>
                              <m:chr m:val="̅"/>
                              <m:ctrlPr>
                                <a:rPr lang="en-US" sz="3600" b="0" i="1" smtClean="0">
                                  <a:latin typeface="Cambria Math" panose="02040503050406030204" pitchFamily="18" charset="0"/>
                                </a:rPr>
                              </m:ctrlPr>
                            </m:accPr>
                            <m:e>
                              <m:r>
                                <a:rPr lang="en-US" sz="3600" b="0" i="1" smtClean="0">
                                  <a:latin typeface="Cambria Math" charset="0"/>
                                </a:rPr>
                                <m:t>𝑥</m:t>
                              </m:r>
                            </m:e>
                          </m:acc>
                        </m:num>
                        <m:den>
                          <m:r>
                            <a:rPr lang="en-US" sz="3600" b="0" i="1" smtClean="0">
                              <a:latin typeface="Cambria Math" charset="0"/>
                            </a:rPr>
                            <m:t>𝜎</m:t>
                          </m:r>
                        </m:den>
                      </m:f>
                      <m:r>
                        <a:rPr lang="en-US" sz="3600" b="0" i="1" smtClean="0">
                          <a:latin typeface="Cambria Math" charset="0"/>
                        </a:rPr>
                        <m:t>;</m:t>
                      </m:r>
                    </m:oMath>
                  </m:oMathPara>
                </a14:m>
                <a:endParaRPr lang="en-US"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2665412" y="3058951"/>
                <a:ext cx="2722476" cy="1023165"/>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148016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p:cNvGrpSpPr/>
          <p:nvPr/>
        </p:nvGrpSpPr>
        <p:grpSpPr>
          <a:xfrm>
            <a:off x="6484836" y="2133600"/>
            <a:ext cx="4191000" cy="4191000"/>
            <a:chOff x="1446212" y="2133600"/>
            <a:chExt cx="4191000" cy="4191000"/>
          </a:xfrm>
        </p:grpSpPr>
        <p:cxnSp>
          <p:nvCxnSpPr>
            <p:cNvPr id="27" name="Straight Connector 26"/>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503612" y="2133600"/>
              <a:ext cx="0" cy="41910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1446212" y="2133600"/>
            <a:ext cx="4191000" cy="4191000"/>
            <a:chOff x="1446212" y="2133600"/>
            <a:chExt cx="4191000" cy="4191000"/>
          </a:xfrm>
        </p:grpSpPr>
        <p:cxnSp>
          <p:nvCxnSpPr>
            <p:cNvPr id="8" name="Straight Connector 7"/>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503612" y="2133600"/>
              <a:ext cx="0" cy="41910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dirty="0" smtClean="0"/>
              <a:t>Overhead view of cost curve</a:t>
            </a:r>
            <a:endParaRPr lang="en-US" dirty="0"/>
          </a:p>
        </p:txBody>
      </p:sp>
      <p:grpSp>
        <p:nvGrpSpPr>
          <p:cNvPr id="25" name="Group 24"/>
          <p:cNvGrpSpPr/>
          <p:nvPr/>
        </p:nvGrpSpPr>
        <p:grpSpPr>
          <a:xfrm>
            <a:off x="4129748" y="1434364"/>
            <a:ext cx="881328" cy="5092117"/>
            <a:chOff x="4188660" y="1151919"/>
            <a:chExt cx="881328" cy="5092117"/>
          </a:xfrm>
        </p:grpSpPr>
        <p:sp>
          <p:nvSpPr>
            <p:cNvPr id="5" name="Oval 4"/>
            <p:cNvSpPr/>
            <p:nvPr/>
          </p:nvSpPr>
          <p:spPr>
            <a:xfrm rot="1236660">
              <a:off x="4188660" y="1151919"/>
              <a:ext cx="881328" cy="5092117"/>
            </a:xfrm>
            <a:prstGeom prst="ellipse">
              <a:avLst/>
            </a:prstGeom>
            <a:noFill/>
            <a:ln w="2857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rot="1236660">
              <a:off x="4468500" y="2768771"/>
              <a:ext cx="321648" cy="1858412"/>
            </a:xfrm>
            <a:prstGeom prst="ellipse">
              <a:avLst/>
            </a:prstGeom>
            <a:noFill/>
            <a:ln w="2857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rot="1236660">
              <a:off x="4286424" y="1716777"/>
              <a:ext cx="685800" cy="3962400"/>
            </a:xfrm>
            <a:prstGeom prst="ellipse">
              <a:avLst/>
            </a:prstGeom>
            <a:noFill/>
            <a:ln w="2857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rot="1236660">
              <a:off x="4385887" y="2291450"/>
              <a:ext cx="486875" cy="2813054"/>
            </a:xfrm>
            <a:prstGeom prst="ellipse">
              <a:avLst/>
            </a:prstGeom>
            <a:noFill/>
            <a:ln w="2857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p:cNvGrpSpPr/>
          <p:nvPr/>
        </p:nvGrpSpPr>
        <p:grpSpPr>
          <a:xfrm>
            <a:off x="7317513" y="2899501"/>
            <a:ext cx="2434499" cy="2434499"/>
            <a:chOff x="7317513" y="2899501"/>
            <a:chExt cx="2434499" cy="2434499"/>
          </a:xfrm>
        </p:grpSpPr>
        <p:sp>
          <p:nvSpPr>
            <p:cNvPr id="6" name="Oval 5"/>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9" name="Oval 28"/>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30" name="Oval 29"/>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31" name="Oval 30"/>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32" name="Oval 31"/>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sp>
        <p:nvSpPr>
          <p:cNvPr id="34" name="TextBox 33"/>
          <p:cNvSpPr txBox="1"/>
          <p:nvPr/>
        </p:nvSpPr>
        <p:spPr>
          <a:xfrm>
            <a:off x="1735179" y="1664556"/>
            <a:ext cx="1768433" cy="369332"/>
          </a:xfrm>
          <a:prstGeom prst="rect">
            <a:avLst/>
          </a:prstGeom>
          <a:noFill/>
        </p:spPr>
        <p:txBody>
          <a:bodyPr wrap="none" rtlCol="0">
            <a:spAutoFit/>
          </a:bodyPr>
          <a:lstStyle/>
          <a:p>
            <a:r>
              <a:rPr lang="en-US" smtClean="0"/>
              <a:t>Un-Normalized</a:t>
            </a:r>
            <a:endParaRPr lang="en-US"/>
          </a:p>
        </p:txBody>
      </p:sp>
      <p:sp>
        <p:nvSpPr>
          <p:cNvPr id="35" name="TextBox 34"/>
          <p:cNvSpPr txBox="1"/>
          <p:nvPr/>
        </p:nvSpPr>
        <p:spPr>
          <a:xfrm>
            <a:off x="7147496" y="1664159"/>
            <a:ext cx="1385316" cy="369332"/>
          </a:xfrm>
          <a:prstGeom prst="rect">
            <a:avLst/>
          </a:prstGeom>
          <a:noFill/>
        </p:spPr>
        <p:txBody>
          <a:bodyPr wrap="none" rtlCol="0">
            <a:spAutoFit/>
          </a:bodyPr>
          <a:lstStyle/>
          <a:p>
            <a:r>
              <a:rPr lang="en-US" smtClean="0"/>
              <a:t>Normalized</a:t>
            </a:r>
            <a:endParaRPr lang="en-US"/>
          </a:p>
        </p:txBody>
      </p:sp>
      <p:cxnSp>
        <p:nvCxnSpPr>
          <p:cNvPr id="37" name="Straight Arrow Connector 36"/>
          <p:cNvCxnSpPr/>
          <p:nvPr/>
        </p:nvCxnSpPr>
        <p:spPr>
          <a:xfrm flipH="1" flipV="1">
            <a:off x="3675819" y="5721997"/>
            <a:ext cx="209059" cy="5463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3682007" y="5527585"/>
            <a:ext cx="431320" cy="2173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23" idx="3"/>
          </p:cNvCxnSpPr>
          <p:nvPr/>
        </p:nvCxnSpPr>
        <p:spPr>
          <a:xfrm flipH="1" flipV="1">
            <a:off x="3850311" y="5206318"/>
            <a:ext cx="242470" cy="31669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3838482" y="5079007"/>
            <a:ext cx="422603" cy="12194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flipV="1">
            <a:off x="3980668" y="4766170"/>
            <a:ext cx="252720" cy="30747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V="1">
            <a:off x="3983056" y="4635446"/>
            <a:ext cx="434956" cy="1169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flipV="1">
            <a:off x="4261085" y="4373207"/>
            <a:ext cx="140801" cy="27293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4283063" y="4256310"/>
            <a:ext cx="279476" cy="13036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flipV="1">
            <a:off x="4501687" y="4062544"/>
            <a:ext cx="26217" cy="1937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H="1" flipV="1">
            <a:off x="8881812" y="4787882"/>
            <a:ext cx="183492" cy="4375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H="1" flipV="1">
            <a:off x="8738105" y="4525345"/>
            <a:ext cx="142155" cy="2631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H="1" flipV="1">
            <a:off x="8608106" y="4254975"/>
            <a:ext cx="142155" cy="2631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H="1" flipV="1">
            <a:off x="8534986" y="4100940"/>
            <a:ext cx="91914" cy="19340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831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Regularization</a:t>
            </a:r>
            <a:endParaRPr lang="en-US" dirty="0"/>
          </a:p>
        </p:txBody>
      </p:sp>
    </p:spTree>
    <p:extLst>
      <p:ext uri="{BB962C8B-B14F-4D97-AF65-F5344CB8AC3E}">
        <p14:creationId xmlns:p14="http://schemas.microsoft.com/office/powerpoint/2010/main" val="17945907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Regularization</a:t>
            </a:r>
            <a:endParaRPr lang="en-US" dirty="0"/>
          </a:p>
        </p:txBody>
      </p:sp>
      <p:sp>
        <p:nvSpPr>
          <p:cNvPr id="3" name="Content Placeholder 2"/>
          <p:cNvSpPr>
            <a:spLocks noGrp="1"/>
          </p:cNvSpPr>
          <p:nvPr>
            <p:ph idx="1"/>
          </p:nvPr>
        </p:nvSpPr>
        <p:spPr/>
        <p:txBody>
          <a:bodyPr>
            <a:normAutofit lnSpcReduction="10000"/>
          </a:bodyPr>
          <a:lstStyle/>
          <a:p>
            <a:r>
              <a:rPr lang="en-US" sz="3200" dirty="0" smtClean="0"/>
              <a:t>Goal: prevent overfitting</a:t>
            </a:r>
            <a:r>
              <a:rPr lang="en-US" sz="3200" dirty="0"/>
              <a:t> </a:t>
            </a:r>
            <a:endParaRPr lang="en-US" sz="3200" dirty="0" smtClean="0"/>
          </a:p>
          <a:p>
            <a:r>
              <a:rPr lang="en-US" sz="3200" dirty="0" smtClean="0"/>
              <a:t>Want network to generalize beyond training data</a:t>
            </a:r>
          </a:p>
          <a:p>
            <a:endParaRPr lang="en-US" sz="3200" dirty="0" smtClean="0"/>
          </a:p>
          <a:p>
            <a:pPr marL="0" indent="0">
              <a:buNone/>
            </a:pPr>
            <a:r>
              <a:rPr lang="en-US" sz="3200" dirty="0" smtClean="0"/>
              <a:t>How to do this?</a:t>
            </a:r>
          </a:p>
          <a:p>
            <a:r>
              <a:rPr lang="en-US" sz="3200" dirty="0" smtClean="0"/>
              <a:t>One way: stop large weights from dominating</a:t>
            </a:r>
          </a:p>
          <a:p>
            <a:endParaRPr lang="en-US" sz="3200" dirty="0" smtClean="0"/>
          </a:p>
          <a:p>
            <a:pPr marL="0" indent="0">
              <a:buNone/>
            </a:pPr>
            <a:r>
              <a:rPr lang="en-US" sz="3200" dirty="0" smtClean="0"/>
              <a:t>How? Penalize models with large weights</a:t>
            </a:r>
            <a:endParaRPr lang="en-US" sz="3200" dirty="0"/>
          </a:p>
        </p:txBody>
      </p:sp>
    </p:spTree>
    <p:extLst>
      <p:ext uri="{BB962C8B-B14F-4D97-AF65-F5344CB8AC3E}">
        <p14:creationId xmlns:p14="http://schemas.microsoft.com/office/powerpoint/2010/main" val="19747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L2 Regularization</a:t>
            </a:r>
            <a:endParaRPr lang="en-US" dirty="0"/>
          </a:p>
        </p:txBody>
      </p:sp>
      <p:sp>
        <p:nvSpPr>
          <p:cNvPr id="3" name="Content Placeholder 2"/>
          <p:cNvSpPr>
            <a:spLocks noGrp="1"/>
          </p:cNvSpPr>
          <p:nvPr>
            <p:ph idx="1"/>
          </p:nvPr>
        </p:nvSpPr>
        <p:spPr>
          <a:xfrm>
            <a:off x="1593436" y="1600200"/>
            <a:ext cx="9782801" cy="762000"/>
          </a:xfrm>
        </p:spPr>
        <p:txBody>
          <a:bodyPr/>
          <a:lstStyle/>
          <a:p>
            <a:r>
              <a:rPr lang="en-US" dirty="0" smtClean="0"/>
              <a:t>Adjust loss function to include a second term</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1370012" y="2362200"/>
                <a:ext cx="10006225" cy="15749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charset="0"/>
                        </a:rPr>
                        <m:t>𝐽</m:t>
                      </m:r>
                      <m:r>
                        <a:rPr lang="en-US" sz="3600" b="0" i="1" smtClean="0">
                          <a:latin typeface="Cambria Math" charset="0"/>
                        </a:rPr>
                        <m:t>=</m:t>
                      </m:r>
                      <m:f>
                        <m:fPr>
                          <m:ctrlPr>
                            <a:rPr lang="mr-IN" sz="3600" b="0" i="1" smtClean="0">
                              <a:latin typeface="Cambria Math" panose="02040503050406030204" pitchFamily="18" charset="0"/>
                            </a:rPr>
                          </m:ctrlPr>
                        </m:fPr>
                        <m:num>
                          <m:r>
                            <a:rPr lang="en-US" sz="3600" b="0" i="1" smtClean="0">
                              <a:latin typeface="Cambria Math" charset="0"/>
                            </a:rPr>
                            <m:t>1</m:t>
                          </m:r>
                        </m:num>
                        <m:den>
                          <m:r>
                            <a:rPr lang="en-US" sz="3600" b="0" i="1" smtClean="0">
                              <a:latin typeface="Cambria Math" charset="0"/>
                            </a:rPr>
                            <m:t>2</m:t>
                          </m:r>
                          <m:r>
                            <a:rPr lang="en-US" sz="3600" b="0" i="1" smtClean="0">
                              <a:latin typeface="Cambria Math" charset="0"/>
                            </a:rPr>
                            <m:t>𝑛</m:t>
                          </m:r>
                        </m:den>
                      </m:f>
                      <m:nary>
                        <m:naryPr>
                          <m:chr m:val="∑"/>
                          <m:ctrlPr>
                            <a:rPr lang="is-IS" sz="3600" b="0" i="1" smtClean="0">
                              <a:latin typeface="Cambria Math" panose="02040503050406030204" pitchFamily="18" charset="0"/>
                            </a:rPr>
                          </m:ctrlPr>
                        </m:naryPr>
                        <m:sub>
                          <m:r>
                            <m:rPr>
                              <m:brk m:alnAt="23"/>
                            </m:rPr>
                            <a:rPr lang="en-US" sz="3600" b="0" i="1" smtClean="0">
                              <a:latin typeface="Cambria Math" charset="0"/>
                            </a:rPr>
                            <m:t>𝑖</m:t>
                          </m:r>
                          <m:r>
                            <a:rPr lang="en-US" sz="3600" b="0" i="1" smtClean="0">
                              <a:latin typeface="Cambria Math" charset="0"/>
                            </a:rPr>
                            <m:t>=1</m:t>
                          </m:r>
                        </m:sub>
                        <m:sup>
                          <m:r>
                            <a:rPr lang="en-US" sz="3600" b="0" i="1" smtClean="0">
                              <a:latin typeface="Cambria Math" charset="0"/>
                            </a:rPr>
                            <m:t>𝑛</m:t>
                          </m:r>
                        </m:sup>
                        <m:e>
                          <m:sSup>
                            <m:sSupPr>
                              <m:ctrlPr>
                                <a:rPr lang="en-US" sz="3600" b="0" i="1" smtClean="0">
                                  <a:latin typeface="Cambria Math" panose="02040503050406030204" pitchFamily="18" charset="0"/>
                                </a:rPr>
                              </m:ctrlPr>
                            </m:sSupPr>
                            <m:e>
                              <m:d>
                                <m:dPr>
                                  <m:ctrlPr>
                                    <a:rPr lang="mr-IN"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acc>
                                        <m:accPr>
                                          <m:chr m:val="̂"/>
                                          <m:ctrlPr>
                                            <a:rPr lang="mr-IN" sz="3600" b="0" i="1" smtClean="0">
                                              <a:latin typeface="Cambria Math" panose="02040503050406030204" pitchFamily="18" charset="0"/>
                                            </a:rPr>
                                          </m:ctrlPr>
                                        </m:accPr>
                                        <m:e>
                                          <m:r>
                                            <a:rPr lang="en-US" sz="3600" b="0" i="1" smtClean="0">
                                              <a:latin typeface="Cambria Math" charset="0"/>
                                            </a:rPr>
                                            <m:t>𝑦</m:t>
                                          </m:r>
                                        </m:e>
                                      </m:acc>
                                    </m:e>
                                    <m:sub>
                                      <m:r>
                                        <a:rPr lang="en-US" sz="3600" b="0" i="1" smtClean="0">
                                          <a:latin typeface="Cambria Math" charset="0"/>
                                        </a:rPr>
                                        <m:t>𝑖</m:t>
                                      </m:r>
                                    </m:sub>
                                  </m:sSub>
                                  <m:r>
                                    <a:rPr lang="en-US" sz="3600" b="0" i="1" smtClean="0">
                                      <a:latin typeface="Cambria Math" charset="0"/>
                                    </a:rPr>
                                    <m:t>−</m:t>
                                  </m:r>
                                  <m:sSub>
                                    <m:sSubPr>
                                      <m:ctrlPr>
                                        <a:rPr lang="en-US" sz="3600" b="0" i="1" smtClean="0">
                                          <a:latin typeface="Cambria Math" panose="02040503050406030204" pitchFamily="18" charset="0"/>
                                        </a:rPr>
                                      </m:ctrlPr>
                                    </m:sSubPr>
                                    <m:e>
                                      <m:r>
                                        <a:rPr lang="en-US" sz="3600" b="0" i="1" smtClean="0">
                                          <a:latin typeface="Cambria Math" charset="0"/>
                                        </a:rPr>
                                        <m:t>𝑦</m:t>
                                      </m:r>
                                    </m:e>
                                    <m:sub>
                                      <m:r>
                                        <a:rPr lang="en-US" sz="3600" b="0" i="1" smtClean="0">
                                          <a:latin typeface="Cambria Math" charset="0"/>
                                        </a:rPr>
                                        <m:t>𝑖</m:t>
                                      </m:r>
                                    </m:sub>
                                  </m:sSub>
                                </m:e>
                              </m:d>
                            </m:e>
                            <m:sup>
                              <m:r>
                                <a:rPr lang="en-US" sz="3600" b="0" i="1" smtClean="0">
                                  <a:latin typeface="Cambria Math" charset="0"/>
                                </a:rPr>
                                <m:t>2</m:t>
                              </m:r>
                            </m:sup>
                          </m:sSup>
                        </m:e>
                      </m:nary>
                      <m:r>
                        <a:rPr lang="en-US" sz="3600" b="0" i="1" smtClean="0">
                          <a:latin typeface="Cambria Math" charset="0"/>
                        </a:rPr>
                        <m:t>+</m:t>
                      </m:r>
                      <m:r>
                        <a:rPr lang="en-US" sz="3600" b="0" i="1" smtClean="0">
                          <a:latin typeface="Cambria Math" charset="0"/>
                        </a:rPr>
                        <m:t>𝜆</m:t>
                      </m:r>
                      <m:nary>
                        <m:naryPr>
                          <m:chr m:val="∑"/>
                          <m:ctrlPr>
                            <a:rPr lang="is-IS" sz="3600" b="0" i="1" smtClean="0">
                              <a:latin typeface="Cambria Math" panose="02040503050406030204" pitchFamily="18" charset="0"/>
                            </a:rPr>
                          </m:ctrlPr>
                        </m:naryPr>
                        <m:sub>
                          <m:r>
                            <m:rPr>
                              <m:brk m:alnAt="23"/>
                            </m:rPr>
                            <a:rPr lang="en-US" sz="3600" b="0" i="1" smtClean="0">
                              <a:latin typeface="Cambria Math" charset="0"/>
                            </a:rPr>
                            <m:t>𝑗</m:t>
                          </m:r>
                          <m:r>
                            <a:rPr lang="en-US" sz="3600" b="0" i="1" smtClean="0">
                              <a:latin typeface="Cambria Math" charset="0"/>
                            </a:rPr>
                            <m:t>=1</m:t>
                          </m:r>
                        </m:sub>
                        <m:sup>
                          <m:r>
                            <a:rPr lang="en-US" sz="3600" b="0" i="1" smtClean="0">
                              <a:latin typeface="Cambria Math" charset="0"/>
                            </a:rPr>
                            <m:t>𝑚</m:t>
                          </m:r>
                        </m:sup>
                        <m:e>
                          <m:sSubSup>
                            <m:sSubSupPr>
                              <m:ctrlPr>
                                <a:rPr lang="en-US" sz="3600" b="0" i="1" smtClean="0">
                                  <a:latin typeface="Cambria Math" panose="02040503050406030204" pitchFamily="18" charset="0"/>
                                </a:rPr>
                              </m:ctrlPr>
                            </m:sSubSupPr>
                            <m:e>
                              <m:r>
                                <a:rPr lang="en-US" sz="3600" b="0" i="1" smtClean="0">
                                  <a:latin typeface="Cambria Math" charset="0"/>
                                </a:rPr>
                                <m:t>𝑤</m:t>
                              </m:r>
                            </m:e>
                            <m:sub>
                              <m:r>
                                <a:rPr lang="en-US" sz="3600" b="0" i="1" smtClean="0">
                                  <a:latin typeface="Cambria Math" charset="0"/>
                                </a:rPr>
                                <m:t>𝑖</m:t>
                              </m:r>
                            </m:sub>
                            <m:sup>
                              <m:r>
                                <a:rPr lang="en-US" sz="3600" b="0" i="1" smtClean="0">
                                  <a:latin typeface="Cambria Math" charset="0"/>
                                </a:rPr>
                                <m:t>2</m:t>
                              </m:r>
                            </m:sup>
                          </m:sSubSup>
                        </m:e>
                      </m:nary>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1370012" y="2362200"/>
                <a:ext cx="10006225" cy="157498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p:cNvSpPr txBox="1">
                <a:spLocks/>
              </p:cNvSpPr>
              <p:nvPr/>
            </p:nvSpPr>
            <p:spPr>
              <a:xfrm>
                <a:off x="1481723" y="4572000"/>
                <a:ext cx="9782801" cy="2133600"/>
              </a:xfrm>
              <a:prstGeom prst="rect">
                <a:avLst/>
              </a:prstGeom>
            </p:spPr>
            <p:txBody>
              <a:bodyPr vert="horz" lIns="91440" tIns="45720" rIns="91440" bIns="45720" rtlCol="0">
                <a:normAutofit lnSpcReduction="10000"/>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a:buFont typeface="Arial" charset="0"/>
                  <a:buChar char="•"/>
                </a:pPr>
                <a:r>
                  <a:rPr lang="en-US" dirty="0" smtClean="0"/>
                  <a:t>Bigger sum of weights costs us more</a:t>
                </a:r>
              </a:p>
              <a:p>
                <a:pPr>
                  <a:buFont typeface="Arial" charset="0"/>
                  <a:buChar char="•"/>
                </a:pPr>
                <a14:m>
                  <m:oMath xmlns:m="http://schemas.openxmlformats.org/officeDocument/2006/math">
                    <m:r>
                      <a:rPr lang="en-US" i="1">
                        <a:latin typeface="Cambria Math" charset="0"/>
                      </a:rPr>
                      <m:t>𝜆</m:t>
                    </m:r>
                  </m:oMath>
                </a14:m>
                <a:r>
                  <a:rPr lang="en-US" dirty="0" smtClean="0"/>
                  <a:t> is the regularization </a:t>
                </a:r>
                <a:r>
                  <a:rPr lang="en-US" i="1" dirty="0" smtClean="0"/>
                  <a:t>hyper-parameter</a:t>
                </a:r>
              </a:p>
              <a:p>
                <a:pPr lvl="1">
                  <a:buFont typeface="Arial" charset="0"/>
                  <a:buChar char="•"/>
                </a:pPr>
                <a:r>
                  <a:rPr lang="en-US" dirty="0" smtClean="0"/>
                  <a:t>Bigger </a:t>
                </a:r>
                <a14:m>
                  <m:oMath xmlns:m="http://schemas.openxmlformats.org/officeDocument/2006/math">
                    <m:r>
                      <a:rPr lang="en-US" i="1">
                        <a:latin typeface="Cambria Math" charset="0"/>
                      </a:rPr>
                      <m:t>𝜆</m:t>
                    </m:r>
                  </m:oMath>
                </a14:m>
                <a:r>
                  <a:rPr lang="en-US" dirty="0" smtClean="0"/>
                  <a:t> means more regularization</a:t>
                </a:r>
              </a:p>
              <a:p>
                <a:pPr lvl="1">
                  <a:buFont typeface="Arial" charset="0"/>
                  <a:buChar char="•"/>
                </a:pPr>
                <a:r>
                  <a:rPr lang="en-US" dirty="0"/>
                  <a:t>M</a:t>
                </a:r>
                <a:r>
                  <a:rPr lang="en-US" dirty="0" smtClean="0"/>
                  <a:t>ore penalty for big weights</a:t>
                </a:r>
              </a:p>
              <a:p>
                <a:pPr lvl="1">
                  <a:buFont typeface="Arial" charset="0"/>
                  <a:buChar char="•"/>
                </a:pPr>
                <a:r>
                  <a:rPr lang="en-US" dirty="0"/>
                  <a:t>L</a:t>
                </a:r>
                <a:r>
                  <a:rPr lang="en-US" dirty="0" smtClean="0"/>
                  <a:t>ess attention to raw data fit</a:t>
                </a:r>
              </a:p>
              <a:p>
                <a:endParaRPr lang="en-US"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1481723" y="4572000"/>
                <a:ext cx="9782801" cy="2133600"/>
              </a:xfrm>
              <a:prstGeom prst="rect">
                <a:avLst/>
              </a:prstGeom>
              <a:blipFill rotWithShape="0">
                <a:blip r:embed="rId4"/>
                <a:stretch>
                  <a:fillRect l="-1121" t="-6857" b="-2857"/>
                </a:stretch>
              </a:blipFill>
            </p:spPr>
            <p:txBody>
              <a:bodyPr/>
              <a:lstStyle/>
              <a:p>
                <a:r>
                  <a:rPr lang="en-US">
                    <a:noFill/>
                  </a:rPr>
                  <a:t> </a:t>
                </a:r>
              </a:p>
            </p:txBody>
          </p:sp>
        </mc:Fallback>
      </mc:AlternateContent>
    </p:spTree>
    <p:extLst>
      <p:ext uri="{BB962C8B-B14F-4D97-AF65-F5344CB8AC3E}">
        <p14:creationId xmlns:p14="http://schemas.microsoft.com/office/powerpoint/2010/main" val="18631107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Scatter Plot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1883" y="1604963"/>
            <a:ext cx="7618709" cy="4567237"/>
          </a:xfrm>
        </p:spPr>
      </p:pic>
    </p:spTree>
    <p:extLst>
      <p:ext uri="{BB962C8B-B14F-4D97-AF65-F5344CB8AC3E}">
        <p14:creationId xmlns:p14="http://schemas.microsoft.com/office/powerpoint/2010/main" val="1246568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Overfitting</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10083" y="1604963"/>
            <a:ext cx="7562309" cy="4567237"/>
          </a:xfrm>
        </p:spPr>
      </p:pic>
    </p:spTree>
    <p:extLst>
      <p:ext uri="{BB962C8B-B14F-4D97-AF65-F5344CB8AC3E}">
        <p14:creationId xmlns:p14="http://schemas.microsoft.com/office/powerpoint/2010/main" val="8259896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Possible model after regularization</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98532" y="1604963"/>
            <a:ext cx="7585411" cy="4567237"/>
          </a:xfrm>
        </p:spPr>
      </p:pic>
    </p:spTree>
    <p:extLst>
      <p:ext uri="{BB962C8B-B14F-4D97-AF65-F5344CB8AC3E}">
        <p14:creationId xmlns:p14="http://schemas.microsoft.com/office/powerpoint/2010/main" val="86781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 much regularization!</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1883" y="1604963"/>
            <a:ext cx="7618709" cy="4567237"/>
          </a:xfrm>
        </p:spPr>
      </p:pic>
      <p:cxnSp>
        <p:nvCxnSpPr>
          <p:cNvPr id="5" name="Straight Connector 4"/>
          <p:cNvCxnSpPr/>
          <p:nvPr/>
        </p:nvCxnSpPr>
        <p:spPr>
          <a:xfrm flipV="1">
            <a:off x="3503612" y="3048000"/>
            <a:ext cx="6324600" cy="152400"/>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6623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Different types of regularization</a:t>
            </a:r>
            <a:endParaRPr lang="en-US" dirty="0"/>
          </a:p>
        </p:txBody>
      </p:sp>
      <p:sp>
        <p:nvSpPr>
          <p:cNvPr id="3" name="Content Placeholder 2"/>
          <p:cNvSpPr>
            <a:spLocks noGrp="1"/>
          </p:cNvSpPr>
          <p:nvPr>
            <p:ph idx="1"/>
          </p:nvPr>
        </p:nvSpPr>
        <p:spPr/>
        <p:txBody>
          <a:bodyPr>
            <a:normAutofit/>
          </a:bodyPr>
          <a:lstStyle/>
          <a:p>
            <a:r>
              <a:rPr lang="en-US" sz="3200" dirty="0" smtClean="0"/>
              <a:t>We’ll see different techniques that act as a form of regularization</a:t>
            </a:r>
          </a:p>
          <a:p>
            <a:pPr lvl="1"/>
            <a:r>
              <a:rPr lang="en-US" dirty="0" smtClean="0"/>
              <a:t>Not always just a term of the loss function</a:t>
            </a:r>
          </a:p>
          <a:p>
            <a:pPr lvl="1"/>
            <a:r>
              <a:rPr lang="en-US" sz="3200" dirty="0" smtClean="0"/>
              <a:t>Dropout (next class!)</a:t>
            </a:r>
          </a:p>
          <a:p>
            <a:endParaRPr lang="en-US" sz="3200" dirty="0" smtClean="0"/>
          </a:p>
          <a:p>
            <a:r>
              <a:rPr lang="en-US" sz="3200" dirty="0" smtClean="0"/>
              <a:t>Key takeaway: </a:t>
            </a:r>
          </a:p>
          <a:p>
            <a:pPr marL="457200" indent="-457200">
              <a:buFont typeface="Arial" charset="0"/>
              <a:buChar char="•"/>
            </a:pPr>
            <a:r>
              <a:rPr lang="en-US" sz="3200" dirty="0" smtClean="0"/>
              <a:t>regularization = less memorization</a:t>
            </a:r>
            <a:endParaRPr lang="en-US" sz="3200" dirty="0"/>
          </a:p>
        </p:txBody>
      </p:sp>
    </p:spTree>
    <p:extLst>
      <p:ext uri="{BB962C8B-B14F-4D97-AF65-F5344CB8AC3E}">
        <p14:creationId xmlns:p14="http://schemas.microsoft.com/office/powerpoint/2010/main" val="13505307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Neural Networks</a:t>
            </a:r>
            <a:endParaRPr lang="en-US" dirty="0"/>
          </a:p>
        </p:txBody>
      </p:sp>
    </p:spTree>
    <p:extLst>
      <p:ext uri="{BB962C8B-B14F-4D97-AF65-F5344CB8AC3E}">
        <p14:creationId xmlns:p14="http://schemas.microsoft.com/office/powerpoint/2010/main" val="12025592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Idea</a:t>
            </a:r>
            <a:endParaRPr lang="en-US" dirty="0"/>
          </a:p>
        </p:txBody>
      </p:sp>
      <p:sp>
        <p:nvSpPr>
          <p:cNvPr id="3" name="Content Placeholder 2"/>
          <p:cNvSpPr>
            <a:spLocks noGrp="1"/>
          </p:cNvSpPr>
          <p:nvPr>
            <p:ph idx="1"/>
          </p:nvPr>
        </p:nvSpPr>
        <p:spPr>
          <a:xfrm>
            <a:off x="1593436" y="1600200"/>
            <a:ext cx="9782801" cy="2971800"/>
          </a:xfrm>
        </p:spPr>
        <p:txBody>
          <a:bodyPr/>
          <a:lstStyle/>
          <a:p>
            <a:r>
              <a:rPr lang="en-US" dirty="0" smtClean="0"/>
              <a:t>Use biology as inspiration for math model</a:t>
            </a:r>
          </a:p>
          <a:p>
            <a:r>
              <a:rPr lang="en-US" dirty="0" smtClean="0"/>
              <a:t>Neurons: </a:t>
            </a:r>
          </a:p>
          <a:p>
            <a:pPr lvl="1"/>
            <a:r>
              <a:rPr lang="en-US" dirty="0"/>
              <a:t>G</a:t>
            </a:r>
            <a:r>
              <a:rPr lang="en-US" dirty="0" smtClean="0"/>
              <a:t>et signals from previous neurons</a:t>
            </a:r>
          </a:p>
          <a:p>
            <a:pPr lvl="1"/>
            <a:r>
              <a:rPr lang="en-US" dirty="0" smtClean="0"/>
              <a:t>Generate signal (or not) according to inputs</a:t>
            </a:r>
          </a:p>
          <a:p>
            <a:pPr lvl="1"/>
            <a:r>
              <a:rPr lang="en-US" dirty="0" smtClean="0"/>
              <a:t>Pass that signal on to future neurons</a:t>
            </a:r>
          </a:p>
          <a:p>
            <a:r>
              <a:rPr lang="en-US" dirty="0" smtClean="0"/>
              <a:t>By layering many neurons, can create complex model</a:t>
            </a:r>
            <a:endParaRPr lang="en-US" dirty="0"/>
          </a:p>
        </p:txBody>
      </p:sp>
      <p:grpSp>
        <p:nvGrpSpPr>
          <p:cNvPr id="167" name="Group 166"/>
          <p:cNvGrpSpPr/>
          <p:nvPr/>
        </p:nvGrpSpPr>
        <p:grpSpPr>
          <a:xfrm>
            <a:off x="4265612" y="4559300"/>
            <a:ext cx="3655628" cy="2146300"/>
            <a:chOff x="3292616" y="4559300"/>
            <a:chExt cx="3655628" cy="2146300"/>
          </a:xfrm>
        </p:grpSpPr>
        <p:sp>
          <p:nvSpPr>
            <p:cNvPr id="4" name="Oval 3"/>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 name="Oval 4"/>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 name="Oval 5"/>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 name="Oval 6"/>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Oval 7"/>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Oval 8"/>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Oval 9"/>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Oval 10"/>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Oval 11"/>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Oval 12"/>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Oval 13"/>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Oval 18"/>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0" name="Oval 19"/>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1" name="Oval 20"/>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25" name="Straight Arrow Connector 24"/>
            <p:cNvCxnSpPr>
              <a:stCxn id="4" idx="6"/>
              <a:endCxn id="10"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4" idx="6"/>
              <a:endCxn id="9"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4" idx="6"/>
              <a:endCxn id="8"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4" idx="6"/>
              <a:endCxn id="7"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5" idx="6"/>
              <a:endCxn id="10"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5" idx="6"/>
              <a:endCxn id="9"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5" idx="6"/>
              <a:endCxn id="8"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5" idx="6"/>
              <a:endCxn id="7"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6" idx="6"/>
              <a:endCxn id="10"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6" idx="6"/>
              <a:endCxn id="9"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6" idx="6"/>
              <a:endCxn id="8"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6" idx="6"/>
              <a:endCxn id="7"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10" idx="6"/>
              <a:endCxn id="14"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10" idx="6"/>
              <a:endCxn id="13"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10" idx="6"/>
              <a:endCxn id="12"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10" idx="6"/>
              <a:endCxn id="11"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9" idx="6"/>
              <a:endCxn id="14"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9" idx="6"/>
              <a:endCxn id="13"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9" idx="6"/>
              <a:endCxn id="12"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9" idx="6"/>
              <a:endCxn id="11"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8" idx="6"/>
              <a:endCxn id="14"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8" idx="6"/>
              <a:endCxn id="13"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stCxn id="8" idx="6"/>
              <a:endCxn id="12"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8" idx="6"/>
              <a:endCxn id="11"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7" idx="6"/>
              <a:endCxn id="14"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7" idx="6"/>
              <a:endCxn id="13"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7" idx="7"/>
              <a:endCxn id="12"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7" idx="6"/>
              <a:endCxn id="11"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a:stCxn id="14" idx="6"/>
              <a:endCxn id="19"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14" idx="6"/>
              <a:endCxn id="20"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a:stCxn id="14" idx="6"/>
              <a:endCxn id="21"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stCxn id="13" idx="6"/>
              <a:endCxn id="19"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a:stCxn id="13" idx="6"/>
              <a:endCxn id="20"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13" idx="6"/>
              <a:endCxn id="21"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stCxn id="12" idx="6"/>
              <a:endCxn id="21"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a:stCxn id="12" idx="6"/>
              <a:endCxn id="19"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a:stCxn id="12" idx="6"/>
              <a:endCxn id="20"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a:stCxn id="11" idx="6"/>
              <a:endCxn id="19"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a:stCxn id="11" idx="6"/>
              <a:endCxn id="20"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a:stCxn id="11" idx="6"/>
              <a:endCxn id="21"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a:stCxn id="19"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p:cNvCxnSpPr>
              <a:stCxn id="20"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21"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a:endCxn id="4"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p:cNvCxnSpPr>
              <a:endCxn id="5"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p:cNvCxnSpPr>
              <a:endCxn id="6"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4239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a:stCxn id="4" idx="6"/>
          </p:cNvCxnSpPr>
          <p:nvPr/>
        </p:nvCxnSpPr>
        <p:spPr>
          <a:xfrm>
            <a:off x="7847012" y="4191000"/>
            <a:ext cx="24384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The basic “neuron” visualization</a:t>
            </a:r>
            <a:endParaRPr lang="en-US" dirty="0"/>
          </a:p>
        </p:txBody>
      </p:sp>
      <p:sp>
        <p:nvSpPr>
          <p:cNvPr id="4" name="Oval 3"/>
          <p:cNvSpPr/>
          <p:nvPr/>
        </p:nvSpPr>
        <p:spPr>
          <a:xfrm>
            <a:off x="4646612" y="2590800"/>
            <a:ext cx="3200400" cy="32004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bg1"/>
                </a:solidFill>
              </a:rPr>
              <a:t>activation</a:t>
            </a:r>
          </a:p>
          <a:p>
            <a:pPr algn="ctr"/>
            <a:r>
              <a:rPr lang="en-US" sz="3600" dirty="0" smtClean="0">
                <a:solidFill>
                  <a:schemeClr val="bg1"/>
                </a:solidFill>
              </a:rPr>
              <a:t>function</a:t>
            </a:r>
            <a:endParaRPr lang="en-US" sz="3600" dirty="0">
              <a:solidFill>
                <a:schemeClr val="bg1"/>
              </a:solidFill>
            </a:endParaRPr>
          </a:p>
        </p:txBody>
      </p:sp>
      <p:cxnSp>
        <p:nvCxnSpPr>
          <p:cNvPr id="8" name="Straight Arrow Connector 7"/>
          <p:cNvCxnSpPr>
            <a:endCxn id="4" idx="1"/>
          </p:cNvCxnSpPr>
          <p:nvPr/>
        </p:nvCxnSpPr>
        <p:spPr>
          <a:xfrm>
            <a:off x="3427412" y="1905000"/>
            <a:ext cx="1687888" cy="11544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4" idx="3"/>
          </p:cNvCxnSpPr>
          <p:nvPr/>
        </p:nvCxnSpPr>
        <p:spPr>
          <a:xfrm flipV="1">
            <a:off x="3503612" y="5322512"/>
            <a:ext cx="1611688" cy="13068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4" idx="2"/>
          </p:cNvCxnSpPr>
          <p:nvPr/>
        </p:nvCxnSpPr>
        <p:spPr>
          <a:xfrm>
            <a:off x="2665412" y="4191000"/>
            <a:ext cx="19812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914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a:stCxn id="4" idx="6"/>
          </p:cNvCxnSpPr>
          <p:nvPr/>
        </p:nvCxnSpPr>
        <p:spPr>
          <a:xfrm>
            <a:off x="7847012" y="4191000"/>
            <a:ext cx="24384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3200" dirty="0" smtClean="0"/>
              <a:t>Reads roughly the same as a </a:t>
            </a:r>
            <a:r>
              <a:rPr lang="en-US" sz="3200" dirty="0" err="1" smtClean="0"/>
              <a:t>TensorFlow</a:t>
            </a:r>
            <a:r>
              <a:rPr lang="en-US" sz="3200" dirty="0" smtClean="0"/>
              <a:t> graph</a:t>
            </a:r>
            <a:endParaRPr lang="en-US" sz="3200" dirty="0"/>
          </a:p>
        </p:txBody>
      </p:sp>
      <p:sp>
        <p:nvSpPr>
          <p:cNvPr id="4" name="Oval 3"/>
          <p:cNvSpPr/>
          <p:nvPr/>
        </p:nvSpPr>
        <p:spPr>
          <a:xfrm>
            <a:off x="4646612" y="2590800"/>
            <a:ext cx="3200400" cy="32004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bg1"/>
                </a:solidFill>
              </a:rPr>
              <a:t>activation</a:t>
            </a:r>
          </a:p>
          <a:p>
            <a:pPr algn="ctr"/>
            <a:r>
              <a:rPr lang="en-US" sz="3600" dirty="0" smtClean="0">
                <a:solidFill>
                  <a:schemeClr val="bg1"/>
                </a:solidFill>
              </a:rPr>
              <a:t>function</a:t>
            </a:r>
            <a:endParaRPr lang="en-US" sz="3600" dirty="0">
              <a:solidFill>
                <a:schemeClr val="bg1"/>
              </a:solidFill>
            </a:endParaRPr>
          </a:p>
        </p:txBody>
      </p:sp>
      <p:cxnSp>
        <p:nvCxnSpPr>
          <p:cNvPr id="8" name="Straight Arrow Connector 7"/>
          <p:cNvCxnSpPr>
            <a:endCxn id="4" idx="1"/>
          </p:cNvCxnSpPr>
          <p:nvPr/>
        </p:nvCxnSpPr>
        <p:spPr>
          <a:xfrm>
            <a:off x="3427412" y="1905000"/>
            <a:ext cx="1687888" cy="11544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4" idx="3"/>
          </p:cNvCxnSpPr>
          <p:nvPr/>
        </p:nvCxnSpPr>
        <p:spPr>
          <a:xfrm flipV="1">
            <a:off x="3503612" y="5322512"/>
            <a:ext cx="1611688" cy="13068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4" idx="2"/>
          </p:cNvCxnSpPr>
          <p:nvPr/>
        </p:nvCxnSpPr>
        <p:spPr>
          <a:xfrm>
            <a:off x="2665412" y="4191000"/>
            <a:ext cx="19812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75747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a:stCxn id="4" idx="6"/>
          </p:cNvCxnSpPr>
          <p:nvPr/>
        </p:nvCxnSpPr>
        <p:spPr>
          <a:xfrm>
            <a:off x="7847012" y="4191000"/>
            <a:ext cx="24384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3200" dirty="0" smtClean="0"/>
              <a:t>Reads roughly the same as a </a:t>
            </a:r>
            <a:r>
              <a:rPr lang="en-US" sz="3200" dirty="0" err="1" smtClean="0"/>
              <a:t>TensorFlow</a:t>
            </a:r>
            <a:r>
              <a:rPr lang="en-US" sz="3200" dirty="0" smtClean="0"/>
              <a:t> graph</a:t>
            </a:r>
            <a:endParaRPr lang="en-US" sz="3200" dirty="0"/>
          </a:p>
        </p:txBody>
      </p:sp>
      <p:sp>
        <p:nvSpPr>
          <p:cNvPr id="4" name="Oval 3"/>
          <p:cNvSpPr/>
          <p:nvPr/>
        </p:nvSpPr>
        <p:spPr>
          <a:xfrm>
            <a:off x="4646612" y="2590800"/>
            <a:ext cx="3200400" cy="32004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bg1"/>
                </a:solidFill>
              </a:rPr>
              <a:t>activation</a:t>
            </a:r>
          </a:p>
          <a:p>
            <a:pPr algn="ctr"/>
            <a:r>
              <a:rPr lang="en-US" sz="3600" dirty="0" smtClean="0">
                <a:solidFill>
                  <a:schemeClr val="bg1"/>
                </a:solidFill>
              </a:rPr>
              <a:t>function</a:t>
            </a:r>
            <a:endParaRPr lang="en-US" sz="3600" dirty="0">
              <a:solidFill>
                <a:schemeClr val="bg1"/>
              </a:solidFill>
            </a:endParaRPr>
          </a:p>
        </p:txBody>
      </p:sp>
      <p:cxnSp>
        <p:nvCxnSpPr>
          <p:cNvPr id="8" name="Straight Arrow Connector 7"/>
          <p:cNvCxnSpPr>
            <a:endCxn id="4" idx="1"/>
          </p:cNvCxnSpPr>
          <p:nvPr/>
        </p:nvCxnSpPr>
        <p:spPr>
          <a:xfrm>
            <a:off x="3427412" y="1905000"/>
            <a:ext cx="1687888" cy="11544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4" idx="3"/>
          </p:cNvCxnSpPr>
          <p:nvPr/>
        </p:nvCxnSpPr>
        <p:spPr>
          <a:xfrm flipV="1">
            <a:off x="3503612" y="5322512"/>
            <a:ext cx="1611688" cy="13068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4" idx="2"/>
          </p:cNvCxnSpPr>
          <p:nvPr/>
        </p:nvCxnSpPr>
        <p:spPr>
          <a:xfrm>
            <a:off x="2665412" y="4191000"/>
            <a:ext cx="19812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827212" y="2743200"/>
            <a:ext cx="1219200" cy="1066800"/>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1827212" y="2590800"/>
            <a:ext cx="1828800" cy="152400"/>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827212" y="2743200"/>
            <a:ext cx="1600200" cy="3352800"/>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593436" y="1528453"/>
            <a:ext cx="3353867" cy="830997"/>
          </a:xfrm>
          <a:prstGeom prst="rect">
            <a:avLst/>
          </a:prstGeom>
          <a:solidFill>
            <a:srgbClr val="FFFFFF">
              <a:alpha val="74902"/>
            </a:srgbClr>
          </a:solidFill>
        </p:spPr>
        <p:txBody>
          <a:bodyPr wrap="none" rtlCol="0">
            <a:spAutoFit/>
          </a:bodyPr>
          <a:lstStyle/>
          <a:p>
            <a:r>
              <a:rPr lang="en-US" sz="2400" dirty="0" smtClean="0">
                <a:solidFill>
                  <a:srgbClr val="FF0000"/>
                </a:solidFill>
              </a:rPr>
              <a:t>Data flows into neuron</a:t>
            </a:r>
          </a:p>
          <a:p>
            <a:r>
              <a:rPr lang="en-US" sz="2400" dirty="0" smtClean="0">
                <a:solidFill>
                  <a:srgbClr val="FF0000"/>
                </a:solidFill>
              </a:rPr>
              <a:t>from previous layers</a:t>
            </a:r>
            <a:endParaRPr lang="en-US" sz="2400" dirty="0">
              <a:solidFill>
                <a:srgbClr val="FF0000"/>
              </a:solidFill>
            </a:endParaRPr>
          </a:p>
        </p:txBody>
      </p:sp>
    </p:spTree>
    <p:extLst>
      <p:ext uri="{BB962C8B-B14F-4D97-AF65-F5344CB8AC3E}">
        <p14:creationId xmlns:p14="http://schemas.microsoft.com/office/powerpoint/2010/main" val="1440390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a:stCxn id="4" idx="6"/>
          </p:cNvCxnSpPr>
          <p:nvPr/>
        </p:nvCxnSpPr>
        <p:spPr>
          <a:xfrm>
            <a:off x="7847012" y="4191000"/>
            <a:ext cx="24384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3200" dirty="0" smtClean="0"/>
              <a:t>Reads roughly the same as a </a:t>
            </a:r>
            <a:r>
              <a:rPr lang="en-US" sz="3200" dirty="0" err="1" smtClean="0"/>
              <a:t>TensorFlow</a:t>
            </a:r>
            <a:r>
              <a:rPr lang="en-US" sz="3200" dirty="0" smtClean="0"/>
              <a:t> graph</a:t>
            </a:r>
            <a:endParaRPr lang="en-US" sz="3200" dirty="0"/>
          </a:p>
        </p:txBody>
      </p:sp>
      <p:sp>
        <p:nvSpPr>
          <p:cNvPr id="4" name="Oval 3"/>
          <p:cNvSpPr/>
          <p:nvPr/>
        </p:nvSpPr>
        <p:spPr>
          <a:xfrm>
            <a:off x="4646612" y="2590800"/>
            <a:ext cx="3200400" cy="32004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bg1"/>
                </a:solidFill>
              </a:rPr>
              <a:t>activation</a:t>
            </a:r>
          </a:p>
          <a:p>
            <a:pPr algn="ctr"/>
            <a:r>
              <a:rPr lang="en-US" sz="3600" dirty="0" smtClean="0">
                <a:solidFill>
                  <a:schemeClr val="bg1"/>
                </a:solidFill>
              </a:rPr>
              <a:t>function</a:t>
            </a:r>
            <a:endParaRPr lang="en-US" sz="3600" dirty="0">
              <a:solidFill>
                <a:schemeClr val="bg1"/>
              </a:solidFill>
            </a:endParaRPr>
          </a:p>
        </p:txBody>
      </p:sp>
      <p:cxnSp>
        <p:nvCxnSpPr>
          <p:cNvPr id="8" name="Straight Arrow Connector 7"/>
          <p:cNvCxnSpPr>
            <a:endCxn id="4" idx="1"/>
          </p:cNvCxnSpPr>
          <p:nvPr/>
        </p:nvCxnSpPr>
        <p:spPr>
          <a:xfrm>
            <a:off x="3427412" y="1905000"/>
            <a:ext cx="1687888" cy="11544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4" idx="3"/>
          </p:cNvCxnSpPr>
          <p:nvPr/>
        </p:nvCxnSpPr>
        <p:spPr>
          <a:xfrm flipV="1">
            <a:off x="3503612" y="5322512"/>
            <a:ext cx="1611688" cy="13068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4" idx="2"/>
          </p:cNvCxnSpPr>
          <p:nvPr/>
        </p:nvCxnSpPr>
        <p:spPr>
          <a:xfrm>
            <a:off x="2665412" y="4191000"/>
            <a:ext cx="19812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7313612" y="2103437"/>
            <a:ext cx="838200" cy="754063"/>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688868" y="1444257"/>
            <a:ext cx="4045788" cy="830997"/>
          </a:xfrm>
          <a:prstGeom prst="rect">
            <a:avLst/>
          </a:prstGeom>
          <a:noFill/>
        </p:spPr>
        <p:txBody>
          <a:bodyPr wrap="none" rtlCol="0">
            <a:spAutoFit/>
          </a:bodyPr>
          <a:lstStyle/>
          <a:p>
            <a:r>
              <a:rPr lang="en-US" sz="2400" dirty="0" smtClean="0">
                <a:solidFill>
                  <a:srgbClr val="FF0000"/>
                </a:solidFill>
              </a:rPr>
              <a:t>Some form of computation </a:t>
            </a:r>
          </a:p>
          <a:p>
            <a:r>
              <a:rPr lang="en-US" sz="2400" dirty="0" smtClean="0">
                <a:solidFill>
                  <a:srgbClr val="FF0000"/>
                </a:solidFill>
              </a:rPr>
              <a:t>transforms the inputs</a:t>
            </a:r>
            <a:endParaRPr lang="en-US" sz="2400" dirty="0">
              <a:solidFill>
                <a:srgbClr val="FF0000"/>
              </a:solidFill>
            </a:endParaRPr>
          </a:p>
        </p:txBody>
      </p:sp>
    </p:spTree>
    <p:extLst>
      <p:ext uri="{BB962C8B-B14F-4D97-AF65-F5344CB8AC3E}">
        <p14:creationId xmlns:p14="http://schemas.microsoft.com/office/powerpoint/2010/main" val="581448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a:stCxn id="4" idx="6"/>
          </p:cNvCxnSpPr>
          <p:nvPr/>
        </p:nvCxnSpPr>
        <p:spPr>
          <a:xfrm>
            <a:off x="7847012" y="4191000"/>
            <a:ext cx="24384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normAutofit/>
          </a:bodyPr>
          <a:lstStyle/>
          <a:p>
            <a:r>
              <a:rPr lang="en-US" sz="3200" dirty="0" smtClean="0"/>
              <a:t>Reads roughly the same as a </a:t>
            </a:r>
            <a:r>
              <a:rPr lang="en-US" sz="3200" dirty="0" err="1" smtClean="0"/>
              <a:t>TensorFlow</a:t>
            </a:r>
            <a:r>
              <a:rPr lang="en-US" sz="3200" dirty="0" smtClean="0"/>
              <a:t> graph</a:t>
            </a:r>
            <a:endParaRPr lang="en-US" sz="3200" dirty="0"/>
          </a:p>
        </p:txBody>
      </p:sp>
      <p:sp>
        <p:nvSpPr>
          <p:cNvPr id="4" name="Oval 3"/>
          <p:cNvSpPr/>
          <p:nvPr/>
        </p:nvSpPr>
        <p:spPr>
          <a:xfrm>
            <a:off x="4646612" y="2590800"/>
            <a:ext cx="3200400" cy="3200400"/>
          </a:xfrm>
          <a:prstGeom prst="ellipse">
            <a:avLst/>
          </a:prstGeom>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bg1"/>
                </a:solidFill>
              </a:rPr>
              <a:t>activation</a:t>
            </a:r>
          </a:p>
          <a:p>
            <a:pPr algn="ctr"/>
            <a:r>
              <a:rPr lang="en-US" sz="3600" dirty="0" smtClean="0">
                <a:solidFill>
                  <a:schemeClr val="bg1"/>
                </a:solidFill>
              </a:rPr>
              <a:t>function</a:t>
            </a:r>
            <a:endParaRPr lang="en-US" sz="3600" dirty="0">
              <a:solidFill>
                <a:schemeClr val="bg1"/>
              </a:solidFill>
            </a:endParaRPr>
          </a:p>
        </p:txBody>
      </p:sp>
      <p:cxnSp>
        <p:nvCxnSpPr>
          <p:cNvPr id="8" name="Straight Arrow Connector 7"/>
          <p:cNvCxnSpPr>
            <a:endCxn id="4" idx="1"/>
          </p:cNvCxnSpPr>
          <p:nvPr/>
        </p:nvCxnSpPr>
        <p:spPr>
          <a:xfrm>
            <a:off x="3427412" y="1905000"/>
            <a:ext cx="1687888" cy="11544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4" idx="3"/>
          </p:cNvCxnSpPr>
          <p:nvPr/>
        </p:nvCxnSpPr>
        <p:spPr>
          <a:xfrm flipV="1">
            <a:off x="3503612" y="5322512"/>
            <a:ext cx="1611688" cy="1306888"/>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4" idx="2"/>
          </p:cNvCxnSpPr>
          <p:nvPr/>
        </p:nvCxnSpPr>
        <p:spPr>
          <a:xfrm>
            <a:off x="2665412" y="4191000"/>
            <a:ext cx="1981200" cy="0"/>
          </a:xfrm>
          <a:prstGeom prst="straightConnector1">
            <a:avLst/>
          </a:prstGeom>
          <a:ln w="1143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8532812" y="2976286"/>
            <a:ext cx="341312" cy="899168"/>
          </a:xfrm>
          <a:prstGeom prst="straightConnector1">
            <a:avLst/>
          </a:prstGeom>
          <a:ln w="1143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276395" y="1987516"/>
            <a:ext cx="3579634" cy="830997"/>
          </a:xfrm>
          <a:prstGeom prst="rect">
            <a:avLst/>
          </a:prstGeom>
          <a:noFill/>
        </p:spPr>
        <p:txBody>
          <a:bodyPr wrap="none" rtlCol="0">
            <a:spAutoFit/>
          </a:bodyPr>
          <a:lstStyle/>
          <a:p>
            <a:r>
              <a:rPr lang="en-US" sz="2400" dirty="0" smtClean="0">
                <a:solidFill>
                  <a:srgbClr val="FF0000"/>
                </a:solidFill>
              </a:rPr>
              <a:t>The neuron outputs the </a:t>
            </a:r>
          </a:p>
          <a:p>
            <a:r>
              <a:rPr lang="en-US" sz="2400" dirty="0">
                <a:solidFill>
                  <a:srgbClr val="FF0000"/>
                </a:solidFill>
              </a:rPr>
              <a:t>t</a:t>
            </a:r>
            <a:r>
              <a:rPr lang="en-US" sz="2400" dirty="0" smtClean="0">
                <a:solidFill>
                  <a:srgbClr val="FF0000"/>
                </a:solidFill>
              </a:rPr>
              <a:t>ransformed data</a:t>
            </a:r>
          </a:p>
        </p:txBody>
      </p:sp>
    </p:spTree>
    <p:extLst>
      <p:ext uri="{BB962C8B-B14F-4D97-AF65-F5344CB8AC3E}">
        <p14:creationId xmlns:p14="http://schemas.microsoft.com/office/powerpoint/2010/main" val="17903326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Mathematical Description of a Neuron</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3719512" y="5305009"/>
                <a:ext cx="3429000"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𝑎</m:t>
                      </m:r>
                      <m:r>
                        <a:rPr lang="en-US" sz="4800" b="0" i="1" smtClean="0">
                          <a:latin typeface="Cambria Math" charset="0"/>
                        </a:rPr>
                        <m:t>=</m:t>
                      </m:r>
                      <m:r>
                        <a:rPr lang="en-US" sz="4800" b="0" i="1" smtClean="0">
                          <a:latin typeface="Cambria Math" charset="0"/>
                        </a:rPr>
                        <m:t>𝑓</m:t>
                      </m:r>
                      <m:d>
                        <m:dPr>
                          <m:ctrlPr>
                            <a:rPr lang="en-US" sz="4800" b="0" i="1" smtClean="0">
                              <a:latin typeface="Cambria Math" panose="02040503050406030204" pitchFamily="18" charset="0"/>
                            </a:rPr>
                          </m:ctrlPr>
                        </m:dPr>
                        <m:e>
                          <m:r>
                            <a:rPr lang="en-US" sz="4800" b="0" i="1" smtClean="0">
                              <a:latin typeface="Cambria Math" charset="0"/>
                            </a:rPr>
                            <m:t>𝑧</m:t>
                          </m:r>
                        </m:e>
                      </m:d>
                      <m:r>
                        <a:rPr lang="en-US" sz="4800" b="0" i="1" smtClean="0">
                          <a:latin typeface="Cambria Math" charset="0"/>
                        </a:rPr>
                        <m:t> </m:t>
                      </m:r>
                    </m:oMath>
                  </m:oMathPara>
                </a14:m>
                <a:endParaRPr lang="en-US" sz="4800" dirty="0"/>
              </a:p>
            </p:txBody>
          </p:sp>
        </mc:Choice>
        <mc:Fallback xmlns="">
          <p:sp>
            <p:nvSpPr>
              <p:cNvPr id="4" name="TextBox 3"/>
              <p:cNvSpPr txBox="1">
                <a:spLocks noRot="1" noChangeAspect="1" noMove="1" noResize="1" noEditPoints="1" noAdjustHandles="1" noChangeArrowheads="1" noChangeShapeType="1" noTextEdit="1"/>
              </p:cNvSpPr>
              <p:nvPr/>
            </p:nvSpPr>
            <p:spPr>
              <a:xfrm>
                <a:off x="3719512" y="5305009"/>
                <a:ext cx="3429000" cy="738664"/>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932136" y="1600200"/>
                <a:ext cx="5105400" cy="20163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𝑧</m:t>
                      </m:r>
                      <m:r>
                        <a:rPr lang="en-US" sz="4800" b="0" i="1" smtClean="0">
                          <a:latin typeface="Cambria Math" charset="0"/>
                        </a:rPr>
                        <m:t>=</m:t>
                      </m:r>
                      <m:r>
                        <a:rPr lang="en-US" sz="4800" b="0" i="1" smtClean="0">
                          <a:latin typeface="Cambria Math" charset="0"/>
                        </a:rPr>
                        <m:t>𝑏</m:t>
                      </m:r>
                      <m:r>
                        <a:rPr lang="en-US" sz="4800" b="0" i="1" smtClean="0">
                          <a:latin typeface="Cambria Math" charset="0"/>
                        </a:rPr>
                        <m:t>+ </m:t>
                      </m:r>
                      <m:nary>
                        <m:naryPr>
                          <m:chr m:val="∑"/>
                          <m:ctrlPr>
                            <a:rPr lang="is-IS" sz="4800" b="0" i="1" smtClean="0">
                              <a:latin typeface="Cambria Math" panose="02040503050406030204" pitchFamily="18" charset="0"/>
                            </a:rPr>
                          </m:ctrlPr>
                        </m:naryPr>
                        <m:sub>
                          <m:r>
                            <m:rPr>
                              <m:brk m:alnAt="23"/>
                            </m:rPr>
                            <a:rPr lang="en-US" sz="4800" b="0" i="1" smtClean="0">
                              <a:latin typeface="Cambria Math" charset="0"/>
                            </a:rPr>
                            <m:t>𝑖</m:t>
                          </m:r>
                          <m:r>
                            <a:rPr lang="en-US" sz="4800" b="0" i="1" smtClean="0">
                              <a:latin typeface="Cambria Math" charset="0"/>
                            </a:rPr>
                            <m:t>=1</m:t>
                          </m:r>
                        </m:sub>
                        <m:sup>
                          <m:r>
                            <a:rPr lang="en-US" sz="4800" b="0" i="1" smtClean="0">
                              <a:latin typeface="Cambria Math" charset="0"/>
                            </a:rPr>
                            <m:t>𝑚</m:t>
                          </m:r>
                        </m:sup>
                        <m:e>
                          <m:sSub>
                            <m:sSubPr>
                              <m:ctrlPr>
                                <a:rPr lang="en-US" sz="4800" b="0" i="1" smtClean="0">
                                  <a:latin typeface="Cambria Math" panose="02040503050406030204" pitchFamily="18" charset="0"/>
                                </a:rPr>
                              </m:ctrlPr>
                            </m:sSubPr>
                            <m:e>
                              <m:r>
                                <a:rPr lang="en-US" sz="4800" b="0" i="1" smtClean="0">
                                  <a:latin typeface="Cambria Math" charset="0"/>
                                </a:rPr>
                                <m:t>𝑊</m:t>
                              </m:r>
                            </m:e>
                            <m:sub>
                              <m:r>
                                <a:rPr lang="en-US" sz="4800" b="0" i="1" smtClean="0">
                                  <a:latin typeface="Cambria Math" charset="0"/>
                                </a:rPr>
                                <m:t>𝑖</m:t>
                              </m:r>
                            </m:sub>
                          </m:sSub>
                          <m:r>
                            <a:rPr lang="en-US" sz="4800" b="0" i="1" smtClean="0">
                              <a:latin typeface="Cambria Math" charset="0"/>
                            </a:rPr>
                            <m:t>⋅</m:t>
                          </m:r>
                          <m:sSub>
                            <m:sSubPr>
                              <m:ctrlPr>
                                <a:rPr lang="en-US" sz="4800" b="0" i="1" smtClean="0">
                                  <a:latin typeface="Cambria Math" panose="02040503050406030204" pitchFamily="18" charset="0"/>
                                </a:rPr>
                              </m:ctrlPr>
                            </m:sSubPr>
                            <m:e>
                              <m:r>
                                <a:rPr lang="en-US" sz="4800" b="0" i="1" smtClean="0">
                                  <a:latin typeface="Cambria Math" charset="0"/>
                                </a:rPr>
                                <m:t>𝑥</m:t>
                              </m:r>
                            </m:e>
                            <m:sub>
                              <m:r>
                                <a:rPr lang="en-US" sz="4800" b="0" i="1" smtClean="0">
                                  <a:latin typeface="Cambria Math" charset="0"/>
                                </a:rPr>
                                <m:t>𝑖</m:t>
                              </m:r>
                            </m:sub>
                          </m:sSub>
                        </m:e>
                      </m:nary>
                    </m:oMath>
                  </m:oMathPara>
                </a14:m>
                <a:endParaRPr lang="en-US" sz="4800" dirty="0"/>
              </a:p>
            </p:txBody>
          </p:sp>
        </mc:Choice>
        <mc:Fallback xmlns="">
          <p:sp>
            <p:nvSpPr>
              <p:cNvPr id="5" name="TextBox 4"/>
              <p:cNvSpPr txBox="1">
                <a:spLocks noRot="1" noChangeAspect="1" noMove="1" noResize="1" noEditPoints="1" noAdjustHandles="1" noChangeArrowheads="1" noChangeShapeType="1" noTextEdit="1"/>
              </p:cNvSpPr>
              <p:nvPr/>
            </p:nvSpPr>
            <p:spPr>
              <a:xfrm>
                <a:off x="3932136" y="1600200"/>
                <a:ext cx="5105400" cy="2016386"/>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490912" y="3962400"/>
                <a:ext cx="5105400"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m:t>
                      </m:r>
                      <m:sSup>
                        <m:sSupPr>
                          <m:ctrlPr>
                            <a:rPr lang="en-US" sz="4800" b="0" i="1" smtClean="0">
                              <a:latin typeface="Cambria Math" panose="02040503050406030204" pitchFamily="18" charset="0"/>
                            </a:rPr>
                          </m:ctrlPr>
                        </m:sSupPr>
                        <m:e>
                          <m:r>
                            <a:rPr lang="en-US" sz="4800" b="0" i="1" smtClean="0">
                              <a:latin typeface="Cambria Math" charset="0"/>
                            </a:rPr>
                            <m:t>𝑊</m:t>
                          </m:r>
                        </m:e>
                        <m:sup>
                          <m:r>
                            <a:rPr lang="en-US" sz="4800" b="0" i="1" smtClean="0">
                              <a:latin typeface="Cambria Math" charset="0"/>
                            </a:rPr>
                            <m:t>𝑡</m:t>
                          </m:r>
                        </m:sup>
                      </m:sSup>
                      <m:r>
                        <a:rPr lang="en-US" sz="4800" b="0" i="1" smtClean="0">
                          <a:latin typeface="Cambria Math" charset="0"/>
                        </a:rPr>
                        <m:t>𝑥</m:t>
                      </m:r>
                      <m:r>
                        <a:rPr lang="en-US" sz="4800" b="0" i="1" smtClean="0">
                          <a:latin typeface="Cambria Math" charset="0"/>
                        </a:rPr>
                        <m:t>+</m:t>
                      </m:r>
                      <m:r>
                        <a:rPr lang="en-US" sz="4800" b="0" i="1" smtClean="0">
                          <a:latin typeface="Cambria Math" charset="0"/>
                        </a:rPr>
                        <m:t>𝑏</m:t>
                      </m:r>
                    </m:oMath>
                  </m:oMathPara>
                </a14:m>
                <a:endParaRPr lang="en-US" sz="4800" dirty="0"/>
              </a:p>
            </p:txBody>
          </p:sp>
        </mc:Choice>
        <mc:Fallback xmlns="">
          <p:sp>
            <p:nvSpPr>
              <p:cNvPr id="6" name="TextBox 5"/>
              <p:cNvSpPr txBox="1">
                <a:spLocks noRot="1" noChangeAspect="1" noMove="1" noResize="1" noEditPoints="1" noAdjustHandles="1" noChangeArrowheads="1" noChangeShapeType="1" noTextEdit="1"/>
              </p:cNvSpPr>
              <p:nvPr/>
            </p:nvSpPr>
            <p:spPr>
              <a:xfrm>
                <a:off x="3490912" y="3962400"/>
                <a:ext cx="5105400" cy="738664"/>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2506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Mathematical Description of a Neuron</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3719512" y="5305009"/>
                <a:ext cx="3429000"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𝑎</m:t>
                      </m:r>
                      <m:r>
                        <a:rPr lang="en-US" sz="4800" b="0" i="1" smtClean="0">
                          <a:latin typeface="Cambria Math" charset="0"/>
                        </a:rPr>
                        <m:t>=</m:t>
                      </m:r>
                      <m:r>
                        <a:rPr lang="en-US" sz="4800" b="0" i="1" smtClean="0">
                          <a:latin typeface="Cambria Math" charset="0"/>
                        </a:rPr>
                        <m:t>𝑓</m:t>
                      </m:r>
                      <m:d>
                        <m:dPr>
                          <m:ctrlPr>
                            <a:rPr lang="en-US" sz="4800" b="0" i="1" smtClean="0">
                              <a:latin typeface="Cambria Math" panose="02040503050406030204" pitchFamily="18" charset="0"/>
                            </a:rPr>
                          </m:ctrlPr>
                        </m:dPr>
                        <m:e>
                          <m:r>
                            <a:rPr lang="en-US" sz="4800" b="0" i="1" smtClean="0">
                              <a:latin typeface="Cambria Math" charset="0"/>
                            </a:rPr>
                            <m:t>𝑧</m:t>
                          </m:r>
                        </m:e>
                      </m:d>
                      <m:r>
                        <a:rPr lang="en-US" sz="4800" b="0" i="1" smtClean="0">
                          <a:latin typeface="Cambria Math" charset="0"/>
                        </a:rPr>
                        <m:t> </m:t>
                      </m:r>
                    </m:oMath>
                  </m:oMathPara>
                </a14:m>
                <a:endParaRPr lang="en-US" sz="4800" dirty="0"/>
              </a:p>
            </p:txBody>
          </p:sp>
        </mc:Choice>
        <mc:Fallback xmlns="">
          <p:sp>
            <p:nvSpPr>
              <p:cNvPr id="4" name="TextBox 3"/>
              <p:cNvSpPr txBox="1">
                <a:spLocks noRot="1" noChangeAspect="1" noMove="1" noResize="1" noEditPoints="1" noAdjustHandles="1" noChangeArrowheads="1" noChangeShapeType="1" noTextEdit="1"/>
              </p:cNvSpPr>
              <p:nvPr/>
            </p:nvSpPr>
            <p:spPr>
              <a:xfrm>
                <a:off x="3719512" y="5305009"/>
                <a:ext cx="3429000" cy="738664"/>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932136" y="1600200"/>
                <a:ext cx="5105400" cy="20163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𝑧</m:t>
                      </m:r>
                      <m:r>
                        <a:rPr lang="en-US" sz="4800" b="0" i="1" smtClean="0">
                          <a:latin typeface="Cambria Math" charset="0"/>
                        </a:rPr>
                        <m:t>=</m:t>
                      </m:r>
                      <m:r>
                        <a:rPr lang="en-US" sz="4800" b="0" i="1" smtClean="0">
                          <a:latin typeface="Cambria Math" charset="0"/>
                        </a:rPr>
                        <m:t>𝑏</m:t>
                      </m:r>
                      <m:r>
                        <a:rPr lang="en-US" sz="4800" b="0" i="1" smtClean="0">
                          <a:latin typeface="Cambria Math" charset="0"/>
                        </a:rPr>
                        <m:t>+ </m:t>
                      </m:r>
                      <m:nary>
                        <m:naryPr>
                          <m:chr m:val="∑"/>
                          <m:ctrlPr>
                            <a:rPr lang="is-IS" sz="4800" b="0" i="1" smtClean="0">
                              <a:latin typeface="Cambria Math" panose="02040503050406030204" pitchFamily="18" charset="0"/>
                            </a:rPr>
                          </m:ctrlPr>
                        </m:naryPr>
                        <m:sub>
                          <m:r>
                            <m:rPr>
                              <m:brk m:alnAt="23"/>
                            </m:rPr>
                            <a:rPr lang="en-US" sz="4800" b="0" i="1" smtClean="0">
                              <a:latin typeface="Cambria Math" charset="0"/>
                            </a:rPr>
                            <m:t>𝑖</m:t>
                          </m:r>
                          <m:r>
                            <a:rPr lang="en-US" sz="4800" b="0" i="1" smtClean="0">
                              <a:latin typeface="Cambria Math" charset="0"/>
                            </a:rPr>
                            <m:t>=1</m:t>
                          </m:r>
                        </m:sub>
                        <m:sup>
                          <m:r>
                            <a:rPr lang="en-US" sz="4800" b="0" i="1" smtClean="0">
                              <a:latin typeface="Cambria Math" charset="0"/>
                            </a:rPr>
                            <m:t>𝑚</m:t>
                          </m:r>
                        </m:sup>
                        <m:e>
                          <m:sSub>
                            <m:sSubPr>
                              <m:ctrlPr>
                                <a:rPr lang="en-US" sz="4800" b="0" i="1" smtClean="0">
                                  <a:latin typeface="Cambria Math" panose="02040503050406030204" pitchFamily="18" charset="0"/>
                                </a:rPr>
                              </m:ctrlPr>
                            </m:sSubPr>
                            <m:e>
                              <m:r>
                                <a:rPr lang="en-US" sz="4800" b="0" i="1" smtClean="0">
                                  <a:latin typeface="Cambria Math" charset="0"/>
                                </a:rPr>
                                <m:t>𝑊</m:t>
                              </m:r>
                            </m:e>
                            <m:sub>
                              <m:r>
                                <a:rPr lang="en-US" sz="4800" b="0" i="1" smtClean="0">
                                  <a:latin typeface="Cambria Math" charset="0"/>
                                </a:rPr>
                                <m:t>𝑖</m:t>
                              </m:r>
                            </m:sub>
                          </m:sSub>
                          <m:r>
                            <a:rPr lang="en-US" sz="4800" b="0" i="1" smtClean="0">
                              <a:latin typeface="Cambria Math" charset="0"/>
                            </a:rPr>
                            <m:t>⋅</m:t>
                          </m:r>
                          <m:sSub>
                            <m:sSubPr>
                              <m:ctrlPr>
                                <a:rPr lang="en-US" sz="4800" b="0" i="1" smtClean="0">
                                  <a:latin typeface="Cambria Math" panose="02040503050406030204" pitchFamily="18" charset="0"/>
                                </a:rPr>
                              </m:ctrlPr>
                            </m:sSubPr>
                            <m:e>
                              <m:r>
                                <a:rPr lang="en-US" sz="4800" b="0" i="1" smtClean="0">
                                  <a:latin typeface="Cambria Math" charset="0"/>
                                </a:rPr>
                                <m:t>𝑥</m:t>
                              </m:r>
                            </m:e>
                            <m:sub>
                              <m:r>
                                <a:rPr lang="en-US" sz="4800" b="0" i="1" smtClean="0">
                                  <a:latin typeface="Cambria Math" charset="0"/>
                                </a:rPr>
                                <m:t>𝑖</m:t>
                              </m:r>
                            </m:sub>
                          </m:sSub>
                        </m:e>
                      </m:nary>
                    </m:oMath>
                  </m:oMathPara>
                </a14:m>
                <a:endParaRPr lang="en-US" sz="4800" dirty="0"/>
              </a:p>
            </p:txBody>
          </p:sp>
        </mc:Choice>
        <mc:Fallback xmlns="">
          <p:sp>
            <p:nvSpPr>
              <p:cNvPr id="5" name="TextBox 4"/>
              <p:cNvSpPr txBox="1">
                <a:spLocks noRot="1" noChangeAspect="1" noMove="1" noResize="1" noEditPoints="1" noAdjustHandles="1" noChangeArrowheads="1" noChangeShapeType="1" noTextEdit="1"/>
              </p:cNvSpPr>
              <p:nvPr/>
            </p:nvSpPr>
            <p:spPr>
              <a:xfrm>
                <a:off x="3932136" y="1600200"/>
                <a:ext cx="5105400" cy="2016386"/>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490912" y="3962400"/>
                <a:ext cx="5105400"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m:t>
                      </m:r>
                      <m:sSup>
                        <m:sSupPr>
                          <m:ctrlPr>
                            <a:rPr lang="en-US" sz="4800" b="0" i="1" smtClean="0">
                              <a:latin typeface="Cambria Math" panose="02040503050406030204" pitchFamily="18" charset="0"/>
                            </a:rPr>
                          </m:ctrlPr>
                        </m:sSupPr>
                        <m:e>
                          <m:r>
                            <a:rPr lang="en-US" sz="4800" b="0" i="1" smtClean="0">
                              <a:latin typeface="Cambria Math" charset="0"/>
                            </a:rPr>
                            <m:t>𝑊</m:t>
                          </m:r>
                        </m:e>
                        <m:sup>
                          <m:r>
                            <a:rPr lang="en-US" sz="4800" b="0" i="1" smtClean="0">
                              <a:latin typeface="Cambria Math" charset="0"/>
                            </a:rPr>
                            <m:t>𝑡</m:t>
                          </m:r>
                        </m:sup>
                      </m:sSup>
                      <m:r>
                        <a:rPr lang="en-US" sz="4800" b="0" i="1" smtClean="0">
                          <a:latin typeface="Cambria Math" charset="0"/>
                        </a:rPr>
                        <m:t>𝑥</m:t>
                      </m:r>
                      <m:r>
                        <a:rPr lang="en-US" sz="4800" b="0" i="1" smtClean="0">
                          <a:latin typeface="Cambria Math" charset="0"/>
                        </a:rPr>
                        <m:t>+</m:t>
                      </m:r>
                      <m:r>
                        <a:rPr lang="en-US" sz="4800" b="0" i="1" smtClean="0">
                          <a:latin typeface="Cambria Math" charset="0"/>
                        </a:rPr>
                        <m:t>𝑏</m:t>
                      </m:r>
                    </m:oMath>
                  </m:oMathPara>
                </a14:m>
                <a:endParaRPr lang="en-US" sz="4800" dirty="0"/>
              </a:p>
            </p:txBody>
          </p:sp>
        </mc:Choice>
        <mc:Fallback xmlns="">
          <p:sp>
            <p:nvSpPr>
              <p:cNvPr id="6" name="TextBox 5"/>
              <p:cNvSpPr txBox="1">
                <a:spLocks noRot="1" noChangeAspect="1" noMove="1" noResize="1" noEditPoints="1" noAdjustHandles="1" noChangeArrowheads="1" noChangeShapeType="1" noTextEdit="1"/>
              </p:cNvSpPr>
              <p:nvPr/>
            </p:nvSpPr>
            <p:spPr>
              <a:xfrm>
                <a:off x="3490912" y="3962400"/>
                <a:ext cx="5105400" cy="738664"/>
              </a:xfrm>
              <a:prstGeom prst="rect">
                <a:avLst/>
              </a:prstGeom>
              <a:blipFill rotWithShape="0">
                <a:blip r:embed="rId5"/>
                <a:stretch>
                  <a:fillRect/>
                </a:stretch>
              </a:blipFill>
            </p:spPr>
            <p:txBody>
              <a:bodyPr/>
              <a:lstStyle/>
              <a:p>
                <a:r>
                  <a:rPr lang="en-US">
                    <a:noFill/>
                  </a:rPr>
                  <a:t> </a:t>
                </a:r>
              </a:p>
            </p:txBody>
          </p:sp>
        </mc:Fallback>
      </mc:AlternateContent>
      <p:cxnSp>
        <p:nvCxnSpPr>
          <p:cNvPr id="7" name="Straight Arrow Connector 6"/>
          <p:cNvCxnSpPr/>
          <p:nvPr/>
        </p:nvCxnSpPr>
        <p:spPr>
          <a:xfrm flipH="1" flipV="1">
            <a:off x="8761412" y="3124200"/>
            <a:ext cx="457200" cy="4923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218612" y="3439180"/>
            <a:ext cx="1591846" cy="523220"/>
          </a:xfrm>
          <a:prstGeom prst="rect">
            <a:avLst/>
          </a:prstGeom>
          <a:noFill/>
        </p:spPr>
        <p:txBody>
          <a:bodyPr wrap="none" rtlCol="0">
            <a:spAutoFit/>
          </a:bodyPr>
          <a:lstStyle/>
          <a:p>
            <a:r>
              <a:rPr lang="en-US" sz="2800" dirty="0" smtClean="0">
                <a:solidFill>
                  <a:srgbClr val="FF0000"/>
                </a:solidFill>
              </a:rPr>
              <a:t>m inputs</a:t>
            </a:r>
            <a:endParaRPr lang="en-US" sz="2800" dirty="0">
              <a:solidFill>
                <a:srgbClr val="FF0000"/>
              </a:solidFill>
            </a:endParaRPr>
          </a:p>
        </p:txBody>
      </p:sp>
      <p:cxnSp>
        <p:nvCxnSpPr>
          <p:cNvPr id="10" name="Straight Arrow Connector 9"/>
          <p:cNvCxnSpPr/>
          <p:nvPr/>
        </p:nvCxnSpPr>
        <p:spPr>
          <a:xfrm flipV="1">
            <a:off x="3387966" y="2672225"/>
            <a:ext cx="544170" cy="14717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80867" y="2801937"/>
            <a:ext cx="2468946" cy="523220"/>
          </a:xfrm>
          <a:prstGeom prst="rect">
            <a:avLst/>
          </a:prstGeom>
          <a:noFill/>
        </p:spPr>
        <p:txBody>
          <a:bodyPr wrap="none" rtlCol="0">
            <a:spAutoFit/>
          </a:bodyPr>
          <a:lstStyle/>
          <a:p>
            <a:r>
              <a:rPr lang="en-US" sz="2800" dirty="0" smtClean="0">
                <a:solidFill>
                  <a:srgbClr val="FF0000"/>
                </a:solidFill>
              </a:rPr>
              <a:t>z = net input</a:t>
            </a:r>
            <a:endParaRPr lang="en-US" sz="2800" dirty="0">
              <a:solidFill>
                <a:srgbClr val="FF0000"/>
              </a:solidFill>
            </a:endParaRPr>
          </a:p>
        </p:txBody>
      </p:sp>
    </p:spTree>
    <p:extLst>
      <p:ext uri="{BB962C8B-B14F-4D97-AF65-F5344CB8AC3E}">
        <p14:creationId xmlns:p14="http://schemas.microsoft.com/office/powerpoint/2010/main" val="20107346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Mathematical Description of a Neuron</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3719512" y="5305009"/>
                <a:ext cx="3429000"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𝑎</m:t>
                      </m:r>
                      <m:r>
                        <a:rPr lang="en-US" sz="4800" b="0" i="1" smtClean="0">
                          <a:latin typeface="Cambria Math" charset="0"/>
                        </a:rPr>
                        <m:t>=</m:t>
                      </m:r>
                      <m:r>
                        <a:rPr lang="en-US" sz="4800" b="0" i="1" smtClean="0">
                          <a:latin typeface="Cambria Math" charset="0"/>
                        </a:rPr>
                        <m:t>𝑓</m:t>
                      </m:r>
                      <m:d>
                        <m:dPr>
                          <m:ctrlPr>
                            <a:rPr lang="en-US" sz="4800" b="0" i="1" smtClean="0">
                              <a:latin typeface="Cambria Math" panose="02040503050406030204" pitchFamily="18" charset="0"/>
                            </a:rPr>
                          </m:ctrlPr>
                        </m:dPr>
                        <m:e>
                          <m:r>
                            <a:rPr lang="en-US" sz="4800" b="0" i="1" smtClean="0">
                              <a:latin typeface="Cambria Math" charset="0"/>
                            </a:rPr>
                            <m:t>𝑧</m:t>
                          </m:r>
                        </m:e>
                      </m:d>
                      <m:r>
                        <a:rPr lang="en-US" sz="4800" b="0" i="1" smtClean="0">
                          <a:latin typeface="Cambria Math" charset="0"/>
                        </a:rPr>
                        <m:t> </m:t>
                      </m:r>
                    </m:oMath>
                  </m:oMathPara>
                </a14:m>
                <a:endParaRPr lang="en-US" sz="4800" dirty="0"/>
              </a:p>
            </p:txBody>
          </p:sp>
        </mc:Choice>
        <mc:Fallback xmlns="">
          <p:sp>
            <p:nvSpPr>
              <p:cNvPr id="4" name="TextBox 3"/>
              <p:cNvSpPr txBox="1">
                <a:spLocks noRot="1" noChangeAspect="1" noMove="1" noResize="1" noEditPoints="1" noAdjustHandles="1" noChangeArrowheads="1" noChangeShapeType="1" noTextEdit="1"/>
              </p:cNvSpPr>
              <p:nvPr/>
            </p:nvSpPr>
            <p:spPr>
              <a:xfrm>
                <a:off x="3719512" y="5305009"/>
                <a:ext cx="3429000" cy="738664"/>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932136" y="1600200"/>
                <a:ext cx="5105400" cy="20163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𝑧</m:t>
                      </m:r>
                      <m:r>
                        <a:rPr lang="en-US" sz="4800" b="0" i="1" smtClean="0">
                          <a:latin typeface="Cambria Math" charset="0"/>
                        </a:rPr>
                        <m:t>=</m:t>
                      </m:r>
                      <m:r>
                        <a:rPr lang="en-US" sz="4800" b="0" i="1" smtClean="0">
                          <a:latin typeface="Cambria Math" charset="0"/>
                        </a:rPr>
                        <m:t>𝑏</m:t>
                      </m:r>
                      <m:r>
                        <a:rPr lang="en-US" sz="4800" b="0" i="1" smtClean="0">
                          <a:latin typeface="Cambria Math" charset="0"/>
                        </a:rPr>
                        <m:t>+ </m:t>
                      </m:r>
                      <m:nary>
                        <m:naryPr>
                          <m:chr m:val="∑"/>
                          <m:ctrlPr>
                            <a:rPr lang="is-IS" sz="4800" b="0" i="1" smtClean="0">
                              <a:latin typeface="Cambria Math" panose="02040503050406030204" pitchFamily="18" charset="0"/>
                            </a:rPr>
                          </m:ctrlPr>
                        </m:naryPr>
                        <m:sub>
                          <m:r>
                            <m:rPr>
                              <m:brk m:alnAt="23"/>
                            </m:rPr>
                            <a:rPr lang="en-US" sz="4800" b="0" i="1" smtClean="0">
                              <a:latin typeface="Cambria Math" charset="0"/>
                            </a:rPr>
                            <m:t>𝑖</m:t>
                          </m:r>
                          <m:r>
                            <a:rPr lang="en-US" sz="4800" b="0" i="1" smtClean="0">
                              <a:latin typeface="Cambria Math" charset="0"/>
                            </a:rPr>
                            <m:t>=1</m:t>
                          </m:r>
                        </m:sub>
                        <m:sup>
                          <m:r>
                            <a:rPr lang="en-US" sz="4800" b="0" i="1" smtClean="0">
                              <a:latin typeface="Cambria Math" charset="0"/>
                            </a:rPr>
                            <m:t>𝑚</m:t>
                          </m:r>
                        </m:sup>
                        <m:e>
                          <m:sSub>
                            <m:sSubPr>
                              <m:ctrlPr>
                                <a:rPr lang="en-US" sz="4800" b="0" i="1" smtClean="0">
                                  <a:latin typeface="Cambria Math" panose="02040503050406030204" pitchFamily="18" charset="0"/>
                                </a:rPr>
                              </m:ctrlPr>
                            </m:sSubPr>
                            <m:e>
                              <m:r>
                                <a:rPr lang="en-US" sz="4800" b="0" i="1" smtClean="0">
                                  <a:latin typeface="Cambria Math" charset="0"/>
                                </a:rPr>
                                <m:t>𝑊</m:t>
                              </m:r>
                            </m:e>
                            <m:sub>
                              <m:r>
                                <a:rPr lang="en-US" sz="4800" b="0" i="1" smtClean="0">
                                  <a:latin typeface="Cambria Math" charset="0"/>
                                </a:rPr>
                                <m:t>𝑖</m:t>
                              </m:r>
                            </m:sub>
                          </m:sSub>
                          <m:r>
                            <a:rPr lang="en-US" sz="4800" b="0" i="1" smtClean="0">
                              <a:latin typeface="Cambria Math" charset="0"/>
                            </a:rPr>
                            <m:t>⋅</m:t>
                          </m:r>
                          <m:sSub>
                            <m:sSubPr>
                              <m:ctrlPr>
                                <a:rPr lang="en-US" sz="4800" b="0" i="1" smtClean="0">
                                  <a:latin typeface="Cambria Math" panose="02040503050406030204" pitchFamily="18" charset="0"/>
                                </a:rPr>
                              </m:ctrlPr>
                            </m:sSubPr>
                            <m:e>
                              <m:r>
                                <a:rPr lang="en-US" sz="4800" b="0" i="1" smtClean="0">
                                  <a:latin typeface="Cambria Math" charset="0"/>
                                </a:rPr>
                                <m:t>𝑥</m:t>
                              </m:r>
                            </m:e>
                            <m:sub>
                              <m:r>
                                <a:rPr lang="en-US" sz="4800" b="0" i="1" smtClean="0">
                                  <a:latin typeface="Cambria Math" charset="0"/>
                                </a:rPr>
                                <m:t>𝑖</m:t>
                              </m:r>
                            </m:sub>
                          </m:sSub>
                        </m:e>
                      </m:nary>
                    </m:oMath>
                  </m:oMathPara>
                </a14:m>
                <a:endParaRPr lang="en-US" sz="4800" dirty="0"/>
              </a:p>
            </p:txBody>
          </p:sp>
        </mc:Choice>
        <mc:Fallback xmlns="">
          <p:sp>
            <p:nvSpPr>
              <p:cNvPr id="5" name="TextBox 4"/>
              <p:cNvSpPr txBox="1">
                <a:spLocks noRot="1" noChangeAspect="1" noMove="1" noResize="1" noEditPoints="1" noAdjustHandles="1" noChangeArrowheads="1" noChangeShapeType="1" noTextEdit="1"/>
              </p:cNvSpPr>
              <p:nvPr/>
            </p:nvSpPr>
            <p:spPr>
              <a:xfrm>
                <a:off x="3932136" y="1600200"/>
                <a:ext cx="5105400" cy="2016386"/>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490912" y="3962400"/>
                <a:ext cx="5105400"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m:t>
                      </m:r>
                      <m:sSup>
                        <m:sSupPr>
                          <m:ctrlPr>
                            <a:rPr lang="en-US" sz="4800" b="0" i="1" smtClean="0">
                              <a:latin typeface="Cambria Math" panose="02040503050406030204" pitchFamily="18" charset="0"/>
                            </a:rPr>
                          </m:ctrlPr>
                        </m:sSupPr>
                        <m:e>
                          <m:r>
                            <a:rPr lang="en-US" sz="4800" b="0" i="1" smtClean="0">
                              <a:latin typeface="Cambria Math" charset="0"/>
                            </a:rPr>
                            <m:t>𝑊</m:t>
                          </m:r>
                        </m:e>
                        <m:sup>
                          <m:r>
                            <a:rPr lang="en-US" sz="4800" b="0" i="1" smtClean="0">
                              <a:latin typeface="Cambria Math" charset="0"/>
                            </a:rPr>
                            <m:t>𝑡</m:t>
                          </m:r>
                        </m:sup>
                      </m:sSup>
                      <m:r>
                        <a:rPr lang="en-US" sz="4800" b="0" i="1" smtClean="0">
                          <a:latin typeface="Cambria Math" charset="0"/>
                        </a:rPr>
                        <m:t>𝑥</m:t>
                      </m:r>
                      <m:r>
                        <a:rPr lang="en-US" sz="4800" b="0" i="1" smtClean="0">
                          <a:latin typeface="Cambria Math" charset="0"/>
                        </a:rPr>
                        <m:t>+</m:t>
                      </m:r>
                      <m:r>
                        <a:rPr lang="en-US" sz="4800" b="0" i="1" smtClean="0">
                          <a:latin typeface="Cambria Math" charset="0"/>
                        </a:rPr>
                        <m:t>𝑏</m:t>
                      </m:r>
                    </m:oMath>
                  </m:oMathPara>
                </a14:m>
                <a:endParaRPr lang="en-US" sz="4800" dirty="0"/>
              </a:p>
            </p:txBody>
          </p:sp>
        </mc:Choice>
        <mc:Fallback xmlns="">
          <p:sp>
            <p:nvSpPr>
              <p:cNvPr id="6" name="TextBox 5"/>
              <p:cNvSpPr txBox="1">
                <a:spLocks noRot="1" noChangeAspect="1" noMove="1" noResize="1" noEditPoints="1" noAdjustHandles="1" noChangeArrowheads="1" noChangeShapeType="1" noTextEdit="1"/>
              </p:cNvSpPr>
              <p:nvPr/>
            </p:nvSpPr>
            <p:spPr>
              <a:xfrm>
                <a:off x="3490912" y="3962400"/>
                <a:ext cx="5105400" cy="738664"/>
              </a:xfrm>
              <a:prstGeom prst="rect">
                <a:avLst/>
              </a:prstGeom>
              <a:blipFill rotWithShape="0">
                <a:blip r:embed="rId4"/>
                <a:stretch>
                  <a:fillRect/>
                </a:stretch>
              </a:blipFill>
            </p:spPr>
            <p:txBody>
              <a:bodyPr/>
              <a:lstStyle/>
              <a:p>
                <a:r>
                  <a:rPr lang="en-US">
                    <a:noFill/>
                  </a:rPr>
                  <a:t> </a:t>
                </a:r>
              </a:p>
            </p:txBody>
          </p:sp>
        </mc:Fallback>
      </mc:AlternateContent>
      <p:cxnSp>
        <p:nvCxnSpPr>
          <p:cNvPr id="10" name="Straight Arrow Connector 9"/>
          <p:cNvCxnSpPr/>
          <p:nvPr/>
        </p:nvCxnSpPr>
        <p:spPr>
          <a:xfrm>
            <a:off x="4494212" y="3962400"/>
            <a:ext cx="609600" cy="936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75417" y="3473311"/>
            <a:ext cx="1918795" cy="523220"/>
          </a:xfrm>
          <a:prstGeom prst="rect">
            <a:avLst/>
          </a:prstGeom>
          <a:noFill/>
        </p:spPr>
        <p:txBody>
          <a:bodyPr wrap="none" rtlCol="0">
            <a:spAutoFit/>
          </a:bodyPr>
          <a:lstStyle/>
          <a:p>
            <a:r>
              <a:rPr lang="en-US" sz="2800" smtClean="0">
                <a:solidFill>
                  <a:srgbClr val="FF0000"/>
                </a:solidFill>
              </a:rPr>
              <a:t>Vectorized</a:t>
            </a:r>
            <a:endParaRPr lang="en-US" sz="2800" dirty="0">
              <a:solidFill>
                <a:srgbClr val="FF0000"/>
              </a:solidFill>
            </a:endParaRPr>
          </a:p>
        </p:txBody>
      </p:sp>
    </p:spTree>
    <p:extLst>
      <p:ext uri="{BB962C8B-B14F-4D97-AF65-F5344CB8AC3E}">
        <p14:creationId xmlns:p14="http://schemas.microsoft.com/office/powerpoint/2010/main" val="1198984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Mathematical Description of a Neuron</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3719512" y="5305009"/>
                <a:ext cx="3429000"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𝑎</m:t>
                      </m:r>
                      <m:r>
                        <a:rPr lang="en-US" sz="4800" b="0" i="1" smtClean="0">
                          <a:latin typeface="Cambria Math" charset="0"/>
                        </a:rPr>
                        <m:t>=</m:t>
                      </m:r>
                      <m:r>
                        <a:rPr lang="en-US" sz="4800" b="0" i="1" smtClean="0">
                          <a:latin typeface="Cambria Math" charset="0"/>
                        </a:rPr>
                        <m:t>𝑓</m:t>
                      </m:r>
                      <m:d>
                        <m:dPr>
                          <m:ctrlPr>
                            <a:rPr lang="en-US" sz="4800" b="0" i="1" smtClean="0">
                              <a:latin typeface="Cambria Math" panose="02040503050406030204" pitchFamily="18" charset="0"/>
                            </a:rPr>
                          </m:ctrlPr>
                        </m:dPr>
                        <m:e>
                          <m:r>
                            <a:rPr lang="en-US" sz="4800" b="0" i="1" smtClean="0">
                              <a:latin typeface="Cambria Math" charset="0"/>
                            </a:rPr>
                            <m:t>𝑧</m:t>
                          </m:r>
                        </m:e>
                      </m:d>
                      <m:r>
                        <a:rPr lang="en-US" sz="4800" b="0" i="1" smtClean="0">
                          <a:latin typeface="Cambria Math" charset="0"/>
                        </a:rPr>
                        <m:t> </m:t>
                      </m:r>
                    </m:oMath>
                  </m:oMathPara>
                </a14:m>
                <a:endParaRPr lang="en-US" sz="4800" dirty="0"/>
              </a:p>
            </p:txBody>
          </p:sp>
        </mc:Choice>
        <mc:Fallback xmlns="">
          <p:sp>
            <p:nvSpPr>
              <p:cNvPr id="4" name="TextBox 3"/>
              <p:cNvSpPr txBox="1">
                <a:spLocks noRot="1" noChangeAspect="1" noMove="1" noResize="1" noEditPoints="1" noAdjustHandles="1" noChangeArrowheads="1" noChangeShapeType="1" noTextEdit="1"/>
              </p:cNvSpPr>
              <p:nvPr/>
            </p:nvSpPr>
            <p:spPr>
              <a:xfrm>
                <a:off x="3719512" y="5305009"/>
                <a:ext cx="3429000" cy="738664"/>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932136" y="1600200"/>
                <a:ext cx="5105400" cy="20163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𝑧</m:t>
                      </m:r>
                      <m:r>
                        <a:rPr lang="en-US" sz="4800" b="0" i="1" smtClean="0">
                          <a:latin typeface="Cambria Math" charset="0"/>
                        </a:rPr>
                        <m:t>=</m:t>
                      </m:r>
                      <m:r>
                        <a:rPr lang="en-US" sz="4800" b="0" i="1" smtClean="0">
                          <a:latin typeface="Cambria Math" charset="0"/>
                        </a:rPr>
                        <m:t>𝑏</m:t>
                      </m:r>
                      <m:r>
                        <a:rPr lang="en-US" sz="4800" b="0" i="1" smtClean="0">
                          <a:latin typeface="Cambria Math" charset="0"/>
                        </a:rPr>
                        <m:t>+ </m:t>
                      </m:r>
                      <m:nary>
                        <m:naryPr>
                          <m:chr m:val="∑"/>
                          <m:ctrlPr>
                            <a:rPr lang="is-IS" sz="4800" b="0" i="1" smtClean="0">
                              <a:latin typeface="Cambria Math" panose="02040503050406030204" pitchFamily="18" charset="0"/>
                            </a:rPr>
                          </m:ctrlPr>
                        </m:naryPr>
                        <m:sub>
                          <m:r>
                            <m:rPr>
                              <m:brk m:alnAt="23"/>
                            </m:rPr>
                            <a:rPr lang="en-US" sz="4800" b="0" i="1" smtClean="0">
                              <a:latin typeface="Cambria Math" charset="0"/>
                            </a:rPr>
                            <m:t>𝑖</m:t>
                          </m:r>
                          <m:r>
                            <a:rPr lang="en-US" sz="4800" b="0" i="1" smtClean="0">
                              <a:latin typeface="Cambria Math" charset="0"/>
                            </a:rPr>
                            <m:t>=1</m:t>
                          </m:r>
                        </m:sub>
                        <m:sup>
                          <m:r>
                            <a:rPr lang="en-US" sz="4800" b="0" i="1" smtClean="0">
                              <a:latin typeface="Cambria Math" charset="0"/>
                            </a:rPr>
                            <m:t>𝑚</m:t>
                          </m:r>
                        </m:sup>
                        <m:e>
                          <m:sSub>
                            <m:sSubPr>
                              <m:ctrlPr>
                                <a:rPr lang="en-US" sz="4800" b="0" i="1" smtClean="0">
                                  <a:latin typeface="Cambria Math" panose="02040503050406030204" pitchFamily="18" charset="0"/>
                                </a:rPr>
                              </m:ctrlPr>
                            </m:sSubPr>
                            <m:e>
                              <m:r>
                                <a:rPr lang="en-US" sz="4800" b="0" i="1" smtClean="0">
                                  <a:latin typeface="Cambria Math" charset="0"/>
                                </a:rPr>
                                <m:t>𝑊</m:t>
                              </m:r>
                            </m:e>
                            <m:sub>
                              <m:r>
                                <a:rPr lang="en-US" sz="4800" b="0" i="1" smtClean="0">
                                  <a:latin typeface="Cambria Math" charset="0"/>
                                </a:rPr>
                                <m:t>𝑖</m:t>
                              </m:r>
                            </m:sub>
                          </m:sSub>
                          <m:r>
                            <a:rPr lang="en-US" sz="4800" b="0" i="1" smtClean="0">
                              <a:latin typeface="Cambria Math" charset="0"/>
                            </a:rPr>
                            <m:t>⋅</m:t>
                          </m:r>
                          <m:sSub>
                            <m:sSubPr>
                              <m:ctrlPr>
                                <a:rPr lang="en-US" sz="4800" b="0" i="1" smtClean="0">
                                  <a:latin typeface="Cambria Math" panose="02040503050406030204" pitchFamily="18" charset="0"/>
                                </a:rPr>
                              </m:ctrlPr>
                            </m:sSubPr>
                            <m:e>
                              <m:r>
                                <a:rPr lang="en-US" sz="4800" b="0" i="1" smtClean="0">
                                  <a:latin typeface="Cambria Math" charset="0"/>
                                </a:rPr>
                                <m:t>𝑥</m:t>
                              </m:r>
                            </m:e>
                            <m:sub>
                              <m:r>
                                <a:rPr lang="en-US" sz="4800" b="0" i="1" smtClean="0">
                                  <a:latin typeface="Cambria Math" charset="0"/>
                                </a:rPr>
                                <m:t>𝑖</m:t>
                              </m:r>
                            </m:sub>
                          </m:sSub>
                        </m:e>
                      </m:nary>
                    </m:oMath>
                  </m:oMathPara>
                </a14:m>
                <a:endParaRPr lang="en-US" sz="4800" dirty="0"/>
              </a:p>
            </p:txBody>
          </p:sp>
        </mc:Choice>
        <mc:Fallback xmlns="">
          <p:sp>
            <p:nvSpPr>
              <p:cNvPr id="5" name="TextBox 4"/>
              <p:cNvSpPr txBox="1">
                <a:spLocks noRot="1" noChangeAspect="1" noMove="1" noResize="1" noEditPoints="1" noAdjustHandles="1" noChangeArrowheads="1" noChangeShapeType="1" noTextEdit="1"/>
              </p:cNvSpPr>
              <p:nvPr/>
            </p:nvSpPr>
            <p:spPr>
              <a:xfrm>
                <a:off x="3932136" y="1600200"/>
                <a:ext cx="5105400" cy="2016386"/>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490912" y="3962400"/>
                <a:ext cx="5105400" cy="7386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800" b="0" i="1" smtClean="0">
                          <a:latin typeface="Cambria Math" charset="0"/>
                        </a:rPr>
                        <m:t>=</m:t>
                      </m:r>
                      <m:sSup>
                        <m:sSupPr>
                          <m:ctrlPr>
                            <a:rPr lang="en-US" sz="4800" b="0" i="1" smtClean="0">
                              <a:latin typeface="Cambria Math" panose="02040503050406030204" pitchFamily="18" charset="0"/>
                            </a:rPr>
                          </m:ctrlPr>
                        </m:sSupPr>
                        <m:e>
                          <m:r>
                            <a:rPr lang="en-US" sz="4800" b="0" i="1" smtClean="0">
                              <a:latin typeface="Cambria Math" charset="0"/>
                            </a:rPr>
                            <m:t>𝑊</m:t>
                          </m:r>
                        </m:e>
                        <m:sup>
                          <m:r>
                            <a:rPr lang="en-US" sz="4800" b="0" i="1" smtClean="0">
                              <a:latin typeface="Cambria Math" charset="0"/>
                            </a:rPr>
                            <m:t>𝑡</m:t>
                          </m:r>
                        </m:sup>
                      </m:sSup>
                      <m:r>
                        <a:rPr lang="en-US" sz="4800" b="0" i="1" smtClean="0">
                          <a:latin typeface="Cambria Math" charset="0"/>
                        </a:rPr>
                        <m:t>𝑥</m:t>
                      </m:r>
                      <m:r>
                        <a:rPr lang="en-US" sz="4800" b="0" i="1" smtClean="0">
                          <a:latin typeface="Cambria Math" charset="0"/>
                        </a:rPr>
                        <m:t>+</m:t>
                      </m:r>
                      <m:r>
                        <a:rPr lang="en-US" sz="4800" b="0" i="1" smtClean="0">
                          <a:latin typeface="Cambria Math" charset="0"/>
                        </a:rPr>
                        <m:t>𝑏</m:t>
                      </m:r>
                    </m:oMath>
                  </m:oMathPara>
                </a14:m>
                <a:endParaRPr lang="en-US" sz="4800" dirty="0"/>
              </a:p>
            </p:txBody>
          </p:sp>
        </mc:Choice>
        <mc:Fallback xmlns="">
          <p:sp>
            <p:nvSpPr>
              <p:cNvPr id="6" name="TextBox 5"/>
              <p:cNvSpPr txBox="1">
                <a:spLocks noRot="1" noChangeAspect="1" noMove="1" noResize="1" noEditPoints="1" noAdjustHandles="1" noChangeArrowheads="1" noChangeShapeType="1" noTextEdit="1"/>
              </p:cNvSpPr>
              <p:nvPr/>
            </p:nvSpPr>
            <p:spPr>
              <a:xfrm>
                <a:off x="3490912" y="3962400"/>
                <a:ext cx="5105400" cy="738664"/>
              </a:xfrm>
              <a:prstGeom prst="rect">
                <a:avLst/>
              </a:prstGeom>
              <a:blipFill rotWithShape="0">
                <a:blip r:embed="rId5"/>
                <a:stretch>
                  <a:fillRect/>
                </a:stretch>
              </a:blipFill>
            </p:spPr>
            <p:txBody>
              <a:bodyPr/>
              <a:lstStyle/>
              <a:p>
                <a:r>
                  <a:rPr lang="en-US">
                    <a:noFill/>
                  </a:rPr>
                  <a:t> </a:t>
                </a:r>
              </a:p>
            </p:txBody>
          </p:sp>
        </mc:Fallback>
      </mc:AlternateContent>
      <p:cxnSp>
        <p:nvCxnSpPr>
          <p:cNvPr id="10" name="Straight Arrow Connector 9"/>
          <p:cNvCxnSpPr/>
          <p:nvPr/>
        </p:nvCxnSpPr>
        <p:spPr>
          <a:xfrm>
            <a:off x="3627336" y="5305009"/>
            <a:ext cx="485876" cy="2575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579148" y="4781789"/>
            <a:ext cx="2773003" cy="523220"/>
          </a:xfrm>
          <a:prstGeom prst="rect">
            <a:avLst/>
          </a:prstGeom>
          <a:noFill/>
        </p:spPr>
        <p:txBody>
          <a:bodyPr wrap="none" rtlCol="0">
            <a:spAutoFit/>
          </a:bodyPr>
          <a:lstStyle/>
          <a:p>
            <a:r>
              <a:rPr lang="en-US" sz="2800" dirty="0" smtClean="0">
                <a:solidFill>
                  <a:srgbClr val="FF0000"/>
                </a:solidFill>
              </a:rPr>
              <a:t>Activation value</a:t>
            </a:r>
            <a:endParaRPr lang="en-US" sz="2800" dirty="0">
              <a:solidFill>
                <a:srgbClr val="FF0000"/>
              </a:solidFill>
            </a:endParaRPr>
          </a:p>
        </p:txBody>
      </p:sp>
      <p:cxnSp>
        <p:nvCxnSpPr>
          <p:cNvPr id="9" name="Straight Arrow Connector 8"/>
          <p:cNvCxnSpPr/>
          <p:nvPr/>
        </p:nvCxnSpPr>
        <p:spPr>
          <a:xfrm flipH="1">
            <a:off x="5865812" y="5069977"/>
            <a:ext cx="532939" cy="2350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484836" y="4737948"/>
            <a:ext cx="3495776" cy="523220"/>
          </a:xfrm>
          <a:prstGeom prst="rect">
            <a:avLst/>
          </a:prstGeom>
          <a:noFill/>
        </p:spPr>
        <p:txBody>
          <a:bodyPr wrap="square" rtlCol="0">
            <a:spAutoFit/>
          </a:bodyPr>
          <a:lstStyle/>
          <a:p>
            <a:r>
              <a:rPr lang="en-US" sz="2800" dirty="0" smtClean="0">
                <a:solidFill>
                  <a:srgbClr val="FF0000"/>
                </a:solidFill>
              </a:rPr>
              <a:t>Activation function</a:t>
            </a:r>
            <a:endParaRPr lang="en-US" sz="2800" dirty="0">
              <a:solidFill>
                <a:srgbClr val="FF0000"/>
              </a:solidFill>
            </a:endParaRPr>
          </a:p>
        </p:txBody>
      </p:sp>
    </p:spTree>
    <p:extLst>
      <p:ext uri="{BB962C8B-B14F-4D97-AF65-F5344CB8AC3E}">
        <p14:creationId xmlns:p14="http://schemas.microsoft.com/office/powerpoint/2010/main" val="10383852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Inside a single </a:t>
            </a:r>
            <a:r>
              <a:rPr lang="en-US" dirty="0" smtClean="0"/>
              <a:t>neuron (</a:t>
            </a:r>
            <a:r>
              <a:rPr lang="en-US" dirty="0" err="1" smtClean="0"/>
              <a:t>TensorFlow</a:t>
            </a:r>
            <a:r>
              <a:rPr lang="en-US" dirty="0" smtClean="0"/>
              <a:t> graph)</a:t>
            </a:r>
            <a:endParaRPr lang="en-US" dirty="0"/>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a:endCxn id="15" idx="2"/>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sp>
          <p:nvSpPr>
            <p:cNvPr id="15" name="Oval 14"/>
            <p:cNvSpPr/>
            <p:nvPr/>
          </p:nvSpPr>
          <p:spPr>
            <a:xfrm>
              <a:off x="7494224" y="3511106"/>
              <a:ext cx="902582" cy="90258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cxnSp>
          <p:nvCxnSpPr>
            <p:cNvPr id="20" name="Straight Arrow Connector 19"/>
            <p:cNvCxnSpPr>
              <a:cxnSpLocks/>
              <a:stCxn id="15" idx="6"/>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Tree>
    <p:extLst>
      <p:ext uri="{BB962C8B-B14F-4D97-AF65-F5344CB8AC3E}">
        <p14:creationId xmlns:p14="http://schemas.microsoft.com/office/powerpoint/2010/main" val="913164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Inside a single neuron (</a:t>
            </a:r>
            <a:r>
              <a:rPr lang="en-US" dirty="0" err="1"/>
              <a:t>TensorFlow</a:t>
            </a:r>
            <a:r>
              <a:rPr lang="en-US" dirty="0"/>
              <a:t> graph)</a:t>
            </a:r>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3" name="Rounded Rectangle 2"/>
          <p:cNvSpPr/>
          <p:nvPr/>
        </p:nvSpPr>
        <p:spPr>
          <a:xfrm>
            <a:off x="1630055" y="2286000"/>
            <a:ext cx="7167976" cy="41148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p:cNvSpPr txBox="1"/>
              <p:nvPr/>
            </p:nvSpPr>
            <p:spPr>
              <a:xfrm>
                <a:off x="2613459" y="1674488"/>
                <a:ext cx="5301644" cy="461665"/>
              </a:xfrm>
              <a:prstGeom prst="rect">
                <a:avLst/>
              </a:prstGeom>
              <a:noFill/>
            </p:spPr>
            <p:txBody>
              <a:bodyPr wrap="none" rtlCol="0">
                <a:spAutoFit/>
              </a:bodyPr>
              <a:lstStyle/>
              <a:p>
                <a:r>
                  <a:rPr lang="en-US" sz="2400" dirty="0" smtClean="0">
                    <a:solidFill>
                      <a:srgbClr val="FF0000"/>
                    </a:solidFill>
                  </a:rPr>
                  <a:t>Represents the function </a:t>
                </a:r>
                <a14:m>
                  <m:oMath xmlns:m="http://schemas.openxmlformats.org/officeDocument/2006/math">
                    <m:r>
                      <a:rPr lang="en-US" sz="2400" b="0" i="1" smtClean="0">
                        <a:solidFill>
                          <a:srgbClr val="FF0000"/>
                        </a:solidFill>
                        <a:latin typeface="Cambria Math" charset="0"/>
                      </a:rPr>
                      <m:t>𝑧</m:t>
                    </m:r>
                    <m:r>
                      <a:rPr lang="en-US" sz="2400" b="0" i="1" smtClean="0">
                        <a:solidFill>
                          <a:srgbClr val="FF0000"/>
                        </a:solidFill>
                        <a:latin typeface="Cambria Math" charset="0"/>
                      </a:rPr>
                      <m:t>=</m:t>
                    </m:r>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𝑊</m:t>
                        </m:r>
                      </m:e>
                      <m:sup>
                        <m:r>
                          <a:rPr lang="en-US" sz="2400" b="0" i="1" smtClean="0">
                            <a:solidFill>
                              <a:srgbClr val="FF0000"/>
                            </a:solidFill>
                            <a:latin typeface="Cambria Math" charset="0"/>
                          </a:rPr>
                          <m:t>𝑡</m:t>
                        </m:r>
                      </m:sup>
                    </m:sSup>
                    <m:r>
                      <a:rPr lang="en-US" sz="2400" b="0" i="1" smtClean="0">
                        <a:solidFill>
                          <a:srgbClr val="FF0000"/>
                        </a:solidFill>
                        <a:latin typeface="Cambria Math" charset="0"/>
                      </a:rPr>
                      <m:t>𝑋</m:t>
                    </m:r>
                    <m:r>
                      <a:rPr lang="en-US" sz="2400" b="0" i="1" smtClean="0">
                        <a:solidFill>
                          <a:srgbClr val="FF0000"/>
                        </a:solidFill>
                        <a:latin typeface="Cambria Math" charset="0"/>
                      </a:rPr>
                      <m:t>+</m:t>
                    </m:r>
                    <m:r>
                      <a:rPr lang="en-US" sz="2400" b="0" i="1" smtClean="0">
                        <a:solidFill>
                          <a:srgbClr val="FF0000"/>
                        </a:solidFill>
                        <a:latin typeface="Cambria Math" charset="0"/>
                      </a:rPr>
                      <m:t>𝑏</m:t>
                    </m:r>
                  </m:oMath>
                </a14:m>
                <a:endParaRPr lang="en-US" sz="2400" dirty="0">
                  <a:solidFill>
                    <a:srgbClr val="FF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2613459" y="1674488"/>
                <a:ext cx="5301644" cy="461665"/>
              </a:xfrm>
              <a:prstGeom prst="rect">
                <a:avLst/>
              </a:prstGeom>
              <a:blipFill rotWithShape="0">
                <a:blip r:embed="rId2"/>
                <a:stretch>
                  <a:fillRect l="-1841" t="-12000" b="-29333"/>
                </a:stretch>
              </a:blipFill>
            </p:spPr>
            <p:txBody>
              <a:bodyPr/>
              <a:lstStyle/>
              <a:p>
                <a:r>
                  <a:rPr lang="en-US">
                    <a:noFill/>
                  </a:rPr>
                  <a:t> </a:t>
                </a:r>
              </a:p>
            </p:txBody>
          </p:sp>
        </mc:Fallback>
      </mc:AlternateContent>
      <p:sp>
        <p:nvSpPr>
          <p:cNvPr id="18" name="Oval 17"/>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Tree>
    <p:extLst>
      <p:ext uri="{BB962C8B-B14F-4D97-AF65-F5344CB8AC3E}">
        <p14:creationId xmlns:p14="http://schemas.microsoft.com/office/powerpoint/2010/main" val="21163269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Inside a single neuron (</a:t>
            </a:r>
            <a:r>
              <a:rPr lang="en-US" dirty="0" err="1"/>
              <a:t>TensorFlow</a:t>
            </a:r>
            <a:r>
              <a:rPr lang="en-US" dirty="0"/>
              <a:t> graph)</a:t>
            </a:r>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3" name="Rounded Rectangle 2"/>
          <p:cNvSpPr/>
          <p:nvPr/>
        </p:nvSpPr>
        <p:spPr>
          <a:xfrm>
            <a:off x="8661069" y="3588001"/>
            <a:ext cx="2367376" cy="1669799"/>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p:cNvSpPr txBox="1"/>
              <p:nvPr/>
            </p:nvSpPr>
            <p:spPr>
              <a:xfrm>
                <a:off x="7157358" y="2540950"/>
                <a:ext cx="3823547" cy="830997"/>
              </a:xfrm>
              <a:prstGeom prst="rect">
                <a:avLst/>
              </a:prstGeom>
              <a:noFill/>
            </p:spPr>
            <p:txBody>
              <a:bodyPr wrap="none" rtlCol="0">
                <a:spAutoFit/>
              </a:bodyPr>
              <a:lstStyle/>
              <a:p>
                <a:pPr algn="r"/>
                <a:r>
                  <a:rPr lang="en-US" sz="2400" dirty="0" smtClean="0">
                    <a:solidFill>
                      <a:srgbClr val="FF0000"/>
                    </a:solidFill>
                  </a:rPr>
                  <a:t>Represents the activation </a:t>
                </a:r>
              </a:p>
              <a:p>
                <a:pPr algn="r"/>
                <a:r>
                  <a:rPr lang="en-US" sz="2400" dirty="0" smtClean="0">
                    <a:solidFill>
                      <a:srgbClr val="FF0000"/>
                    </a:solidFill>
                  </a:rPr>
                  <a:t>function </a:t>
                </a:r>
                <a14:m>
                  <m:oMath xmlns:m="http://schemas.openxmlformats.org/officeDocument/2006/math">
                    <m:r>
                      <a:rPr lang="en-US" sz="2400" b="0" i="1" smtClean="0">
                        <a:solidFill>
                          <a:srgbClr val="FF0000"/>
                        </a:solidFill>
                        <a:latin typeface="Cambria Math" charset="0"/>
                      </a:rPr>
                      <m:t>𝑎</m:t>
                    </m:r>
                    <m:r>
                      <a:rPr lang="en-US" sz="2400" b="0" i="1" smtClean="0">
                        <a:solidFill>
                          <a:srgbClr val="FF0000"/>
                        </a:solidFill>
                        <a:latin typeface="Cambria Math" charset="0"/>
                      </a:rPr>
                      <m:t>=</m:t>
                    </m:r>
                    <m:r>
                      <a:rPr lang="en-US" sz="2400" b="0" i="1" smtClean="0">
                        <a:solidFill>
                          <a:srgbClr val="FF0000"/>
                        </a:solidFill>
                        <a:latin typeface="Cambria Math" charset="0"/>
                      </a:rPr>
                      <m:t>𝑓</m:t>
                    </m:r>
                    <m:r>
                      <a:rPr lang="en-US" sz="2400" b="0" i="1" smtClean="0">
                        <a:solidFill>
                          <a:srgbClr val="FF0000"/>
                        </a:solidFill>
                        <a:latin typeface="Cambria Math" charset="0"/>
                        <a:ea typeface="Cambria Math" charset="0"/>
                        <a:cs typeface="Cambria Math" charset="0"/>
                      </a:rPr>
                      <m:t>(</m:t>
                    </m:r>
                    <m:r>
                      <a:rPr lang="en-US" sz="2400" b="0" i="1" smtClean="0">
                        <a:solidFill>
                          <a:srgbClr val="FF0000"/>
                        </a:solidFill>
                        <a:latin typeface="Cambria Math" charset="0"/>
                        <a:ea typeface="Cambria Math" charset="0"/>
                        <a:cs typeface="Cambria Math" charset="0"/>
                      </a:rPr>
                      <m:t>𝑧</m:t>
                    </m:r>
                    <m:r>
                      <a:rPr lang="en-US" sz="2400" b="0" i="1" smtClean="0">
                        <a:solidFill>
                          <a:srgbClr val="FF0000"/>
                        </a:solidFill>
                        <a:latin typeface="Cambria Math" charset="0"/>
                        <a:ea typeface="Cambria Math" charset="0"/>
                        <a:cs typeface="Cambria Math" charset="0"/>
                      </a:rPr>
                      <m:t>)</m:t>
                    </m:r>
                  </m:oMath>
                </a14:m>
                <a:endParaRPr lang="en-US" sz="2400" dirty="0">
                  <a:solidFill>
                    <a:srgbClr val="FF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7157358" y="2540950"/>
                <a:ext cx="3823547" cy="830997"/>
              </a:xfrm>
              <a:prstGeom prst="rect">
                <a:avLst/>
              </a:prstGeom>
              <a:blipFill rotWithShape="0">
                <a:blip r:embed="rId2"/>
                <a:stretch>
                  <a:fillRect l="-1435" t="-5882" r="-2552" b="-15441"/>
                </a:stretch>
              </a:blipFill>
            </p:spPr>
            <p:txBody>
              <a:bodyPr/>
              <a:lstStyle/>
              <a:p>
                <a:r>
                  <a:rPr lang="en-US">
                    <a:noFill/>
                  </a:rPr>
                  <a:t> </a:t>
                </a:r>
              </a:p>
            </p:txBody>
          </p:sp>
        </mc:Fallback>
      </mc:AlternateContent>
      <p:sp>
        <p:nvSpPr>
          <p:cNvPr id="18" name="Oval 17"/>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Tree>
    <p:extLst>
      <p:ext uri="{BB962C8B-B14F-4D97-AF65-F5344CB8AC3E}">
        <p14:creationId xmlns:p14="http://schemas.microsoft.com/office/powerpoint/2010/main" val="9792293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Inside a single neuron (</a:t>
            </a:r>
            <a:r>
              <a:rPr lang="en-US" dirty="0" err="1"/>
              <a:t>TensorFlow</a:t>
            </a:r>
            <a:r>
              <a:rPr lang="en-US" dirty="0"/>
              <a:t> graph)</a:t>
            </a:r>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4" name="TextBox 13"/>
          <p:cNvSpPr txBox="1"/>
          <p:nvPr/>
        </p:nvSpPr>
        <p:spPr>
          <a:xfrm>
            <a:off x="3272513" y="2029203"/>
            <a:ext cx="3219471" cy="400110"/>
          </a:xfrm>
          <a:prstGeom prst="rect">
            <a:avLst/>
          </a:prstGeom>
          <a:noFill/>
        </p:spPr>
        <p:txBody>
          <a:bodyPr wrap="none" rtlCol="0">
            <a:spAutoFit/>
          </a:bodyPr>
          <a:lstStyle/>
          <a:p>
            <a:r>
              <a:rPr lang="en-US" sz="2000" dirty="0" smtClean="0">
                <a:solidFill>
                  <a:srgbClr val="FF0000"/>
                </a:solidFill>
              </a:rPr>
              <a:t>X: [m x 1] vector of inputs</a:t>
            </a:r>
            <a:endParaRPr lang="en-US" sz="2000" dirty="0">
              <a:solidFill>
                <a:srgbClr val="FF0000"/>
              </a:solidFill>
            </a:endParaRPr>
          </a:p>
        </p:txBody>
      </p:sp>
      <p:sp>
        <p:nvSpPr>
          <p:cNvPr id="19" name="TextBox 18"/>
          <p:cNvSpPr txBox="1"/>
          <p:nvPr/>
        </p:nvSpPr>
        <p:spPr>
          <a:xfrm>
            <a:off x="1373123" y="3877177"/>
            <a:ext cx="3442289" cy="400110"/>
          </a:xfrm>
          <a:prstGeom prst="rect">
            <a:avLst/>
          </a:prstGeom>
          <a:noFill/>
        </p:spPr>
        <p:txBody>
          <a:bodyPr wrap="none" rtlCol="0">
            <a:spAutoFit/>
          </a:bodyPr>
          <a:lstStyle/>
          <a:p>
            <a:r>
              <a:rPr lang="en-US" sz="2000" dirty="0">
                <a:solidFill>
                  <a:srgbClr val="FF0000"/>
                </a:solidFill>
              </a:rPr>
              <a:t>W</a:t>
            </a:r>
            <a:r>
              <a:rPr lang="en-US" sz="2000" dirty="0" smtClean="0">
                <a:solidFill>
                  <a:srgbClr val="FF0000"/>
                </a:solidFill>
              </a:rPr>
              <a:t>: [m x 1] vector of weights</a:t>
            </a:r>
            <a:endParaRPr lang="en-US" sz="2000" dirty="0">
              <a:solidFill>
                <a:srgbClr val="FF0000"/>
              </a:solidFill>
            </a:endParaRPr>
          </a:p>
        </p:txBody>
      </p:sp>
      <p:sp>
        <p:nvSpPr>
          <p:cNvPr id="25" name="Oval 24"/>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
        <p:nvSpPr>
          <p:cNvPr id="18" name="TextBox 17"/>
          <p:cNvSpPr txBox="1"/>
          <p:nvPr/>
        </p:nvSpPr>
        <p:spPr>
          <a:xfrm>
            <a:off x="6735513" y="2609751"/>
            <a:ext cx="4181466" cy="400110"/>
          </a:xfrm>
          <a:prstGeom prst="rect">
            <a:avLst/>
          </a:prstGeom>
          <a:noFill/>
        </p:spPr>
        <p:txBody>
          <a:bodyPr wrap="none" rtlCol="0">
            <a:spAutoFit/>
          </a:bodyPr>
          <a:lstStyle/>
          <a:p>
            <a:r>
              <a:rPr lang="en-US" sz="2000" dirty="0" smtClean="0">
                <a:solidFill>
                  <a:srgbClr val="FF0000"/>
                </a:solidFill>
              </a:rPr>
              <a:t>(leaving out transpose op for now)</a:t>
            </a:r>
            <a:endParaRPr lang="en-US" sz="2000" dirty="0">
              <a:solidFill>
                <a:srgbClr val="FF0000"/>
              </a:solidFill>
            </a:endParaRPr>
          </a:p>
        </p:txBody>
      </p:sp>
    </p:spTree>
    <p:extLst>
      <p:ext uri="{BB962C8B-B14F-4D97-AF65-F5344CB8AC3E}">
        <p14:creationId xmlns:p14="http://schemas.microsoft.com/office/powerpoint/2010/main" val="10787173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Inside a single </a:t>
            </a:r>
            <a:r>
              <a:rPr lang="en-US" dirty="0"/>
              <a:t>neuron (</a:t>
            </a:r>
            <a:r>
              <a:rPr lang="en-US" dirty="0" err="1"/>
              <a:t>TensorFlow</a:t>
            </a:r>
            <a:r>
              <a:rPr lang="en-US" dirty="0"/>
              <a:t> graph)</a:t>
            </a:r>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8" name="TextBox 17"/>
          <p:cNvSpPr txBox="1"/>
          <p:nvPr/>
        </p:nvSpPr>
        <p:spPr>
          <a:xfrm>
            <a:off x="6660149" y="2782923"/>
            <a:ext cx="3202287" cy="400110"/>
          </a:xfrm>
          <a:prstGeom prst="rect">
            <a:avLst/>
          </a:prstGeom>
          <a:noFill/>
        </p:spPr>
        <p:txBody>
          <a:bodyPr wrap="none" rtlCol="0">
            <a:spAutoFit/>
          </a:bodyPr>
          <a:lstStyle/>
          <a:p>
            <a:r>
              <a:rPr lang="en-US" sz="2000" dirty="0" smtClean="0">
                <a:solidFill>
                  <a:srgbClr val="FF0000"/>
                </a:solidFill>
              </a:rPr>
              <a:t>Result of </a:t>
            </a:r>
            <a:r>
              <a:rPr lang="en-US" sz="2000" dirty="0" err="1" smtClean="0">
                <a:solidFill>
                  <a:srgbClr val="FF0000"/>
                </a:solidFill>
              </a:rPr>
              <a:t>matmul</a:t>
            </a:r>
            <a:r>
              <a:rPr lang="en-US" sz="2000" dirty="0" smtClean="0">
                <a:solidFill>
                  <a:srgbClr val="FF0000"/>
                </a:solidFill>
              </a:rPr>
              <a:t> is scalar</a:t>
            </a:r>
            <a:endParaRPr lang="en-US" sz="2000" dirty="0">
              <a:solidFill>
                <a:srgbClr val="FF0000"/>
              </a:solidFill>
            </a:endParaRPr>
          </a:p>
        </p:txBody>
      </p:sp>
      <p:sp>
        <p:nvSpPr>
          <p:cNvPr id="22" name="TextBox 21"/>
          <p:cNvSpPr txBox="1"/>
          <p:nvPr/>
        </p:nvSpPr>
        <p:spPr>
          <a:xfrm>
            <a:off x="6624776" y="5555164"/>
            <a:ext cx="1795876" cy="400110"/>
          </a:xfrm>
          <a:prstGeom prst="rect">
            <a:avLst/>
          </a:prstGeom>
          <a:noFill/>
        </p:spPr>
        <p:txBody>
          <a:bodyPr wrap="none" rtlCol="0">
            <a:spAutoFit/>
          </a:bodyPr>
          <a:lstStyle/>
          <a:p>
            <a:r>
              <a:rPr lang="en-US" sz="2000" dirty="0" smtClean="0">
                <a:solidFill>
                  <a:srgbClr val="FF0000"/>
                </a:solidFill>
              </a:rPr>
              <a:t>Bias is scalar </a:t>
            </a:r>
          </a:p>
        </p:txBody>
      </p:sp>
      <p:sp>
        <p:nvSpPr>
          <p:cNvPr id="23" name="Oval 22"/>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Tree>
    <p:extLst>
      <p:ext uri="{BB962C8B-B14F-4D97-AF65-F5344CB8AC3E}">
        <p14:creationId xmlns:p14="http://schemas.microsoft.com/office/powerpoint/2010/main" val="1048868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Inside a single neuron (</a:t>
            </a:r>
            <a:r>
              <a:rPr lang="en-US" dirty="0" err="1"/>
              <a:t>TensorFlow</a:t>
            </a:r>
            <a:r>
              <a:rPr lang="en-US" dirty="0"/>
              <a:t> graph)</a:t>
            </a:r>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8" name="TextBox 17"/>
          <p:cNvSpPr txBox="1"/>
          <p:nvPr/>
        </p:nvSpPr>
        <p:spPr>
          <a:xfrm>
            <a:off x="7157358" y="3149871"/>
            <a:ext cx="3506088" cy="400110"/>
          </a:xfrm>
          <a:prstGeom prst="rect">
            <a:avLst/>
          </a:prstGeom>
          <a:noFill/>
        </p:spPr>
        <p:txBody>
          <a:bodyPr wrap="none" rtlCol="0">
            <a:spAutoFit/>
          </a:bodyPr>
          <a:lstStyle/>
          <a:p>
            <a:r>
              <a:rPr lang="en-US" sz="2000" dirty="0" smtClean="0">
                <a:solidFill>
                  <a:srgbClr val="FF0000"/>
                </a:solidFill>
              </a:rPr>
              <a:t>The add operation outputs </a:t>
            </a:r>
            <a:r>
              <a:rPr lang="en-US" sz="2000" dirty="0">
                <a:solidFill>
                  <a:srgbClr val="FF0000"/>
                </a:solidFill>
              </a:rPr>
              <a:t>z</a:t>
            </a:r>
          </a:p>
        </p:txBody>
      </p:sp>
      <p:sp>
        <p:nvSpPr>
          <p:cNvPr id="19" name="Oval 18"/>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
        <p:nvSpPr>
          <p:cNvPr id="14" name="Rectangle 13"/>
          <p:cNvSpPr/>
          <p:nvPr/>
        </p:nvSpPr>
        <p:spPr>
          <a:xfrm>
            <a:off x="8562409" y="3970383"/>
            <a:ext cx="295274" cy="369332"/>
          </a:xfrm>
          <a:prstGeom prst="rect">
            <a:avLst/>
          </a:prstGeom>
        </p:spPr>
        <p:txBody>
          <a:bodyPr wrap="none">
            <a:spAutoFit/>
          </a:bodyPr>
          <a:lstStyle/>
          <a:p>
            <a:r>
              <a:rPr lang="en-US">
                <a:solidFill>
                  <a:srgbClr val="FF0000"/>
                </a:solidFill>
              </a:rPr>
              <a:t>z</a:t>
            </a:r>
            <a:endParaRPr lang="en-US"/>
          </a:p>
        </p:txBody>
      </p:sp>
    </p:spTree>
    <p:extLst>
      <p:ext uri="{BB962C8B-B14F-4D97-AF65-F5344CB8AC3E}">
        <p14:creationId xmlns:p14="http://schemas.microsoft.com/office/powerpoint/2010/main" val="1643693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Inside a single neuron (</a:t>
            </a:r>
            <a:r>
              <a:rPr lang="en-US" dirty="0" err="1"/>
              <a:t>TensorFlow</a:t>
            </a:r>
            <a:r>
              <a:rPr lang="en-US" dirty="0"/>
              <a:t> graph)</a:t>
            </a:r>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8" name="TextBox 17"/>
          <p:cNvSpPr txBox="1"/>
          <p:nvPr/>
        </p:nvSpPr>
        <p:spPr>
          <a:xfrm>
            <a:off x="7483250" y="2421146"/>
            <a:ext cx="3984745" cy="1015663"/>
          </a:xfrm>
          <a:prstGeom prst="rect">
            <a:avLst/>
          </a:prstGeom>
          <a:noFill/>
        </p:spPr>
        <p:txBody>
          <a:bodyPr wrap="none" rtlCol="0">
            <a:spAutoFit/>
          </a:bodyPr>
          <a:lstStyle/>
          <a:p>
            <a:pPr algn="r"/>
            <a:r>
              <a:rPr lang="en-US" sz="2000" dirty="0" smtClean="0">
                <a:solidFill>
                  <a:srgbClr val="FF0000"/>
                </a:solidFill>
              </a:rPr>
              <a:t>The activation function applies </a:t>
            </a:r>
          </a:p>
          <a:p>
            <a:pPr algn="r"/>
            <a:r>
              <a:rPr lang="en-US" sz="2000" dirty="0" smtClean="0">
                <a:solidFill>
                  <a:srgbClr val="FF0000"/>
                </a:solidFill>
              </a:rPr>
              <a:t>a non-linear transformation and </a:t>
            </a:r>
          </a:p>
          <a:p>
            <a:pPr algn="r"/>
            <a:r>
              <a:rPr lang="en-US" sz="2000" dirty="0" smtClean="0">
                <a:solidFill>
                  <a:srgbClr val="FF0000"/>
                </a:solidFill>
              </a:rPr>
              <a:t>passes it along to the next layer</a:t>
            </a:r>
            <a:endParaRPr lang="en-US" sz="2000" dirty="0">
              <a:solidFill>
                <a:srgbClr val="FF0000"/>
              </a:solidFill>
            </a:endParaRPr>
          </a:p>
        </p:txBody>
      </p:sp>
      <p:sp>
        <p:nvSpPr>
          <p:cNvPr id="19" name="Oval 18"/>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
        <p:nvSpPr>
          <p:cNvPr id="22" name="Rounded Rectangle 21"/>
          <p:cNvSpPr/>
          <p:nvPr/>
        </p:nvSpPr>
        <p:spPr>
          <a:xfrm>
            <a:off x="9134703" y="3588001"/>
            <a:ext cx="2367376" cy="1669799"/>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35251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Batched version</a:t>
            </a:r>
            <a:endParaRPr lang="en-US" dirty="0"/>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4" name="TextBox 13"/>
          <p:cNvSpPr txBox="1"/>
          <p:nvPr/>
        </p:nvSpPr>
        <p:spPr>
          <a:xfrm>
            <a:off x="3272513" y="2029203"/>
            <a:ext cx="4379532" cy="400110"/>
          </a:xfrm>
          <a:prstGeom prst="rect">
            <a:avLst/>
          </a:prstGeom>
          <a:noFill/>
        </p:spPr>
        <p:txBody>
          <a:bodyPr wrap="none" rtlCol="0">
            <a:spAutoFit/>
          </a:bodyPr>
          <a:lstStyle/>
          <a:p>
            <a:r>
              <a:rPr lang="en-US" sz="2000" dirty="0" smtClean="0">
                <a:solidFill>
                  <a:srgbClr val="FF0000"/>
                </a:solidFill>
              </a:rPr>
              <a:t>X: [n x m] matrix of inputs (batched)</a:t>
            </a:r>
            <a:endParaRPr lang="en-US" sz="2000" dirty="0">
              <a:solidFill>
                <a:srgbClr val="FF0000"/>
              </a:solidFill>
            </a:endParaRPr>
          </a:p>
        </p:txBody>
      </p:sp>
      <p:sp>
        <p:nvSpPr>
          <p:cNvPr id="19" name="TextBox 18"/>
          <p:cNvSpPr txBox="1"/>
          <p:nvPr/>
        </p:nvSpPr>
        <p:spPr>
          <a:xfrm>
            <a:off x="1373123" y="3877177"/>
            <a:ext cx="3442289" cy="400110"/>
          </a:xfrm>
          <a:prstGeom prst="rect">
            <a:avLst/>
          </a:prstGeom>
          <a:noFill/>
        </p:spPr>
        <p:txBody>
          <a:bodyPr wrap="none" rtlCol="0">
            <a:spAutoFit/>
          </a:bodyPr>
          <a:lstStyle/>
          <a:p>
            <a:r>
              <a:rPr lang="en-US" sz="2000" dirty="0">
                <a:solidFill>
                  <a:srgbClr val="FF0000"/>
                </a:solidFill>
              </a:rPr>
              <a:t>W</a:t>
            </a:r>
            <a:r>
              <a:rPr lang="en-US" sz="2000" dirty="0" smtClean="0">
                <a:solidFill>
                  <a:srgbClr val="FF0000"/>
                </a:solidFill>
              </a:rPr>
              <a:t>: [m x 1] vector of weights</a:t>
            </a:r>
            <a:endParaRPr lang="en-US" sz="2000" dirty="0">
              <a:solidFill>
                <a:srgbClr val="FF0000"/>
              </a:solidFill>
            </a:endParaRPr>
          </a:p>
        </p:txBody>
      </p:sp>
      <p:sp>
        <p:nvSpPr>
          <p:cNvPr id="25" name="Oval 24"/>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Tree>
    <p:extLst>
      <p:ext uri="{BB962C8B-B14F-4D97-AF65-F5344CB8AC3E}">
        <p14:creationId xmlns:p14="http://schemas.microsoft.com/office/powerpoint/2010/main" val="8822996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Batched version</a:t>
            </a:r>
            <a:endParaRPr lang="en-US" dirty="0"/>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8" name="TextBox 17"/>
          <p:cNvSpPr txBox="1"/>
          <p:nvPr/>
        </p:nvSpPr>
        <p:spPr>
          <a:xfrm>
            <a:off x="6660149" y="2782923"/>
            <a:ext cx="3544175" cy="707886"/>
          </a:xfrm>
          <a:prstGeom prst="rect">
            <a:avLst/>
          </a:prstGeom>
          <a:noFill/>
        </p:spPr>
        <p:txBody>
          <a:bodyPr wrap="none" rtlCol="0">
            <a:spAutoFit/>
          </a:bodyPr>
          <a:lstStyle/>
          <a:p>
            <a:r>
              <a:rPr lang="en-US" sz="2000" dirty="0" smtClean="0">
                <a:solidFill>
                  <a:srgbClr val="FF0000"/>
                </a:solidFill>
              </a:rPr>
              <a:t>Result of </a:t>
            </a:r>
            <a:r>
              <a:rPr lang="en-US" sz="2000" dirty="0" err="1" smtClean="0">
                <a:solidFill>
                  <a:srgbClr val="FF0000"/>
                </a:solidFill>
              </a:rPr>
              <a:t>matmul</a:t>
            </a:r>
            <a:r>
              <a:rPr lang="en-US" sz="2000" dirty="0" smtClean="0">
                <a:solidFill>
                  <a:srgbClr val="FF0000"/>
                </a:solidFill>
              </a:rPr>
              <a:t> is vector </a:t>
            </a:r>
          </a:p>
          <a:p>
            <a:r>
              <a:rPr lang="en-US" sz="2000" dirty="0" smtClean="0">
                <a:solidFill>
                  <a:srgbClr val="FF0000"/>
                </a:solidFill>
              </a:rPr>
              <a:t>(one entry for each example)</a:t>
            </a:r>
            <a:endParaRPr lang="en-US" sz="2000" dirty="0">
              <a:solidFill>
                <a:srgbClr val="FF0000"/>
              </a:solidFill>
            </a:endParaRPr>
          </a:p>
        </p:txBody>
      </p:sp>
      <p:sp>
        <p:nvSpPr>
          <p:cNvPr id="22" name="TextBox 21"/>
          <p:cNvSpPr txBox="1"/>
          <p:nvPr/>
        </p:nvSpPr>
        <p:spPr>
          <a:xfrm>
            <a:off x="6624776" y="5555164"/>
            <a:ext cx="4793235" cy="707886"/>
          </a:xfrm>
          <a:prstGeom prst="rect">
            <a:avLst/>
          </a:prstGeom>
          <a:noFill/>
        </p:spPr>
        <p:txBody>
          <a:bodyPr wrap="none" rtlCol="0">
            <a:spAutoFit/>
          </a:bodyPr>
          <a:lstStyle/>
          <a:p>
            <a:r>
              <a:rPr lang="en-US" sz="2000" dirty="0" smtClean="0">
                <a:solidFill>
                  <a:srgbClr val="FF0000"/>
                </a:solidFill>
              </a:rPr>
              <a:t>Bias is scalar </a:t>
            </a:r>
          </a:p>
          <a:p>
            <a:r>
              <a:rPr lang="en-US" sz="2000" dirty="0" smtClean="0">
                <a:solidFill>
                  <a:srgbClr val="FF0000"/>
                </a:solidFill>
              </a:rPr>
              <a:t>(each prediction gets same bias added)</a:t>
            </a:r>
            <a:endParaRPr lang="en-US" sz="2000" dirty="0">
              <a:solidFill>
                <a:srgbClr val="FF0000"/>
              </a:solidFill>
            </a:endParaRPr>
          </a:p>
        </p:txBody>
      </p:sp>
      <p:sp>
        <p:nvSpPr>
          <p:cNvPr id="23" name="Oval 22"/>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Tree>
    <p:extLst>
      <p:ext uri="{BB962C8B-B14F-4D97-AF65-F5344CB8AC3E}">
        <p14:creationId xmlns:p14="http://schemas.microsoft.com/office/powerpoint/2010/main" val="4355341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Batched version</a:t>
            </a:r>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8" name="TextBox 17"/>
          <p:cNvSpPr txBox="1"/>
          <p:nvPr/>
        </p:nvSpPr>
        <p:spPr>
          <a:xfrm>
            <a:off x="7008812" y="2971800"/>
            <a:ext cx="4881657" cy="707886"/>
          </a:xfrm>
          <a:prstGeom prst="rect">
            <a:avLst/>
          </a:prstGeom>
          <a:noFill/>
        </p:spPr>
        <p:txBody>
          <a:bodyPr wrap="none" rtlCol="0">
            <a:spAutoFit/>
          </a:bodyPr>
          <a:lstStyle/>
          <a:p>
            <a:r>
              <a:rPr lang="en-US" sz="2000" dirty="0" smtClean="0">
                <a:solidFill>
                  <a:srgbClr val="FF0000"/>
                </a:solidFill>
              </a:rPr>
              <a:t>The add operation outputs z as a vector</a:t>
            </a:r>
          </a:p>
          <a:p>
            <a:r>
              <a:rPr lang="en-US" sz="2000" dirty="0" smtClean="0">
                <a:solidFill>
                  <a:srgbClr val="FF0000"/>
                </a:solidFill>
              </a:rPr>
              <a:t>one entry for each example</a:t>
            </a:r>
            <a:endParaRPr lang="en-US" sz="2000" dirty="0">
              <a:solidFill>
                <a:srgbClr val="FF0000"/>
              </a:solidFill>
            </a:endParaRPr>
          </a:p>
        </p:txBody>
      </p:sp>
      <p:sp>
        <p:nvSpPr>
          <p:cNvPr id="19" name="Oval 18"/>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
        <p:nvSpPr>
          <p:cNvPr id="14" name="Rectangle 13"/>
          <p:cNvSpPr/>
          <p:nvPr/>
        </p:nvSpPr>
        <p:spPr>
          <a:xfrm>
            <a:off x="8562409" y="3970383"/>
            <a:ext cx="295274" cy="369332"/>
          </a:xfrm>
          <a:prstGeom prst="rect">
            <a:avLst/>
          </a:prstGeom>
        </p:spPr>
        <p:txBody>
          <a:bodyPr wrap="none">
            <a:spAutoFit/>
          </a:bodyPr>
          <a:lstStyle/>
          <a:p>
            <a:r>
              <a:rPr lang="en-US">
                <a:solidFill>
                  <a:srgbClr val="FF0000"/>
                </a:solidFill>
              </a:rPr>
              <a:t>z</a:t>
            </a:r>
            <a:endParaRPr lang="en-US"/>
          </a:p>
        </p:txBody>
      </p:sp>
    </p:spTree>
    <p:extLst>
      <p:ext uri="{BB962C8B-B14F-4D97-AF65-F5344CB8AC3E}">
        <p14:creationId xmlns:p14="http://schemas.microsoft.com/office/powerpoint/2010/main" val="1810895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Batched version</a:t>
            </a:r>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8" name="TextBox 17"/>
          <p:cNvSpPr txBox="1"/>
          <p:nvPr/>
        </p:nvSpPr>
        <p:spPr>
          <a:xfrm>
            <a:off x="7622395" y="2980469"/>
            <a:ext cx="3880485" cy="707886"/>
          </a:xfrm>
          <a:prstGeom prst="rect">
            <a:avLst/>
          </a:prstGeom>
          <a:noFill/>
        </p:spPr>
        <p:txBody>
          <a:bodyPr wrap="none" rtlCol="0">
            <a:spAutoFit/>
          </a:bodyPr>
          <a:lstStyle/>
          <a:p>
            <a:pPr algn="r"/>
            <a:r>
              <a:rPr lang="en-US" sz="2000" dirty="0" smtClean="0">
                <a:solidFill>
                  <a:srgbClr val="FF0000"/>
                </a:solidFill>
              </a:rPr>
              <a:t>Activation is a vector, one entry</a:t>
            </a:r>
          </a:p>
          <a:p>
            <a:pPr algn="r"/>
            <a:r>
              <a:rPr lang="en-US" sz="2000" dirty="0">
                <a:solidFill>
                  <a:srgbClr val="FF0000"/>
                </a:solidFill>
              </a:rPr>
              <a:t>f</a:t>
            </a:r>
            <a:r>
              <a:rPr lang="en-US" sz="2000" dirty="0" smtClean="0">
                <a:solidFill>
                  <a:srgbClr val="FF0000"/>
                </a:solidFill>
              </a:rPr>
              <a:t>or each input example</a:t>
            </a:r>
            <a:endParaRPr lang="en-US" sz="2000" dirty="0">
              <a:solidFill>
                <a:srgbClr val="FF0000"/>
              </a:solidFill>
            </a:endParaRPr>
          </a:p>
        </p:txBody>
      </p:sp>
      <p:sp>
        <p:nvSpPr>
          <p:cNvPr id="19" name="Oval 18"/>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Tree>
    <p:extLst>
      <p:ext uri="{BB962C8B-B14F-4D97-AF65-F5344CB8AC3E}">
        <p14:creationId xmlns:p14="http://schemas.microsoft.com/office/powerpoint/2010/main" val="887956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classical visualization of neurons</a:t>
            </a:r>
            <a:endParaRPr lang="en-US" dirty="0"/>
          </a:p>
        </p:txBody>
      </p:sp>
      <mc:AlternateContent xmlns:mc="http://schemas.openxmlformats.org/markup-compatibility/2006" xmlns:a14="http://schemas.microsoft.com/office/drawing/2010/main">
        <mc:Choice Requires="a14">
          <p:sp>
            <p:nvSpPr>
              <p:cNvPr id="10" name="Oval 9"/>
              <p:cNvSpPr/>
              <p:nvPr/>
            </p:nvSpPr>
            <p:spPr>
              <a:xfrm>
                <a:off x="47448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744830" y="2417210"/>
                <a:ext cx="973917" cy="973917"/>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7448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744830" y="3678567"/>
                <a:ext cx="973917" cy="973917"/>
              </a:xfrm>
              <a:prstGeom prst="ellipse">
                <a:avLst/>
              </a:prstGeom>
              <a:blipFill rotWithShape="0">
                <a:blip r:embed="rId4"/>
                <a:stretch>
                  <a:fillRect/>
                </a:stretch>
              </a:blipFill>
            </p:spPr>
            <p:txBody>
              <a:bodyPr/>
              <a:lstStyle/>
              <a:p>
                <a:r>
                  <a:rPr lang="en-US">
                    <a:noFill/>
                  </a:rPr>
                  <a:t> </a:t>
                </a:r>
              </a:p>
            </p:txBody>
          </p:sp>
        </mc:Fallback>
      </mc:AlternateContent>
      <p:sp>
        <p:nvSpPr>
          <p:cNvPr id="12" name="Oval 11"/>
          <p:cNvSpPr/>
          <p:nvPr/>
        </p:nvSpPr>
        <p:spPr>
          <a:xfrm>
            <a:off x="47448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p:sp>
        <p:nvSpPr>
          <p:cNvPr id="17" name="Oval 16"/>
          <p:cNvSpPr/>
          <p:nvPr/>
        </p:nvSpPr>
        <p:spPr>
          <a:xfrm>
            <a:off x="67802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chemeClr val="tx2"/>
                </a:solidFill>
              </a:rPr>
              <a:t>a</a:t>
            </a:r>
            <a:endParaRPr lang="en-US" sz="2800" dirty="0">
              <a:solidFill>
                <a:schemeClr val="tx2"/>
              </a:solidFill>
            </a:endParaRPr>
          </a:p>
        </p:txBody>
      </p:sp>
      <p:cxnSp>
        <p:nvCxnSpPr>
          <p:cNvPr id="27" name="Straight Arrow Connector 26"/>
          <p:cNvCxnSpPr>
            <a:stCxn id="10" idx="6"/>
            <a:endCxn id="17" idx="1"/>
          </p:cNvCxnSpPr>
          <p:nvPr/>
        </p:nvCxnSpPr>
        <p:spPr>
          <a:xfrm>
            <a:off x="5718747" y="2904169"/>
            <a:ext cx="12040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5718747" y="4509857"/>
            <a:ext cx="12040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5718747" y="4165526"/>
            <a:ext cx="10614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38084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38084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7541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3373728" y="1817249"/>
            <a:ext cx="1181735" cy="523220"/>
          </a:xfrm>
          <a:prstGeom prst="rect">
            <a:avLst/>
          </a:prstGeom>
          <a:noFill/>
        </p:spPr>
        <p:txBody>
          <a:bodyPr wrap="none" rtlCol="0">
            <a:spAutoFit/>
          </a:bodyPr>
          <a:lstStyle/>
          <a:p>
            <a:pPr algn="r"/>
            <a:r>
              <a:rPr lang="en-US" sz="2800" dirty="0" smtClean="0">
                <a:solidFill>
                  <a:srgbClr val="FF0000"/>
                </a:solidFill>
              </a:rPr>
              <a:t>inputs</a:t>
            </a:r>
            <a:endParaRPr lang="en-US" sz="2000" dirty="0">
              <a:solidFill>
                <a:srgbClr val="FF0000"/>
              </a:solidFill>
            </a:endParaRPr>
          </a:p>
        </p:txBody>
      </p:sp>
      <p:sp>
        <p:nvSpPr>
          <p:cNvPr id="85" name="Rounded Rectangle 84"/>
          <p:cNvSpPr/>
          <p:nvPr/>
        </p:nvSpPr>
        <p:spPr>
          <a:xfrm>
            <a:off x="4555463" y="2291506"/>
            <a:ext cx="1288331" cy="2509094"/>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2736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classical visualization of neurons</a:t>
            </a:r>
            <a:endParaRPr lang="en-US" dirty="0"/>
          </a:p>
        </p:txBody>
      </p:sp>
      <mc:AlternateContent xmlns:mc="http://schemas.openxmlformats.org/markup-compatibility/2006" xmlns:a14="http://schemas.microsoft.com/office/drawing/2010/main">
        <mc:Choice Requires="a14">
          <p:sp>
            <p:nvSpPr>
              <p:cNvPr id="10" name="Oval 9"/>
              <p:cNvSpPr/>
              <p:nvPr/>
            </p:nvSpPr>
            <p:spPr>
              <a:xfrm>
                <a:off x="47448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744830" y="2417210"/>
                <a:ext cx="973917" cy="973917"/>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7448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744830" y="3678567"/>
                <a:ext cx="973917" cy="973917"/>
              </a:xfrm>
              <a:prstGeom prst="ellipse">
                <a:avLst/>
              </a:prstGeom>
              <a:blipFill rotWithShape="0">
                <a:blip r:embed="rId4"/>
                <a:stretch>
                  <a:fillRect/>
                </a:stretch>
              </a:blipFill>
            </p:spPr>
            <p:txBody>
              <a:bodyPr/>
              <a:lstStyle/>
              <a:p>
                <a:r>
                  <a:rPr lang="en-US">
                    <a:noFill/>
                  </a:rPr>
                  <a:t> </a:t>
                </a:r>
              </a:p>
            </p:txBody>
          </p:sp>
        </mc:Fallback>
      </mc:AlternateContent>
      <p:sp>
        <p:nvSpPr>
          <p:cNvPr id="12" name="Oval 11"/>
          <p:cNvSpPr/>
          <p:nvPr/>
        </p:nvSpPr>
        <p:spPr>
          <a:xfrm>
            <a:off x="47448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p:sp>
        <p:nvSpPr>
          <p:cNvPr id="17" name="Oval 16"/>
          <p:cNvSpPr/>
          <p:nvPr/>
        </p:nvSpPr>
        <p:spPr>
          <a:xfrm>
            <a:off x="67802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chemeClr val="tx2"/>
                </a:solidFill>
              </a:rPr>
              <a:t>a</a:t>
            </a:r>
            <a:endParaRPr lang="en-US" sz="2800" dirty="0">
              <a:solidFill>
                <a:schemeClr val="tx2"/>
              </a:solidFill>
            </a:endParaRPr>
          </a:p>
        </p:txBody>
      </p:sp>
      <p:cxnSp>
        <p:nvCxnSpPr>
          <p:cNvPr id="27" name="Straight Arrow Connector 26"/>
          <p:cNvCxnSpPr>
            <a:stCxn id="10" idx="6"/>
            <a:endCxn id="17" idx="1"/>
          </p:cNvCxnSpPr>
          <p:nvPr/>
        </p:nvCxnSpPr>
        <p:spPr>
          <a:xfrm>
            <a:off x="5718747" y="2904169"/>
            <a:ext cx="12040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5718747" y="4509857"/>
            <a:ext cx="12040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5718747" y="4165526"/>
            <a:ext cx="10614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38084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38084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7541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1812241" y="4913293"/>
            <a:ext cx="2241319" cy="954107"/>
          </a:xfrm>
          <a:prstGeom prst="rect">
            <a:avLst/>
          </a:prstGeom>
          <a:noFill/>
        </p:spPr>
        <p:txBody>
          <a:bodyPr wrap="none" rtlCol="0">
            <a:spAutoFit/>
          </a:bodyPr>
          <a:lstStyle/>
          <a:p>
            <a:pPr algn="ctr"/>
            <a:r>
              <a:rPr lang="en-US" sz="2800" dirty="0" smtClean="0">
                <a:solidFill>
                  <a:srgbClr val="FF0000"/>
                </a:solidFill>
              </a:rPr>
              <a:t>bias neuron</a:t>
            </a:r>
          </a:p>
          <a:p>
            <a:pPr algn="ctr"/>
            <a:r>
              <a:rPr lang="en-US" sz="2800" dirty="0" smtClean="0">
                <a:solidFill>
                  <a:srgbClr val="FF0000"/>
                </a:solidFill>
              </a:rPr>
              <a:t>(constant 1)</a:t>
            </a:r>
            <a:endParaRPr lang="en-US" sz="2800" dirty="0">
              <a:solidFill>
                <a:srgbClr val="FF0000"/>
              </a:solidFill>
            </a:endParaRPr>
          </a:p>
        </p:txBody>
      </p:sp>
      <p:sp>
        <p:nvSpPr>
          <p:cNvPr id="85" name="Rounded Rectangle 84"/>
          <p:cNvSpPr/>
          <p:nvPr/>
        </p:nvSpPr>
        <p:spPr>
          <a:xfrm>
            <a:off x="4622710" y="4876800"/>
            <a:ext cx="1288331" cy="11430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2369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classical visualization of neurons</a:t>
            </a:r>
            <a:endParaRPr lang="en-US" dirty="0"/>
          </a:p>
        </p:txBody>
      </p:sp>
      <mc:AlternateContent xmlns:mc="http://schemas.openxmlformats.org/markup-compatibility/2006" xmlns:a14="http://schemas.microsoft.com/office/drawing/2010/main">
        <mc:Choice Requires="a14">
          <p:sp>
            <p:nvSpPr>
              <p:cNvPr id="10" name="Oval 9"/>
              <p:cNvSpPr/>
              <p:nvPr/>
            </p:nvSpPr>
            <p:spPr>
              <a:xfrm>
                <a:off x="47448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7448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7448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7448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47448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p:sp>
        <p:nvSpPr>
          <p:cNvPr id="17" name="Oval 16"/>
          <p:cNvSpPr/>
          <p:nvPr/>
        </p:nvSpPr>
        <p:spPr>
          <a:xfrm>
            <a:off x="67802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chemeClr val="tx2"/>
                </a:solidFill>
              </a:rPr>
              <a:t>a</a:t>
            </a:r>
            <a:endParaRPr lang="en-US" sz="2800" dirty="0">
              <a:solidFill>
                <a:schemeClr val="tx2"/>
              </a:solidFill>
            </a:endParaRPr>
          </a:p>
        </p:txBody>
      </p:sp>
      <p:cxnSp>
        <p:nvCxnSpPr>
          <p:cNvPr id="27" name="Straight Arrow Connector 26"/>
          <p:cNvCxnSpPr>
            <a:stCxn id="10" idx="6"/>
            <a:endCxn id="17" idx="1"/>
          </p:cNvCxnSpPr>
          <p:nvPr/>
        </p:nvCxnSpPr>
        <p:spPr>
          <a:xfrm>
            <a:off x="5718747" y="2904169"/>
            <a:ext cx="12040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5718747" y="4509857"/>
            <a:ext cx="12040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5718747" y="4165526"/>
            <a:ext cx="10614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38084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38084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7541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7267170" y="2998964"/>
            <a:ext cx="3252301" cy="523220"/>
          </a:xfrm>
          <a:prstGeom prst="rect">
            <a:avLst/>
          </a:prstGeom>
          <a:noFill/>
        </p:spPr>
        <p:txBody>
          <a:bodyPr wrap="none" rtlCol="0">
            <a:spAutoFit/>
          </a:bodyPr>
          <a:lstStyle/>
          <a:p>
            <a:pPr algn="ctr"/>
            <a:r>
              <a:rPr lang="en-US" sz="2800" dirty="0" smtClean="0">
                <a:solidFill>
                  <a:srgbClr val="FF0000"/>
                </a:solidFill>
              </a:rPr>
              <a:t>Activation function</a:t>
            </a:r>
            <a:endParaRPr lang="en-US" sz="2800" dirty="0">
              <a:solidFill>
                <a:srgbClr val="FF0000"/>
              </a:solidFill>
            </a:endParaRPr>
          </a:p>
        </p:txBody>
      </p:sp>
      <p:sp>
        <p:nvSpPr>
          <p:cNvPr id="85" name="Rounded Rectangle 84"/>
          <p:cNvSpPr/>
          <p:nvPr/>
        </p:nvSpPr>
        <p:spPr>
          <a:xfrm>
            <a:off x="6623005" y="3594026"/>
            <a:ext cx="1288331" cy="11430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2121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are the weights?</a:t>
            </a:r>
            <a:endParaRPr lang="en-US" dirty="0"/>
          </a:p>
        </p:txBody>
      </p:sp>
      <mc:AlternateContent xmlns:mc="http://schemas.openxmlformats.org/markup-compatibility/2006" xmlns:a14="http://schemas.microsoft.com/office/drawing/2010/main">
        <mc:Choice Requires="a14">
          <p:sp>
            <p:nvSpPr>
              <p:cNvPr id="10" name="Oval 9"/>
              <p:cNvSpPr/>
              <p:nvPr/>
            </p:nvSpPr>
            <p:spPr>
              <a:xfrm>
                <a:off x="47448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7448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7448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7448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47448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p:sp>
        <p:nvSpPr>
          <p:cNvPr id="17" name="Oval 16"/>
          <p:cNvSpPr/>
          <p:nvPr/>
        </p:nvSpPr>
        <p:spPr>
          <a:xfrm>
            <a:off x="67802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chemeClr val="tx2"/>
                </a:solidFill>
              </a:rPr>
              <a:t>a</a:t>
            </a:r>
            <a:endParaRPr lang="en-US" sz="2800" dirty="0">
              <a:solidFill>
                <a:schemeClr val="tx2"/>
              </a:solidFill>
            </a:endParaRPr>
          </a:p>
        </p:txBody>
      </p:sp>
      <p:cxnSp>
        <p:nvCxnSpPr>
          <p:cNvPr id="27" name="Straight Arrow Connector 26"/>
          <p:cNvCxnSpPr>
            <a:stCxn id="10" idx="6"/>
            <a:endCxn id="17" idx="1"/>
          </p:cNvCxnSpPr>
          <p:nvPr/>
        </p:nvCxnSpPr>
        <p:spPr>
          <a:xfrm>
            <a:off x="5718747" y="2904169"/>
            <a:ext cx="12040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5718747" y="4509857"/>
            <a:ext cx="12040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5718747" y="4165526"/>
            <a:ext cx="10614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38084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38084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7541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5832751" y="1615031"/>
            <a:ext cx="5554598" cy="954107"/>
          </a:xfrm>
          <a:prstGeom prst="rect">
            <a:avLst/>
          </a:prstGeom>
          <a:noFill/>
        </p:spPr>
        <p:txBody>
          <a:bodyPr wrap="none" rtlCol="0">
            <a:spAutoFit/>
          </a:bodyPr>
          <a:lstStyle/>
          <a:p>
            <a:pPr algn="ctr"/>
            <a:r>
              <a:rPr lang="en-US" sz="2800" dirty="0" smtClean="0">
                <a:solidFill>
                  <a:srgbClr val="FF0000"/>
                </a:solidFill>
              </a:rPr>
              <a:t>Weights are shown to be arrows</a:t>
            </a:r>
          </a:p>
          <a:p>
            <a:pPr algn="ctr"/>
            <a:r>
              <a:rPr lang="en-US" sz="2800" dirty="0" smtClean="0">
                <a:solidFill>
                  <a:srgbClr val="FF0000"/>
                </a:solidFill>
              </a:rPr>
              <a:t>in classical visualizations of NNs</a:t>
            </a:r>
            <a:endParaRPr lang="en-US" sz="2800" dirty="0">
              <a:solidFill>
                <a:srgbClr val="FF0000"/>
              </a:solidFill>
            </a:endParaRPr>
          </a:p>
        </p:txBody>
      </p:sp>
      <p:sp>
        <p:nvSpPr>
          <p:cNvPr id="85" name="Rounded Rectangle 84"/>
          <p:cNvSpPr/>
          <p:nvPr/>
        </p:nvSpPr>
        <p:spPr>
          <a:xfrm>
            <a:off x="5688018" y="2726234"/>
            <a:ext cx="1234822" cy="3064966"/>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7432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are the weights?</a:t>
            </a:r>
            <a:endParaRPr lang="en-US" dirty="0"/>
          </a:p>
        </p:txBody>
      </p:sp>
      <mc:AlternateContent xmlns:mc="http://schemas.openxmlformats.org/markup-compatibility/2006" xmlns:a14="http://schemas.microsoft.com/office/drawing/2010/main">
        <mc:Choice Requires="a14">
          <p:sp>
            <p:nvSpPr>
              <p:cNvPr id="10" name="Oval 9"/>
              <p:cNvSpPr/>
              <p:nvPr/>
            </p:nvSpPr>
            <p:spPr>
              <a:xfrm>
                <a:off x="47448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744830" y="2417210"/>
                <a:ext cx="973917" cy="973917"/>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7448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744830" y="3678567"/>
                <a:ext cx="973917" cy="973917"/>
              </a:xfrm>
              <a:prstGeom prst="ellipse">
                <a:avLst/>
              </a:prstGeom>
              <a:blipFill rotWithShape="0">
                <a:blip r:embed="rId4"/>
                <a:stretch>
                  <a:fillRect/>
                </a:stretch>
              </a:blipFill>
            </p:spPr>
            <p:txBody>
              <a:bodyPr/>
              <a:lstStyle/>
              <a:p>
                <a:r>
                  <a:rPr lang="en-US">
                    <a:noFill/>
                  </a:rPr>
                  <a:t> </a:t>
                </a:r>
              </a:p>
            </p:txBody>
          </p:sp>
        </mc:Fallback>
      </mc:AlternateContent>
      <p:sp>
        <p:nvSpPr>
          <p:cNvPr id="12" name="Oval 11"/>
          <p:cNvSpPr/>
          <p:nvPr/>
        </p:nvSpPr>
        <p:spPr>
          <a:xfrm>
            <a:off x="47448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p:sp>
        <p:nvSpPr>
          <p:cNvPr id="17" name="Oval 16"/>
          <p:cNvSpPr/>
          <p:nvPr/>
        </p:nvSpPr>
        <p:spPr>
          <a:xfrm>
            <a:off x="67802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chemeClr val="tx2"/>
                </a:solidFill>
              </a:rPr>
              <a:t>a</a:t>
            </a:r>
            <a:endParaRPr lang="en-US" sz="2800" dirty="0">
              <a:solidFill>
                <a:schemeClr val="tx2"/>
              </a:solidFill>
            </a:endParaRPr>
          </a:p>
        </p:txBody>
      </p:sp>
      <p:cxnSp>
        <p:nvCxnSpPr>
          <p:cNvPr id="27" name="Straight Arrow Connector 26"/>
          <p:cNvCxnSpPr>
            <a:stCxn id="10" idx="6"/>
            <a:endCxn id="17" idx="1"/>
          </p:cNvCxnSpPr>
          <p:nvPr/>
        </p:nvCxnSpPr>
        <p:spPr>
          <a:xfrm>
            <a:off x="5718747" y="2904169"/>
            <a:ext cx="12040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5718747" y="4509857"/>
            <a:ext cx="12040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5718747" y="4165526"/>
            <a:ext cx="10614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38084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38084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7541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5" name="Rounded Rectangle 84"/>
          <p:cNvSpPr/>
          <p:nvPr/>
        </p:nvSpPr>
        <p:spPr>
          <a:xfrm>
            <a:off x="5688018" y="2726234"/>
            <a:ext cx="1234822" cy="3064966"/>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p:nvCxnSpPr>
        <p:spPr>
          <a:xfrm flipH="1">
            <a:off x="6040272" y="2060050"/>
            <a:ext cx="632775" cy="9761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Rectangle 4"/>
              <p:cNvSpPr/>
              <p:nvPr/>
            </p:nvSpPr>
            <p:spPr>
              <a:xfrm>
                <a:off x="6540986" y="1506182"/>
                <a:ext cx="907171"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charset="0"/>
                            </a:rPr>
                            <m:t>𝑊</m:t>
                          </m:r>
                        </m:e>
                        <m:sub>
                          <m:r>
                            <a:rPr lang="en-US" sz="3200" b="0" i="1" smtClean="0">
                              <a:solidFill>
                                <a:srgbClr val="FF0000"/>
                              </a:solidFill>
                              <a:latin typeface="Cambria Math" charset="0"/>
                            </a:rPr>
                            <m:t>1</m:t>
                          </m:r>
                        </m:sub>
                      </m:sSub>
                    </m:oMath>
                  </m:oMathPara>
                </a14:m>
                <a:endParaRPr lang="en-US" sz="3200" dirty="0">
                  <a:solidFill>
                    <a:srgbClr val="FF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6540986" y="1506182"/>
                <a:ext cx="907171" cy="584775"/>
              </a:xfrm>
              <a:prstGeom prst="rect">
                <a:avLst/>
              </a:prstGeom>
              <a:blipFill rotWithShape="0">
                <a:blip r:embed="rId5"/>
                <a:stretch>
                  <a:fillRect/>
                </a:stretch>
              </a:blipFill>
            </p:spPr>
            <p:txBody>
              <a:bodyPr/>
              <a:lstStyle/>
              <a:p>
                <a:r>
                  <a:rPr lang="en-US">
                    <a:noFill/>
                  </a:rPr>
                  <a:t> </a:t>
                </a:r>
              </a:p>
            </p:txBody>
          </p:sp>
        </mc:Fallback>
      </mc:AlternateContent>
      <p:cxnSp>
        <p:nvCxnSpPr>
          <p:cNvPr id="20" name="Straight Arrow Connector 19"/>
          <p:cNvCxnSpPr/>
          <p:nvPr/>
        </p:nvCxnSpPr>
        <p:spPr>
          <a:xfrm flipH="1">
            <a:off x="6400550" y="3043290"/>
            <a:ext cx="866620" cy="103481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angle 20"/>
              <p:cNvSpPr/>
              <p:nvPr/>
            </p:nvSpPr>
            <p:spPr>
              <a:xfrm>
                <a:off x="7244364" y="2451378"/>
                <a:ext cx="916661"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sz="3200" b="0" i="1" smtClean="0">
                              <a:solidFill>
                                <a:srgbClr val="FF0000"/>
                              </a:solidFill>
                              <a:latin typeface="Cambria Math" panose="02040503050406030204" pitchFamily="18" charset="0"/>
                            </a:rPr>
                          </m:ctrlPr>
                        </m:sSubPr>
                        <m:e>
                          <m:r>
                            <a:rPr lang="en-US" sz="3200" b="0" i="1" smtClean="0">
                              <a:solidFill>
                                <a:srgbClr val="FF0000"/>
                              </a:solidFill>
                              <a:latin typeface="Cambria Math" charset="0"/>
                            </a:rPr>
                            <m:t>𝑊</m:t>
                          </m:r>
                        </m:e>
                        <m:sub>
                          <m:r>
                            <a:rPr lang="en-US" sz="3200" b="0" i="1" smtClean="0">
                              <a:solidFill>
                                <a:srgbClr val="FF0000"/>
                              </a:solidFill>
                              <a:latin typeface="Cambria Math" charset="0"/>
                            </a:rPr>
                            <m:t>2</m:t>
                          </m:r>
                        </m:sub>
                      </m:sSub>
                    </m:oMath>
                  </m:oMathPara>
                </a14:m>
                <a:endParaRPr lang="en-US" sz="3200" dirty="0">
                  <a:solidFill>
                    <a:srgbClr val="FF000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7244364" y="2451378"/>
                <a:ext cx="916661" cy="584775"/>
              </a:xfrm>
              <a:prstGeom prst="rect">
                <a:avLst/>
              </a:prstGeom>
              <a:blipFill rotWithShape="0">
                <a:blip r:embed="rId6"/>
                <a:stretch>
                  <a:fillRect/>
                </a:stretch>
              </a:blipFill>
            </p:spPr>
            <p:txBody>
              <a:bodyPr/>
              <a:lstStyle/>
              <a:p>
                <a:r>
                  <a:rPr lang="en-US">
                    <a:noFill/>
                  </a:rPr>
                  <a:t> </a:t>
                </a:r>
              </a:p>
            </p:txBody>
          </p:sp>
        </mc:Fallback>
      </mc:AlternateContent>
      <p:cxnSp>
        <p:nvCxnSpPr>
          <p:cNvPr id="23" name="Straight Arrow Connector 22"/>
          <p:cNvCxnSpPr/>
          <p:nvPr/>
        </p:nvCxnSpPr>
        <p:spPr>
          <a:xfrm flipH="1" flipV="1">
            <a:off x="6489531" y="4939924"/>
            <a:ext cx="1264598" cy="7959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angle 23"/>
              <p:cNvSpPr/>
              <p:nvPr/>
            </p:nvSpPr>
            <p:spPr>
              <a:xfrm>
                <a:off x="7754129" y="5443519"/>
                <a:ext cx="621709" cy="584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sz="3200" b="0" i="1" smtClean="0">
                          <a:solidFill>
                            <a:srgbClr val="FF0000"/>
                          </a:solidFill>
                          <a:latin typeface="Cambria Math" charset="0"/>
                        </a:rPr>
                        <m:t>𝑏</m:t>
                      </m:r>
                    </m:oMath>
                  </m:oMathPara>
                </a14:m>
                <a:endParaRPr lang="en-US" sz="3200" dirty="0">
                  <a:solidFill>
                    <a:srgbClr val="FF0000"/>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7754129" y="5443519"/>
                <a:ext cx="621709" cy="584775"/>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150955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is the net value (z)?</a:t>
            </a:r>
            <a:endParaRPr lang="en-US" dirty="0"/>
          </a:p>
        </p:txBody>
      </p:sp>
      <mc:AlternateContent xmlns:mc="http://schemas.openxmlformats.org/markup-compatibility/2006" xmlns:a14="http://schemas.microsoft.com/office/drawing/2010/main">
        <mc:Choice Requires="a14">
          <p:sp>
            <p:nvSpPr>
              <p:cNvPr id="10" name="Oval 9"/>
              <p:cNvSpPr/>
              <p:nvPr/>
            </p:nvSpPr>
            <p:spPr>
              <a:xfrm>
                <a:off x="47448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744830" y="2417210"/>
                <a:ext cx="973917" cy="973917"/>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7448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744830" y="3678567"/>
                <a:ext cx="973917" cy="973917"/>
              </a:xfrm>
              <a:prstGeom prst="ellipse">
                <a:avLst/>
              </a:prstGeom>
              <a:blipFill rotWithShape="0">
                <a:blip r:embed="rId4"/>
                <a:stretch>
                  <a:fillRect/>
                </a:stretch>
              </a:blipFill>
            </p:spPr>
            <p:txBody>
              <a:bodyPr/>
              <a:lstStyle/>
              <a:p>
                <a:r>
                  <a:rPr lang="en-US">
                    <a:noFill/>
                  </a:rPr>
                  <a:t> </a:t>
                </a:r>
              </a:p>
            </p:txBody>
          </p:sp>
        </mc:Fallback>
      </mc:AlternateContent>
      <p:sp>
        <p:nvSpPr>
          <p:cNvPr id="12" name="Oval 11"/>
          <p:cNvSpPr/>
          <p:nvPr/>
        </p:nvSpPr>
        <p:spPr>
          <a:xfrm>
            <a:off x="47448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p:sp>
        <p:nvSpPr>
          <p:cNvPr id="17" name="Oval 16"/>
          <p:cNvSpPr/>
          <p:nvPr/>
        </p:nvSpPr>
        <p:spPr>
          <a:xfrm>
            <a:off x="67802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chemeClr val="tx2"/>
                </a:solidFill>
              </a:rPr>
              <a:t>a</a:t>
            </a:r>
            <a:endParaRPr lang="en-US" sz="2800" dirty="0">
              <a:solidFill>
                <a:schemeClr val="tx2"/>
              </a:solidFill>
            </a:endParaRPr>
          </a:p>
        </p:txBody>
      </p:sp>
      <p:cxnSp>
        <p:nvCxnSpPr>
          <p:cNvPr id="27" name="Straight Arrow Connector 26"/>
          <p:cNvCxnSpPr>
            <a:stCxn id="10" idx="6"/>
            <a:endCxn id="17" idx="1"/>
          </p:cNvCxnSpPr>
          <p:nvPr/>
        </p:nvCxnSpPr>
        <p:spPr>
          <a:xfrm>
            <a:off x="5718747" y="2904169"/>
            <a:ext cx="12040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5718747" y="4509857"/>
            <a:ext cx="12040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5718747" y="4165526"/>
            <a:ext cx="10614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38084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38084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7541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3745380" y="1417637"/>
            <a:ext cx="6069675" cy="954107"/>
          </a:xfrm>
          <a:prstGeom prst="rect">
            <a:avLst/>
          </a:prstGeom>
          <a:noFill/>
        </p:spPr>
        <p:txBody>
          <a:bodyPr wrap="none" rtlCol="0">
            <a:spAutoFit/>
          </a:bodyPr>
          <a:lstStyle/>
          <a:p>
            <a:pPr algn="ctr"/>
            <a:r>
              <a:rPr lang="en-US" sz="2800" dirty="0" smtClean="0">
                <a:solidFill>
                  <a:srgbClr val="FF0000"/>
                </a:solidFill>
              </a:rPr>
              <a:t>Not shown!</a:t>
            </a:r>
          </a:p>
          <a:p>
            <a:pPr algn="ctr"/>
            <a:r>
              <a:rPr lang="en-US" sz="2800" dirty="0" smtClean="0">
                <a:solidFill>
                  <a:srgbClr val="FF0000"/>
                </a:solidFill>
              </a:rPr>
              <a:t>Usually given via formulas in papers</a:t>
            </a:r>
            <a:endParaRPr lang="en-US" sz="2800" dirty="0">
              <a:solidFill>
                <a:srgbClr val="FF0000"/>
              </a:solidFill>
            </a:endParaRPr>
          </a:p>
        </p:txBody>
      </p:sp>
    </p:spTree>
    <p:extLst>
      <p:ext uri="{BB962C8B-B14F-4D97-AF65-F5344CB8AC3E}">
        <p14:creationId xmlns:p14="http://schemas.microsoft.com/office/powerpoint/2010/main" val="17486386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0"/>
            <a:ext cx="9782801" cy="1752452"/>
          </a:xfrm>
        </p:spPr>
        <p:txBody>
          <a:bodyPr>
            <a:normAutofit/>
          </a:bodyPr>
          <a:lstStyle/>
          <a:p>
            <a:r>
              <a:rPr lang="en-US" sz="2800" dirty="0" smtClean="0"/>
              <a:t>To keep visual noise down, we’ll use this notation for now</a:t>
            </a:r>
            <a:endParaRPr lang="en-US" sz="2800" dirty="0"/>
          </a:p>
        </p:txBody>
      </p:sp>
      <mc:AlternateContent xmlns:mc="http://schemas.openxmlformats.org/markup-compatibility/2006" xmlns:a14="http://schemas.microsoft.com/office/drawing/2010/main">
        <mc:Choice Requires="a14">
          <p:sp>
            <p:nvSpPr>
              <p:cNvPr id="10" name="Oval 9"/>
              <p:cNvSpPr/>
              <p:nvPr/>
            </p:nvSpPr>
            <p:spPr>
              <a:xfrm>
                <a:off x="47448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744830" y="2417210"/>
                <a:ext cx="973917" cy="973917"/>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7448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744830" y="3678567"/>
                <a:ext cx="973917" cy="973917"/>
              </a:xfrm>
              <a:prstGeom prst="ellipse">
                <a:avLst/>
              </a:prstGeom>
              <a:blipFill rotWithShape="0">
                <a:blip r:embed="rId4"/>
                <a:stretch>
                  <a:fillRect/>
                </a:stretch>
              </a:blipFill>
            </p:spPr>
            <p:txBody>
              <a:bodyPr/>
              <a:lstStyle/>
              <a:p>
                <a:r>
                  <a:rPr lang="en-US">
                    <a:noFill/>
                  </a:rPr>
                  <a:t> </a:t>
                </a:r>
              </a:p>
            </p:txBody>
          </p:sp>
        </mc:Fallback>
      </mc:AlternateContent>
      <p:sp>
        <p:nvSpPr>
          <p:cNvPr id="12" name="Oval 11"/>
          <p:cNvSpPr/>
          <p:nvPr/>
        </p:nvSpPr>
        <p:spPr>
          <a:xfrm>
            <a:off x="47448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p:sp>
        <p:nvSpPr>
          <p:cNvPr id="17" name="Oval 16"/>
          <p:cNvSpPr/>
          <p:nvPr/>
        </p:nvSpPr>
        <p:spPr>
          <a:xfrm>
            <a:off x="67802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chemeClr val="tx2"/>
                </a:solidFill>
              </a:rPr>
              <a:t>a</a:t>
            </a:r>
            <a:endParaRPr lang="en-US" sz="2800" dirty="0">
              <a:solidFill>
                <a:schemeClr val="tx2"/>
              </a:solidFill>
            </a:endParaRPr>
          </a:p>
        </p:txBody>
      </p:sp>
      <p:cxnSp>
        <p:nvCxnSpPr>
          <p:cNvPr id="27" name="Straight Arrow Connector 26"/>
          <p:cNvCxnSpPr>
            <a:stCxn id="10" idx="6"/>
            <a:endCxn id="17" idx="1"/>
          </p:cNvCxnSpPr>
          <p:nvPr/>
        </p:nvCxnSpPr>
        <p:spPr>
          <a:xfrm>
            <a:off x="5718747" y="2904169"/>
            <a:ext cx="12040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5718747" y="4509857"/>
            <a:ext cx="12040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5718747" y="4165526"/>
            <a:ext cx="10614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38084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38084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7541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574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Our first activation function</a:t>
            </a:r>
            <a:endParaRPr lang="en-US" sz="4800" dirty="0"/>
          </a:p>
        </p:txBody>
      </p:sp>
    </p:spTree>
    <p:extLst>
      <p:ext uri="{BB962C8B-B14F-4D97-AF65-F5344CB8AC3E}">
        <p14:creationId xmlns:p14="http://schemas.microsoft.com/office/powerpoint/2010/main" val="5016936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idea</a:t>
            </a:r>
            <a:endParaRPr lang="en-US" dirty="0"/>
          </a:p>
        </p:txBody>
      </p:sp>
      <p:sp>
        <p:nvSpPr>
          <p:cNvPr id="3" name="Content Placeholder 2"/>
          <p:cNvSpPr>
            <a:spLocks noGrp="1"/>
          </p:cNvSpPr>
          <p:nvPr>
            <p:ph idx="1"/>
          </p:nvPr>
        </p:nvSpPr>
        <p:spPr/>
        <p:txBody>
          <a:bodyPr/>
          <a:lstStyle/>
          <a:p>
            <a:r>
              <a:rPr lang="en-US" dirty="0" smtClean="0"/>
              <a:t>Model inspired by biological neurons</a:t>
            </a:r>
          </a:p>
          <a:p>
            <a:endParaRPr lang="en-US" dirty="0" smtClean="0"/>
          </a:p>
          <a:p>
            <a:r>
              <a:rPr lang="en-US" dirty="0" smtClean="0"/>
              <a:t>Biological neurons either pass no signal, full signal, or something in between</a:t>
            </a:r>
          </a:p>
          <a:p>
            <a:endParaRPr lang="en-US" dirty="0" smtClean="0"/>
          </a:p>
          <a:p>
            <a:r>
              <a:rPr lang="en-US" dirty="0" smtClean="0"/>
              <a:t>Want a function that is like this </a:t>
            </a:r>
            <a:r>
              <a:rPr lang="en-US" i="1" dirty="0" smtClean="0"/>
              <a:t>and</a:t>
            </a:r>
            <a:r>
              <a:rPr lang="en-US" dirty="0" smtClean="0"/>
              <a:t> has an easy derivative.</a:t>
            </a:r>
            <a:endParaRPr lang="en-US" dirty="0"/>
          </a:p>
        </p:txBody>
      </p:sp>
    </p:spTree>
    <p:extLst>
      <p:ext uri="{BB962C8B-B14F-4D97-AF65-F5344CB8AC3E}">
        <p14:creationId xmlns:p14="http://schemas.microsoft.com/office/powerpoint/2010/main" val="1889847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Sigmoid (logistic)</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4055837" y="2054895"/>
                <a:ext cx="4857997" cy="15750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5400" i="1" smtClean="0">
                          <a:latin typeface="Cambria Math" charset="0"/>
                          <a:ea typeface="Cambria Math" charset="0"/>
                          <a:cs typeface="Cambria Math" charset="0"/>
                        </a:rPr>
                        <m:t>𝜎</m:t>
                      </m:r>
                      <m:d>
                        <m:dPr>
                          <m:ctrlPr>
                            <a:rPr lang="en-US" sz="5400" b="0" i="1" smtClean="0">
                              <a:latin typeface="Cambria Math" panose="02040503050406030204" pitchFamily="18" charset="0"/>
                              <a:ea typeface="Cambria Math" charset="0"/>
                              <a:cs typeface="Cambria Math" charset="0"/>
                            </a:rPr>
                          </m:ctrlPr>
                        </m:dPr>
                        <m:e>
                          <m:r>
                            <a:rPr lang="en-US" sz="5400" b="0" i="1" smtClean="0">
                              <a:latin typeface="Cambria Math" charset="0"/>
                              <a:ea typeface="Cambria Math" charset="0"/>
                              <a:cs typeface="Cambria Math" charset="0"/>
                            </a:rPr>
                            <m:t>𝑧</m:t>
                          </m:r>
                        </m:e>
                      </m:d>
                      <m:r>
                        <a:rPr lang="en-US" sz="5400" b="0" i="1" smtClean="0">
                          <a:latin typeface="Cambria Math" charset="0"/>
                          <a:ea typeface="Cambria Math" charset="0"/>
                          <a:cs typeface="Cambria Math" charset="0"/>
                        </a:rPr>
                        <m:t>=</m:t>
                      </m:r>
                      <m:f>
                        <m:fPr>
                          <m:ctrlPr>
                            <a:rPr lang="mr-IN" sz="5400" b="0" i="1" smtClean="0">
                              <a:latin typeface="Cambria Math" panose="02040503050406030204" pitchFamily="18" charset="0"/>
                              <a:ea typeface="Cambria Math" charset="0"/>
                              <a:cs typeface="Cambria Math" charset="0"/>
                            </a:rPr>
                          </m:ctrlPr>
                        </m:fPr>
                        <m:num>
                          <m:r>
                            <a:rPr lang="en-US" sz="5400" b="0" i="1" smtClean="0">
                              <a:latin typeface="Cambria Math" charset="0"/>
                              <a:ea typeface="Cambria Math" charset="0"/>
                              <a:cs typeface="Cambria Math" charset="0"/>
                            </a:rPr>
                            <m:t>1</m:t>
                          </m:r>
                        </m:num>
                        <m:den>
                          <m:r>
                            <a:rPr lang="en-US" sz="5400" b="0" i="1" smtClean="0">
                              <a:latin typeface="Cambria Math" charset="0"/>
                              <a:ea typeface="Cambria Math" charset="0"/>
                              <a:cs typeface="Cambria Math" charset="0"/>
                            </a:rPr>
                            <m:t>1+</m:t>
                          </m:r>
                          <m:sSup>
                            <m:sSupPr>
                              <m:ctrlPr>
                                <a:rPr lang="en-US" sz="5400" b="0" i="1" smtClean="0">
                                  <a:latin typeface="Cambria Math" panose="02040503050406030204" pitchFamily="18" charset="0"/>
                                  <a:ea typeface="Cambria Math" charset="0"/>
                                  <a:cs typeface="Cambria Math" charset="0"/>
                                </a:rPr>
                              </m:ctrlPr>
                            </m:sSupPr>
                            <m:e>
                              <m:r>
                                <a:rPr lang="en-US" sz="5400" b="0" i="1" smtClean="0">
                                  <a:latin typeface="Cambria Math" charset="0"/>
                                  <a:ea typeface="Cambria Math" charset="0"/>
                                  <a:cs typeface="Cambria Math" charset="0"/>
                                </a:rPr>
                                <m:t>𝑒</m:t>
                              </m:r>
                            </m:e>
                            <m:sup>
                              <m:r>
                                <a:rPr lang="en-US" sz="5400" b="0" i="1" smtClean="0">
                                  <a:latin typeface="Cambria Math" charset="0"/>
                                  <a:ea typeface="Cambria Math" charset="0"/>
                                  <a:cs typeface="Cambria Math" charset="0"/>
                                </a:rPr>
                                <m:t>−</m:t>
                              </m:r>
                              <m:r>
                                <a:rPr lang="en-US" sz="5400" b="0" i="1" smtClean="0">
                                  <a:latin typeface="Cambria Math" charset="0"/>
                                  <a:ea typeface="Cambria Math" charset="0"/>
                                  <a:cs typeface="Cambria Math" charset="0"/>
                                </a:rPr>
                                <m:t>𝑧</m:t>
                              </m:r>
                            </m:sup>
                          </m:sSup>
                        </m:den>
                      </m:f>
                    </m:oMath>
                  </m:oMathPara>
                </a14:m>
                <a:endParaRPr lang="en-US" sz="6600" dirty="0"/>
              </a:p>
            </p:txBody>
          </p:sp>
        </mc:Choice>
        <mc:Fallback xmlns="">
          <p:sp>
            <p:nvSpPr>
              <p:cNvPr id="3" name="TextBox 2"/>
              <p:cNvSpPr txBox="1">
                <a:spLocks noRot="1" noChangeAspect="1" noMove="1" noResize="1" noEditPoints="1" noAdjustHandles="1" noChangeArrowheads="1" noChangeShapeType="1" noTextEdit="1"/>
              </p:cNvSpPr>
              <p:nvPr/>
            </p:nvSpPr>
            <p:spPr>
              <a:xfrm>
                <a:off x="4055837" y="2054895"/>
                <a:ext cx="4857997" cy="157504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888846" y="4267200"/>
                <a:ext cx="3581400" cy="1846659"/>
              </a:xfrm>
              <a:prstGeom prst="rect">
                <a:avLst/>
              </a:prstGeom>
              <a:noFill/>
            </p:spPr>
            <p:txBody>
              <a:bodyPr wrap="square" rtlCol="0">
                <a:spAutoFit/>
              </a:bodyPr>
              <a:lstStyle/>
              <a:p>
                <a:pPr marL="285750" indent="-285750">
                  <a:buFont typeface="Arial" charset="0"/>
                  <a:buChar char="•"/>
                </a:pPr>
                <a:r>
                  <a:rPr lang="en-US" sz="2400" dirty="0" smtClean="0"/>
                  <a:t>Value at  </a:t>
                </a:r>
                <a14:m>
                  <m:oMath xmlns:m="http://schemas.openxmlformats.org/officeDocument/2006/math">
                    <m:r>
                      <a:rPr lang="en-US" sz="3200" b="0" i="1" smtClean="0">
                        <a:latin typeface="Cambria Math" charset="0"/>
                      </a:rPr>
                      <m:t>𝑧</m:t>
                    </m:r>
                    <m:r>
                      <a:rPr lang="en-US" sz="3200" b="0" i="1" smtClean="0">
                        <a:latin typeface="Cambria Math" charset="0"/>
                      </a:rPr>
                      <m:t>≪0?</m:t>
                    </m:r>
                  </m:oMath>
                </a14:m>
                <a:endParaRPr lang="en-US" dirty="0" smtClean="0"/>
              </a:p>
              <a:p>
                <a:pPr marL="285750" indent="-285750">
                  <a:buFont typeface="Arial" charset="0"/>
                  <a:buChar char="•"/>
                </a:pPr>
                <a:r>
                  <a:rPr lang="en-US" sz="2400" dirty="0"/>
                  <a:t>Value at  </a:t>
                </a:r>
                <a14:m>
                  <m:oMath xmlns:m="http://schemas.openxmlformats.org/officeDocument/2006/math">
                    <m:r>
                      <a:rPr lang="en-US" sz="3200" i="1" smtClean="0">
                        <a:latin typeface="Cambria Math" charset="0"/>
                      </a:rPr>
                      <m:t>𝑧</m:t>
                    </m:r>
                    <m:r>
                      <a:rPr lang="en-US" sz="3200" b="0" i="1" smtClean="0">
                        <a:latin typeface="Cambria Math" charset="0"/>
                      </a:rPr>
                      <m:t>=</m:t>
                    </m:r>
                    <m:r>
                      <a:rPr lang="en-US" sz="3200" i="1">
                        <a:latin typeface="Cambria Math" charset="0"/>
                      </a:rPr>
                      <m:t>0?</m:t>
                    </m:r>
                  </m:oMath>
                </a14:m>
                <a:endParaRPr lang="en-US" sz="2400" dirty="0"/>
              </a:p>
              <a:p>
                <a:pPr marL="285750" indent="-285750">
                  <a:buFont typeface="Arial" charset="0"/>
                  <a:buChar char="•"/>
                </a:pPr>
                <a:r>
                  <a:rPr lang="en-US" sz="2400" dirty="0"/>
                  <a:t>Value at  </a:t>
                </a:r>
                <a14:m>
                  <m:oMath xmlns:m="http://schemas.openxmlformats.org/officeDocument/2006/math">
                    <m:r>
                      <a:rPr lang="en-US" sz="3200" i="1">
                        <a:latin typeface="Cambria Math" charset="0"/>
                      </a:rPr>
                      <m:t>𝑧</m:t>
                    </m:r>
                    <m:r>
                      <a:rPr lang="en-US" sz="3200" b="0" i="1" smtClean="0">
                        <a:latin typeface="Cambria Math" charset="0"/>
                      </a:rPr>
                      <m:t>≫</m:t>
                    </m:r>
                    <m:r>
                      <a:rPr lang="en-US" sz="3200" i="1">
                        <a:latin typeface="Cambria Math" charset="0"/>
                      </a:rPr>
                      <m:t>0?</m:t>
                    </m:r>
                  </m:oMath>
                </a14:m>
                <a:endParaRPr lang="en-US" sz="2400" dirty="0"/>
              </a:p>
              <a:p>
                <a:pPr marL="285750" indent="-285750">
                  <a:buFont typeface="Arial" charset="0"/>
                  <a:buChar char="•"/>
                </a:pPr>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2888846" y="4267200"/>
                <a:ext cx="3581400" cy="1846659"/>
              </a:xfrm>
              <a:prstGeom prst="rect">
                <a:avLst/>
              </a:prstGeom>
              <a:blipFill rotWithShape="0">
                <a:blip r:embed="rId4"/>
                <a:stretch>
                  <a:fillRect l="-2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089246" y="4270917"/>
                <a:ext cx="6092825" cy="1569660"/>
              </a:xfrm>
              <a:prstGeom prst="rect">
                <a:avLst/>
              </a:prstGeom>
            </p:spPr>
            <p:txBody>
              <a:bodyPr>
                <a:spAutoFit/>
              </a:bodyPr>
              <a:lstStyle/>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i="1">
                          <a:solidFill>
                            <a:srgbClr val="FF0000"/>
                          </a:solidFill>
                          <a:latin typeface="Cambria Math" charset="0"/>
                        </a:rPr>
                        <m:t>0</m:t>
                      </m:r>
                    </m:oMath>
                  </m:oMathPara>
                </a14:m>
                <a:endParaRPr lang="en-US" sz="2400" dirty="0">
                  <a:solidFill>
                    <a:srgbClr val="FF0000"/>
                  </a:solidFill>
                </a:endParaRPr>
              </a:p>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i="1">
                          <a:solidFill>
                            <a:srgbClr val="FF0000"/>
                          </a:solidFill>
                          <a:latin typeface="Cambria Math" charset="0"/>
                        </a:rPr>
                        <m:t>0</m:t>
                      </m:r>
                      <m:r>
                        <a:rPr lang="en-US" sz="3200" b="0" i="1" smtClean="0">
                          <a:solidFill>
                            <a:srgbClr val="FF0000"/>
                          </a:solidFill>
                          <a:latin typeface="Cambria Math" charset="0"/>
                        </a:rPr>
                        <m:t>.5</m:t>
                      </m:r>
                    </m:oMath>
                  </m:oMathPara>
                </a14:m>
                <a:endParaRPr lang="en-US" sz="3200" dirty="0">
                  <a:solidFill>
                    <a:srgbClr val="FF0000"/>
                  </a:solidFill>
                </a:endParaRPr>
              </a:p>
              <a:p>
                <a:pPr/>
                <a14:m>
                  <m:oMathPara xmlns:m="http://schemas.openxmlformats.org/officeDocument/2006/math">
                    <m:oMathParaPr>
                      <m:jc m:val="left"/>
                    </m:oMathParaPr>
                    <m:oMath xmlns:m="http://schemas.openxmlformats.org/officeDocument/2006/math">
                      <m:r>
                        <a:rPr lang="en-US" sz="3200" i="1">
                          <a:solidFill>
                            <a:srgbClr val="FF0000"/>
                          </a:solidFill>
                          <a:latin typeface="Cambria Math" charset="0"/>
                          <a:ea typeface="Cambria Math" charset="0"/>
                          <a:cs typeface="Cambria Math" charset="0"/>
                        </a:rPr>
                        <m:t>≈</m:t>
                      </m:r>
                      <m:r>
                        <a:rPr lang="en-US" sz="3200" b="0" i="1" smtClean="0">
                          <a:solidFill>
                            <a:srgbClr val="FF0000"/>
                          </a:solidFill>
                          <a:latin typeface="Cambria Math" charset="0"/>
                          <a:ea typeface="Cambria Math" charset="0"/>
                          <a:cs typeface="Cambria Math" charset="0"/>
                        </a:rPr>
                        <m:t>1</m:t>
                      </m:r>
                    </m:oMath>
                  </m:oMathPara>
                </a14:m>
                <a:endParaRPr lang="en-US" sz="24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089246" y="4270917"/>
                <a:ext cx="6092825" cy="1569660"/>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0191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Sigmoid (logistic)</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8080054" y="762000"/>
                <a:ext cx="2879956" cy="9333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charset="0"/>
                          <a:ea typeface="Cambria Math" charset="0"/>
                          <a:cs typeface="Cambria Math" charset="0"/>
                        </a:rPr>
                        <m:t>𝜎</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𝑧</m:t>
                          </m:r>
                        </m:e>
                      </m:d>
                      <m:r>
                        <a:rPr lang="en-US" sz="3200" b="0" i="1" smtClean="0">
                          <a:latin typeface="Cambria Math" charset="0"/>
                          <a:ea typeface="Cambria Math" charset="0"/>
                          <a:cs typeface="Cambria Math" charset="0"/>
                        </a:rPr>
                        <m:t>=</m:t>
                      </m:r>
                      <m:f>
                        <m:fPr>
                          <m:ctrlPr>
                            <a:rPr lang="mr-IN" sz="3200" b="0" i="1" smtClean="0">
                              <a:latin typeface="Cambria Math" panose="02040503050406030204" pitchFamily="18" charset="0"/>
                              <a:ea typeface="Cambria Math" charset="0"/>
                              <a:cs typeface="Cambria Math" charset="0"/>
                            </a:rPr>
                          </m:ctrlPr>
                        </m:fPr>
                        <m:num>
                          <m:r>
                            <a:rPr lang="en-US" sz="3200" b="0" i="1" smtClean="0">
                              <a:latin typeface="Cambria Math" charset="0"/>
                              <a:ea typeface="Cambria Math" charset="0"/>
                              <a:cs typeface="Cambria Math" charset="0"/>
                            </a:rPr>
                            <m:t>1</m:t>
                          </m:r>
                        </m:num>
                        <m:den>
                          <m:r>
                            <a:rPr lang="en-US" sz="3200" b="0" i="1" smtClean="0">
                              <a:latin typeface="Cambria Math" charset="0"/>
                              <a:ea typeface="Cambria Math" charset="0"/>
                              <a:cs typeface="Cambria Math" charset="0"/>
                            </a:rPr>
                            <m:t>1+</m:t>
                          </m:r>
                          <m:sSup>
                            <m:sSupPr>
                              <m:ctrlPr>
                                <a:rPr lang="en-U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𝑒</m:t>
                              </m:r>
                            </m:e>
                            <m:sup>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𝑧</m:t>
                              </m:r>
                            </m:sup>
                          </m:sSup>
                        </m:den>
                      </m:f>
                    </m:oMath>
                  </m:oMathPara>
                </a14:m>
                <a:endParaRPr lang="en-US" sz="3200" dirty="0"/>
              </a:p>
            </p:txBody>
          </p:sp>
        </mc:Choice>
        <mc:Fallback xmlns="">
          <p:sp>
            <p:nvSpPr>
              <p:cNvPr id="3" name="TextBox 2"/>
              <p:cNvSpPr txBox="1">
                <a:spLocks noRot="1" noChangeAspect="1" noMove="1" noResize="1" noEditPoints="1" noAdjustHandles="1" noChangeArrowheads="1" noChangeShapeType="1" noTextEdit="1"/>
              </p:cNvSpPr>
              <p:nvPr/>
            </p:nvSpPr>
            <p:spPr>
              <a:xfrm>
                <a:off x="8080054" y="762000"/>
                <a:ext cx="2879956" cy="933397"/>
              </a:xfrm>
              <a:prstGeom prst="rect">
                <a:avLst/>
              </a:prstGeom>
              <a:blipFill rotWithShape="0">
                <a:blip r:embed="rId3"/>
                <a:stretch>
                  <a:fillRect/>
                </a:stretch>
              </a:blipFill>
            </p:spPr>
            <p:txBody>
              <a:bodyPr/>
              <a:lstStyle/>
              <a:p>
                <a:r>
                  <a:rPr lang="en-US">
                    <a:noFill/>
                  </a:rPr>
                  <a:t> </a:t>
                </a:r>
              </a:p>
            </p:txBody>
          </p:sp>
        </mc:Fallback>
      </mc:AlternateContent>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8012" y="1695397"/>
            <a:ext cx="9169400" cy="4660900"/>
          </a:xfrm>
          <a:prstGeom prst="rect">
            <a:avLst/>
          </a:prstGeom>
        </p:spPr>
      </p:pic>
    </p:spTree>
    <p:extLst>
      <p:ext uri="{BB962C8B-B14F-4D97-AF65-F5344CB8AC3E}">
        <p14:creationId xmlns:p14="http://schemas.microsoft.com/office/powerpoint/2010/main" val="8370634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Easy derivative?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2284412" y="1752600"/>
                <a:ext cx="2341731" cy="7923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charset="0"/>
                          <a:ea typeface="Cambria Math" charset="0"/>
                          <a:cs typeface="Cambria Math" charset="0"/>
                        </a:rPr>
                        <m:t>𝜎</m:t>
                      </m:r>
                      <m:d>
                        <m:dPr>
                          <m:ctrlPr>
                            <a:rPr lang="en-US" sz="2400" i="1">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𝑧</m:t>
                          </m:r>
                        </m:e>
                      </m:d>
                      <m:r>
                        <a:rPr lang="en-US" sz="2400" i="1">
                          <a:latin typeface="Cambria Math" charset="0"/>
                          <a:ea typeface="Cambria Math" charset="0"/>
                          <a:cs typeface="Cambria Math" charset="0"/>
                        </a:rPr>
                        <m:t>=</m:t>
                      </m:r>
                      <m:f>
                        <m:fPr>
                          <m:ctrlPr>
                            <a:rPr lang="mr-IN" sz="2400" i="1">
                              <a:latin typeface="Cambria Math" panose="02040503050406030204" pitchFamily="18" charset="0"/>
                              <a:ea typeface="Cambria Math" charset="0"/>
                              <a:cs typeface="Cambria Math" charset="0"/>
                            </a:rPr>
                          </m:ctrlPr>
                        </m:fPr>
                        <m:num>
                          <m:r>
                            <a:rPr lang="en-US" sz="2400" i="1">
                              <a:latin typeface="Cambria Math" charset="0"/>
                              <a:ea typeface="Cambria Math" charset="0"/>
                              <a:cs typeface="Cambria Math" charset="0"/>
                            </a:rPr>
                            <m:t>1</m:t>
                          </m:r>
                        </m:num>
                        <m:den>
                          <m:r>
                            <a:rPr lang="en-US" sz="2400" i="1">
                              <a:latin typeface="Cambria Math" charset="0"/>
                              <a:ea typeface="Cambria Math" charset="0"/>
                              <a:cs typeface="Cambria Math" charset="0"/>
                            </a:rPr>
                            <m:t>1+</m:t>
                          </m:r>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den>
                      </m:f>
                    </m:oMath>
                  </m:oMathPara>
                </a14:m>
                <a:endParaRPr lang="en-US" sz="3200" dirty="0"/>
              </a:p>
            </p:txBody>
          </p:sp>
        </mc:Choice>
        <mc:Fallback xmlns="">
          <p:sp>
            <p:nvSpPr>
              <p:cNvPr id="3" name="Rectangle 2"/>
              <p:cNvSpPr>
                <a:spLocks noRot="1" noChangeAspect="1" noMove="1" noResize="1" noEditPoints="1" noAdjustHandles="1" noChangeArrowheads="1" noChangeShapeType="1" noTextEdit="1"/>
              </p:cNvSpPr>
              <p:nvPr/>
            </p:nvSpPr>
            <p:spPr>
              <a:xfrm>
                <a:off x="2284412" y="1752600"/>
                <a:ext cx="2341731" cy="792396"/>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6161072" y="1681735"/>
                <a:ext cx="3753912" cy="6829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ea typeface="Cambria Math" charset="0"/>
                              <a:cs typeface="Cambria Math" charset="0"/>
                            </a:rPr>
                          </m:ctrlPr>
                        </m:fPr>
                        <m:num>
                          <m:r>
                            <a:rPr lang="en-US" i="1" smtClean="0">
                              <a:latin typeface="Cambria Math" charset="0"/>
                              <a:ea typeface="Cambria Math" charset="0"/>
                              <a:cs typeface="Cambria Math" charset="0"/>
                            </a:rPr>
                            <m:t>𝑑</m:t>
                          </m:r>
                        </m:num>
                        <m:den>
                          <m:r>
                            <a:rPr lang="en-US" i="1" smtClean="0">
                              <a:latin typeface="Cambria Math" charset="0"/>
                              <a:ea typeface="Cambria Math" charset="0"/>
                              <a:cs typeface="Cambria Math" charset="0"/>
                            </a:rPr>
                            <m:t>𝑑𝑥</m:t>
                          </m:r>
                        </m:den>
                      </m:f>
                      <m:r>
                        <a:rPr lang="en-US" b="0" i="1" smtClean="0">
                          <a:latin typeface="Cambria Math" charset="0"/>
                          <a:ea typeface="Cambria Math" charset="0"/>
                          <a:cs typeface="Cambria Math" charset="0"/>
                        </a:rPr>
                        <m:t>⋅</m:t>
                      </m:r>
                      <m:f>
                        <m:fPr>
                          <m:ctrlPr>
                            <a:rPr lang="mr-IN" i="1" smtClean="0">
                              <a:latin typeface="Cambria Math" panose="02040503050406030204" pitchFamily="18" charset="0"/>
                              <a:ea typeface="Cambria Math" charset="0"/>
                              <a:cs typeface="Cambria Math" charset="0"/>
                            </a:rPr>
                          </m:ctrlPr>
                        </m:fPr>
                        <m:num>
                          <m:r>
                            <a:rPr lang="en-US" b="0" i="1" smtClean="0">
                              <a:latin typeface="Cambria Math" charset="0"/>
                              <a:ea typeface="Cambria Math" charset="0"/>
                              <a:cs typeface="Cambria Math" charset="0"/>
                            </a:rPr>
                            <m:t>𝑓</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r>
                            <a:rPr lang="en-US" b="0" i="1" smtClean="0">
                              <a:latin typeface="Cambria Math" charset="0"/>
                              <a:ea typeface="Cambria Math" charset="0"/>
                              <a:cs typeface="Cambria Math" charset="0"/>
                            </a:rPr>
                            <m:t>)</m:t>
                          </m:r>
                        </m:num>
                        <m:den>
                          <m:r>
                            <a:rPr lang="en-US" b="0" i="1" smtClean="0">
                              <a:latin typeface="Cambria Math" charset="0"/>
                              <a:ea typeface="Cambria Math" charset="0"/>
                              <a:cs typeface="Cambria Math" charset="0"/>
                            </a:rPr>
                            <m:t>𝑔</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r>
                            <a:rPr lang="en-US" b="0" i="1" smtClean="0">
                              <a:latin typeface="Cambria Math" charset="0"/>
                              <a:ea typeface="Cambria Math" charset="0"/>
                              <a:cs typeface="Cambria Math" charset="0"/>
                            </a:rPr>
                            <m:t>)</m:t>
                          </m:r>
                        </m:den>
                      </m:f>
                      <m:r>
                        <a:rPr lang="en-US" b="0" i="1" smtClean="0">
                          <a:latin typeface="Cambria Math" charset="0"/>
                          <a:ea typeface="Cambria Math" charset="0"/>
                          <a:cs typeface="Cambria Math" charset="0"/>
                        </a:rPr>
                        <m:t>=</m:t>
                      </m:r>
                      <m:f>
                        <m:fPr>
                          <m:ctrlPr>
                            <a:rPr lang="mr-IN" b="0" i="1" smtClean="0">
                              <a:latin typeface="Cambria Math" panose="02040503050406030204" pitchFamily="18" charset="0"/>
                              <a:ea typeface="Cambria Math" charset="0"/>
                              <a:cs typeface="Cambria Math" charset="0"/>
                            </a:rPr>
                          </m:ctrlPr>
                        </m:fPr>
                        <m:num>
                          <m:sSup>
                            <m:sSupPr>
                              <m:ctrlPr>
                                <a:rPr lang="en-US" b="0" i="1" smtClean="0">
                                  <a:latin typeface="Cambria Math" panose="02040503050406030204" pitchFamily="18" charset="0"/>
                                  <a:ea typeface="Cambria Math" charset="0"/>
                                  <a:cs typeface="Cambria Math" charset="0"/>
                                </a:rPr>
                              </m:ctrlPr>
                            </m:sSupPr>
                            <m:e>
                              <m:r>
                                <a:rPr lang="en-US" b="0" i="1" smtClean="0">
                                  <a:latin typeface="Cambria Math" charset="0"/>
                                  <a:ea typeface="Cambria Math" charset="0"/>
                                  <a:cs typeface="Cambria Math" charset="0"/>
                                </a:rPr>
                                <m:t>𝑓</m:t>
                              </m:r>
                            </m:e>
                            <m:sup>
                              <m:r>
                                <a:rPr lang="en-US" b="0" i="1" smtClean="0">
                                  <a:latin typeface="Cambria Math" charset="0"/>
                                  <a:ea typeface="Cambria Math" charset="0"/>
                                  <a:cs typeface="Cambria Math" charset="0"/>
                                </a:rPr>
                                <m:t>′</m:t>
                              </m:r>
                            </m:sup>
                          </m:sSup>
                          <m:d>
                            <m:dPr>
                              <m:ctrlPr>
                                <a:rPr lang="en-US" b="0" i="1" smtClean="0">
                                  <a:latin typeface="Cambria Math" panose="02040503050406030204" pitchFamily="18" charset="0"/>
                                  <a:ea typeface="Cambria Math" charset="0"/>
                                  <a:cs typeface="Cambria Math" charset="0"/>
                                </a:rPr>
                              </m:ctrlPr>
                            </m:dPr>
                            <m:e>
                              <m:r>
                                <a:rPr lang="en-US" b="0" i="1" smtClean="0">
                                  <a:latin typeface="Cambria Math" charset="0"/>
                                  <a:ea typeface="Cambria Math" charset="0"/>
                                  <a:cs typeface="Cambria Math" charset="0"/>
                                </a:rPr>
                                <m:t>𝑥</m:t>
                              </m:r>
                            </m:e>
                          </m:d>
                          <m:r>
                            <a:rPr lang="en-US" b="0" i="1" smtClean="0">
                              <a:latin typeface="Cambria Math" charset="0"/>
                              <a:ea typeface="Cambria Math" charset="0"/>
                              <a:cs typeface="Cambria Math" charset="0"/>
                            </a:rPr>
                            <m:t>𝑔</m:t>
                          </m:r>
                          <m:d>
                            <m:dPr>
                              <m:ctrlPr>
                                <a:rPr lang="en-US" b="0" i="1" smtClean="0">
                                  <a:latin typeface="Cambria Math" panose="02040503050406030204" pitchFamily="18" charset="0"/>
                                  <a:ea typeface="Cambria Math" charset="0"/>
                                  <a:cs typeface="Cambria Math" charset="0"/>
                                </a:rPr>
                              </m:ctrlPr>
                            </m:dPr>
                            <m:e>
                              <m:r>
                                <a:rPr lang="en-US" b="0" i="1" smtClean="0">
                                  <a:latin typeface="Cambria Math" charset="0"/>
                                  <a:ea typeface="Cambria Math" charset="0"/>
                                  <a:cs typeface="Cambria Math" charset="0"/>
                                </a:rPr>
                                <m:t>𝑥</m:t>
                              </m:r>
                            </m:e>
                          </m:d>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𝑓</m:t>
                          </m:r>
                          <m:d>
                            <m:dPr>
                              <m:ctrlPr>
                                <a:rPr lang="en-US" b="0" i="1" smtClean="0">
                                  <a:latin typeface="Cambria Math" panose="02040503050406030204" pitchFamily="18" charset="0"/>
                                  <a:ea typeface="Cambria Math" charset="0"/>
                                  <a:cs typeface="Cambria Math" charset="0"/>
                                </a:rPr>
                              </m:ctrlPr>
                            </m:dPr>
                            <m:e>
                              <m:r>
                                <a:rPr lang="en-US" b="0" i="1" smtClean="0">
                                  <a:latin typeface="Cambria Math" charset="0"/>
                                  <a:ea typeface="Cambria Math" charset="0"/>
                                  <a:cs typeface="Cambria Math" charset="0"/>
                                </a:rPr>
                                <m:t>𝑥</m:t>
                              </m:r>
                            </m:e>
                          </m:d>
                          <m:r>
                            <a:rPr lang="en-US" b="0" i="1" smtClean="0">
                              <a:latin typeface="Cambria Math" charset="0"/>
                              <a:ea typeface="Cambria Math" charset="0"/>
                              <a:cs typeface="Cambria Math" charset="0"/>
                            </a:rPr>
                            <m:t>𝑔</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r>
                            <a:rPr lang="en-US" b="0" i="1" smtClean="0">
                              <a:latin typeface="Cambria Math" charset="0"/>
                              <a:ea typeface="Cambria Math" charset="0"/>
                              <a:cs typeface="Cambria Math" charset="0"/>
                            </a:rPr>
                            <m:t>)</m:t>
                          </m:r>
                        </m:num>
                        <m:den>
                          <m:r>
                            <a:rPr lang="en-US" b="0" i="1" smtClean="0">
                              <a:latin typeface="Cambria Math" charset="0"/>
                              <a:ea typeface="Cambria Math" charset="0"/>
                              <a:cs typeface="Cambria Math" charset="0"/>
                            </a:rPr>
                            <m:t>𝑔</m:t>
                          </m:r>
                          <m:sSup>
                            <m:sSupPr>
                              <m:ctrlPr>
                                <a:rPr lang="en-US" b="0" i="1" smtClean="0">
                                  <a:latin typeface="Cambria Math" panose="02040503050406030204" pitchFamily="18" charset="0"/>
                                  <a:ea typeface="Cambria Math" charset="0"/>
                                  <a:cs typeface="Cambria Math" charset="0"/>
                                </a:rPr>
                              </m:ctrlPr>
                            </m:sSupPr>
                            <m:e>
                              <m:d>
                                <m:dPr>
                                  <m:ctrlPr>
                                    <a:rPr lang="en-US" b="0" i="1" smtClean="0">
                                      <a:latin typeface="Cambria Math" panose="02040503050406030204" pitchFamily="18" charset="0"/>
                                      <a:ea typeface="Cambria Math" charset="0"/>
                                      <a:cs typeface="Cambria Math" charset="0"/>
                                    </a:rPr>
                                  </m:ctrlPr>
                                </m:dPr>
                                <m:e>
                                  <m:r>
                                    <a:rPr lang="en-US" b="0" i="1" smtClean="0">
                                      <a:latin typeface="Cambria Math" charset="0"/>
                                      <a:ea typeface="Cambria Math" charset="0"/>
                                      <a:cs typeface="Cambria Math" charset="0"/>
                                    </a:rPr>
                                    <m:t>𝑥</m:t>
                                  </m:r>
                                </m:e>
                              </m:d>
                            </m:e>
                            <m:sup>
                              <m:r>
                                <a:rPr lang="en-US" b="0" i="1" smtClean="0">
                                  <a:latin typeface="Cambria Math" charset="0"/>
                                  <a:ea typeface="Cambria Math" charset="0"/>
                                  <a:cs typeface="Cambria Math" charset="0"/>
                                </a:rPr>
                                <m:t>2</m:t>
                              </m:r>
                            </m:sup>
                          </m:sSup>
                        </m:den>
                      </m:f>
                    </m:oMath>
                  </m:oMathPara>
                </a14:m>
                <a:endParaRPr lang="en-US" sz="2400" dirty="0"/>
              </a:p>
            </p:txBody>
          </p:sp>
        </mc:Choice>
        <mc:Fallback xmlns="">
          <p:sp>
            <p:nvSpPr>
              <p:cNvPr id="4" name="Rectangle 3"/>
              <p:cNvSpPr>
                <a:spLocks noRot="1" noChangeAspect="1" noMove="1" noResize="1" noEditPoints="1" noAdjustHandles="1" noChangeArrowheads="1" noChangeShapeType="1" noTextEdit="1"/>
              </p:cNvSpPr>
              <p:nvPr/>
            </p:nvSpPr>
            <p:spPr>
              <a:xfrm>
                <a:off x="6161072" y="1681735"/>
                <a:ext cx="3753912" cy="682944"/>
              </a:xfrm>
              <a:prstGeom prst="rect">
                <a:avLst/>
              </a:prstGeom>
              <a:blipFill rotWithShape="0">
                <a:blip r:embed="rId3"/>
                <a:stretch>
                  <a:fillRect/>
                </a:stretch>
              </a:blipFill>
            </p:spPr>
            <p:txBody>
              <a:bodyPr/>
              <a:lstStyle/>
              <a:p>
                <a:r>
                  <a:rPr lang="en-US">
                    <a:noFill/>
                  </a:rPr>
                  <a:t> </a:t>
                </a:r>
              </a:p>
            </p:txBody>
          </p:sp>
        </mc:Fallback>
      </mc:AlternateContent>
      <p:sp>
        <p:nvSpPr>
          <p:cNvPr id="6" name="TextBox 5"/>
          <p:cNvSpPr txBox="1"/>
          <p:nvPr/>
        </p:nvSpPr>
        <p:spPr>
          <a:xfrm>
            <a:off x="7008812" y="1232971"/>
            <a:ext cx="1584601" cy="369332"/>
          </a:xfrm>
          <a:prstGeom prst="rect">
            <a:avLst/>
          </a:prstGeom>
          <a:noFill/>
        </p:spPr>
        <p:txBody>
          <a:bodyPr wrap="none" rtlCol="0">
            <a:spAutoFit/>
          </a:bodyPr>
          <a:lstStyle/>
          <a:p>
            <a:r>
              <a:rPr lang="en-US" smtClean="0"/>
              <a:t>Quotient rule</a:t>
            </a:r>
            <a:endParaRPr lang="en-US"/>
          </a:p>
        </p:txBody>
      </p:sp>
      <mc:AlternateContent xmlns:mc="http://schemas.openxmlformats.org/markup-compatibility/2006" xmlns:a14="http://schemas.microsoft.com/office/drawing/2010/main">
        <mc:Choice Requires="a14">
          <p:sp>
            <p:nvSpPr>
              <p:cNvPr id="7" name="Rectangle 6"/>
              <p:cNvSpPr/>
              <p:nvPr/>
            </p:nvSpPr>
            <p:spPr>
              <a:xfrm>
                <a:off x="2178566" y="2743200"/>
                <a:ext cx="3010696" cy="8665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𝜎</m:t>
                      </m:r>
                      <m:r>
                        <a:rPr lang="en-US" sz="2400" b="0" i="1" smtClean="0">
                          <a:latin typeface="Cambria Math" charset="0"/>
                          <a:ea typeface="Cambria Math" charset="0"/>
                          <a:cs typeface="Cambria Math" charset="0"/>
                        </a:rPr>
                        <m:t>′</m:t>
                      </m:r>
                      <m:d>
                        <m:dPr>
                          <m:ctrlPr>
                            <a:rPr lang="en-US" sz="2400" i="1">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𝑧</m:t>
                          </m:r>
                        </m:e>
                      </m:d>
                      <m:r>
                        <a:rPr lang="en-US" sz="2400" i="1">
                          <a:latin typeface="Cambria Math" charset="0"/>
                          <a:ea typeface="Cambria Math" charset="0"/>
                          <a:cs typeface="Cambria Math" charset="0"/>
                        </a:rPr>
                        <m:t>=</m:t>
                      </m:r>
                      <m:f>
                        <m:fPr>
                          <m:ctrlPr>
                            <a:rPr lang="mr-IN" sz="2400" i="1" smtClean="0">
                              <a:latin typeface="Cambria Math" panose="02040503050406030204" pitchFamily="18" charset="0"/>
                              <a:ea typeface="Cambria Math" charset="0"/>
                              <a:cs typeface="Cambria Math" charset="0"/>
                            </a:rPr>
                          </m:ctrlPr>
                        </m:fPr>
                        <m:num>
                          <m:r>
                            <a:rPr lang="en-US" sz="2400" b="0" i="1" smtClean="0">
                              <a:latin typeface="Cambria Math" charset="0"/>
                              <a:ea typeface="Cambria Math" charset="0"/>
                              <a:cs typeface="Cambria Math" charset="0"/>
                            </a:rPr>
                            <m:t>0−(−</m:t>
                          </m:r>
                          <m:sSup>
                            <m:sSupPr>
                              <m:ctrlPr>
                                <a:rPr lang="en-US" sz="2400" b="0" i="1" smtClean="0">
                                  <a:latin typeface="Cambria Math" panose="02040503050406030204" pitchFamily="18" charset="0"/>
                                  <a:ea typeface="Cambria Math" charset="0"/>
                                  <a:cs typeface="Cambria Math" charset="0"/>
                                </a:rPr>
                              </m:ctrlPr>
                            </m:sSupPr>
                            <m:e>
                              <m:r>
                                <a:rPr lang="en-US" sz="2400" b="0" i="1" smtClean="0">
                                  <a:latin typeface="Cambria Math" charset="0"/>
                                  <a:ea typeface="Cambria Math" charset="0"/>
                                  <a:cs typeface="Cambria Math" charset="0"/>
                                </a:rPr>
                                <m:t>𝑒</m:t>
                              </m:r>
                            </m:e>
                            <m:sup>
                              <m:r>
                                <a:rPr lang="en-US" sz="2400" b="0" i="1" smtClean="0">
                                  <a:latin typeface="Cambria Math" charset="0"/>
                                  <a:ea typeface="Cambria Math" charset="0"/>
                                  <a:cs typeface="Cambria Math" charset="0"/>
                                </a:rPr>
                                <m:t>−</m:t>
                              </m:r>
                              <m:r>
                                <a:rPr lang="en-US" sz="2400" b="0" i="1" smtClean="0">
                                  <a:latin typeface="Cambria Math" charset="0"/>
                                  <a:ea typeface="Cambria Math" charset="0"/>
                                  <a:cs typeface="Cambria Math" charset="0"/>
                                </a:rPr>
                                <m:t>𝑧</m:t>
                              </m:r>
                            </m:sup>
                          </m:sSup>
                          <m:r>
                            <a:rPr lang="en-US" sz="2400" b="0" i="1" smtClean="0">
                              <a:latin typeface="Cambria Math" charset="0"/>
                              <a:ea typeface="Cambria Math" charset="0"/>
                              <a:cs typeface="Cambria Math" charset="0"/>
                            </a:rPr>
                            <m:t>)</m:t>
                          </m:r>
                        </m:num>
                        <m:den>
                          <m:sSup>
                            <m:sSupPr>
                              <m:ctrlPr>
                                <a:rPr lang="en-US" sz="2400" b="0" i="1" smtClean="0">
                                  <a:latin typeface="Cambria Math" panose="02040503050406030204" pitchFamily="18" charset="0"/>
                                  <a:ea typeface="Cambria Math" charset="0"/>
                                  <a:cs typeface="Cambria Math" charset="0"/>
                                </a:rPr>
                              </m:ctrlPr>
                            </m:sSupPr>
                            <m:e>
                              <m:d>
                                <m:dPr>
                                  <m:ctrlPr>
                                    <a:rPr lang="en-US" sz="2400" b="0" i="1" smtClean="0">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1+</m:t>
                                  </m:r>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e>
                              </m:d>
                            </m:e>
                            <m:sup>
                              <m:r>
                                <a:rPr lang="en-US" sz="2400" b="0" i="1" smtClean="0">
                                  <a:latin typeface="Cambria Math" charset="0"/>
                                  <a:ea typeface="Cambria Math" charset="0"/>
                                  <a:cs typeface="Cambria Math" charset="0"/>
                                </a:rPr>
                                <m:t>2</m:t>
                              </m:r>
                            </m:sup>
                          </m:sSup>
                        </m:den>
                      </m:f>
                    </m:oMath>
                  </m:oMathPara>
                </a14:m>
                <a:endParaRPr lang="en-US" sz="3200" dirty="0"/>
              </a:p>
            </p:txBody>
          </p:sp>
        </mc:Choice>
        <mc:Fallback xmlns="">
          <p:sp>
            <p:nvSpPr>
              <p:cNvPr id="7" name="Rectangle 6"/>
              <p:cNvSpPr>
                <a:spLocks noRot="1" noChangeAspect="1" noMove="1" noResize="1" noEditPoints="1" noAdjustHandles="1" noChangeArrowheads="1" noChangeShapeType="1" noTextEdit="1"/>
              </p:cNvSpPr>
              <p:nvPr/>
            </p:nvSpPr>
            <p:spPr>
              <a:xfrm>
                <a:off x="2178566" y="2743200"/>
                <a:ext cx="3010696" cy="866584"/>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951326" y="2743199"/>
                <a:ext cx="2057486" cy="8533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m:t>
                      </m:r>
                      <m:f>
                        <m:fPr>
                          <m:ctrlPr>
                            <a:rPr lang="mr-IN" sz="2400" i="1" smtClean="0">
                              <a:latin typeface="Cambria Math" panose="02040503050406030204" pitchFamily="18" charset="0"/>
                              <a:ea typeface="Cambria Math" charset="0"/>
                              <a:cs typeface="Cambria Math" charset="0"/>
                            </a:rPr>
                          </m:ctrlPr>
                        </m:fPr>
                        <m:num>
                          <m:sSup>
                            <m:sSupPr>
                              <m:ctrlPr>
                                <a:rPr lang="en-US" sz="2400" b="0" i="1" smtClean="0">
                                  <a:latin typeface="Cambria Math" panose="02040503050406030204" pitchFamily="18" charset="0"/>
                                  <a:ea typeface="Cambria Math" charset="0"/>
                                  <a:cs typeface="Cambria Math" charset="0"/>
                                </a:rPr>
                              </m:ctrlPr>
                            </m:sSupPr>
                            <m:e>
                              <m:r>
                                <a:rPr lang="en-US" sz="2400" b="0" i="1" smtClean="0">
                                  <a:latin typeface="Cambria Math" charset="0"/>
                                  <a:ea typeface="Cambria Math" charset="0"/>
                                  <a:cs typeface="Cambria Math" charset="0"/>
                                </a:rPr>
                                <m:t>𝑒</m:t>
                              </m:r>
                            </m:e>
                            <m:sup>
                              <m:r>
                                <a:rPr lang="en-US" sz="2400" b="0" i="1" smtClean="0">
                                  <a:latin typeface="Cambria Math" charset="0"/>
                                  <a:ea typeface="Cambria Math" charset="0"/>
                                  <a:cs typeface="Cambria Math" charset="0"/>
                                </a:rPr>
                                <m:t>−</m:t>
                              </m:r>
                              <m:r>
                                <a:rPr lang="en-US" sz="2400" b="0" i="1" smtClean="0">
                                  <a:latin typeface="Cambria Math" charset="0"/>
                                  <a:ea typeface="Cambria Math" charset="0"/>
                                  <a:cs typeface="Cambria Math" charset="0"/>
                                </a:rPr>
                                <m:t>𝑧</m:t>
                              </m:r>
                            </m:sup>
                          </m:sSup>
                        </m:num>
                        <m:den>
                          <m:sSup>
                            <m:sSupPr>
                              <m:ctrlPr>
                                <a:rPr lang="en-US" sz="2400" b="0" i="1" smtClean="0">
                                  <a:latin typeface="Cambria Math" panose="02040503050406030204" pitchFamily="18" charset="0"/>
                                  <a:ea typeface="Cambria Math" charset="0"/>
                                  <a:cs typeface="Cambria Math" charset="0"/>
                                </a:rPr>
                              </m:ctrlPr>
                            </m:sSupPr>
                            <m:e>
                              <m:d>
                                <m:dPr>
                                  <m:ctrlPr>
                                    <a:rPr lang="en-US" sz="2400" b="0" i="1" smtClean="0">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1+</m:t>
                                  </m:r>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e>
                              </m:d>
                            </m:e>
                            <m:sup>
                              <m:r>
                                <a:rPr lang="en-US" sz="2400" b="0" i="1" smtClean="0">
                                  <a:latin typeface="Cambria Math" charset="0"/>
                                  <a:ea typeface="Cambria Math" charset="0"/>
                                  <a:cs typeface="Cambria Math" charset="0"/>
                                </a:rPr>
                                <m:t>2</m:t>
                              </m:r>
                            </m:sup>
                          </m:sSup>
                        </m:den>
                      </m:f>
                    </m:oMath>
                  </m:oMathPara>
                </a14:m>
                <a:endParaRPr lang="en-US" sz="2400" dirty="0"/>
              </a:p>
            </p:txBody>
          </p:sp>
        </mc:Choice>
        <mc:Fallback xmlns="">
          <p:sp>
            <p:nvSpPr>
              <p:cNvPr id="9" name="Rectangle 8"/>
              <p:cNvSpPr>
                <a:spLocks noRot="1" noChangeAspect="1" noMove="1" noResize="1" noEditPoints="1" noAdjustHandles="1" noChangeArrowheads="1" noChangeShapeType="1" noTextEdit="1"/>
              </p:cNvSpPr>
              <p:nvPr/>
            </p:nvSpPr>
            <p:spPr>
              <a:xfrm>
                <a:off x="4951326" y="2743199"/>
                <a:ext cx="2057486" cy="85331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982912" y="3810000"/>
                <a:ext cx="2195408" cy="8533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m:t>
                      </m:r>
                      <m:f>
                        <m:fPr>
                          <m:ctrlPr>
                            <a:rPr lang="mr-IN" sz="2400" i="1">
                              <a:latin typeface="Cambria Math" panose="02040503050406030204" pitchFamily="18" charset="0"/>
                              <a:ea typeface="Cambria Math" charset="0"/>
                              <a:cs typeface="Cambria Math" charset="0"/>
                            </a:rPr>
                          </m:ctrlPr>
                        </m:fPr>
                        <m:num>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1+</m:t>
                              </m:r>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r>
                            <a:rPr lang="en-US" sz="2400" i="1">
                              <a:latin typeface="Cambria Math" charset="0"/>
                              <a:ea typeface="Cambria Math" charset="0"/>
                              <a:cs typeface="Cambria Math" charset="0"/>
                            </a:rPr>
                            <m:t>−1</m:t>
                          </m:r>
                        </m:num>
                        <m:den>
                          <m:sSup>
                            <m:sSupPr>
                              <m:ctrlPr>
                                <a:rPr lang="en-US" sz="2400" i="1">
                                  <a:latin typeface="Cambria Math" panose="02040503050406030204" pitchFamily="18" charset="0"/>
                                  <a:ea typeface="Cambria Math" charset="0"/>
                                  <a:cs typeface="Cambria Math" charset="0"/>
                                </a:rPr>
                              </m:ctrlPr>
                            </m:sSupPr>
                            <m:e>
                              <m:d>
                                <m:dPr>
                                  <m:ctrlPr>
                                    <a:rPr lang="en-US" sz="2400" i="1">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1+</m:t>
                                  </m:r>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e>
                              </m:d>
                            </m:e>
                            <m:sup>
                              <m:r>
                                <a:rPr lang="en-US" sz="2400" i="1">
                                  <a:latin typeface="Cambria Math" charset="0"/>
                                  <a:ea typeface="Cambria Math" charset="0"/>
                                  <a:cs typeface="Cambria Math" charset="0"/>
                                </a:rPr>
                                <m:t>2</m:t>
                              </m:r>
                            </m:sup>
                          </m:sSup>
                        </m:den>
                      </m:f>
                    </m:oMath>
                  </m:oMathPara>
                </a14:m>
                <a:endParaRPr lang="en-US" sz="2400" dirty="0"/>
              </a:p>
            </p:txBody>
          </p:sp>
        </mc:Choice>
        <mc:Fallback xmlns="">
          <p:sp>
            <p:nvSpPr>
              <p:cNvPr id="10" name="Rectangle 9"/>
              <p:cNvSpPr>
                <a:spLocks noRot="1" noChangeAspect="1" noMove="1" noResize="1" noEditPoints="1" noAdjustHandles="1" noChangeArrowheads="1" noChangeShapeType="1" noTextEdit="1"/>
              </p:cNvSpPr>
              <p:nvPr/>
            </p:nvSpPr>
            <p:spPr>
              <a:xfrm>
                <a:off x="2982912" y="3810000"/>
                <a:ext cx="2195408" cy="853311"/>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040398" y="3809999"/>
                <a:ext cx="3826176" cy="8533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m:t>
                      </m:r>
                      <m:f>
                        <m:fPr>
                          <m:ctrlPr>
                            <a:rPr lang="mr-IN" sz="2400" i="1">
                              <a:latin typeface="Cambria Math" panose="02040503050406030204" pitchFamily="18" charset="0"/>
                              <a:ea typeface="Cambria Math" charset="0"/>
                              <a:cs typeface="Cambria Math" charset="0"/>
                            </a:rPr>
                          </m:ctrlPr>
                        </m:fPr>
                        <m:num>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1+</m:t>
                              </m:r>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num>
                        <m:den>
                          <m:sSup>
                            <m:sSupPr>
                              <m:ctrlPr>
                                <a:rPr lang="en-US" sz="2400" i="1">
                                  <a:latin typeface="Cambria Math" panose="02040503050406030204" pitchFamily="18" charset="0"/>
                                  <a:ea typeface="Cambria Math" charset="0"/>
                                  <a:cs typeface="Cambria Math" charset="0"/>
                                </a:rPr>
                              </m:ctrlPr>
                            </m:sSupPr>
                            <m:e>
                              <m:d>
                                <m:dPr>
                                  <m:ctrlPr>
                                    <a:rPr lang="en-US" sz="2400" i="1">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1+</m:t>
                                  </m:r>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e>
                              </m:d>
                            </m:e>
                            <m:sup>
                              <m:r>
                                <a:rPr lang="en-US" sz="2400" i="1">
                                  <a:latin typeface="Cambria Math" charset="0"/>
                                  <a:ea typeface="Cambria Math" charset="0"/>
                                  <a:cs typeface="Cambria Math" charset="0"/>
                                </a:rPr>
                                <m:t>2</m:t>
                              </m:r>
                            </m:sup>
                          </m:sSup>
                        </m:den>
                      </m:f>
                      <m:r>
                        <a:rPr lang="en-US" sz="2400" i="1">
                          <a:latin typeface="Cambria Math" charset="0"/>
                          <a:ea typeface="Cambria Math" charset="0"/>
                          <a:cs typeface="Cambria Math" charset="0"/>
                        </a:rPr>
                        <m:t>−</m:t>
                      </m:r>
                      <m:f>
                        <m:fPr>
                          <m:ctrlPr>
                            <a:rPr lang="mr-IN" sz="2400" i="1">
                              <a:latin typeface="Cambria Math" panose="02040503050406030204" pitchFamily="18" charset="0"/>
                              <a:ea typeface="Cambria Math" charset="0"/>
                              <a:cs typeface="Cambria Math" charset="0"/>
                            </a:rPr>
                          </m:ctrlPr>
                        </m:fPr>
                        <m:num>
                          <m:r>
                            <a:rPr lang="en-US" sz="2400" i="1">
                              <a:latin typeface="Cambria Math" charset="0"/>
                              <a:ea typeface="Cambria Math" charset="0"/>
                              <a:cs typeface="Cambria Math" charset="0"/>
                            </a:rPr>
                            <m:t>1</m:t>
                          </m:r>
                        </m:num>
                        <m:den>
                          <m:sSup>
                            <m:sSupPr>
                              <m:ctrlPr>
                                <a:rPr lang="en-US" sz="2400" i="1">
                                  <a:latin typeface="Cambria Math" panose="02040503050406030204" pitchFamily="18" charset="0"/>
                                  <a:ea typeface="Cambria Math" charset="0"/>
                                  <a:cs typeface="Cambria Math" charset="0"/>
                                </a:rPr>
                              </m:ctrlPr>
                            </m:sSupPr>
                            <m:e>
                              <m:d>
                                <m:dPr>
                                  <m:ctrlPr>
                                    <a:rPr lang="en-US" sz="2400" i="1">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1+</m:t>
                                  </m:r>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e>
                              </m:d>
                            </m:e>
                            <m:sup>
                              <m:r>
                                <a:rPr lang="en-US" sz="2400" i="1">
                                  <a:latin typeface="Cambria Math" charset="0"/>
                                  <a:ea typeface="Cambria Math" charset="0"/>
                                  <a:cs typeface="Cambria Math" charset="0"/>
                                </a:rPr>
                                <m:t>2</m:t>
                              </m:r>
                            </m:sup>
                          </m:sSup>
                        </m:den>
                      </m:f>
                    </m:oMath>
                  </m:oMathPara>
                </a14:m>
                <a:endParaRPr lang="en-US" sz="2400" dirty="0"/>
              </a:p>
            </p:txBody>
          </p:sp>
        </mc:Choice>
        <mc:Fallback xmlns="">
          <p:sp>
            <p:nvSpPr>
              <p:cNvPr id="11" name="Rectangle 10"/>
              <p:cNvSpPr>
                <a:spLocks noRot="1" noChangeAspect="1" noMove="1" noResize="1" noEditPoints="1" noAdjustHandles="1" noChangeArrowheads="1" noChangeShapeType="1" noTextEdit="1"/>
              </p:cNvSpPr>
              <p:nvPr/>
            </p:nvSpPr>
            <p:spPr>
              <a:xfrm>
                <a:off x="5040398" y="3809999"/>
                <a:ext cx="3826176" cy="85331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970212" y="4922072"/>
                <a:ext cx="3428118" cy="8384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m:t>
                      </m:r>
                      <m:f>
                        <m:fPr>
                          <m:ctrlPr>
                            <a:rPr lang="mr-IN" sz="2400" i="1">
                              <a:latin typeface="Cambria Math" panose="02040503050406030204" pitchFamily="18" charset="0"/>
                              <a:ea typeface="Cambria Math" charset="0"/>
                              <a:cs typeface="Cambria Math" charset="0"/>
                            </a:rPr>
                          </m:ctrlPr>
                        </m:fPr>
                        <m:num>
                          <m:r>
                            <a:rPr lang="en-US" sz="2400" b="0" i="1" smtClean="0">
                              <a:latin typeface="Cambria Math" charset="0"/>
                              <a:ea typeface="Cambria Math" charset="0"/>
                              <a:cs typeface="Cambria Math" charset="0"/>
                            </a:rPr>
                            <m:t>1</m:t>
                          </m:r>
                        </m:num>
                        <m:den>
                          <m:r>
                            <a:rPr lang="en-US" sz="2400" b="0" i="1" smtClean="0">
                              <a:latin typeface="Cambria Math" charset="0"/>
                              <a:ea typeface="Cambria Math" charset="0"/>
                              <a:cs typeface="Cambria Math" charset="0"/>
                            </a:rPr>
                            <m:t>1+</m:t>
                          </m:r>
                          <m:sSup>
                            <m:sSupPr>
                              <m:ctrlPr>
                                <a:rPr lang="en-US" sz="2400" b="0" i="1" smtClean="0">
                                  <a:latin typeface="Cambria Math" panose="02040503050406030204" pitchFamily="18" charset="0"/>
                                  <a:ea typeface="Cambria Math" charset="0"/>
                                  <a:cs typeface="Cambria Math" charset="0"/>
                                </a:rPr>
                              </m:ctrlPr>
                            </m:sSupPr>
                            <m:e>
                              <m:r>
                                <a:rPr lang="en-US" sz="2400" b="0" i="1" smtClean="0">
                                  <a:latin typeface="Cambria Math" charset="0"/>
                                  <a:ea typeface="Cambria Math" charset="0"/>
                                  <a:cs typeface="Cambria Math" charset="0"/>
                                </a:rPr>
                                <m:t>𝑒</m:t>
                              </m:r>
                            </m:e>
                            <m:sup>
                              <m:r>
                                <a:rPr lang="en-US" sz="2400" b="0" i="1" smtClean="0">
                                  <a:latin typeface="Cambria Math" charset="0"/>
                                  <a:ea typeface="Cambria Math" charset="0"/>
                                  <a:cs typeface="Cambria Math" charset="0"/>
                                </a:rPr>
                                <m:t>−</m:t>
                              </m:r>
                              <m:r>
                                <a:rPr lang="en-US" sz="2400" b="0" i="1" smtClean="0">
                                  <a:latin typeface="Cambria Math" charset="0"/>
                                  <a:ea typeface="Cambria Math" charset="0"/>
                                  <a:cs typeface="Cambria Math" charset="0"/>
                                </a:rPr>
                                <m:t>𝑧</m:t>
                              </m:r>
                            </m:sup>
                          </m:sSup>
                        </m:den>
                      </m:f>
                      <m:r>
                        <a:rPr lang="en-US" sz="2400" i="1">
                          <a:latin typeface="Cambria Math" charset="0"/>
                          <a:ea typeface="Cambria Math" charset="0"/>
                          <a:cs typeface="Cambria Math" charset="0"/>
                        </a:rPr>
                        <m:t>−</m:t>
                      </m:r>
                      <m:f>
                        <m:fPr>
                          <m:ctrlPr>
                            <a:rPr lang="mr-IN" sz="2400" i="1">
                              <a:latin typeface="Cambria Math" panose="02040503050406030204" pitchFamily="18" charset="0"/>
                              <a:ea typeface="Cambria Math" charset="0"/>
                              <a:cs typeface="Cambria Math" charset="0"/>
                            </a:rPr>
                          </m:ctrlPr>
                        </m:fPr>
                        <m:num>
                          <m:r>
                            <a:rPr lang="en-US" sz="2400" i="1">
                              <a:latin typeface="Cambria Math" charset="0"/>
                              <a:ea typeface="Cambria Math" charset="0"/>
                              <a:cs typeface="Cambria Math" charset="0"/>
                            </a:rPr>
                            <m:t>1</m:t>
                          </m:r>
                        </m:num>
                        <m:den>
                          <m:sSup>
                            <m:sSupPr>
                              <m:ctrlPr>
                                <a:rPr lang="en-US" sz="2400" i="1">
                                  <a:latin typeface="Cambria Math" panose="02040503050406030204" pitchFamily="18" charset="0"/>
                                  <a:ea typeface="Cambria Math" charset="0"/>
                                  <a:cs typeface="Cambria Math" charset="0"/>
                                </a:rPr>
                              </m:ctrlPr>
                            </m:sSupPr>
                            <m:e>
                              <m:d>
                                <m:dPr>
                                  <m:ctrlPr>
                                    <a:rPr lang="en-US" sz="2400" i="1">
                                      <a:latin typeface="Cambria Math" panose="02040503050406030204" pitchFamily="18" charset="0"/>
                                      <a:ea typeface="Cambria Math" charset="0"/>
                                      <a:cs typeface="Cambria Math" charset="0"/>
                                    </a:rPr>
                                  </m:ctrlPr>
                                </m:dPr>
                                <m:e>
                                  <m:r>
                                    <a:rPr lang="en-US" sz="2400" i="1">
                                      <a:latin typeface="Cambria Math" charset="0"/>
                                      <a:ea typeface="Cambria Math" charset="0"/>
                                      <a:cs typeface="Cambria Math" charset="0"/>
                                    </a:rPr>
                                    <m:t>1+</m:t>
                                  </m:r>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e>
                              </m:d>
                            </m:e>
                            <m:sup>
                              <m:r>
                                <a:rPr lang="en-US" sz="2400" i="1">
                                  <a:latin typeface="Cambria Math" charset="0"/>
                                  <a:ea typeface="Cambria Math" charset="0"/>
                                  <a:cs typeface="Cambria Math" charset="0"/>
                                </a:rPr>
                                <m:t>2</m:t>
                              </m:r>
                            </m:sup>
                          </m:sSup>
                        </m:den>
                      </m:f>
                    </m:oMath>
                  </m:oMathPara>
                </a14:m>
                <a:endParaRPr lang="en-US" sz="2400" dirty="0"/>
              </a:p>
            </p:txBody>
          </p:sp>
        </mc:Choice>
        <mc:Fallback xmlns="">
          <p:sp>
            <p:nvSpPr>
              <p:cNvPr id="12" name="Rectangle 11"/>
              <p:cNvSpPr>
                <a:spLocks noRot="1" noChangeAspect="1" noMove="1" noResize="1" noEditPoints="1" noAdjustHandles="1" noChangeArrowheads="1" noChangeShapeType="1" noTextEdit="1"/>
              </p:cNvSpPr>
              <p:nvPr/>
            </p:nvSpPr>
            <p:spPr>
              <a:xfrm>
                <a:off x="2970212" y="4922072"/>
                <a:ext cx="3428118" cy="838435"/>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6288650" y="4922072"/>
                <a:ext cx="3555460" cy="7940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charset="0"/>
                          <a:ea typeface="Cambria Math" charset="0"/>
                          <a:cs typeface="Cambria Math" charset="0"/>
                        </a:rPr>
                        <m:t>=</m:t>
                      </m:r>
                      <m:f>
                        <m:fPr>
                          <m:ctrlPr>
                            <a:rPr lang="mr-IN" sz="2400" i="1">
                              <a:latin typeface="Cambria Math" panose="02040503050406030204" pitchFamily="18" charset="0"/>
                              <a:ea typeface="Cambria Math" charset="0"/>
                              <a:cs typeface="Cambria Math" charset="0"/>
                            </a:rPr>
                          </m:ctrlPr>
                        </m:fPr>
                        <m:num>
                          <m:r>
                            <a:rPr lang="en-US" sz="2400" b="0" i="1" smtClean="0">
                              <a:latin typeface="Cambria Math" charset="0"/>
                              <a:ea typeface="Cambria Math" charset="0"/>
                              <a:cs typeface="Cambria Math" charset="0"/>
                            </a:rPr>
                            <m:t>1</m:t>
                          </m:r>
                        </m:num>
                        <m:den>
                          <m:r>
                            <a:rPr lang="en-US" sz="2400" b="0" i="1" smtClean="0">
                              <a:latin typeface="Cambria Math" charset="0"/>
                              <a:ea typeface="Cambria Math" charset="0"/>
                              <a:cs typeface="Cambria Math" charset="0"/>
                            </a:rPr>
                            <m:t>1+</m:t>
                          </m:r>
                          <m:sSup>
                            <m:sSupPr>
                              <m:ctrlPr>
                                <a:rPr lang="en-US" sz="2400" b="0" i="1" smtClean="0">
                                  <a:latin typeface="Cambria Math" panose="02040503050406030204" pitchFamily="18" charset="0"/>
                                  <a:ea typeface="Cambria Math" charset="0"/>
                                  <a:cs typeface="Cambria Math" charset="0"/>
                                </a:rPr>
                              </m:ctrlPr>
                            </m:sSupPr>
                            <m:e>
                              <m:r>
                                <a:rPr lang="en-US" sz="2400" b="0" i="1" smtClean="0">
                                  <a:latin typeface="Cambria Math" charset="0"/>
                                  <a:ea typeface="Cambria Math" charset="0"/>
                                  <a:cs typeface="Cambria Math" charset="0"/>
                                </a:rPr>
                                <m:t>𝑒</m:t>
                              </m:r>
                            </m:e>
                            <m:sup>
                              <m:r>
                                <a:rPr lang="en-US" sz="2400" b="0" i="1" smtClean="0">
                                  <a:latin typeface="Cambria Math" charset="0"/>
                                  <a:ea typeface="Cambria Math" charset="0"/>
                                  <a:cs typeface="Cambria Math" charset="0"/>
                                </a:rPr>
                                <m:t>−</m:t>
                              </m:r>
                              <m:r>
                                <a:rPr lang="en-US" sz="2400" b="0" i="1" smtClean="0">
                                  <a:latin typeface="Cambria Math" charset="0"/>
                                  <a:ea typeface="Cambria Math" charset="0"/>
                                  <a:cs typeface="Cambria Math" charset="0"/>
                                </a:rPr>
                                <m:t>𝑧</m:t>
                              </m:r>
                            </m:sup>
                          </m:sSup>
                        </m:den>
                      </m:f>
                      <m:d>
                        <m:dPr>
                          <m:ctrlPr>
                            <a:rPr lang="mr-IN" sz="2400" i="1" smtClean="0">
                              <a:latin typeface="Cambria Math" panose="02040503050406030204" pitchFamily="18" charset="0"/>
                              <a:ea typeface="Cambria Math" charset="0"/>
                              <a:cs typeface="Cambria Math" charset="0"/>
                            </a:rPr>
                          </m:ctrlPr>
                        </m:dPr>
                        <m:e>
                          <m:r>
                            <a:rPr lang="en-US" sz="2400" b="0" i="1" smtClean="0">
                              <a:latin typeface="Cambria Math" charset="0"/>
                              <a:ea typeface="Cambria Math" charset="0"/>
                              <a:cs typeface="Cambria Math" charset="0"/>
                            </a:rPr>
                            <m:t>1−</m:t>
                          </m:r>
                          <m:f>
                            <m:fPr>
                              <m:ctrlPr>
                                <a:rPr lang="mr-IN" sz="2400" i="1">
                                  <a:latin typeface="Cambria Math" panose="02040503050406030204" pitchFamily="18" charset="0"/>
                                  <a:ea typeface="Cambria Math" charset="0"/>
                                  <a:cs typeface="Cambria Math" charset="0"/>
                                </a:rPr>
                              </m:ctrlPr>
                            </m:fPr>
                            <m:num>
                              <m:r>
                                <a:rPr lang="en-US" sz="2400" i="1">
                                  <a:latin typeface="Cambria Math" charset="0"/>
                                  <a:ea typeface="Cambria Math" charset="0"/>
                                  <a:cs typeface="Cambria Math" charset="0"/>
                                </a:rPr>
                                <m:t>1</m:t>
                              </m:r>
                            </m:num>
                            <m:den>
                              <m:r>
                                <a:rPr lang="en-US" sz="2400" i="1">
                                  <a:latin typeface="Cambria Math" charset="0"/>
                                  <a:ea typeface="Cambria Math" charset="0"/>
                                  <a:cs typeface="Cambria Math" charset="0"/>
                                </a:rPr>
                                <m:t>1+</m:t>
                              </m:r>
                              <m:sSup>
                                <m:sSupPr>
                                  <m:ctrlPr>
                                    <a:rPr lang="en-US" sz="2400" i="1">
                                      <a:latin typeface="Cambria Math" panose="02040503050406030204" pitchFamily="18" charset="0"/>
                                      <a:ea typeface="Cambria Math" charset="0"/>
                                      <a:cs typeface="Cambria Math" charset="0"/>
                                    </a:rPr>
                                  </m:ctrlPr>
                                </m:sSupPr>
                                <m:e>
                                  <m:r>
                                    <a:rPr lang="en-US" sz="2400" i="1">
                                      <a:latin typeface="Cambria Math" charset="0"/>
                                      <a:ea typeface="Cambria Math" charset="0"/>
                                      <a:cs typeface="Cambria Math" charset="0"/>
                                    </a:rPr>
                                    <m:t>𝑒</m:t>
                                  </m:r>
                                </m:e>
                                <m:sup>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𝑧</m:t>
                                  </m:r>
                                </m:sup>
                              </m:sSup>
                            </m:den>
                          </m:f>
                        </m:e>
                      </m:d>
                    </m:oMath>
                  </m:oMathPara>
                </a14:m>
                <a:endParaRPr lang="en-US" sz="2400" dirty="0"/>
              </a:p>
            </p:txBody>
          </p:sp>
        </mc:Choice>
        <mc:Fallback xmlns="">
          <p:sp>
            <p:nvSpPr>
              <p:cNvPr id="13" name="Rectangle 12"/>
              <p:cNvSpPr>
                <a:spLocks noRot="1" noChangeAspect="1" noMove="1" noResize="1" noEditPoints="1" noAdjustHandles="1" noChangeArrowheads="1" noChangeShapeType="1" noTextEdit="1"/>
              </p:cNvSpPr>
              <p:nvPr/>
            </p:nvSpPr>
            <p:spPr>
              <a:xfrm>
                <a:off x="6288650" y="4922072"/>
                <a:ext cx="3555460" cy="794064"/>
              </a:xfrm>
              <a:prstGeom prst="rect">
                <a:avLst/>
              </a:prstGeom>
              <a:blipFill rotWithShape="0">
                <a:blip r:embed="rId9"/>
                <a:stretch>
                  <a:fillRect/>
                </a:stretch>
              </a:blipFill>
            </p:spPr>
            <p:txBody>
              <a:bodyPr/>
              <a:lstStyle/>
              <a:p>
                <a:r>
                  <a:rPr lang="en-US">
                    <a:noFill/>
                  </a:rPr>
                  <a:t> </a:t>
                </a:r>
              </a:p>
            </p:txBody>
          </p:sp>
        </mc:Fallback>
      </mc:AlternateContent>
      <p:cxnSp>
        <p:nvCxnSpPr>
          <p:cNvPr id="15" name="Straight Connector 14"/>
          <p:cNvCxnSpPr/>
          <p:nvPr/>
        </p:nvCxnSpPr>
        <p:spPr>
          <a:xfrm>
            <a:off x="5781700" y="3860799"/>
            <a:ext cx="975001" cy="30480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704012" y="4314096"/>
            <a:ext cx="251695" cy="11820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p:cNvSpPr/>
              <p:nvPr/>
            </p:nvSpPr>
            <p:spPr>
              <a:xfrm>
                <a:off x="3037055" y="6013628"/>
                <a:ext cx="1836272" cy="523220"/>
              </a:xfrm>
              <a:prstGeom prst="rect">
                <a:avLst/>
              </a:prstGeom>
            </p:spPr>
            <p:txBody>
              <a:bodyPr wrap="none">
                <a:spAutoFit/>
              </a:bodyPr>
              <a:lstStyle/>
              <a:p>
                <a:r>
                  <a:rPr lang="en-US" sz="2800" dirty="0" smtClean="0">
                    <a:ea typeface="Cambria Math" charset="0"/>
                    <a:cs typeface="Cambria Math" charset="0"/>
                  </a:rPr>
                  <a:t>= </a:t>
                </a:r>
                <a14:m>
                  <m:oMath xmlns:m="http://schemas.openxmlformats.org/officeDocument/2006/math">
                    <m:r>
                      <a:rPr lang="en-US" sz="2800" i="1">
                        <a:latin typeface="Cambria Math" charset="0"/>
                        <a:ea typeface="Cambria Math" charset="0"/>
                        <a:cs typeface="Cambria Math" charset="0"/>
                      </a:rPr>
                      <m:t>𝜎</m:t>
                    </m:r>
                    <m:r>
                      <a:rPr lang="en-US" sz="2800" b="0" i="1" smtClean="0">
                        <a:latin typeface="Cambria Math" charset="0"/>
                        <a:ea typeface="Cambria Math" charset="0"/>
                        <a:cs typeface="Cambria Math" charset="0"/>
                      </a:rPr>
                      <m:t>(1−</m:t>
                    </m:r>
                    <m:r>
                      <a:rPr lang="en-US" sz="2800" i="1">
                        <a:latin typeface="Cambria Math" charset="0"/>
                        <a:ea typeface="Cambria Math" charset="0"/>
                        <a:cs typeface="Cambria Math" charset="0"/>
                      </a:rPr>
                      <m:t>𝜎</m:t>
                    </m:r>
                  </m:oMath>
                </a14:m>
                <a:r>
                  <a:rPr lang="en-US" sz="2800" dirty="0" smtClean="0"/>
                  <a:t>)</a:t>
                </a:r>
                <a:endParaRPr lang="en-US" sz="2800" dirty="0"/>
              </a:p>
            </p:txBody>
          </p:sp>
        </mc:Choice>
        <mc:Fallback xmlns="">
          <p:sp>
            <p:nvSpPr>
              <p:cNvPr id="18" name="Rectangle 17"/>
              <p:cNvSpPr>
                <a:spLocks noRot="1" noChangeAspect="1" noMove="1" noResize="1" noEditPoints="1" noAdjustHandles="1" noChangeArrowheads="1" noChangeShapeType="1" noTextEdit="1"/>
              </p:cNvSpPr>
              <p:nvPr/>
            </p:nvSpPr>
            <p:spPr>
              <a:xfrm>
                <a:off x="3037055" y="6013628"/>
                <a:ext cx="1836272" cy="523220"/>
              </a:xfrm>
              <a:prstGeom prst="rect">
                <a:avLst/>
              </a:prstGeom>
              <a:blipFill rotWithShape="0">
                <a:blip r:embed="rId10"/>
                <a:stretch>
                  <a:fillRect l="-6645" t="-12791" r="-5980" b="-30233"/>
                </a:stretch>
              </a:blipFill>
            </p:spPr>
            <p:txBody>
              <a:bodyPr/>
              <a:lstStyle/>
              <a:p>
                <a:r>
                  <a:rPr lang="en-US">
                    <a:noFill/>
                  </a:rPr>
                  <a:t> </a:t>
                </a:r>
              </a:p>
            </p:txBody>
          </p:sp>
        </mc:Fallback>
      </mc:AlternateContent>
    </p:spTree>
    <p:extLst>
      <p:ext uri="{BB962C8B-B14F-4D97-AF65-F5344CB8AC3E}">
        <p14:creationId xmlns:p14="http://schemas.microsoft.com/office/powerpoint/2010/main" val="15011890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10" grpId="0"/>
      <p:bldP spid="11" grpId="0"/>
      <p:bldP spid="12" grpId="0"/>
      <p:bldP spid="13" grpId="0"/>
      <p:bldP spid="1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177800"/>
            <a:ext cx="9782801" cy="1346200"/>
          </a:xfrm>
        </p:spPr>
        <p:txBody>
          <a:bodyPr>
            <a:normAutofit/>
          </a:bodyPr>
          <a:lstStyle/>
          <a:p>
            <a:r>
              <a:rPr lang="en-US" sz="2800" dirty="0" smtClean="0"/>
              <a:t>We can plug in the sigmoid as our activation function</a:t>
            </a:r>
            <a:endParaRPr lang="en-US" sz="2800" dirty="0"/>
          </a:p>
        </p:txBody>
      </p:sp>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8564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856412" y="3678567"/>
                <a:ext cx="973917" cy="973917"/>
              </a:xfrm>
              <a:prstGeom prst="ellipse">
                <a:avLst/>
              </a:prstGeom>
              <a:blipFill rotWithShape="0">
                <a:blip r:embed="rId4"/>
                <a:stretch>
                  <a:fillRect/>
                </a:stretch>
              </a:blipFill>
            </p:spPr>
            <p:txBody>
              <a:bodyPr/>
              <a:lstStyle/>
              <a:p>
                <a:r>
                  <a:rPr lang="en-US">
                    <a:noFill/>
                  </a:rPr>
                  <a:t> </a:t>
                </a:r>
              </a:p>
            </p:txBody>
          </p:sp>
        </mc:Fallback>
      </mc:AlternateContent>
      <p:cxnSp>
        <p:nvCxnSpPr>
          <p:cNvPr id="27" name="Straight Arrow Connector 26"/>
          <p:cNvCxnSpPr>
            <a:stCxn id="10" idx="6"/>
            <a:endCxn id="17" idx="1"/>
          </p:cNvCxnSpPr>
          <p:nvPr/>
        </p:nvCxnSpPr>
        <p:spPr>
          <a:xfrm>
            <a:off x="4804347" y="2904169"/>
            <a:ext cx="21946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4804347" y="4509857"/>
            <a:ext cx="21946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4804347" y="4165526"/>
            <a:ext cx="20520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303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5581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382347"/>
            <a:ext cx="9782801" cy="1346200"/>
          </a:xfrm>
        </p:spPr>
        <p:txBody>
          <a:bodyPr>
            <a:normAutofit/>
          </a:bodyPr>
          <a:lstStyle/>
          <a:p>
            <a:r>
              <a:rPr lang="en-US" sz="2800" dirty="0" smtClean="0"/>
              <a:t>Depending on the inputs and weights, the neuron will output a value between (0, 1)</a:t>
            </a:r>
            <a:endParaRPr lang="en-US" sz="2800" dirty="0"/>
          </a:p>
        </p:txBody>
      </p:sp>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8564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856412" y="3678567"/>
                <a:ext cx="973917" cy="973917"/>
              </a:xfrm>
              <a:prstGeom prst="ellipse">
                <a:avLst/>
              </a:prstGeom>
              <a:blipFill rotWithShape="0">
                <a:blip r:embed="rId4"/>
                <a:stretch>
                  <a:fillRect/>
                </a:stretch>
              </a:blipFill>
            </p:spPr>
            <p:txBody>
              <a:bodyPr/>
              <a:lstStyle/>
              <a:p>
                <a:r>
                  <a:rPr lang="en-US">
                    <a:noFill/>
                  </a:rPr>
                  <a:t> </a:t>
                </a:r>
              </a:p>
            </p:txBody>
          </p:sp>
        </mc:Fallback>
      </mc:AlternateContent>
      <p:cxnSp>
        <p:nvCxnSpPr>
          <p:cNvPr id="27" name="Straight Arrow Connector 26"/>
          <p:cNvCxnSpPr>
            <a:stCxn id="10" idx="6"/>
            <a:endCxn id="17" idx="1"/>
          </p:cNvCxnSpPr>
          <p:nvPr/>
        </p:nvCxnSpPr>
        <p:spPr>
          <a:xfrm>
            <a:off x="4804347" y="2904169"/>
            <a:ext cx="21946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4804347" y="4509857"/>
            <a:ext cx="21946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4804347" y="4165526"/>
            <a:ext cx="20520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303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1339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593436" y="382347"/>
                <a:ext cx="9782801" cy="1346200"/>
              </a:xfrm>
            </p:spPr>
            <p:txBody>
              <a:bodyPr>
                <a:normAutofit/>
              </a:bodyPr>
              <a:lstStyle/>
              <a:p>
                <a:r>
                  <a:rPr lang="en-US" sz="2800" dirty="0" smtClean="0"/>
                  <a:t>As an example, assume that </a:t>
                </a:r>
                <a14:m>
                  <m:oMath xmlns:m="http://schemas.openxmlformats.org/officeDocument/2006/math">
                    <m:sSub>
                      <m:sSubPr>
                        <m:ctrlPr>
                          <a:rPr lang="en-US" sz="2800" i="1">
                            <a:solidFill>
                              <a:schemeClr val="tx2"/>
                            </a:solidFill>
                            <a:latin typeface="Cambria Math" panose="02040503050406030204" pitchFamily="18" charset="0"/>
                          </a:rPr>
                        </m:ctrlPr>
                      </m:sSubPr>
                      <m:e>
                        <m:r>
                          <a:rPr lang="en-US" sz="2800" i="1">
                            <a:solidFill>
                              <a:schemeClr val="tx2"/>
                            </a:solidFill>
                            <a:latin typeface="Cambria Math" charset="0"/>
                          </a:rPr>
                          <m:t>𝑥</m:t>
                        </m:r>
                      </m:e>
                      <m:sub>
                        <m:r>
                          <a:rPr lang="en-US" sz="2800" i="1" smtClean="0">
                            <a:solidFill>
                              <a:schemeClr val="tx2"/>
                            </a:solidFill>
                            <a:latin typeface="Cambria Math" charset="0"/>
                          </a:rPr>
                          <m:t>1</m:t>
                        </m:r>
                      </m:sub>
                    </m:sSub>
                  </m:oMath>
                </a14:m>
                <a:r>
                  <a:rPr lang="en-US" sz="2800" dirty="0" smtClean="0"/>
                  <a:t> outputs 0.5, and </a:t>
                </a:r>
                <a14:m>
                  <m:oMath xmlns:m="http://schemas.openxmlformats.org/officeDocument/2006/math">
                    <m:sSub>
                      <m:sSubPr>
                        <m:ctrlPr>
                          <a:rPr lang="en-US" sz="2800" i="1" smtClean="0">
                            <a:solidFill>
                              <a:schemeClr val="tx2"/>
                            </a:solidFill>
                            <a:latin typeface="Cambria Math" panose="02040503050406030204" pitchFamily="18" charset="0"/>
                          </a:rPr>
                        </m:ctrlPr>
                      </m:sSubPr>
                      <m:e>
                        <m:r>
                          <a:rPr lang="en-US" sz="2800" i="1">
                            <a:solidFill>
                              <a:schemeClr val="tx2"/>
                            </a:solidFill>
                            <a:latin typeface="Cambria Math" charset="0"/>
                          </a:rPr>
                          <m:t>𝑥</m:t>
                        </m:r>
                      </m:e>
                      <m:sub>
                        <m:r>
                          <a:rPr lang="en-US" sz="2800" b="0" i="1" smtClean="0">
                            <a:solidFill>
                              <a:schemeClr val="tx2"/>
                            </a:solidFill>
                            <a:latin typeface="Cambria Math" charset="0"/>
                          </a:rPr>
                          <m:t>2</m:t>
                        </m:r>
                      </m:sub>
                    </m:sSub>
                  </m:oMath>
                </a14:m>
                <a:r>
                  <a:rPr lang="en-US" sz="2800" dirty="0" smtClean="0"/>
                  <a:t> outputs 1.0</a:t>
                </a:r>
                <a:endParaRPr lang="en-US" sz="28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593436" y="382347"/>
                <a:ext cx="9782801" cy="1346200"/>
              </a:xfrm>
              <a:blipFill rotWithShape="0">
                <a:blip r:embed="rId2"/>
                <a:stretch>
                  <a:fillRect l="-1246" b="-126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4"/>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8564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856412" y="3678567"/>
                <a:ext cx="973917" cy="973917"/>
              </a:xfrm>
              <a:prstGeom prst="ellipse">
                <a:avLst/>
              </a:prstGeom>
              <a:blipFill rotWithShape="0">
                <a:blip r:embed="rId5"/>
                <a:stretch>
                  <a:fillRect/>
                </a:stretch>
              </a:blipFill>
            </p:spPr>
            <p:txBody>
              <a:bodyPr/>
              <a:lstStyle/>
              <a:p>
                <a:r>
                  <a:rPr lang="en-US">
                    <a:noFill/>
                  </a:rPr>
                  <a:t> </a:t>
                </a:r>
              </a:p>
            </p:txBody>
          </p:sp>
        </mc:Fallback>
      </mc:AlternateContent>
      <p:cxnSp>
        <p:nvCxnSpPr>
          <p:cNvPr id="27" name="Straight Arrow Connector 26"/>
          <p:cNvCxnSpPr>
            <a:stCxn id="10" idx="6"/>
            <a:endCxn id="17" idx="1"/>
          </p:cNvCxnSpPr>
          <p:nvPr/>
        </p:nvCxnSpPr>
        <p:spPr>
          <a:xfrm>
            <a:off x="4804347" y="2904169"/>
            <a:ext cx="21946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4804347" y="4509857"/>
            <a:ext cx="21946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4804347" y="4165526"/>
            <a:ext cx="20520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303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066357" y="2047878"/>
            <a:ext cx="502061" cy="369332"/>
          </a:xfrm>
          <a:prstGeom prst="rect">
            <a:avLst/>
          </a:prstGeom>
        </p:spPr>
        <p:txBody>
          <a:bodyPr wrap="none">
            <a:spAutoFit/>
          </a:bodyPr>
          <a:lstStyle/>
          <a:p>
            <a:r>
              <a:rPr lang="en-US" dirty="0" smtClean="0">
                <a:solidFill>
                  <a:srgbClr val="FF0000"/>
                </a:solidFill>
              </a:rPr>
              <a:t>0.5</a:t>
            </a:r>
            <a:endParaRPr lang="en-US" dirty="0">
              <a:solidFill>
                <a:srgbClr val="FF0000"/>
              </a:solidFill>
            </a:endParaRPr>
          </a:p>
        </p:txBody>
      </p:sp>
      <p:sp>
        <p:nvSpPr>
          <p:cNvPr id="4" name="Rectangle 3"/>
          <p:cNvSpPr/>
          <p:nvPr/>
        </p:nvSpPr>
        <p:spPr>
          <a:xfrm>
            <a:off x="4066357" y="3357685"/>
            <a:ext cx="502061" cy="369332"/>
          </a:xfrm>
          <a:prstGeom prst="rect">
            <a:avLst/>
          </a:prstGeom>
        </p:spPr>
        <p:txBody>
          <a:bodyPr wrap="none">
            <a:spAutoFit/>
          </a:bodyPr>
          <a:lstStyle/>
          <a:p>
            <a:r>
              <a:rPr lang="en-US" dirty="0">
                <a:solidFill>
                  <a:srgbClr val="FF0000"/>
                </a:solidFill>
              </a:rPr>
              <a:t>1.0</a:t>
            </a:r>
          </a:p>
        </p:txBody>
      </p:sp>
    </p:spTree>
    <p:extLst>
      <p:ext uri="{BB962C8B-B14F-4D97-AF65-F5344CB8AC3E}">
        <p14:creationId xmlns:p14="http://schemas.microsoft.com/office/powerpoint/2010/main" val="4549753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382347"/>
            <a:ext cx="9782801" cy="1346200"/>
          </a:xfrm>
        </p:spPr>
        <p:txBody>
          <a:bodyPr>
            <a:normAutofit/>
          </a:bodyPr>
          <a:lstStyle/>
          <a:p>
            <a:r>
              <a:rPr lang="en-US" sz="2800" dirty="0" smtClean="0"/>
              <a:t>Recall that the bias neuron always outputs 1.0</a:t>
            </a:r>
            <a:endParaRPr lang="en-US" sz="2800" dirty="0"/>
          </a:p>
        </p:txBody>
      </p:sp>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8564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856412" y="3678567"/>
                <a:ext cx="973917" cy="973917"/>
              </a:xfrm>
              <a:prstGeom prst="ellipse">
                <a:avLst/>
              </a:prstGeom>
              <a:blipFill rotWithShape="0">
                <a:blip r:embed="rId4"/>
                <a:stretch>
                  <a:fillRect/>
                </a:stretch>
              </a:blipFill>
            </p:spPr>
            <p:txBody>
              <a:bodyPr/>
              <a:lstStyle/>
              <a:p>
                <a:r>
                  <a:rPr lang="en-US">
                    <a:noFill/>
                  </a:rPr>
                  <a:t> </a:t>
                </a:r>
              </a:p>
            </p:txBody>
          </p:sp>
        </mc:Fallback>
      </mc:AlternateContent>
      <p:cxnSp>
        <p:nvCxnSpPr>
          <p:cNvPr id="27" name="Straight Arrow Connector 26"/>
          <p:cNvCxnSpPr>
            <a:stCxn id="10" idx="6"/>
            <a:endCxn id="17" idx="1"/>
          </p:cNvCxnSpPr>
          <p:nvPr/>
        </p:nvCxnSpPr>
        <p:spPr>
          <a:xfrm>
            <a:off x="4804347" y="2904169"/>
            <a:ext cx="21946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4804347" y="4509857"/>
            <a:ext cx="21946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4804347" y="4165526"/>
            <a:ext cx="20520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303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066357" y="2047878"/>
            <a:ext cx="502061" cy="369332"/>
          </a:xfrm>
          <a:prstGeom prst="rect">
            <a:avLst/>
          </a:prstGeom>
        </p:spPr>
        <p:txBody>
          <a:bodyPr wrap="none">
            <a:spAutoFit/>
          </a:bodyPr>
          <a:lstStyle/>
          <a:p>
            <a:r>
              <a:rPr lang="en-US" dirty="0" smtClean="0">
                <a:solidFill>
                  <a:schemeClr val="tx2"/>
                </a:solidFill>
              </a:rPr>
              <a:t>0.5</a:t>
            </a:r>
            <a:endParaRPr lang="en-US" dirty="0">
              <a:solidFill>
                <a:schemeClr val="tx2"/>
              </a:solidFill>
            </a:endParaRPr>
          </a:p>
        </p:txBody>
      </p:sp>
      <p:sp>
        <p:nvSpPr>
          <p:cNvPr id="4" name="Rectangle 3"/>
          <p:cNvSpPr/>
          <p:nvPr/>
        </p:nvSpPr>
        <p:spPr>
          <a:xfrm>
            <a:off x="4066357" y="3357685"/>
            <a:ext cx="502061" cy="369332"/>
          </a:xfrm>
          <a:prstGeom prst="rect">
            <a:avLst/>
          </a:prstGeom>
        </p:spPr>
        <p:txBody>
          <a:bodyPr wrap="none">
            <a:spAutoFit/>
          </a:bodyPr>
          <a:lstStyle/>
          <a:p>
            <a:r>
              <a:rPr lang="en-US" dirty="0">
                <a:solidFill>
                  <a:schemeClr val="tx2"/>
                </a:solidFill>
              </a:rPr>
              <a:t>1.0</a:t>
            </a:r>
          </a:p>
        </p:txBody>
      </p:sp>
      <p:sp>
        <p:nvSpPr>
          <p:cNvPr id="15" name="Rectangle 14"/>
          <p:cNvSpPr/>
          <p:nvPr/>
        </p:nvSpPr>
        <p:spPr>
          <a:xfrm>
            <a:off x="4066357" y="4616301"/>
            <a:ext cx="502061" cy="369332"/>
          </a:xfrm>
          <a:prstGeom prst="rect">
            <a:avLst/>
          </a:prstGeom>
        </p:spPr>
        <p:txBody>
          <a:bodyPr wrap="none">
            <a:spAutoFit/>
          </a:bodyPr>
          <a:lstStyle/>
          <a:p>
            <a:r>
              <a:rPr lang="en-US" dirty="0">
                <a:solidFill>
                  <a:srgbClr val="FF0000"/>
                </a:solidFill>
              </a:rPr>
              <a:t>1.0</a:t>
            </a:r>
          </a:p>
        </p:txBody>
      </p:sp>
    </p:spTree>
    <p:extLst>
      <p:ext uri="{BB962C8B-B14F-4D97-AF65-F5344CB8AC3E}">
        <p14:creationId xmlns:p14="http://schemas.microsoft.com/office/powerpoint/2010/main" val="1550201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382347"/>
            <a:ext cx="9782801" cy="1346200"/>
          </a:xfrm>
        </p:spPr>
        <p:txBody>
          <a:bodyPr>
            <a:normAutofit/>
          </a:bodyPr>
          <a:lstStyle/>
          <a:p>
            <a:r>
              <a:rPr lang="en-US" sz="2800" dirty="0" smtClean="0"/>
              <a:t>We can now indicate the weights on the connecting edges</a:t>
            </a:r>
            <a:endParaRPr lang="en-US" sz="2800" dirty="0"/>
          </a:p>
        </p:txBody>
      </p:sp>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8564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856412" y="3678567"/>
                <a:ext cx="973917" cy="973917"/>
              </a:xfrm>
              <a:prstGeom prst="ellipse">
                <a:avLst/>
              </a:prstGeom>
              <a:blipFill rotWithShape="0">
                <a:blip r:embed="rId4"/>
                <a:stretch>
                  <a:fillRect/>
                </a:stretch>
              </a:blipFill>
            </p:spPr>
            <p:txBody>
              <a:bodyPr/>
              <a:lstStyle/>
              <a:p>
                <a:r>
                  <a:rPr lang="en-US">
                    <a:noFill/>
                  </a:rPr>
                  <a:t> </a:t>
                </a:r>
              </a:p>
            </p:txBody>
          </p:sp>
        </mc:Fallback>
      </mc:AlternateContent>
      <p:cxnSp>
        <p:nvCxnSpPr>
          <p:cNvPr id="27" name="Straight Arrow Connector 26"/>
          <p:cNvCxnSpPr>
            <a:stCxn id="10" idx="6"/>
            <a:endCxn id="17" idx="1"/>
          </p:cNvCxnSpPr>
          <p:nvPr/>
        </p:nvCxnSpPr>
        <p:spPr>
          <a:xfrm>
            <a:off x="4804347" y="2904169"/>
            <a:ext cx="21946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4804347" y="4509857"/>
            <a:ext cx="21946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4804347" y="4165526"/>
            <a:ext cx="20520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303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066357" y="2047878"/>
            <a:ext cx="502061" cy="369332"/>
          </a:xfrm>
          <a:prstGeom prst="rect">
            <a:avLst/>
          </a:prstGeom>
        </p:spPr>
        <p:txBody>
          <a:bodyPr wrap="none">
            <a:spAutoFit/>
          </a:bodyPr>
          <a:lstStyle/>
          <a:p>
            <a:r>
              <a:rPr lang="en-US" dirty="0" smtClean="0">
                <a:solidFill>
                  <a:schemeClr val="tx2"/>
                </a:solidFill>
              </a:rPr>
              <a:t>0.5</a:t>
            </a:r>
            <a:endParaRPr lang="en-US" dirty="0">
              <a:solidFill>
                <a:schemeClr val="tx2"/>
              </a:solidFill>
            </a:endParaRPr>
          </a:p>
        </p:txBody>
      </p:sp>
      <p:sp>
        <p:nvSpPr>
          <p:cNvPr id="4" name="Rectangle 3"/>
          <p:cNvSpPr/>
          <p:nvPr/>
        </p:nvSpPr>
        <p:spPr>
          <a:xfrm>
            <a:off x="4066357" y="3357685"/>
            <a:ext cx="502061" cy="369332"/>
          </a:xfrm>
          <a:prstGeom prst="rect">
            <a:avLst/>
          </a:prstGeom>
        </p:spPr>
        <p:txBody>
          <a:bodyPr wrap="none">
            <a:spAutoFit/>
          </a:bodyPr>
          <a:lstStyle/>
          <a:p>
            <a:r>
              <a:rPr lang="en-US" dirty="0">
                <a:solidFill>
                  <a:schemeClr val="tx2"/>
                </a:solidFill>
              </a:rPr>
              <a:t>1.0</a:t>
            </a:r>
          </a:p>
        </p:txBody>
      </p:sp>
      <p:sp>
        <p:nvSpPr>
          <p:cNvPr id="15" name="Rectangle 14"/>
          <p:cNvSpPr/>
          <p:nvPr/>
        </p:nvSpPr>
        <p:spPr>
          <a:xfrm>
            <a:off x="4066357" y="4616301"/>
            <a:ext cx="502061" cy="369332"/>
          </a:xfrm>
          <a:prstGeom prst="rect">
            <a:avLst/>
          </a:prstGeom>
        </p:spPr>
        <p:txBody>
          <a:bodyPr wrap="none">
            <a:spAutoFit/>
          </a:bodyPr>
          <a:lstStyle/>
          <a:p>
            <a:r>
              <a:rPr lang="en-US" dirty="0">
                <a:solidFill>
                  <a:schemeClr val="tx2"/>
                </a:solidFill>
              </a:rPr>
              <a:t>1.0</a:t>
            </a:r>
          </a:p>
        </p:txBody>
      </p:sp>
      <p:sp>
        <p:nvSpPr>
          <p:cNvPr id="16" name="Rectangle 15"/>
          <p:cNvSpPr/>
          <p:nvPr/>
        </p:nvSpPr>
        <p:spPr>
          <a:xfrm>
            <a:off x="5394291" y="2762370"/>
            <a:ext cx="538930" cy="369332"/>
          </a:xfrm>
          <a:prstGeom prst="rect">
            <a:avLst/>
          </a:prstGeom>
        </p:spPr>
        <p:txBody>
          <a:bodyPr wrap="none">
            <a:spAutoFit/>
          </a:bodyPr>
          <a:lstStyle/>
          <a:p>
            <a:r>
              <a:rPr lang="en-US" dirty="0" smtClean="0">
                <a:solidFill>
                  <a:srgbClr val="FF0000"/>
                </a:solidFill>
              </a:rPr>
              <a:t>-40</a:t>
            </a:r>
            <a:endParaRPr lang="en-US" dirty="0">
              <a:solidFill>
                <a:srgbClr val="FF0000"/>
              </a:solidFill>
            </a:endParaRPr>
          </a:p>
        </p:txBody>
      </p:sp>
      <p:sp>
        <p:nvSpPr>
          <p:cNvPr id="18" name="Rectangle 17"/>
          <p:cNvSpPr/>
          <p:nvPr/>
        </p:nvSpPr>
        <p:spPr>
          <a:xfrm>
            <a:off x="5511061" y="3802144"/>
            <a:ext cx="319318" cy="369332"/>
          </a:xfrm>
          <a:prstGeom prst="rect">
            <a:avLst/>
          </a:prstGeom>
        </p:spPr>
        <p:txBody>
          <a:bodyPr wrap="none">
            <a:spAutoFit/>
          </a:bodyPr>
          <a:lstStyle/>
          <a:p>
            <a:r>
              <a:rPr lang="en-US" smtClean="0">
                <a:solidFill>
                  <a:srgbClr val="FF0000"/>
                </a:solidFill>
              </a:rPr>
              <a:t>5</a:t>
            </a:r>
            <a:endParaRPr lang="en-US" dirty="0">
              <a:solidFill>
                <a:srgbClr val="FF0000"/>
              </a:solidFill>
            </a:endParaRPr>
          </a:p>
        </p:txBody>
      </p:sp>
      <p:sp>
        <p:nvSpPr>
          <p:cNvPr id="19" name="Rectangle 18"/>
          <p:cNvSpPr/>
          <p:nvPr/>
        </p:nvSpPr>
        <p:spPr>
          <a:xfrm>
            <a:off x="5511061" y="4648200"/>
            <a:ext cx="319318" cy="369332"/>
          </a:xfrm>
          <a:prstGeom prst="rect">
            <a:avLst/>
          </a:prstGeom>
        </p:spPr>
        <p:txBody>
          <a:bodyPr wrap="none">
            <a:spAutoFit/>
          </a:bodyPr>
          <a:lstStyle/>
          <a:p>
            <a:r>
              <a:rPr lang="en-US" dirty="0" smtClean="0">
                <a:solidFill>
                  <a:srgbClr val="FF0000"/>
                </a:solidFill>
              </a:rPr>
              <a:t>5</a:t>
            </a:r>
            <a:endParaRPr lang="en-US" dirty="0">
              <a:solidFill>
                <a:srgbClr val="FF0000"/>
              </a:solidFill>
            </a:endParaRPr>
          </a:p>
        </p:txBody>
      </p:sp>
    </p:spTree>
    <p:extLst>
      <p:ext uri="{BB962C8B-B14F-4D97-AF65-F5344CB8AC3E}">
        <p14:creationId xmlns:p14="http://schemas.microsoft.com/office/powerpoint/2010/main" val="80033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382347"/>
            <a:ext cx="9782801" cy="1346200"/>
          </a:xfrm>
        </p:spPr>
        <p:txBody>
          <a:bodyPr>
            <a:normAutofit/>
          </a:bodyPr>
          <a:lstStyle/>
          <a:p>
            <a:r>
              <a:rPr lang="en-US" sz="2800" dirty="0" smtClean="0"/>
              <a:t>When training, we adjust the weights parameters to create outputs that better fit the data</a:t>
            </a:r>
            <a:endParaRPr lang="en-US" sz="2800" dirty="0"/>
          </a:p>
        </p:txBody>
      </p:sp>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8564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856412" y="3678567"/>
                <a:ext cx="973917" cy="973917"/>
              </a:xfrm>
              <a:prstGeom prst="ellipse">
                <a:avLst/>
              </a:prstGeom>
              <a:blipFill rotWithShape="0">
                <a:blip r:embed="rId4"/>
                <a:stretch>
                  <a:fillRect/>
                </a:stretch>
              </a:blipFill>
            </p:spPr>
            <p:txBody>
              <a:bodyPr/>
              <a:lstStyle/>
              <a:p>
                <a:r>
                  <a:rPr lang="en-US">
                    <a:noFill/>
                  </a:rPr>
                  <a:t> </a:t>
                </a:r>
              </a:p>
            </p:txBody>
          </p:sp>
        </mc:Fallback>
      </mc:AlternateContent>
      <p:cxnSp>
        <p:nvCxnSpPr>
          <p:cNvPr id="27" name="Straight Arrow Connector 26"/>
          <p:cNvCxnSpPr>
            <a:stCxn id="10" idx="6"/>
            <a:endCxn id="17" idx="1"/>
          </p:cNvCxnSpPr>
          <p:nvPr/>
        </p:nvCxnSpPr>
        <p:spPr>
          <a:xfrm>
            <a:off x="4804347" y="2904169"/>
            <a:ext cx="21946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4804347" y="4509857"/>
            <a:ext cx="21946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4804347" y="4165526"/>
            <a:ext cx="20520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303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066357" y="2047878"/>
            <a:ext cx="502061" cy="369332"/>
          </a:xfrm>
          <a:prstGeom prst="rect">
            <a:avLst/>
          </a:prstGeom>
        </p:spPr>
        <p:txBody>
          <a:bodyPr wrap="none">
            <a:spAutoFit/>
          </a:bodyPr>
          <a:lstStyle/>
          <a:p>
            <a:r>
              <a:rPr lang="en-US" dirty="0" smtClean="0">
                <a:solidFill>
                  <a:schemeClr val="tx2"/>
                </a:solidFill>
              </a:rPr>
              <a:t>0.5</a:t>
            </a:r>
            <a:endParaRPr lang="en-US" dirty="0">
              <a:solidFill>
                <a:schemeClr val="tx2"/>
              </a:solidFill>
            </a:endParaRPr>
          </a:p>
        </p:txBody>
      </p:sp>
      <p:sp>
        <p:nvSpPr>
          <p:cNvPr id="4" name="Rectangle 3"/>
          <p:cNvSpPr/>
          <p:nvPr/>
        </p:nvSpPr>
        <p:spPr>
          <a:xfrm>
            <a:off x="4066357" y="3357685"/>
            <a:ext cx="502061" cy="369332"/>
          </a:xfrm>
          <a:prstGeom prst="rect">
            <a:avLst/>
          </a:prstGeom>
        </p:spPr>
        <p:txBody>
          <a:bodyPr wrap="none">
            <a:spAutoFit/>
          </a:bodyPr>
          <a:lstStyle/>
          <a:p>
            <a:r>
              <a:rPr lang="en-US" dirty="0">
                <a:solidFill>
                  <a:schemeClr val="tx2"/>
                </a:solidFill>
              </a:rPr>
              <a:t>1.0</a:t>
            </a:r>
          </a:p>
        </p:txBody>
      </p:sp>
      <p:sp>
        <p:nvSpPr>
          <p:cNvPr id="15" name="Rectangle 14"/>
          <p:cNvSpPr/>
          <p:nvPr/>
        </p:nvSpPr>
        <p:spPr>
          <a:xfrm>
            <a:off x="4066357" y="4616301"/>
            <a:ext cx="502061" cy="369332"/>
          </a:xfrm>
          <a:prstGeom prst="rect">
            <a:avLst/>
          </a:prstGeom>
        </p:spPr>
        <p:txBody>
          <a:bodyPr wrap="none">
            <a:spAutoFit/>
          </a:bodyPr>
          <a:lstStyle/>
          <a:p>
            <a:r>
              <a:rPr lang="en-US" dirty="0">
                <a:solidFill>
                  <a:schemeClr val="tx2"/>
                </a:solidFill>
              </a:rPr>
              <a:t>1.0</a:t>
            </a:r>
          </a:p>
        </p:txBody>
      </p:sp>
      <p:sp>
        <p:nvSpPr>
          <p:cNvPr id="16" name="Rectangle 15"/>
          <p:cNvSpPr/>
          <p:nvPr/>
        </p:nvSpPr>
        <p:spPr>
          <a:xfrm>
            <a:off x="5394291" y="2762370"/>
            <a:ext cx="538930" cy="369332"/>
          </a:xfrm>
          <a:prstGeom prst="rect">
            <a:avLst/>
          </a:prstGeom>
        </p:spPr>
        <p:txBody>
          <a:bodyPr wrap="none">
            <a:spAutoFit/>
          </a:bodyPr>
          <a:lstStyle/>
          <a:p>
            <a:r>
              <a:rPr lang="en-US" dirty="0" smtClean="0">
                <a:solidFill>
                  <a:schemeClr val="tx2"/>
                </a:solidFill>
              </a:rPr>
              <a:t>-40</a:t>
            </a:r>
            <a:endParaRPr lang="en-US" dirty="0">
              <a:solidFill>
                <a:schemeClr val="tx2"/>
              </a:solidFill>
            </a:endParaRPr>
          </a:p>
        </p:txBody>
      </p:sp>
      <p:sp>
        <p:nvSpPr>
          <p:cNvPr id="18" name="Rectangle 17"/>
          <p:cNvSpPr/>
          <p:nvPr/>
        </p:nvSpPr>
        <p:spPr>
          <a:xfrm>
            <a:off x="5511061" y="3802144"/>
            <a:ext cx="319318" cy="369332"/>
          </a:xfrm>
          <a:prstGeom prst="rect">
            <a:avLst/>
          </a:prstGeom>
        </p:spPr>
        <p:txBody>
          <a:bodyPr wrap="none">
            <a:spAutoFit/>
          </a:bodyPr>
          <a:lstStyle/>
          <a:p>
            <a:r>
              <a:rPr lang="en-US" smtClean="0">
                <a:solidFill>
                  <a:schemeClr val="tx2"/>
                </a:solidFill>
              </a:rPr>
              <a:t>5</a:t>
            </a:r>
            <a:endParaRPr lang="en-US" dirty="0">
              <a:solidFill>
                <a:schemeClr val="tx2"/>
              </a:solidFill>
            </a:endParaRPr>
          </a:p>
        </p:txBody>
      </p:sp>
      <p:sp>
        <p:nvSpPr>
          <p:cNvPr id="19" name="Rectangle 18"/>
          <p:cNvSpPr/>
          <p:nvPr/>
        </p:nvSpPr>
        <p:spPr>
          <a:xfrm>
            <a:off x="5511061" y="4648200"/>
            <a:ext cx="319318" cy="369332"/>
          </a:xfrm>
          <a:prstGeom prst="rect">
            <a:avLst/>
          </a:prstGeom>
        </p:spPr>
        <p:txBody>
          <a:bodyPr wrap="none">
            <a:spAutoFit/>
          </a:bodyPr>
          <a:lstStyle/>
          <a:p>
            <a:r>
              <a:rPr lang="en-US" dirty="0" smtClean="0">
                <a:solidFill>
                  <a:schemeClr val="tx2"/>
                </a:solidFill>
              </a:rPr>
              <a:t>5</a:t>
            </a:r>
            <a:endParaRPr lang="en-US" dirty="0">
              <a:solidFill>
                <a:schemeClr val="tx2"/>
              </a:solidFill>
            </a:endParaRPr>
          </a:p>
        </p:txBody>
      </p:sp>
      <p:sp>
        <p:nvSpPr>
          <p:cNvPr id="21" name="Rounded Rectangle 20"/>
          <p:cNvSpPr/>
          <p:nvPr/>
        </p:nvSpPr>
        <p:spPr>
          <a:xfrm>
            <a:off x="5301148" y="2489778"/>
            <a:ext cx="869464" cy="3225222"/>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64429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1593436" y="382347"/>
                <a:ext cx="9782801" cy="1346200"/>
              </a:xfrm>
            </p:spPr>
            <p:txBody>
              <a:bodyPr>
                <a:normAutofit/>
              </a:bodyPr>
              <a:lstStyle/>
              <a:p>
                <a:r>
                  <a:rPr lang="en-US" sz="2800" dirty="0" smtClean="0"/>
                  <a:t>With these values, we end up with net </a:t>
                </a:r>
                <a14:m>
                  <m:oMath xmlns:m="http://schemas.openxmlformats.org/officeDocument/2006/math">
                    <m:r>
                      <a:rPr lang="en-US" sz="2800" b="0" i="1" smtClean="0">
                        <a:latin typeface="Cambria Math" charset="0"/>
                      </a:rPr>
                      <m:t>𝑧</m:t>
                    </m:r>
                    <m:r>
                      <a:rPr lang="en-US" sz="2800" b="0" i="1" smtClean="0">
                        <a:latin typeface="Cambria Math" charset="0"/>
                      </a:rPr>
                      <m:t>=−10</m:t>
                    </m:r>
                  </m:oMath>
                </a14:m>
                <a:endParaRPr lang="en-US" sz="28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593436" y="382347"/>
                <a:ext cx="9782801" cy="1346200"/>
              </a:xfrm>
              <a:blipFill rotWithShape="0">
                <a:blip r:embed="rId2"/>
                <a:stretch>
                  <a:fillRect l="-1246" b="-12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4"/>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8564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856412" y="3678567"/>
                <a:ext cx="973917" cy="973917"/>
              </a:xfrm>
              <a:prstGeom prst="ellipse">
                <a:avLst/>
              </a:prstGeom>
              <a:blipFill rotWithShape="0">
                <a:blip r:embed="rId5"/>
                <a:stretch>
                  <a:fillRect/>
                </a:stretch>
              </a:blipFill>
            </p:spPr>
            <p:txBody>
              <a:bodyPr/>
              <a:lstStyle/>
              <a:p>
                <a:r>
                  <a:rPr lang="en-US">
                    <a:noFill/>
                  </a:rPr>
                  <a:t> </a:t>
                </a:r>
              </a:p>
            </p:txBody>
          </p:sp>
        </mc:Fallback>
      </mc:AlternateContent>
      <p:cxnSp>
        <p:nvCxnSpPr>
          <p:cNvPr id="27" name="Straight Arrow Connector 26"/>
          <p:cNvCxnSpPr>
            <a:stCxn id="10" idx="6"/>
            <a:endCxn id="17" idx="1"/>
          </p:cNvCxnSpPr>
          <p:nvPr/>
        </p:nvCxnSpPr>
        <p:spPr>
          <a:xfrm>
            <a:off x="4804347" y="2904169"/>
            <a:ext cx="21946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4804347" y="4509857"/>
            <a:ext cx="21946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4804347" y="4165526"/>
            <a:ext cx="20520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303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066357" y="2047878"/>
            <a:ext cx="502061" cy="369332"/>
          </a:xfrm>
          <a:prstGeom prst="rect">
            <a:avLst/>
          </a:prstGeom>
        </p:spPr>
        <p:txBody>
          <a:bodyPr wrap="none">
            <a:spAutoFit/>
          </a:bodyPr>
          <a:lstStyle/>
          <a:p>
            <a:r>
              <a:rPr lang="en-US" dirty="0" smtClean="0">
                <a:solidFill>
                  <a:schemeClr val="tx2"/>
                </a:solidFill>
              </a:rPr>
              <a:t>0.5</a:t>
            </a:r>
            <a:endParaRPr lang="en-US" dirty="0">
              <a:solidFill>
                <a:schemeClr val="tx2"/>
              </a:solidFill>
            </a:endParaRPr>
          </a:p>
        </p:txBody>
      </p:sp>
      <p:sp>
        <p:nvSpPr>
          <p:cNvPr id="4" name="Rectangle 3"/>
          <p:cNvSpPr/>
          <p:nvPr/>
        </p:nvSpPr>
        <p:spPr>
          <a:xfrm>
            <a:off x="4066357" y="3357685"/>
            <a:ext cx="502061" cy="369332"/>
          </a:xfrm>
          <a:prstGeom prst="rect">
            <a:avLst/>
          </a:prstGeom>
        </p:spPr>
        <p:txBody>
          <a:bodyPr wrap="none">
            <a:spAutoFit/>
          </a:bodyPr>
          <a:lstStyle/>
          <a:p>
            <a:r>
              <a:rPr lang="en-US" dirty="0">
                <a:solidFill>
                  <a:schemeClr val="tx2"/>
                </a:solidFill>
              </a:rPr>
              <a:t>1.0</a:t>
            </a:r>
          </a:p>
        </p:txBody>
      </p:sp>
      <p:sp>
        <p:nvSpPr>
          <p:cNvPr id="15" name="Rectangle 14"/>
          <p:cNvSpPr/>
          <p:nvPr/>
        </p:nvSpPr>
        <p:spPr>
          <a:xfrm>
            <a:off x="4066357" y="4616301"/>
            <a:ext cx="502061" cy="369332"/>
          </a:xfrm>
          <a:prstGeom prst="rect">
            <a:avLst/>
          </a:prstGeom>
        </p:spPr>
        <p:txBody>
          <a:bodyPr wrap="none">
            <a:spAutoFit/>
          </a:bodyPr>
          <a:lstStyle/>
          <a:p>
            <a:r>
              <a:rPr lang="en-US" dirty="0">
                <a:solidFill>
                  <a:schemeClr val="tx2"/>
                </a:solidFill>
              </a:rPr>
              <a:t>1.0</a:t>
            </a:r>
          </a:p>
        </p:txBody>
      </p:sp>
      <p:sp>
        <p:nvSpPr>
          <p:cNvPr id="16" name="Rectangle 15"/>
          <p:cNvSpPr/>
          <p:nvPr/>
        </p:nvSpPr>
        <p:spPr>
          <a:xfrm>
            <a:off x="5394291" y="2762370"/>
            <a:ext cx="538930" cy="369332"/>
          </a:xfrm>
          <a:prstGeom prst="rect">
            <a:avLst/>
          </a:prstGeom>
        </p:spPr>
        <p:txBody>
          <a:bodyPr wrap="none">
            <a:spAutoFit/>
          </a:bodyPr>
          <a:lstStyle/>
          <a:p>
            <a:r>
              <a:rPr lang="en-US" dirty="0" smtClean="0">
                <a:solidFill>
                  <a:schemeClr val="tx2"/>
                </a:solidFill>
              </a:rPr>
              <a:t>-40</a:t>
            </a:r>
            <a:endParaRPr lang="en-US" dirty="0">
              <a:solidFill>
                <a:schemeClr val="tx2"/>
              </a:solidFill>
            </a:endParaRPr>
          </a:p>
        </p:txBody>
      </p:sp>
      <p:sp>
        <p:nvSpPr>
          <p:cNvPr id="18" name="Rectangle 17"/>
          <p:cNvSpPr/>
          <p:nvPr/>
        </p:nvSpPr>
        <p:spPr>
          <a:xfrm>
            <a:off x="5511061" y="3802144"/>
            <a:ext cx="319318" cy="369332"/>
          </a:xfrm>
          <a:prstGeom prst="rect">
            <a:avLst/>
          </a:prstGeom>
        </p:spPr>
        <p:txBody>
          <a:bodyPr wrap="none">
            <a:spAutoFit/>
          </a:bodyPr>
          <a:lstStyle/>
          <a:p>
            <a:r>
              <a:rPr lang="en-US" smtClean="0">
                <a:solidFill>
                  <a:schemeClr val="tx2"/>
                </a:solidFill>
              </a:rPr>
              <a:t>5</a:t>
            </a:r>
            <a:endParaRPr lang="en-US" dirty="0">
              <a:solidFill>
                <a:schemeClr val="tx2"/>
              </a:solidFill>
            </a:endParaRPr>
          </a:p>
        </p:txBody>
      </p:sp>
      <p:sp>
        <p:nvSpPr>
          <p:cNvPr id="19" name="Rectangle 18"/>
          <p:cNvSpPr/>
          <p:nvPr/>
        </p:nvSpPr>
        <p:spPr>
          <a:xfrm>
            <a:off x="5511061" y="4648200"/>
            <a:ext cx="319318" cy="369332"/>
          </a:xfrm>
          <a:prstGeom prst="rect">
            <a:avLst/>
          </a:prstGeom>
        </p:spPr>
        <p:txBody>
          <a:bodyPr wrap="none">
            <a:spAutoFit/>
          </a:bodyPr>
          <a:lstStyle/>
          <a:p>
            <a:r>
              <a:rPr lang="en-US" dirty="0" smtClean="0">
                <a:solidFill>
                  <a:schemeClr val="tx2"/>
                </a:solidFill>
              </a:rPr>
              <a:t>5</a:t>
            </a:r>
            <a:endParaRPr lang="en-US" dirty="0">
              <a:solidFill>
                <a:schemeClr val="tx2"/>
              </a:solidFill>
            </a:endParaRPr>
          </a:p>
        </p:txBody>
      </p:sp>
      <mc:AlternateContent xmlns:mc="http://schemas.openxmlformats.org/markup-compatibility/2006" xmlns:a14="http://schemas.microsoft.com/office/drawing/2010/main">
        <mc:Choice Requires="a14">
          <p:sp>
            <p:nvSpPr>
              <p:cNvPr id="5" name="Rectangle 4"/>
              <p:cNvSpPr/>
              <p:nvPr/>
            </p:nvSpPr>
            <p:spPr>
              <a:xfrm>
                <a:off x="6170612" y="2052935"/>
                <a:ext cx="51803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00"/>
                          </a:solidFill>
                          <a:latin typeface="Cambria Math" charset="0"/>
                        </a:rPr>
                        <m:t>𝑧</m:t>
                      </m:r>
                      <m:r>
                        <a:rPr lang="en-US" sz="2400" i="1" smtClean="0">
                          <a:solidFill>
                            <a:srgbClr val="FF0000"/>
                          </a:solidFill>
                          <a:latin typeface="Cambria Math" charset="0"/>
                        </a:rPr>
                        <m:t>=</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charset="0"/>
                            </a:rPr>
                            <m:t>0.5⋅−40</m:t>
                          </m:r>
                        </m:e>
                      </m:d>
                      <m:r>
                        <a:rPr lang="en-US" sz="2400" b="0" i="1" smtClean="0">
                          <a:solidFill>
                            <a:srgbClr val="FF0000"/>
                          </a:solidFill>
                          <a:latin typeface="Cambria Math" charset="0"/>
                        </a:rPr>
                        <m:t>+</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charset="0"/>
                            </a:rPr>
                            <m:t>1.0⋅5</m:t>
                          </m:r>
                        </m:e>
                      </m:d>
                      <m:r>
                        <a:rPr lang="en-US" sz="2400" b="0" i="1" smtClean="0">
                          <a:solidFill>
                            <a:srgbClr val="FF0000"/>
                          </a:solidFill>
                          <a:latin typeface="Cambria Math" charset="0"/>
                        </a:rPr>
                        <m:t>+(1.0⋅5)</m:t>
                      </m:r>
                    </m:oMath>
                  </m:oMathPara>
                </a14:m>
                <a:endParaRPr lang="en-US" sz="3600" dirty="0">
                  <a:solidFill>
                    <a:srgbClr val="FF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6170612" y="2052935"/>
                <a:ext cx="5180328" cy="461665"/>
              </a:xfrm>
              <a:prstGeom prst="rect">
                <a:avLst/>
              </a:prstGeom>
              <a:blipFill rotWithShape="0">
                <a:blip r:embed="rId6"/>
                <a:stretch>
                  <a:fillRect b="-19737"/>
                </a:stretch>
              </a:blipFill>
            </p:spPr>
            <p:txBody>
              <a:bodyPr/>
              <a:lstStyle/>
              <a:p>
                <a:r>
                  <a:rPr lang="en-US">
                    <a:noFill/>
                  </a:rPr>
                  <a:t> </a:t>
                </a:r>
              </a:p>
            </p:txBody>
          </p:sp>
        </mc:Fallback>
      </mc:AlternateContent>
    </p:spTree>
    <p:extLst>
      <p:ext uri="{BB962C8B-B14F-4D97-AF65-F5344CB8AC3E}">
        <p14:creationId xmlns:p14="http://schemas.microsoft.com/office/powerpoint/2010/main" val="427719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382347"/>
            <a:ext cx="9782801" cy="1346200"/>
          </a:xfrm>
        </p:spPr>
        <p:txBody>
          <a:bodyPr>
            <a:normAutofit/>
          </a:bodyPr>
          <a:lstStyle/>
          <a:p>
            <a:r>
              <a:rPr lang="en-US" sz="2800" dirty="0" smtClean="0"/>
              <a:t>We then plug z into the sigmoid function to get our output</a:t>
            </a:r>
            <a:endParaRPr lang="en-US" sz="2800" dirty="0"/>
          </a:p>
        </p:txBody>
      </p:sp>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8564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856412" y="3678567"/>
                <a:ext cx="973917" cy="973917"/>
              </a:xfrm>
              <a:prstGeom prst="ellipse">
                <a:avLst/>
              </a:prstGeom>
              <a:blipFill rotWithShape="0">
                <a:blip r:embed="rId4"/>
                <a:stretch>
                  <a:fillRect/>
                </a:stretch>
              </a:blipFill>
            </p:spPr>
            <p:txBody>
              <a:bodyPr/>
              <a:lstStyle/>
              <a:p>
                <a:r>
                  <a:rPr lang="en-US">
                    <a:noFill/>
                  </a:rPr>
                  <a:t> </a:t>
                </a:r>
              </a:p>
            </p:txBody>
          </p:sp>
        </mc:Fallback>
      </mc:AlternateContent>
      <p:cxnSp>
        <p:nvCxnSpPr>
          <p:cNvPr id="27" name="Straight Arrow Connector 26"/>
          <p:cNvCxnSpPr>
            <a:stCxn id="10" idx="6"/>
            <a:endCxn id="17" idx="1"/>
          </p:cNvCxnSpPr>
          <p:nvPr/>
        </p:nvCxnSpPr>
        <p:spPr>
          <a:xfrm>
            <a:off x="4804347" y="2904169"/>
            <a:ext cx="21946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4804347" y="4509857"/>
            <a:ext cx="21946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4804347" y="4165526"/>
            <a:ext cx="20520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830329" y="4165525"/>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066357" y="2047878"/>
            <a:ext cx="502061" cy="369332"/>
          </a:xfrm>
          <a:prstGeom prst="rect">
            <a:avLst/>
          </a:prstGeom>
        </p:spPr>
        <p:txBody>
          <a:bodyPr wrap="none">
            <a:spAutoFit/>
          </a:bodyPr>
          <a:lstStyle/>
          <a:p>
            <a:r>
              <a:rPr lang="en-US" dirty="0" smtClean="0">
                <a:solidFill>
                  <a:schemeClr val="tx2"/>
                </a:solidFill>
              </a:rPr>
              <a:t>0.5</a:t>
            </a:r>
            <a:endParaRPr lang="en-US" dirty="0">
              <a:solidFill>
                <a:schemeClr val="tx2"/>
              </a:solidFill>
            </a:endParaRPr>
          </a:p>
        </p:txBody>
      </p:sp>
      <p:sp>
        <p:nvSpPr>
          <p:cNvPr id="4" name="Rectangle 3"/>
          <p:cNvSpPr/>
          <p:nvPr/>
        </p:nvSpPr>
        <p:spPr>
          <a:xfrm>
            <a:off x="4066357" y="3357685"/>
            <a:ext cx="502061" cy="369332"/>
          </a:xfrm>
          <a:prstGeom prst="rect">
            <a:avLst/>
          </a:prstGeom>
        </p:spPr>
        <p:txBody>
          <a:bodyPr wrap="none">
            <a:spAutoFit/>
          </a:bodyPr>
          <a:lstStyle/>
          <a:p>
            <a:r>
              <a:rPr lang="en-US" dirty="0">
                <a:solidFill>
                  <a:schemeClr val="tx2"/>
                </a:solidFill>
              </a:rPr>
              <a:t>1.0</a:t>
            </a:r>
          </a:p>
        </p:txBody>
      </p:sp>
      <p:sp>
        <p:nvSpPr>
          <p:cNvPr id="15" name="Rectangle 14"/>
          <p:cNvSpPr/>
          <p:nvPr/>
        </p:nvSpPr>
        <p:spPr>
          <a:xfrm>
            <a:off x="4066357" y="4616301"/>
            <a:ext cx="502061" cy="369332"/>
          </a:xfrm>
          <a:prstGeom prst="rect">
            <a:avLst/>
          </a:prstGeom>
        </p:spPr>
        <p:txBody>
          <a:bodyPr wrap="none">
            <a:spAutoFit/>
          </a:bodyPr>
          <a:lstStyle/>
          <a:p>
            <a:r>
              <a:rPr lang="en-US" dirty="0">
                <a:solidFill>
                  <a:schemeClr val="tx2"/>
                </a:solidFill>
              </a:rPr>
              <a:t>1.0</a:t>
            </a:r>
          </a:p>
        </p:txBody>
      </p:sp>
      <p:sp>
        <p:nvSpPr>
          <p:cNvPr id="16" name="Rectangle 15"/>
          <p:cNvSpPr/>
          <p:nvPr/>
        </p:nvSpPr>
        <p:spPr>
          <a:xfrm>
            <a:off x="5394291" y="2762370"/>
            <a:ext cx="538930" cy="369332"/>
          </a:xfrm>
          <a:prstGeom prst="rect">
            <a:avLst/>
          </a:prstGeom>
        </p:spPr>
        <p:txBody>
          <a:bodyPr wrap="none">
            <a:spAutoFit/>
          </a:bodyPr>
          <a:lstStyle/>
          <a:p>
            <a:r>
              <a:rPr lang="en-US" dirty="0" smtClean="0">
                <a:solidFill>
                  <a:schemeClr val="tx2"/>
                </a:solidFill>
              </a:rPr>
              <a:t>-40</a:t>
            </a:r>
            <a:endParaRPr lang="en-US" dirty="0">
              <a:solidFill>
                <a:schemeClr val="tx2"/>
              </a:solidFill>
            </a:endParaRPr>
          </a:p>
        </p:txBody>
      </p:sp>
      <p:sp>
        <p:nvSpPr>
          <p:cNvPr id="18" name="Rectangle 17"/>
          <p:cNvSpPr/>
          <p:nvPr/>
        </p:nvSpPr>
        <p:spPr>
          <a:xfrm>
            <a:off x="5511061" y="3802144"/>
            <a:ext cx="319318" cy="369332"/>
          </a:xfrm>
          <a:prstGeom prst="rect">
            <a:avLst/>
          </a:prstGeom>
        </p:spPr>
        <p:txBody>
          <a:bodyPr wrap="none">
            <a:spAutoFit/>
          </a:bodyPr>
          <a:lstStyle/>
          <a:p>
            <a:r>
              <a:rPr lang="en-US" smtClean="0">
                <a:solidFill>
                  <a:schemeClr val="tx2"/>
                </a:solidFill>
              </a:rPr>
              <a:t>5</a:t>
            </a:r>
            <a:endParaRPr lang="en-US" dirty="0">
              <a:solidFill>
                <a:schemeClr val="tx2"/>
              </a:solidFill>
            </a:endParaRPr>
          </a:p>
        </p:txBody>
      </p:sp>
      <p:sp>
        <p:nvSpPr>
          <p:cNvPr id="19" name="Rectangle 18"/>
          <p:cNvSpPr/>
          <p:nvPr/>
        </p:nvSpPr>
        <p:spPr>
          <a:xfrm>
            <a:off x="5511061" y="4648200"/>
            <a:ext cx="319318" cy="369332"/>
          </a:xfrm>
          <a:prstGeom prst="rect">
            <a:avLst/>
          </a:prstGeom>
        </p:spPr>
        <p:txBody>
          <a:bodyPr wrap="none">
            <a:spAutoFit/>
          </a:bodyPr>
          <a:lstStyle/>
          <a:p>
            <a:r>
              <a:rPr lang="en-US" dirty="0" smtClean="0">
                <a:solidFill>
                  <a:schemeClr val="tx2"/>
                </a:solidFill>
              </a:rPr>
              <a:t>5</a:t>
            </a:r>
            <a:endParaRPr lang="en-US" dirty="0">
              <a:solidFill>
                <a:schemeClr val="tx2"/>
              </a:solidFill>
            </a:endParaRPr>
          </a:p>
        </p:txBody>
      </p:sp>
      <mc:AlternateContent xmlns:mc="http://schemas.openxmlformats.org/markup-compatibility/2006" xmlns:a14="http://schemas.microsoft.com/office/drawing/2010/main">
        <mc:Choice Requires="a14">
          <p:sp>
            <p:nvSpPr>
              <p:cNvPr id="5" name="Rectangle 4"/>
              <p:cNvSpPr/>
              <p:nvPr/>
            </p:nvSpPr>
            <p:spPr>
              <a:xfrm>
                <a:off x="6724004" y="1955545"/>
                <a:ext cx="314906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charset="0"/>
                        </a:rPr>
                        <m:t>𝜎</m:t>
                      </m:r>
                      <m:d>
                        <m:dPr>
                          <m:ctrlPr>
                            <a:rPr lang="en-US" sz="2400" b="0" i="1" smtClean="0">
                              <a:solidFill>
                                <a:srgbClr val="FF0000"/>
                              </a:solidFill>
                              <a:latin typeface="Cambria Math" panose="02040503050406030204" pitchFamily="18" charset="0"/>
                            </a:rPr>
                          </m:ctrlPr>
                        </m:dPr>
                        <m:e>
                          <m:r>
                            <a:rPr lang="en-US" sz="2400" i="1" smtClean="0">
                              <a:solidFill>
                                <a:srgbClr val="FF0000"/>
                              </a:solidFill>
                              <a:latin typeface="Cambria Math" charset="0"/>
                            </a:rPr>
                            <m:t>𝑧</m:t>
                          </m:r>
                        </m:e>
                      </m:d>
                      <m:r>
                        <a:rPr lang="en-US" sz="2400" b="0" i="1" smtClean="0">
                          <a:solidFill>
                            <a:srgbClr val="FF0000"/>
                          </a:solidFill>
                          <a:latin typeface="Cambria Math" charset="0"/>
                        </a:rPr>
                        <m:t>=</m:t>
                      </m:r>
                      <m:r>
                        <a:rPr lang="en-US" sz="2400" b="0" i="1" smtClean="0">
                          <a:solidFill>
                            <a:srgbClr val="FF0000"/>
                          </a:solidFill>
                          <a:latin typeface="Cambria Math" charset="0"/>
                        </a:rPr>
                        <m:t>𝜎</m:t>
                      </m:r>
                      <m:r>
                        <a:rPr lang="en-US" sz="2400" b="0" i="1" smtClean="0">
                          <a:solidFill>
                            <a:srgbClr val="FF0000"/>
                          </a:solidFill>
                          <a:latin typeface="Cambria Math" charset="0"/>
                        </a:rPr>
                        <m:t>(−10)≈0.0</m:t>
                      </m:r>
                    </m:oMath>
                  </m:oMathPara>
                </a14:m>
                <a:endParaRPr lang="en-US" sz="3600" dirty="0">
                  <a:solidFill>
                    <a:srgbClr val="FF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6724004" y="1955545"/>
                <a:ext cx="3149067" cy="461665"/>
              </a:xfrm>
              <a:prstGeom prst="rect">
                <a:avLst/>
              </a:prstGeom>
              <a:blipFill rotWithShape="0">
                <a:blip r:embed="rId5"/>
                <a:stretch>
                  <a:fillRect b="-197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913564" y="3265423"/>
                <a:ext cx="8386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solidFill>
                            <a:srgbClr val="FF0000"/>
                          </a:solidFill>
                          <a:latin typeface="Cambria Math" charset="0"/>
                          <a:ea typeface="Cambria Math" charset="0"/>
                          <a:cs typeface="Cambria Math" charset="0"/>
                        </a:rPr>
                        <m:t>≈0.0</m:t>
                      </m:r>
                    </m:oMath>
                  </m:oMathPara>
                </a14:m>
                <a:endParaRPr lang="en-US" sz="28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913564" y="3265423"/>
                <a:ext cx="838691" cy="369332"/>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969366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382347"/>
            <a:ext cx="9782801" cy="1346200"/>
          </a:xfrm>
        </p:spPr>
        <p:txBody>
          <a:bodyPr>
            <a:normAutofit/>
          </a:bodyPr>
          <a:lstStyle/>
          <a:p>
            <a:r>
              <a:rPr lang="en-US" sz="2800" dirty="0" smtClean="0"/>
              <a:t>The output can then be passed onto another neuron, with a weight associated with that connection</a:t>
            </a:r>
            <a:endParaRPr lang="en-US" sz="2800" dirty="0"/>
          </a:p>
        </p:txBody>
      </p:sp>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856412" y="367856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856412" y="3678567"/>
                <a:ext cx="973917" cy="973917"/>
              </a:xfrm>
              <a:prstGeom prst="ellipse">
                <a:avLst/>
              </a:prstGeom>
              <a:blipFill rotWithShape="0">
                <a:blip r:embed="rId4"/>
                <a:stretch>
                  <a:fillRect/>
                </a:stretch>
              </a:blipFill>
            </p:spPr>
            <p:txBody>
              <a:bodyPr/>
              <a:lstStyle/>
              <a:p>
                <a:r>
                  <a:rPr lang="en-US">
                    <a:noFill/>
                  </a:rPr>
                  <a:t> </a:t>
                </a:r>
              </a:p>
            </p:txBody>
          </p:sp>
        </mc:Fallback>
      </mc:AlternateContent>
      <p:cxnSp>
        <p:nvCxnSpPr>
          <p:cNvPr id="27" name="Straight Arrow Connector 26"/>
          <p:cNvCxnSpPr>
            <a:stCxn id="10" idx="6"/>
            <a:endCxn id="17" idx="1"/>
          </p:cNvCxnSpPr>
          <p:nvPr/>
        </p:nvCxnSpPr>
        <p:spPr>
          <a:xfrm>
            <a:off x="4804347" y="2904169"/>
            <a:ext cx="2194692" cy="91702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3"/>
          </p:cNvCxnSpPr>
          <p:nvPr/>
        </p:nvCxnSpPr>
        <p:spPr>
          <a:xfrm flipV="1">
            <a:off x="4804347" y="4509857"/>
            <a:ext cx="2194692" cy="9170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a:off x="4804347" y="4165526"/>
            <a:ext cx="205206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17" idx="6"/>
            <a:endCxn id="22" idx="2"/>
          </p:cNvCxnSpPr>
          <p:nvPr/>
        </p:nvCxnSpPr>
        <p:spPr>
          <a:xfrm>
            <a:off x="7830329" y="4165526"/>
            <a:ext cx="1555783" cy="53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066357" y="2047878"/>
            <a:ext cx="502061" cy="369332"/>
          </a:xfrm>
          <a:prstGeom prst="rect">
            <a:avLst/>
          </a:prstGeom>
        </p:spPr>
        <p:txBody>
          <a:bodyPr wrap="none">
            <a:spAutoFit/>
          </a:bodyPr>
          <a:lstStyle/>
          <a:p>
            <a:r>
              <a:rPr lang="en-US" dirty="0" smtClean="0">
                <a:solidFill>
                  <a:schemeClr val="tx2"/>
                </a:solidFill>
              </a:rPr>
              <a:t>0.5</a:t>
            </a:r>
            <a:endParaRPr lang="en-US" dirty="0">
              <a:solidFill>
                <a:schemeClr val="tx2"/>
              </a:solidFill>
            </a:endParaRPr>
          </a:p>
        </p:txBody>
      </p:sp>
      <p:sp>
        <p:nvSpPr>
          <p:cNvPr id="4" name="Rectangle 3"/>
          <p:cNvSpPr/>
          <p:nvPr/>
        </p:nvSpPr>
        <p:spPr>
          <a:xfrm>
            <a:off x="4066357" y="3357685"/>
            <a:ext cx="502061" cy="369332"/>
          </a:xfrm>
          <a:prstGeom prst="rect">
            <a:avLst/>
          </a:prstGeom>
        </p:spPr>
        <p:txBody>
          <a:bodyPr wrap="none">
            <a:spAutoFit/>
          </a:bodyPr>
          <a:lstStyle/>
          <a:p>
            <a:r>
              <a:rPr lang="en-US" dirty="0">
                <a:solidFill>
                  <a:schemeClr val="tx2"/>
                </a:solidFill>
              </a:rPr>
              <a:t>1.0</a:t>
            </a:r>
          </a:p>
        </p:txBody>
      </p:sp>
      <p:sp>
        <p:nvSpPr>
          <p:cNvPr id="15" name="Rectangle 14"/>
          <p:cNvSpPr/>
          <p:nvPr/>
        </p:nvSpPr>
        <p:spPr>
          <a:xfrm>
            <a:off x="4066357" y="4616301"/>
            <a:ext cx="502061" cy="369332"/>
          </a:xfrm>
          <a:prstGeom prst="rect">
            <a:avLst/>
          </a:prstGeom>
        </p:spPr>
        <p:txBody>
          <a:bodyPr wrap="none">
            <a:spAutoFit/>
          </a:bodyPr>
          <a:lstStyle/>
          <a:p>
            <a:r>
              <a:rPr lang="en-US" dirty="0">
                <a:solidFill>
                  <a:schemeClr val="tx2"/>
                </a:solidFill>
              </a:rPr>
              <a:t>1.0</a:t>
            </a:r>
          </a:p>
        </p:txBody>
      </p:sp>
      <p:sp>
        <p:nvSpPr>
          <p:cNvPr id="16" name="Rectangle 15"/>
          <p:cNvSpPr/>
          <p:nvPr/>
        </p:nvSpPr>
        <p:spPr>
          <a:xfrm>
            <a:off x="5394291" y="2762370"/>
            <a:ext cx="538930" cy="369332"/>
          </a:xfrm>
          <a:prstGeom prst="rect">
            <a:avLst/>
          </a:prstGeom>
        </p:spPr>
        <p:txBody>
          <a:bodyPr wrap="none">
            <a:spAutoFit/>
          </a:bodyPr>
          <a:lstStyle/>
          <a:p>
            <a:r>
              <a:rPr lang="en-US" dirty="0" smtClean="0">
                <a:solidFill>
                  <a:schemeClr val="tx2"/>
                </a:solidFill>
              </a:rPr>
              <a:t>-40</a:t>
            </a:r>
            <a:endParaRPr lang="en-US" dirty="0">
              <a:solidFill>
                <a:schemeClr val="tx2"/>
              </a:solidFill>
            </a:endParaRPr>
          </a:p>
        </p:txBody>
      </p:sp>
      <p:sp>
        <p:nvSpPr>
          <p:cNvPr id="18" name="Rectangle 17"/>
          <p:cNvSpPr/>
          <p:nvPr/>
        </p:nvSpPr>
        <p:spPr>
          <a:xfrm>
            <a:off x="5511061" y="3802144"/>
            <a:ext cx="319318" cy="369332"/>
          </a:xfrm>
          <a:prstGeom prst="rect">
            <a:avLst/>
          </a:prstGeom>
        </p:spPr>
        <p:txBody>
          <a:bodyPr wrap="none">
            <a:spAutoFit/>
          </a:bodyPr>
          <a:lstStyle/>
          <a:p>
            <a:r>
              <a:rPr lang="en-US" smtClean="0">
                <a:solidFill>
                  <a:schemeClr val="tx2"/>
                </a:solidFill>
              </a:rPr>
              <a:t>5</a:t>
            </a:r>
            <a:endParaRPr lang="en-US" dirty="0">
              <a:solidFill>
                <a:schemeClr val="tx2"/>
              </a:solidFill>
            </a:endParaRPr>
          </a:p>
        </p:txBody>
      </p:sp>
      <p:sp>
        <p:nvSpPr>
          <p:cNvPr id="19" name="Rectangle 18"/>
          <p:cNvSpPr/>
          <p:nvPr/>
        </p:nvSpPr>
        <p:spPr>
          <a:xfrm>
            <a:off x="5511061" y="4648200"/>
            <a:ext cx="319318" cy="369332"/>
          </a:xfrm>
          <a:prstGeom prst="rect">
            <a:avLst/>
          </a:prstGeom>
        </p:spPr>
        <p:txBody>
          <a:bodyPr wrap="none">
            <a:spAutoFit/>
          </a:bodyPr>
          <a:lstStyle/>
          <a:p>
            <a:r>
              <a:rPr lang="en-US" dirty="0" smtClean="0">
                <a:solidFill>
                  <a:schemeClr val="tx2"/>
                </a:solidFill>
              </a:rPr>
              <a:t>5</a:t>
            </a:r>
            <a:endParaRPr lang="en-US" dirty="0">
              <a:solidFill>
                <a:schemeClr val="tx2"/>
              </a:solidFill>
            </a:endParaRPr>
          </a:p>
        </p:txBody>
      </p:sp>
      <mc:AlternateContent xmlns:mc="http://schemas.openxmlformats.org/markup-compatibility/2006" xmlns:a14="http://schemas.microsoft.com/office/drawing/2010/main">
        <mc:Choice Requires="a14">
          <p:sp>
            <p:nvSpPr>
              <p:cNvPr id="22" name="Oval 21"/>
              <p:cNvSpPr/>
              <p:nvPr/>
            </p:nvSpPr>
            <p:spPr>
              <a:xfrm>
                <a:off x="9386112" y="3732377"/>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22" name="Oval 21"/>
              <p:cNvSpPr>
                <a:spLocks noRot="1" noChangeAspect="1" noMove="1" noResize="1" noEditPoints="1" noAdjustHandles="1" noChangeArrowheads="1" noChangeShapeType="1" noTextEdit="1"/>
              </p:cNvSpPr>
              <p:nvPr/>
            </p:nvSpPr>
            <p:spPr>
              <a:xfrm>
                <a:off x="9386112" y="3732377"/>
                <a:ext cx="973917" cy="973917"/>
              </a:xfrm>
              <a:prstGeom prst="ellipse">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6913564" y="3265423"/>
                <a:ext cx="8386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solidFill>
                            <a:schemeClr val="tx2"/>
                          </a:solidFill>
                          <a:latin typeface="Cambria Math" charset="0"/>
                          <a:ea typeface="Cambria Math" charset="0"/>
                          <a:cs typeface="Cambria Math" charset="0"/>
                        </a:rPr>
                        <m:t>≈0.0</m:t>
                      </m:r>
                    </m:oMath>
                  </m:oMathPara>
                </a14:m>
                <a:endParaRPr lang="en-US" sz="2800" dirty="0">
                  <a:solidFill>
                    <a:schemeClr val="tx2"/>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6913564" y="3265423"/>
                <a:ext cx="838691" cy="369332"/>
              </a:xfrm>
              <a:prstGeom prst="rect">
                <a:avLst/>
              </a:prstGeom>
              <a:blipFill rotWithShape="0">
                <a:blip r:embed="rId6"/>
                <a:stretch>
                  <a:fillRect/>
                </a:stretch>
              </a:blipFill>
            </p:spPr>
            <p:txBody>
              <a:bodyPr/>
              <a:lstStyle/>
              <a:p>
                <a:r>
                  <a:rPr lang="en-US">
                    <a:noFill/>
                  </a:rPr>
                  <a:t> </a:t>
                </a:r>
              </a:p>
            </p:txBody>
          </p:sp>
        </mc:Fallback>
      </mc:AlternateContent>
      <p:sp>
        <p:nvSpPr>
          <p:cNvPr id="36" name="Rectangle 35"/>
          <p:cNvSpPr/>
          <p:nvPr/>
        </p:nvSpPr>
        <p:spPr>
          <a:xfrm>
            <a:off x="8304212" y="3821668"/>
            <a:ext cx="453970" cy="369332"/>
          </a:xfrm>
          <a:prstGeom prst="rect">
            <a:avLst/>
          </a:prstGeom>
        </p:spPr>
        <p:txBody>
          <a:bodyPr wrap="none">
            <a:spAutoFit/>
          </a:bodyPr>
          <a:lstStyle/>
          <a:p>
            <a:r>
              <a:rPr lang="en-US" smtClean="0">
                <a:solidFill>
                  <a:schemeClr val="tx2"/>
                </a:solidFill>
              </a:rPr>
              <a:t>10</a:t>
            </a:r>
            <a:endParaRPr lang="en-US" dirty="0">
              <a:solidFill>
                <a:schemeClr val="tx2"/>
              </a:solidFill>
            </a:endParaRPr>
          </a:p>
        </p:txBody>
      </p:sp>
      <p:cxnSp>
        <p:nvCxnSpPr>
          <p:cNvPr id="37" name="Straight Arrow Connector 36"/>
          <p:cNvCxnSpPr>
            <a:endCxn id="22" idx="3"/>
          </p:cNvCxnSpPr>
          <p:nvPr/>
        </p:nvCxnSpPr>
        <p:spPr>
          <a:xfrm flipV="1">
            <a:off x="8758182" y="4563667"/>
            <a:ext cx="770557" cy="4538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endCxn id="22" idx="1"/>
          </p:cNvCxnSpPr>
          <p:nvPr/>
        </p:nvCxnSpPr>
        <p:spPr>
          <a:xfrm>
            <a:off x="8758182" y="3357685"/>
            <a:ext cx="770557" cy="51731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91320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436" y="382347"/>
            <a:ext cx="9782801" cy="1346200"/>
          </a:xfrm>
        </p:spPr>
        <p:txBody>
          <a:bodyPr>
            <a:normAutofit/>
          </a:bodyPr>
          <a:lstStyle/>
          <a:p>
            <a:r>
              <a:rPr lang="en-US" sz="2800" dirty="0" smtClean="0"/>
              <a:t>Inputs don</a:t>
            </a:r>
            <a:r>
              <a:rPr lang="mr-IN" sz="2800" dirty="0" smtClean="0"/>
              <a:t>’</a:t>
            </a:r>
            <a:r>
              <a:rPr lang="en-US" sz="2800" dirty="0" smtClean="0"/>
              <a:t>t need to be limited to passing data into a single neuron. They can pass data to as many as we like.</a:t>
            </a:r>
            <a:endParaRPr lang="en-US" sz="2800" dirty="0"/>
          </a:p>
        </p:txBody>
      </p:sp>
      <mc:AlternateContent xmlns:mc="http://schemas.openxmlformats.org/markup-compatibility/2006" xmlns:a14="http://schemas.microsoft.com/office/drawing/2010/main">
        <mc:Choice Requires="a14">
          <p:sp>
            <p:nvSpPr>
              <p:cNvPr id="10" name="Oval 9"/>
              <p:cNvSpPr/>
              <p:nvPr/>
            </p:nvSpPr>
            <p:spPr>
              <a:xfrm>
                <a:off x="3830430" y="2417210"/>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
                    </m:oMathParaPr>
                    <m:oMath xmlns:m="http://schemas.openxmlformats.org/officeDocument/2006/math">
                      <m:r>
                        <a:rPr lang="en-US" sz="3200" b="0" i="1" smtClean="0">
                          <a:solidFill>
                            <a:schemeClr val="tx2"/>
                          </a:solidFill>
                          <a:latin typeface="Cambria Math" charset="0"/>
                        </a:rPr>
                        <m:t>   </m:t>
                      </m:r>
                      <m:sSub>
                        <m:sSubPr>
                          <m:ctrlPr>
                            <a:rPr lang="en-US" sz="3200" b="0" i="1" smtClean="0">
                              <a:solidFill>
                                <a:schemeClr val="tx2"/>
                              </a:solidFill>
                              <a:latin typeface="Cambria Math" panose="02040503050406030204" pitchFamily="18" charset="0"/>
                            </a:rPr>
                          </m:ctrlPr>
                        </m:sSubPr>
                        <m:e>
                          <m:r>
                            <a:rPr lang="en-US" sz="3200" b="0" i="1" smtClean="0">
                              <a:solidFill>
                                <a:schemeClr val="tx2"/>
                              </a:solidFill>
                              <a:latin typeface="Cambria Math" charset="0"/>
                            </a:rPr>
                            <m:t>𝑥</m:t>
                          </m:r>
                        </m:e>
                        <m:sub>
                          <m:r>
                            <a:rPr lang="en-US" sz="3200" b="0" i="1" smtClean="0">
                              <a:solidFill>
                                <a:schemeClr val="tx2"/>
                              </a:solidFill>
                              <a:latin typeface="Cambria Math" charset="0"/>
                            </a:rPr>
                            <m:t>1</m:t>
                          </m:r>
                        </m:sub>
                      </m:sSub>
                    </m:oMath>
                  </m:oMathPara>
                </a14:m>
                <a:endParaRPr lang="en-US" sz="3200" dirty="0">
                  <a:solidFill>
                    <a:schemeClr val="tx2"/>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3830430" y="2417210"/>
                <a:ext cx="973917" cy="973917"/>
              </a:xfrm>
              <a:prstGeom prst="ellipse">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3830430" y="3678567"/>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tx2"/>
                          </a:solidFill>
                          <a:latin typeface="Cambria Math" charset="0"/>
                        </a:rPr>
                        <m:t>   </m:t>
                      </m:r>
                      <m:sSub>
                        <m:sSubPr>
                          <m:ctrlPr>
                            <a:rPr lang="en-US" sz="3200" i="1">
                              <a:solidFill>
                                <a:schemeClr val="tx2"/>
                              </a:solidFill>
                              <a:latin typeface="Cambria Math" panose="02040503050406030204" pitchFamily="18" charset="0"/>
                            </a:rPr>
                          </m:ctrlPr>
                        </m:sSubPr>
                        <m:e>
                          <m:r>
                            <a:rPr lang="en-US" sz="3200" i="1">
                              <a:solidFill>
                                <a:schemeClr val="tx2"/>
                              </a:solidFill>
                              <a:latin typeface="Cambria Math" charset="0"/>
                            </a:rPr>
                            <m:t>𝑥</m:t>
                          </m:r>
                        </m:e>
                        <m:sub>
                          <m:r>
                            <a:rPr lang="en-US" sz="3200" b="0" i="1" smtClean="0">
                              <a:solidFill>
                                <a:schemeClr val="tx2"/>
                              </a:solidFill>
                              <a:latin typeface="Cambria Math" charset="0"/>
                            </a:rPr>
                            <m:t>2</m:t>
                          </m:r>
                        </m:sub>
                      </m:sSub>
                    </m:oMath>
                  </m:oMathPara>
                </a14:m>
                <a:endParaRPr lang="en-US" sz="3200" dirty="0">
                  <a:solidFill>
                    <a:schemeClr val="tx2"/>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3830430" y="3678567"/>
                <a:ext cx="973917" cy="973917"/>
              </a:xfrm>
              <a:prstGeom prst="ellipse">
                <a:avLst/>
              </a:prstGeom>
              <a:blipFill rotWithShape="0">
                <a:blip r:embed="rId3"/>
                <a:stretch>
                  <a:fillRect/>
                </a:stretch>
              </a:blipFill>
            </p:spPr>
            <p:txBody>
              <a:bodyPr/>
              <a:lstStyle/>
              <a:p>
                <a:r>
                  <a:rPr lang="en-US">
                    <a:noFill/>
                  </a:rPr>
                  <a:t> </a:t>
                </a:r>
              </a:p>
            </p:txBody>
          </p:sp>
        </mc:Fallback>
      </mc:AlternateContent>
      <p:sp>
        <p:nvSpPr>
          <p:cNvPr id="12" name="Oval 11"/>
          <p:cNvSpPr/>
          <p:nvPr/>
        </p:nvSpPr>
        <p:spPr>
          <a:xfrm>
            <a:off x="3830430" y="4939924"/>
            <a:ext cx="973917" cy="97391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smtClean="0">
                <a:solidFill>
                  <a:schemeClr val="tx2"/>
                </a:solidFill>
              </a:rPr>
              <a:t>+1</a:t>
            </a:r>
            <a:endParaRPr lang="en-US" sz="2400" dirty="0">
              <a:solidFill>
                <a:schemeClr val="tx2"/>
              </a:solidFill>
            </a:endParaRPr>
          </a:p>
        </p:txBody>
      </p:sp>
      <mc:AlternateContent xmlns:mc="http://schemas.openxmlformats.org/markup-compatibility/2006" xmlns:a14="http://schemas.microsoft.com/office/drawing/2010/main">
        <mc:Choice Requires="a14">
          <p:sp>
            <p:nvSpPr>
              <p:cNvPr id="17" name="Oval 16"/>
              <p:cNvSpPr/>
              <p:nvPr/>
            </p:nvSpPr>
            <p:spPr>
              <a:xfrm>
                <a:off x="6778338" y="3019609"/>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778338" y="3019609"/>
                <a:ext cx="973917" cy="973917"/>
              </a:xfrm>
              <a:prstGeom prst="ellipse">
                <a:avLst/>
              </a:prstGeom>
              <a:blipFill rotWithShape="0">
                <a:blip r:embed="rId4"/>
                <a:stretch>
                  <a:fillRect/>
                </a:stretch>
              </a:blipFill>
            </p:spPr>
            <p:txBody>
              <a:bodyPr/>
              <a:lstStyle/>
              <a:p>
                <a:r>
                  <a:rPr lang="en-US">
                    <a:noFill/>
                  </a:rPr>
                  <a:t> </a:t>
                </a:r>
              </a:p>
            </p:txBody>
          </p:sp>
        </mc:Fallback>
      </mc:AlternateContent>
      <p:cxnSp>
        <p:nvCxnSpPr>
          <p:cNvPr id="27" name="Straight Arrow Connector 26"/>
          <p:cNvCxnSpPr>
            <a:stCxn id="10" idx="6"/>
            <a:endCxn id="17" idx="2"/>
          </p:cNvCxnSpPr>
          <p:nvPr/>
        </p:nvCxnSpPr>
        <p:spPr>
          <a:xfrm>
            <a:off x="4804347" y="2904169"/>
            <a:ext cx="1973991" cy="60239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7" idx="2"/>
          </p:cNvCxnSpPr>
          <p:nvPr/>
        </p:nvCxnSpPr>
        <p:spPr>
          <a:xfrm flipV="1">
            <a:off x="4804347" y="3506568"/>
            <a:ext cx="1973991" cy="192031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7" idx="2"/>
          </p:cNvCxnSpPr>
          <p:nvPr/>
        </p:nvCxnSpPr>
        <p:spPr>
          <a:xfrm flipV="1">
            <a:off x="4804347" y="3506568"/>
            <a:ext cx="1973991" cy="6589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endCxn id="11" idx="2"/>
          </p:cNvCxnSpPr>
          <p:nvPr/>
        </p:nvCxnSpPr>
        <p:spPr>
          <a:xfrm>
            <a:off x="2894012" y="2904169"/>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endCxn id="12" idx="2"/>
          </p:cNvCxnSpPr>
          <p:nvPr/>
        </p:nvCxnSpPr>
        <p:spPr>
          <a:xfrm>
            <a:off x="2894012" y="4165526"/>
            <a:ext cx="9364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17" idx="6"/>
          </p:cNvCxnSpPr>
          <p:nvPr/>
        </p:nvCxnSpPr>
        <p:spPr>
          <a:xfrm>
            <a:off x="7752255" y="3506568"/>
            <a:ext cx="1618757" cy="160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p:cNvSpPr/>
              <p:nvPr/>
            </p:nvSpPr>
            <p:spPr>
              <a:xfrm>
                <a:off x="6778338" y="4223246"/>
                <a:ext cx="973917" cy="973917"/>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800" b="0" i="1" smtClean="0">
                          <a:solidFill>
                            <a:schemeClr val="tx2"/>
                          </a:solidFill>
                          <a:latin typeface="Cambria Math" charset="0"/>
                          <a:ea typeface="Cambria Math" charset="0"/>
                          <a:cs typeface="Cambria Math" charset="0"/>
                        </a:rPr>
                        <m:t>   </m:t>
                      </m:r>
                      <m:r>
                        <a:rPr lang="en-US" sz="2800" i="1">
                          <a:solidFill>
                            <a:schemeClr val="tx2"/>
                          </a:solidFill>
                          <a:latin typeface="Cambria Math" charset="0"/>
                          <a:ea typeface="Cambria Math" charset="0"/>
                          <a:cs typeface="Cambria Math" charset="0"/>
                        </a:rPr>
                        <m:t>𝜎</m:t>
                      </m:r>
                    </m:oMath>
                  </m:oMathPara>
                </a14:m>
                <a:endParaRPr lang="en-US" sz="2800" dirty="0">
                  <a:solidFill>
                    <a:schemeClr val="tx2"/>
                  </a:solidFill>
                </a:endParaRPr>
              </a:p>
            </p:txBody>
          </p:sp>
        </mc:Choice>
        <mc:Fallback xmlns="">
          <p:sp>
            <p:nvSpPr>
              <p:cNvPr id="39" name="Oval 38"/>
              <p:cNvSpPr>
                <a:spLocks noRot="1" noChangeAspect="1" noMove="1" noResize="1" noEditPoints="1" noAdjustHandles="1" noChangeArrowheads="1" noChangeShapeType="1" noTextEdit="1"/>
              </p:cNvSpPr>
              <p:nvPr/>
            </p:nvSpPr>
            <p:spPr>
              <a:xfrm>
                <a:off x="6778338" y="4223246"/>
                <a:ext cx="973917" cy="973917"/>
              </a:xfrm>
              <a:prstGeom prst="ellipse">
                <a:avLst/>
              </a:prstGeom>
              <a:blipFill rotWithShape="0">
                <a:blip r:embed="rId5"/>
                <a:stretch>
                  <a:fillRect/>
                </a:stretch>
              </a:blipFill>
            </p:spPr>
            <p:txBody>
              <a:bodyPr/>
              <a:lstStyle/>
              <a:p>
                <a:r>
                  <a:rPr lang="en-US">
                    <a:noFill/>
                  </a:rPr>
                  <a:t> </a:t>
                </a:r>
              </a:p>
            </p:txBody>
          </p:sp>
        </mc:Fallback>
      </mc:AlternateContent>
      <p:cxnSp>
        <p:nvCxnSpPr>
          <p:cNvPr id="40" name="Straight Arrow Connector 39"/>
          <p:cNvCxnSpPr>
            <a:stCxn id="39" idx="6"/>
          </p:cNvCxnSpPr>
          <p:nvPr/>
        </p:nvCxnSpPr>
        <p:spPr>
          <a:xfrm>
            <a:off x="7752255" y="4710205"/>
            <a:ext cx="1618757" cy="160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2" idx="6"/>
            <a:endCxn id="39" idx="2"/>
          </p:cNvCxnSpPr>
          <p:nvPr/>
        </p:nvCxnSpPr>
        <p:spPr>
          <a:xfrm flipV="1">
            <a:off x="4804347" y="4710205"/>
            <a:ext cx="1973991" cy="71667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1" idx="6"/>
            <a:endCxn id="39" idx="2"/>
          </p:cNvCxnSpPr>
          <p:nvPr/>
        </p:nvCxnSpPr>
        <p:spPr>
          <a:xfrm>
            <a:off x="4804347" y="4165526"/>
            <a:ext cx="1973991" cy="54467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0" idx="6"/>
          </p:cNvCxnSpPr>
          <p:nvPr/>
        </p:nvCxnSpPr>
        <p:spPr>
          <a:xfrm>
            <a:off x="4804347" y="2904169"/>
            <a:ext cx="2051574" cy="19151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798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Layers of Neurons</a:t>
            </a:r>
            <a:endParaRPr lang="en-US" dirty="0"/>
          </a:p>
        </p:txBody>
      </p:sp>
    </p:spTree>
    <p:extLst>
      <p:ext uri="{BB962C8B-B14F-4D97-AF65-F5344CB8AC3E}">
        <p14:creationId xmlns:p14="http://schemas.microsoft.com/office/powerpoint/2010/main" val="58401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Neural Layers</a:t>
            </a:r>
            <a:endParaRPr lang="en-US" dirty="0"/>
          </a:p>
        </p:txBody>
      </p:sp>
      <p:sp>
        <p:nvSpPr>
          <p:cNvPr id="3" name="Content Placeholder 2"/>
          <p:cNvSpPr>
            <a:spLocks noGrp="1"/>
          </p:cNvSpPr>
          <p:nvPr>
            <p:ph idx="1"/>
          </p:nvPr>
        </p:nvSpPr>
        <p:spPr/>
        <p:txBody>
          <a:bodyPr/>
          <a:lstStyle/>
          <a:p>
            <a:r>
              <a:rPr lang="en-US" dirty="0" smtClean="0"/>
              <a:t>Typically, neurons are grouped into </a:t>
            </a:r>
            <a:r>
              <a:rPr lang="en-US" i="1" dirty="0" smtClean="0"/>
              <a:t>layers</a:t>
            </a:r>
            <a:r>
              <a:rPr lang="en-US" dirty="0" smtClean="0"/>
              <a:t>.</a:t>
            </a:r>
          </a:p>
          <a:p>
            <a:endParaRPr lang="en-US" dirty="0" smtClean="0"/>
          </a:p>
          <a:p>
            <a:r>
              <a:rPr lang="en-US" dirty="0" smtClean="0"/>
              <a:t>Each neuron in the layer receives input from the same neurons</a:t>
            </a:r>
          </a:p>
          <a:p>
            <a:pPr lvl="1"/>
            <a:r>
              <a:rPr lang="en-US" b="1" dirty="0" smtClean="0"/>
              <a:t>Weights</a:t>
            </a:r>
            <a:r>
              <a:rPr lang="en-US" dirty="0" smtClean="0"/>
              <a:t> are different for each neuron</a:t>
            </a:r>
          </a:p>
          <a:p>
            <a:endParaRPr lang="en-US" dirty="0" smtClean="0"/>
          </a:p>
          <a:p>
            <a:r>
              <a:rPr lang="en-US" dirty="0" smtClean="0"/>
              <a:t>All neurons in this layer output to the same neurons in a subsequent layer</a:t>
            </a:r>
            <a:endParaRPr lang="en-US" dirty="0"/>
          </a:p>
        </p:txBody>
      </p:sp>
    </p:spTree>
    <p:extLst>
      <p:ext uri="{BB962C8B-B14F-4D97-AF65-F5344CB8AC3E}">
        <p14:creationId xmlns:p14="http://schemas.microsoft.com/office/powerpoint/2010/main" val="544846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single neural layer</a:t>
            </a:r>
            <a:endParaRPr lang="en-US" dirty="0"/>
          </a:p>
        </p:txBody>
      </p:sp>
      <p:grpSp>
        <p:nvGrpSpPr>
          <p:cNvPr id="67" name="Group 66"/>
          <p:cNvGrpSpPr/>
          <p:nvPr/>
        </p:nvGrpSpPr>
        <p:grpSpPr>
          <a:xfrm>
            <a:off x="4037012" y="2209800"/>
            <a:ext cx="3515428" cy="3842522"/>
            <a:chOff x="4037012" y="2209800"/>
            <a:chExt cx="3515428" cy="3842522"/>
          </a:xfrm>
        </p:grpSpPr>
        <mc:AlternateContent xmlns:mc="http://schemas.openxmlformats.org/markup-compatibility/2006" xmlns:a14="http://schemas.microsoft.com/office/drawing/2010/main">
          <mc:Choice Requires="a14">
            <p:sp>
              <p:nvSpPr>
                <p:cNvPr id="5" name="Oval 4"/>
                <p:cNvSpPr/>
                <p:nvPr/>
              </p:nvSpPr>
              <p:spPr>
                <a:xfrm>
                  <a:off x="4824021" y="2704328"/>
                  <a:ext cx="818526" cy="81852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4824021" y="2704328"/>
                  <a:ext cx="818526" cy="818526"/>
                </a:xfrm>
                <a:prstGeom prst="ellipse">
                  <a:avLst/>
                </a:prstGeom>
                <a:blipFill rotWithShape="0">
                  <a:blip r:embed="rId3"/>
                  <a:stretch>
                    <a:fillRect l="-7299" t="-33824" b="-52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4824021" y="3764430"/>
                  <a:ext cx="818526" cy="81852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4824021" y="3764430"/>
                  <a:ext cx="818526" cy="818526"/>
                </a:xfrm>
                <a:prstGeom prst="ellipse">
                  <a:avLst/>
                </a:prstGeom>
                <a:blipFill rotWithShape="0">
                  <a:blip r:embed="rId4"/>
                  <a:stretch>
                    <a:fillRect l="-11679" t="-33824" b="-52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6188230" y="5233796"/>
                  <a:ext cx="818526" cy="8185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6188230" y="5233796"/>
                  <a:ext cx="818526" cy="818526"/>
                </a:xfrm>
                <a:prstGeom prst="ellipse">
                  <a:avLst/>
                </a:prstGeom>
                <a:blipFill rotWithShape="0">
                  <a:blip r:embed="rId5"/>
                  <a:stretch>
                    <a:fillRect l="-735" t="-33824" b="-52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6188230" y="4225796"/>
                  <a:ext cx="818526" cy="8185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6188230" y="4225796"/>
                  <a:ext cx="818526" cy="818526"/>
                </a:xfrm>
                <a:prstGeom prst="ellipse">
                  <a:avLst/>
                </a:prstGeom>
                <a:blipFill rotWithShape="0">
                  <a:blip r:embed="rId6"/>
                  <a:stretch>
                    <a:fillRect l="-735" t="-33824" b="-5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6188230" y="3217799"/>
                  <a:ext cx="818526" cy="8185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6188230" y="3217799"/>
                  <a:ext cx="818526" cy="818526"/>
                </a:xfrm>
                <a:prstGeom prst="ellipse">
                  <a:avLst/>
                </a:prstGeom>
                <a:blipFill rotWithShape="0">
                  <a:blip r:embed="rId5"/>
                  <a:stretch>
                    <a:fillRect l="-735" t="-33824" b="-52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6188230" y="2209800"/>
                  <a:ext cx="818526" cy="81852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6188230" y="2209800"/>
                  <a:ext cx="818526" cy="818526"/>
                </a:xfrm>
                <a:prstGeom prst="ellipse">
                  <a:avLst/>
                </a:prstGeom>
                <a:blipFill rotWithShape="0">
                  <a:blip r:embed="rId5"/>
                  <a:stretch>
                    <a:fillRect l="-735" t="-33824" b="-52206"/>
                  </a:stretch>
                </a:blipFill>
              </p:spPr>
              <p:txBody>
                <a:bodyPr/>
                <a:lstStyle/>
                <a:p>
                  <a:r>
                    <a:rPr lang="en-US">
                      <a:noFill/>
                    </a:rPr>
                    <a:t> </a:t>
                  </a:r>
                </a:p>
              </p:txBody>
            </p:sp>
          </mc:Fallback>
        </mc:AlternateContent>
        <p:cxnSp>
          <p:nvCxnSpPr>
            <p:cNvPr id="19" name="Straight Arrow Connector 18"/>
            <p:cNvCxnSpPr>
              <a:stCxn id="10" idx="6"/>
            </p:cNvCxnSpPr>
            <p:nvPr/>
          </p:nvCxnSpPr>
          <p:spPr>
            <a:xfrm flipV="1">
              <a:off x="5642547" y="2619062"/>
              <a:ext cx="545684" cy="494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0" idx="6"/>
            </p:cNvCxnSpPr>
            <p:nvPr/>
          </p:nvCxnSpPr>
          <p:spPr>
            <a:xfrm>
              <a:off x="5642547" y="3113590"/>
              <a:ext cx="545684" cy="513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0" idx="6"/>
            </p:cNvCxnSpPr>
            <p:nvPr/>
          </p:nvCxnSpPr>
          <p:spPr>
            <a:xfrm>
              <a:off x="5642547" y="3113590"/>
              <a:ext cx="545684" cy="1521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0" idx="6"/>
            </p:cNvCxnSpPr>
            <p:nvPr/>
          </p:nvCxnSpPr>
          <p:spPr>
            <a:xfrm>
              <a:off x="5642547" y="3113590"/>
              <a:ext cx="545684" cy="2529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1" idx="6"/>
            </p:cNvCxnSpPr>
            <p:nvPr/>
          </p:nvCxnSpPr>
          <p:spPr>
            <a:xfrm flipV="1">
              <a:off x="5642547" y="2619062"/>
              <a:ext cx="545684" cy="1554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1" idx="6"/>
            </p:cNvCxnSpPr>
            <p:nvPr/>
          </p:nvCxnSpPr>
          <p:spPr>
            <a:xfrm flipV="1">
              <a:off x="5642547" y="3627061"/>
              <a:ext cx="545684" cy="546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1" idx="6"/>
            </p:cNvCxnSpPr>
            <p:nvPr/>
          </p:nvCxnSpPr>
          <p:spPr>
            <a:xfrm>
              <a:off x="5642547" y="4173694"/>
              <a:ext cx="545684" cy="461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1" idx="6"/>
            </p:cNvCxnSpPr>
            <p:nvPr/>
          </p:nvCxnSpPr>
          <p:spPr>
            <a:xfrm>
              <a:off x="5642547" y="4173694"/>
              <a:ext cx="545684" cy="1469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5642547" y="2619062"/>
              <a:ext cx="545684" cy="2614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5642547" y="3627061"/>
              <a:ext cx="545684" cy="1606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642547" y="4635060"/>
              <a:ext cx="545684" cy="598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642547" y="5233796"/>
              <a:ext cx="545684" cy="409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20" idx="2"/>
            </p:cNvCxnSpPr>
            <p:nvPr/>
          </p:nvCxnSpPr>
          <p:spPr>
            <a:xfrm>
              <a:off x="7006756" y="2619062"/>
              <a:ext cx="5456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006756" y="3627061"/>
              <a:ext cx="5456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7006756" y="4635060"/>
              <a:ext cx="5456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7006756" y="5643060"/>
              <a:ext cx="5456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10" idx="2"/>
            </p:cNvCxnSpPr>
            <p:nvPr/>
          </p:nvCxnSpPr>
          <p:spPr>
            <a:xfrm>
              <a:off x="4037012" y="3113590"/>
              <a:ext cx="7870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11" idx="2"/>
            </p:cNvCxnSpPr>
            <p:nvPr/>
          </p:nvCxnSpPr>
          <p:spPr>
            <a:xfrm>
              <a:off x="4037012" y="4173694"/>
              <a:ext cx="7870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Oval 65"/>
                <p:cNvSpPr/>
                <p:nvPr/>
              </p:nvSpPr>
              <p:spPr>
                <a:xfrm>
                  <a:off x="4824021" y="4824534"/>
                  <a:ext cx="818526" cy="81852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+1</m:t>
                        </m:r>
                      </m:oMath>
                    </m:oMathPara>
                  </a14:m>
                  <a:endParaRPr lang="en-US" sz="2400" dirty="0"/>
                </a:p>
              </p:txBody>
            </p:sp>
          </mc:Choice>
          <mc:Fallback xmlns="">
            <p:sp>
              <p:nvSpPr>
                <p:cNvPr id="66" name="Oval 65"/>
                <p:cNvSpPr>
                  <a:spLocks noRot="1" noChangeAspect="1" noMove="1" noResize="1" noEditPoints="1" noAdjustHandles="1" noChangeArrowheads="1" noChangeShapeType="1" noTextEdit="1"/>
                </p:cNvSpPr>
                <p:nvPr/>
              </p:nvSpPr>
              <p:spPr>
                <a:xfrm>
                  <a:off x="4824021" y="4824534"/>
                  <a:ext cx="818526" cy="818526"/>
                </a:xfrm>
                <a:prstGeom prst="ellipse">
                  <a:avLst/>
                </a:prstGeom>
                <a:blipFill rotWithShape="0">
                  <a:blip r:embed="rId7"/>
                  <a:stretch>
                    <a:fillRect l="-5839" t="-32847" b="-51825"/>
                  </a:stretch>
                </a:blipFill>
              </p:spPr>
              <p:txBody>
                <a:bodyPr/>
                <a:lstStyle/>
                <a:p>
                  <a:r>
                    <a:rPr lang="en-US">
                      <a:noFill/>
                    </a:rPr>
                    <a:t> </a:t>
                  </a:r>
                </a:p>
              </p:txBody>
            </p:sp>
          </mc:Fallback>
        </mc:AlternateContent>
      </p:grpSp>
    </p:spTree>
    <p:extLst>
      <p:ext uri="{BB962C8B-B14F-4D97-AF65-F5344CB8AC3E}">
        <p14:creationId xmlns:p14="http://schemas.microsoft.com/office/powerpoint/2010/main" val="10603191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single neural layer</a:t>
            </a:r>
            <a:endParaRPr lang="en-US" dirty="0"/>
          </a:p>
        </p:txBody>
      </p:sp>
      <p:grpSp>
        <p:nvGrpSpPr>
          <p:cNvPr id="65" name="Group 64"/>
          <p:cNvGrpSpPr/>
          <p:nvPr/>
        </p:nvGrpSpPr>
        <p:grpSpPr>
          <a:xfrm>
            <a:off x="4037012" y="2209800"/>
            <a:ext cx="3515428" cy="3842522"/>
            <a:chOff x="4341812" y="2590800"/>
            <a:chExt cx="2442130" cy="2669359"/>
          </a:xfrm>
        </p:grpSpPr>
        <mc:AlternateContent xmlns:mc="http://schemas.openxmlformats.org/markup-compatibility/2006" xmlns:a14="http://schemas.microsoft.com/office/drawing/2010/main">
          <mc:Choice Requires="a14">
            <p:sp>
              <p:nvSpPr>
                <p:cNvPr id="5" name="Oval 4"/>
                <p:cNvSpPr/>
                <p:nvPr/>
              </p:nvSpPr>
              <p:spPr>
                <a:xfrm>
                  <a:off x="4888539" y="2934343"/>
                  <a:ext cx="568621" cy="5686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4888539" y="2934343"/>
                  <a:ext cx="568621" cy="568621"/>
                </a:xfrm>
                <a:prstGeom prst="ellipse">
                  <a:avLst/>
                </a:prstGeom>
                <a:blipFill rotWithShape="0">
                  <a:blip r:embed="rId2"/>
                  <a:stretch>
                    <a:fillRect l="-7299" t="-33824" b="-52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4888539" y="3670785"/>
                  <a:ext cx="568621" cy="5686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4888539" y="3670785"/>
                  <a:ext cx="568621" cy="568621"/>
                </a:xfrm>
                <a:prstGeom prst="ellipse">
                  <a:avLst/>
                </a:prstGeom>
                <a:blipFill rotWithShape="0">
                  <a:blip r:embed="rId3"/>
                  <a:stretch>
                    <a:fillRect l="-11679" t="-33824" b="-52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4888539" y="4407228"/>
                  <a:ext cx="568621" cy="5686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+1</m:t>
                        </m:r>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4888539" y="4407228"/>
                  <a:ext cx="568621" cy="568621"/>
                </a:xfrm>
                <a:prstGeom prst="ellipse">
                  <a:avLst/>
                </a:prstGeom>
                <a:blipFill rotWithShape="0">
                  <a:blip r:embed="rId4"/>
                  <a:stretch>
                    <a:fillRect l="-5839" t="-32847" b="-518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5836240" y="4691538"/>
                  <a:ext cx="568621" cy="5686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5836240" y="4691538"/>
                  <a:ext cx="568621" cy="568621"/>
                </a:xfrm>
                <a:prstGeom prst="ellipse">
                  <a:avLst/>
                </a:prstGeom>
                <a:blipFill rotWithShape="0">
                  <a:blip r:embed="rId5"/>
                  <a:stretch>
                    <a:fillRect l="-735" t="-33824" b="-52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5836240" y="3991291"/>
                  <a:ext cx="568621" cy="5686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5836240" y="3991291"/>
                  <a:ext cx="568621" cy="568621"/>
                </a:xfrm>
                <a:prstGeom prst="ellipse">
                  <a:avLst/>
                </a:prstGeom>
                <a:blipFill rotWithShape="0">
                  <a:blip r:embed="rId6"/>
                  <a:stretch>
                    <a:fillRect l="-735" t="-33824" b="-5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5836240" y="3291046"/>
                  <a:ext cx="568621" cy="5686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5836240" y="3291046"/>
                  <a:ext cx="568621" cy="568621"/>
                </a:xfrm>
                <a:prstGeom prst="ellipse">
                  <a:avLst/>
                </a:prstGeom>
                <a:blipFill rotWithShape="0">
                  <a:blip r:embed="rId5"/>
                  <a:stretch>
                    <a:fillRect l="-735" t="-33824" b="-522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5836240" y="2590800"/>
                  <a:ext cx="568621" cy="5686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5836240" y="2590800"/>
                  <a:ext cx="568621" cy="568621"/>
                </a:xfrm>
                <a:prstGeom prst="ellipse">
                  <a:avLst/>
                </a:prstGeom>
                <a:blipFill rotWithShape="0">
                  <a:blip r:embed="rId5"/>
                  <a:stretch>
                    <a:fillRect l="-735" t="-33824" b="-52206"/>
                  </a:stretch>
                </a:blipFill>
              </p:spPr>
              <p:txBody>
                <a:bodyPr/>
                <a:lstStyle/>
                <a:p>
                  <a:r>
                    <a:rPr lang="en-US">
                      <a:noFill/>
                    </a:rPr>
                    <a:t> </a:t>
                  </a:r>
                </a:p>
              </p:txBody>
            </p:sp>
          </mc:Fallback>
        </mc:AlternateContent>
        <p:cxnSp>
          <p:nvCxnSpPr>
            <p:cNvPr id="19" name="Straight Arrow Connector 18"/>
            <p:cNvCxnSpPr>
              <a:stCxn id="10" idx="6"/>
            </p:cNvCxnSpPr>
            <p:nvPr/>
          </p:nvCxnSpPr>
          <p:spPr>
            <a:xfrm flipV="1">
              <a:off x="5457160" y="2875110"/>
              <a:ext cx="379081" cy="343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0" idx="6"/>
            </p:cNvCxnSpPr>
            <p:nvPr/>
          </p:nvCxnSpPr>
          <p:spPr>
            <a:xfrm>
              <a:off x="5457160" y="3218653"/>
              <a:ext cx="379081" cy="356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0" idx="6"/>
            </p:cNvCxnSpPr>
            <p:nvPr/>
          </p:nvCxnSpPr>
          <p:spPr>
            <a:xfrm>
              <a:off x="5457160" y="3218653"/>
              <a:ext cx="379081" cy="1056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0" idx="6"/>
            </p:cNvCxnSpPr>
            <p:nvPr/>
          </p:nvCxnSpPr>
          <p:spPr>
            <a:xfrm>
              <a:off x="5457160" y="3218653"/>
              <a:ext cx="379081" cy="1757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1" idx="6"/>
            </p:cNvCxnSpPr>
            <p:nvPr/>
          </p:nvCxnSpPr>
          <p:spPr>
            <a:xfrm flipV="1">
              <a:off x="5457160" y="2875110"/>
              <a:ext cx="379081" cy="1079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1" idx="6"/>
            </p:cNvCxnSpPr>
            <p:nvPr/>
          </p:nvCxnSpPr>
          <p:spPr>
            <a:xfrm flipV="1">
              <a:off x="5457160" y="3575356"/>
              <a:ext cx="379081" cy="379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1" idx="6"/>
            </p:cNvCxnSpPr>
            <p:nvPr/>
          </p:nvCxnSpPr>
          <p:spPr>
            <a:xfrm>
              <a:off x="5457160" y="3955096"/>
              <a:ext cx="379081" cy="320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1" idx="6"/>
            </p:cNvCxnSpPr>
            <p:nvPr/>
          </p:nvCxnSpPr>
          <p:spPr>
            <a:xfrm>
              <a:off x="5457160" y="3955096"/>
              <a:ext cx="379081" cy="1020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5457160" y="2875110"/>
              <a:ext cx="379081" cy="1816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5457160" y="3575356"/>
              <a:ext cx="379081" cy="1116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57160" y="4275602"/>
              <a:ext cx="379081" cy="415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457160" y="4691538"/>
              <a:ext cx="379081" cy="284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endCxn id="20" idx="2"/>
            </p:cNvCxnSpPr>
            <p:nvPr/>
          </p:nvCxnSpPr>
          <p:spPr>
            <a:xfrm>
              <a:off x="6404861" y="2875110"/>
              <a:ext cx="3790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6404861" y="3575356"/>
              <a:ext cx="3790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404861" y="4275602"/>
              <a:ext cx="3790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6404861" y="4975849"/>
              <a:ext cx="3790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10" idx="2"/>
            </p:cNvCxnSpPr>
            <p:nvPr/>
          </p:nvCxnSpPr>
          <p:spPr>
            <a:xfrm>
              <a:off x="4341812" y="3218653"/>
              <a:ext cx="5467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11" idx="2"/>
            </p:cNvCxnSpPr>
            <p:nvPr/>
          </p:nvCxnSpPr>
          <p:spPr>
            <a:xfrm>
              <a:off x="4341812" y="3955096"/>
              <a:ext cx="5467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TextBox 2"/>
              <p:cNvSpPr txBox="1"/>
              <p:nvPr/>
            </p:nvSpPr>
            <p:spPr>
              <a:xfrm>
                <a:off x="2055812" y="1671022"/>
                <a:ext cx="3358035" cy="707886"/>
              </a:xfrm>
              <a:prstGeom prst="rect">
                <a:avLst/>
              </a:prstGeom>
              <a:noFill/>
            </p:spPr>
            <p:txBody>
              <a:bodyPr wrap="none" rtlCol="0">
                <a:spAutoFit/>
              </a:bodyPr>
              <a:lstStyle/>
              <a:p>
                <a:pPr algn="r"/>
                <a:r>
                  <a:rPr lang="en-US" sz="2000" dirty="0" smtClean="0">
                    <a:solidFill>
                      <a:srgbClr val="FF0000"/>
                    </a:solidFill>
                  </a:rPr>
                  <a:t>Each neuron has the same </a:t>
                </a:r>
              </a:p>
              <a:p>
                <a:pPr algn="r"/>
                <a:r>
                  <a:rPr lang="en-US" sz="2000" dirty="0" smtClean="0">
                    <a:solidFill>
                      <a:srgbClr val="FF0000"/>
                    </a:solidFill>
                  </a:rPr>
                  <a:t>value for </a:t>
                </a: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charset="0"/>
                          </a:rPr>
                          <m:t>𝑥</m:t>
                        </m:r>
                      </m:e>
                      <m:sub>
                        <m:r>
                          <a:rPr lang="en-US" sz="2000" i="1">
                            <a:solidFill>
                              <a:srgbClr val="FF0000"/>
                            </a:solidFill>
                            <a:latin typeface="Cambria Math" charset="0"/>
                          </a:rPr>
                          <m:t>1</m:t>
                        </m:r>
                      </m:sub>
                    </m:sSub>
                  </m:oMath>
                </a14:m>
                <a:r>
                  <a:rPr lang="en-US" sz="2000" dirty="0" smtClean="0">
                    <a:solidFill>
                      <a:srgbClr val="FF0000"/>
                    </a:solidFill>
                  </a:rPr>
                  <a:t>, </a:t>
                </a:r>
                <a14:m>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i="1">
                            <a:solidFill>
                              <a:srgbClr val="FF0000"/>
                            </a:solidFill>
                            <a:latin typeface="Cambria Math" charset="0"/>
                          </a:rPr>
                          <m:t>𝑥</m:t>
                        </m:r>
                      </m:e>
                      <m:sub>
                        <m:r>
                          <a:rPr lang="en-US" sz="2000" b="0" i="1" smtClean="0">
                            <a:solidFill>
                              <a:srgbClr val="FF0000"/>
                            </a:solidFill>
                            <a:latin typeface="Cambria Math" charset="0"/>
                          </a:rPr>
                          <m:t>2</m:t>
                        </m:r>
                      </m:sub>
                    </m:sSub>
                  </m:oMath>
                </a14:m>
                <a:r>
                  <a:rPr lang="en-US" sz="2000" dirty="0" smtClean="0">
                    <a:solidFill>
                      <a:srgbClr val="FF0000"/>
                    </a:solidFill>
                  </a:rPr>
                  <a:t> plugged in</a:t>
                </a:r>
                <a:endParaRPr lang="en-US" sz="2000" dirty="0">
                  <a:solidFill>
                    <a:srgbClr val="FF0000"/>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055812" y="1671022"/>
                <a:ext cx="3358035" cy="707886"/>
              </a:xfrm>
              <a:prstGeom prst="rect">
                <a:avLst/>
              </a:prstGeom>
              <a:blipFill rotWithShape="0">
                <a:blip r:embed="rId7"/>
                <a:stretch>
                  <a:fillRect l="-907" t="-4310" r="-1996" b="-13793"/>
                </a:stretch>
              </a:blipFill>
            </p:spPr>
            <p:txBody>
              <a:bodyPr/>
              <a:lstStyle/>
              <a:p>
                <a:r>
                  <a:rPr lang="en-US">
                    <a:noFill/>
                  </a:rPr>
                  <a:t> </a:t>
                </a:r>
              </a:p>
            </p:txBody>
          </p:sp>
        </mc:Fallback>
      </mc:AlternateContent>
      <p:cxnSp>
        <p:nvCxnSpPr>
          <p:cNvPr id="12" name="Straight Arrow Connector 11"/>
          <p:cNvCxnSpPr/>
          <p:nvPr/>
        </p:nvCxnSpPr>
        <p:spPr>
          <a:xfrm>
            <a:off x="4265612" y="2378908"/>
            <a:ext cx="558409" cy="51669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88230" y="1308486"/>
            <a:ext cx="4497513" cy="707886"/>
          </a:xfrm>
          <a:prstGeom prst="rect">
            <a:avLst/>
          </a:prstGeom>
          <a:noFill/>
        </p:spPr>
        <p:txBody>
          <a:bodyPr wrap="none" rtlCol="0">
            <a:spAutoFit/>
          </a:bodyPr>
          <a:lstStyle/>
          <a:p>
            <a:r>
              <a:rPr lang="en-US" sz="2000" dirty="0" smtClean="0">
                <a:solidFill>
                  <a:srgbClr val="FF0000"/>
                </a:solidFill>
              </a:rPr>
              <a:t>But having different weights means</a:t>
            </a:r>
          </a:p>
          <a:p>
            <a:r>
              <a:rPr lang="en-US" sz="2000" dirty="0" smtClean="0">
                <a:solidFill>
                  <a:srgbClr val="FF0000"/>
                </a:solidFill>
              </a:rPr>
              <a:t>neurons respond to inputs differently</a:t>
            </a:r>
            <a:endParaRPr lang="en-US" sz="2000" dirty="0">
              <a:solidFill>
                <a:srgbClr val="FF0000"/>
              </a:solidFill>
            </a:endParaRPr>
          </a:p>
        </p:txBody>
      </p:sp>
      <p:cxnSp>
        <p:nvCxnSpPr>
          <p:cNvPr id="35" name="Straight Arrow Connector 34"/>
          <p:cNvCxnSpPr/>
          <p:nvPr/>
        </p:nvCxnSpPr>
        <p:spPr>
          <a:xfrm flipH="1">
            <a:off x="5816747" y="2020326"/>
            <a:ext cx="415626" cy="6840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781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does a layer of neurons look like in TF?</a:t>
            </a:r>
            <a:endParaRPr lang="en-US" dirty="0"/>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a:endCxn id="15" idx="2"/>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sp>
          <p:nvSpPr>
            <p:cNvPr id="15" name="Oval 14"/>
            <p:cNvSpPr/>
            <p:nvPr/>
          </p:nvSpPr>
          <p:spPr>
            <a:xfrm>
              <a:off x="7494224" y="3511106"/>
              <a:ext cx="902582" cy="90258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sigmoid</a:t>
              </a:r>
              <a:endParaRPr lang="en-US" sz="2000" dirty="0">
                <a:solidFill>
                  <a:schemeClr val="tx2"/>
                </a:solidFill>
              </a:endParaRPr>
            </a:p>
          </p:txBody>
        </p:sp>
        <p:cxnSp>
          <p:nvCxnSpPr>
            <p:cNvPr id="20" name="Straight Arrow Connector 19"/>
            <p:cNvCxnSpPr>
              <a:cxnSpLocks/>
              <a:stCxn id="15" idx="6"/>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6" name="TextBox 15"/>
          <p:cNvSpPr txBox="1"/>
          <p:nvPr/>
        </p:nvSpPr>
        <p:spPr>
          <a:xfrm>
            <a:off x="4409776" y="1806421"/>
            <a:ext cx="4879669" cy="461665"/>
          </a:xfrm>
          <a:prstGeom prst="rect">
            <a:avLst/>
          </a:prstGeom>
          <a:noFill/>
        </p:spPr>
        <p:txBody>
          <a:bodyPr wrap="none" rtlCol="0">
            <a:spAutoFit/>
          </a:bodyPr>
          <a:lstStyle/>
          <a:p>
            <a:r>
              <a:rPr lang="en-US" sz="2400" dirty="0" smtClean="0">
                <a:solidFill>
                  <a:srgbClr val="FF0000"/>
                </a:solidFill>
              </a:rPr>
              <a:t>Almost identical to single neuron!</a:t>
            </a:r>
            <a:endParaRPr lang="en-US" sz="2400" dirty="0">
              <a:solidFill>
                <a:srgbClr val="FF0000"/>
              </a:solidFill>
            </a:endParaRPr>
          </a:p>
        </p:txBody>
      </p:sp>
    </p:spTree>
    <p:extLst>
      <p:ext uri="{BB962C8B-B14F-4D97-AF65-F5344CB8AC3E}">
        <p14:creationId xmlns:p14="http://schemas.microsoft.com/office/powerpoint/2010/main" val="1753427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Weights: now a matrix (instead of vector)</a:t>
            </a:r>
            <a:endParaRPr lang="en-US" dirty="0"/>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4" name="TextBox 13"/>
          <p:cNvSpPr txBox="1"/>
          <p:nvPr/>
        </p:nvSpPr>
        <p:spPr>
          <a:xfrm>
            <a:off x="3272513" y="2029203"/>
            <a:ext cx="3199146" cy="400110"/>
          </a:xfrm>
          <a:prstGeom prst="rect">
            <a:avLst/>
          </a:prstGeom>
          <a:noFill/>
        </p:spPr>
        <p:txBody>
          <a:bodyPr wrap="none" rtlCol="0">
            <a:spAutoFit/>
          </a:bodyPr>
          <a:lstStyle/>
          <a:p>
            <a:r>
              <a:rPr lang="en-US" sz="2000" dirty="0" smtClean="0">
                <a:solidFill>
                  <a:srgbClr val="FF0000"/>
                </a:solidFill>
              </a:rPr>
              <a:t>X: [n x m] matrix of inputs</a:t>
            </a:r>
            <a:endParaRPr lang="en-US" sz="2000" dirty="0">
              <a:solidFill>
                <a:srgbClr val="FF0000"/>
              </a:solidFill>
            </a:endParaRPr>
          </a:p>
        </p:txBody>
      </p:sp>
      <p:sp>
        <p:nvSpPr>
          <p:cNvPr id="19" name="TextBox 18"/>
          <p:cNvSpPr txBox="1"/>
          <p:nvPr/>
        </p:nvSpPr>
        <p:spPr>
          <a:xfrm>
            <a:off x="1373123" y="3877177"/>
            <a:ext cx="2268570" cy="707886"/>
          </a:xfrm>
          <a:prstGeom prst="rect">
            <a:avLst/>
          </a:prstGeom>
          <a:noFill/>
        </p:spPr>
        <p:txBody>
          <a:bodyPr wrap="none" rtlCol="0">
            <a:spAutoFit/>
          </a:bodyPr>
          <a:lstStyle/>
          <a:p>
            <a:r>
              <a:rPr lang="en-US" sz="2000" dirty="0">
                <a:solidFill>
                  <a:srgbClr val="FF0000"/>
                </a:solidFill>
              </a:rPr>
              <a:t>W</a:t>
            </a:r>
            <a:r>
              <a:rPr lang="en-US" sz="2000" dirty="0" smtClean="0">
                <a:solidFill>
                  <a:srgbClr val="FF0000"/>
                </a:solidFill>
              </a:rPr>
              <a:t>: [m x h] </a:t>
            </a:r>
          </a:p>
          <a:p>
            <a:r>
              <a:rPr lang="en-US" sz="2000" dirty="0" smtClean="0">
                <a:solidFill>
                  <a:srgbClr val="FF0000"/>
                </a:solidFill>
              </a:rPr>
              <a:t>matrix of weights</a:t>
            </a:r>
            <a:endParaRPr lang="en-US" sz="2000" dirty="0">
              <a:solidFill>
                <a:srgbClr val="FF0000"/>
              </a:solidFill>
            </a:endParaRPr>
          </a:p>
        </p:txBody>
      </p:sp>
      <p:sp>
        <p:nvSpPr>
          <p:cNvPr id="25" name="Oval 24"/>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
        <p:nvSpPr>
          <p:cNvPr id="3" name="Rectangle 2"/>
          <p:cNvSpPr/>
          <p:nvPr/>
        </p:nvSpPr>
        <p:spPr>
          <a:xfrm>
            <a:off x="1370012" y="4648200"/>
            <a:ext cx="1893467" cy="369332"/>
          </a:xfrm>
          <a:prstGeom prst="rect">
            <a:avLst/>
          </a:prstGeom>
        </p:spPr>
        <p:txBody>
          <a:bodyPr wrap="none">
            <a:spAutoFit/>
          </a:bodyPr>
          <a:lstStyle/>
          <a:p>
            <a:r>
              <a:rPr lang="en-US" dirty="0" smtClean="0">
                <a:solidFill>
                  <a:srgbClr val="FF0000"/>
                </a:solidFill>
              </a:rPr>
              <a:t>h is # neurons</a:t>
            </a:r>
            <a:endParaRPr lang="en-US" dirty="0"/>
          </a:p>
        </p:txBody>
      </p:sp>
    </p:spTree>
    <p:extLst>
      <p:ext uri="{BB962C8B-B14F-4D97-AF65-F5344CB8AC3E}">
        <p14:creationId xmlns:p14="http://schemas.microsoft.com/office/powerpoint/2010/main" val="681414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Bias is now a vector (instead of a scalar)</a:t>
            </a:r>
            <a:endParaRPr lang="en-US" dirty="0"/>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8" name="TextBox 17"/>
          <p:cNvSpPr txBox="1"/>
          <p:nvPr/>
        </p:nvSpPr>
        <p:spPr>
          <a:xfrm>
            <a:off x="5090318" y="1676400"/>
            <a:ext cx="7415424" cy="1015663"/>
          </a:xfrm>
          <a:prstGeom prst="rect">
            <a:avLst/>
          </a:prstGeom>
          <a:noFill/>
        </p:spPr>
        <p:txBody>
          <a:bodyPr wrap="square" rtlCol="0">
            <a:spAutoFit/>
          </a:bodyPr>
          <a:lstStyle/>
          <a:p>
            <a:r>
              <a:rPr lang="en-US" sz="2000" dirty="0" smtClean="0">
                <a:solidFill>
                  <a:srgbClr val="FF0000"/>
                </a:solidFill>
              </a:rPr>
              <a:t>Result of </a:t>
            </a:r>
            <a:r>
              <a:rPr lang="en-US" sz="2000" dirty="0" err="1" smtClean="0">
                <a:solidFill>
                  <a:srgbClr val="FF0000"/>
                </a:solidFill>
              </a:rPr>
              <a:t>matmul</a:t>
            </a:r>
            <a:r>
              <a:rPr lang="en-US" sz="2000" dirty="0" smtClean="0">
                <a:solidFill>
                  <a:srgbClr val="FF0000"/>
                </a:solidFill>
              </a:rPr>
              <a:t> is [n x h] matrix</a:t>
            </a:r>
          </a:p>
          <a:p>
            <a:r>
              <a:rPr lang="en-US" sz="2000" dirty="0" smtClean="0">
                <a:solidFill>
                  <a:srgbClr val="FF0000"/>
                </a:solidFill>
              </a:rPr>
              <a:t>Each row is the activations of neurons for a single example</a:t>
            </a:r>
          </a:p>
        </p:txBody>
      </p:sp>
      <p:sp>
        <p:nvSpPr>
          <p:cNvPr id="22" name="TextBox 21"/>
          <p:cNvSpPr txBox="1"/>
          <p:nvPr/>
        </p:nvSpPr>
        <p:spPr>
          <a:xfrm>
            <a:off x="6624776" y="5555164"/>
            <a:ext cx="4094391" cy="707886"/>
          </a:xfrm>
          <a:prstGeom prst="rect">
            <a:avLst/>
          </a:prstGeom>
          <a:noFill/>
        </p:spPr>
        <p:txBody>
          <a:bodyPr wrap="none" rtlCol="0">
            <a:spAutoFit/>
          </a:bodyPr>
          <a:lstStyle/>
          <a:p>
            <a:r>
              <a:rPr lang="en-US" sz="2000" dirty="0" smtClean="0">
                <a:solidFill>
                  <a:srgbClr val="FF0000"/>
                </a:solidFill>
              </a:rPr>
              <a:t>Bias is [h x 1] vector</a:t>
            </a:r>
          </a:p>
          <a:p>
            <a:r>
              <a:rPr lang="en-US" sz="2000" dirty="0" smtClean="0">
                <a:solidFill>
                  <a:srgbClr val="FF0000"/>
                </a:solidFill>
              </a:rPr>
              <a:t>(Each neuron gets its own bias)</a:t>
            </a:r>
            <a:endParaRPr lang="en-US" sz="2000" dirty="0">
              <a:solidFill>
                <a:srgbClr val="FF0000"/>
              </a:solidFill>
            </a:endParaRPr>
          </a:p>
        </p:txBody>
      </p:sp>
      <p:sp>
        <p:nvSpPr>
          <p:cNvPr id="23" name="Oval 22"/>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Tree>
    <p:extLst>
      <p:ext uri="{BB962C8B-B14F-4D97-AF65-F5344CB8AC3E}">
        <p14:creationId xmlns:p14="http://schemas.microsoft.com/office/powerpoint/2010/main" val="59179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 is a matrix</a:t>
            </a:r>
            <a:endParaRPr lang="en-US" dirty="0"/>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8" name="TextBox 17"/>
          <p:cNvSpPr txBox="1"/>
          <p:nvPr/>
        </p:nvSpPr>
        <p:spPr>
          <a:xfrm>
            <a:off x="6849611" y="1828800"/>
            <a:ext cx="4927183" cy="1323439"/>
          </a:xfrm>
          <a:prstGeom prst="rect">
            <a:avLst/>
          </a:prstGeom>
          <a:noFill/>
        </p:spPr>
        <p:txBody>
          <a:bodyPr wrap="none" rtlCol="0">
            <a:spAutoFit/>
          </a:bodyPr>
          <a:lstStyle/>
          <a:p>
            <a:r>
              <a:rPr lang="en-US" sz="2000" dirty="0">
                <a:solidFill>
                  <a:srgbClr val="FF0000"/>
                </a:solidFill>
              </a:rPr>
              <a:t>A</a:t>
            </a:r>
            <a:r>
              <a:rPr lang="en-US" sz="2000" dirty="0" smtClean="0">
                <a:solidFill>
                  <a:srgbClr val="FF0000"/>
                </a:solidFill>
              </a:rPr>
              <a:t>dd outputs an [n x h] matrix.</a:t>
            </a:r>
          </a:p>
          <a:p>
            <a:endParaRPr lang="en-US" sz="2000" dirty="0" smtClean="0">
              <a:solidFill>
                <a:srgbClr val="FF0000"/>
              </a:solidFill>
            </a:endParaRPr>
          </a:p>
          <a:p>
            <a:r>
              <a:rPr lang="en-US" sz="2000" dirty="0" smtClean="0">
                <a:solidFill>
                  <a:srgbClr val="FF0000"/>
                </a:solidFill>
              </a:rPr>
              <a:t>Each row corresponds to the z values at </a:t>
            </a:r>
          </a:p>
          <a:p>
            <a:r>
              <a:rPr lang="en-US" sz="2000" dirty="0" smtClean="0">
                <a:solidFill>
                  <a:srgbClr val="FF0000"/>
                </a:solidFill>
              </a:rPr>
              <a:t>each neuron for an individual example</a:t>
            </a:r>
            <a:endParaRPr lang="en-US" sz="2000" dirty="0">
              <a:solidFill>
                <a:srgbClr val="FF0000"/>
              </a:solidFill>
            </a:endParaRPr>
          </a:p>
        </p:txBody>
      </p:sp>
      <p:sp>
        <p:nvSpPr>
          <p:cNvPr id="19" name="Oval 18"/>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
        <p:nvSpPr>
          <p:cNvPr id="14" name="Rectangle 13"/>
          <p:cNvSpPr/>
          <p:nvPr/>
        </p:nvSpPr>
        <p:spPr>
          <a:xfrm>
            <a:off x="8562409" y="3970383"/>
            <a:ext cx="295274" cy="369332"/>
          </a:xfrm>
          <a:prstGeom prst="rect">
            <a:avLst/>
          </a:prstGeom>
        </p:spPr>
        <p:txBody>
          <a:bodyPr wrap="none">
            <a:spAutoFit/>
          </a:bodyPr>
          <a:lstStyle/>
          <a:p>
            <a:r>
              <a:rPr lang="en-US">
                <a:solidFill>
                  <a:srgbClr val="FF0000"/>
                </a:solidFill>
              </a:rPr>
              <a:t>z</a:t>
            </a:r>
            <a:endParaRPr lang="en-US"/>
          </a:p>
        </p:txBody>
      </p:sp>
    </p:spTree>
    <p:extLst>
      <p:ext uri="{BB962C8B-B14F-4D97-AF65-F5344CB8AC3E}">
        <p14:creationId xmlns:p14="http://schemas.microsoft.com/office/powerpoint/2010/main" val="6791748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Activation is a matrix</a:t>
            </a:r>
            <a:endParaRPr lang="en-US" dirty="0"/>
          </a:p>
        </p:txBody>
      </p:sp>
      <p:grpSp>
        <p:nvGrpSpPr>
          <p:cNvPr id="38" name="Group 37"/>
          <p:cNvGrpSpPr/>
          <p:nvPr/>
        </p:nvGrpSpPr>
        <p:grpSpPr>
          <a:xfrm>
            <a:off x="1937224" y="2608526"/>
            <a:ext cx="9600582" cy="3563674"/>
            <a:chOff x="1937224" y="2608526"/>
            <a:chExt cx="7294701" cy="2707746"/>
          </a:xfrm>
        </p:grpSpPr>
        <p:sp>
          <p:nvSpPr>
            <p:cNvPr id="4" name="Oval 3"/>
            <p:cNvSpPr/>
            <p:nvPr/>
          </p:nvSpPr>
          <p:spPr>
            <a:xfrm>
              <a:off x="2816368" y="4413689"/>
              <a:ext cx="902582" cy="902583"/>
            </a:xfrm>
            <a:prstGeom prst="ellipse">
              <a:avLst/>
            </a:prstGeom>
            <a:ln>
              <a:solidFill>
                <a:schemeClr val="bg1"/>
              </a:solidFill>
            </a:ln>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W</a:t>
              </a:r>
            </a:p>
            <a:p>
              <a:pPr algn="ctr"/>
              <a:r>
                <a:rPr lang="en-US" sz="2400" dirty="0" err="1" smtClean="0">
                  <a:solidFill>
                    <a:schemeClr val="bg1"/>
                  </a:solidFill>
                </a:rPr>
                <a:t>var</a:t>
              </a:r>
              <a:endParaRPr lang="en-US" sz="2400" dirty="0">
                <a:solidFill>
                  <a:schemeClr val="bg1"/>
                </a:solidFill>
              </a:endParaRPr>
            </a:p>
          </p:txBody>
        </p:sp>
        <p:sp>
          <p:nvSpPr>
            <p:cNvPr id="5" name="Oval 4"/>
            <p:cNvSpPr/>
            <p:nvPr/>
          </p:nvSpPr>
          <p:spPr>
            <a:xfrm>
              <a:off x="4401155" y="4413689"/>
              <a:ext cx="902582" cy="902583"/>
            </a:xfrm>
            <a:prstGeom prst="ellipse">
              <a:avLst/>
            </a:prstGeom>
          </p:spPr>
          <p:style>
            <a:lnRef idx="3">
              <a:schemeClr val="lt1"/>
            </a:lnRef>
            <a:fillRef idx="1">
              <a:schemeClr val="dk1"/>
            </a:fillRef>
            <a:effectRef idx="1">
              <a:schemeClr val="dk1"/>
            </a:effectRef>
            <a:fontRef idx="minor">
              <a:schemeClr val="lt1"/>
            </a:fontRef>
          </p:style>
          <p:txBody>
            <a:bodyPr wrap="none" rtlCol="0" anchor="ctr"/>
            <a:lstStyle/>
            <a:p>
              <a:pPr algn="ctr"/>
              <a:r>
                <a:rPr lang="en-US" sz="2400" dirty="0" smtClean="0">
                  <a:solidFill>
                    <a:schemeClr val="bg1"/>
                  </a:solidFill>
                </a:rPr>
                <a:t>b</a:t>
              </a:r>
            </a:p>
            <a:p>
              <a:pPr algn="ctr"/>
              <a:r>
                <a:rPr lang="en-US" sz="2400" dirty="0" err="1" smtClean="0">
                  <a:solidFill>
                    <a:schemeClr val="bg1"/>
                  </a:solidFill>
                </a:rPr>
                <a:t>var</a:t>
              </a:r>
              <a:endParaRPr lang="en-US" sz="2400" dirty="0">
                <a:solidFill>
                  <a:schemeClr val="bg1"/>
                </a:solidFill>
              </a:endParaRPr>
            </a:p>
          </p:txBody>
        </p:sp>
        <p:sp>
          <p:nvSpPr>
            <p:cNvPr id="6" name="Oval 5"/>
            <p:cNvSpPr/>
            <p:nvPr/>
          </p:nvSpPr>
          <p:spPr>
            <a:xfrm>
              <a:off x="5903579" y="3511109"/>
              <a:ext cx="902582" cy="902583"/>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400" dirty="0" smtClean="0">
                  <a:solidFill>
                    <a:schemeClr val="tx2"/>
                  </a:solidFill>
                </a:rPr>
                <a:t>add</a:t>
              </a:r>
              <a:endParaRPr lang="en-US" sz="2400" dirty="0">
                <a:solidFill>
                  <a:schemeClr val="tx2"/>
                </a:solidFill>
              </a:endParaRPr>
            </a:p>
          </p:txBody>
        </p:sp>
        <p:cxnSp>
          <p:nvCxnSpPr>
            <p:cNvPr id="7" name="Straight Arrow Connector 6"/>
            <p:cNvCxnSpPr>
              <a:stCxn id="21" idx="3"/>
              <a:endCxn id="12" idx="2"/>
            </p:cNvCxnSpPr>
            <p:nvPr/>
          </p:nvCxnSpPr>
          <p:spPr>
            <a:xfrm>
              <a:off x="3613940" y="3045047"/>
              <a:ext cx="787215" cy="1477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cxnSpLocks/>
              <a:stCxn id="4" idx="7"/>
              <a:endCxn id="12" idx="3"/>
            </p:cNvCxnSpPr>
            <p:nvPr/>
          </p:nvCxnSpPr>
          <p:spPr>
            <a:xfrm flipV="1">
              <a:off x="3586770" y="3378929"/>
              <a:ext cx="946565" cy="11669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6"/>
              <a:endCxn id="6" idx="1"/>
            </p:cNvCxnSpPr>
            <p:nvPr/>
          </p:nvCxnSpPr>
          <p:spPr>
            <a:xfrm>
              <a:off x="5303736" y="3059818"/>
              <a:ext cx="732023" cy="5834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6"/>
              <a:endCxn id="6" idx="3"/>
            </p:cNvCxnSpPr>
            <p:nvPr/>
          </p:nvCxnSpPr>
          <p:spPr>
            <a:xfrm flipV="1">
              <a:off x="5303736" y="4281512"/>
              <a:ext cx="732023" cy="5834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6"/>
            </p:cNvCxnSpPr>
            <p:nvPr/>
          </p:nvCxnSpPr>
          <p:spPr>
            <a:xfrm flipV="1">
              <a:off x="6806161" y="3962398"/>
              <a:ext cx="688063" cy="3"/>
            </a:xfrm>
            <a:prstGeom prst="straightConnector1">
              <a:avLst/>
            </a:prstGeom>
            <a:ln w="7620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4401155" y="2608526"/>
              <a:ext cx="902582" cy="90258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lstStyle/>
            <a:p>
              <a:pPr algn="ctr"/>
              <a:r>
                <a:rPr lang="en-US" sz="2400" dirty="0" err="1" smtClean="0">
                  <a:solidFill>
                    <a:schemeClr val="tx2"/>
                  </a:solidFill>
                </a:rPr>
                <a:t>matmul</a:t>
              </a:r>
              <a:endParaRPr lang="en-US" sz="2400" dirty="0">
                <a:solidFill>
                  <a:schemeClr val="tx2"/>
                </a:solidFill>
              </a:endParaRPr>
            </a:p>
          </p:txBody>
        </p:sp>
        <p:cxnSp>
          <p:nvCxnSpPr>
            <p:cNvPr id="20" name="Straight Arrow Connector 19"/>
            <p:cNvCxnSpPr>
              <a:cxnSpLocks/>
            </p:cNvCxnSpPr>
            <p:nvPr/>
          </p:nvCxnSpPr>
          <p:spPr>
            <a:xfrm>
              <a:off x="8396808" y="3962398"/>
              <a:ext cx="83511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1937224" y="2661094"/>
              <a:ext cx="1676716" cy="767906"/>
            </a:xfrm>
            <a:prstGeom prst="roundRect">
              <a:avLst/>
            </a:prstGeom>
            <a:no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2"/>
                  </a:solidFill>
                </a:rPr>
                <a:t>Inputs</a:t>
              </a:r>
              <a:endParaRPr lang="en-US" sz="2400" dirty="0">
                <a:solidFill>
                  <a:schemeClr val="tx2"/>
                </a:solidFill>
              </a:endParaRPr>
            </a:p>
          </p:txBody>
        </p:sp>
      </p:grpSp>
      <p:sp>
        <p:nvSpPr>
          <p:cNvPr id="18" name="TextBox 17"/>
          <p:cNvSpPr txBox="1"/>
          <p:nvPr/>
        </p:nvSpPr>
        <p:spPr>
          <a:xfrm>
            <a:off x="6991986" y="2381864"/>
            <a:ext cx="4821320" cy="1323439"/>
          </a:xfrm>
          <a:prstGeom prst="rect">
            <a:avLst/>
          </a:prstGeom>
          <a:noFill/>
        </p:spPr>
        <p:txBody>
          <a:bodyPr wrap="none" rtlCol="0">
            <a:spAutoFit/>
          </a:bodyPr>
          <a:lstStyle/>
          <a:p>
            <a:pPr algn="r"/>
            <a:r>
              <a:rPr lang="en-US" sz="2000" dirty="0" smtClean="0">
                <a:solidFill>
                  <a:srgbClr val="FF0000"/>
                </a:solidFill>
              </a:rPr>
              <a:t>Activation is [n x h]</a:t>
            </a:r>
          </a:p>
          <a:p>
            <a:pPr algn="r"/>
            <a:endParaRPr lang="en-US" sz="2000" dirty="0">
              <a:solidFill>
                <a:srgbClr val="FF0000"/>
              </a:solidFill>
            </a:endParaRPr>
          </a:p>
          <a:p>
            <a:pPr algn="r"/>
            <a:r>
              <a:rPr lang="en-US" sz="2000" dirty="0">
                <a:solidFill>
                  <a:srgbClr val="FF0000"/>
                </a:solidFill>
              </a:rPr>
              <a:t>Each row corresponds to the </a:t>
            </a:r>
            <a:r>
              <a:rPr lang="en-US" sz="2000" dirty="0" smtClean="0">
                <a:solidFill>
                  <a:srgbClr val="FF0000"/>
                </a:solidFill>
              </a:rPr>
              <a:t>activation </a:t>
            </a:r>
          </a:p>
          <a:p>
            <a:pPr algn="r"/>
            <a:r>
              <a:rPr lang="en-US" sz="2000" dirty="0" smtClean="0">
                <a:solidFill>
                  <a:srgbClr val="FF0000"/>
                </a:solidFill>
              </a:rPr>
              <a:t>values </a:t>
            </a:r>
            <a:r>
              <a:rPr lang="en-US" sz="2000" dirty="0">
                <a:solidFill>
                  <a:srgbClr val="FF0000"/>
                </a:solidFill>
              </a:rPr>
              <a:t>at </a:t>
            </a:r>
            <a:r>
              <a:rPr lang="en-US" sz="2000" dirty="0" smtClean="0">
                <a:solidFill>
                  <a:srgbClr val="FF0000"/>
                </a:solidFill>
              </a:rPr>
              <a:t>each neuron per example</a:t>
            </a:r>
            <a:endParaRPr lang="en-US" sz="2000" dirty="0">
              <a:solidFill>
                <a:srgbClr val="FF0000"/>
              </a:solidFill>
            </a:endParaRPr>
          </a:p>
        </p:txBody>
      </p:sp>
      <p:sp>
        <p:nvSpPr>
          <p:cNvPr id="19" name="Oval 18"/>
          <p:cNvSpPr/>
          <p:nvPr/>
        </p:nvSpPr>
        <p:spPr>
          <a:xfrm>
            <a:off x="9250812" y="3796415"/>
            <a:ext cx="1187891" cy="1187893"/>
          </a:xfrm>
          <a:prstGeom prst="ellipse">
            <a:avLst/>
          </a:prstGeom>
          <a:solidFill>
            <a:srgbClr val="B6FDFF"/>
          </a:solidFill>
          <a:ln>
            <a:solidFill>
              <a:srgbClr val="00B0F0"/>
            </a:solidFill>
          </a:ln>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2000" dirty="0" smtClean="0">
                <a:solidFill>
                  <a:schemeClr val="tx2"/>
                </a:solidFill>
              </a:rPr>
              <a:t>activation</a:t>
            </a:r>
            <a:endParaRPr lang="en-US" sz="2000" dirty="0">
              <a:solidFill>
                <a:schemeClr val="tx2"/>
              </a:solidFill>
            </a:endParaRPr>
          </a:p>
        </p:txBody>
      </p:sp>
    </p:spTree>
    <p:extLst>
      <p:ext uri="{BB962C8B-B14F-4D97-AF65-F5344CB8AC3E}">
        <p14:creationId xmlns:p14="http://schemas.microsoft.com/office/powerpoint/2010/main" val="10164562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Matrix multiplication as layer transforms</a:t>
            </a:r>
            <a:endParaRPr lang="en-US" dirty="0"/>
          </a:p>
        </p:txBody>
      </p:sp>
      <mc:AlternateContent xmlns:mc="http://schemas.openxmlformats.org/markup-compatibility/2006" xmlns:a14="http://schemas.microsoft.com/office/drawing/2010/main">
        <mc:Choice Requires="a14">
          <p:sp>
            <p:nvSpPr>
              <p:cNvPr id="153" name="Oval 152"/>
              <p:cNvSpPr/>
              <p:nvPr/>
            </p:nvSpPr>
            <p:spPr>
              <a:xfrm>
                <a:off x="3675543" y="246399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153" name="Oval 152"/>
              <p:cNvSpPr>
                <a:spLocks noRot="1" noChangeAspect="1" noMove="1" noResize="1" noEditPoints="1" noAdjustHandles="1" noChangeArrowheads="1" noChangeShapeType="1" noTextEdit="1"/>
              </p:cNvSpPr>
              <p:nvPr/>
            </p:nvSpPr>
            <p:spPr>
              <a:xfrm>
                <a:off x="3675543" y="2463990"/>
                <a:ext cx="925221" cy="925221"/>
              </a:xfrm>
              <a:prstGeom prst="ellipse">
                <a:avLst/>
              </a:prstGeom>
              <a:blipFill rotWithShape="0">
                <a:blip r:embed="rId3"/>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4" name="Oval 153"/>
              <p:cNvSpPr/>
              <p:nvPr/>
            </p:nvSpPr>
            <p:spPr>
              <a:xfrm>
                <a:off x="3675543" y="3662279"/>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154" name="Oval 153"/>
              <p:cNvSpPr>
                <a:spLocks noRot="1" noChangeAspect="1" noMove="1" noResize="1" noEditPoints="1" noAdjustHandles="1" noChangeArrowheads="1" noChangeShapeType="1" noTextEdit="1"/>
              </p:cNvSpPr>
              <p:nvPr/>
            </p:nvSpPr>
            <p:spPr>
              <a:xfrm>
                <a:off x="3675543" y="3662279"/>
                <a:ext cx="925221" cy="925221"/>
              </a:xfrm>
              <a:prstGeom prst="ellipse">
                <a:avLst/>
              </a:prstGeom>
              <a:blipFill rotWithShape="0">
                <a:blip r:embed="rId4"/>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p:cNvSpPr/>
              <p:nvPr/>
            </p:nvSpPr>
            <p:spPr>
              <a:xfrm>
                <a:off x="3675543" y="4860568"/>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155" name="Oval 154"/>
              <p:cNvSpPr>
                <a:spLocks noRot="1" noChangeAspect="1" noMove="1" noResize="1" noEditPoints="1" noAdjustHandles="1" noChangeArrowheads="1" noChangeShapeType="1" noTextEdit="1"/>
              </p:cNvSpPr>
              <p:nvPr/>
            </p:nvSpPr>
            <p:spPr>
              <a:xfrm>
                <a:off x="3675543" y="4860568"/>
                <a:ext cx="925221" cy="925221"/>
              </a:xfrm>
              <a:prstGeom prst="ellipse">
                <a:avLst/>
              </a:prstGeom>
              <a:blipFill rotWithShape="0">
                <a:blip r:embed="rId5"/>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5217578" y="5323179"/>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6" name="Oval 155"/>
              <p:cNvSpPr>
                <a:spLocks noRot="1" noChangeAspect="1" noMove="1" noResize="1" noEditPoints="1" noAdjustHandles="1" noChangeArrowheads="1" noChangeShapeType="1" noTextEdit="1"/>
              </p:cNvSpPr>
              <p:nvPr/>
            </p:nvSpPr>
            <p:spPr>
              <a:xfrm>
                <a:off x="5217578" y="5323179"/>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7" name="Oval 156"/>
              <p:cNvSpPr/>
              <p:nvPr/>
            </p:nvSpPr>
            <p:spPr>
              <a:xfrm>
                <a:off x="5217578" y="418378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7" name="Oval 156"/>
              <p:cNvSpPr>
                <a:spLocks noRot="1" noChangeAspect="1" noMove="1" noResize="1" noEditPoints="1" noAdjustHandles="1" noChangeArrowheads="1" noChangeShapeType="1" noTextEdit="1"/>
              </p:cNvSpPr>
              <p:nvPr/>
            </p:nvSpPr>
            <p:spPr>
              <a:xfrm>
                <a:off x="5217578" y="4183784"/>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8" name="Oval 157"/>
              <p:cNvSpPr/>
              <p:nvPr/>
            </p:nvSpPr>
            <p:spPr>
              <a:xfrm>
                <a:off x="5217578" y="304439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8" name="Oval 157"/>
              <p:cNvSpPr>
                <a:spLocks noRot="1" noChangeAspect="1" noMove="1" noResize="1" noEditPoints="1" noAdjustHandles="1" noChangeArrowheads="1" noChangeShapeType="1" noTextEdit="1"/>
              </p:cNvSpPr>
              <p:nvPr/>
            </p:nvSpPr>
            <p:spPr>
              <a:xfrm>
                <a:off x="5217578" y="3044392"/>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9" name="Oval 158"/>
              <p:cNvSpPr/>
              <p:nvPr/>
            </p:nvSpPr>
            <p:spPr>
              <a:xfrm>
                <a:off x="5217578" y="1905000"/>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9" name="Oval 158"/>
              <p:cNvSpPr>
                <a:spLocks noRot="1" noChangeAspect="1" noMove="1" noResize="1" noEditPoints="1" noAdjustHandles="1" noChangeArrowheads="1" noChangeShapeType="1" noTextEdit="1"/>
              </p:cNvSpPr>
              <p:nvPr/>
            </p:nvSpPr>
            <p:spPr>
              <a:xfrm>
                <a:off x="5217578" y="1905000"/>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p:cxnSp>
        <p:nvCxnSpPr>
          <p:cNvPr id="167" name="Straight Arrow Connector 166"/>
          <p:cNvCxnSpPr>
            <a:stCxn id="156" idx="6"/>
          </p:cNvCxnSpPr>
          <p:nvPr/>
        </p:nvCxnSpPr>
        <p:spPr>
          <a:xfrm flipV="1">
            <a:off x="4600764" y="2367611"/>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a:stCxn id="156" idx="6"/>
          </p:cNvCxnSpPr>
          <p:nvPr/>
        </p:nvCxnSpPr>
        <p:spPr>
          <a:xfrm>
            <a:off x="4600764" y="2926601"/>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a:stCxn id="156" idx="6"/>
          </p:cNvCxnSpPr>
          <p:nvPr/>
        </p:nvCxnSpPr>
        <p:spPr>
          <a:xfrm>
            <a:off x="4600764" y="2926601"/>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a:stCxn id="156" idx="6"/>
            <a:endCxn id="159" idx="2"/>
          </p:cNvCxnSpPr>
          <p:nvPr/>
        </p:nvCxnSpPr>
        <p:spPr>
          <a:xfrm>
            <a:off x="4600764" y="2926601"/>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a:stCxn id="157" idx="6"/>
          </p:cNvCxnSpPr>
          <p:nvPr/>
        </p:nvCxnSpPr>
        <p:spPr>
          <a:xfrm flipV="1">
            <a:off x="4600764" y="2367611"/>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a:stCxn id="157" idx="6"/>
          </p:cNvCxnSpPr>
          <p:nvPr/>
        </p:nvCxnSpPr>
        <p:spPr>
          <a:xfrm flipV="1">
            <a:off x="4600764" y="3507003"/>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stCxn id="157" idx="6"/>
          </p:cNvCxnSpPr>
          <p:nvPr/>
        </p:nvCxnSpPr>
        <p:spPr>
          <a:xfrm>
            <a:off x="4600764" y="4124890"/>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a:stCxn id="157" idx="6"/>
            <a:endCxn id="159" idx="2"/>
          </p:cNvCxnSpPr>
          <p:nvPr/>
        </p:nvCxnSpPr>
        <p:spPr>
          <a:xfrm>
            <a:off x="4600764" y="4124890"/>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158" idx="6"/>
          </p:cNvCxnSpPr>
          <p:nvPr/>
        </p:nvCxnSpPr>
        <p:spPr>
          <a:xfrm flipV="1">
            <a:off x="4600764" y="2367611"/>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p:cNvCxnSpPr>
            <a:stCxn id="158" idx="6"/>
          </p:cNvCxnSpPr>
          <p:nvPr/>
        </p:nvCxnSpPr>
        <p:spPr>
          <a:xfrm flipV="1">
            <a:off x="4600764" y="3507003"/>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p:cNvCxnSpPr>
            <a:stCxn id="158" idx="6"/>
          </p:cNvCxnSpPr>
          <p:nvPr/>
        </p:nvCxnSpPr>
        <p:spPr>
          <a:xfrm flipV="1">
            <a:off x="4600764" y="4646395"/>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p:cNvCxnSpPr>
            <a:stCxn id="158" idx="6"/>
            <a:endCxn id="159" idx="2"/>
          </p:cNvCxnSpPr>
          <p:nvPr/>
        </p:nvCxnSpPr>
        <p:spPr>
          <a:xfrm>
            <a:off x="4600764" y="5323179"/>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p:cNvCxnSpPr/>
          <p:nvPr/>
        </p:nvCxnSpPr>
        <p:spPr>
          <a:xfrm>
            <a:off x="6142800" y="236761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p:cNvCxnSpPr/>
          <p:nvPr/>
        </p:nvCxnSpPr>
        <p:spPr>
          <a:xfrm>
            <a:off x="6142800" y="350700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6142800" y="464639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a:stCxn id="159" idx="6"/>
          </p:cNvCxnSpPr>
          <p:nvPr/>
        </p:nvCxnSpPr>
        <p:spPr>
          <a:xfrm>
            <a:off x="6142800" y="5785789"/>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p:cNvCxnSpPr>
            <a:endCxn id="156" idx="2"/>
          </p:cNvCxnSpPr>
          <p:nvPr/>
        </p:nvCxnSpPr>
        <p:spPr>
          <a:xfrm>
            <a:off x="2785946" y="292660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a:endCxn id="157" idx="2"/>
          </p:cNvCxnSpPr>
          <p:nvPr/>
        </p:nvCxnSpPr>
        <p:spPr>
          <a:xfrm>
            <a:off x="2785946" y="4124890"/>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a:endCxn id="158" idx="2"/>
          </p:cNvCxnSpPr>
          <p:nvPr/>
        </p:nvCxnSpPr>
        <p:spPr>
          <a:xfrm>
            <a:off x="2785946" y="5323179"/>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413526" y="1371600"/>
            <a:ext cx="5327099" cy="830997"/>
          </a:xfrm>
          <a:prstGeom prst="rect">
            <a:avLst/>
          </a:prstGeom>
          <a:noFill/>
        </p:spPr>
        <p:txBody>
          <a:bodyPr wrap="none" rtlCol="0">
            <a:spAutoFit/>
          </a:bodyPr>
          <a:lstStyle/>
          <a:p>
            <a:pPr algn="r"/>
            <a:r>
              <a:rPr lang="en-US" sz="2400" dirty="0" smtClean="0">
                <a:solidFill>
                  <a:srgbClr val="FF0000"/>
                </a:solidFill>
              </a:rPr>
              <a:t>We dictate the size of each layer</a:t>
            </a:r>
          </a:p>
          <a:p>
            <a:pPr algn="r"/>
            <a:r>
              <a:rPr lang="en-US" sz="2400" dirty="0" smtClean="0">
                <a:solidFill>
                  <a:srgbClr val="FF0000"/>
                </a:solidFill>
              </a:rPr>
              <a:t>by defining different sized weights</a:t>
            </a:r>
            <a:endParaRPr lang="en-US" sz="2400" dirty="0">
              <a:solidFill>
                <a:srgbClr val="FF0000"/>
              </a:solidFill>
            </a:endParaRPr>
          </a:p>
        </p:txBody>
      </p:sp>
      <p:sp>
        <p:nvSpPr>
          <p:cNvPr id="213" name="TextBox 212"/>
          <p:cNvSpPr txBox="1"/>
          <p:nvPr/>
        </p:nvSpPr>
        <p:spPr>
          <a:xfrm>
            <a:off x="7694612" y="2954909"/>
            <a:ext cx="3115661" cy="830997"/>
          </a:xfrm>
          <a:prstGeom prst="rect">
            <a:avLst/>
          </a:prstGeom>
          <a:noFill/>
        </p:spPr>
        <p:txBody>
          <a:bodyPr wrap="none" rtlCol="0">
            <a:spAutoFit/>
          </a:bodyPr>
          <a:lstStyle/>
          <a:p>
            <a:r>
              <a:rPr lang="en-US" sz="2400" dirty="0" smtClean="0">
                <a:solidFill>
                  <a:srgbClr val="FF0000"/>
                </a:solidFill>
              </a:rPr>
              <a:t>Bias isn’t shown here</a:t>
            </a:r>
          </a:p>
          <a:p>
            <a:r>
              <a:rPr lang="en-US" sz="2400" dirty="0" smtClean="0">
                <a:solidFill>
                  <a:srgbClr val="FF0000"/>
                </a:solidFill>
              </a:rPr>
              <a:t>(usually “implied”)</a:t>
            </a:r>
            <a:endParaRPr lang="en-US" sz="2400" dirty="0">
              <a:solidFill>
                <a:srgbClr val="FF0000"/>
              </a:solidFill>
            </a:endParaRPr>
          </a:p>
        </p:txBody>
      </p:sp>
    </p:spTree>
    <p:extLst>
      <p:ext uri="{BB962C8B-B14F-4D97-AF65-F5344CB8AC3E}">
        <p14:creationId xmlns:p14="http://schemas.microsoft.com/office/powerpoint/2010/main" val="3664061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3" name="Oval 152"/>
              <p:cNvSpPr/>
              <p:nvPr/>
            </p:nvSpPr>
            <p:spPr>
              <a:xfrm>
                <a:off x="3675543" y="246399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153" name="Oval 152"/>
              <p:cNvSpPr>
                <a:spLocks noRot="1" noChangeAspect="1" noMove="1" noResize="1" noEditPoints="1" noAdjustHandles="1" noChangeArrowheads="1" noChangeShapeType="1" noTextEdit="1"/>
              </p:cNvSpPr>
              <p:nvPr/>
            </p:nvSpPr>
            <p:spPr>
              <a:xfrm>
                <a:off x="3675543" y="2463990"/>
                <a:ext cx="925221" cy="925221"/>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4" name="Oval 153"/>
              <p:cNvSpPr/>
              <p:nvPr/>
            </p:nvSpPr>
            <p:spPr>
              <a:xfrm>
                <a:off x="3675543" y="3662279"/>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154" name="Oval 153"/>
              <p:cNvSpPr>
                <a:spLocks noRot="1" noChangeAspect="1" noMove="1" noResize="1" noEditPoints="1" noAdjustHandles="1" noChangeArrowheads="1" noChangeShapeType="1" noTextEdit="1"/>
              </p:cNvSpPr>
              <p:nvPr/>
            </p:nvSpPr>
            <p:spPr>
              <a:xfrm>
                <a:off x="3675543" y="3662279"/>
                <a:ext cx="925221" cy="925221"/>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p:cNvSpPr/>
              <p:nvPr/>
            </p:nvSpPr>
            <p:spPr>
              <a:xfrm>
                <a:off x="3675543" y="4860568"/>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155" name="Oval 154"/>
              <p:cNvSpPr>
                <a:spLocks noRot="1" noChangeAspect="1" noMove="1" noResize="1" noEditPoints="1" noAdjustHandles="1" noChangeArrowheads="1" noChangeShapeType="1" noTextEdit="1"/>
              </p:cNvSpPr>
              <p:nvPr/>
            </p:nvSpPr>
            <p:spPr>
              <a:xfrm>
                <a:off x="3675543" y="4860568"/>
                <a:ext cx="925221" cy="925221"/>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5217578" y="5323179"/>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6" name="Oval 155"/>
              <p:cNvSpPr>
                <a:spLocks noRot="1" noChangeAspect="1" noMove="1" noResize="1" noEditPoints="1" noAdjustHandles="1" noChangeArrowheads="1" noChangeShapeType="1" noTextEdit="1"/>
              </p:cNvSpPr>
              <p:nvPr/>
            </p:nvSpPr>
            <p:spPr>
              <a:xfrm>
                <a:off x="5217578" y="5323179"/>
                <a:ext cx="925221" cy="925221"/>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7" name="Oval 156"/>
              <p:cNvSpPr/>
              <p:nvPr/>
            </p:nvSpPr>
            <p:spPr>
              <a:xfrm>
                <a:off x="5217578" y="418378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7" name="Oval 156"/>
              <p:cNvSpPr>
                <a:spLocks noRot="1" noChangeAspect="1" noMove="1" noResize="1" noEditPoints="1" noAdjustHandles="1" noChangeArrowheads="1" noChangeShapeType="1" noTextEdit="1"/>
              </p:cNvSpPr>
              <p:nvPr/>
            </p:nvSpPr>
            <p:spPr>
              <a:xfrm>
                <a:off x="5217578" y="4183784"/>
                <a:ext cx="925221" cy="925221"/>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8" name="Oval 157"/>
              <p:cNvSpPr/>
              <p:nvPr/>
            </p:nvSpPr>
            <p:spPr>
              <a:xfrm>
                <a:off x="5217578" y="304439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8" name="Oval 157"/>
              <p:cNvSpPr>
                <a:spLocks noRot="1" noChangeAspect="1" noMove="1" noResize="1" noEditPoints="1" noAdjustHandles="1" noChangeArrowheads="1" noChangeShapeType="1" noTextEdit="1"/>
              </p:cNvSpPr>
              <p:nvPr/>
            </p:nvSpPr>
            <p:spPr>
              <a:xfrm>
                <a:off x="5217578" y="3044392"/>
                <a:ext cx="925221" cy="925221"/>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9" name="Oval 158"/>
              <p:cNvSpPr/>
              <p:nvPr/>
            </p:nvSpPr>
            <p:spPr>
              <a:xfrm>
                <a:off x="5217578" y="1905000"/>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9" name="Oval 158"/>
              <p:cNvSpPr>
                <a:spLocks noRot="1" noChangeAspect="1" noMove="1" noResize="1" noEditPoints="1" noAdjustHandles="1" noChangeArrowheads="1" noChangeShapeType="1" noTextEdit="1"/>
              </p:cNvSpPr>
              <p:nvPr/>
            </p:nvSpPr>
            <p:spPr>
              <a:xfrm>
                <a:off x="5217578" y="1905000"/>
                <a:ext cx="925221" cy="925221"/>
              </a:xfrm>
              <a:prstGeom prst="ellipse">
                <a:avLst/>
              </a:prstGeom>
              <a:blipFill rotWithShape="0">
                <a:blip r:embed="rId6"/>
                <a:stretch>
                  <a:fillRect t="-24837" b="-41176"/>
                </a:stretch>
              </a:blipFill>
            </p:spPr>
            <p:txBody>
              <a:bodyPr/>
              <a:lstStyle/>
              <a:p>
                <a:r>
                  <a:rPr lang="en-US">
                    <a:noFill/>
                  </a:rPr>
                  <a:t> </a:t>
                </a:r>
              </a:p>
            </p:txBody>
          </p:sp>
        </mc:Fallback>
      </mc:AlternateContent>
      <p:cxnSp>
        <p:nvCxnSpPr>
          <p:cNvPr id="167" name="Straight Arrow Connector 166"/>
          <p:cNvCxnSpPr>
            <a:stCxn id="156" idx="6"/>
          </p:cNvCxnSpPr>
          <p:nvPr/>
        </p:nvCxnSpPr>
        <p:spPr>
          <a:xfrm flipV="1">
            <a:off x="4600764" y="2367611"/>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a:stCxn id="156" idx="6"/>
          </p:cNvCxnSpPr>
          <p:nvPr/>
        </p:nvCxnSpPr>
        <p:spPr>
          <a:xfrm>
            <a:off x="4600764" y="2926601"/>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a:stCxn id="156" idx="6"/>
          </p:cNvCxnSpPr>
          <p:nvPr/>
        </p:nvCxnSpPr>
        <p:spPr>
          <a:xfrm>
            <a:off x="4600764" y="2926601"/>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a:stCxn id="156" idx="6"/>
            <a:endCxn id="159" idx="2"/>
          </p:cNvCxnSpPr>
          <p:nvPr/>
        </p:nvCxnSpPr>
        <p:spPr>
          <a:xfrm>
            <a:off x="4600764" y="2926601"/>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a:stCxn id="157" idx="6"/>
          </p:cNvCxnSpPr>
          <p:nvPr/>
        </p:nvCxnSpPr>
        <p:spPr>
          <a:xfrm flipV="1">
            <a:off x="4600764" y="2367611"/>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a:stCxn id="157" idx="6"/>
          </p:cNvCxnSpPr>
          <p:nvPr/>
        </p:nvCxnSpPr>
        <p:spPr>
          <a:xfrm flipV="1">
            <a:off x="4600764" y="3507003"/>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stCxn id="157" idx="6"/>
          </p:cNvCxnSpPr>
          <p:nvPr/>
        </p:nvCxnSpPr>
        <p:spPr>
          <a:xfrm>
            <a:off x="4600764" y="4124890"/>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a:stCxn id="157" idx="6"/>
            <a:endCxn id="159" idx="2"/>
          </p:cNvCxnSpPr>
          <p:nvPr/>
        </p:nvCxnSpPr>
        <p:spPr>
          <a:xfrm>
            <a:off x="4600764" y="4124890"/>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158" idx="6"/>
          </p:cNvCxnSpPr>
          <p:nvPr/>
        </p:nvCxnSpPr>
        <p:spPr>
          <a:xfrm flipV="1">
            <a:off x="4600764" y="2367611"/>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p:cNvCxnSpPr>
            <a:stCxn id="158" idx="6"/>
          </p:cNvCxnSpPr>
          <p:nvPr/>
        </p:nvCxnSpPr>
        <p:spPr>
          <a:xfrm flipV="1">
            <a:off x="4600764" y="3507003"/>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p:cNvCxnSpPr>
            <a:stCxn id="158" idx="6"/>
          </p:cNvCxnSpPr>
          <p:nvPr/>
        </p:nvCxnSpPr>
        <p:spPr>
          <a:xfrm flipV="1">
            <a:off x="4600764" y="4646395"/>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p:cNvCxnSpPr>
            <a:stCxn id="158" idx="6"/>
            <a:endCxn id="159" idx="2"/>
          </p:cNvCxnSpPr>
          <p:nvPr/>
        </p:nvCxnSpPr>
        <p:spPr>
          <a:xfrm>
            <a:off x="4600764" y="5323179"/>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p:cNvCxnSpPr/>
          <p:nvPr/>
        </p:nvCxnSpPr>
        <p:spPr>
          <a:xfrm>
            <a:off x="6142800" y="236761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p:cNvCxnSpPr/>
          <p:nvPr/>
        </p:nvCxnSpPr>
        <p:spPr>
          <a:xfrm>
            <a:off x="6142800" y="350700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6142800" y="464639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a:stCxn id="159" idx="6"/>
          </p:cNvCxnSpPr>
          <p:nvPr/>
        </p:nvCxnSpPr>
        <p:spPr>
          <a:xfrm>
            <a:off x="6142800" y="5785789"/>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p:cNvCxnSpPr>
            <a:endCxn id="156" idx="2"/>
          </p:cNvCxnSpPr>
          <p:nvPr/>
        </p:nvCxnSpPr>
        <p:spPr>
          <a:xfrm>
            <a:off x="2785946" y="292660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a:endCxn id="157" idx="2"/>
          </p:cNvCxnSpPr>
          <p:nvPr/>
        </p:nvCxnSpPr>
        <p:spPr>
          <a:xfrm>
            <a:off x="2785946" y="4124890"/>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a:endCxn id="158" idx="2"/>
          </p:cNvCxnSpPr>
          <p:nvPr/>
        </p:nvCxnSpPr>
        <p:spPr>
          <a:xfrm>
            <a:off x="2785946" y="5323179"/>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999412" y="1632993"/>
            <a:ext cx="2235677" cy="830997"/>
          </a:xfrm>
          <a:prstGeom prst="rect">
            <a:avLst/>
          </a:prstGeom>
          <a:noFill/>
        </p:spPr>
        <p:txBody>
          <a:bodyPr wrap="none" rtlCol="0">
            <a:spAutoFit/>
          </a:bodyPr>
          <a:lstStyle/>
          <a:p>
            <a:r>
              <a:rPr lang="en-US" sz="2400" dirty="0" smtClean="0">
                <a:solidFill>
                  <a:srgbClr val="FF0000"/>
                </a:solidFill>
              </a:rPr>
              <a:t>X is [n x 3]</a:t>
            </a:r>
          </a:p>
          <a:p>
            <a:r>
              <a:rPr lang="en-US" sz="2400" dirty="0" smtClean="0">
                <a:solidFill>
                  <a:srgbClr val="FF0000"/>
                </a:solidFill>
              </a:rPr>
              <a:t>(n data points)</a:t>
            </a:r>
            <a:endParaRPr lang="en-US" sz="2400" dirty="0">
              <a:solidFill>
                <a:srgbClr val="FF0000"/>
              </a:solidFill>
            </a:endParaRPr>
          </a:p>
        </p:txBody>
      </p:sp>
      <p:sp>
        <p:nvSpPr>
          <p:cNvPr id="31" name="Rounded Rectangle 30"/>
          <p:cNvSpPr/>
          <p:nvPr/>
        </p:nvSpPr>
        <p:spPr>
          <a:xfrm>
            <a:off x="3586875" y="2133600"/>
            <a:ext cx="1102601" cy="39624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3"/>
              <p:cNvSpPr/>
              <p:nvPr/>
            </p:nvSpPr>
            <p:spPr>
              <a:xfrm>
                <a:off x="1438891" y="848380"/>
                <a:ext cx="427443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2"/>
                          </a:solidFill>
                          <a:latin typeface="Cambria Math" charset="0"/>
                        </a:rPr>
                        <m:t>𝑐</m:t>
                      </m:r>
                      <m:r>
                        <a:rPr lang="en-US" sz="2800" b="0" i="1" smtClean="0">
                          <a:solidFill>
                            <a:schemeClr val="tx2"/>
                          </a:solidFill>
                          <a:latin typeface="Cambria Math" charset="0"/>
                        </a:rPr>
                        <m:t>𝑢𝑟𝑟𝑒𝑛</m:t>
                      </m:r>
                      <m:sSub>
                        <m:sSubPr>
                          <m:ctrlPr>
                            <a:rPr lang="en-US" sz="2800" b="0" i="1" smtClean="0">
                              <a:solidFill>
                                <a:schemeClr val="tx2"/>
                              </a:solidFill>
                              <a:latin typeface="Cambria Math" panose="02040503050406030204" pitchFamily="18" charset="0"/>
                            </a:rPr>
                          </m:ctrlPr>
                        </m:sSubPr>
                        <m:e>
                          <m:r>
                            <a:rPr lang="en-US" sz="2800" b="0" i="1" smtClean="0">
                              <a:solidFill>
                                <a:schemeClr val="tx2"/>
                              </a:solidFill>
                              <a:latin typeface="Cambria Math" charset="0"/>
                            </a:rPr>
                            <m:t>𝑡</m:t>
                          </m:r>
                        </m:e>
                        <m:sub>
                          <m:r>
                            <a:rPr lang="en-US" sz="2800" b="0" i="1" smtClean="0">
                              <a:solidFill>
                                <a:schemeClr val="tx2"/>
                              </a:solidFill>
                              <a:latin typeface="Cambria Math" charset="0"/>
                            </a:rPr>
                            <m:t>𝑣𝑎𝑙𝑢𝑒</m:t>
                          </m:r>
                        </m:sub>
                      </m:sSub>
                      <m:r>
                        <a:rPr lang="en-US" sz="2800" b="0" i="1" smtClean="0">
                          <a:solidFill>
                            <a:schemeClr val="tx2"/>
                          </a:solidFill>
                          <a:latin typeface="Cambria Math" charset="0"/>
                        </a:rPr>
                        <m:t>=</m:t>
                      </m:r>
                      <m:r>
                        <a:rPr lang="en-US" sz="2800" b="0" i="1" smtClean="0">
                          <a:solidFill>
                            <a:schemeClr val="tx2"/>
                          </a:solidFill>
                          <a:latin typeface="Cambria Math" charset="0"/>
                        </a:rPr>
                        <m:t>𝑋</m:t>
                      </m:r>
                      <m:r>
                        <a:rPr lang="en-US" sz="2800" b="0" i="1" smtClean="0">
                          <a:solidFill>
                            <a:schemeClr val="tx2"/>
                          </a:solidFill>
                          <a:latin typeface="Cambria Math" charset="0"/>
                        </a:rPr>
                        <m:t>∈</m:t>
                      </m:r>
                      <m:sSup>
                        <m:sSupPr>
                          <m:ctrlPr>
                            <a:rPr lang="en-US" sz="2800" b="0" i="1" smtClean="0">
                              <a:solidFill>
                                <a:schemeClr val="tx2"/>
                              </a:solidFill>
                              <a:latin typeface="Cambria Math" panose="02040503050406030204" pitchFamily="18" charset="0"/>
                              <a:ea typeface="Cambria Math" charset="0"/>
                              <a:cs typeface="Cambria Math" charset="0"/>
                            </a:rPr>
                          </m:ctrlPr>
                        </m:sSupPr>
                        <m:e>
                          <m:r>
                            <a:rPr lang="en-US" sz="2800" b="0" i="1" smtClean="0">
                              <a:solidFill>
                                <a:schemeClr val="tx2"/>
                              </a:solidFill>
                              <a:latin typeface="Cambria Math" charset="0"/>
                              <a:ea typeface="Cambria Math" charset="0"/>
                              <a:cs typeface="Cambria Math" charset="0"/>
                            </a:rPr>
                            <m:t>ℝ</m:t>
                          </m:r>
                        </m:e>
                        <m:sup>
                          <m:r>
                            <a:rPr lang="en-US" sz="2800" b="0" i="1" smtClean="0">
                              <a:solidFill>
                                <a:schemeClr val="tx2"/>
                              </a:solidFill>
                              <a:latin typeface="Cambria Math" charset="0"/>
                              <a:ea typeface="Cambria Math" charset="0"/>
                              <a:cs typeface="Cambria Math" charset="0"/>
                            </a:rPr>
                            <m:t>𝑛</m:t>
                          </m:r>
                          <m:r>
                            <a:rPr lang="en-US" sz="2800" b="0" i="1" smtClean="0">
                              <a:solidFill>
                                <a:schemeClr val="tx2"/>
                              </a:solidFill>
                              <a:latin typeface="Cambria Math" charset="0"/>
                              <a:ea typeface="Cambria Math" charset="0"/>
                              <a:cs typeface="Cambria Math" charset="0"/>
                            </a:rPr>
                            <m:t>×3</m:t>
                          </m:r>
                        </m:sup>
                      </m:sSup>
                    </m:oMath>
                  </m:oMathPara>
                </a14:m>
                <a:endParaRPr lang="en-US" dirty="0"/>
              </a:p>
            </p:txBody>
          </p:sp>
        </mc:Choice>
        <mc:Fallback xmlns="">
          <p:sp>
            <p:nvSpPr>
              <p:cNvPr id="34" name="Rectangle 33"/>
              <p:cNvSpPr>
                <a:spLocks noRot="1" noChangeAspect="1" noMove="1" noResize="1" noEditPoints="1" noAdjustHandles="1" noChangeArrowheads="1" noChangeShapeType="1" noTextEdit="1"/>
              </p:cNvSpPr>
              <p:nvPr/>
            </p:nvSpPr>
            <p:spPr>
              <a:xfrm>
                <a:off x="1438891" y="848380"/>
                <a:ext cx="4274439" cy="523220"/>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04252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3" name="Oval 152"/>
              <p:cNvSpPr/>
              <p:nvPr/>
            </p:nvSpPr>
            <p:spPr>
              <a:xfrm>
                <a:off x="3675543" y="246399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153" name="Oval 152"/>
              <p:cNvSpPr>
                <a:spLocks noRot="1" noChangeAspect="1" noMove="1" noResize="1" noEditPoints="1" noAdjustHandles="1" noChangeArrowheads="1" noChangeShapeType="1" noTextEdit="1"/>
              </p:cNvSpPr>
              <p:nvPr/>
            </p:nvSpPr>
            <p:spPr>
              <a:xfrm>
                <a:off x="3675543" y="2463990"/>
                <a:ext cx="925221" cy="925221"/>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4" name="Oval 153"/>
              <p:cNvSpPr/>
              <p:nvPr/>
            </p:nvSpPr>
            <p:spPr>
              <a:xfrm>
                <a:off x="3675543" y="3662279"/>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154" name="Oval 153"/>
              <p:cNvSpPr>
                <a:spLocks noRot="1" noChangeAspect="1" noMove="1" noResize="1" noEditPoints="1" noAdjustHandles="1" noChangeArrowheads="1" noChangeShapeType="1" noTextEdit="1"/>
              </p:cNvSpPr>
              <p:nvPr/>
            </p:nvSpPr>
            <p:spPr>
              <a:xfrm>
                <a:off x="3675543" y="3662279"/>
                <a:ext cx="925221" cy="925221"/>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p:cNvSpPr/>
              <p:nvPr/>
            </p:nvSpPr>
            <p:spPr>
              <a:xfrm>
                <a:off x="3675543" y="4860568"/>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155" name="Oval 154"/>
              <p:cNvSpPr>
                <a:spLocks noRot="1" noChangeAspect="1" noMove="1" noResize="1" noEditPoints="1" noAdjustHandles="1" noChangeArrowheads="1" noChangeShapeType="1" noTextEdit="1"/>
              </p:cNvSpPr>
              <p:nvPr/>
            </p:nvSpPr>
            <p:spPr>
              <a:xfrm>
                <a:off x="3675543" y="4860568"/>
                <a:ext cx="925221" cy="925221"/>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Oval 155"/>
              <p:cNvSpPr/>
              <p:nvPr/>
            </p:nvSpPr>
            <p:spPr>
              <a:xfrm>
                <a:off x="5217578" y="5323179"/>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6" name="Oval 155"/>
              <p:cNvSpPr>
                <a:spLocks noRot="1" noChangeAspect="1" noMove="1" noResize="1" noEditPoints="1" noAdjustHandles="1" noChangeArrowheads="1" noChangeShapeType="1" noTextEdit="1"/>
              </p:cNvSpPr>
              <p:nvPr/>
            </p:nvSpPr>
            <p:spPr>
              <a:xfrm>
                <a:off x="5217578" y="5323179"/>
                <a:ext cx="925221" cy="925221"/>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7" name="Oval 156"/>
              <p:cNvSpPr/>
              <p:nvPr/>
            </p:nvSpPr>
            <p:spPr>
              <a:xfrm>
                <a:off x="5217578" y="418378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7" name="Oval 156"/>
              <p:cNvSpPr>
                <a:spLocks noRot="1" noChangeAspect="1" noMove="1" noResize="1" noEditPoints="1" noAdjustHandles="1" noChangeArrowheads="1" noChangeShapeType="1" noTextEdit="1"/>
              </p:cNvSpPr>
              <p:nvPr/>
            </p:nvSpPr>
            <p:spPr>
              <a:xfrm>
                <a:off x="5217578" y="4183784"/>
                <a:ext cx="925221" cy="925221"/>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8" name="Oval 157"/>
              <p:cNvSpPr/>
              <p:nvPr/>
            </p:nvSpPr>
            <p:spPr>
              <a:xfrm>
                <a:off x="5217578" y="304439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8" name="Oval 157"/>
              <p:cNvSpPr>
                <a:spLocks noRot="1" noChangeAspect="1" noMove="1" noResize="1" noEditPoints="1" noAdjustHandles="1" noChangeArrowheads="1" noChangeShapeType="1" noTextEdit="1"/>
              </p:cNvSpPr>
              <p:nvPr/>
            </p:nvSpPr>
            <p:spPr>
              <a:xfrm>
                <a:off x="5217578" y="3044392"/>
                <a:ext cx="925221" cy="925221"/>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9" name="Oval 158"/>
              <p:cNvSpPr/>
              <p:nvPr/>
            </p:nvSpPr>
            <p:spPr>
              <a:xfrm>
                <a:off x="5217578" y="1905000"/>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9" name="Oval 158"/>
              <p:cNvSpPr>
                <a:spLocks noRot="1" noChangeAspect="1" noMove="1" noResize="1" noEditPoints="1" noAdjustHandles="1" noChangeArrowheads="1" noChangeShapeType="1" noTextEdit="1"/>
              </p:cNvSpPr>
              <p:nvPr/>
            </p:nvSpPr>
            <p:spPr>
              <a:xfrm>
                <a:off x="5217578" y="1905000"/>
                <a:ext cx="925221" cy="925221"/>
              </a:xfrm>
              <a:prstGeom prst="ellipse">
                <a:avLst/>
              </a:prstGeom>
              <a:blipFill rotWithShape="0">
                <a:blip r:embed="rId6"/>
                <a:stretch>
                  <a:fillRect t="-24837" b="-41176"/>
                </a:stretch>
              </a:blipFill>
            </p:spPr>
            <p:txBody>
              <a:bodyPr/>
              <a:lstStyle/>
              <a:p>
                <a:r>
                  <a:rPr lang="en-US">
                    <a:noFill/>
                  </a:rPr>
                  <a:t> </a:t>
                </a:r>
              </a:p>
            </p:txBody>
          </p:sp>
        </mc:Fallback>
      </mc:AlternateContent>
      <p:cxnSp>
        <p:nvCxnSpPr>
          <p:cNvPr id="167" name="Straight Arrow Connector 166"/>
          <p:cNvCxnSpPr>
            <a:stCxn id="156" idx="6"/>
          </p:cNvCxnSpPr>
          <p:nvPr/>
        </p:nvCxnSpPr>
        <p:spPr>
          <a:xfrm flipV="1">
            <a:off x="4600764" y="2367611"/>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a:stCxn id="156" idx="6"/>
          </p:cNvCxnSpPr>
          <p:nvPr/>
        </p:nvCxnSpPr>
        <p:spPr>
          <a:xfrm>
            <a:off x="4600764" y="2926601"/>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a:stCxn id="156" idx="6"/>
          </p:cNvCxnSpPr>
          <p:nvPr/>
        </p:nvCxnSpPr>
        <p:spPr>
          <a:xfrm>
            <a:off x="4600764" y="2926601"/>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a:stCxn id="156" idx="6"/>
            <a:endCxn id="159" idx="2"/>
          </p:cNvCxnSpPr>
          <p:nvPr/>
        </p:nvCxnSpPr>
        <p:spPr>
          <a:xfrm>
            <a:off x="4600764" y="2926601"/>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a:stCxn id="157" idx="6"/>
          </p:cNvCxnSpPr>
          <p:nvPr/>
        </p:nvCxnSpPr>
        <p:spPr>
          <a:xfrm flipV="1">
            <a:off x="4600764" y="2367611"/>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a:stCxn id="157" idx="6"/>
          </p:cNvCxnSpPr>
          <p:nvPr/>
        </p:nvCxnSpPr>
        <p:spPr>
          <a:xfrm flipV="1">
            <a:off x="4600764" y="3507003"/>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stCxn id="157" idx="6"/>
          </p:cNvCxnSpPr>
          <p:nvPr/>
        </p:nvCxnSpPr>
        <p:spPr>
          <a:xfrm>
            <a:off x="4600764" y="4124890"/>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a:stCxn id="157" idx="6"/>
            <a:endCxn id="159" idx="2"/>
          </p:cNvCxnSpPr>
          <p:nvPr/>
        </p:nvCxnSpPr>
        <p:spPr>
          <a:xfrm>
            <a:off x="4600764" y="4124890"/>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158" idx="6"/>
          </p:cNvCxnSpPr>
          <p:nvPr/>
        </p:nvCxnSpPr>
        <p:spPr>
          <a:xfrm flipV="1">
            <a:off x="4600764" y="2367611"/>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p:cNvCxnSpPr>
            <a:stCxn id="158" idx="6"/>
          </p:cNvCxnSpPr>
          <p:nvPr/>
        </p:nvCxnSpPr>
        <p:spPr>
          <a:xfrm flipV="1">
            <a:off x="4600764" y="3507003"/>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p:cNvCxnSpPr>
            <a:stCxn id="158" idx="6"/>
          </p:cNvCxnSpPr>
          <p:nvPr/>
        </p:nvCxnSpPr>
        <p:spPr>
          <a:xfrm flipV="1">
            <a:off x="4600764" y="4646395"/>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p:cNvCxnSpPr>
            <a:stCxn id="158" idx="6"/>
            <a:endCxn id="159" idx="2"/>
          </p:cNvCxnSpPr>
          <p:nvPr/>
        </p:nvCxnSpPr>
        <p:spPr>
          <a:xfrm>
            <a:off x="4600764" y="5323179"/>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p:cNvCxnSpPr/>
          <p:nvPr/>
        </p:nvCxnSpPr>
        <p:spPr>
          <a:xfrm>
            <a:off x="6142800" y="236761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p:cNvCxnSpPr/>
          <p:nvPr/>
        </p:nvCxnSpPr>
        <p:spPr>
          <a:xfrm>
            <a:off x="6142800" y="350700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6142800" y="464639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a:stCxn id="159" idx="6"/>
          </p:cNvCxnSpPr>
          <p:nvPr/>
        </p:nvCxnSpPr>
        <p:spPr>
          <a:xfrm>
            <a:off x="6142800" y="5785789"/>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p:cNvCxnSpPr>
            <a:endCxn id="156" idx="2"/>
          </p:cNvCxnSpPr>
          <p:nvPr/>
        </p:nvCxnSpPr>
        <p:spPr>
          <a:xfrm>
            <a:off x="2785946" y="292660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a:endCxn id="157" idx="2"/>
          </p:cNvCxnSpPr>
          <p:nvPr/>
        </p:nvCxnSpPr>
        <p:spPr>
          <a:xfrm>
            <a:off x="2785946" y="4124890"/>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a:endCxn id="158" idx="2"/>
          </p:cNvCxnSpPr>
          <p:nvPr/>
        </p:nvCxnSpPr>
        <p:spPr>
          <a:xfrm>
            <a:off x="2785946" y="5323179"/>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7999412" y="1632993"/>
                <a:ext cx="2235677" cy="1584986"/>
              </a:xfrm>
              <a:prstGeom prst="rect">
                <a:avLst/>
              </a:prstGeom>
              <a:noFill/>
            </p:spPr>
            <p:txBody>
              <a:bodyPr wrap="none" rtlCol="0">
                <a:spAutoFit/>
              </a:bodyPr>
              <a:lstStyle/>
              <a:p>
                <a:r>
                  <a:rPr lang="en-US" sz="2400" dirty="0" smtClean="0">
                    <a:solidFill>
                      <a:schemeClr val="tx2"/>
                    </a:solidFill>
                  </a:rPr>
                  <a:t>X is [n x 3]</a:t>
                </a:r>
              </a:p>
              <a:p>
                <a:r>
                  <a:rPr lang="en-US" sz="2400" dirty="0" smtClean="0">
                    <a:solidFill>
                      <a:schemeClr val="tx2"/>
                    </a:solidFill>
                  </a:rPr>
                  <a:t>(n data points)</a:t>
                </a:r>
              </a:p>
              <a:p>
                <a:endParaRPr lang="en-US" sz="2400" dirty="0">
                  <a:solidFill>
                    <a:srgbClr val="FF0000"/>
                  </a:solidFill>
                </a:endParaRPr>
              </a:p>
              <a:p>
                <a14:m>
                  <m:oMath xmlns:m="http://schemas.openxmlformats.org/officeDocument/2006/math">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charset="0"/>
                          </a:rPr>
                          <m:t>𝑊</m:t>
                        </m:r>
                      </m:e>
                      <m:sup>
                        <m:r>
                          <a:rPr lang="en-US" sz="2400" i="1">
                            <a:solidFill>
                              <a:srgbClr val="FF0000"/>
                            </a:solidFill>
                            <a:latin typeface="Cambria Math" charset="0"/>
                          </a:rPr>
                          <m:t>(1)</m:t>
                        </m:r>
                      </m:sup>
                    </m:sSup>
                    <m:r>
                      <a:rPr lang="en-US" sz="2400" i="1">
                        <a:solidFill>
                          <a:srgbClr val="FF0000"/>
                        </a:solidFill>
                        <a:latin typeface="Cambria Math" charset="0"/>
                      </a:rPr>
                      <m:t> </m:t>
                    </m:r>
                  </m:oMath>
                </a14:m>
                <a:r>
                  <a:rPr lang="en-US" sz="2400" dirty="0" smtClean="0">
                    <a:solidFill>
                      <a:srgbClr val="FF0000"/>
                    </a:solidFill>
                  </a:rPr>
                  <a:t>is [3 x 4]</a:t>
                </a:r>
                <a:endParaRPr lang="en-US" sz="2400" dirty="0">
                  <a:solidFill>
                    <a:srgbClr val="FF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999412" y="1632993"/>
                <a:ext cx="2235677" cy="1584986"/>
              </a:xfrm>
              <a:prstGeom prst="rect">
                <a:avLst/>
              </a:prstGeom>
              <a:blipFill rotWithShape="0">
                <a:blip r:embed="rId7"/>
                <a:stretch>
                  <a:fillRect l="-4087" t="-3077" r="-3270" b="-7308"/>
                </a:stretch>
              </a:blipFill>
            </p:spPr>
            <p:txBody>
              <a:bodyPr/>
              <a:lstStyle/>
              <a:p>
                <a:r>
                  <a:rPr lang="en-US">
                    <a:noFill/>
                  </a:rPr>
                  <a:t> </a:t>
                </a:r>
              </a:p>
            </p:txBody>
          </p:sp>
        </mc:Fallback>
      </mc:AlternateContent>
      <p:sp>
        <p:nvSpPr>
          <p:cNvPr id="31" name="Rounded Rectangle 30"/>
          <p:cNvSpPr/>
          <p:nvPr/>
        </p:nvSpPr>
        <p:spPr>
          <a:xfrm>
            <a:off x="5128888" y="1745750"/>
            <a:ext cx="1102601" cy="4731249"/>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3"/>
              <p:cNvSpPr/>
              <p:nvPr/>
            </p:nvSpPr>
            <p:spPr>
              <a:xfrm>
                <a:off x="1424603" y="797105"/>
                <a:ext cx="5327036" cy="552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2"/>
                          </a:solidFill>
                          <a:latin typeface="Cambria Math" charset="0"/>
                        </a:rPr>
                        <m:t>𝑐</m:t>
                      </m:r>
                      <m:r>
                        <a:rPr lang="en-US" sz="2800" b="0" i="1" smtClean="0">
                          <a:solidFill>
                            <a:schemeClr val="tx2"/>
                          </a:solidFill>
                          <a:latin typeface="Cambria Math" charset="0"/>
                        </a:rPr>
                        <m:t>𝑢𝑟𝑟𝑒𝑛𝑡</m:t>
                      </m:r>
                      <m:r>
                        <a:rPr lang="en-US" sz="2800" b="0" i="1" smtClean="0">
                          <a:solidFill>
                            <a:schemeClr val="tx2"/>
                          </a:solidFill>
                          <a:latin typeface="Cambria Math" charset="0"/>
                        </a:rPr>
                        <m:t>_</m:t>
                      </m:r>
                      <m:r>
                        <a:rPr lang="en-US" sz="2800" b="0" i="1" smtClean="0">
                          <a:solidFill>
                            <a:schemeClr val="tx2"/>
                          </a:solidFill>
                          <a:latin typeface="Cambria Math" charset="0"/>
                        </a:rPr>
                        <m:t>𝑣𝑎𝑙𝑢𝑒</m:t>
                      </m:r>
                      <m:r>
                        <a:rPr lang="en-US" sz="2800" b="0" i="1" smtClean="0">
                          <a:solidFill>
                            <a:schemeClr val="tx2"/>
                          </a:solidFill>
                          <a:latin typeface="Cambria Math" charset="0"/>
                        </a:rPr>
                        <m:t>=</m:t>
                      </m:r>
                      <m:r>
                        <a:rPr lang="en-US" sz="2800" b="0" i="1" smtClean="0">
                          <a:solidFill>
                            <a:schemeClr val="tx2"/>
                          </a:solidFill>
                          <a:latin typeface="Cambria Math" charset="0"/>
                        </a:rPr>
                        <m:t>𝑋</m:t>
                      </m:r>
                      <m:sSup>
                        <m:sSupPr>
                          <m:ctrlPr>
                            <a:rPr lang="en-US" sz="2800" b="0" i="1" smtClean="0">
                              <a:solidFill>
                                <a:schemeClr val="tx2"/>
                              </a:solidFill>
                              <a:latin typeface="Cambria Math" panose="02040503050406030204" pitchFamily="18" charset="0"/>
                            </a:rPr>
                          </m:ctrlPr>
                        </m:sSupPr>
                        <m:e>
                          <m:r>
                            <a:rPr lang="en-US" sz="2800" b="0" i="1" smtClean="0">
                              <a:solidFill>
                                <a:schemeClr val="tx2"/>
                              </a:solidFill>
                              <a:latin typeface="Cambria Math" charset="0"/>
                            </a:rPr>
                            <m:t>𝑊</m:t>
                          </m:r>
                        </m:e>
                        <m:sup>
                          <m:d>
                            <m:dPr>
                              <m:ctrlPr>
                                <a:rPr lang="en-US" sz="2800" b="0" i="1" smtClean="0">
                                  <a:solidFill>
                                    <a:schemeClr val="tx2"/>
                                  </a:solidFill>
                                  <a:latin typeface="Cambria Math" panose="02040503050406030204" pitchFamily="18" charset="0"/>
                                </a:rPr>
                              </m:ctrlPr>
                            </m:dPr>
                            <m:e>
                              <m:r>
                                <a:rPr lang="en-US" sz="2800" b="0" i="1" smtClean="0">
                                  <a:solidFill>
                                    <a:schemeClr val="tx2"/>
                                  </a:solidFill>
                                  <a:latin typeface="Cambria Math" charset="0"/>
                                </a:rPr>
                                <m:t>1</m:t>
                              </m:r>
                            </m:e>
                          </m:d>
                        </m:sup>
                      </m:sSup>
                      <m:r>
                        <a:rPr lang="en-US" sz="2800" i="1">
                          <a:solidFill>
                            <a:schemeClr val="tx2"/>
                          </a:solidFill>
                          <a:latin typeface="Cambria Math" charset="0"/>
                        </a:rPr>
                        <m:t>∈</m:t>
                      </m:r>
                      <m:sSup>
                        <m:sSupPr>
                          <m:ctrlPr>
                            <a:rPr lang="en-US" sz="2800" i="1">
                              <a:solidFill>
                                <a:schemeClr val="tx2"/>
                              </a:solidFill>
                              <a:latin typeface="Cambria Math" panose="02040503050406030204" pitchFamily="18" charset="0"/>
                              <a:ea typeface="Cambria Math" charset="0"/>
                              <a:cs typeface="Cambria Math" charset="0"/>
                            </a:rPr>
                          </m:ctrlPr>
                        </m:sSupPr>
                        <m:e>
                          <m:r>
                            <a:rPr lang="en-US" sz="2800" i="1">
                              <a:solidFill>
                                <a:schemeClr val="tx2"/>
                              </a:solidFill>
                              <a:latin typeface="Cambria Math" charset="0"/>
                              <a:ea typeface="Cambria Math" charset="0"/>
                              <a:cs typeface="Cambria Math" charset="0"/>
                            </a:rPr>
                            <m:t>ℝ</m:t>
                          </m:r>
                        </m:e>
                        <m:sup>
                          <m:r>
                            <a:rPr lang="en-US" sz="2800" i="1">
                              <a:solidFill>
                                <a:schemeClr val="tx2"/>
                              </a:solidFill>
                              <a:latin typeface="Cambria Math" charset="0"/>
                              <a:ea typeface="Cambria Math" charset="0"/>
                              <a:cs typeface="Cambria Math" charset="0"/>
                            </a:rPr>
                            <m:t>𝑛</m:t>
                          </m:r>
                          <m:r>
                            <a:rPr lang="en-US" sz="2800" i="1">
                              <a:solidFill>
                                <a:schemeClr val="tx2"/>
                              </a:solidFill>
                              <a:latin typeface="Cambria Math" charset="0"/>
                              <a:ea typeface="Cambria Math" charset="0"/>
                              <a:cs typeface="Cambria Math" charset="0"/>
                            </a:rPr>
                            <m:t>×4</m:t>
                          </m:r>
                        </m:sup>
                      </m:sSup>
                    </m:oMath>
                  </m:oMathPara>
                </a14:m>
                <a:endParaRPr lang="en-US" sz="2800" dirty="0"/>
              </a:p>
            </p:txBody>
          </p:sp>
        </mc:Choice>
        <mc:Fallback xmlns="">
          <p:sp>
            <p:nvSpPr>
              <p:cNvPr id="34" name="Rectangle 33"/>
              <p:cNvSpPr>
                <a:spLocks noRot="1" noChangeAspect="1" noMove="1" noResize="1" noEditPoints="1" noAdjustHandles="1" noChangeArrowheads="1" noChangeShapeType="1" noTextEdit="1"/>
              </p:cNvSpPr>
              <p:nvPr/>
            </p:nvSpPr>
            <p:spPr>
              <a:xfrm>
                <a:off x="1424603" y="797105"/>
                <a:ext cx="5327036" cy="552267"/>
              </a:xfrm>
              <a:prstGeom prst="rect">
                <a:avLst/>
              </a:prstGeom>
              <a:blipFill rotWithShape="0">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32146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1424603" y="797105"/>
                <a:ext cx="6076087" cy="552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2"/>
                          </a:solidFill>
                          <a:latin typeface="Cambria Math" charset="0"/>
                        </a:rPr>
                        <m:t>𝑐</m:t>
                      </m:r>
                      <m:r>
                        <a:rPr lang="en-US" sz="2800" b="0" i="1" smtClean="0">
                          <a:solidFill>
                            <a:schemeClr val="tx2"/>
                          </a:solidFill>
                          <a:latin typeface="Cambria Math" charset="0"/>
                        </a:rPr>
                        <m:t>𝑢𝑟𝑟𝑒𝑛𝑡</m:t>
                      </m:r>
                      <m:r>
                        <a:rPr lang="en-US" sz="2800" b="0" i="1" smtClean="0">
                          <a:solidFill>
                            <a:schemeClr val="tx2"/>
                          </a:solidFill>
                          <a:latin typeface="Cambria Math" charset="0"/>
                        </a:rPr>
                        <m:t>_</m:t>
                      </m:r>
                      <m:r>
                        <a:rPr lang="en-US" sz="2800" b="0" i="1" smtClean="0">
                          <a:solidFill>
                            <a:schemeClr val="tx2"/>
                          </a:solidFill>
                          <a:latin typeface="Cambria Math" charset="0"/>
                        </a:rPr>
                        <m:t>𝑣𝑎𝑙𝑢𝑒</m:t>
                      </m:r>
                      <m:r>
                        <a:rPr lang="en-US" sz="2800" b="0" i="1" smtClean="0">
                          <a:solidFill>
                            <a:schemeClr val="tx2"/>
                          </a:solidFill>
                          <a:latin typeface="Cambria Math" charset="0"/>
                        </a:rPr>
                        <m:t>=</m:t>
                      </m:r>
                      <m:r>
                        <a:rPr lang="en-US" sz="2800" b="0" i="1" smtClean="0">
                          <a:solidFill>
                            <a:schemeClr val="tx2"/>
                          </a:solidFill>
                          <a:latin typeface="Cambria Math" charset="0"/>
                        </a:rPr>
                        <m:t>𝑋</m:t>
                      </m:r>
                      <m:sSup>
                        <m:sSupPr>
                          <m:ctrlPr>
                            <a:rPr lang="en-US" sz="2800" b="0" i="1" smtClean="0">
                              <a:solidFill>
                                <a:schemeClr val="tx2"/>
                              </a:solidFill>
                              <a:latin typeface="Cambria Math" panose="02040503050406030204" pitchFamily="18" charset="0"/>
                            </a:rPr>
                          </m:ctrlPr>
                        </m:sSupPr>
                        <m:e>
                          <m:r>
                            <a:rPr lang="en-US" sz="2800" b="0" i="1" smtClean="0">
                              <a:solidFill>
                                <a:schemeClr val="tx2"/>
                              </a:solidFill>
                              <a:latin typeface="Cambria Math" charset="0"/>
                            </a:rPr>
                            <m:t>𝑊</m:t>
                          </m:r>
                        </m:e>
                        <m:sup>
                          <m:d>
                            <m:dPr>
                              <m:ctrlPr>
                                <a:rPr lang="en-US" sz="2800" b="0" i="1" smtClean="0">
                                  <a:solidFill>
                                    <a:schemeClr val="tx2"/>
                                  </a:solidFill>
                                  <a:latin typeface="Cambria Math" panose="02040503050406030204" pitchFamily="18" charset="0"/>
                                </a:rPr>
                              </m:ctrlPr>
                            </m:dPr>
                            <m:e>
                              <m:r>
                                <a:rPr lang="en-US" sz="2800" b="0" i="1" smtClean="0">
                                  <a:solidFill>
                                    <a:schemeClr val="tx2"/>
                                  </a:solidFill>
                                  <a:latin typeface="Cambria Math" charset="0"/>
                                </a:rPr>
                                <m:t>1</m:t>
                              </m:r>
                            </m:e>
                          </m:d>
                        </m:sup>
                      </m:sSup>
                      <m:sSup>
                        <m:sSupPr>
                          <m:ctrlPr>
                            <a:rPr lang="en-US" sz="2800" b="0" i="1" smtClean="0">
                              <a:solidFill>
                                <a:schemeClr val="tx2"/>
                              </a:solidFill>
                              <a:latin typeface="Cambria Math" panose="02040503050406030204" pitchFamily="18" charset="0"/>
                            </a:rPr>
                          </m:ctrlPr>
                        </m:sSupPr>
                        <m:e>
                          <m:r>
                            <a:rPr lang="en-US" sz="2800" b="0" i="1" smtClean="0">
                              <a:solidFill>
                                <a:schemeClr val="tx2"/>
                              </a:solidFill>
                              <a:latin typeface="Cambria Math" charset="0"/>
                            </a:rPr>
                            <m:t>𝑊</m:t>
                          </m:r>
                        </m:e>
                        <m:sup>
                          <m:r>
                            <a:rPr lang="en-US" sz="2800" b="0" i="1" smtClean="0">
                              <a:solidFill>
                                <a:schemeClr val="tx2"/>
                              </a:solidFill>
                              <a:latin typeface="Cambria Math" charset="0"/>
                            </a:rPr>
                            <m:t>(2)</m:t>
                          </m:r>
                        </m:sup>
                      </m:sSup>
                      <m:r>
                        <a:rPr lang="en-US" sz="2800" i="1">
                          <a:solidFill>
                            <a:schemeClr val="tx2"/>
                          </a:solidFill>
                          <a:latin typeface="Cambria Math" charset="0"/>
                        </a:rPr>
                        <m:t>∈</m:t>
                      </m:r>
                      <m:sSup>
                        <m:sSupPr>
                          <m:ctrlPr>
                            <a:rPr lang="en-US" sz="2800" i="1">
                              <a:solidFill>
                                <a:schemeClr val="tx2"/>
                              </a:solidFill>
                              <a:latin typeface="Cambria Math" panose="02040503050406030204" pitchFamily="18" charset="0"/>
                              <a:ea typeface="Cambria Math" charset="0"/>
                              <a:cs typeface="Cambria Math" charset="0"/>
                            </a:rPr>
                          </m:ctrlPr>
                        </m:sSupPr>
                        <m:e>
                          <m:r>
                            <a:rPr lang="en-US" sz="2800" i="1">
                              <a:solidFill>
                                <a:schemeClr val="tx2"/>
                              </a:solidFill>
                              <a:latin typeface="Cambria Math" charset="0"/>
                              <a:ea typeface="Cambria Math" charset="0"/>
                              <a:cs typeface="Cambria Math" charset="0"/>
                            </a:rPr>
                            <m:t>ℝ</m:t>
                          </m:r>
                        </m:e>
                        <m:sup>
                          <m:r>
                            <a:rPr lang="en-US" sz="2800" i="1">
                              <a:solidFill>
                                <a:schemeClr val="tx2"/>
                              </a:solidFill>
                              <a:latin typeface="Cambria Math" charset="0"/>
                              <a:ea typeface="Cambria Math" charset="0"/>
                              <a:cs typeface="Cambria Math" charset="0"/>
                            </a:rPr>
                            <m:t>𝑛</m:t>
                          </m:r>
                          <m:r>
                            <a:rPr lang="en-US" sz="2800" i="1">
                              <a:solidFill>
                                <a:schemeClr val="tx2"/>
                              </a:solidFill>
                              <a:latin typeface="Cambria Math" charset="0"/>
                              <a:ea typeface="Cambria Math" charset="0"/>
                              <a:cs typeface="Cambria Math" charset="0"/>
                            </a:rPr>
                            <m:t>×4</m:t>
                          </m:r>
                        </m:sup>
                      </m:sSup>
                    </m:oMath>
                  </m:oMathPara>
                </a14:m>
                <a:endParaRPr lang="en-US" sz="2800" dirty="0"/>
              </a:p>
            </p:txBody>
          </p:sp>
        </mc:Choice>
        <mc:Fallback xmlns="">
          <p:sp>
            <p:nvSpPr>
              <p:cNvPr id="4" name="Rectangle 3"/>
              <p:cNvSpPr>
                <a:spLocks noRot="1" noChangeAspect="1" noMove="1" noResize="1" noEditPoints="1" noAdjustHandles="1" noChangeArrowheads="1" noChangeShapeType="1" noTextEdit="1"/>
              </p:cNvSpPr>
              <p:nvPr/>
            </p:nvSpPr>
            <p:spPr>
              <a:xfrm>
                <a:off x="1424603" y="797105"/>
                <a:ext cx="6076087" cy="552267"/>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8610056" y="1632993"/>
                <a:ext cx="2235677" cy="2403094"/>
              </a:xfrm>
              <a:prstGeom prst="rect">
                <a:avLst/>
              </a:prstGeom>
              <a:noFill/>
            </p:spPr>
            <p:txBody>
              <a:bodyPr wrap="none" rtlCol="0">
                <a:spAutoFit/>
              </a:bodyPr>
              <a:lstStyle/>
              <a:p>
                <a:r>
                  <a:rPr lang="en-US" sz="2400" dirty="0" smtClean="0">
                    <a:solidFill>
                      <a:schemeClr val="tx2"/>
                    </a:solidFill>
                  </a:rPr>
                  <a:t>X is [n x 3]</a:t>
                </a:r>
              </a:p>
              <a:p>
                <a:r>
                  <a:rPr lang="en-US" sz="2400" dirty="0" smtClean="0">
                    <a:solidFill>
                      <a:schemeClr val="tx2"/>
                    </a:solidFill>
                  </a:rPr>
                  <a:t>(n data points)</a:t>
                </a:r>
              </a:p>
              <a:p>
                <a:endParaRPr lang="en-US" sz="2400" dirty="0">
                  <a:solidFill>
                    <a:schemeClr val="tx2"/>
                  </a:solidFill>
                </a:endParaRPr>
              </a:p>
              <a:p>
                <a14:m>
                  <m:oMath xmlns:m="http://schemas.openxmlformats.org/officeDocument/2006/math">
                    <m:sSup>
                      <m:sSupPr>
                        <m:ctrlPr>
                          <a:rPr lang="en-US" sz="2400" i="1">
                            <a:solidFill>
                              <a:schemeClr val="tx2"/>
                            </a:solidFill>
                            <a:latin typeface="Cambria Math" panose="02040503050406030204" pitchFamily="18" charset="0"/>
                          </a:rPr>
                        </m:ctrlPr>
                      </m:sSupPr>
                      <m:e>
                        <m:r>
                          <a:rPr lang="en-US" sz="2400" i="1">
                            <a:solidFill>
                              <a:schemeClr val="tx2"/>
                            </a:solidFill>
                            <a:latin typeface="Cambria Math" charset="0"/>
                          </a:rPr>
                          <m:t>𝑊</m:t>
                        </m:r>
                      </m:e>
                      <m:sup>
                        <m:r>
                          <a:rPr lang="en-US" sz="2400" i="1">
                            <a:solidFill>
                              <a:schemeClr val="tx2"/>
                            </a:solidFill>
                            <a:latin typeface="Cambria Math" charset="0"/>
                          </a:rPr>
                          <m:t>(1)</m:t>
                        </m:r>
                      </m:sup>
                    </m:sSup>
                    <m:r>
                      <a:rPr lang="en-US" sz="2400" i="1">
                        <a:solidFill>
                          <a:schemeClr val="tx2"/>
                        </a:solidFill>
                        <a:latin typeface="Cambria Math" charset="0"/>
                      </a:rPr>
                      <m:t> </m:t>
                    </m:r>
                  </m:oMath>
                </a14:m>
                <a:r>
                  <a:rPr lang="en-US" sz="2400" dirty="0" smtClean="0">
                    <a:solidFill>
                      <a:schemeClr val="tx2"/>
                    </a:solidFill>
                  </a:rPr>
                  <a:t>is [3 x 4]</a:t>
                </a:r>
              </a:p>
              <a:p>
                <a:endParaRPr lang="en-US" sz="2400" dirty="0">
                  <a:solidFill>
                    <a:srgbClr val="FF0000"/>
                  </a:solidFill>
                </a:endParaRPr>
              </a:p>
              <a:p>
                <a14:m>
                  <m:oMath xmlns:m="http://schemas.openxmlformats.org/officeDocument/2006/math">
                    <m:sSup>
                      <m:sSupPr>
                        <m:ctrlPr>
                          <a:rPr lang="en-US" sz="2400" i="1" smtClean="0">
                            <a:solidFill>
                              <a:srgbClr val="FF0000"/>
                            </a:solidFill>
                            <a:latin typeface="Cambria Math" panose="02040503050406030204" pitchFamily="18" charset="0"/>
                          </a:rPr>
                        </m:ctrlPr>
                      </m:sSupPr>
                      <m:e>
                        <m:r>
                          <a:rPr lang="en-US" sz="2400" i="1">
                            <a:solidFill>
                              <a:srgbClr val="FF0000"/>
                            </a:solidFill>
                            <a:latin typeface="Cambria Math" charset="0"/>
                          </a:rPr>
                          <m:t>𝑊</m:t>
                        </m:r>
                      </m:e>
                      <m:sup>
                        <m:r>
                          <a:rPr lang="en-US" sz="2400" i="1">
                            <a:solidFill>
                              <a:srgbClr val="FF0000"/>
                            </a:solidFill>
                            <a:latin typeface="Cambria Math" charset="0"/>
                          </a:rPr>
                          <m:t>(</m:t>
                        </m:r>
                        <m:r>
                          <a:rPr lang="en-US" sz="2400" b="0" i="1" smtClean="0">
                            <a:solidFill>
                              <a:srgbClr val="FF0000"/>
                            </a:solidFill>
                            <a:latin typeface="Cambria Math" charset="0"/>
                          </a:rPr>
                          <m:t>2</m:t>
                        </m:r>
                        <m:r>
                          <a:rPr lang="en-US" sz="2400" i="1">
                            <a:solidFill>
                              <a:srgbClr val="FF0000"/>
                            </a:solidFill>
                            <a:latin typeface="Cambria Math" charset="0"/>
                          </a:rPr>
                          <m:t>)</m:t>
                        </m:r>
                      </m:sup>
                    </m:sSup>
                  </m:oMath>
                </a14:m>
                <a:r>
                  <a:rPr lang="en-US" sz="2400" dirty="0" smtClean="0">
                    <a:solidFill>
                      <a:srgbClr val="FF0000"/>
                    </a:solidFill>
                  </a:rPr>
                  <a:t> is [4 x 4]</a:t>
                </a:r>
                <a:endParaRPr lang="en-US" sz="2400" dirty="0">
                  <a:solidFill>
                    <a:srgbClr val="FF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8610056" y="1632993"/>
                <a:ext cx="2235677" cy="2403094"/>
              </a:xfrm>
              <a:prstGeom prst="rect">
                <a:avLst/>
              </a:prstGeom>
              <a:blipFill rotWithShape="0">
                <a:blip r:embed="rId3"/>
                <a:stretch>
                  <a:fillRect l="-4087" t="-2030" r="-3270" b="-2030"/>
                </a:stretch>
              </a:blipFill>
            </p:spPr>
            <p:txBody>
              <a:bodyPr/>
              <a:lstStyle/>
              <a:p>
                <a:r>
                  <a:rPr lang="en-US">
                    <a:noFill/>
                  </a:rPr>
                  <a:t> </a:t>
                </a:r>
              </a:p>
            </p:txBody>
          </p:sp>
        </mc:Fallback>
      </mc:AlternateContent>
      <p:sp>
        <p:nvSpPr>
          <p:cNvPr id="31" name="Rounded Rectangle 30"/>
          <p:cNvSpPr/>
          <p:nvPr/>
        </p:nvSpPr>
        <p:spPr>
          <a:xfrm>
            <a:off x="6670924" y="1745750"/>
            <a:ext cx="1102601" cy="4731249"/>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Oval 32"/>
              <p:cNvSpPr/>
              <p:nvPr/>
            </p:nvSpPr>
            <p:spPr>
              <a:xfrm>
                <a:off x="3675543" y="246399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3675543" y="2463990"/>
                <a:ext cx="925221" cy="925221"/>
              </a:xfrm>
              <a:prstGeom prst="ellipse">
                <a:avLst/>
              </a:prstGeom>
              <a:blipFill rotWithShape="0">
                <a:blip r:embed="rId4"/>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3675543" y="3662279"/>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34" name="Oval 33"/>
              <p:cNvSpPr>
                <a:spLocks noRot="1" noChangeAspect="1" noMove="1" noResize="1" noEditPoints="1" noAdjustHandles="1" noChangeArrowheads="1" noChangeShapeType="1" noTextEdit="1"/>
              </p:cNvSpPr>
              <p:nvPr/>
            </p:nvSpPr>
            <p:spPr>
              <a:xfrm>
                <a:off x="3675543" y="3662279"/>
                <a:ext cx="925221" cy="925221"/>
              </a:xfrm>
              <a:prstGeom prst="ellipse">
                <a:avLst/>
              </a:prstGeom>
              <a:blipFill rotWithShape="0">
                <a:blip r:embed="rId5"/>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3675543" y="4860568"/>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35" name="Oval 34"/>
              <p:cNvSpPr>
                <a:spLocks noRot="1" noChangeAspect="1" noMove="1" noResize="1" noEditPoints="1" noAdjustHandles="1" noChangeArrowheads="1" noChangeShapeType="1" noTextEdit="1"/>
              </p:cNvSpPr>
              <p:nvPr/>
            </p:nvSpPr>
            <p:spPr>
              <a:xfrm>
                <a:off x="3675543" y="4860568"/>
                <a:ext cx="925221" cy="925221"/>
              </a:xfrm>
              <a:prstGeom prst="ellipse">
                <a:avLst/>
              </a:prstGeom>
              <a:blipFill rotWithShape="0">
                <a:blip r:embed="rId6"/>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5217578" y="5323179"/>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36" name="Oval 35"/>
              <p:cNvSpPr>
                <a:spLocks noRot="1" noChangeAspect="1" noMove="1" noResize="1" noEditPoints="1" noAdjustHandles="1" noChangeArrowheads="1" noChangeShapeType="1" noTextEdit="1"/>
              </p:cNvSpPr>
              <p:nvPr/>
            </p:nvSpPr>
            <p:spPr>
              <a:xfrm>
                <a:off x="5217578" y="5323179"/>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5217578" y="418378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37" name="Oval 36"/>
              <p:cNvSpPr>
                <a:spLocks noRot="1" noChangeAspect="1" noMove="1" noResize="1" noEditPoints="1" noAdjustHandles="1" noChangeArrowheads="1" noChangeShapeType="1" noTextEdit="1"/>
              </p:cNvSpPr>
              <p:nvPr/>
            </p:nvSpPr>
            <p:spPr>
              <a:xfrm>
                <a:off x="5217578" y="4183784"/>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5217578" y="304439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38" name="Oval 37"/>
              <p:cNvSpPr>
                <a:spLocks noRot="1" noChangeAspect="1" noMove="1" noResize="1" noEditPoints="1" noAdjustHandles="1" noChangeArrowheads="1" noChangeShapeType="1" noTextEdit="1"/>
              </p:cNvSpPr>
              <p:nvPr/>
            </p:nvSpPr>
            <p:spPr>
              <a:xfrm>
                <a:off x="5217578" y="3044392"/>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Oval 38"/>
              <p:cNvSpPr/>
              <p:nvPr/>
            </p:nvSpPr>
            <p:spPr>
              <a:xfrm>
                <a:off x="5217578" y="1905000"/>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39" name="Oval 38"/>
              <p:cNvSpPr>
                <a:spLocks noRot="1" noChangeAspect="1" noMove="1" noResize="1" noEditPoints="1" noAdjustHandles="1" noChangeArrowheads="1" noChangeShapeType="1" noTextEdit="1"/>
              </p:cNvSpPr>
              <p:nvPr/>
            </p:nvSpPr>
            <p:spPr>
              <a:xfrm>
                <a:off x="5217578" y="1905000"/>
                <a:ext cx="925221" cy="925221"/>
              </a:xfrm>
              <a:prstGeom prst="ellipse">
                <a:avLst/>
              </a:prstGeom>
              <a:blipFill rotWithShape="0">
                <a:blip r:embed="rId8"/>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val 39"/>
              <p:cNvSpPr/>
              <p:nvPr/>
            </p:nvSpPr>
            <p:spPr>
              <a:xfrm>
                <a:off x="6759614" y="5323179"/>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40" name="Oval 39"/>
              <p:cNvSpPr>
                <a:spLocks noRot="1" noChangeAspect="1" noMove="1" noResize="1" noEditPoints="1" noAdjustHandles="1" noChangeArrowheads="1" noChangeShapeType="1" noTextEdit="1"/>
              </p:cNvSpPr>
              <p:nvPr/>
            </p:nvSpPr>
            <p:spPr>
              <a:xfrm>
                <a:off x="6759614" y="5323179"/>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val 40"/>
              <p:cNvSpPr/>
              <p:nvPr/>
            </p:nvSpPr>
            <p:spPr>
              <a:xfrm>
                <a:off x="6759614" y="418378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41" name="Oval 40"/>
              <p:cNvSpPr>
                <a:spLocks noRot="1" noChangeAspect="1" noMove="1" noResize="1" noEditPoints="1" noAdjustHandles="1" noChangeArrowheads="1" noChangeShapeType="1" noTextEdit="1"/>
              </p:cNvSpPr>
              <p:nvPr/>
            </p:nvSpPr>
            <p:spPr>
              <a:xfrm>
                <a:off x="6759614" y="4183784"/>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val 41"/>
              <p:cNvSpPr/>
              <p:nvPr/>
            </p:nvSpPr>
            <p:spPr>
              <a:xfrm>
                <a:off x="6759614" y="304439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42" name="Oval 41"/>
              <p:cNvSpPr>
                <a:spLocks noRot="1" noChangeAspect="1" noMove="1" noResize="1" noEditPoints="1" noAdjustHandles="1" noChangeArrowheads="1" noChangeShapeType="1" noTextEdit="1"/>
              </p:cNvSpPr>
              <p:nvPr/>
            </p:nvSpPr>
            <p:spPr>
              <a:xfrm>
                <a:off x="6759614" y="3044392"/>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Oval 42"/>
              <p:cNvSpPr/>
              <p:nvPr/>
            </p:nvSpPr>
            <p:spPr>
              <a:xfrm>
                <a:off x="6759614" y="1905000"/>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43" name="Oval 42"/>
              <p:cNvSpPr>
                <a:spLocks noRot="1" noChangeAspect="1" noMove="1" noResize="1" noEditPoints="1" noAdjustHandles="1" noChangeArrowheads="1" noChangeShapeType="1" noTextEdit="1"/>
              </p:cNvSpPr>
              <p:nvPr/>
            </p:nvSpPr>
            <p:spPr>
              <a:xfrm>
                <a:off x="6759614" y="1905000"/>
                <a:ext cx="925221" cy="925221"/>
              </a:xfrm>
              <a:prstGeom prst="ellipse">
                <a:avLst/>
              </a:prstGeom>
              <a:blipFill rotWithShape="0">
                <a:blip r:embed="rId8"/>
                <a:stretch>
                  <a:fillRect t="-24837" b="-41176"/>
                </a:stretch>
              </a:blipFill>
            </p:spPr>
            <p:txBody>
              <a:bodyPr/>
              <a:lstStyle/>
              <a:p>
                <a:r>
                  <a:rPr lang="en-US">
                    <a:noFill/>
                  </a:rPr>
                  <a:t> </a:t>
                </a:r>
              </a:p>
            </p:txBody>
          </p:sp>
        </mc:Fallback>
      </mc:AlternateContent>
      <p:cxnSp>
        <p:nvCxnSpPr>
          <p:cNvPr id="47" name="Straight Arrow Connector 46"/>
          <p:cNvCxnSpPr/>
          <p:nvPr/>
        </p:nvCxnSpPr>
        <p:spPr>
          <a:xfrm flipV="1">
            <a:off x="4600764" y="2367611"/>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4600764" y="2926601"/>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4600764" y="2926601"/>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4600764" y="2926601"/>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V="1">
            <a:off x="4600764" y="2367611"/>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V="1">
            <a:off x="4600764" y="3507003"/>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600764" y="4124890"/>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4600764" y="4124890"/>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4600764" y="2367611"/>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V="1">
            <a:off x="4600764" y="3507003"/>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4600764" y="4646395"/>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4600764" y="5323179"/>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6142800" y="236761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6142800" y="2367611"/>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6142800" y="2367611"/>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6142800" y="2367611"/>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V="1">
            <a:off x="6142800" y="2367611"/>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6142800" y="350700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6142800" y="350700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6142800" y="3507003"/>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V="1">
            <a:off x="6142800" y="2367611"/>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V="1">
            <a:off x="6142800" y="350700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6142800" y="464639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6142800" y="4646395"/>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V="1">
            <a:off x="6142800" y="2367611"/>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V="1">
            <a:off x="6142800" y="3507003"/>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V="1">
            <a:off x="6007305" y="4646395"/>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6142800" y="5785789"/>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2785946" y="292660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2785946" y="4124890"/>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2785946" y="5323179"/>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a:off x="7684835" y="235873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a:off x="7684835" y="3507002"/>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a:off x="7684835" y="4646394"/>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a:off x="7684835" y="5785789"/>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832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1424603" y="797105"/>
                <a:ext cx="6076087" cy="552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2"/>
                          </a:solidFill>
                          <a:latin typeface="Cambria Math" charset="0"/>
                        </a:rPr>
                        <m:t>𝑐</m:t>
                      </m:r>
                      <m:r>
                        <a:rPr lang="en-US" sz="2800" b="0" i="1" smtClean="0">
                          <a:solidFill>
                            <a:schemeClr val="tx2"/>
                          </a:solidFill>
                          <a:latin typeface="Cambria Math" charset="0"/>
                        </a:rPr>
                        <m:t>𝑢𝑟𝑟𝑒𝑛𝑡</m:t>
                      </m:r>
                      <m:r>
                        <a:rPr lang="en-US" sz="2800" b="0" i="1" smtClean="0">
                          <a:solidFill>
                            <a:schemeClr val="tx2"/>
                          </a:solidFill>
                          <a:latin typeface="Cambria Math" charset="0"/>
                        </a:rPr>
                        <m:t>_</m:t>
                      </m:r>
                      <m:r>
                        <a:rPr lang="en-US" sz="2800" b="0" i="1" smtClean="0">
                          <a:solidFill>
                            <a:schemeClr val="tx2"/>
                          </a:solidFill>
                          <a:latin typeface="Cambria Math" charset="0"/>
                        </a:rPr>
                        <m:t>𝑣𝑎𝑙𝑢𝑒</m:t>
                      </m:r>
                      <m:r>
                        <a:rPr lang="en-US" sz="2800" b="0" i="1" smtClean="0">
                          <a:solidFill>
                            <a:schemeClr val="tx2"/>
                          </a:solidFill>
                          <a:latin typeface="Cambria Math" charset="0"/>
                        </a:rPr>
                        <m:t>=</m:t>
                      </m:r>
                      <m:r>
                        <a:rPr lang="en-US" sz="2800" b="0" i="1" smtClean="0">
                          <a:solidFill>
                            <a:schemeClr val="tx2"/>
                          </a:solidFill>
                          <a:latin typeface="Cambria Math" charset="0"/>
                        </a:rPr>
                        <m:t>𝑋</m:t>
                      </m:r>
                      <m:sSup>
                        <m:sSupPr>
                          <m:ctrlPr>
                            <a:rPr lang="en-US" sz="2800" b="0" i="1" smtClean="0">
                              <a:solidFill>
                                <a:schemeClr val="tx2"/>
                              </a:solidFill>
                              <a:latin typeface="Cambria Math" panose="02040503050406030204" pitchFamily="18" charset="0"/>
                            </a:rPr>
                          </m:ctrlPr>
                        </m:sSupPr>
                        <m:e>
                          <m:r>
                            <a:rPr lang="en-US" sz="2800" b="0" i="1" smtClean="0">
                              <a:solidFill>
                                <a:schemeClr val="tx2"/>
                              </a:solidFill>
                              <a:latin typeface="Cambria Math" charset="0"/>
                            </a:rPr>
                            <m:t>𝑊</m:t>
                          </m:r>
                        </m:e>
                        <m:sup>
                          <m:d>
                            <m:dPr>
                              <m:ctrlPr>
                                <a:rPr lang="en-US" sz="2800" b="0" i="1" smtClean="0">
                                  <a:solidFill>
                                    <a:schemeClr val="tx2"/>
                                  </a:solidFill>
                                  <a:latin typeface="Cambria Math" panose="02040503050406030204" pitchFamily="18" charset="0"/>
                                </a:rPr>
                              </m:ctrlPr>
                            </m:dPr>
                            <m:e>
                              <m:r>
                                <a:rPr lang="en-US" sz="2800" b="0" i="1" smtClean="0">
                                  <a:solidFill>
                                    <a:schemeClr val="tx2"/>
                                  </a:solidFill>
                                  <a:latin typeface="Cambria Math" charset="0"/>
                                </a:rPr>
                                <m:t>1</m:t>
                              </m:r>
                            </m:e>
                          </m:d>
                        </m:sup>
                      </m:sSup>
                      <m:sSup>
                        <m:sSupPr>
                          <m:ctrlPr>
                            <a:rPr lang="en-US" sz="2800" b="0" i="1" smtClean="0">
                              <a:solidFill>
                                <a:schemeClr val="tx2"/>
                              </a:solidFill>
                              <a:latin typeface="Cambria Math" panose="02040503050406030204" pitchFamily="18" charset="0"/>
                            </a:rPr>
                          </m:ctrlPr>
                        </m:sSupPr>
                        <m:e>
                          <m:r>
                            <a:rPr lang="en-US" sz="2800" b="0" i="1" smtClean="0">
                              <a:solidFill>
                                <a:schemeClr val="tx2"/>
                              </a:solidFill>
                              <a:latin typeface="Cambria Math" charset="0"/>
                            </a:rPr>
                            <m:t>𝑊</m:t>
                          </m:r>
                        </m:e>
                        <m:sup>
                          <m:r>
                            <a:rPr lang="en-US" sz="2800" b="0" i="1" smtClean="0">
                              <a:solidFill>
                                <a:schemeClr val="tx2"/>
                              </a:solidFill>
                              <a:latin typeface="Cambria Math" charset="0"/>
                            </a:rPr>
                            <m:t>(2)</m:t>
                          </m:r>
                        </m:sup>
                      </m:sSup>
                      <m:r>
                        <a:rPr lang="en-US" sz="2800" i="1">
                          <a:solidFill>
                            <a:schemeClr val="tx2"/>
                          </a:solidFill>
                          <a:latin typeface="Cambria Math" charset="0"/>
                        </a:rPr>
                        <m:t>∈</m:t>
                      </m:r>
                      <m:sSup>
                        <m:sSupPr>
                          <m:ctrlPr>
                            <a:rPr lang="en-US" sz="2800" i="1">
                              <a:solidFill>
                                <a:schemeClr val="tx2"/>
                              </a:solidFill>
                              <a:latin typeface="Cambria Math" panose="02040503050406030204" pitchFamily="18" charset="0"/>
                              <a:ea typeface="Cambria Math" charset="0"/>
                              <a:cs typeface="Cambria Math" charset="0"/>
                            </a:rPr>
                          </m:ctrlPr>
                        </m:sSupPr>
                        <m:e>
                          <m:r>
                            <a:rPr lang="en-US" sz="2800" i="1">
                              <a:solidFill>
                                <a:schemeClr val="tx2"/>
                              </a:solidFill>
                              <a:latin typeface="Cambria Math" charset="0"/>
                              <a:ea typeface="Cambria Math" charset="0"/>
                              <a:cs typeface="Cambria Math" charset="0"/>
                            </a:rPr>
                            <m:t>ℝ</m:t>
                          </m:r>
                        </m:e>
                        <m:sup>
                          <m:r>
                            <a:rPr lang="en-US" sz="2800" i="1">
                              <a:solidFill>
                                <a:schemeClr val="tx2"/>
                              </a:solidFill>
                              <a:latin typeface="Cambria Math" charset="0"/>
                              <a:ea typeface="Cambria Math" charset="0"/>
                              <a:cs typeface="Cambria Math" charset="0"/>
                            </a:rPr>
                            <m:t>𝑛</m:t>
                          </m:r>
                          <m:r>
                            <a:rPr lang="en-US" sz="2800" i="1">
                              <a:solidFill>
                                <a:schemeClr val="tx2"/>
                              </a:solidFill>
                              <a:latin typeface="Cambria Math" charset="0"/>
                              <a:ea typeface="Cambria Math" charset="0"/>
                              <a:cs typeface="Cambria Math" charset="0"/>
                            </a:rPr>
                            <m:t>×4</m:t>
                          </m:r>
                        </m:sup>
                      </m:sSup>
                    </m:oMath>
                  </m:oMathPara>
                </a14:m>
                <a:endParaRPr lang="en-US" sz="2800" dirty="0"/>
              </a:p>
            </p:txBody>
          </p:sp>
        </mc:Choice>
        <mc:Fallback xmlns="">
          <p:sp>
            <p:nvSpPr>
              <p:cNvPr id="4" name="Rectangle 3"/>
              <p:cNvSpPr>
                <a:spLocks noRot="1" noChangeAspect="1" noMove="1" noResize="1" noEditPoints="1" noAdjustHandles="1" noChangeArrowheads="1" noChangeShapeType="1" noTextEdit="1"/>
              </p:cNvSpPr>
              <p:nvPr/>
            </p:nvSpPr>
            <p:spPr>
              <a:xfrm>
                <a:off x="1424603" y="797105"/>
                <a:ext cx="6076087" cy="552267"/>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8610056" y="1632993"/>
                <a:ext cx="2924198" cy="3446969"/>
              </a:xfrm>
              <a:prstGeom prst="rect">
                <a:avLst/>
              </a:prstGeom>
              <a:noFill/>
            </p:spPr>
            <p:txBody>
              <a:bodyPr wrap="none" rtlCol="0">
                <a:spAutoFit/>
              </a:bodyPr>
              <a:lstStyle/>
              <a:p>
                <a:r>
                  <a:rPr lang="en-US" sz="2400" dirty="0" smtClean="0">
                    <a:solidFill>
                      <a:schemeClr val="tx2"/>
                    </a:solidFill>
                  </a:rPr>
                  <a:t>X is [n x 3]</a:t>
                </a:r>
              </a:p>
              <a:p>
                <a:r>
                  <a:rPr lang="en-US" sz="2400" dirty="0" smtClean="0">
                    <a:solidFill>
                      <a:schemeClr val="tx2"/>
                    </a:solidFill>
                  </a:rPr>
                  <a:t>(n data points)</a:t>
                </a:r>
              </a:p>
              <a:p>
                <a:endParaRPr lang="en-US" sz="2400" dirty="0">
                  <a:solidFill>
                    <a:schemeClr val="tx2"/>
                  </a:solidFill>
                </a:endParaRPr>
              </a:p>
              <a:p>
                <a14:m>
                  <m:oMath xmlns:m="http://schemas.openxmlformats.org/officeDocument/2006/math">
                    <m:sSup>
                      <m:sSupPr>
                        <m:ctrlPr>
                          <a:rPr lang="en-US" sz="2400" i="1">
                            <a:solidFill>
                              <a:schemeClr val="tx2"/>
                            </a:solidFill>
                            <a:latin typeface="Cambria Math" panose="02040503050406030204" pitchFamily="18" charset="0"/>
                          </a:rPr>
                        </m:ctrlPr>
                      </m:sSupPr>
                      <m:e>
                        <m:r>
                          <a:rPr lang="en-US" sz="2400" i="1">
                            <a:solidFill>
                              <a:schemeClr val="tx2"/>
                            </a:solidFill>
                            <a:latin typeface="Cambria Math" charset="0"/>
                          </a:rPr>
                          <m:t>𝑊</m:t>
                        </m:r>
                      </m:e>
                      <m:sup>
                        <m:r>
                          <a:rPr lang="en-US" sz="2400" i="1">
                            <a:solidFill>
                              <a:schemeClr val="tx2"/>
                            </a:solidFill>
                            <a:latin typeface="Cambria Math" charset="0"/>
                          </a:rPr>
                          <m:t>(1)</m:t>
                        </m:r>
                      </m:sup>
                    </m:sSup>
                    <m:r>
                      <a:rPr lang="en-US" sz="2400" i="1">
                        <a:solidFill>
                          <a:schemeClr val="tx2"/>
                        </a:solidFill>
                        <a:latin typeface="Cambria Math" charset="0"/>
                      </a:rPr>
                      <m:t> </m:t>
                    </m:r>
                  </m:oMath>
                </a14:m>
                <a:r>
                  <a:rPr lang="en-US" sz="2400" dirty="0" smtClean="0">
                    <a:solidFill>
                      <a:schemeClr val="tx2"/>
                    </a:solidFill>
                  </a:rPr>
                  <a:t>is [3 x 4]</a:t>
                </a:r>
              </a:p>
              <a:p>
                <a:endParaRPr lang="en-US" sz="2400" dirty="0">
                  <a:solidFill>
                    <a:schemeClr val="tx2"/>
                  </a:solidFill>
                </a:endParaRPr>
              </a:p>
              <a:p>
                <a14:m>
                  <m:oMath xmlns:m="http://schemas.openxmlformats.org/officeDocument/2006/math">
                    <m:sSup>
                      <m:sSupPr>
                        <m:ctrlPr>
                          <a:rPr lang="en-US" sz="2400" i="1" smtClean="0">
                            <a:solidFill>
                              <a:schemeClr val="tx2"/>
                            </a:solidFill>
                            <a:latin typeface="Cambria Math" panose="02040503050406030204" pitchFamily="18" charset="0"/>
                          </a:rPr>
                        </m:ctrlPr>
                      </m:sSupPr>
                      <m:e>
                        <m:r>
                          <a:rPr lang="en-US" sz="2400" i="1">
                            <a:solidFill>
                              <a:schemeClr val="tx2"/>
                            </a:solidFill>
                            <a:latin typeface="Cambria Math" charset="0"/>
                          </a:rPr>
                          <m:t>𝑊</m:t>
                        </m:r>
                      </m:e>
                      <m:sup>
                        <m:r>
                          <a:rPr lang="en-US" sz="2400" i="1">
                            <a:solidFill>
                              <a:schemeClr val="tx2"/>
                            </a:solidFill>
                            <a:latin typeface="Cambria Math" charset="0"/>
                          </a:rPr>
                          <m:t>(</m:t>
                        </m:r>
                        <m:r>
                          <a:rPr lang="en-US" sz="2400" b="0" i="1" smtClean="0">
                            <a:solidFill>
                              <a:schemeClr val="tx2"/>
                            </a:solidFill>
                            <a:latin typeface="Cambria Math" charset="0"/>
                          </a:rPr>
                          <m:t>2</m:t>
                        </m:r>
                        <m:r>
                          <a:rPr lang="en-US" sz="2400" i="1">
                            <a:solidFill>
                              <a:schemeClr val="tx2"/>
                            </a:solidFill>
                            <a:latin typeface="Cambria Math" charset="0"/>
                          </a:rPr>
                          <m:t>)</m:t>
                        </m:r>
                      </m:sup>
                    </m:sSup>
                  </m:oMath>
                </a14:m>
                <a:r>
                  <a:rPr lang="en-US" sz="2400" dirty="0" smtClean="0">
                    <a:solidFill>
                      <a:schemeClr val="tx2"/>
                    </a:solidFill>
                  </a:rPr>
                  <a:t> is [4 x 4]</a:t>
                </a:r>
              </a:p>
              <a:p>
                <a:endParaRPr lang="en-US" sz="2400" dirty="0">
                  <a:solidFill>
                    <a:schemeClr val="tx2"/>
                  </a:solidFill>
                </a:endParaRPr>
              </a:p>
              <a:p>
                <a:r>
                  <a:rPr lang="en-US" sz="2400" dirty="0" smtClean="0">
                    <a:solidFill>
                      <a:srgbClr val="FF0000"/>
                    </a:solidFill>
                  </a:rPr>
                  <a:t>Weights dictate</a:t>
                </a:r>
              </a:p>
              <a:p>
                <a:r>
                  <a:rPr lang="en-US" sz="2400" dirty="0">
                    <a:solidFill>
                      <a:srgbClr val="FF0000"/>
                    </a:solidFill>
                  </a:rPr>
                  <a:t>n</a:t>
                </a:r>
                <a:r>
                  <a:rPr lang="en-US" sz="2400" dirty="0" smtClean="0">
                    <a:solidFill>
                      <a:srgbClr val="FF0000"/>
                    </a:solidFill>
                  </a:rPr>
                  <a:t>umber of neurons!</a:t>
                </a:r>
              </a:p>
            </p:txBody>
          </p:sp>
        </mc:Choice>
        <mc:Fallback xmlns="">
          <p:sp>
            <p:nvSpPr>
              <p:cNvPr id="12" name="TextBox 11"/>
              <p:cNvSpPr txBox="1">
                <a:spLocks noRot="1" noChangeAspect="1" noMove="1" noResize="1" noEditPoints="1" noAdjustHandles="1" noChangeArrowheads="1" noChangeShapeType="1" noTextEdit="1"/>
              </p:cNvSpPr>
              <p:nvPr/>
            </p:nvSpPr>
            <p:spPr>
              <a:xfrm>
                <a:off x="8610056" y="1632993"/>
                <a:ext cx="2924198" cy="3446969"/>
              </a:xfrm>
              <a:prstGeom prst="rect">
                <a:avLst/>
              </a:prstGeom>
              <a:blipFill rotWithShape="0">
                <a:blip r:embed="rId3"/>
                <a:stretch>
                  <a:fillRect l="-3125" t="-1416" r="-2292" b="-3186"/>
                </a:stretch>
              </a:blipFill>
            </p:spPr>
            <p:txBody>
              <a:bodyPr/>
              <a:lstStyle/>
              <a:p>
                <a:r>
                  <a:rPr lang="en-US">
                    <a:noFill/>
                  </a:rPr>
                  <a:t> </a:t>
                </a:r>
              </a:p>
            </p:txBody>
          </p:sp>
        </mc:Fallback>
      </mc:AlternateContent>
      <p:sp>
        <p:nvSpPr>
          <p:cNvPr id="31" name="Rounded Rectangle 30"/>
          <p:cNvSpPr/>
          <p:nvPr/>
        </p:nvSpPr>
        <p:spPr>
          <a:xfrm>
            <a:off x="6670924" y="1745750"/>
            <a:ext cx="1102601" cy="4731249"/>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Oval 32"/>
              <p:cNvSpPr/>
              <p:nvPr/>
            </p:nvSpPr>
            <p:spPr>
              <a:xfrm>
                <a:off x="3675543" y="246399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33" name="Oval 32"/>
              <p:cNvSpPr>
                <a:spLocks noRot="1" noChangeAspect="1" noMove="1" noResize="1" noEditPoints="1" noAdjustHandles="1" noChangeArrowheads="1" noChangeShapeType="1" noTextEdit="1"/>
              </p:cNvSpPr>
              <p:nvPr/>
            </p:nvSpPr>
            <p:spPr>
              <a:xfrm>
                <a:off x="3675543" y="2463990"/>
                <a:ext cx="925221" cy="925221"/>
              </a:xfrm>
              <a:prstGeom prst="ellipse">
                <a:avLst/>
              </a:prstGeom>
              <a:blipFill rotWithShape="0">
                <a:blip r:embed="rId4"/>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val 33"/>
              <p:cNvSpPr/>
              <p:nvPr/>
            </p:nvSpPr>
            <p:spPr>
              <a:xfrm>
                <a:off x="3675543" y="3662279"/>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34" name="Oval 33"/>
              <p:cNvSpPr>
                <a:spLocks noRot="1" noChangeAspect="1" noMove="1" noResize="1" noEditPoints="1" noAdjustHandles="1" noChangeArrowheads="1" noChangeShapeType="1" noTextEdit="1"/>
              </p:cNvSpPr>
              <p:nvPr/>
            </p:nvSpPr>
            <p:spPr>
              <a:xfrm>
                <a:off x="3675543" y="3662279"/>
                <a:ext cx="925221" cy="925221"/>
              </a:xfrm>
              <a:prstGeom prst="ellipse">
                <a:avLst/>
              </a:prstGeom>
              <a:blipFill rotWithShape="0">
                <a:blip r:embed="rId5"/>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p:cNvSpPr/>
              <p:nvPr/>
            </p:nvSpPr>
            <p:spPr>
              <a:xfrm>
                <a:off x="3675543" y="4860568"/>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35" name="Oval 34"/>
              <p:cNvSpPr>
                <a:spLocks noRot="1" noChangeAspect="1" noMove="1" noResize="1" noEditPoints="1" noAdjustHandles="1" noChangeArrowheads="1" noChangeShapeType="1" noTextEdit="1"/>
              </p:cNvSpPr>
              <p:nvPr/>
            </p:nvSpPr>
            <p:spPr>
              <a:xfrm>
                <a:off x="3675543" y="4860568"/>
                <a:ext cx="925221" cy="925221"/>
              </a:xfrm>
              <a:prstGeom prst="ellipse">
                <a:avLst/>
              </a:prstGeom>
              <a:blipFill rotWithShape="0">
                <a:blip r:embed="rId6"/>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p:cNvSpPr/>
              <p:nvPr/>
            </p:nvSpPr>
            <p:spPr>
              <a:xfrm>
                <a:off x="5217578" y="5323179"/>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36" name="Oval 35"/>
              <p:cNvSpPr>
                <a:spLocks noRot="1" noChangeAspect="1" noMove="1" noResize="1" noEditPoints="1" noAdjustHandles="1" noChangeArrowheads="1" noChangeShapeType="1" noTextEdit="1"/>
              </p:cNvSpPr>
              <p:nvPr/>
            </p:nvSpPr>
            <p:spPr>
              <a:xfrm>
                <a:off x="5217578" y="5323179"/>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p:cNvSpPr/>
              <p:nvPr/>
            </p:nvSpPr>
            <p:spPr>
              <a:xfrm>
                <a:off x="5217578" y="418378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37" name="Oval 36"/>
              <p:cNvSpPr>
                <a:spLocks noRot="1" noChangeAspect="1" noMove="1" noResize="1" noEditPoints="1" noAdjustHandles="1" noChangeArrowheads="1" noChangeShapeType="1" noTextEdit="1"/>
              </p:cNvSpPr>
              <p:nvPr/>
            </p:nvSpPr>
            <p:spPr>
              <a:xfrm>
                <a:off x="5217578" y="4183784"/>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p:cNvSpPr/>
              <p:nvPr/>
            </p:nvSpPr>
            <p:spPr>
              <a:xfrm>
                <a:off x="5217578" y="304439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38" name="Oval 37"/>
              <p:cNvSpPr>
                <a:spLocks noRot="1" noChangeAspect="1" noMove="1" noResize="1" noEditPoints="1" noAdjustHandles="1" noChangeArrowheads="1" noChangeShapeType="1" noTextEdit="1"/>
              </p:cNvSpPr>
              <p:nvPr/>
            </p:nvSpPr>
            <p:spPr>
              <a:xfrm>
                <a:off x="5217578" y="3044392"/>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Oval 38"/>
              <p:cNvSpPr/>
              <p:nvPr/>
            </p:nvSpPr>
            <p:spPr>
              <a:xfrm>
                <a:off x="5217578" y="1905000"/>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39" name="Oval 38"/>
              <p:cNvSpPr>
                <a:spLocks noRot="1" noChangeAspect="1" noMove="1" noResize="1" noEditPoints="1" noAdjustHandles="1" noChangeArrowheads="1" noChangeShapeType="1" noTextEdit="1"/>
              </p:cNvSpPr>
              <p:nvPr/>
            </p:nvSpPr>
            <p:spPr>
              <a:xfrm>
                <a:off x="5217578" y="1905000"/>
                <a:ext cx="925221" cy="925221"/>
              </a:xfrm>
              <a:prstGeom prst="ellipse">
                <a:avLst/>
              </a:prstGeom>
              <a:blipFill rotWithShape="0">
                <a:blip r:embed="rId8"/>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val 39"/>
              <p:cNvSpPr/>
              <p:nvPr/>
            </p:nvSpPr>
            <p:spPr>
              <a:xfrm>
                <a:off x="6759614" y="5323179"/>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40" name="Oval 39"/>
              <p:cNvSpPr>
                <a:spLocks noRot="1" noChangeAspect="1" noMove="1" noResize="1" noEditPoints="1" noAdjustHandles="1" noChangeArrowheads="1" noChangeShapeType="1" noTextEdit="1"/>
              </p:cNvSpPr>
              <p:nvPr/>
            </p:nvSpPr>
            <p:spPr>
              <a:xfrm>
                <a:off x="6759614" y="5323179"/>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val 40"/>
              <p:cNvSpPr/>
              <p:nvPr/>
            </p:nvSpPr>
            <p:spPr>
              <a:xfrm>
                <a:off x="6759614" y="418378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41" name="Oval 40"/>
              <p:cNvSpPr>
                <a:spLocks noRot="1" noChangeAspect="1" noMove="1" noResize="1" noEditPoints="1" noAdjustHandles="1" noChangeArrowheads="1" noChangeShapeType="1" noTextEdit="1"/>
              </p:cNvSpPr>
              <p:nvPr/>
            </p:nvSpPr>
            <p:spPr>
              <a:xfrm>
                <a:off x="6759614" y="4183784"/>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val 41"/>
              <p:cNvSpPr/>
              <p:nvPr/>
            </p:nvSpPr>
            <p:spPr>
              <a:xfrm>
                <a:off x="6759614" y="304439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42" name="Oval 41"/>
              <p:cNvSpPr>
                <a:spLocks noRot="1" noChangeAspect="1" noMove="1" noResize="1" noEditPoints="1" noAdjustHandles="1" noChangeArrowheads="1" noChangeShapeType="1" noTextEdit="1"/>
              </p:cNvSpPr>
              <p:nvPr/>
            </p:nvSpPr>
            <p:spPr>
              <a:xfrm>
                <a:off x="6759614" y="3044392"/>
                <a:ext cx="925221" cy="925221"/>
              </a:xfrm>
              <a:prstGeom prst="ellipse">
                <a:avLst/>
              </a:prstGeom>
              <a:blipFill rotWithShape="0">
                <a:blip r:embed="rId7"/>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Oval 42"/>
              <p:cNvSpPr/>
              <p:nvPr/>
            </p:nvSpPr>
            <p:spPr>
              <a:xfrm>
                <a:off x="6759614" y="1905000"/>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43" name="Oval 42"/>
              <p:cNvSpPr>
                <a:spLocks noRot="1" noChangeAspect="1" noMove="1" noResize="1" noEditPoints="1" noAdjustHandles="1" noChangeArrowheads="1" noChangeShapeType="1" noTextEdit="1"/>
              </p:cNvSpPr>
              <p:nvPr/>
            </p:nvSpPr>
            <p:spPr>
              <a:xfrm>
                <a:off x="6759614" y="1905000"/>
                <a:ext cx="925221" cy="925221"/>
              </a:xfrm>
              <a:prstGeom prst="ellipse">
                <a:avLst/>
              </a:prstGeom>
              <a:blipFill rotWithShape="0">
                <a:blip r:embed="rId8"/>
                <a:stretch>
                  <a:fillRect t="-24837" b="-41176"/>
                </a:stretch>
              </a:blipFill>
            </p:spPr>
            <p:txBody>
              <a:bodyPr/>
              <a:lstStyle/>
              <a:p>
                <a:r>
                  <a:rPr lang="en-US">
                    <a:noFill/>
                  </a:rPr>
                  <a:t> </a:t>
                </a:r>
              </a:p>
            </p:txBody>
          </p:sp>
        </mc:Fallback>
      </mc:AlternateContent>
      <p:cxnSp>
        <p:nvCxnSpPr>
          <p:cNvPr id="47" name="Straight Arrow Connector 46"/>
          <p:cNvCxnSpPr/>
          <p:nvPr/>
        </p:nvCxnSpPr>
        <p:spPr>
          <a:xfrm flipV="1">
            <a:off x="4600764" y="2367611"/>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4600764" y="2926601"/>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4600764" y="2926601"/>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4600764" y="2926601"/>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V="1">
            <a:off x="4600764" y="2367611"/>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V="1">
            <a:off x="4600764" y="3507003"/>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4600764" y="4124890"/>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4600764" y="4124890"/>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4600764" y="2367611"/>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V="1">
            <a:off x="4600764" y="3507003"/>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4600764" y="4646395"/>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4600764" y="5323179"/>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6142800" y="236761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6142800" y="2367611"/>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6142800" y="2367611"/>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6142800" y="2367611"/>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flipV="1">
            <a:off x="6142800" y="2367611"/>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6142800" y="350700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6142800" y="350700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6142800" y="3507003"/>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V="1">
            <a:off x="6142800" y="2367611"/>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V="1">
            <a:off x="6142800" y="350700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6142800" y="464639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6142800" y="4646395"/>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V="1">
            <a:off x="6142800" y="2367611"/>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V="1">
            <a:off x="6142800" y="3507003"/>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V="1">
            <a:off x="6007305" y="4646395"/>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6142800" y="5785789"/>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a:off x="2785946" y="292660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2785946" y="4124890"/>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a:off x="2785946" y="5323179"/>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a:off x="7684835" y="235873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a:off x="7684835" y="3507002"/>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a:off x="7684835" y="4646394"/>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a:off x="7684835" y="5785789"/>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47211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Weight sizes, in general:</a:t>
            </a:r>
            <a:endParaRPr lang="en-US" dirty="0"/>
          </a:p>
        </p:txBody>
      </p:sp>
      <p:sp>
        <p:nvSpPr>
          <p:cNvPr id="4" name="TextBox 3"/>
          <p:cNvSpPr txBox="1"/>
          <p:nvPr/>
        </p:nvSpPr>
        <p:spPr>
          <a:xfrm>
            <a:off x="1709971" y="2133600"/>
            <a:ext cx="10129696" cy="1077218"/>
          </a:xfrm>
          <a:prstGeom prst="rect">
            <a:avLst/>
          </a:prstGeom>
          <a:noFill/>
        </p:spPr>
        <p:txBody>
          <a:bodyPr wrap="none" rtlCol="0">
            <a:spAutoFit/>
          </a:bodyPr>
          <a:lstStyle/>
          <a:p>
            <a:r>
              <a:rPr lang="en-US" sz="3200" dirty="0" smtClean="0">
                <a:latin typeface="Consolas" charset="0"/>
                <a:ea typeface="Consolas" charset="0"/>
                <a:cs typeface="Consolas" charset="0"/>
              </a:rPr>
              <a:t>W =&gt; [</a:t>
            </a:r>
            <a:r>
              <a:rPr lang="en-US" sz="3200" dirty="0" err="1" smtClean="0">
                <a:latin typeface="Consolas" charset="0"/>
                <a:ea typeface="Consolas" charset="0"/>
                <a:cs typeface="Consolas" charset="0"/>
              </a:rPr>
              <a:t>num_previous_neurons</a:t>
            </a:r>
            <a:r>
              <a:rPr lang="en-US" sz="3200" dirty="0" smtClean="0">
                <a:latin typeface="Consolas" charset="0"/>
                <a:ea typeface="Consolas" charset="0"/>
                <a:cs typeface="Consolas" charset="0"/>
              </a:rPr>
              <a:t>, </a:t>
            </a:r>
            <a:r>
              <a:rPr lang="en-US" sz="3200" dirty="0" err="1" smtClean="0">
                <a:latin typeface="Consolas" charset="0"/>
                <a:ea typeface="Consolas" charset="0"/>
                <a:cs typeface="Consolas" charset="0"/>
              </a:rPr>
              <a:t>num_new_neurons</a:t>
            </a:r>
            <a:r>
              <a:rPr lang="en-US" sz="3200" dirty="0" smtClean="0">
                <a:latin typeface="Consolas" charset="0"/>
                <a:ea typeface="Consolas" charset="0"/>
                <a:cs typeface="Consolas" charset="0"/>
              </a:rPr>
              <a:t>]</a:t>
            </a:r>
          </a:p>
          <a:p>
            <a:r>
              <a:rPr lang="en-US" sz="3200" dirty="0" smtClean="0">
                <a:latin typeface="Consolas" charset="0"/>
                <a:ea typeface="Consolas" charset="0"/>
                <a:cs typeface="Consolas" charset="0"/>
              </a:rPr>
              <a:t>  =&gt; [</a:t>
            </a:r>
            <a:r>
              <a:rPr lang="en-US" sz="3200" dirty="0" err="1" smtClean="0">
                <a:latin typeface="Consolas" charset="0"/>
                <a:ea typeface="Consolas" charset="0"/>
                <a:cs typeface="Consolas" charset="0"/>
              </a:rPr>
              <a:t>previous_size</a:t>
            </a:r>
            <a:r>
              <a:rPr lang="en-US" sz="3200" dirty="0" smtClean="0">
                <a:latin typeface="Consolas" charset="0"/>
                <a:ea typeface="Consolas" charset="0"/>
                <a:cs typeface="Consolas" charset="0"/>
              </a:rPr>
              <a:t>, </a:t>
            </a:r>
            <a:r>
              <a:rPr lang="en-US" sz="3200" dirty="0" err="1" smtClean="0">
                <a:latin typeface="Consolas" charset="0"/>
                <a:ea typeface="Consolas" charset="0"/>
                <a:cs typeface="Consolas" charset="0"/>
              </a:rPr>
              <a:t>current_size</a:t>
            </a:r>
            <a:r>
              <a:rPr lang="en-US" sz="3200" dirty="0" smtClean="0">
                <a:latin typeface="Consolas" charset="0"/>
                <a:ea typeface="Consolas" charset="0"/>
                <a:cs typeface="Consolas" charset="0"/>
              </a:rPr>
              <a:t>]</a:t>
            </a:r>
            <a:endParaRPr lang="en-US" sz="3200" dirty="0">
              <a:latin typeface="Consolas" charset="0"/>
              <a:ea typeface="Consolas" charset="0"/>
              <a:cs typeface="Consolas" charset="0"/>
            </a:endParaRPr>
          </a:p>
        </p:txBody>
      </p:sp>
      <p:sp>
        <p:nvSpPr>
          <p:cNvPr id="5" name="TextBox 4"/>
          <p:cNvSpPr txBox="1"/>
          <p:nvPr/>
        </p:nvSpPr>
        <p:spPr>
          <a:xfrm>
            <a:off x="1709971" y="3886200"/>
            <a:ext cx="5157181" cy="1569660"/>
          </a:xfrm>
          <a:prstGeom prst="rect">
            <a:avLst/>
          </a:prstGeom>
          <a:noFill/>
        </p:spPr>
        <p:txBody>
          <a:bodyPr wrap="none" rtlCol="0">
            <a:spAutoFit/>
          </a:bodyPr>
          <a:lstStyle/>
          <a:p>
            <a:r>
              <a:rPr lang="en-US" sz="3200" dirty="0" smtClean="0">
                <a:latin typeface="Consolas" charset="0"/>
                <a:ea typeface="Consolas" charset="0"/>
                <a:cs typeface="Consolas" charset="0"/>
              </a:rPr>
              <a:t>b =&gt; [</a:t>
            </a:r>
            <a:r>
              <a:rPr lang="en-US" sz="3200" dirty="0" err="1" smtClean="0">
                <a:latin typeface="Consolas" charset="0"/>
                <a:ea typeface="Consolas" charset="0"/>
                <a:cs typeface="Consolas" charset="0"/>
              </a:rPr>
              <a:t>num_new_neurons</a:t>
            </a:r>
            <a:r>
              <a:rPr lang="en-US" sz="3200" dirty="0" smtClean="0">
                <a:latin typeface="Consolas" charset="0"/>
                <a:ea typeface="Consolas" charset="0"/>
                <a:cs typeface="Consolas" charset="0"/>
              </a:rPr>
              <a:t>]</a:t>
            </a:r>
          </a:p>
          <a:p>
            <a:r>
              <a:rPr lang="en-US" sz="3200" dirty="0" smtClean="0">
                <a:latin typeface="Consolas" charset="0"/>
                <a:ea typeface="Consolas" charset="0"/>
                <a:cs typeface="Consolas" charset="0"/>
              </a:rPr>
              <a:t>  =&gt; [</a:t>
            </a:r>
            <a:r>
              <a:rPr lang="en-US" sz="3200" dirty="0" err="1" smtClean="0">
                <a:latin typeface="Consolas" charset="0"/>
                <a:ea typeface="Consolas" charset="0"/>
                <a:cs typeface="Consolas" charset="0"/>
              </a:rPr>
              <a:t>current_size</a:t>
            </a:r>
            <a:r>
              <a:rPr lang="en-US" sz="3200" dirty="0" smtClean="0">
                <a:latin typeface="Consolas" charset="0"/>
                <a:ea typeface="Consolas" charset="0"/>
                <a:cs typeface="Consolas" charset="0"/>
              </a:rPr>
              <a:t>]</a:t>
            </a:r>
            <a:endParaRPr lang="en-US" sz="3200" dirty="0">
              <a:latin typeface="Consolas" charset="0"/>
              <a:ea typeface="Consolas" charset="0"/>
              <a:cs typeface="Consolas" charset="0"/>
            </a:endParaRPr>
          </a:p>
          <a:p>
            <a:endParaRPr lang="en-US" sz="3200" dirty="0">
              <a:latin typeface="Consolas" charset="0"/>
              <a:ea typeface="Consolas" charset="0"/>
              <a:cs typeface="Consolas" charset="0"/>
            </a:endParaRPr>
          </a:p>
        </p:txBody>
      </p:sp>
    </p:spTree>
    <p:extLst>
      <p:ext uri="{BB962C8B-B14F-4D97-AF65-F5344CB8AC3E}">
        <p14:creationId xmlns:p14="http://schemas.microsoft.com/office/powerpoint/2010/main" val="18794051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2" y="1600201"/>
            <a:ext cx="9067799" cy="2654064"/>
          </a:xfrm>
        </p:spPr>
        <p:txBody>
          <a:bodyPr/>
          <a:lstStyle/>
          <a:p>
            <a:r>
              <a:rPr lang="en-US" dirty="0" smtClean="0"/>
              <a:t>A Feedforward </a:t>
            </a:r>
            <a:r>
              <a:rPr lang="en-US" dirty="0"/>
              <a:t>N</a:t>
            </a:r>
            <a:r>
              <a:rPr lang="en-US" dirty="0" smtClean="0"/>
              <a:t>etwork</a:t>
            </a:r>
            <a:endParaRPr lang="en-US" dirty="0"/>
          </a:p>
        </p:txBody>
      </p:sp>
    </p:spTree>
    <p:extLst>
      <p:ext uri="{BB962C8B-B14F-4D97-AF65-F5344CB8AC3E}">
        <p14:creationId xmlns:p14="http://schemas.microsoft.com/office/powerpoint/2010/main" val="14922803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Feedforward neural network</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9"/>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7" name="Rounded Rectangle 66"/>
          <p:cNvSpPr/>
          <p:nvPr/>
        </p:nvSpPr>
        <p:spPr>
          <a:xfrm>
            <a:off x="4474439" y="2133600"/>
            <a:ext cx="869464" cy="39624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69"/>
          <p:cNvSpPr/>
          <p:nvPr/>
        </p:nvSpPr>
        <p:spPr>
          <a:xfrm>
            <a:off x="6007305" y="2133600"/>
            <a:ext cx="869464" cy="39624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70"/>
          <p:cNvSpPr/>
          <p:nvPr/>
        </p:nvSpPr>
        <p:spPr>
          <a:xfrm>
            <a:off x="7587148" y="2133600"/>
            <a:ext cx="869464" cy="39624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22808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Weights</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9"/>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7" name="Rounded Rectangle 66"/>
          <p:cNvSpPr/>
          <p:nvPr/>
        </p:nvSpPr>
        <p:spPr>
          <a:xfrm>
            <a:off x="4474439" y="2133600"/>
            <a:ext cx="869464" cy="39624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69"/>
          <p:cNvSpPr/>
          <p:nvPr/>
        </p:nvSpPr>
        <p:spPr>
          <a:xfrm>
            <a:off x="6007305" y="2133600"/>
            <a:ext cx="869464" cy="39624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70"/>
          <p:cNvSpPr/>
          <p:nvPr/>
        </p:nvSpPr>
        <p:spPr>
          <a:xfrm>
            <a:off x="7587148" y="2133600"/>
            <a:ext cx="869464" cy="39624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3978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layer</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9"/>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7" name="Rounded Rectangle 66"/>
          <p:cNvSpPr/>
          <p:nvPr/>
        </p:nvSpPr>
        <p:spPr>
          <a:xfrm>
            <a:off x="3549217" y="2133600"/>
            <a:ext cx="1187041" cy="39624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98594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Hidden layers</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9"/>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7" name="Rounded Rectangle 66"/>
          <p:cNvSpPr/>
          <p:nvPr/>
        </p:nvSpPr>
        <p:spPr>
          <a:xfrm>
            <a:off x="5175049" y="1752600"/>
            <a:ext cx="996326" cy="46482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ounded Rectangle 71"/>
          <p:cNvSpPr/>
          <p:nvPr/>
        </p:nvSpPr>
        <p:spPr>
          <a:xfrm>
            <a:off x="6730547" y="1752600"/>
            <a:ext cx="996326" cy="46482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52162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 layer</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9"/>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7" name="Rounded Rectangle 66"/>
          <p:cNvSpPr/>
          <p:nvPr/>
        </p:nvSpPr>
        <p:spPr>
          <a:xfrm>
            <a:off x="8237998" y="2133600"/>
            <a:ext cx="1187041" cy="3962400"/>
          </a:xfrm>
          <a:prstGeom prst="roundRect">
            <a:avLst/>
          </a:prstGeom>
          <a:noFill/>
          <a:ln w="762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694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Annotations</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3"/>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4"/>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5"/>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9"/>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10"/>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62554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 numbers</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9"/>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Rectangle 2"/>
              <p:cNvSpPr/>
              <p:nvPr/>
            </p:nvSpPr>
            <p:spPr>
              <a:xfrm>
                <a:off x="3750034" y="6248400"/>
                <a:ext cx="776238"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𝑙</m:t>
                          </m:r>
                        </m:e>
                        <m:sup>
                          <m:r>
                            <a:rPr lang="en-US" sz="2400" b="0" i="1" smtClean="0">
                              <a:solidFill>
                                <a:srgbClr val="FF0000"/>
                              </a:solidFill>
                              <a:latin typeface="Cambria Math" charset="0"/>
                            </a:rPr>
                            <m:t>(1)</m:t>
                          </m:r>
                        </m:sup>
                      </m:sSup>
                    </m:oMath>
                  </m:oMathPara>
                </a14:m>
                <a:endParaRPr lang="en-US" dirty="0">
                  <a:solidFill>
                    <a:srgbClr val="FF000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750034" y="6248400"/>
                <a:ext cx="776238" cy="47699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5333321" y="6248400"/>
                <a:ext cx="776238"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𝑙</m:t>
                          </m:r>
                        </m:e>
                        <m:sup>
                          <m:r>
                            <a:rPr lang="en-US" sz="2400" b="0" i="1" smtClean="0">
                              <a:solidFill>
                                <a:srgbClr val="FF0000"/>
                              </a:solidFill>
                              <a:latin typeface="Cambria Math" charset="0"/>
                            </a:rPr>
                            <m:t>(2)</m:t>
                          </m:r>
                        </m:sup>
                      </m:sSup>
                    </m:oMath>
                  </m:oMathPara>
                </a14:m>
                <a:endParaRPr lang="en-US" dirty="0">
                  <a:solidFill>
                    <a:srgbClr val="FF0000"/>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5333321" y="6248400"/>
                <a:ext cx="776238" cy="47699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p:cNvSpPr/>
              <p:nvPr/>
            </p:nvSpPr>
            <p:spPr>
              <a:xfrm>
                <a:off x="6947322" y="6248400"/>
                <a:ext cx="776238"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𝑙</m:t>
                          </m:r>
                        </m:e>
                        <m:sup>
                          <m:r>
                            <a:rPr lang="en-US" sz="2400" b="0" i="1" smtClean="0">
                              <a:solidFill>
                                <a:srgbClr val="FF0000"/>
                              </a:solidFill>
                              <a:latin typeface="Cambria Math" charset="0"/>
                            </a:rPr>
                            <m:t>(3)</m:t>
                          </m:r>
                        </m:sup>
                      </m:sSup>
                    </m:oMath>
                  </m:oMathPara>
                </a14:m>
                <a:endParaRPr lang="en-US" dirty="0">
                  <a:solidFill>
                    <a:srgbClr val="FF0000"/>
                  </a:solidFill>
                </a:endParaRPr>
              </a:p>
            </p:txBody>
          </p:sp>
        </mc:Choice>
        <mc:Fallback xmlns="">
          <p:sp>
            <p:nvSpPr>
              <p:cNvPr id="66" name="Rectangle 65"/>
              <p:cNvSpPr>
                <a:spLocks noRot="1" noChangeAspect="1" noMove="1" noResize="1" noEditPoints="1" noAdjustHandles="1" noChangeArrowheads="1" noChangeShapeType="1" noTextEdit="1"/>
              </p:cNvSpPr>
              <p:nvPr/>
            </p:nvSpPr>
            <p:spPr>
              <a:xfrm>
                <a:off x="6947322" y="6248400"/>
                <a:ext cx="776238" cy="47699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p:cNvSpPr/>
              <p:nvPr/>
            </p:nvSpPr>
            <p:spPr>
              <a:xfrm>
                <a:off x="8533888" y="6248400"/>
                <a:ext cx="776238"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𝑙</m:t>
                          </m:r>
                        </m:e>
                        <m:sup>
                          <m:r>
                            <a:rPr lang="en-US" sz="2400" b="0" i="1" smtClean="0">
                              <a:solidFill>
                                <a:srgbClr val="FF0000"/>
                              </a:solidFill>
                              <a:latin typeface="Cambria Math" charset="0"/>
                            </a:rPr>
                            <m:t>(4)</m:t>
                          </m:r>
                        </m:sup>
                      </m:sSup>
                    </m:oMath>
                  </m:oMathPara>
                </a14:m>
                <a:endParaRPr lang="en-US" dirty="0">
                  <a:solidFill>
                    <a:srgbClr val="FF0000"/>
                  </a:solidFill>
                </a:endParaRPr>
              </a:p>
            </p:txBody>
          </p:sp>
        </mc:Choice>
        <mc:Fallback xmlns="">
          <p:sp>
            <p:nvSpPr>
              <p:cNvPr id="67" name="Rectangle 66"/>
              <p:cNvSpPr>
                <a:spLocks noRot="1" noChangeAspect="1" noMove="1" noResize="1" noEditPoints="1" noAdjustHandles="1" noChangeArrowheads="1" noChangeShapeType="1" noTextEdit="1"/>
              </p:cNvSpPr>
              <p:nvPr/>
            </p:nvSpPr>
            <p:spPr>
              <a:xfrm>
                <a:off x="8533888" y="6248400"/>
                <a:ext cx="776238" cy="476990"/>
              </a:xfrm>
              <a:prstGeom prst="rect">
                <a:avLst/>
              </a:prstGeom>
              <a:blipFill rotWithShape="0">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14749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Activations</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9"/>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Rectangle 2"/>
              <p:cNvSpPr/>
              <p:nvPr/>
            </p:nvSpPr>
            <p:spPr>
              <a:xfrm>
                <a:off x="3750034" y="1952427"/>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𝑎</m:t>
                          </m:r>
                        </m:e>
                        <m:sup>
                          <m:r>
                            <a:rPr lang="en-US" sz="2400" b="0" i="1" smtClean="0">
                              <a:solidFill>
                                <a:srgbClr val="FF0000"/>
                              </a:solidFill>
                              <a:latin typeface="Cambria Math" charset="0"/>
                            </a:rPr>
                            <m:t>(1)</m:t>
                          </m:r>
                        </m:sup>
                      </m:sSup>
                    </m:oMath>
                  </m:oMathPara>
                </a14:m>
                <a:endParaRPr lang="en-US" dirty="0">
                  <a:solidFill>
                    <a:srgbClr val="FF000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750034" y="1952427"/>
                <a:ext cx="847732" cy="47699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5333321" y="1410447"/>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𝑎</m:t>
                          </m:r>
                        </m:e>
                        <m:sup>
                          <m:r>
                            <a:rPr lang="en-US" sz="2400" b="0" i="1" smtClean="0">
                              <a:solidFill>
                                <a:srgbClr val="FF0000"/>
                              </a:solidFill>
                              <a:latin typeface="Cambria Math" charset="0"/>
                            </a:rPr>
                            <m:t>(2)</m:t>
                          </m:r>
                        </m:sup>
                      </m:sSup>
                    </m:oMath>
                  </m:oMathPara>
                </a14:m>
                <a:endParaRPr lang="en-US" dirty="0">
                  <a:solidFill>
                    <a:srgbClr val="FF0000"/>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5333321" y="1410447"/>
                <a:ext cx="847732" cy="47699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837103" y="1410447"/>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𝑎</m:t>
                          </m:r>
                        </m:e>
                        <m:sup>
                          <m:r>
                            <a:rPr lang="en-US" sz="2400" b="0" i="1" smtClean="0">
                              <a:solidFill>
                                <a:srgbClr val="FF0000"/>
                              </a:solidFill>
                              <a:latin typeface="Cambria Math" charset="0"/>
                            </a:rPr>
                            <m:t>(3)</m:t>
                          </m:r>
                        </m:sup>
                      </m:sSup>
                    </m:oMath>
                  </m:oMathPara>
                </a14:m>
                <a:endParaRPr lang="en-US" dirty="0">
                  <a:solidFill>
                    <a:srgbClr val="FF0000"/>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837103" y="1410447"/>
                <a:ext cx="847733" cy="47699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8463924" y="1952427"/>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𝑎</m:t>
                          </m:r>
                        </m:e>
                        <m:sup>
                          <m:r>
                            <a:rPr lang="en-US" sz="2400" b="0" i="1" smtClean="0">
                              <a:solidFill>
                                <a:srgbClr val="FF0000"/>
                              </a:solidFill>
                              <a:latin typeface="Cambria Math" charset="0"/>
                            </a:rPr>
                            <m:t>(4)</m:t>
                          </m:r>
                        </m:sup>
                      </m:sSup>
                    </m:oMath>
                  </m:oMathPara>
                </a14:m>
                <a:endParaRPr lang="en-US" dirty="0">
                  <a:solidFill>
                    <a:srgbClr val="FF0000"/>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8463924" y="1952427"/>
                <a:ext cx="847733" cy="476990"/>
              </a:xfrm>
              <a:prstGeom prst="rect">
                <a:avLst/>
              </a:prstGeom>
              <a:blipFill rotWithShape="0">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502271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Weights</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9"/>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Rectangle 2"/>
              <p:cNvSpPr/>
              <p:nvPr/>
            </p:nvSpPr>
            <p:spPr>
              <a:xfrm>
                <a:off x="4438489" y="1952427"/>
                <a:ext cx="91512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𝑤</m:t>
                          </m:r>
                        </m:e>
                        <m:sup>
                          <m:r>
                            <a:rPr lang="en-US" sz="2400" b="0" i="1" smtClean="0">
                              <a:solidFill>
                                <a:srgbClr val="FF0000"/>
                              </a:solidFill>
                              <a:latin typeface="Cambria Math" charset="0"/>
                            </a:rPr>
                            <m:t>(1)</m:t>
                          </m:r>
                        </m:sup>
                      </m:sSup>
                    </m:oMath>
                  </m:oMathPara>
                </a14:m>
                <a:endParaRPr lang="en-US" dirty="0">
                  <a:solidFill>
                    <a:srgbClr val="FF000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4438489" y="1952427"/>
                <a:ext cx="915122" cy="47699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p:cNvSpPr/>
              <p:nvPr/>
            </p:nvSpPr>
            <p:spPr>
              <a:xfrm>
                <a:off x="6075541" y="1952427"/>
                <a:ext cx="91512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𝑤</m:t>
                          </m:r>
                        </m:e>
                        <m:sup>
                          <m:r>
                            <a:rPr lang="en-US" sz="2400" b="0" i="1" smtClean="0">
                              <a:solidFill>
                                <a:srgbClr val="FF0000"/>
                              </a:solidFill>
                              <a:latin typeface="Cambria Math" charset="0"/>
                            </a:rPr>
                            <m:t>(2)</m:t>
                          </m:r>
                        </m:sup>
                      </m:sSup>
                    </m:oMath>
                  </m:oMathPara>
                </a14:m>
                <a:endParaRPr lang="en-US" dirty="0">
                  <a:solidFill>
                    <a:srgbClr val="FF0000"/>
                  </a:solidFill>
                </a:endParaRPr>
              </a:p>
            </p:txBody>
          </p:sp>
        </mc:Choice>
        <mc:Fallback xmlns="">
          <p:sp>
            <p:nvSpPr>
              <p:cNvPr id="70" name="Rectangle 69"/>
              <p:cNvSpPr>
                <a:spLocks noRot="1" noChangeAspect="1" noMove="1" noResize="1" noEditPoints="1" noAdjustHandles="1" noChangeArrowheads="1" noChangeShapeType="1" noTextEdit="1"/>
              </p:cNvSpPr>
              <p:nvPr/>
            </p:nvSpPr>
            <p:spPr>
              <a:xfrm>
                <a:off x="6075541" y="1952427"/>
                <a:ext cx="915122" cy="47699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p:cNvSpPr/>
              <p:nvPr/>
            </p:nvSpPr>
            <p:spPr>
              <a:xfrm>
                <a:off x="7684835" y="1952427"/>
                <a:ext cx="91512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𝑤</m:t>
                          </m:r>
                        </m:e>
                        <m:sup>
                          <m:r>
                            <a:rPr lang="en-US" sz="2400" b="0" i="1" smtClean="0">
                              <a:solidFill>
                                <a:srgbClr val="FF0000"/>
                              </a:solidFill>
                              <a:latin typeface="Cambria Math" charset="0"/>
                            </a:rPr>
                            <m:t>(3)</m:t>
                          </m:r>
                        </m:sup>
                      </m:sSup>
                    </m:oMath>
                  </m:oMathPara>
                </a14:m>
                <a:endParaRPr lang="en-US" dirty="0">
                  <a:solidFill>
                    <a:srgbClr val="FF0000"/>
                  </a:solidFill>
                </a:endParaRPr>
              </a:p>
            </p:txBody>
          </p:sp>
        </mc:Choice>
        <mc:Fallback xmlns="">
          <p:sp>
            <p:nvSpPr>
              <p:cNvPr id="71" name="Rectangle 70"/>
              <p:cNvSpPr>
                <a:spLocks noRot="1" noChangeAspect="1" noMove="1" noResize="1" noEditPoints="1" noAdjustHandles="1" noChangeArrowheads="1" noChangeShapeType="1" noTextEdit="1"/>
              </p:cNvSpPr>
              <p:nvPr/>
            </p:nvSpPr>
            <p:spPr>
              <a:xfrm>
                <a:off x="7684835" y="1952427"/>
                <a:ext cx="915122" cy="476990"/>
              </a:xfrm>
              <a:prstGeom prst="rect">
                <a:avLst/>
              </a:prstGeom>
              <a:blipFill rotWithShape="0">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40433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 inputs</a:t>
            </a:r>
            <a:endParaRPr lang="en-US" dirty="0"/>
          </a:p>
        </p:txBody>
      </p:sp>
      <p:grpSp>
        <p:nvGrpSpPr>
          <p:cNvPr id="4" name="Group 3"/>
          <p:cNvGrpSpPr/>
          <p:nvPr/>
        </p:nvGrpSpPr>
        <p:grpSpPr>
          <a:xfrm>
            <a:off x="2785946" y="1905000"/>
            <a:ext cx="7397780" cy="4343400"/>
            <a:chOff x="3292616" y="4559300"/>
            <a:chExt cx="3655628" cy="2146300"/>
          </a:xfrm>
        </p:grpSpPr>
        <mc:AlternateContent xmlns:mc="http://schemas.openxmlformats.org/markup-compatibility/2006" xmlns:a14="http://schemas.microsoft.com/office/drawing/2010/main">
          <mc:Choice Requires="a14">
            <p:sp>
              <p:nvSpPr>
                <p:cNvPr id="5" name="Oval 4"/>
                <p:cNvSpPr/>
                <p:nvPr/>
              </p:nvSpPr>
              <p:spPr>
                <a:xfrm>
                  <a:off x="3732212" y="4835526"/>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732212" y="4835526"/>
                  <a:ext cx="457200" cy="457200"/>
                </a:xfrm>
                <a:prstGeom prst="ellipse">
                  <a:avLst/>
                </a:prstGeom>
                <a:blipFill rotWithShape="0">
                  <a:blip r:embed="rId2"/>
                  <a:stretch>
                    <a:fillRect l="-129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732212" y="5427663"/>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732212" y="5427663"/>
                  <a:ext cx="457200" cy="457200"/>
                </a:xfrm>
                <a:prstGeom prst="ellipse">
                  <a:avLst/>
                </a:prstGeom>
                <a:blipFill rotWithShape="0">
                  <a:blip r:embed="rId3"/>
                  <a:stretch>
                    <a:fillRect l="-519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732212" y="6019800"/>
                  <a:ext cx="457200" cy="457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732212" y="6019800"/>
                  <a:ext cx="457200" cy="457200"/>
                </a:xfrm>
                <a:prstGeom prst="ellipse">
                  <a:avLst/>
                </a:prstGeom>
                <a:blipFill rotWithShape="0">
                  <a:blip r:embed="rId4"/>
                  <a:stretch>
                    <a:fillRect l="-5195"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4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494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494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494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494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494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494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494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6212" y="62484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5256212" y="6248400"/>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5256212" y="5685366"/>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5256212" y="5685366"/>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5256212" y="5122333"/>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5256212" y="5122333"/>
                  <a:ext cx="457200" cy="457200"/>
                </a:xfrm>
                <a:prstGeom prst="ellipse">
                  <a:avLst/>
                </a:prstGeom>
                <a:blipFill rotWithShape="0">
                  <a:blip r:embed="rId5"/>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6212" y="4559300"/>
                  <a:ext cx="457200" cy="457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5256212" y="4559300"/>
                  <a:ext cx="457200" cy="457200"/>
                </a:xfrm>
                <a:prstGeom prst="ellipse">
                  <a:avLst/>
                </a:prstGeom>
                <a:blipFill rotWithShape="0">
                  <a:blip r:embed="rId6"/>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6051448" y="4835526"/>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6051448" y="4835526"/>
                  <a:ext cx="457200" cy="457200"/>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6051448" y="5427663"/>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6051448" y="5427663"/>
                  <a:ext cx="457200" cy="457200"/>
                </a:xfrm>
                <a:prstGeom prst="ellipse">
                  <a:avLst/>
                </a:prstGeom>
                <a:blipFill rotWithShape="0">
                  <a:blip r:embed="rId8"/>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6051448" y="6019800"/>
                  <a:ext cx="457200" cy="457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051448" y="6019800"/>
                  <a:ext cx="457200" cy="457200"/>
                </a:xfrm>
                <a:prstGeom prst="ellipse">
                  <a:avLst/>
                </a:prstGeom>
                <a:blipFill rotWithShape="0">
                  <a:blip r:embed="rId9"/>
                  <a:stretch>
                    <a:fillRect t="-12338" b="-26623"/>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189412" y="4787900"/>
              <a:ext cx="304800"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189412" y="5064126"/>
              <a:ext cx="304800"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189412" y="5064126"/>
              <a:ext cx="304800"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189412" y="5064126"/>
              <a:ext cx="304800"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189412" y="4787900"/>
              <a:ext cx="304800"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189412" y="5350933"/>
              <a:ext cx="304800"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189412" y="5656263"/>
              <a:ext cx="304800"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189412" y="5656263"/>
              <a:ext cx="304800"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189412" y="4787900"/>
              <a:ext cx="304800"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189412" y="5350933"/>
              <a:ext cx="304800"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189412" y="5913966"/>
              <a:ext cx="304800"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189412" y="62484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4951412" y="47879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4951412" y="4787900"/>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4951412" y="5350933"/>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4951412" y="4787900"/>
              <a:ext cx="304800" cy="1126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4951412" y="5350933"/>
              <a:ext cx="304800" cy="56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4951412" y="5913966"/>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4951412" y="5913966"/>
              <a:ext cx="304800" cy="56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4951412" y="4787900"/>
              <a:ext cx="304800" cy="1689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4951412" y="5350933"/>
              <a:ext cx="304800" cy="1126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4884457" y="5913966"/>
              <a:ext cx="371755" cy="401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4951412" y="647700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5713412" y="4787900"/>
              <a:ext cx="338036" cy="276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5713412" y="4787900"/>
              <a:ext cx="338036" cy="868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5713412" y="4787900"/>
              <a:ext cx="338036" cy="146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5713412" y="5064126"/>
              <a:ext cx="338036" cy="28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5713412" y="5350933"/>
              <a:ext cx="338036" cy="305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5713412" y="5350933"/>
              <a:ext cx="338036" cy="897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5713412" y="5913966"/>
              <a:ext cx="338036" cy="33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5713412" y="5064126"/>
              <a:ext cx="338036" cy="849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5713412" y="5656263"/>
              <a:ext cx="338036" cy="25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5713412" y="5064126"/>
              <a:ext cx="338036" cy="14128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5713412" y="5656263"/>
              <a:ext cx="338036" cy="820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5713412" y="6248400"/>
              <a:ext cx="338036"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6508648"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6508648"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6508648"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3292616" y="5064126"/>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3292616" y="5656263"/>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3292616" y="6248400"/>
              <a:ext cx="4395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 name="Rectangle 2"/>
              <p:cNvSpPr/>
              <p:nvPr/>
            </p:nvSpPr>
            <p:spPr>
              <a:xfrm>
                <a:off x="4813333" y="1586312"/>
                <a:ext cx="83279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𝑧</m:t>
                          </m:r>
                        </m:e>
                        <m:sup>
                          <m:r>
                            <a:rPr lang="en-US" sz="2400" b="0" i="1" smtClean="0">
                              <a:solidFill>
                                <a:srgbClr val="FF0000"/>
                              </a:solidFill>
                              <a:latin typeface="Cambria Math" charset="0"/>
                            </a:rPr>
                            <m:t>(2)</m:t>
                          </m:r>
                        </m:sup>
                      </m:sSup>
                    </m:oMath>
                  </m:oMathPara>
                </a14:m>
                <a:endParaRPr lang="en-US" dirty="0">
                  <a:solidFill>
                    <a:srgbClr val="FF000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4813333" y="1586312"/>
                <a:ext cx="832792" cy="47699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Rectangle 129"/>
              <p:cNvSpPr/>
              <p:nvPr/>
            </p:nvSpPr>
            <p:spPr>
              <a:xfrm>
                <a:off x="6551612" y="1524000"/>
                <a:ext cx="83279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𝑧</m:t>
                          </m:r>
                        </m:e>
                        <m:sup>
                          <m:r>
                            <a:rPr lang="en-US" sz="2400" b="0" i="1" smtClean="0">
                              <a:solidFill>
                                <a:srgbClr val="FF0000"/>
                              </a:solidFill>
                              <a:latin typeface="Cambria Math" charset="0"/>
                            </a:rPr>
                            <m:t>(3)</m:t>
                          </m:r>
                        </m:sup>
                      </m:sSup>
                    </m:oMath>
                  </m:oMathPara>
                </a14:m>
                <a:endParaRPr lang="en-US" dirty="0">
                  <a:solidFill>
                    <a:srgbClr val="FF0000"/>
                  </a:solidFill>
                </a:endParaRPr>
              </a:p>
            </p:txBody>
          </p:sp>
        </mc:Choice>
        <mc:Fallback xmlns="">
          <p:sp>
            <p:nvSpPr>
              <p:cNvPr id="130" name="Rectangle 129"/>
              <p:cNvSpPr>
                <a:spLocks noRot="1" noChangeAspect="1" noMove="1" noResize="1" noEditPoints="1" noAdjustHandles="1" noChangeArrowheads="1" noChangeShapeType="1" noTextEdit="1"/>
              </p:cNvSpPr>
              <p:nvPr/>
            </p:nvSpPr>
            <p:spPr>
              <a:xfrm>
                <a:off x="6551612" y="1524000"/>
                <a:ext cx="832792" cy="47699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2" name="Rectangle 131"/>
              <p:cNvSpPr/>
              <p:nvPr/>
            </p:nvSpPr>
            <p:spPr>
              <a:xfrm>
                <a:off x="8151812" y="2042544"/>
                <a:ext cx="83279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𝑧</m:t>
                          </m:r>
                        </m:e>
                        <m:sup>
                          <m:r>
                            <a:rPr lang="en-US" sz="2400" b="0" i="1" smtClean="0">
                              <a:solidFill>
                                <a:srgbClr val="FF0000"/>
                              </a:solidFill>
                              <a:latin typeface="Cambria Math" charset="0"/>
                            </a:rPr>
                            <m:t>(4)</m:t>
                          </m:r>
                        </m:sup>
                      </m:sSup>
                    </m:oMath>
                  </m:oMathPara>
                </a14:m>
                <a:endParaRPr lang="en-US" dirty="0">
                  <a:solidFill>
                    <a:srgbClr val="FF0000"/>
                  </a:solidFill>
                </a:endParaRPr>
              </a:p>
            </p:txBody>
          </p:sp>
        </mc:Choice>
        <mc:Fallback xmlns="">
          <p:sp>
            <p:nvSpPr>
              <p:cNvPr id="132" name="Rectangle 131"/>
              <p:cNvSpPr>
                <a:spLocks noRot="1" noChangeAspect="1" noMove="1" noResize="1" noEditPoints="1" noAdjustHandles="1" noChangeArrowheads="1" noChangeShapeType="1" noTextEdit="1"/>
              </p:cNvSpPr>
              <p:nvPr/>
            </p:nvSpPr>
            <p:spPr>
              <a:xfrm>
                <a:off x="8151812" y="2042544"/>
                <a:ext cx="832792" cy="476990"/>
              </a:xfrm>
              <a:prstGeom prst="rect">
                <a:avLst/>
              </a:prstGeom>
              <a:blipFill rotWithShape="0">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33822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IS_PPT Template_ClearPro_16x9_051915">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S_External_Template_ClearPro_16x9.potx [Read-Only]" id="{6AFB86A7-0267-4CB1-9FC3-652CFE2BAB26}" vid="{5D3D9D23-DC57-4FBF-B0A2-198F4179BAD5}"/>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IS_External_Template_ClearPro_16x9</Template>
  <TotalTime>0</TotalTime>
  <Words>2515</Words>
  <Application>Microsoft Office PowerPoint</Application>
  <PresentationFormat>Custom</PresentationFormat>
  <Paragraphs>789</Paragraphs>
  <Slides>85</Slides>
  <Notes>30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85</vt:i4>
      </vt:variant>
    </vt:vector>
  </HeadingPairs>
  <TitlesOfParts>
    <vt:vector size="96" baseType="lpstr">
      <vt:lpstr>Arial</vt:lpstr>
      <vt:lpstr>Cambria Math</vt:lpstr>
      <vt:lpstr>Consolas</vt:lpstr>
      <vt:lpstr>Euphemia</vt:lpstr>
      <vt:lpstr>Intel Clear</vt:lpstr>
      <vt:lpstr>Intel Clear Light</vt:lpstr>
      <vt:lpstr>Intel Clear Pro</vt:lpstr>
      <vt:lpstr>Lucida Grande</vt:lpstr>
      <vt:lpstr>Neo Sans Intel</vt:lpstr>
      <vt:lpstr>Wingdings</vt:lpstr>
      <vt:lpstr>IS_PPT Template_ClearPro_16x9_051915</vt:lpstr>
      <vt:lpstr>Introduction to Neural Networks</vt:lpstr>
      <vt:lpstr>Legal Notices and Disclaimers</vt:lpstr>
      <vt:lpstr>Input Normalization</vt:lpstr>
      <vt:lpstr>Normalization and rescaling of inputs</vt:lpstr>
      <vt:lpstr>Shifting and rescaling</vt:lpstr>
      <vt:lpstr>Normalizing</vt:lpstr>
      <vt:lpstr>Overhead view of cost curve</vt:lpstr>
      <vt:lpstr>Regularization</vt:lpstr>
      <vt:lpstr>Regularization</vt:lpstr>
      <vt:lpstr>L2 Regularization</vt:lpstr>
      <vt:lpstr>Scatter Plot</vt:lpstr>
      <vt:lpstr>Overfitting</vt:lpstr>
      <vt:lpstr>Possible model after regularization</vt:lpstr>
      <vt:lpstr>Too much regularization!</vt:lpstr>
      <vt:lpstr>Different types of regularization</vt:lpstr>
      <vt:lpstr>Neural Networks</vt:lpstr>
      <vt:lpstr>Basic Idea</vt:lpstr>
      <vt:lpstr>The basic “neuron” visualization</vt:lpstr>
      <vt:lpstr>Reads roughly the same as a TensorFlow graph</vt:lpstr>
      <vt:lpstr>Reads roughly the same as a TensorFlow graph</vt:lpstr>
      <vt:lpstr>Reads roughly the same as a TensorFlow graph</vt:lpstr>
      <vt:lpstr>Reads roughly the same as a TensorFlow graph</vt:lpstr>
      <vt:lpstr>Mathematical Description of a Neuron</vt:lpstr>
      <vt:lpstr>Mathematical Description of a Neuron</vt:lpstr>
      <vt:lpstr>Mathematical Description of a Neuron</vt:lpstr>
      <vt:lpstr>Mathematical Description of a Neuron</vt:lpstr>
      <vt:lpstr>Inside a single neuron (TensorFlow graph)</vt:lpstr>
      <vt:lpstr>Inside a single neuron (TensorFlow graph)</vt:lpstr>
      <vt:lpstr>Inside a single neuron (TensorFlow graph)</vt:lpstr>
      <vt:lpstr>Inside a single neuron (TensorFlow graph)</vt:lpstr>
      <vt:lpstr>Inside a single neuron (TensorFlow graph)</vt:lpstr>
      <vt:lpstr>Inside a single neuron (TensorFlow graph)</vt:lpstr>
      <vt:lpstr>Inside a single neuron (TensorFlow graph)</vt:lpstr>
      <vt:lpstr>Batched version</vt:lpstr>
      <vt:lpstr>Batched version</vt:lpstr>
      <vt:lpstr>Batched version</vt:lpstr>
      <vt:lpstr>Batched version</vt:lpstr>
      <vt:lpstr>A classical visualization of neurons</vt:lpstr>
      <vt:lpstr>A classical visualization of neurons</vt:lpstr>
      <vt:lpstr>A classical visualization of neurons</vt:lpstr>
      <vt:lpstr>Where are the weights?</vt:lpstr>
      <vt:lpstr>Where are the weights?</vt:lpstr>
      <vt:lpstr>Where is the net value (z)?</vt:lpstr>
      <vt:lpstr>To keep visual noise down, we’ll use this notation for now</vt:lpstr>
      <vt:lpstr>Our first activation function</vt:lpstr>
      <vt:lpstr>Basic idea</vt:lpstr>
      <vt:lpstr>Sigmoid (logistic)</vt:lpstr>
      <vt:lpstr>Sigmoid (logistic)</vt:lpstr>
      <vt:lpstr>Easy derivative?</vt:lpstr>
      <vt:lpstr>We can plug in the sigmoid as our activation function</vt:lpstr>
      <vt:lpstr>Depending on the inputs and weights, the neuron will output a value between (0, 1)</vt:lpstr>
      <vt:lpstr>As an example, assume that x_1 outputs 0.5, and x_2 outputs 1.0</vt:lpstr>
      <vt:lpstr>Recall that the bias neuron always outputs 1.0</vt:lpstr>
      <vt:lpstr>We can now indicate the weights on the connecting edges</vt:lpstr>
      <vt:lpstr>When training, we adjust the weights parameters to create outputs that better fit the data</vt:lpstr>
      <vt:lpstr>With these values, we end up with net z=-10</vt:lpstr>
      <vt:lpstr>We then plug z into the sigmoid function to get our output</vt:lpstr>
      <vt:lpstr>The output can then be passed onto another neuron, with a weight associated with that connection</vt:lpstr>
      <vt:lpstr>Inputs don’t need to be limited to passing data into a single neuron. They can pass data to as many as we like.</vt:lpstr>
      <vt:lpstr>Layers of Neurons</vt:lpstr>
      <vt:lpstr>Neural Layers</vt:lpstr>
      <vt:lpstr>A single neural layer</vt:lpstr>
      <vt:lpstr>A single neural layer</vt:lpstr>
      <vt:lpstr>What does a layer of neurons look like in TF?</vt:lpstr>
      <vt:lpstr>Weights: now a matrix (instead of vector)</vt:lpstr>
      <vt:lpstr>Bias is now a vector (instead of a scalar)</vt:lpstr>
      <vt:lpstr>Z is a matrix</vt:lpstr>
      <vt:lpstr>Activation is a matrix</vt:lpstr>
      <vt:lpstr>Matrix multiplication as layer transforms</vt:lpstr>
      <vt:lpstr>PowerPoint Presentation</vt:lpstr>
      <vt:lpstr>PowerPoint Presentation</vt:lpstr>
      <vt:lpstr>PowerPoint Presentation</vt:lpstr>
      <vt:lpstr>PowerPoint Presentation</vt:lpstr>
      <vt:lpstr>Weight sizes, in general:</vt:lpstr>
      <vt:lpstr>A Feedforward Network</vt:lpstr>
      <vt:lpstr>Feedforward neural network</vt:lpstr>
      <vt:lpstr>Weights</vt:lpstr>
      <vt:lpstr>Input layer</vt:lpstr>
      <vt:lpstr>Hidden layers</vt:lpstr>
      <vt:lpstr>Output layer</vt:lpstr>
      <vt:lpstr>Annotations</vt:lpstr>
      <vt:lpstr>Layer numbers</vt:lpstr>
      <vt:lpstr>Activations</vt:lpstr>
      <vt:lpstr>Weights</vt:lpstr>
      <vt:lpstr>Net inputs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2017-02-08T03:57:32Z</dcterms:created>
  <dcterms:modified xsi:type="dcterms:W3CDTF">2018-01-26T01:16:16Z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y fmtid="{D5CDD505-2E9C-101B-9397-08002B2CF9AE}" pid="3" name="TitusGUID">
    <vt:lpwstr>1d708aea-2cca-4c31-a9d8-a0891abadda6</vt:lpwstr>
  </property>
  <property fmtid="{D5CDD505-2E9C-101B-9397-08002B2CF9AE}" pid="4" name="CTP_TimeStamp">
    <vt:lpwstr>2018-01-26 01:16:12Z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
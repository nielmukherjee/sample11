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94" r:id="rId2"/>
    <p:sldMasterId id="2147483734" r:id="rId3"/>
  </p:sldMasterIdLst>
  <p:notesMasterIdLst>
    <p:notesMasterId r:id="rId37"/>
  </p:notesMasterIdLst>
  <p:handoutMasterIdLst>
    <p:handoutMasterId r:id="rId38"/>
  </p:handoutMasterIdLst>
  <p:sldIdLst>
    <p:sldId id="389" r:id="rId4"/>
    <p:sldId id="551" r:id="rId5"/>
    <p:sldId id="512" r:id="rId6"/>
    <p:sldId id="476" r:id="rId7"/>
    <p:sldId id="482" r:id="rId8"/>
    <p:sldId id="437" r:id="rId9"/>
    <p:sldId id="513" r:id="rId10"/>
    <p:sldId id="401" r:id="rId11"/>
    <p:sldId id="356" r:id="rId12"/>
    <p:sldId id="359" r:id="rId13"/>
    <p:sldId id="403" r:id="rId14"/>
    <p:sldId id="514" r:id="rId15"/>
    <p:sldId id="515" r:id="rId16"/>
    <p:sldId id="516" r:id="rId17"/>
    <p:sldId id="522" r:id="rId18"/>
    <p:sldId id="526" r:id="rId19"/>
    <p:sldId id="527" r:id="rId20"/>
    <p:sldId id="528" r:id="rId21"/>
    <p:sldId id="529" r:id="rId22"/>
    <p:sldId id="530" r:id="rId23"/>
    <p:sldId id="523" r:id="rId24"/>
    <p:sldId id="524" r:id="rId25"/>
    <p:sldId id="525" r:id="rId26"/>
    <p:sldId id="533" r:id="rId27"/>
    <p:sldId id="536" r:id="rId28"/>
    <p:sldId id="537" r:id="rId29"/>
    <p:sldId id="538" r:id="rId30"/>
    <p:sldId id="540" r:id="rId31"/>
    <p:sldId id="542" r:id="rId32"/>
    <p:sldId id="545" r:id="rId33"/>
    <p:sldId id="547" r:id="rId34"/>
    <p:sldId id="550" r:id="rId35"/>
    <p:sldId id="394" r:id="rId3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Gill" initials="MG" lastIdx="2" clrIdx="0">
    <p:extLst/>
  </p:cmAuthor>
  <p:cmAuthor id="2" name="Michelle Gill" initials="MG [2]" lastIdx="1" clrIdx="1">
    <p:extLst/>
  </p:cmAuthor>
  <p:cmAuthor id="3" name="Michelle Gill" initials="MG [3]" lastIdx="1" clrIdx="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883FF"/>
    <a:srgbClr val="235F83"/>
    <a:srgbClr val="8EFA00"/>
    <a:srgbClr val="76D6FF"/>
    <a:srgbClr val="2B73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11"/>
    <p:restoredTop sz="80849"/>
  </p:normalViewPr>
  <p:slideViewPr>
    <p:cSldViewPr snapToGrid="0" snapToObjects="1">
      <p:cViewPr varScale="1">
        <p:scale>
          <a:sx n="141" d="100"/>
          <a:sy n="141" d="100"/>
        </p:scale>
        <p:origin x="440" y="72"/>
      </p:cViewPr>
      <p:guideLst/>
    </p:cSldViewPr>
  </p:slideViewPr>
  <p:outlineViewPr>
    <p:cViewPr>
      <p:scale>
        <a:sx n="33" d="100"/>
        <a:sy n="33" d="100"/>
      </p:scale>
      <p:origin x="0" y="0"/>
    </p:cViewPr>
  </p:outlineViewPr>
  <p:notesTextViewPr>
    <p:cViewPr>
      <p:scale>
        <a:sx n="140" d="100"/>
        <a:sy n="140" d="100"/>
      </p:scale>
      <p:origin x="0" y="0"/>
    </p:cViewPr>
  </p:notesTextViewPr>
  <p:sorterViewPr>
    <p:cViewPr>
      <p:scale>
        <a:sx n="120" d="100"/>
        <a:sy n="120" d="100"/>
      </p:scale>
      <p:origin x="0" y="0"/>
    </p:cViewPr>
  </p:sorterViewPr>
  <p:notesViewPr>
    <p:cSldViewPr snapToGrid="0" snapToObjects="1">
      <p:cViewPr varScale="1">
        <p:scale>
          <a:sx n="85" d="100"/>
          <a:sy n="85" d="100"/>
        </p:scale>
        <p:origin x="3696"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18DF2D-D537-FE4F-BE4D-E5BCACB16283}" type="datetimeFigureOut">
              <a:rPr lang="en-US" smtClean="0"/>
              <a:t>8/25/2017</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7B0C4D-3AAF-FB40-9304-EA5AE39FC038}" type="slidenum">
              <a:rPr lang="en-US" smtClean="0"/>
              <a:t>‹#›</a:t>
            </a:fld>
            <a:endParaRPr lang="en-US" dirty="0"/>
          </a:p>
        </p:txBody>
      </p:sp>
    </p:spTree>
    <p:extLst>
      <p:ext uri="{BB962C8B-B14F-4D97-AF65-F5344CB8AC3E}">
        <p14:creationId xmlns:p14="http://schemas.microsoft.com/office/powerpoint/2010/main" val="12765185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100" b="0" i="0" u="none" strike="noStrike" cap="none"/>
            </a:lvl1pPr>
            <a:lvl2pPr marL="457200" marR="0" lvl="1" indent="0" algn="l" rtl="0">
              <a:spcBef>
                <a:spcPts val="0"/>
              </a:spcBef>
              <a:buNone/>
              <a:defRPr sz="1100" b="0" i="0" u="none" strike="noStrike" cap="none"/>
            </a:lvl2pPr>
            <a:lvl3pPr marL="914400" marR="0" lvl="2" indent="0" algn="l" rtl="0">
              <a:spcBef>
                <a:spcPts val="0"/>
              </a:spcBef>
              <a:buNone/>
              <a:defRPr sz="1100" b="0" i="0" u="none" strike="noStrike" cap="none"/>
            </a:lvl3pPr>
            <a:lvl4pPr marL="1371600" marR="0" lvl="3" indent="0" algn="l" rtl="0">
              <a:spcBef>
                <a:spcPts val="0"/>
              </a:spcBef>
              <a:buNone/>
              <a:defRPr sz="1100" b="0" i="0" u="none" strike="noStrike" cap="none"/>
            </a:lvl4pPr>
            <a:lvl5pPr marL="1828800" marR="0" lvl="4" indent="0" algn="l" rtl="0">
              <a:spcBef>
                <a:spcPts val="0"/>
              </a:spcBef>
              <a:buNone/>
              <a:defRPr sz="1100" b="0" i="0" u="none" strike="noStrike" cap="none"/>
            </a:lvl5pPr>
            <a:lvl6pPr marL="2286000" marR="0" lvl="5" indent="0" algn="l" rtl="0">
              <a:spcBef>
                <a:spcPts val="0"/>
              </a:spcBef>
              <a:buNone/>
              <a:defRPr sz="1100" b="0" i="0" u="none" strike="noStrike" cap="none"/>
            </a:lvl6pPr>
            <a:lvl7pPr marL="2743200" marR="0" lvl="6" indent="0" algn="l" rtl="0">
              <a:spcBef>
                <a:spcPts val="0"/>
              </a:spcBef>
              <a:buNone/>
              <a:defRPr sz="1100" b="0" i="0" u="none" strike="noStrike" cap="none"/>
            </a:lvl7pPr>
            <a:lvl8pPr marL="3200400" marR="0" lvl="7" indent="0" algn="l" rtl="0">
              <a:spcBef>
                <a:spcPts val="0"/>
              </a:spcBef>
              <a:buNone/>
              <a:defRPr sz="1100" b="0" i="0" u="none" strike="noStrike" cap="none"/>
            </a:lvl8pPr>
            <a:lvl9pPr marL="3657600" marR="0" lvl="8" indent="0" algn="l" rtl="0">
              <a:spcBef>
                <a:spcPts val="0"/>
              </a:spcBef>
              <a:buNone/>
              <a:defRPr sz="1100" b="0" i="0" u="none" strike="noStrike" cap="none"/>
            </a:lvl9pPr>
          </a:lstStyle>
          <a:p>
            <a:endParaRPr dirty="0"/>
          </a:p>
        </p:txBody>
      </p:sp>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Tree>
    <p:extLst>
      <p:ext uri="{BB962C8B-B14F-4D97-AF65-F5344CB8AC3E}">
        <p14:creationId xmlns:p14="http://schemas.microsoft.com/office/powerpoint/2010/main" val="178918727"/>
      </p:ext>
    </p:extLst>
  </p:cSld>
  <p:clrMap bg1="lt1" tx1="dk1" bg2="dk2" tx2="lt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2" name="Shape 5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dirty="0"/>
          </a:p>
        </p:txBody>
      </p:sp>
    </p:spTree>
    <p:extLst>
      <p:ext uri="{BB962C8B-B14F-4D97-AF65-F5344CB8AC3E}">
        <p14:creationId xmlns:p14="http://schemas.microsoft.com/office/powerpoint/2010/main" val="1387326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1600" dirty="0" smtClean="0">
                <a:latin typeface="Arial" charset="0"/>
                <a:ea typeface="Arial" charset="0"/>
                <a:cs typeface="Arial" charset="0"/>
              </a:rPr>
              <a:t>Roughly</a:t>
            </a:r>
            <a:r>
              <a:rPr lang="en-US" sz="1600" baseline="0" dirty="0" smtClean="0">
                <a:latin typeface="Arial" charset="0"/>
                <a:ea typeface="Arial" charset="0"/>
                <a:cs typeface="Arial" charset="0"/>
              </a:rPr>
              <a:t> speaking, stats on steroids.</a:t>
            </a:r>
            <a:endParaRPr sz="1600" dirty="0">
              <a:latin typeface="Arial" charset="0"/>
              <a:ea typeface="Arial" charset="0"/>
              <a:cs typeface="Arial" charset="0"/>
            </a:endParaRPr>
          </a:p>
        </p:txBody>
      </p:sp>
    </p:spTree>
    <p:extLst>
      <p:ext uri="{BB962C8B-B14F-4D97-AF65-F5344CB8AC3E}">
        <p14:creationId xmlns:p14="http://schemas.microsoft.com/office/powerpoint/2010/main" val="17385096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indent="-171450">
              <a:buFont typeface="Arial" charset="0"/>
              <a:buChar cha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128461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Special case of classification is binary classification, where you have 2 classes</a:t>
            </a:r>
          </a:p>
        </p:txBody>
      </p:sp>
    </p:spTree>
    <p:extLst>
      <p:ext uri="{BB962C8B-B14F-4D97-AF65-F5344CB8AC3E}">
        <p14:creationId xmlns:p14="http://schemas.microsoft.com/office/powerpoint/2010/main" val="19325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14400" y="3257550"/>
            <a:ext cx="7315200" cy="3086100"/>
          </a:xfrm>
          <a:prstGeom prst="rect">
            <a:avLst/>
          </a:prstGeom>
        </p:spPr>
        <p:txBody>
          <a:bodyPr>
            <a:normAutofit/>
          </a:bodyPr>
          <a:lstStyle/>
          <a:p>
            <a:pPr marL="171450" indent="-171450">
              <a:buFont typeface="Arial" charset="0"/>
              <a:buChar char="•"/>
            </a:pPr>
            <a:endParaRPr dirty="0">
              <a:latin typeface="Avenir Book"/>
            </a:endParaRPr>
          </a:p>
        </p:txBody>
      </p:sp>
    </p:spTree>
    <p:extLst>
      <p:ext uri="{BB962C8B-B14F-4D97-AF65-F5344CB8AC3E}">
        <p14:creationId xmlns:p14="http://schemas.microsoft.com/office/powerpoint/2010/main" val="1732484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14400" y="3257550"/>
            <a:ext cx="7315200" cy="3086100"/>
          </a:xfrm>
          <a:prstGeom prst="rect">
            <a:avLst/>
          </a:prstGeom>
        </p:spPr>
        <p:txBody>
          <a:bodyPr>
            <a:normAutofit/>
          </a:bodyPr>
          <a:lstStyle/>
          <a:p>
            <a:pPr marL="171450" indent="-171450">
              <a:buFont typeface="Arial" charset="0"/>
              <a:buChar char="•"/>
            </a:pPr>
            <a:endParaRPr dirty="0">
              <a:latin typeface="Avenir Book"/>
            </a:endParaRPr>
          </a:p>
        </p:txBody>
      </p:sp>
    </p:spTree>
    <p:extLst>
      <p:ext uri="{BB962C8B-B14F-4D97-AF65-F5344CB8AC3E}">
        <p14:creationId xmlns:p14="http://schemas.microsoft.com/office/powerpoint/2010/main" val="439473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baseline="0" dirty="0" smtClean="0">
              <a:latin typeface="Avenir Book"/>
            </a:endParaRPr>
          </a:p>
        </p:txBody>
      </p:sp>
    </p:spTree>
    <p:extLst>
      <p:ext uri="{BB962C8B-B14F-4D97-AF65-F5344CB8AC3E}">
        <p14:creationId xmlns:p14="http://schemas.microsoft.com/office/powerpoint/2010/main" val="17822563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dirty="0">
              <a:latin typeface="Avenir Book"/>
            </a:endParaRPr>
          </a:p>
        </p:txBody>
      </p:sp>
    </p:spTree>
    <p:extLst>
      <p:ext uri="{BB962C8B-B14F-4D97-AF65-F5344CB8AC3E}">
        <p14:creationId xmlns:p14="http://schemas.microsoft.com/office/powerpoint/2010/main" val="1164211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dirty="0">
              <a:latin typeface="Avenir Book"/>
            </a:endParaRPr>
          </a:p>
        </p:txBody>
      </p:sp>
    </p:spTree>
    <p:extLst>
      <p:ext uri="{BB962C8B-B14F-4D97-AF65-F5344CB8AC3E}">
        <p14:creationId xmlns:p14="http://schemas.microsoft.com/office/powerpoint/2010/main" val="4556058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dirty="0">
              <a:latin typeface="Avenir Book"/>
            </a:endParaRPr>
          </a:p>
        </p:txBody>
      </p:sp>
    </p:spTree>
    <p:extLst>
      <p:ext uri="{BB962C8B-B14F-4D97-AF65-F5344CB8AC3E}">
        <p14:creationId xmlns:p14="http://schemas.microsoft.com/office/powerpoint/2010/main" val="12722128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14400" y="3257550"/>
            <a:ext cx="7315200" cy="3086100"/>
          </a:xfrm>
          <a:prstGeom prst="rect">
            <a:avLst/>
          </a:prstGeom>
        </p:spPr>
        <p:txBody>
          <a:bodyPr>
            <a:normAutofit/>
          </a:bodyPr>
          <a:lstStyle/>
          <a:p>
            <a:pPr marL="171450" indent="-171450">
              <a:buFont typeface="Arial" charset="0"/>
              <a:buChar char="•"/>
            </a:pPr>
            <a:endParaRPr dirty="0">
              <a:latin typeface="Avenir Book"/>
            </a:endParaRPr>
          </a:p>
        </p:txBody>
      </p:sp>
    </p:spTree>
    <p:extLst>
      <p:ext uri="{BB962C8B-B14F-4D97-AF65-F5344CB8AC3E}">
        <p14:creationId xmlns:p14="http://schemas.microsoft.com/office/powerpoint/2010/main" val="1007182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14400" y="3257550"/>
            <a:ext cx="7315200" cy="3086100"/>
          </a:xfrm>
          <a:prstGeom prst="rect">
            <a:avLst/>
          </a:prstGeom>
        </p:spPr>
        <p:txBody>
          <a:bodyPr>
            <a:normAutofit/>
          </a:bodyPr>
          <a:lstStyle/>
          <a:p>
            <a:pPr marL="171450" indent="-171450">
              <a:buFont typeface="Arial" charset="0"/>
              <a:buChar char="•"/>
            </a:pPr>
            <a:endParaRPr dirty="0">
              <a:latin typeface="Avenir Book"/>
            </a:endParaRPr>
          </a:p>
        </p:txBody>
      </p:sp>
    </p:spTree>
    <p:extLst>
      <p:ext uri="{BB962C8B-B14F-4D97-AF65-F5344CB8AC3E}">
        <p14:creationId xmlns:p14="http://schemas.microsoft.com/office/powerpoint/2010/main" val="15949059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914400" y="3257550"/>
            <a:ext cx="7315200" cy="3086100"/>
          </a:xfrm>
          <a:prstGeom prst="rect">
            <a:avLst/>
          </a:prstGeom>
        </p:spPr>
        <p:txBody>
          <a:bodyPr>
            <a:normAutofit/>
          </a:bodyPr>
          <a:lstStyle/>
          <a:p>
            <a:pPr marL="171450" indent="-171450">
              <a:buFont typeface="Arial" charset="0"/>
              <a:buChar char="•"/>
            </a:pPr>
            <a:endParaRPr dirty="0">
              <a:latin typeface="Avenir Book"/>
            </a:endParaRPr>
          </a:p>
        </p:txBody>
      </p:sp>
    </p:spTree>
    <p:extLst>
      <p:ext uri="{BB962C8B-B14F-4D97-AF65-F5344CB8AC3E}">
        <p14:creationId xmlns:p14="http://schemas.microsoft.com/office/powerpoint/2010/main" val="3580860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charset="0"/>
              <a:buChar char="•"/>
            </a:pPr>
            <a:endParaRPr lang="en-US" dirty="0"/>
          </a:p>
        </p:txBody>
      </p:sp>
    </p:spTree>
    <p:extLst>
      <p:ext uri="{BB962C8B-B14F-4D97-AF65-F5344CB8AC3E}">
        <p14:creationId xmlns:p14="http://schemas.microsoft.com/office/powerpoint/2010/main" val="1394127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dirty="0" smtClean="0"/>
          </a:p>
        </p:txBody>
      </p:sp>
    </p:spTree>
    <p:extLst>
      <p:ext uri="{BB962C8B-B14F-4D97-AF65-F5344CB8AC3E}">
        <p14:creationId xmlns:p14="http://schemas.microsoft.com/office/powerpoint/2010/main" val="11181771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dirty="0"/>
          </a:p>
        </p:txBody>
      </p:sp>
    </p:spTree>
    <p:extLst>
      <p:ext uri="{BB962C8B-B14F-4D97-AF65-F5344CB8AC3E}">
        <p14:creationId xmlns:p14="http://schemas.microsoft.com/office/powerpoint/2010/main" val="8742503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dirty="0"/>
          </a:p>
        </p:txBody>
      </p:sp>
    </p:spTree>
    <p:extLst>
      <p:ext uri="{BB962C8B-B14F-4D97-AF65-F5344CB8AC3E}">
        <p14:creationId xmlns:p14="http://schemas.microsoft.com/office/powerpoint/2010/main" val="13729525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dirty="0"/>
          </a:p>
        </p:txBody>
      </p:sp>
    </p:spTree>
    <p:extLst>
      <p:ext uri="{BB962C8B-B14F-4D97-AF65-F5344CB8AC3E}">
        <p14:creationId xmlns:p14="http://schemas.microsoft.com/office/powerpoint/2010/main" val="11154417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dirty="0"/>
          </a:p>
        </p:txBody>
      </p:sp>
    </p:spTree>
    <p:extLst>
      <p:ext uri="{BB962C8B-B14F-4D97-AF65-F5344CB8AC3E}">
        <p14:creationId xmlns:p14="http://schemas.microsoft.com/office/powerpoint/2010/main" val="3268276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charset="0"/>
              <a:buChar char="•"/>
            </a:pPr>
            <a:endParaRPr lang="en-US" dirty="0"/>
          </a:p>
        </p:txBody>
      </p:sp>
    </p:spTree>
    <p:extLst>
      <p:ext uri="{BB962C8B-B14F-4D97-AF65-F5344CB8AC3E}">
        <p14:creationId xmlns:p14="http://schemas.microsoft.com/office/powerpoint/2010/main" val="15888606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charset="0"/>
              <a:buChar char="•"/>
            </a:pPr>
            <a:endParaRPr lang="en-US" dirty="0"/>
          </a:p>
        </p:txBody>
      </p:sp>
    </p:spTree>
    <p:extLst>
      <p:ext uri="{BB962C8B-B14F-4D97-AF65-F5344CB8AC3E}">
        <p14:creationId xmlns:p14="http://schemas.microsoft.com/office/powerpoint/2010/main" val="20142487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971679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dirty="0" smtClean="0"/>
              <a:t>Let’s talk about gradient descent.</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dirty="0" smtClean="0"/>
              <a:t>The idea is to get closer</a:t>
            </a:r>
            <a:r>
              <a:rPr lang="en-US" baseline="0" dirty="0" smtClean="0"/>
              <a:t> to the minimum of a given function, iteratively.</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baseline="0" dirty="0" smtClean="0"/>
              <a:t>How?</a:t>
            </a:r>
            <a:endParaRPr lang="en-US" dirty="0"/>
          </a:p>
        </p:txBody>
      </p:sp>
    </p:spTree>
    <p:extLst>
      <p:ext uri="{BB962C8B-B14F-4D97-AF65-F5344CB8AC3E}">
        <p14:creationId xmlns:p14="http://schemas.microsoft.com/office/powerpoint/2010/main" val="2192425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dirty="0" smtClean="0"/>
              <a:t>In practice, we won’t have visual representations like this.</a:t>
            </a:r>
            <a:endParaRPr lang="en-US" dirty="0"/>
          </a:p>
        </p:txBody>
      </p:sp>
    </p:spTree>
    <p:extLst>
      <p:ext uri="{BB962C8B-B14F-4D97-AF65-F5344CB8AC3E}">
        <p14:creationId xmlns:p14="http://schemas.microsoft.com/office/powerpoint/2010/main" val="12988457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dirty="0" smtClean="0"/>
              <a:t>Math to the rescue!</a:t>
            </a:r>
            <a:r>
              <a:rPr lang="en-US" baseline="0" dirty="0" smtClean="0"/>
              <a:t> Gradient of a function gives us the direction of biggest decrease at that point.</a:t>
            </a:r>
            <a:endParaRPr lang="en-US" dirty="0"/>
          </a:p>
        </p:txBody>
      </p:sp>
    </p:spTree>
    <p:extLst>
      <p:ext uri="{BB962C8B-B14F-4D97-AF65-F5344CB8AC3E}">
        <p14:creationId xmlns:p14="http://schemas.microsoft.com/office/powerpoint/2010/main" val="4301850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charset="0"/>
              <a:buChar char="•"/>
            </a:pPr>
            <a:r>
              <a:rPr lang="en-US" dirty="0" smtClean="0"/>
              <a:t>Recall,</a:t>
            </a:r>
            <a:r>
              <a:rPr lang="en-US" baseline="0" dirty="0" smtClean="0"/>
              <a:t> this is the gradient.</a:t>
            </a:r>
            <a:endParaRPr lang="en-US" dirty="0"/>
          </a:p>
        </p:txBody>
      </p:sp>
    </p:spTree>
    <p:extLst>
      <p:ext uri="{BB962C8B-B14F-4D97-AF65-F5344CB8AC3E}">
        <p14:creationId xmlns:p14="http://schemas.microsoft.com/office/powerpoint/2010/main" val="10638817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charset="0"/>
              <a:buChar char="•"/>
            </a:pPr>
            <a:r>
              <a:rPr lang="en-US" dirty="0" smtClean="0">
                <a:latin typeface="Avenir Book"/>
              </a:rPr>
              <a:t>The constant which determines how far we go in a given direction is called “the learning rate”. It’s given by </a:t>
            </a:r>
            <a:r>
              <a:rPr lang="en-US" baseline="0" dirty="0" smtClean="0">
                <a:latin typeface="Avenir Book"/>
              </a:rPr>
              <a:t>alpha in the formula. It is the “step size”</a:t>
            </a:r>
          </a:p>
          <a:p>
            <a:pPr marL="171450" indent="-171450">
              <a:buFont typeface="Arial" charset="0"/>
              <a:buChar char="•"/>
            </a:pPr>
            <a:r>
              <a:rPr lang="en-US" baseline="0" dirty="0" smtClean="0">
                <a:latin typeface="Avenir Book"/>
              </a:rPr>
              <a:t>Point is, the gradient computation is local. And the meaning of the direction is invalid once we got ourselves away from the original point. So gradient needs to be recomputed.</a:t>
            </a:r>
          </a:p>
          <a:p>
            <a:pPr marL="171450" indent="-171450">
              <a:buFont typeface="Arial" charset="0"/>
              <a:buChar char="•"/>
            </a:pPr>
            <a:r>
              <a:rPr lang="en-US" baseline="0" dirty="0" smtClean="0">
                <a:latin typeface="Avenir Book"/>
              </a:rPr>
              <a:t>In this example, we have the loss function for linear reg.</a:t>
            </a:r>
            <a:endParaRPr lang="en-US" dirty="0"/>
          </a:p>
        </p:txBody>
      </p:sp>
    </p:spTree>
    <p:extLst>
      <p:ext uri="{BB962C8B-B14F-4D97-AF65-F5344CB8AC3E}">
        <p14:creationId xmlns:p14="http://schemas.microsoft.com/office/powerpoint/2010/main" val="8468507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charset="0"/>
              <a:buChar char="•"/>
            </a:pPr>
            <a:r>
              <a:rPr lang="en-US" dirty="0" smtClean="0"/>
              <a:t>After</a:t>
            </a:r>
            <a:r>
              <a:rPr lang="en-US" baseline="0" dirty="0" smtClean="0"/>
              <a:t> a few steps, we’re going to reach a minimum and the gradient will be zero (or below a certain tolerance factor).</a:t>
            </a:r>
          </a:p>
          <a:p>
            <a:pPr marL="171450" indent="-171450">
              <a:buFont typeface="Arial" charset="0"/>
              <a:buChar char="•"/>
            </a:pPr>
            <a:r>
              <a:rPr lang="en-US" baseline="0" dirty="0" smtClean="0"/>
              <a:t>At that point, there’s nowhere to go anymore =&gt; convergence!</a:t>
            </a:r>
          </a:p>
          <a:p>
            <a:pPr marL="171450" indent="-171450">
              <a:buFont typeface="Arial" charset="0"/>
              <a:buChar char="•"/>
            </a:pPr>
            <a:r>
              <a:rPr lang="en-US" baseline="0" dirty="0" smtClean="0"/>
              <a:t>There is a chance it can get stuck at a local minimum.</a:t>
            </a:r>
          </a:p>
          <a:p>
            <a:pPr marL="171450" indent="-171450">
              <a:buFont typeface="Arial" charset="0"/>
              <a:buChar char="•"/>
            </a:pPr>
            <a:r>
              <a:rPr lang="en-US" baseline="0" dirty="0" smtClean="0"/>
              <a:t>That’s why initialization is important. Alternatively, if your loss function is convex, local = global! (true for most of the popular algos)</a:t>
            </a:r>
          </a:p>
          <a:p>
            <a:pPr marL="171450" indent="-171450">
              <a:buFont typeface="Arial" charset="0"/>
              <a:buChar char="•"/>
            </a:pPr>
            <a:endParaRPr lang="en-US" baseline="0" dirty="0" smtClean="0"/>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baseline="0" dirty="0" smtClean="0">
                <a:latin typeface="+mn-lt"/>
              </a:rPr>
              <a:t>So in the case of Linear regression, recall that our loss function is this.</a:t>
            </a:r>
          </a:p>
        </p:txBody>
      </p:sp>
    </p:spTree>
    <p:extLst>
      <p:ext uri="{BB962C8B-B14F-4D97-AF65-F5344CB8AC3E}">
        <p14:creationId xmlns:p14="http://schemas.microsoft.com/office/powerpoint/2010/main" val="19622015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dirty="0" smtClean="0"/>
              <a:t>Another technique;</a:t>
            </a:r>
            <a:r>
              <a:rPr lang="en-US" baseline="0" dirty="0" smtClean="0"/>
              <a:t> STOCHASTIC Gradient descent.</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baseline="0" dirty="0" smtClean="0"/>
              <a:t>Instead of computing the gradient of the full loss function, we compute the gradient of a single point’s contribution.</a:t>
            </a:r>
            <a:endParaRPr lang="en-US" dirty="0"/>
          </a:p>
        </p:txBody>
      </p:sp>
    </p:spTree>
    <p:extLst>
      <p:ext uri="{BB962C8B-B14F-4D97-AF65-F5344CB8AC3E}">
        <p14:creationId xmlns:p14="http://schemas.microsoft.com/office/powerpoint/2010/main" val="5877605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charset="0"/>
              <a:buChar char="•"/>
            </a:pPr>
            <a:r>
              <a:rPr lang="en-US" dirty="0" smtClean="0">
                <a:latin typeface="Avenir Book"/>
              </a:rPr>
              <a:t>Path is a little bit less direct, it may take more iterations.</a:t>
            </a:r>
          </a:p>
          <a:p>
            <a:pPr marL="171450" indent="-171450">
              <a:buFont typeface="Arial" charset="0"/>
              <a:buChar char="•"/>
            </a:pPr>
            <a:r>
              <a:rPr lang="en-US" dirty="0" smtClean="0">
                <a:latin typeface="Avenir Book"/>
              </a:rPr>
              <a:t>But it allows us to train models on</a:t>
            </a:r>
            <a:r>
              <a:rPr lang="en-US" baseline="0" dirty="0" smtClean="0">
                <a:latin typeface="Avenir Book"/>
              </a:rPr>
              <a:t> datasets with a lot of rows (100s of thousands or more).</a:t>
            </a:r>
          </a:p>
          <a:p>
            <a:pPr marL="171450" indent="-171450">
              <a:buFont typeface="Arial" charset="0"/>
              <a:buChar char="•"/>
            </a:pPr>
            <a:endParaRPr lang="en-US" baseline="0" dirty="0" smtClean="0">
              <a:latin typeface="Avenir Book"/>
            </a:endParaRPr>
          </a:p>
          <a:p>
            <a:pPr marL="171450" indent="-171450">
              <a:buFont typeface="Arial" charset="0"/>
              <a:buChar char="•"/>
            </a:pPr>
            <a:r>
              <a:rPr lang="en-US" baseline="0" dirty="0" smtClean="0">
                <a:latin typeface="Avenir Book"/>
              </a:rPr>
              <a:t>It also allows us to update our models easily. With each new training record, compute the gradient that that point creates, and move! </a:t>
            </a:r>
            <a:endParaRPr lang="en-US" dirty="0"/>
          </a:p>
        </p:txBody>
      </p:sp>
    </p:spTree>
    <p:extLst>
      <p:ext uri="{BB962C8B-B14F-4D97-AF65-F5344CB8AC3E}">
        <p14:creationId xmlns:p14="http://schemas.microsoft.com/office/powerpoint/2010/main" val="11948664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dirty="0"/>
          </a:p>
        </p:txBody>
      </p:sp>
    </p:spTree>
    <p:extLst>
      <p:ext uri="{BB962C8B-B14F-4D97-AF65-F5344CB8AC3E}">
        <p14:creationId xmlns:p14="http://schemas.microsoft.com/office/powerpoint/2010/main" val="13745194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Shape 2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60" name="Shape 26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dirty="0"/>
          </a:p>
        </p:txBody>
      </p:sp>
    </p:spTree>
    <p:extLst>
      <p:ext uri="{BB962C8B-B14F-4D97-AF65-F5344CB8AC3E}">
        <p14:creationId xmlns:p14="http://schemas.microsoft.com/office/powerpoint/2010/main" val="7745420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body">
    <p:spTree>
      <p:nvGrpSpPr>
        <p:cNvPr id="1" name="Shape 13"/>
        <p:cNvGrpSpPr/>
        <p:nvPr/>
      </p:nvGrpSpPr>
      <p:grpSpPr>
        <a:xfrm>
          <a:off x="0" y="0"/>
          <a:ext cx="0" cy="0"/>
          <a:chOff x="0" y="0"/>
          <a:chExt cx="0" cy="0"/>
        </a:xfrm>
      </p:grpSpPr>
      <p:sp>
        <p:nvSpPr>
          <p:cNvPr id="2"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pic>
        <p:nvPicPr>
          <p:cNvPr id="4"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body">
    <p:spTree>
      <p:nvGrpSpPr>
        <p:cNvPr id="1" name="Shape 13"/>
        <p:cNvGrpSpPr/>
        <p:nvPr/>
      </p:nvGrpSpPr>
      <p:grpSpPr>
        <a:xfrm>
          <a:off x="0" y="0"/>
          <a:ext cx="0" cy="0"/>
          <a:chOff x="0" y="0"/>
          <a:chExt cx="0" cy="0"/>
        </a:xfrm>
      </p:grpSpPr>
      <p:sp>
        <p:nvSpPr>
          <p:cNvPr id="7"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cxnSp>
        <p:nvCxnSpPr>
          <p:cNvPr id="6" name="Shape 98"/>
          <p:cNvCxnSpPr/>
          <p:nvPr userDrawn="1"/>
        </p:nvCxnSpPr>
        <p:spPr>
          <a:xfrm>
            <a:off x="0" y="1024800"/>
            <a:ext cx="4178099" cy="0"/>
          </a:xfrm>
          <a:prstGeom prst="straightConnector1">
            <a:avLst/>
          </a:prstGeom>
          <a:noFill/>
          <a:ln w="19050" cap="flat" cmpd="sng">
            <a:solidFill>
              <a:srgbClr val="3A9ED9"/>
            </a:solidFill>
            <a:prstDash val="solid"/>
            <a:round/>
            <a:headEnd type="none" w="med" len="med"/>
            <a:tailEnd type="none" w="med" len="med"/>
          </a:ln>
        </p:spPr>
      </p:cxnSp>
      <p:pic>
        <p:nvPicPr>
          <p:cNvPr id="9"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 name="Title 1"/>
          <p:cNvSpPr>
            <a:spLocks noGrp="1"/>
          </p:cNvSpPr>
          <p:nvPr>
            <p:ph type="title" hasCustomPrompt="1"/>
          </p:nvPr>
        </p:nvSpPr>
        <p:spPr>
          <a:xfrm>
            <a:off x="311700" y="192126"/>
            <a:ext cx="7766550" cy="690525"/>
          </a:xfrm>
          <a:prstGeom prst="rect">
            <a:avLst/>
          </a:prstGeom>
        </p:spPr>
        <p:txBody>
          <a:bodyPr/>
          <a:lstStyle>
            <a:lvl1pPr>
              <a:buSzPct val="25000"/>
              <a:buFont typeface="Source Code Pro"/>
              <a:buNone/>
              <a:defRPr sz="2800" baseline="0"/>
            </a:lvl1pPr>
          </a:lstStyle>
          <a:p>
            <a:pPr>
              <a:buSzPct val="25000"/>
              <a:buFont typeface="Source Code Pro"/>
              <a:buNone/>
            </a:pPr>
            <a:r>
              <a:rPr lang="en-US" b="1" dirty="0" smtClean="0">
                <a:solidFill>
                  <a:srgbClr val="3A9ED9"/>
                </a:solidFill>
                <a:latin typeface="Source Code Pro"/>
                <a:ea typeface="Source Code Pro"/>
                <a:cs typeface="Source Code Pro"/>
                <a:sym typeface="Source Code Pro"/>
              </a:rPr>
              <a:t>Title</a:t>
            </a:r>
            <a:endParaRPr lang="en" b="1" dirty="0">
              <a:solidFill>
                <a:srgbClr val="3A9ED9"/>
              </a:solidFill>
              <a:latin typeface="Source Code Pro"/>
              <a:ea typeface="Source Code Pro"/>
              <a:cs typeface="Source Code Pro"/>
              <a:sym typeface="Source Code Pro"/>
            </a:endParaRPr>
          </a:p>
        </p:txBody>
      </p:sp>
      <p:sp>
        <p:nvSpPr>
          <p:cNvPr id="4" name="Text Placeholder 3"/>
          <p:cNvSpPr>
            <a:spLocks noGrp="1"/>
          </p:cNvSpPr>
          <p:nvPr>
            <p:ph type="body" sz="quarter" idx="10" hasCustomPrompt="1"/>
          </p:nvPr>
        </p:nvSpPr>
        <p:spPr>
          <a:xfrm>
            <a:off x="311700" y="1295930"/>
            <a:ext cx="8527498" cy="3542769"/>
          </a:xfrm>
          <a:prstGeom prst="rect">
            <a:avLst/>
          </a:prstGeom>
        </p:spPr>
        <p:txBody>
          <a:bodyPr/>
          <a:lstStyle>
            <a:lvl1pPr marL="457200" marR="0" indent="-381000" algn="l" rtl="0">
              <a:lnSpc>
                <a:spcPct val="115000"/>
              </a:lnSpc>
              <a:spcBef>
                <a:spcPts val="0"/>
              </a:spcBef>
              <a:spcAft>
                <a:spcPts val="0"/>
              </a:spcAft>
              <a:buClr>
                <a:srgbClr val="434343"/>
              </a:buClr>
              <a:buSzPct val="100000"/>
              <a:buFont typeface="Calibri"/>
              <a:buChar char="●"/>
              <a:defRPr sz="1400"/>
            </a:lvl1pPr>
          </a:lstStyle>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20"/>
        <p:cNvGrpSpPr/>
        <p:nvPr/>
      </p:nvGrpSpPr>
      <p:grpSpPr>
        <a:xfrm>
          <a:off x="0" y="0"/>
          <a:ext cx="0" cy="0"/>
          <a:chOff x="0" y="0"/>
          <a:chExt cx="0" cy="0"/>
        </a:xfrm>
      </p:grpSpPr>
      <p:sp>
        <p:nvSpPr>
          <p:cNvPr id="6" name="Shape 113"/>
          <p:cNvSpPr txBox="1">
            <a:spLocks noGrp="1"/>
          </p:cNvSpPr>
          <p:nvPr>
            <p:ph type="title"/>
          </p:nvPr>
        </p:nvSpPr>
        <p:spPr>
          <a:xfrm>
            <a:off x="1028550" y="1135100"/>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dirty="0">
                <a:solidFill>
                  <a:srgbClr val="3A9ED9"/>
                </a:solidFill>
                <a:latin typeface="Source Code Pro"/>
                <a:ea typeface="Source Code Pro"/>
                <a:cs typeface="Source Code Pro"/>
                <a:sym typeface="Source Code Pro"/>
              </a:rPr>
              <a:t>Heading</a:t>
            </a:r>
          </a:p>
        </p:txBody>
      </p:sp>
      <p:sp>
        <p:nvSpPr>
          <p:cNvPr id="7" name="Shape 114"/>
          <p:cNvSpPr txBox="1">
            <a:spLocks noGrp="1"/>
          </p:cNvSpPr>
          <p:nvPr>
            <p:ph type="body" idx="1"/>
          </p:nvPr>
        </p:nvSpPr>
        <p:spPr>
          <a:xfrm>
            <a:off x="9121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8" name="Shape 11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9" name="Shape 116"/>
          <p:cNvCxnSpPr/>
          <p:nvPr userDrawn="1"/>
        </p:nvCxnSpPr>
        <p:spPr>
          <a:xfrm>
            <a:off x="959550" y="1701550"/>
            <a:ext cx="1951199" cy="0"/>
          </a:xfrm>
          <a:prstGeom prst="straightConnector1">
            <a:avLst/>
          </a:prstGeom>
          <a:noFill/>
          <a:ln w="19050" cap="flat" cmpd="sng">
            <a:solidFill>
              <a:srgbClr val="3A9ED9"/>
            </a:solidFill>
            <a:prstDash val="solid"/>
            <a:round/>
            <a:headEnd type="none" w="med" len="med"/>
            <a:tailEnd type="none" w="med" len="med"/>
          </a:ln>
        </p:spPr>
      </p:cxnSp>
      <p:sp>
        <p:nvSpPr>
          <p:cNvPr id="10" name="Shape 117"/>
          <p:cNvSpPr txBox="1">
            <a:spLocks/>
          </p:cNvSpPr>
          <p:nvPr userDrawn="1"/>
        </p:nvSpPr>
        <p:spPr>
          <a:xfrm>
            <a:off x="360720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dirty="0" smtClean="0">
                <a:solidFill>
                  <a:srgbClr val="ED0096"/>
                </a:solidFill>
                <a:latin typeface="Source Code Pro"/>
                <a:ea typeface="Source Code Pro"/>
                <a:cs typeface="Source Code Pro"/>
                <a:sym typeface="Source Code Pro"/>
              </a:rPr>
              <a:t>Heading</a:t>
            </a:r>
            <a:endParaRPr lang="en" sz="1800" b="1" dirty="0">
              <a:solidFill>
                <a:srgbClr val="ED0096"/>
              </a:solidFill>
              <a:latin typeface="Source Code Pro"/>
              <a:ea typeface="Source Code Pro"/>
              <a:cs typeface="Source Code Pro"/>
              <a:sym typeface="Source Code Pro"/>
            </a:endParaRPr>
          </a:p>
        </p:txBody>
      </p:sp>
      <p:sp>
        <p:nvSpPr>
          <p:cNvPr id="11" name="Shape 118"/>
          <p:cNvSpPr txBox="1">
            <a:spLocks noGrp="1"/>
          </p:cNvSpPr>
          <p:nvPr>
            <p:ph type="body" idx="10"/>
          </p:nvPr>
        </p:nvSpPr>
        <p:spPr>
          <a:xfrm>
            <a:off x="349080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2" name="Shape 119"/>
          <p:cNvCxnSpPr/>
          <p:nvPr userDrawn="1"/>
        </p:nvCxnSpPr>
        <p:spPr>
          <a:xfrm>
            <a:off x="3538200" y="1701550"/>
            <a:ext cx="1951199" cy="0"/>
          </a:xfrm>
          <a:prstGeom prst="straightConnector1">
            <a:avLst/>
          </a:prstGeom>
          <a:noFill/>
          <a:ln w="19050" cap="flat" cmpd="sng">
            <a:solidFill>
              <a:srgbClr val="ED0096"/>
            </a:solidFill>
            <a:prstDash val="solid"/>
            <a:round/>
            <a:headEnd type="none" w="med" len="med"/>
            <a:tailEnd type="none" w="med" len="med"/>
          </a:ln>
        </p:spPr>
      </p:cxnSp>
      <p:sp>
        <p:nvSpPr>
          <p:cNvPr id="13" name="Shape 120"/>
          <p:cNvSpPr txBox="1">
            <a:spLocks/>
          </p:cNvSpPr>
          <p:nvPr userDrawn="1"/>
        </p:nvSpPr>
        <p:spPr>
          <a:xfrm>
            <a:off x="630225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4" name="Shape 121"/>
          <p:cNvSpPr txBox="1">
            <a:spLocks noGrp="1"/>
          </p:cNvSpPr>
          <p:nvPr>
            <p:ph type="body" idx="11"/>
          </p:nvPr>
        </p:nvSpPr>
        <p:spPr>
          <a:xfrm>
            <a:off x="61858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5" name="Shape 122"/>
          <p:cNvCxnSpPr/>
          <p:nvPr userDrawn="1"/>
        </p:nvCxnSpPr>
        <p:spPr>
          <a:xfrm>
            <a:off x="6233250" y="1701550"/>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6" name="Shape 123"/>
          <p:cNvCxnSpPr/>
          <p:nvPr userDrawn="1"/>
        </p:nvCxnSpPr>
        <p:spPr>
          <a:xfrm>
            <a:off x="959550" y="3763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7" name="Shape 124"/>
          <p:cNvCxnSpPr/>
          <p:nvPr userDrawn="1"/>
        </p:nvCxnSpPr>
        <p:spPr>
          <a:xfrm>
            <a:off x="3538200" y="3763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8" name="Shape 125"/>
          <p:cNvCxnSpPr/>
          <p:nvPr userDrawn="1"/>
        </p:nvCxnSpPr>
        <p:spPr>
          <a:xfrm>
            <a:off x="6233250" y="3763075"/>
            <a:ext cx="1951199" cy="0"/>
          </a:xfrm>
          <a:prstGeom prst="straightConnector1">
            <a:avLst/>
          </a:prstGeom>
          <a:noFill/>
          <a:ln w="19050" cap="flat" cmpd="sng">
            <a:solidFill>
              <a:srgbClr val="EF3969"/>
            </a:solidFill>
            <a:prstDash val="solid"/>
            <a:round/>
            <a:headEnd type="none" w="med" len="med"/>
            <a:tailEnd type="none" w="med" len="med"/>
          </a:ln>
        </p:spPr>
      </p:cxnSp>
      <p:sp>
        <p:nvSpPr>
          <p:cNvPr id="19" name="Shape 12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Shape 25"/>
        <p:cNvGrpSpPr/>
        <p:nvPr/>
      </p:nvGrpSpPr>
      <p:grpSpPr>
        <a:xfrm>
          <a:off x="0" y="0"/>
          <a:ext cx="0" cy="0"/>
          <a:chOff x="0" y="0"/>
          <a:chExt cx="0" cy="0"/>
        </a:xfrm>
      </p:grpSpPr>
      <p:sp>
        <p:nvSpPr>
          <p:cNvPr id="4" name="Shape 131"/>
          <p:cNvSpPr txBox="1">
            <a:spLocks noGrp="1"/>
          </p:cNvSpPr>
          <p:nvPr>
            <p:ph type="title"/>
          </p:nvPr>
        </p:nvSpPr>
        <p:spPr>
          <a:xfrm>
            <a:off x="1028550" y="1917783"/>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a:solidFill>
                  <a:srgbClr val="3A9ED9"/>
                </a:solidFill>
                <a:latin typeface="Source Code Pro"/>
                <a:ea typeface="Source Code Pro"/>
                <a:cs typeface="Source Code Pro"/>
                <a:sym typeface="Source Code Pro"/>
              </a:rPr>
              <a:t>Heading</a:t>
            </a:r>
          </a:p>
        </p:txBody>
      </p:sp>
      <p:sp>
        <p:nvSpPr>
          <p:cNvPr id="5" name="Shape 132"/>
          <p:cNvSpPr txBox="1">
            <a:spLocks noGrp="1"/>
          </p:cNvSpPr>
          <p:nvPr>
            <p:ph type="body" idx="1"/>
          </p:nvPr>
        </p:nvSpPr>
        <p:spPr>
          <a:xfrm>
            <a:off x="9121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6" name="Shape 13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7" name="Shape 134"/>
          <p:cNvSpPr txBox="1">
            <a:spLocks/>
          </p:cNvSpPr>
          <p:nvPr userDrawn="1"/>
        </p:nvSpPr>
        <p:spPr>
          <a:xfrm>
            <a:off x="360720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D0096"/>
                </a:solidFill>
                <a:latin typeface="Source Code Pro"/>
                <a:ea typeface="Source Code Pro"/>
                <a:cs typeface="Source Code Pro"/>
                <a:sym typeface="Source Code Pro"/>
              </a:rPr>
              <a:t>Heading</a:t>
            </a:r>
            <a:endParaRPr lang="en" sz="1800" b="1">
              <a:solidFill>
                <a:srgbClr val="ED0096"/>
              </a:solidFill>
              <a:latin typeface="Source Code Pro"/>
              <a:ea typeface="Source Code Pro"/>
              <a:cs typeface="Source Code Pro"/>
              <a:sym typeface="Source Code Pro"/>
            </a:endParaRPr>
          </a:p>
        </p:txBody>
      </p:sp>
      <p:sp>
        <p:nvSpPr>
          <p:cNvPr id="8" name="Shape 135"/>
          <p:cNvSpPr txBox="1">
            <a:spLocks noGrp="1"/>
          </p:cNvSpPr>
          <p:nvPr>
            <p:ph type="body" idx="10"/>
          </p:nvPr>
        </p:nvSpPr>
        <p:spPr>
          <a:xfrm>
            <a:off x="349080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sp>
        <p:nvSpPr>
          <p:cNvPr id="9" name="Shape 136"/>
          <p:cNvSpPr txBox="1">
            <a:spLocks/>
          </p:cNvSpPr>
          <p:nvPr userDrawn="1"/>
        </p:nvSpPr>
        <p:spPr>
          <a:xfrm>
            <a:off x="630225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0" name="Shape 137"/>
          <p:cNvSpPr txBox="1">
            <a:spLocks noGrp="1"/>
          </p:cNvSpPr>
          <p:nvPr>
            <p:ph type="body" idx="11"/>
          </p:nvPr>
        </p:nvSpPr>
        <p:spPr>
          <a:xfrm>
            <a:off x="61858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1" name="Shape 138"/>
          <p:cNvCxnSpPr/>
          <p:nvPr userDrawn="1"/>
        </p:nvCxnSpPr>
        <p:spPr>
          <a:xfrm>
            <a:off x="959550" y="4144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2" name="Shape 139"/>
          <p:cNvCxnSpPr/>
          <p:nvPr userDrawn="1"/>
        </p:nvCxnSpPr>
        <p:spPr>
          <a:xfrm>
            <a:off x="3538200" y="4144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3" name="Shape 140"/>
          <p:cNvCxnSpPr/>
          <p:nvPr userDrawn="1"/>
        </p:nvCxnSpPr>
        <p:spPr>
          <a:xfrm>
            <a:off x="6233250" y="4144075"/>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4" name="Shape 141"/>
          <p:cNvCxnSpPr/>
          <p:nvPr userDrawn="1"/>
        </p:nvCxnSpPr>
        <p:spPr>
          <a:xfrm>
            <a:off x="959550" y="1316850"/>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5" name="Shape 142"/>
          <p:cNvCxnSpPr/>
          <p:nvPr userDrawn="1"/>
        </p:nvCxnSpPr>
        <p:spPr>
          <a:xfrm>
            <a:off x="3538200" y="1316850"/>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6" name="Shape 143"/>
          <p:cNvCxnSpPr/>
          <p:nvPr userDrawn="1"/>
        </p:nvCxnSpPr>
        <p:spPr>
          <a:xfrm>
            <a:off x="6233250" y="1316850"/>
            <a:ext cx="1951199" cy="0"/>
          </a:xfrm>
          <a:prstGeom prst="straightConnector1">
            <a:avLst/>
          </a:prstGeom>
          <a:noFill/>
          <a:ln w="19050" cap="flat" cmpd="sng">
            <a:solidFill>
              <a:srgbClr val="EF3969"/>
            </a:solidFill>
            <a:prstDash val="solid"/>
            <a:round/>
            <a:headEnd type="none" w="med" len="med"/>
            <a:tailEnd type="none" w="med" len="med"/>
          </a:ln>
        </p:spPr>
      </p:cxnSp>
      <p:sp>
        <p:nvSpPr>
          <p:cNvPr id="17" name="Shape 144"/>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18" name="Shape 145"/>
          <p:cNvSpPr/>
          <p:nvPr userDrawn="1"/>
        </p:nvSpPr>
        <p:spPr>
          <a:xfrm>
            <a:off x="1500750" y="882450"/>
            <a:ext cx="868800" cy="868800"/>
          </a:xfrm>
          <a:prstGeom prst="ellipse">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19" name="Shape 146"/>
          <p:cNvSpPr/>
          <p:nvPr userDrawn="1"/>
        </p:nvSpPr>
        <p:spPr>
          <a:xfrm>
            <a:off x="4079400" y="882450"/>
            <a:ext cx="868800" cy="868800"/>
          </a:xfrm>
          <a:prstGeom prst="ellipse">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20" name="Shape 147"/>
          <p:cNvSpPr/>
          <p:nvPr userDrawn="1"/>
        </p:nvSpPr>
        <p:spPr>
          <a:xfrm>
            <a:off x="6774450" y="882450"/>
            <a:ext cx="868800" cy="868800"/>
          </a:xfrm>
          <a:prstGeom prst="ellipse">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Shape 25"/>
        <p:cNvGrpSpPr/>
        <p:nvPr/>
      </p:nvGrpSpPr>
      <p:grpSpPr>
        <a:xfrm>
          <a:off x="0" y="0"/>
          <a:ext cx="0" cy="0"/>
          <a:chOff x="0" y="0"/>
          <a:chExt cx="0" cy="0"/>
        </a:xfrm>
      </p:grpSpPr>
      <p:sp>
        <p:nvSpPr>
          <p:cNvPr id="21" name="Shape 152"/>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3A9ED9"/>
                </a:solidFill>
                <a:latin typeface="Source Code Pro"/>
                <a:ea typeface="Source Code Pro"/>
                <a:cs typeface="Source Code Pro"/>
                <a:sym typeface="Source Code Pro"/>
              </a:rPr>
              <a:t>/ Heading goes here /</a:t>
            </a:r>
          </a:p>
        </p:txBody>
      </p:sp>
      <p:pic>
        <p:nvPicPr>
          <p:cNvPr id="22" name="Shape 15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54"/>
          <p:cNvCxnSpPr/>
          <p:nvPr userDrawn="1"/>
        </p:nvCxnSpPr>
        <p:spPr>
          <a:xfrm>
            <a:off x="3596400" y="43726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24" name="Shape 155"/>
          <p:cNvCxnSpPr/>
          <p:nvPr userDrawn="1"/>
        </p:nvCxnSpPr>
        <p:spPr>
          <a:xfrm>
            <a:off x="3596400" y="935850"/>
            <a:ext cx="1951199" cy="0"/>
          </a:xfrm>
          <a:prstGeom prst="straightConnector1">
            <a:avLst/>
          </a:prstGeom>
          <a:noFill/>
          <a:ln w="19050" cap="flat" cmpd="sng">
            <a:solidFill>
              <a:srgbClr val="3A9ED9"/>
            </a:solidFill>
            <a:prstDash val="solid"/>
            <a:round/>
            <a:headEnd type="none" w="med" len="med"/>
            <a:tailEnd type="none" w="med" len="med"/>
          </a:ln>
        </p:spPr>
      </p:cxnSp>
      <p:sp>
        <p:nvSpPr>
          <p:cNvPr id="25" name="Shape 15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26" name="Shape 157"/>
          <p:cNvSpPr/>
          <p:nvPr userDrawn="1"/>
        </p:nvSpPr>
        <p:spPr>
          <a:xfrm>
            <a:off x="4137600" y="501450"/>
            <a:ext cx="868800" cy="868800"/>
          </a:xfrm>
          <a:prstGeom prst="ellipse">
            <a:avLst/>
          </a:prstGeom>
          <a:solidFill>
            <a:srgbClr val="3A9ED9"/>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1</a:t>
            </a:r>
          </a:p>
        </p:txBody>
      </p:sp>
      <p:sp>
        <p:nvSpPr>
          <p:cNvPr id="27" name="Shape 158"/>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Shape 25"/>
        <p:cNvGrpSpPr/>
        <p:nvPr/>
      </p:nvGrpSpPr>
      <p:grpSpPr>
        <a:xfrm>
          <a:off x="0" y="0"/>
          <a:ext cx="0" cy="0"/>
          <a:chOff x="0" y="0"/>
          <a:chExt cx="0" cy="0"/>
        </a:xfrm>
      </p:grpSpPr>
      <p:sp>
        <p:nvSpPr>
          <p:cNvPr id="21" name="Shape 163"/>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ED0096"/>
                </a:solidFill>
                <a:latin typeface="Source Code Pro"/>
                <a:ea typeface="Source Code Pro"/>
                <a:cs typeface="Source Code Pro"/>
                <a:sym typeface="Source Code Pro"/>
              </a:rPr>
              <a:t>/ Heading goes here /</a:t>
            </a:r>
          </a:p>
        </p:txBody>
      </p:sp>
      <p:pic>
        <p:nvPicPr>
          <p:cNvPr id="22" name="Shape 16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65"/>
          <p:cNvCxnSpPr/>
          <p:nvPr userDrawn="1"/>
        </p:nvCxnSpPr>
        <p:spPr>
          <a:xfrm>
            <a:off x="3596400" y="43726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24" name="Shape 166"/>
          <p:cNvCxnSpPr/>
          <p:nvPr userDrawn="1"/>
        </p:nvCxnSpPr>
        <p:spPr>
          <a:xfrm>
            <a:off x="3596400" y="935850"/>
            <a:ext cx="1951199" cy="0"/>
          </a:xfrm>
          <a:prstGeom prst="straightConnector1">
            <a:avLst/>
          </a:prstGeom>
          <a:noFill/>
          <a:ln w="19050" cap="flat" cmpd="sng">
            <a:solidFill>
              <a:srgbClr val="ED0096"/>
            </a:solidFill>
            <a:prstDash val="solid"/>
            <a:round/>
            <a:headEnd type="none" w="med" len="med"/>
            <a:tailEnd type="none" w="med" len="med"/>
          </a:ln>
        </p:spPr>
      </p:cxnSp>
      <p:sp>
        <p:nvSpPr>
          <p:cNvPr id="25" name="Shape 16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26" name="Shape 168"/>
          <p:cNvSpPr/>
          <p:nvPr userDrawn="1"/>
        </p:nvSpPr>
        <p:spPr>
          <a:xfrm>
            <a:off x="4137600" y="501450"/>
            <a:ext cx="868800" cy="868800"/>
          </a:xfrm>
          <a:prstGeom prst="ellipse">
            <a:avLst/>
          </a:prstGeom>
          <a:solidFill>
            <a:srgbClr val="ED0096"/>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2</a:t>
            </a:r>
          </a:p>
        </p:txBody>
      </p:sp>
      <p:sp>
        <p:nvSpPr>
          <p:cNvPr id="27" name="Shape 169"/>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and description">
    <p:spTree>
      <p:nvGrpSpPr>
        <p:cNvPr id="1" name="Shape 35"/>
        <p:cNvGrpSpPr/>
        <p:nvPr/>
      </p:nvGrpSpPr>
      <p:grpSpPr>
        <a:xfrm>
          <a:off x="0" y="0"/>
          <a:ext cx="0" cy="0"/>
          <a:chOff x="0" y="0"/>
          <a:chExt cx="0" cy="0"/>
        </a:xfrm>
      </p:grpSpPr>
      <p:sp>
        <p:nvSpPr>
          <p:cNvPr id="7" name="Shape 174"/>
          <p:cNvSpPr/>
          <p:nvPr userDrawn="1"/>
        </p:nvSpPr>
        <p:spPr>
          <a:xfrm>
            <a:off x="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8" name="Shape 176"/>
          <p:cNvSpPr txBox="1">
            <a:spLocks noGrp="1"/>
          </p:cNvSpPr>
          <p:nvPr>
            <p:ph type="title"/>
          </p:nvPr>
        </p:nvSpPr>
        <p:spPr>
          <a:xfrm>
            <a:off x="525200" y="590275"/>
            <a:ext cx="3390900" cy="22848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9" name="Shape 177"/>
          <p:cNvSpPr/>
          <p:nvPr userDrawn="1"/>
        </p:nvSpPr>
        <p:spPr>
          <a:xfrm>
            <a:off x="3592175"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10" name="Shape 178"/>
          <p:cNvSpPr txBox="1">
            <a:spLocks noGrp="1"/>
          </p:cNvSpPr>
          <p:nvPr>
            <p:ph type="body" idx="1"/>
          </p:nvPr>
        </p:nvSpPr>
        <p:spPr>
          <a:xfrm>
            <a:off x="5365125"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11" name="Shape 17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tion">
    <p:spTree>
      <p:nvGrpSpPr>
        <p:cNvPr id="1" name="Shape 41"/>
        <p:cNvGrpSpPr/>
        <p:nvPr/>
      </p:nvGrpSpPr>
      <p:grpSpPr>
        <a:xfrm>
          <a:off x="0" y="0"/>
          <a:ext cx="0" cy="0"/>
          <a:chOff x="0" y="0"/>
          <a:chExt cx="0" cy="0"/>
        </a:xfrm>
      </p:grpSpPr>
      <p:sp>
        <p:nvSpPr>
          <p:cNvPr id="4" name="Shape 184"/>
          <p:cNvSpPr/>
          <p:nvPr userDrawn="1"/>
        </p:nvSpPr>
        <p:spPr>
          <a:xfrm>
            <a:off x="435020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5" name="Shape 186"/>
          <p:cNvSpPr txBox="1">
            <a:spLocks noGrp="1"/>
          </p:cNvSpPr>
          <p:nvPr>
            <p:ph type="title"/>
          </p:nvPr>
        </p:nvSpPr>
        <p:spPr>
          <a:xfrm>
            <a:off x="5310889" y="590275"/>
            <a:ext cx="3390900" cy="2284800"/>
          </a:xfrm>
          <a:prstGeom prst="rect">
            <a:avLst/>
          </a:prstGeom>
          <a:noFill/>
          <a:ln>
            <a:noFill/>
          </a:ln>
        </p:spPr>
        <p:txBody>
          <a:bodyPr lIns="91425" tIns="91425" rIns="91425" bIns="91425" anchor="t" anchorCtr="0">
            <a:noAutofit/>
          </a:bodyPr>
          <a:lstStyle/>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6" name="Shape 187"/>
          <p:cNvSpPr/>
          <p:nvPr userDrawn="1"/>
        </p:nvSpPr>
        <p:spPr>
          <a:xfrm>
            <a:off x="3150900"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7" name="Shape 188"/>
          <p:cNvSpPr txBox="1">
            <a:spLocks noGrp="1"/>
          </p:cNvSpPr>
          <p:nvPr>
            <p:ph type="body" idx="1"/>
          </p:nvPr>
        </p:nvSpPr>
        <p:spPr>
          <a:xfrm>
            <a:off x="677600"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8" name="Shape 18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g number">
    <p:spTree>
      <p:nvGrpSpPr>
        <p:cNvPr id="1" name="Shape 44"/>
        <p:cNvGrpSpPr/>
        <p:nvPr/>
      </p:nvGrpSpPr>
      <p:grpSpPr>
        <a:xfrm>
          <a:off x="0" y="0"/>
          <a:ext cx="0" cy="0"/>
          <a:chOff x="0" y="0"/>
          <a:chExt cx="0" cy="0"/>
        </a:xfrm>
      </p:grpSpPr>
      <p:sp>
        <p:nvSpPr>
          <p:cNvPr id="5" name="Shape 68"/>
          <p:cNvSpPr/>
          <p:nvPr userDrawn="1"/>
        </p:nvSpPr>
        <p:spPr>
          <a:xfrm>
            <a:off x="0" y="2206325"/>
            <a:ext cx="9144000" cy="2936999"/>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6" name="Shape 69"/>
          <p:cNvSpPr txBox="1">
            <a:spLocks noGrp="1"/>
          </p:cNvSpPr>
          <p:nvPr>
            <p:ph type="title"/>
          </p:nvPr>
        </p:nvSpPr>
        <p:spPr>
          <a:xfrm>
            <a:off x="720000" y="308200"/>
            <a:ext cx="7704000" cy="5726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2800" b="0" i="0" u="none" strike="noStrike" cap="none">
                <a:solidFill>
                  <a:srgbClr val="3A9ED9"/>
                </a:solidFill>
                <a:latin typeface="Source Code Pro"/>
                <a:ea typeface="Source Code Pro"/>
                <a:cs typeface="Source Code Pro"/>
                <a:sym typeface="Source Code Pro"/>
              </a:rPr>
              <a:t>/ meet your team /</a:t>
            </a:r>
          </a:p>
        </p:txBody>
      </p:sp>
      <p:pic>
        <p:nvPicPr>
          <p:cNvPr id="7" name="Shape 70" descr="megan.png"/>
          <p:cNvPicPr preferRelativeResize="0"/>
          <p:nvPr userDrawn="1"/>
        </p:nvPicPr>
        <p:blipFill rotWithShape="1">
          <a:blip r:embed="rId2">
            <a:alphaModFix/>
          </a:blip>
          <a:srcRect/>
          <a:stretch/>
        </p:blipFill>
        <p:spPr>
          <a:xfrm>
            <a:off x="1520895" y="1427375"/>
            <a:ext cx="1544624" cy="1544624"/>
          </a:xfrm>
          <a:prstGeom prst="rect">
            <a:avLst/>
          </a:prstGeom>
          <a:noFill/>
          <a:ln>
            <a:noFill/>
          </a:ln>
        </p:spPr>
      </p:pic>
      <p:pic>
        <p:nvPicPr>
          <p:cNvPr id="8" name="Shape 71" descr="jennifer.png"/>
          <p:cNvPicPr preferRelativeResize="0"/>
          <p:nvPr userDrawn="1"/>
        </p:nvPicPr>
        <p:blipFill rotWithShape="1">
          <a:blip r:embed="rId3">
            <a:alphaModFix/>
          </a:blip>
          <a:srcRect/>
          <a:stretch/>
        </p:blipFill>
        <p:spPr>
          <a:xfrm>
            <a:off x="3799691" y="1427374"/>
            <a:ext cx="1544624" cy="1544624"/>
          </a:xfrm>
          <a:prstGeom prst="rect">
            <a:avLst/>
          </a:prstGeom>
          <a:noFill/>
          <a:ln>
            <a:noFill/>
          </a:ln>
        </p:spPr>
      </p:pic>
      <p:sp>
        <p:nvSpPr>
          <p:cNvPr id="9" name="Shape 72"/>
          <p:cNvSpPr txBox="1"/>
          <p:nvPr userDrawn="1"/>
        </p:nvSpPr>
        <p:spPr>
          <a:xfrm>
            <a:off x="133456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rgbClr val="FFFFFF"/>
              </a:buClr>
              <a:buSzPct val="25000"/>
              <a:buFont typeface="Arial"/>
              <a:buNone/>
            </a:pPr>
            <a:r>
              <a:rPr lang="en" sz="1200" b="0" i="0" u="none" strike="noStrike" cap="none">
                <a:solidFill>
                  <a:srgbClr val="FFFFFF"/>
                </a:solidFill>
                <a:latin typeface="Calibri"/>
                <a:ea typeface="Calibri"/>
                <a:cs typeface="Calibri"/>
                <a:sym typeface="Calibri"/>
              </a:rPr>
              <a:t>Title Here</a:t>
            </a:r>
          </a:p>
        </p:txBody>
      </p:sp>
      <p:sp>
        <p:nvSpPr>
          <p:cNvPr id="10" name="Shape 73"/>
          <p:cNvSpPr txBox="1"/>
          <p:nvPr userDrawn="1"/>
        </p:nvSpPr>
        <p:spPr>
          <a:xfrm>
            <a:off x="3455689" y="3288050"/>
            <a:ext cx="2232599"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3F3F3"/>
              </a:buClr>
              <a:buSzPct val="25000"/>
              <a:buFont typeface="Arial"/>
              <a:buNone/>
            </a:pPr>
            <a:r>
              <a:rPr lang="en" sz="1600" b="1" i="0" u="none" strike="noStrike" cap="none">
                <a:solidFill>
                  <a:srgbClr val="F3F3F3"/>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1" name="Shape 74" descr="megan.png"/>
          <p:cNvPicPr preferRelativeResize="0"/>
          <p:nvPr userDrawn="1"/>
        </p:nvPicPr>
        <p:blipFill rotWithShape="1">
          <a:blip r:embed="rId2">
            <a:alphaModFix/>
          </a:blip>
          <a:srcRect/>
          <a:stretch/>
        </p:blipFill>
        <p:spPr>
          <a:xfrm>
            <a:off x="6078496" y="1427375"/>
            <a:ext cx="1544624" cy="1544624"/>
          </a:xfrm>
          <a:prstGeom prst="rect">
            <a:avLst/>
          </a:prstGeom>
          <a:noFill/>
          <a:ln>
            <a:noFill/>
          </a:ln>
        </p:spPr>
      </p:pic>
      <p:sp>
        <p:nvSpPr>
          <p:cNvPr id="12" name="Shape 75"/>
          <p:cNvSpPr txBox="1"/>
          <p:nvPr userDrawn="1"/>
        </p:nvSpPr>
        <p:spPr>
          <a:xfrm>
            <a:off x="589211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3" name="Shape 76" descr="metis-mini.png"/>
          <p:cNvPicPr preferRelativeResize="0"/>
          <p:nvPr userDrawn="1"/>
        </p:nvPicPr>
        <p:blipFill rotWithShape="1">
          <a:blip r:embed="rId4">
            <a:alphaModFix amt="25000"/>
          </a:blip>
          <a:srcRect/>
          <a:stretch/>
        </p:blipFill>
        <p:spPr>
          <a:xfrm>
            <a:off x="4408787" y="4444075"/>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48"/>
        <p:cNvGrpSpPr/>
        <p:nvPr/>
      </p:nvGrpSpPr>
      <p:grpSpPr>
        <a:xfrm>
          <a:off x="0" y="0"/>
          <a:ext cx="0" cy="0"/>
          <a:chOff x="0" y="0"/>
          <a:chExt cx="0" cy="0"/>
        </a:xfrm>
      </p:grpSpPr>
      <p:sp>
        <p:nvSpPr>
          <p:cNvPr id="3"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5"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6"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pic>
        <p:nvPicPr>
          <p:cNvPr id="7"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8"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9"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Shape 48"/>
        <p:cNvGrpSpPr/>
        <p:nvPr/>
      </p:nvGrpSpPr>
      <p:grpSpPr>
        <a:xfrm>
          <a:off x="0" y="0"/>
          <a:ext cx="0" cy="0"/>
          <a:chOff x="0" y="0"/>
          <a:chExt cx="0" cy="0"/>
        </a:xfrm>
      </p:grpSpPr>
      <p:sp>
        <p:nvSpPr>
          <p:cNvPr id="10" name="Shape 221"/>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12" name="Shape 223"/>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13" name="Shape 224"/>
          <p:cNvSpPr/>
          <p:nvPr userDrawn="1"/>
        </p:nvSpPr>
        <p:spPr>
          <a:xfrm>
            <a:off x="0" y="0"/>
            <a:ext cx="3048000" cy="13239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pic>
        <p:nvPicPr>
          <p:cNvPr id="14" name="Shape 22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15" name="Shape 22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
        <p:nvSpPr>
          <p:cNvPr id="16" name="Shape 227"/>
          <p:cNvSpPr txBox="1">
            <a:spLocks/>
          </p:cNvSpPr>
          <p:nvPr userDrawn="1"/>
        </p:nvSpPr>
        <p:spPr>
          <a:xfrm>
            <a:off x="2666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001</a:t>
            </a:r>
            <a:endParaRPr lang="en" sz="2400">
              <a:solidFill>
                <a:srgbClr val="FFFFFF"/>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Shape 48"/>
        <p:cNvGrpSpPr/>
        <p:nvPr/>
      </p:nvGrpSpPr>
      <p:grpSpPr>
        <a:xfrm>
          <a:off x="0" y="0"/>
          <a:ext cx="0" cy="0"/>
          <a:chOff x="0" y="0"/>
          <a:chExt cx="0" cy="0"/>
        </a:xfrm>
      </p:grpSpPr>
      <p:sp>
        <p:nvSpPr>
          <p:cNvPr id="9" name="Shape 232"/>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18" name="Shape 234"/>
          <p:cNvSpPr/>
          <p:nvPr userDrawn="1"/>
        </p:nvSpPr>
        <p:spPr>
          <a:xfrm>
            <a:off x="3048000" y="0"/>
            <a:ext cx="3048000" cy="13239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19" name="Shape 235"/>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pic>
        <p:nvPicPr>
          <p:cNvPr id="20" name="Shape 23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37"/>
          <p:cNvSpPr txBox="1">
            <a:spLocks/>
          </p:cNvSpPr>
          <p:nvPr userDrawn="1"/>
        </p:nvSpPr>
        <p:spPr>
          <a:xfrm>
            <a:off x="33210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002</a:t>
            </a:r>
            <a:endParaRPr lang="en" sz="2400">
              <a:solidFill>
                <a:srgbClr val="FFFFFF"/>
              </a:solidFill>
              <a:latin typeface="Source Code Pro"/>
              <a:ea typeface="Source Code Pro"/>
              <a:cs typeface="Source Code Pro"/>
              <a:sym typeface="Source Code Pro"/>
            </a:endParaRPr>
          </a:p>
        </p:txBody>
      </p:sp>
      <p:sp>
        <p:nvSpPr>
          <p:cNvPr id="22" name="Shape 238"/>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Shape 48"/>
        <p:cNvGrpSpPr/>
        <p:nvPr/>
      </p:nvGrpSpPr>
      <p:grpSpPr>
        <a:xfrm>
          <a:off x="0" y="0"/>
          <a:ext cx="0" cy="0"/>
          <a:chOff x="0" y="0"/>
          <a:chExt cx="0" cy="0"/>
        </a:xfrm>
      </p:grpSpPr>
      <p:sp>
        <p:nvSpPr>
          <p:cNvPr id="9" name="Shape 243"/>
          <p:cNvSpPr/>
          <p:nvPr userDrawn="1"/>
        </p:nvSpPr>
        <p:spPr>
          <a:xfrm>
            <a:off x="6096000" y="0"/>
            <a:ext cx="3048000" cy="13239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18" name="Shape 245"/>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19" name="Shape 246"/>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pic>
        <p:nvPicPr>
          <p:cNvPr id="20" name="Shape 247"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48"/>
          <p:cNvSpPr txBox="1">
            <a:spLocks/>
          </p:cNvSpPr>
          <p:nvPr userDrawn="1"/>
        </p:nvSpPr>
        <p:spPr>
          <a:xfrm>
            <a:off x="631990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003</a:t>
            </a:r>
            <a:endParaRPr lang="en" sz="2400">
              <a:solidFill>
                <a:srgbClr val="FFFFFF"/>
              </a:solidFill>
              <a:latin typeface="Source Code Pro"/>
              <a:ea typeface="Source Code Pro"/>
              <a:cs typeface="Source Code Pro"/>
              <a:sym typeface="Source Code Pro"/>
            </a:endParaRPr>
          </a:p>
        </p:txBody>
      </p:sp>
      <p:sp>
        <p:nvSpPr>
          <p:cNvPr id="22" name="Shape 249"/>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Shape 48"/>
        <p:cNvGrpSpPr/>
        <p:nvPr/>
      </p:nvGrpSpPr>
      <p:grpSpPr>
        <a:xfrm>
          <a:off x="0" y="0"/>
          <a:ext cx="0" cy="0"/>
          <a:chOff x="0" y="0"/>
          <a:chExt cx="0" cy="0"/>
        </a:xfrm>
      </p:grpSpPr>
      <p:sp>
        <p:nvSpPr>
          <p:cNvPr id="8" name="Shape 254"/>
          <p:cNvSpPr txBox="1">
            <a:spLocks noGrp="1"/>
          </p:cNvSpPr>
          <p:nvPr>
            <p:ph type="title"/>
          </p:nvPr>
        </p:nvSpPr>
        <p:spPr>
          <a:xfrm>
            <a:off x="464100" y="1644150"/>
            <a:ext cx="4900499" cy="12792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6000" b="1" i="0" u="none" strike="noStrike" cap="none">
                <a:solidFill>
                  <a:srgbClr val="ED0096"/>
                </a:solidFill>
                <a:latin typeface="Source Code Pro"/>
                <a:ea typeface="Source Code Pro"/>
                <a:cs typeface="Source Code Pro"/>
                <a:sym typeface="Source Code Pro"/>
              </a:rPr>
              <a:t>Questions?</a:t>
            </a:r>
          </a:p>
        </p:txBody>
      </p:sp>
      <p:pic>
        <p:nvPicPr>
          <p:cNvPr id="10" name="Shape 25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11" name="Shape 256"/>
          <p:cNvCxnSpPr/>
          <p:nvPr userDrawn="1"/>
        </p:nvCxnSpPr>
        <p:spPr>
          <a:xfrm>
            <a:off x="0" y="3082200"/>
            <a:ext cx="5322899" cy="0"/>
          </a:xfrm>
          <a:prstGeom prst="straightConnector1">
            <a:avLst/>
          </a:prstGeom>
          <a:noFill/>
          <a:ln w="19050" cap="flat" cmpd="sng">
            <a:solidFill>
              <a:srgbClr val="ED0096"/>
            </a:solidFill>
            <a:prstDash val="solid"/>
            <a:round/>
            <a:headEnd type="none" w="med" len="med"/>
            <a:tailEnd type="none" w="med" len="med"/>
          </a:ln>
        </p:spPr>
      </p:cxnSp>
      <p:sp>
        <p:nvSpPr>
          <p:cNvPr id="12" name="Shape 25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599" cy="2052599"/>
          </a:xfrm>
          <a:prstGeom prst="rect">
            <a:avLst/>
          </a:prstGeom>
          <a:noFill/>
          <a:ln>
            <a:noFill/>
          </a:ln>
        </p:spPr>
        <p:txBody>
          <a:bodyPr lIns="91425" tIns="91425" rIns="91425" bIns="91425" anchor="b" anchorCtr="0"/>
          <a:lstStyle>
            <a:lvl1pPr marL="0" marR="0" lvl="0" indent="0" algn="ctr" rtl="0">
              <a:lnSpc>
                <a:spcPct val="100000"/>
              </a:lnSpc>
              <a:spcBef>
                <a:spcPts val="0"/>
              </a:spcBef>
              <a:spcAft>
                <a:spcPts val="0"/>
              </a:spcAft>
              <a:buClr>
                <a:schemeClr val="dk1"/>
              </a:buClr>
              <a:buFont typeface="Arial"/>
              <a:buNone/>
              <a:defRPr sz="52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5200">
                <a:solidFill>
                  <a:schemeClr val="dk1"/>
                </a:solidFill>
              </a:defRPr>
            </a:lvl2pPr>
            <a:lvl3pPr lvl="2" indent="0" algn="ctr">
              <a:spcBef>
                <a:spcPts val="0"/>
              </a:spcBef>
              <a:buClr>
                <a:schemeClr val="dk1"/>
              </a:buClr>
              <a:buFont typeface="Arial"/>
              <a:buNone/>
              <a:defRPr sz="5200">
                <a:solidFill>
                  <a:schemeClr val="dk1"/>
                </a:solidFill>
              </a:defRPr>
            </a:lvl3pPr>
            <a:lvl4pPr lvl="3" indent="0" algn="ctr">
              <a:spcBef>
                <a:spcPts val="0"/>
              </a:spcBef>
              <a:buClr>
                <a:schemeClr val="dk1"/>
              </a:buClr>
              <a:buFont typeface="Arial"/>
              <a:buNone/>
              <a:defRPr sz="5200">
                <a:solidFill>
                  <a:schemeClr val="dk1"/>
                </a:solidFill>
              </a:defRPr>
            </a:lvl4pPr>
            <a:lvl5pPr lvl="4" indent="0" algn="ctr">
              <a:spcBef>
                <a:spcPts val="0"/>
              </a:spcBef>
              <a:buClr>
                <a:schemeClr val="dk1"/>
              </a:buClr>
              <a:buFont typeface="Arial"/>
              <a:buNone/>
              <a:defRPr sz="5200">
                <a:solidFill>
                  <a:schemeClr val="dk1"/>
                </a:solidFill>
              </a:defRPr>
            </a:lvl5pPr>
            <a:lvl6pPr lvl="5" indent="0" algn="ctr">
              <a:spcBef>
                <a:spcPts val="0"/>
              </a:spcBef>
              <a:buClr>
                <a:schemeClr val="dk1"/>
              </a:buClr>
              <a:buFont typeface="Arial"/>
              <a:buNone/>
              <a:defRPr sz="5200">
                <a:solidFill>
                  <a:schemeClr val="dk1"/>
                </a:solidFill>
              </a:defRPr>
            </a:lvl6pPr>
            <a:lvl7pPr lvl="6" indent="0" algn="ctr">
              <a:spcBef>
                <a:spcPts val="0"/>
              </a:spcBef>
              <a:buClr>
                <a:schemeClr val="dk1"/>
              </a:buClr>
              <a:buFont typeface="Arial"/>
              <a:buNone/>
              <a:defRPr sz="5200">
                <a:solidFill>
                  <a:schemeClr val="dk1"/>
                </a:solidFill>
              </a:defRPr>
            </a:lvl7pPr>
            <a:lvl8pPr lvl="7" indent="0" algn="ctr">
              <a:spcBef>
                <a:spcPts val="0"/>
              </a:spcBef>
              <a:buClr>
                <a:schemeClr val="dk1"/>
              </a:buClr>
              <a:buFont typeface="Arial"/>
              <a:buNone/>
              <a:defRPr sz="5200">
                <a:solidFill>
                  <a:schemeClr val="dk1"/>
                </a:solidFill>
              </a:defRPr>
            </a:lvl8pPr>
            <a:lvl9pPr lvl="8" indent="0" algn="ctr">
              <a:spcBef>
                <a:spcPts val="0"/>
              </a:spcBef>
              <a:buClr>
                <a:schemeClr val="dk1"/>
              </a:buClr>
              <a:buFont typeface="Arial"/>
              <a:buNone/>
              <a:defRPr sz="5200">
                <a:solidFill>
                  <a:schemeClr val="dk1"/>
                </a:solidFill>
              </a:defRPr>
            </a:lvl9pPr>
          </a:lstStyle>
          <a:p>
            <a:endParaRPr/>
          </a:p>
        </p:txBody>
      </p:sp>
      <p:sp>
        <p:nvSpPr>
          <p:cNvPr id="11" name="Shape 11"/>
          <p:cNvSpPr txBox="1">
            <a:spLocks noGrp="1"/>
          </p:cNvSpPr>
          <p:nvPr>
            <p:ph type="subTitle" idx="1"/>
          </p:nvPr>
        </p:nvSpPr>
        <p:spPr>
          <a:xfrm>
            <a:off x="311700" y="2834125"/>
            <a:ext cx="8520599" cy="792600"/>
          </a:xfrm>
          <a:prstGeom prst="rect">
            <a:avLst/>
          </a:prstGeom>
          <a:noFill/>
          <a:ln>
            <a:noFill/>
          </a:ln>
        </p:spPr>
        <p:txBody>
          <a:bodyPr lIns="91425" tIns="91425" rIns="91425" bIns="91425" anchor="t" anchorCtr="0"/>
          <a:lstStyle>
            <a:lvl1pPr marL="0" marR="0" lvl="0"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1pPr>
            <a:lvl2pPr marL="457200" marR="0" lvl="1"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2pPr>
            <a:lvl3pPr marL="914400" marR="0" lvl="2"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3pPr>
            <a:lvl4pPr marL="1371600" marR="0" lvl="3"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4pPr>
            <a:lvl5pPr marL="1828800" marR="0" lvl="4"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5pPr>
            <a:lvl6pPr marL="2286000" marR="0" lvl="5"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6pPr>
            <a:lvl7pPr marL="2743200" marR="0" lvl="6"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7pPr>
            <a:lvl8pPr marL="3200400" marR="0" lvl="7"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8pPr>
            <a:lvl9pPr marL="3657600" marR="0" lvl="8"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9pPr>
          </a:lstStyle>
          <a:p>
            <a:endParaRPr/>
          </a:p>
        </p:txBody>
      </p:sp>
      <p:sp>
        <p:nvSpPr>
          <p:cNvPr id="12" name="Shape 12"/>
          <p:cNvSpPr txBox="1">
            <a:spLocks noGrp="1"/>
          </p:cNvSpPr>
          <p:nvPr>
            <p:ph type="sldNum" idx="12"/>
          </p:nvPr>
        </p:nvSpPr>
        <p:spPr>
          <a:xfrm>
            <a:off x="8472457" y="4663216"/>
            <a:ext cx="548699" cy="39360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25872281"/>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dirty="0"/>
          </a:p>
        </p:txBody>
      </p:sp>
    </p:spTree>
    <p:extLst>
      <p:ext uri="{BB962C8B-B14F-4D97-AF65-F5344CB8AC3E}">
        <p14:creationId xmlns:p14="http://schemas.microsoft.com/office/powerpoint/2010/main" val="1146199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dirty="0"/>
          </a:p>
        </p:txBody>
      </p:sp>
    </p:spTree>
    <p:extLst>
      <p:ext uri="{BB962C8B-B14F-4D97-AF65-F5344CB8AC3E}">
        <p14:creationId xmlns:p14="http://schemas.microsoft.com/office/powerpoint/2010/main" val="12485316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dirty="0"/>
          </a:p>
        </p:txBody>
      </p:sp>
    </p:spTree>
    <p:extLst>
      <p:ext uri="{BB962C8B-B14F-4D97-AF65-F5344CB8AC3E}">
        <p14:creationId xmlns:p14="http://schemas.microsoft.com/office/powerpoint/2010/main" val="10092309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dirty="0"/>
          </a:p>
        </p:txBody>
      </p:sp>
    </p:spTree>
    <p:extLst>
      <p:ext uri="{BB962C8B-B14F-4D97-AF65-F5344CB8AC3E}">
        <p14:creationId xmlns:p14="http://schemas.microsoft.com/office/powerpoint/2010/main" val="13182788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DF01D69-A501-704B-80CB-1B3152437FD0}" type="slidenum">
              <a:rPr lang="en-US" smtClean="0"/>
              <a:t>‹#›</a:t>
            </a:fld>
            <a:endParaRPr lang="en-US" dirty="0"/>
          </a:p>
        </p:txBody>
      </p:sp>
    </p:spTree>
    <p:extLst>
      <p:ext uri="{BB962C8B-B14F-4D97-AF65-F5344CB8AC3E}">
        <p14:creationId xmlns:p14="http://schemas.microsoft.com/office/powerpoint/2010/main" val="723929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DF01D69-A501-704B-80CB-1B3152437FD0}" type="slidenum">
              <a:rPr lang="en-US" smtClean="0"/>
              <a:t>‹#›</a:t>
            </a:fld>
            <a:endParaRPr lang="en-US" dirty="0"/>
          </a:p>
        </p:txBody>
      </p:sp>
    </p:spTree>
    <p:extLst>
      <p:ext uri="{BB962C8B-B14F-4D97-AF65-F5344CB8AC3E}">
        <p14:creationId xmlns:p14="http://schemas.microsoft.com/office/powerpoint/2010/main" val="1594733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DF01D69-A501-704B-80CB-1B3152437FD0}" type="slidenum">
              <a:rPr lang="en-US" smtClean="0"/>
              <a:t>‹#›</a:t>
            </a:fld>
            <a:endParaRPr lang="en-US" dirty="0"/>
          </a:p>
        </p:txBody>
      </p:sp>
    </p:spTree>
    <p:extLst>
      <p:ext uri="{BB962C8B-B14F-4D97-AF65-F5344CB8AC3E}">
        <p14:creationId xmlns:p14="http://schemas.microsoft.com/office/powerpoint/2010/main" val="20941712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dirty="0"/>
          </a:p>
        </p:txBody>
      </p:sp>
    </p:spTree>
    <p:extLst>
      <p:ext uri="{BB962C8B-B14F-4D97-AF65-F5344CB8AC3E}">
        <p14:creationId xmlns:p14="http://schemas.microsoft.com/office/powerpoint/2010/main" val="16270274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dirty="0"/>
          </a:p>
        </p:txBody>
      </p:sp>
    </p:spTree>
    <p:extLst>
      <p:ext uri="{BB962C8B-B14F-4D97-AF65-F5344CB8AC3E}">
        <p14:creationId xmlns:p14="http://schemas.microsoft.com/office/powerpoint/2010/main" val="1540234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dirty="0"/>
          </a:p>
        </p:txBody>
      </p:sp>
    </p:spTree>
    <p:extLst>
      <p:ext uri="{BB962C8B-B14F-4D97-AF65-F5344CB8AC3E}">
        <p14:creationId xmlns:p14="http://schemas.microsoft.com/office/powerpoint/2010/main" val="9541841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4357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4638"/>
            <a:ext cx="5762625" cy="4357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dirty="0"/>
          </a:p>
        </p:txBody>
      </p:sp>
    </p:spTree>
    <p:extLst>
      <p:ext uri="{BB962C8B-B14F-4D97-AF65-F5344CB8AC3E}">
        <p14:creationId xmlns:p14="http://schemas.microsoft.com/office/powerpoint/2010/main" val="17118605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sp>
        <p:nvSpPr>
          <p:cNvPr id="9"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11" name="Picture 10" descr="StackedISWhite.png"/>
          <p:cNvPicPr>
            <a:picLocks noChangeAspect="1"/>
          </p:cNvPicPr>
          <p:nvPr/>
        </p:nvPicPr>
        <p:blipFill>
          <a:blip r:embed="rId3"/>
          <a:stretch>
            <a:fillRect/>
          </a:stretch>
        </p:blipFill>
        <p:spPr>
          <a:xfrm>
            <a:off x="462619" y="399798"/>
            <a:ext cx="1230751" cy="1157248"/>
          </a:xfrm>
          <a:prstGeom prst="rect">
            <a:avLst/>
          </a:prstGeom>
        </p:spPr>
      </p:pic>
    </p:spTree>
    <p:extLst/>
  </p:cSld>
  <p:clrMapOvr>
    <a:masterClrMapping/>
  </p:clrMapOvr>
  <p:timing>
    <p:tnLst>
      <p:par>
        <p:cTn id="1" dur="indefinite" restart="never" nodeType="tmRoot"/>
      </p:par>
    </p:tnLst>
  </p:timing>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9144000" cy="4768850"/>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19394" y="225843"/>
            <a:ext cx="1406758" cy="1153858"/>
          </a:xfrm>
          <a:prstGeom prst="rect">
            <a:avLst/>
          </a:prstGeom>
          <a:noFill/>
          <a:extLst>
            <a:ext uri="{909E8E84-426E-40dd-AFC4-6F175D3DCCD1}">
              <a14:hiddenFill xmlns:a14="http://schemas.microsoft.com/office/drawing/2010/main" xmlns="">
                <a:solidFill>
                  <a:srgbClr val="FFFFFF"/>
                </a:solidFill>
              </a14:hiddenFill>
            </a:ext>
          </a:extLst>
        </p:spPr>
      </p:pic>
      <p:sp>
        <p:nvSpPr>
          <p:cNvPr id="30" name="Rectangle 29"/>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3"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58" name="Picture 57" descr="StackedISWhite.png"/>
          <p:cNvPicPr>
            <a:picLocks noChangeAspect="1"/>
          </p:cNvPicPr>
          <p:nvPr/>
        </p:nvPicPr>
        <p:blipFill>
          <a:blip r:embed="rId3"/>
          <a:stretch>
            <a:fillRect/>
          </a:stretch>
        </p:blipFill>
        <p:spPr>
          <a:xfrm>
            <a:off x="8294375" y="4805888"/>
            <a:ext cx="314741" cy="295944"/>
          </a:xfrm>
          <a:prstGeom prst="rect">
            <a:avLst/>
          </a:prstGeom>
        </p:spPr>
      </p:pic>
      <p:cxnSp>
        <p:nvCxnSpPr>
          <p:cNvPr id="74" name="Straight Connector 73"/>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455613" y="1203325"/>
            <a:ext cx="8228012" cy="3425825"/>
          </a:xfrm>
        </p:spPr>
        <p:txBody>
          <a:bodyPr/>
          <a:lstStyle>
            <a:lvl1pPr>
              <a:defRPr>
                <a:solidFill>
                  <a:srgbClr val="0071C5"/>
                </a:solidFill>
              </a:defRPr>
            </a:lvl1pPr>
            <a:lvl2pPr>
              <a:defRPr sz="1800"/>
            </a:lvl2pPr>
            <a:lvl3pPr>
              <a:defRPr sz="1800"/>
            </a:lvl3pPr>
            <a:lvl4pPr>
              <a:defRPr sz="1600"/>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4830763" y="943430"/>
            <a:ext cx="3181123" cy="1670950"/>
          </a:xfrm>
          <a:solidFill>
            <a:schemeClr val="bg2">
              <a:lumMod val="60000"/>
              <a:lumOff val="40000"/>
            </a:schemeClr>
          </a:solidFill>
        </p:spPr>
        <p:txBody>
          <a:bodyPr/>
          <a:lstStyle>
            <a:lvl1pPr>
              <a:defRPr sz="1800">
                <a:latin typeface="Intel Clear"/>
              </a:defRPr>
            </a:lvl1pPr>
          </a:lstStyle>
          <a:p>
            <a:r>
              <a:rPr lang="en-US" sz="1100" dirty="0" smtClean="0">
                <a:latin typeface="Arial"/>
              </a:rPr>
              <a:t>Drag picture to placeholder or click icon to add</a:t>
            </a:r>
            <a:endParaRPr lang="en-US" sz="1100" dirty="0">
              <a:latin typeface="Arial"/>
            </a:endParaRPr>
          </a:p>
        </p:txBody>
      </p:sp>
      <p:sp>
        <p:nvSpPr>
          <p:cNvPr id="10" name="Picture Placeholder 8"/>
          <p:cNvSpPr>
            <a:spLocks noGrp="1"/>
          </p:cNvSpPr>
          <p:nvPr>
            <p:ph type="pic" sz="quarter" idx="14"/>
          </p:nvPr>
        </p:nvSpPr>
        <p:spPr>
          <a:xfrm>
            <a:off x="4830763" y="2843897"/>
            <a:ext cx="3181123" cy="1670950"/>
          </a:xfrm>
          <a:solidFill>
            <a:schemeClr val="bg2">
              <a:lumMod val="60000"/>
              <a:lumOff val="40000"/>
            </a:schemeClr>
          </a:solidFill>
        </p:spPr>
        <p:txBody>
          <a:bodyPr/>
          <a:lstStyle>
            <a:lvl1pPr>
              <a:defRPr sz="1800">
                <a:latin typeface="Intel Clear"/>
              </a:defRPr>
            </a:lvl1pPr>
          </a:lstStyle>
          <a:p>
            <a:r>
              <a:rPr lang="en-US" sz="1100" dirty="0" smtClean="0">
                <a:latin typeface="Arial"/>
              </a:rPr>
              <a:t>Drag picture to placeholder or click icon to add</a:t>
            </a:r>
            <a:endParaRPr lang="en-US" sz="1100" dirty="0">
              <a:latin typeface="Arial"/>
            </a:endParaRPr>
          </a:p>
        </p:txBody>
      </p:sp>
    </p:spTree>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4678363" y="1203324"/>
            <a:ext cx="4005264"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55613" y="1203325"/>
            <a:ext cx="8228013" cy="3425825"/>
          </a:xfrm>
        </p:spPr>
        <p:txBody>
          <a:bodyPr anchor="ctr" anchorCtr="0"/>
          <a:lstStyle>
            <a:lvl1pPr marL="190500" indent="-190500">
              <a:defRPr sz="3600" b="1" baseline="0">
                <a:solidFill>
                  <a:schemeClr val="accent2"/>
                </a:solidFill>
                <a:latin typeface="+mn-lt"/>
                <a:cs typeface="Intel Clear Light" panose="020B0404020203020204" pitchFamily="34" charset="0"/>
              </a:defRPr>
            </a:lvl1pPr>
            <a:lvl2pPr marL="417513" indent="-225425">
              <a:buFont typeface="Lucida Grande"/>
              <a:buChar char="−"/>
              <a:defRPr sz="1200" baseline="0">
                <a:latin typeface="+mn-lt"/>
                <a:cs typeface="Intel Clear" panose="020B0604020203020204" pitchFamily="34" charset="0"/>
              </a:defRPr>
            </a:lvl2pPr>
            <a:lvl3pPr marL="685800" indent="-228600">
              <a:defRPr sz="1200">
                <a:latin typeface="+mn-lt"/>
              </a:defRPr>
            </a:lvl3pPr>
            <a:lvl4pPr>
              <a:defRPr sz="1100">
                <a:latin typeface="+mn-lt"/>
              </a:defRPr>
            </a:lvl4pPr>
            <a:lvl5pPr>
              <a:defRPr sz="105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9144000" cy="4762834"/>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2574131"/>
            <a:ext cx="9144000" cy="2188703"/>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18" name="Content Placeholder 2"/>
          <p:cNvSpPr>
            <a:spLocks noGrp="1"/>
          </p:cNvSpPr>
          <p:nvPr>
            <p:ph sz="half" idx="1" hasCustomPrompt="1"/>
          </p:nvPr>
        </p:nvSpPr>
        <p:spPr>
          <a:xfrm>
            <a:off x="455613" y="1203325"/>
            <a:ext cx="4006851"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4678363" y="1203325"/>
            <a:ext cx="4005264"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009487" y="4975795"/>
            <a:ext cx="184666" cy="246221"/>
          </a:xfrm>
          <a:prstGeom prst="rect">
            <a:avLst/>
          </a:prstGeom>
          <a:noFill/>
        </p:spPr>
        <p:txBody>
          <a:bodyPr wrap="none" rtlCol="0">
            <a:spAutoFit/>
          </a:bodyPr>
          <a:lstStyle/>
          <a:p>
            <a:endParaRPr lang="en-US" sz="1000" dirty="0" smtClean="0">
              <a:solidFill>
                <a:schemeClr val="tx2"/>
              </a:solidFill>
              <a:cs typeface="Neo Sans Intel"/>
            </a:endParaRPr>
          </a:p>
        </p:txBody>
      </p:sp>
      <p:sp>
        <p:nvSpPr>
          <p:cNvPr id="10"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4678363" y="2"/>
            <a:ext cx="4465637" cy="4755616"/>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455613" y="308848"/>
            <a:ext cx="4006850" cy="868680"/>
          </a:xfrm>
        </p:spPr>
        <p:txBody>
          <a:bodyPr>
            <a:noAutofit/>
          </a:bodyPr>
          <a:lstStyle>
            <a:lvl1pPr>
              <a:defRPr sz="2800"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8725556" y="4795523"/>
            <a:ext cx="280395" cy="273844"/>
          </a:xfrm>
        </p:spPr>
        <p:txBody>
          <a:bodyPr/>
          <a:lstStyle/>
          <a:p>
            <a:fld id="{EE2556C5-CE8C-6547-B838-EA80C61A4AF7}" type="slidenum">
              <a:rPr lang="en-US" smtClean="0"/>
              <a:pPr/>
              <a:t>‹#›</a:t>
            </a:fld>
            <a:endParaRPr lang="en-US" dirty="0"/>
          </a:p>
        </p:txBody>
      </p:sp>
      <p:sp>
        <p:nvSpPr>
          <p:cNvPr id="17" name="Content Placeholder 2"/>
          <p:cNvSpPr>
            <a:spLocks noGrp="1"/>
          </p:cNvSpPr>
          <p:nvPr>
            <p:ph sz="half" idx="1" hasCustomPrompt="1"/>
          </p:nvPr>
        </p:nvSpPr>
        <p:spPr>
          <a:xfrm>
            <a:off x="455614" y="1325244"/>
            <a:ext cx="4006850"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baseline="0">
                <a:solidFill>
                  <a:schemeClr val="accent2"/>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i="0" baseline="0">
                <a:solidFill>
                  <a:srgbClr val="F3D54E"/>
                </a:solidFill>
                <a:latin typeface="Intel Clear"/>
                <a:cs typeface="Intel Clear"/>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5613" y="2234882"/>
            <a:ext cx="7772400" cy="1125140"/>
          </a:xfrm>
        </p:spPr>
        <p:txBody>
          <a:bodyPr anchor="t" anchorCtr="0">
            <a:noAutofit/>
          </a:bodyPr>
          <a:lstStyle>
            <a:lvl1pPr marL="0" indent="0">
              <a:buNone/>
              <a:defRPr sz="4000"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7" name="Title 1"/>
          <p:cNvSpPr>
            <a:spLocks noGrp="1"/>
          </p:cNvSpPr>
          <p:nvPr>
            <p:ph type="title" hasCustomPrompt="1"/>
          </p:nvPr>
        </p:nvSpPr>
        <p:spPr>
          <a:xfrm>
            <a:off x="455613" y="1101794"/>
            <a:ext cx="7772400" cy="1021556"/>
          </a:xfrm>
        </p:spPr>
        <p:txBody>
          <a:bodyPr anchor="b" anchorCtr="0">
            <a:noAutofit/>
          </a:bodyPr>
          <a:lstStyle>
            <a:lvl1pPr algn="l">
              <a:lnSpc>
                <a:spcPct val="80000"/>
              </a:lnSpc>
              <a:defRPr sz="4000"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260088"/>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455613" y="3348787"/>
            <a:ext cx="7772400" cy="1125140"/>
          </a:xfrm>
        </p:spPr>
        <p:txBody>
          <a:bodyPr anchor="t" anchorCtr="0">
            <a:noAutofit/>
          </a:bodyPr>
          <a:lstStyle>
            <a:lvl1pPr marL="0" indent="0">
              <a:buNone/>
              <a:defRPr sz="1600" b="0" baseline="0">
                <a:solidFill>
                  <a:srgbClr val="F3D54E"/>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1"/>
            <a:ext cx="9144000" cy="2574131"/>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 name="Title 2"/>
          <p:cNvSpPr>
            <a:spLocks noGrp="1"/>
          </p:cNvSpPr>
          <p:nvPr>
            <p:ph type="title"/>
          </p:nvPr>
        </p:nvSpPr>
        <p:spPr/>
        <p:txBody>
          <a:bodyPr/>
          <a:lstStyle/>
          <a:p>
            <a:r>
              <a:rPr lang="en-US" smtClean="0"/>
              <a:t>Click to edit Master title style</a:t>
            </a:r>
            <a:endParaRPr lang="en-US"/>
          </a:p>
        </p:txBody>
      </p:sp>
    </p:spTree>
    <p:extLst/>
  </p:cSld>
  <p:clrMapOvr>
    <a:masterClrMapping/>
  </p:clrMapOvr>
  <p:timing>
    <p:tnLst>
      <p:par>
        <p:cTn id="1" dur="indefinite" restart="never" nodeType="tmRoot"/>
      </p:par>
    </p:tnLst>
  </p:timing>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24200" y="4842365"/>
            <a:ext cx="2895600" cy="250826"/>
          </a:xfrm>
        </p:spPr>
        <p:txBody>
          <a:bodyPr/>
          <a:lstStyle/>
          <a:p>
            <a:endParaRPr lang="en-US" dirty="0"/>
          </a:p>
        </p:txBody>
      </p:sp>
      <p:sp>
        <p:nvSpPr>
          <p:cNvPr id="4" name="Slide Number Placeholder 3"/>
          <p:cNvSpPr>
            <a:spLocks noGrp="1"/>
          </p:cNvSpPr>
          <p:nvPr>
            <p:ph type="sldNum" sz="quarter" idx="12"/>
          </p:nvPr>
        </p:nvSpPr>
        <p:spPr>
          <a:xfrm>
            <a:off x="8743950" y="4779605"/>
            <a:ext cx="262001" cy="247085"/>
          </a:xfrm>
        </p:spPr>
        <p:txBody>
          <a:bodyPr/>
          <a:lstStyle/>
          <a:p>
            <a:fld id="{EE2556C5-CE8C-6547-B838-EA80C61A4AF7}" type="slidenum">
              <a:rPr lang="en-US" smtClean="0"/>
              <a:pPr/>
              <a:t>‹#›</a:t>
            </a:fld>
            <a:endParaRPr lang="en-US" dirty="0"/>
          </a:p>
        </p:txBody>
      </p:sp>
      <p:sp>
        <p:nvSpPr>
          <p:cNvPr id="5"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6"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sp>
        <p:nvSpPr>
          <p:cNvPr id="7"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dirty="0">
              <a:solidFill>
                <a:srgbClr val="000000"/>
              </a:solidFill>
              <a:latin typeface="Arial"/>
              <a:ea typeface="Arial"/>
              <a:cs typeface="Arial"/>
              <a:sym typeface="Arial"/>
            </a:endParaRPr>
          </a:p>
        </p:txBody>
      </p:sp>
      <p:pic>
        <p:nvPicPr>
          <p:cNvPr id="8"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9"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10"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9144000" cy="4768850"/>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0071C5"/>
              </a:solidFill>
            </a:endParaRPr>
          </a:p>
        </p:txBody>
      </p:sp>
      <p:pic>
        <p:nvPicPr>
          <p:cNvPr id="5" name="Picture 4" descr="StackedISWhite.png"/>
          <p:cNvPicPr>
            <a:picLocks noChangeAspect="1"/>
          </p:cNvPicPr>
          <p:nvPr/>
        </p:nvPicPr>
        <p:blipFill>
          <a:blip r:embed="rId2"/>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5695EFAE-97D9-482A-8603-BDA4FE5A83E6}" type="datetimeFigureOut">
              <a:rPr lang="en-US" smtClean="0"/>
              <a:t>8/25/2017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A15E00A-457A-4DC3-AA03-374ABBD35A5E}" type="slidenum">
              <a:rPr lang="en-US" smtClean="0"/>
              <a:t>‹#›</a:t>
            </a:fld>
            <a:endParaRPr lang="en-US" dirty="0"/>
          </a:p>
        </p:txBody>
      </p:sp>
    </p:spTree>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and body">
    <p:bg>
      <p:bgPr>
        <a:solidFill>
          <a:schemeClr val="tx1"/>
        </a:solidFill>
        <a:effectLst/>
      </p:bgPr>
    </p:bg>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121092678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 Type="http://schemas.openxmlformats.org/officeDocument/2006/relationships/slideLayout" Target="../slideLayouts/slideLayout29.xml"/><Relationship Id="rId21" Type="http://schemas.openxmlformats.org/officeDocument/2006/relationships/image" Target="../media/image4.png"/><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562381577"/>
      </p:ext>
    </p:extLst>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706" r:id="rId15"/>
  </p:sldLayoutIdLst>
  <p:timing>
    <p:tnLst>
      <p:par>
        <p:cTn id="1" dur="indefinite" restart="never" nodeType="tmRoot"/>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BDF01D69-A501-704B-80CB-1B3152437FD0}" type="slidenum">
              <a:rPr lang="en-US" smtClean="0"/>
              <a:t>‹#›</a:t>
            </a:fld>
            <a:endParaRPr lang="en-US" dirty="0"/>
          </a:p>
        </p:txBody>
      </p:sp>
    </p:spTree>
    <p:extLst>
      <p:ext uri="{BB962C8B-B14F-4D97-AF65-F5344CB8AC3E}">
        <p14:creationId xmlns:p14="http://schemas.microsoft.com/office/powerpoint/2010/main" val="135114168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5613" y="310130"/>
            <a:ext cx="8229600" cy="86868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455613" y="1203325"/>
            <a:ext cx="8228012" cy="3425825"/>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6"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16" name="Picture 15" descr="StackedISWhite.png"/>
          <p:cNvPicPr>
            <a:picLocks noChangeAspect="1"/>
          </p:cNvPicPr>
          <p:nvPr/>
        </p:nvPicPr>
        <p:blipFill>
          <a:blip r:embed="rId21"/>
          <a:stretch>
            <a:fillRect/>
          </a:stretch>
        </p:blipFill>
        <p:spPr>
          <a:xfrm>
            <a:off x="8294375" y="4805888"/>
            <a:ext cx="314741" cy="295944"/>
          </a:xfrm>
          <a:prstGeom prst="rect">
            <a:avLst/>
          </a:prstGeom>
        </p:spPr>
      </p:pic>
      <p:cxnSp>
        <p:nvCxnSpPr>
          <p:cNvPr id="37" name="Straight Connector 36"/>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0278608"/>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buNone/>
        <a:defRPr sz="2800"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600" kern="1200" baseline="0">
          <a:solidFill>
            <a:srgbClr val="003C71"/>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600" kern="1200">
          <a:solidFill>
            <a:srgbClr val="003C71"/>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400" kern="1200">
          <a:solidFill>
            <a:srgbClr val="003C71"/>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rgbClr val="003C71"/>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5.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45.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5.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45.xml"/><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4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1.emf"/></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10.png"/><Relationship Id="rId2" Type="http://schemas.openxmlformats.org/officeDocument/2006/relationships/notesSlide" Target="../notesSlides/notesSlide25.xml"/><Relationship Id="rId1" Type="http://schemas.openxmlformats.org/officeDocument/2006/relationships/slideLayout" Target="../slideLayouts/slideLayout45.xml"/><Relationship Id="rId6" Type="http://schemas.openxmlformats.org/officeDocument/2006/relationships/image" Target="../media/image200.png"/><Relationship Id="rId5" Type="http://schemas.openxmlformats.org/officeDocument/2006/relationships/image" Target="../media/image190.png"/><Relationship Id="rId4" Type="http://schemas.openxmlformats.org/officeDocument/2006/relationships/image" Target="../media/image11.emf"/></Relationships>
</file>

<file path=ppt/slides/_rels/slide2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1.emf"/><Relationship Id="rId7" Type="http://schemas.openxmlformats.org/officeDocument/2006/relationships/image" Target="../media/image210.png"/><Relationship Id="rId2" Type="http://schemas.openxmlformats.org/officeDocument/2006/relationships/notesSlide" Target="../notesSlides/notesSlide26.xml"/><Relationship Id="rId1" Type="http://schemas.openxmlformats.org/officeDocument/2006/relationships/slideLayout" Target="../slideLayouts/slideLayout45.xml"/><Relationship Id="rId6" Type="http://schemas.openxmlformats.org/officeDocument/2006/relationships/image" Target="../media/image200.png"/><Relationship Id="rId5" Type="http://schemas.openxmlformats.org/officeDocument/2006/relationships/image" Target="../media/image190.png"/></Relationships>
</file>

<file path=ppt/slides/_rels/slide28.xml.rels><?xml version="1.0" encoding="UTF-8" standalone="yes"?>
<Relationships xmlns="http://schemas.openxmlformats.org/package/2006/relationships"><Relationship Id="rId8" Type="http://schemas.openxmlformats.org/officeDocument/2006/relationships/image" Target="../media/image270.png"/><Relationship Id="rId3" Type="http://schemas.openxmlformats.org/officeDocument/2006/relationships/image" Target="../media/image260.png"/><Relationship Id="rId7" Type="http://schemas.openxmlformats.org/officeDocument/2006/relationships/image" Target="../media/image210.png"/><Relationship Id="rId2" Type="http://schemas.openxmlformats.org/officeDocument/2006/relationships/notesSlide" Target="../notesSlides/notesSlide27.xml"/><Relationship Id="rId1" Type="http://schemas.openxmlformats.org/officeDocument/2006/relationships/slideLayout" Target="../slideLayouts/slideLayout45.xml"/><Relationship Id="rId6" Type="http://schemas.openxmlformats.org/officeDocument/2006/relationships/image" Target="../media/image200.png"/><Relationship Id="rId5" Type="http://schemas.openxmlformats.org/officeDocument/2006/relationships/image" Target="../media/image190.png"/><Relationship Id="rId10" Type="http://schemas.openxmlformats.org/officeDocument/2006/relationships/image" Target="../media/image33.png"/><Relationship Id="rId4" Type="http://schemas.openxmlformats.org/officeDocument/2006/relationships/image" Target="../media/image11.emf"/><Relationship Id="rId9" Type="http://schemas.openxmlformats.org/officeDocument/2006/relationships/image" Target="../media/image32.png"/></Relationships>
</file>

<file path=ppt/slides/_rels/slide29.xml.rels><?xml version="1.0" encoding="UTF-8" standalone="yes"?>
<Relationships xmlns="http://schemas.openxmlformats.org/package/2006/relationships"><Relationship Id="rId8" Type="http://schemas.openxmlformats.org/officeDocument/2006/relationships/image" Target="../media/image310.png"/><Relationship Id="rId3" Type="http://schemas.openxmlformats.org/officeDocument/2006/relationships/image" Target="../media/image11.emf"/><Relationship Id="rId7" Type="http://schemas.openxmlformats.org/officeDocument/2006/relationships/image" Target="../media/image300.png"/><Relationship Id="rId12"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45.xml"/><Relationship Id="rId6" Type="http://schemas.openxmlformats.org/officeDocument/2006/relationships/image" Target="../media/image210.png"/><Relationship Id="rId11" Type="http://schemas.openxmlformats.org/officeDocument/2006/relationships/image" Target="../media/image34.png"/><Relationship Id="rId5" Type="http://schemas.openxmlformats.org/officeDocument/2006/relationships/image" Target="../media/image200.png"/><Relationship Id="rId10" Type="http://schemas.openxmlformats.org/officeDocument/2006/relationships/image" Target="../media/image330.png"/><Relationship Id="rId4" Type="http://schemas.openxmlformats.org/officeDocument/2006/relationships/image" Target="../media/image190.png"/><Relationship Id="rId9" Type="http://schemas.openxmlformats.org/officeDocument/2006/relationships/image" Target="../media/image320.png"/></Relationships>
</file>

<file path=ppt/slides/_rels/slide30.x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45.xml"/><Relationship Id="rId6" Type="http://schemas.openxmlformats.org/officeDocument/2006/relationships/image" Target="../media/image210.png"/><Relationship Id="rId11" Type="http://schemas.openxmlformats.org/officeDocument/2006/relationships/image" Target="../media/image37.png"/><Relationship Id="rId5" Type="http://schemas.openxmlformats.org/officeDocument/2006/relationships/image" Target="../media/image200.png"/><Relationship Id="rId10" Type="http://schemas.openxmlformats.org/officeDocument/2006/relationships/image" Target="../media/image41.png"/><Relationship Id="rId4" Type="http://schemas.openxmlformats.org/officeDocument/2006/relationships/image" Target="../media/image190.png"/><Relationship Id="rId9" Type="http://schemas.openxmlformats.org/officeDocument/2006/relationships/image" Target="../media/image40.png"/></Relationships>
</file>

<file path=ppt/slides/_rels/slide31.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39.png"/><Relationship Id="rId3" Type="http://schemas.openxmlformats.org/officeDocument/2006/relationships/image" Target="../media/image38.png"/><Relationship Id="rId7" Type="http://schemas.openxmlformats.org/officeDocument/2006/relationships/image" Target="../media/image210.png"/><Relationship Id="rId12"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45.xml"/><Relationship Id="rId6" Type="http://schemas.openxmlformats.org/officeDocument/2006/relationships/image" Target="../media/image200.png"/><Relationship Id="rId11" Type="http://schemas.openxmlformats.org/officeDocument/2006/relationships/image" Target="../media/image45.png"/><Relationship Id="rId5" Type="http://schemas.openxmlformats.org/officeDocument/2006/relationships/image" Target="../media/image190.png"/><Relationship Id="rId10" Type="http://schemas.openxmlformats.org/officeDocument/2006/relationships/image" Target="../media/image43.png"/><Relationship Id="rId4" Type="http://schemas.openxmlformats.org/officeDocument/2006/relationships/image" Target="../media/image11.emf"/><Relationship Id="rId9" Type="http://schemas.openxmlformats.org/officeDocument/2006/relationships/image" Target="../media/image41.png"/></Relationships>
</file>

<file path=ppt/slides/_rels/slide3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42.png"/><Relationship Id="rId7" Type="http://schemas.openxmlformats.org/officeDocument/2006/relationships/image" Target="../media/image210.png"/><Relationship Id="rId2" Type="http://schemas.openxmlformats.org/officeDocument/2006/relationships/notesSlide" Target="../notesSlides/notesSlide31.xml"/><Relationship Id="rId1" Type="http://schemas.openxmlformats.org/officeDocument/2006/relationships/slideLayout" Target="../slideLayouts/slideLayout45.xml"/><Relationship Id="rId6" Type="http://schemas.openxmlformats.org/officeDocument/2006/relationships/image" Target="../media/image200.png"/><Relationship Id="rId5" Type="http://schemas.openxmlformats.org/officeDocument/2006/relationships/image" Target="../media/image190.png"/><Relationship Id="rId10" Type="http://schemas.openxmlformats.org/officeDocument/2006/relationships/image" Target="../media/image44.png"/><Relationship Id="rId4" Type="http://schemas.openxmlformats.org/officeDocument/2006/relationships/image" Target="../media/image11.emf"/><Relationship Id="rId9" Type="http://schemas.openxmlformats.org/officeDocument/2006/relationships/image" Target="../media/image4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effectLst/>
      </p:bgPr>
    </p:bg>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US" sz="5000" b="0" i="0" u="none" strike="noStrike" cap="none" dirty="0" smtClean="0">
                <a:solidFill>
                  <a:srgbClr val="FFFFFF"/>
                </a:solidFill>
                <a:latin typeface="Avenir Book" charset="0"/>
                <a:ea typeface="Avenir Book" charset="0"/>
                <a:cs typeface="Avenir Book" charset="0"/>
                <a:sym typeface="Source Code Pro"/>
              </a:rPr>
              <a:t>Review of Machine Learning</a:t>
            </a:r>
            <a:endParaRPr lang="en" sz="5000" b="0" i="0" u="none" strike="noStrike" cap="none" dirty="0">
              <a:solidFill>
                <a:srgbClr val="FFFFFF"/>
              </a:solidFill>
              <a:latin typeface="Avenir Book" charset="0"/>
              <a:ea typeface="Avenir Book" charset="0"/>
              <a:cs typeface="Avenir Book" charset="0"/>
              <a:sym typeface="Source Code Pro"/>
            </a:endParaRPr>
          </a:p>
        </p:txBody>
      </p:sp>
      <p:sp>
        <p:nvSpPr>
          <p:cNvPr id="2" name="Subtitle 1"/>
          <p:cNvSpPr>
            <a:spLocks noGrp="1"/>
          </p:cNvSpPr>
          <p:nvPr>
            <p:ph type="subTitle" idx="1"/>
          </p:nvPr>
        </p:nvSpPr>
        <p:spPr/>
        <p:txBody>
          <a:bodyPr/>
          <a:lstStyle/>
          <a:p>
            <a:endParaRPr lang="en-US" dirty="0"/>
          </a:p>
        </p:txBody>
      </p:sp>
      <p:cxnSp>
        <p:nvCxnSpPr>
          <p:cNvPr id="56" name="Shape 56"/>
          <p:cNvCxnSpPr/>
          <p:nvPr/>
        </p:nvCxnSpPr>
        <p:spPr>
          <a:xfrm>
            <a:off x="609600" y="2679200"/>
            <a:ext cx="6264600" cy="0"/>
          </a:xfrm>
          <a:prstGeom prst="straightConnector1">
            <a:avLst/>
          </a:prstGeom>
          <a:noFill/>
          <a:ln w="19050" cap="flat" cmpd="sng">
            <a:solidFill>
              <a:srgbClr val="3A9ED9"/>
            </a:solidFill>
            <a:prstDash val="solid"/>
            <a:round/>
            <a:headEnd type="none" w="med" len="med"/>
            <a:tailEnd type="none" w="med" len="med"/>
          </a:ln>
        </p:spPr>
      </p:cxnSp>
    </p:spTree>
    <p:extLst>
      <p:ext uri="{BB962C8B-B14F-4D97-AF65-F5344CB8AC3E}">
        <p14:creationId xmlns:p14="http://schemas.microsoft.com/office/powerpoint/2010/main" val="14535023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1500" dirty="0" smtClean="0"/>
              <a:t>This presentation is for informational purposes only. INTEL MAKES NO WARRANTIES, EXPRESS OR IMPLIED, IN THIS SUMMARY. </a:t>
            </a:r>
          </a:p>
          <a:p>
            <a:r>
              <a:rPr lang="en-US" sz="1500" dirty="0" smtClean="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1500" dirty="0" smtClean="0">
                <a:hlinkClick r:id="rId2"/>
              </a:rPr>
              <a:t>intel.com</a:t>
            </a:r>
            <a:r>
              <a:rPr lang="en-US" sz="1500" dirty="0" smtClean="0"/>
              <a:t>. </a:t>
            </a:r>
          </a:p>
          <a:p>
            <a:r>
              <a:rPr lang="en-US" sz="1500" dirty="0" smtClean="0"/>
              <a:t>This sample source code is released under the </a:t>
            </a:r>
            <a:r>
              <a:rPr lang="en-US" sz="1500" dirty="0" smtClean="0">
                <a:hlinkClick r:id="rId3"/>
              </a:rPr>
              <a:t>Intel Sample Source Code License Agreement</a:t>
            </a:r>
            <a:r>
              <a:rPr lang="en-US" sz="1500" dirty="0" smtClean="0"/>
              <a:t>. </a:t>
            </a:r>
          </a:p>
          <a:p>
            <a:r>
              <a:rPr lang="en-US" sz="1500" dirty="0" smtClean="0"/>
              <a:t>Intel and the Intel logo are trademarks of Intel Corporation in the U.S. and/or other countries. </a:t>
            </a:r>
          </a:p>
          <a:p>
            <a:r>
              <a:rPr lang="en-US" sz="1500" dirty="0" smtClean="0"/>
              <a:t>*Other names and brands may be claimed as the property of others. </a:t>
            </a:r>
          </a:p>
          <a:p>
            <a:r>
              <a:rPr lang="en-US" sz="1500" dirty="0" smtClean="0"/>
              <a:t>Copyright © 2017, Intel Corporation. All rights reserved. </a:t>
            </a:r>
            <a:endParaRPr lang="en-US" sz="1500" dirty="0"/>
          </a:p>
        </p:txBody>
      </p:sp>
    </p:spTree>
    <p:extLst>
      <p:ext uri="{BB962C8B-B14F-4D97-AF65-F5344CB8AC3E}">
        <p14:creationId xmlns:p14="http://schemas.microsoft.com/office/powerpoint/2010/main" val="2642065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What is Machine Learning?</a:t>
            </a:r>
            <a:endParaRPr lang="en-US" dirty="0">
              <a:latin typeface="Avenir Book" charset="0"/>
              <a:ea typeface="Avenir Book" charset="0"/>
              <a:cs typeface="Avenir Book" charset="0"/>
            </a:endParaRPr>
          </a:p>
        </p:txBody>
      </p:sp>
      <p:sp>
        <p:nvSpPr>
          <p:cNvPr id="29" name="object 70"/>
          <p:cNvSpPr txBox="1"/>
          <p:nvPr/>
        </p:nvSpPr>
        <p:spPr>
          <a:xfrm>
            <a:off x="871986" y="1892764"/>
            <a:ext cx="3884840" cy="1662089"/>
          </a:xfrm>
          <a:prstGeom prst="rect">
            <a:avLst/>
          </a:prstGeom>
        </p:spPr>
        <p:txBody>
          <a:bodyPr vert="horz" wrap="square" lIns="0" tIns="0" rIns="0" bIns="0" rtlCol="0">
            <a:noAutofit/>
          </a:bodyPr>
          <a:lstStyle/>
          <a:p>
            <a:pPr marL="9525">
              <a:spcBef>
                <a:spcPts val="600"/>
              </a:spcBef>
            </a:pPr>
            <a:r>
              <a:rPr lang="en-US" sz="2800" dirty="0" smtClean="0">
                <a:latin typeface="Avenir Book" charset="0"/>
                <a:ea typeface="Avenir Book" charset="0"/>
                <a:cs typeface="Avenir Book" charset="0"/>
              </a:rPr>
              <a:t>Machine learning allows computers to learn and infer from data.</a:t>
            </a:r>
            <a:endParaRPr lang="en-US" sz="2800" dirty="0">
              <a:latin typeface="Avenir Book" charset="0"/>
              <a:ea typeface="Avenir Book" charset="0"/>
              <a:cs typeface="Avenir Book" charset="0"/>
            </a:endParaRPr>
          </a:p>
        </p:txBody>
      </p:sp>
      <p:pic>
        <p:nvPicPr>
          <p:cNvPr id="5" name="Picture 4"/>
          <p:cNvPicPr>
            <a:picLocks noChangeAspect="1"/>
          </p:cNvPicPr>
          <p:nvPr/>
        </p:nvPicPr>
        <p:blipFill rotWithShape="1">
          <a:blip r:embed="rId3">
            <a:extLst>
              <a:ext uri="{BEBA8EAE-BF5A-486C-A8C5-ECC9F3942E4B}">
                <a14:imgProps xmlns:a14="http://schemas.microsoft.com/office/drawing/2010/main">
                  <a14:imgLayer r:embed="rId4">
                    <a14:imgEffect>
                      <a14:backgroundRemoval t="0" b="99206" l="33667" r="65917">
                        <a14:foregroundMark x1="38167" y1="55238" x2="38583" y2="43651"/>
                        <a14:foregroundMark x1="62667" y1="55079" x2="62083" y2="42857"/>
                        <a14:foregroundMark x1="57750" y1="37778" x2="57750" y2="36984"/>
                        <a14:foregroundMark x1="52667" y1="25556" x2="52667" y2="25238"/>
                        <a14:foregroundMark x1="48500" y1="25238" x2="48500" y2="25238"/>
                        <a14:foregroundMark x1="50833" y1="11111" x2="50417" y2="7143"/>
                        <a14:foregroundMark x1="50667" y1="15079" x2="50667" y2="13333"/>
                        <a14:foregroundMark x1="48750" y1="12540" x2="48750" y2="12540"/>
                        <a14:foregroundMark x1="47583" y1="9841" x2="48000" y2="10159"/>
                        <a14:foregroundMark x1="47667" y1="5873" x2="48083" y2="6508"/>
                        <a14:foregroundMark x1="48833" y1="3333" x2="49167" y2="4921"/>
                        <a14:foregroundMark x1="50667" y1="1746" x2="50750" y2="3492"/>
                        <a14:foregroundMark x1="52250" y1="2540" x2="51833" y2="3810"/>
                        <a14:foregroundMark x1="53333" y1="5714" x2="52917" y2="6032"/>
                        <a14:foregroundMark x1="52917" y1="8730" x2="53333" y2="9841"/>
                        <a14:foregroundMark x1="52167" y1="11905" x2="52417" y2="13175"/>
                        <a14:foregroundMark x1="53417" y1="77619" x2="53583" y2="71746"/>
                        <a14:foregroundMark x1="47667" y1="75556" x2="47583" y2="70476"/>
                        <a14:foregroundMark x1="53083" y1="46667" x2="53333" y2="46508"/>
                        <a14:foregroundMark x1="49750" y1="48413" x2="49333" y2="47937"/>
                        <a14:foregroundMark x1="48917" y1="11746" x2="49083" y2="11587"/>
                        <a14:foregroundMark x1="48000" y1="9048" x2="48167" y2="9206"/>
                      </a14:backgroundRemoval>
                    </a14:imgEffect>
                  </a14:imgLayer>
                </a14:imgProps>
              </a:ext>
            </a:extLst>
          </a:blip>
          <a:srcRect l="34865" t="1023" r="35045" b="17406"/>
          <a:stretch/>
        </p:blipFill>
        <p:spPr>
          <a:xfrm>
            <a:off x="5027971" y="527004"/>
            <a:ext cx="2751439" cy="3915942"/>
          </a:xfrm>
          <a:prstGeom prst="rect">
            <a:avLst/>
          </a:prstGeom>
        </p:spPr>
      </p:pic>
    </p:spTree>
    <p:extLst>
      <p:ext uri="{BB962C8B-B14F-4D97-AF65-F5344CB8AC3E}">
        <p14:creationId xmlns:p14="http://schemas.microsoft.com/office/powerpoint/2010/main" val="15648136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Types of Machine Learning</a:t>
            </a:r>
            <a:endParaRPr lang="en-US" dirty="0">
              <a:latin typeface="Avenir Book" charset="0"/>
              <a:ea typeface="Avenir Book" charset="0"/>
              <a:cs typeface="Avenir Book" charset="0"/>
            </a:endParaRPr>
          </a:p>
        </p:txBody>
      </p:sp>
      <p:sp>
        <p:nvSpPr>
          <p:cNvPr id="7" name="Rectangle 6"/>
          <p:cNvSpPr/>
          <p:nvPr/>
        </p:nvSpPr>
        <p:spPr>
          <a:xfrm>
            <a:off x="3339412" y="1545819"/>
            <a:ext cx="5276184" cy="600164"/>
          </a:xfrm>
          <a:prstGeom prst="rect">
            <a:avLst/>
          </a:prstGeom>
        </p:spPr>
        <p:txBody>
          <a:bodyPr wrap="square">
            <a:spAutoFit/>
          </a:bodyPr>
          <a:lstStyle/>
          <a:p>
            <a:pPr lvl="0">
              <a:lnSpc>
                <a:spcPct val="150000"/>
              </a:lnSpc>
            </a:pPr>
            <a:r>
              <a:rPr lang="en-US" sz="2400" dirty="0" smtClean="0">
                <a:latin typeface="Avenir Book" charset="0"/>
                <a:ea typeface="Avenir Book" charset="0"/>
                <a:cs typeface="Avenir Book" charset="0"/>
              </a:rPr>
              <a:t>data points have known outcome</a:t>
            </a:r>
          </a:p>
        </p:txBody>
      </p:sp>
      <p:sp>
        <p:nvSpPr>
          <p:cNvPr id="11" name="Rectangle 10"/>
          <p:cNvSpPr/>
          <p:nvPr/>
        </p:nvSpPr>
        <p:spPr>
          <a:xfrm>
            <a:off x="3338036" y="2675481"/>
            <a:ext cx="5157016" cy="646331"/>
          </a:xfrm>
          <a:prstGeom prst="rect">
            <a:avLst/>
          </a:prstGeom>
        </p:spPr>
        <p:txBody>
          <a:bodyPr wrap="square">
            <a:spAutoFit/>
          </a:bodyPr>
          <a:lstStyle/>
          <a:p>
            <a:pPr lvl="0">
              <a:lnSpc>
                <a:spcPct val="150000"/>
              </a:lnSpc>
            </a:pPr>
            <a:r>
              <a:rPr lang="en-US" sz="2400" dirty="0" smtClean="0">
                <a:latin typeface="Avenir Book" charset="0"/>
                <a:ea typeface="Avenir Book" charset="0"/>
                <a:cs typeface="Avenir Book" charset="0"/>
              </a:rPr>
              <a:t>data points have unknown outcome</a:t>
            </a:r>
            <a:endParaRPr lang="en-US" sz="2400" dirty="0">
              <a:latin typeface="Avenir Book" charset="0"/>
              <a:ea typeface="Avenir Book" charset="0"/>
              <a:cs typeface="Avenir Book" charset="0"/>
            </a:endParaRPr>
          </a:p>
        </p:txBody>
      </p:sp>
      <p:sp>
        <p:nvSpPr>
          <p:cNvPr id="9" name="Rounded Rectangle 8"/>
          <p:cNvSpPr/>
          <p:nvPr/>
        </p:nvSpPr>
        <p:spPr>
          <a:xfrm>
            <a:off x="679904" y="2629165"/>
            <a:ext cx="2603928" cy="921845"/>
          </a:xfrm>
          <a:prstGeom prst="roundRect">
            <a:avLst/>
          </a:prstGeom>
          <a:solidFill>
            <a:srgbClr val="0070C0">
              <a:alpha val="75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latin typeface="Avenir Book" charset="0"/>
                <a:ea typeface="Avenir Book" charset="0"/>
                <a:cs typeface="Avenir Book" charset="0"/>
              </a:rPr>
              <a:t>Unsupervised</a:t>
            </a:r>
            <a:endParaRPr lang="en-US" sz="2800" dirty="0">
              <a:latin typeface="Avenir Book" charset="0"/>
              <a:ea typeface="Avenir Book" charset="0"/>
              <a:cs typeface="Avenir Book" charset="0"/>
            </a:endParaRPr>
          </a:p>
        </p:txBody>
      </p:sp>
      <p:sp>
        <p:nvSpPr>
          <p:cNvPr id="12" name="Rounded Rectangle 11"/>
          <p:cNvSpPr/>
          <p:nvPr/>
        </p:nvSpPr>
        <p:spPr>
          <a:xfrm>
            <a:off x="679904" y="1463040"/>
            <a:ext cx="2603928" cy="921845"/>
          </a:xfrm>
          <a:prstGeom prst="roundRect">
            <a:avLst/>
          </a:prstGeom>
          <a:solidFill>
            <a:srgbClr val="C00000">
              <a:alpha val="75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latin typeface="Avenir Book" charset="0"/>
                <a:ea typeface="Avenir Book" charset="0"/>
                <a:cs typeface="Avenir Book" charset="0"/>
              </a:rPr>
              <a:t>Supervised</a:t>
            </a:r>
            <a:endParaRPr lang="en-US" sz="2800" dirty="0">
              <a:latin typeface="Avenir Book" charset="0"/>
              <a:ea typeface="Avenir Book" charset="0"/>
              <a:cs typeface="Avenir Book" charset="0"/>
            </a:endParaRPr>
          </a:p>
        </p:txBody>
      </p:sp>
    </p:spTree>
    <p:extLst>
      <p:ext uri="{BB962C8B-B14F-4D97-AF65-F5344CB8AC3E}">
        <p14:creationId xmlns:p14="http://schemas.microsoft.com/office/powerpoint/2010/main" val="1535227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679904" y="1463039"/>
            <a:ext cx="2603928" cy="921845"/>
          </a:xfrm>
          <a:prstGeom prst="roundRect">
            <a:avLst/>
          </a:prstGeom>
          <a:solidFill>
            <a:srgbClr val="FF9300">
              <a:alpha val="75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latin typeface="Avenir Book" charset="0"/>
                <a:ea typeface="Avenir Book" charset="0"/>
                <a:cs typeface="Avenir Book" charset="0"/>
              </a:rPr>
              <a:t>Regression</a:t>
            </a:r>
            <a:endParaRPr lang="en-US" sz="2800" dirty="0">
              <a:latin typeface="Avenir Book" charset="0"/>
              <a:ea typeface="Avenir Book" charset="0"/>
              <a:cs typeface="Avenir Book" charset="0"/>
            </a:endParaRPr>
          </a:p>
        </p:txBody>
      </p:sp>
      <p:sp>
        <p:nvSpPr>
          <p:cNvPr id="9" name="Rounded Rectangle 8"/>
          <p:cNvSpPr/>
          <p:nvPr/>
        </p:nvSpPr>
        <p:spPr>
          <a:xfrm>
            <a:off x="679904" y="2629164"/>
            <a:ext cx="2603928" cy="921845"/>
          </a:xfrm>
          <a:prstGeom prst="roundRect">
            <a:avLst/>
          </a:prstGeom>
          <a:solidFill>
            <a:srgbClr val="009193">
              <a:alpha val="75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latin typeface="Avenir Book" charset="0"/>
                <a:ea typeface="Avenir Book" charset="0"/>
                <a:cs typeface="Avenir Book" charset="0"/>
              </a:rPr>
              <a:t>Classification</a:t>
            </a:r>
            <a:endParaRPr lang="en-US" sz="2800" dirty="0">
              <a:latin typeface="Avenir Book" charset="0"/>
              <a:ea typeface="Avenir Book" charset="0"/>
              <a:cs typeface="Avenir Book" charset="0"/>
            </a:endParaRPr>
          </a:p>
        </p:txBody>
      </p:sp>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Types of Supervised Learning</a:t>
            </a:r>
            <a:endParaRPr lang="en-US" dirty="0">
              <a:latin typeface="Avenir Book" charset="0"/>
              <a:ea typeface="Avenir Book" charset="0"/>
              <a:cs typeface="Avenir Book" charset="0"/>
            </a:endParaRPr>
          </a:p>
        </p:txBody>
      </p:sp>
      <p:sp>
        <p:nvSpPr>
          <p:cNvPr id="7" name="Rectangle 6"/>
          <p:cNvSpPr/>
          <p:nvPr/>
        </p:nvSpPr>
        <p:spPr>
          <a:xfrm>
            <a:off x="3339412" y="1545819"/>
            <a:ext cx="5276184" cy="646331"/>
          </a:xfrm>
          <a:prstGeom prst="rect">
            <a:avLst/>
          </a:prstGeom>
        </p:spPr>
        <p:txBody>
          <a:bodyPr wrap="square">
            <a:spAutoFit/>
          </a:bodyPr>
          <a:lstStyle/>
          <a:p>
            <a:pPr lvl="0">
              <a:lnSpc>
                <a:spcPct val="150000"/>
              </a:lnSpc>
            </a:pPr>
            <a:r>
              <a:rPr lang="en-US" sz="2400" dirty="0">
                <a:latin typeface="Avenir Book" charset="0"/>
                <a:ea typeface="Avenir Book" charset="0"/>
                <a:cs typeface="Avenir Book" charset="0"/>
              </a:rPr>
              <a:t>outcome is </a:t>
            </a:r>
            <a:r>
              <a:rPr lang="en-US" sz="2400" dirty="0" smtClean="0">
                <a:latin typeface="Avenir Book" charset="0"/>
                <a:ea typeface="Avenir Book" charset="0"/>
                <a:cs typeface="Avenir Book" charset="0"/>
              </a:rPr>
              <a:t>continuous (numerical)</a:t>
            </a:r>
          </a:p>
        </p:txBody>
      </p:sp>
      <p:sp>
        <p:nvSpPr>
          <p:cNvPr id="11" name="Rectangle 10"/>
          <p:cNvSpPr/>
          <p:nvPr/>
        </p:nvSpPr>
        <p:spPr>
          <a:xfrm>
            <a:off x="3338036" y="2675481"/>
            <a:ext cx="5157016" cy="646331"/>
          </a:xfrm>
          <a:prstGeom prst="rect">
            <a:avLst/>
          </a:prstGeom>
        </p:spPr>
        <p:txBody>
          <a:bodyPr wrap="square">
            <a:spAutoFit/>
          </a:bodyPr>
          <a:lstStyle/>
          <a:p>
            <a:pPr lvl="0">
              <a:lnSpc>
                <a:spcPct val="150000"/>
              </a:lnSpc>
            </a:pPr>
            <a:r>
              <a:rPr lang="en-US" sz="2400" dirty="0" smtClean="0">
                <a:latin typeface="Avenir Book" charset="0"/>
                <a:ea typeface="Avenir Book" charset="0"/>
                <a:cs typeface="Avenir Book" charset="0"/>
              </a:rPr>
              <a:t>outcome is a category</a:t>
            </a:r>
            <a:endParaRPr lang="en-US" sz="2400" dirty="0">
              <a:latin typeface="Avenir Book" charset="0"/>
              <a:ea typeface="Avenir Book" charset="0"/>
              <a:cs typeface="Avenir Book" charset="0"/>
            </a:endParaRPr>
          </a:p>
        </p:txBody>
      </p:sp>
    </p:spTree>
    <p:extLst>
      <p:ext uri="{BB962C8B-B14F-4D97-AF65-F5344CB8AC3E}">
        <p14:creationId xmlns:p14="http://schemas.microsoft.com/office/powerpoint/2010/main" val="4718674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p:nvPr/>
        </p:nvSpPr>
        <p:spPr>
          <a:xfrm>
            <a:off x="398352" y="296172"/>
            <a:ext cx="8437829" cy="461665"/>
          </a:xfrm>
          <a:prstGeom prst="rect">
            <a:avLst/>
          </a:prstGeom>
        </p:spPr>
        <p:txBody>
          <a:bodyPr vert="horz" wrap="square" lIns="0" tIns="0" rIns="0" bIns="0" rtlCol="0">
            <a:spAutoFit/>
          </a:bodyPr>
          <a:lstStyle/>
          <a:p>
            <a:pPr marL="9525"/>
            <a:r>
              <a:rPr lang="en-US" sz="3000" spc="-26" dirty="0" smtClean="0">
                <a:latin typeface="Avenir Book" charset="0"/>
                <a:ea typeface="Avenir Book" charset="0"/>
                <a:cs typeface="Avenir Book" charset="0"/>
              </a:rPr>
              <a:t>Machine Learning Vocabulary</a:t>
            </a:r>
            <a:endParaRPr sz="3000" dirty="0">
              <a:latin typeface="Avenir Book" charset="0"/>
              <a:ea typeface="Avenir Book" charset="0"/>
              <a:cs typeface="Avenir Book" charset="0"/>
            </a:endParaRPr>
          </a:p>
        </p:txBody>
      </p:sp>
      <p:sp>
        <p:nvSpPr>
          <p:cNvPr id="4" name="Rectangle 3"/>
          <p:cNvSpPr/>
          <p:nvPr/>
        </p:nvSpPr>
        <p:spPr>
          <a:xfrm>
            <a:off x="832304" y="970075"/>
            <a:ext cx="6443985" cy="3647152"/>
          </a:xfrm>
          <a:prstGeom prst="rect">
            <a:avLst/>
          </a:prstGeom>
        </p:spPr>
        <p:txBody>
          <a:bodyPr wrap="square">
            <a:spAutoFit/>
          </a:bodyPr>
          <a:lstStyle/>
          <a:p>
            <a:pPr marL="457200" indent="-457200">
              <a:lnSpc>
                <a:spcPct val="150000"/>
              </a:lnSpc>
              <a:buFont typeface="Arial" charset="0"/>
              <a:buChar char="•"/>
            </a:pPr>
            <a:r>
              <a:rPr lang="en-US" sz="2200" b="1" dirty="0">
                <a:latin typeface="Avenir Book" charset="0"/>
                <a:ea typeface="Avenir Book" charset="0"/>
                <a:cs typeface="Avenir Book" charset="0"/>
              </a:rPr>
              <a:t>Target:</a:t>
            </a:r>
            <a:r>
              <a:rPr lang="en-US" sz="2200" dirty="0">
                <a:latin typeface="Avenir Book" charset="0"/>
                <a:ea typeface="Avenir Book" charset="0"/>
                <a:cs typeface="Avenir Book" charset="0"/>
              </a:rPr>
              <a:t> predicted category or value of the data (column to predict)</a:t>
            </a:r>
          </a:p>
          <a:p>
            <a:pPr marL="457200" lvl="0" indent="-457200">
              <a:lnSpc>
                <a:spcPct val="150000"/>
              </a:lnSpc>
              <a:buFont typeface="Arial" charset="0"/>
              <a:buChar char="•"/>
            </a:pPr>
            <a:r>
              <a:rPr lang="en-US" sz="2200" b="1" dirty="0" smtClean="0">
                <a:latin typeface="Avenir Book" charset="0"/>
                <a:ea typeface="Avenir Book" charset="0"/>
                <a:cs typeface="Avenir Book" charset="0"/>
              </a:rPr>
              <a:t>Features</a:t>
            </a:r>
            <a:r>
              <a:rPr lang="en-US" sz="2200" dirty="0" smtClean="0">
                <a:latin typeface="Avenir Book" charset="0"/>
                <a:ea typeface="Avenir Book" charset="0"/>
                <a:cs typeface="Avenir Book" charset="0"/>
              </a:rPr>
              <a:t>: properties of the data used for prediction (non-target columns)</a:t>
            </a:r>
          </a:p>
          <a:p>
            <a:pPr marL="457200" lvl="0" indent="-457200">
              <a:lnSpc>
                <a:spcPct val="150000"/>
              </a:lnSpc>
              <a:buFont typeface="Arial" charset="0"/>
              <a:buChar char="•"/>
            </a:pPr>
            <a:r>
              <a:rPr lang="en-US" sz="2200" b="1" dirty="0">
                <a:latin typeface="Avenir Book" charset="0"/>
                <a:ea typeface="Avenir Book" charset="0"/>
                <a:cs typeface="Avenir Book" charset="0"/>
              </a:rPr>
              <a:t>Example:</a:t>
            </a:r>
            <a:r>
              <a:rPr lang="en-US" sz="2200" dirty="0">
                <a:latin typeface="Avenir Book" charset="0"/>
                <a:ea typeface="Avenir Book" charset="0"/>
                <a:cs typeface="Avenir Book" charset="0"/>
              </a:rPr>
              <a:t> a single data point within the data (one row)</a:t>
            </a:r>
          </a:p>
          <a:p>
            <a:pPr marL="457200" lvl="0" indent="-457200">
              <a:lnSpc>
                <a:spcPct val="150000"/>
              </a:lnSpc>
              <a:buFont typeface="Arial" charset="0"/>
              <a:buChar char="•"/>
            </a:pPr>
            <a:r>
              <a:rPr lang="en-US" sz="2200" b="1" dirty="0" smtClean="0">
                <a:latin typeface="Avenir Book" charset="0"/>
                <a:ea typeface="Avenir Book" charset="0"/>
                <a:cs typeface="Avenir Book" charset="0"/>
              </a:rPr>
              <a:t>Label:</a:t>
            </a:r>
            <a:r>
              <a:rPr lang="en-US" sz="2200" dirty="0" smtClean="0">
                <a:latin typeface="Avenir Book" charset="0"/>
                <a:ea typeface="Avenir Book" charset="0"/>
                <a:cs typeface="Avenir Book" charset="0"/>
              </a:rPr>
              <a:t> the target value for a single data point</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20475403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p:nvPr/>
        </p:nvSpPr>
        <p:spPr>
          <a:xfrm>
            <a:off x="398352" y="296172"/>
            <a:ext cx="8437829" cy="461665"/>
          </a:xfrm>
          <a:prstGeom prst="rect">
            <a:avLst/>
          </a:prstGeom>
        </p:spPr>
        <p:txBody>
          <a:bodyPr vert="horz" wrap="square" lIns="0" tIns="0" rIns="0" bIns="0" rtlCol="0">
            <a:spAutoFit/>
          </a:bodyPr>
          <a:lstStyle/>
          <a:p>
            <a:pPr marL="9525"/>
            <a:r>
              <a:rPr lang="en-US" sz="3000" spc="-26" dirty="0" smtClean="0">
                <a:latin typeface="Avenir Book" charset="0"/>
                <a:ea typeface="Avenir Book" charset="0"/>
                <a:cs typeface="Avenir Book" charset="0"/>
              </a:rPr>
              <a:t>Machine Learning Vocabulary (Synonyms)</a:t>
            </a:r>
            <a:endParaRPr sz="3000" dirty="0">
              <a:latin typeface="Avenir Book" charset="0"/>
              <a:ea typeface="Avenir Book" charset="0"/>
              <a:cs typeface="Avenir Book" charset="0"/>
            </a:endParaRPr>
          </a:p>
        </p:txBody>
      </p:sp>
      <p:sp>
        <p:nvSpPr>
          <p:cNvPr id="4" name="Rectangle 3"/>
          <p:cNvSpPr/>
          <p:nvPr/>
        </p:nvSpPr>
        <p:spPr>
          <a:xfrm>
            <a:off x="832304" y="970075"/>
            <a:ext cx="6443985" cy="3647152"/>
          </a:xfrm>
          <a:prstGeom prst="rect">
            <a:avLst/>
          </a:prstGeom>
        </p:spPr>
        <p:txBody>
          <a:bodyPr wrap="square">
            <a:spAutoFit/>
          </a:bodyPr>
          <a:lstStyle/>
          <a:p>
            <a:pPr marL="457200" indent="-457200">
              <a:lnSpc>
                <a:spcPct val="150000"/>
              </a:lnSpc>
              <a:buFont typeface="Arial" charset="0"/>
              <a:buChar char="•"/>
            </a:pPr>
            <a:r>
              <a:rPr lang="en-US" sz="2200" b="1" dirty="0" smtClean="0">
                <a:latin typeface="Avenir Book" charset="0"/>
                <a:ea typeface="Avenir Book" charset="0"/>
                <a:cs typeface="Avenir Book" charset="0"/>
              </a:rPr>
              <a:t>Target:</a:t>
            </a:r>
            <a:r>
              <a:rPr lang="en-US" sz="2200" dirty="0" smtClean="0">
                <a:latin typeface="Avenir Book" charset="0"/>
                <a:ea typeface="Avenir Book" charset="0"/>
                <a:cs typeface="Avenir Book" charset="0"/>
              </a:rPr>
              <a:t> Response, Output, Dependent Variable, Labels</a:t>
            </a:r>
            <a:endParaRPr lang="en-US" sz="2200" dirty="0">
              <a:latin typeface="Avenir Book" charset="0"/>
              <a:ea typeface="Avenir Book" charset="0"/>
              <a:cs typeface="Avenir Book" charset="0"/>
            </a:endParaRPr>
          </a:p>
          <a:p>
            <a:pPr marL="457200" lvl="0" indent="-457200">
              <a:lnSpc>
                <a:spcPct val="150000"/>
              </a:lnSpc>
              <a:buFont typeface="Arial" charset="0"/>
              <a:buChar char="•"/>
            </a:pPr>
            <a:r>
              <a:rPr lang="en-US" sz="2200" b="1" dirty="0" smtClean="0">
                <a:latin typeface="Avenir Book" charset="0"/>
                <a:ea typeface="Avenir Book" charset="0"/>
                <a:cs typeface="Avenir Book" charset="0"/>
              </a:rPr>
              <a:t>Features</a:t>
            </a:r>
            <a:r>
              <a:rPr lang="en-US" sz="2200" dirty="0" smtClean="0">
                <a:latin typeface="Avenir Book" charset="0"/>
                <a:ea typeface="Avenir Book" charset="0"/>
                <a:cs typeface="Avenir Book" charset="0"/>
              </a:rPr>
              <a:t>: Predictors, Input, Independent Variables, Attributes</a:t>
            </a:r>
          </a:p>
          <a:p>
            <a:pPr marL="457200" lvl="0" indent="-457200">
              <a:lnSpc>
                <a:spcPct val="150000"/>
              </a:lnSpc>
              <a:buFont typeface="Arial" charset="0"/>
              <a:buChar char="•"/>
            </a:pPr>
            <a:r>
              <a:rPr lang="en-US" sz="2200" b="1" dirty="0" smtClean="0">
                <a:latin typeface="Avenir Book" charset="0"/>
                <a:ea typeface="Avenir Book" charset="0"/>
                <a:cs typeface="Avenir Book" charset="0"/>
              </a:rPr>
              <a:t>Example</a:t>
            </a:r>
            <a:r>
              <a:rPr lang="en-US" sz="2200" b="1" dirty="0">
                <a:latin typeface="Avenir Book" charset="0"/>
                <a:ea typeface="Avenir Book" charset="0"/>
                <a:cs typeface="Avenir Book" charset="0"/>
              </a:rPr>
              <a:t>:</a:t>
            </a:r>
            <a:r>
              <a:rPr lang="en-US" sz="2200" dirty="0">
                <a:latin typeface="Avenir Book" charset="0"/>
                <a:ea typeface="Avenir Book" charset="0"/>
                <a:cs typeface="Avenir Book" charset="0"/>
              </a:rPr>
              <a:t> </a:t>
            </a:r>
            <a:r>
              <a:rPr lang="en-US" sz="2200" dirty="0" smtClean="0">
                <a:latin typeface="Avenir Book" charset="0"/>
                <a:ea typeface="Avenir Book" charset="0"/>
                <a:cs typeface="Avenir Book" charset="0"/>
              </a:rPr>
              <a:t>Observation, Record, Instance, Datapoint, Row</a:t>
            </a:r>
          </a:p>
          <a:p>
            <a:pPr marL="457200" lvl="0" indent="-457200">
              <a:lnSpc>
                <a:spcPct val="150000"/>
              </a:lnSpc>
              <a:buFont typeface="Arial" charset="0"/>
              <a:buChar char="•"/>
            </a:pPr>
            <a:r>
              <a:rPr lang="en-US" sz="2200" b="1" dirty="0" smtClean="0">
                <a:latin typeface="Avenir Book" charset="0"/>
                <a:ea typeface="Avenir Book" charset="0"/>
                <a:cs typeface="Avenir Book" charset="0"/>
              </a:rPr>
              <a:t>Label:</a:t>
            </a:r>
            <a:r>
              <a:rPr lang="en-US" sz="2200" dirty="0" smtClean="0">
                <a:latin typeface="Avenir Book" charset="0"/>
                <a:ea typeface="Avenir Book" charset="0"/>
                <a:cs typeface="Avenir Book" charset="0"/>
              </a:rPr>
              <a:t> Answer, y-value, Category</a:t>
            </a:r>
          </a:p>
        </p:txBody>
      </p:sp>
    </p:spTree>
    <p:extLst>
      <p:ext uri="{BB962C8B-B14F-4D97-AF65-F5344CB8AC3E}">
        <p14:creationId xmlns:p14="http://schemas.microsoft.com/office/powerpoint/2010/main" val="17944725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ounded Rectangle 44"/>
          <p:cNvSpPr/>
          <p:nvPr/>
        </p:nvSpPr>
        <p:spPr>
          <a:xfrm>
            <a:off x="777610" y="3257550"/>
            <a:ext cx="3657600" cy="1314450"/>
          </a:xfrm>
          <a:prstGeom prst="roundRect">
            <a:avLst/>
          </a:prstGeom>
          <a:solidFill>
            <a:schemeClr val="tx1"/>
          </a:solidFill>
          <a:ln w="381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dirty="0">
              <a:latin typeface="Avenir Book" charset="0"/>
              <a:ea typeface="Avenir Book" charset="0"/>
              <a:cs typeface="Avenir Book" charset="0"/>
            </a:endParaRPr>
          </a:p>
        </p:txBody>
      </p:sp>
      <p:sp>
        <p:nvSpPr>
          <p:cNvPr id="43" name="Rounded Rectangle 42"/>
          <p:cNvSpPr/>
          <p:nvPr/>
        </p:nvSpPr>
        <p:spPr>
          <a:xfrm>
            <a:off x="777610" y="1428750"/>
            <a:ext cx="3657600" cy="1314450"/>
          </a:xfrm>
          <a:prstGeom prst="roundRect">
            <a:avLst/>
          </a:prstGeom>
          <a:solidFill>
            <a:schemeClr val="tx1"/>
          </a:solidFill>
          <a:ln w="381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dirty="0">
              <a:latin typeface="Avenir Book" charset="0"/>
              <a:ea typeface="Avenir Book" charset="0"/>
              <a:cs typeface="Avenir Book" charset="0"/>
            </a:endParaRPr>
          </a:p>
        </p:txBody>
      </p:sp>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Supervised Learning Overview</a:t>
            </a:r>
            <a:endParaRPr lang="en-US" dirty="0">
              <a:latin typeface="Avenir Book" charset="0"/>
              <a:ea typeface="Avenir Book" charset="0"/>
              <a:cs typeface="Avenir Book" charset="0"/>
            </a:endParaRPr>
          </a:p>
        </p:txBody>
      </p:sp>
      <p:sp>
        <p:nvSpPr>
          <p:cNvPr id="3" name="object 3"/>
          <p:cNvSpPr txBox="1"/>
          <p:nvPr/>
        </p:nvSpPr>
        <p:spPr>
          <a:xfrm>
            <a:off x="920060" y="1714078"/>
            <a:ext cx="1709497" cy="743793"/>
          </a:xfrm>
          <a:prstGeom prst="rect">
            <a:avLst/>
          </a:prstGeom>
        </p:spPr>
        <p:txBody>
          <a:bodyPr vert="horz" wrap="square" lIns="0" tIns="0" rIns="0" bIns="0" rtlCol="0">
            <a:spAutoFit/>
          </a:bodyPr>
          <a:lstStyle/>
          <a:p>
            <a:pPr marL="9525" marR="3810" algn="ctr">
              <a:lnSpc>
                <a:spcPts val="2850"/>
              </a:lnSpc>
            </a:pPr>
            <a:r>
              <a:rPr lang="en-US" sz="2175" spc="-4" dirty="0" smtClean="0">
                <a:latin typeface="Avenir Book" charset="0"/>
                <a:ea typeface="Avenir Book" charset="0"/>
                <a:cs typeface="Avenir Book" charset="0"/>
              </a:rPr>
              <a:t>d</a:t>
            </a:r>
            <a:r>
              <a:rPr sz="2175" spc="-11" dirty="0" smtClean="0">
                <a:latin typeface="Avenir Book" charset="0"/>
                <a:ea typeface="Avenir Book" charset="0"/>
                <a:cs typeface="Avenir Book" charset="0"/>
              </a:rPr>
              <a:t>ata</a:t>
            </a:r>
            <a:r>
              <a:rPr sz="2175" dirty="0" smtClean="0">
                <a:latin typeface="Avenir Book" charset="0"/>
                <a:ea typeface="Avenir Book" charset="0"/>
                <a:cs typeface="Avenir Book" charset="0"/>
              </a:rPr>
              <a:t> </a:t>
            </a:r>
            <a:r>
              <a:rPr sz="2175" spc="-23" dirty="0">
                <a:latin typeface="Avenir Book" charset="0"/>
                <a:ea typeface="Avenir Book" charset="0"/>
                <a:cs typeface="Avenir Book" charset="0"/>
              </a:rPr>
              <a:t>w</a:t>
            </a:r>
            <a:r>
              <a:rPr sz="2175" dirty="0">
                <a:latin typeface="Avenir Book" charset="0"/>
                <a:ea typeface="Avenir Book" charset="0"/>
                <a:cs typeface="Avenir Book" charset="0"/>
              </a:rPr>
              <a:t>ith </a:t>
            </a:r>
            <a:r>
              <a:rPr sz="2175" dirty="0" smtClean="0">
                <a:latin typeface="Avenir Book" charset="0"/>
                <a:ea typeface="Avenir Book" charset="0"/>
                <a:cs typeface="Avenir Book" charset="0"/>
              </a:rPr>
              <a:t>ans</a:t>
            </a:r>
            <a:r>
              <a:rPr sz="2175" spc="-23" dirty="0" smtClean="0">
                <a:latin typeface="Avenir Book" charset="0"/>
                <a:ea typeface="Avenir Book" charset="0"/>
                <a:cs typeface="Avenir Book" charset="0"/>
              </a:rPr>
              <a:t>w</a:t>
            </a:r>
            <a:r>
              <a:rPr sz="2175" spc="-15" dirty="0" smtClean="0">
                <a:latin typeface="Avenir Book" charset="0"/>
                <a:ea typeface="Avenir Book" charset="0"/>
                <a:cs typeface="Avenir Book" charset="0"/>
              </a:rPr>
              <a:t>er</a:t>
            </a:r>
            <a:r>
              <a:rPr sz="2175" dirty="0" smtClean="0">
                <a:latin typeface="Avenir Book" charset="0"/>
                <a:ea typeface="Avenir Book" charset="0"/>
                <a:cs typeface="Avenir Book" charset="0"/>
              </a:rPr>
              <a:t>s</a:t>
            </a:r>
            <a:endParaRPr sz="2175" dirty="0">
              <a:latin typeface="Avenir Book" charset="0"/>
              <a:ea typeface="Avenir Book" charset="0"/>
              <a:cs typeface="Avenir Book" charset="0"/>
            </a:endParaRPr>
          </a:p>
        </p:txBody>
      </p:sp>
      <p:sp>
        <p:nvSpPr>
          <p:cNvPr id="7" name="object 7"/>
          <p:cNvSpPr txBox="1"/>
          <p:nvPr/>
        </p:nvSpPr>
        <p:spPr>
          <a:xfrm>
            <a:off x="3217082" y="1908054"/>
            <a:ext cx="955834" cy="346249"/>
          </a:xfrm>
          <a:prstGeom prst="rect">
            <a:avLst/>
          </a:prstGeom>
          <a:noFill/>
          <a:ln>
            <a:solidFill>
              <a:schemeClr val="tx1">
                <a:lumMod val="50000"/>
                <a:lumOff val="50000"/>
              </a:schemeClr>
            </a:solidFill>
          </a:ln>
        </p:spPr>
        <p:txBody>
          <a:bodyPr vert="horz" wrap="square" lIns="0" tIns="0" rIns="0" bIns="0" rtlCol="0">
            <a:spAutoFit/>
          </a:bodyPr>
          <a:lstStyle/>
          <a:p>
            <a:pPr marL="68104"/>
            <a:r>
              <a:rPr sz="2250" dirty="0">
                <a:solidFill>
                  <a:schemeClr val="bg1">
                    <a:lumMod val="50000"/>
                  </a:schemeClr>
                </a:solidFill>
                <a:latin typeface="Avenir Book" charset="0"/>
                <a:ea typeface="Avenir Book" charset="0"/>
                <a:cs typeface="Avenir Book" charset="0"/>
              </a:rPr>
              <a:t>model</a:t>
            </a:r>
          </a:p>
        </p:txBody>
      </p:sp>
      <p:sp>
        <p:nvSpPr>
          <p:cNvPr id="9" name="object 9"/>
          <p:cNvSpPr txBox="1"/>
          <p:nvPr/>
        </p:nvSpPr>
        <p:spPr>
          <a:xfrm>
            <a:off x="5931471" y="3498741"/>
            <a:ext cx="1221475" cy="743793"/>
          </a:xfrm>
          <a:prstGeom prst="rect">
            <a:avLst/>
          </a:prstGeom>
        </p:spPr>
        <p:txBody>
          <a:bodyPr vert="horz" wrap="square" lIns="0" tIns="0" rIns="0" bIns="0" rtlCol="0">
            <a:spAutoFit/>
          </a:bodyPr>
          <a:lstStyle/>
          <a:p>
            <a:pPr marL="9525" marR="3810" algn="ctr">
              <a:lnSpc>
                <a:spcPts val="2850"/>
              </a:lnSpc>
            </a:pPr>
            <a:r>
              <a:rPr lang="en-US" sz="2175" spc="-15" dirty="0" smtClean="0">
                <a:latin typeface="Avenir Book" charset="0"/>
                <a:ea typeface="Avenir Book" charset="0"/>
                <a:cs typeface="Avenir Book" charset="0"/>
              </a:rPr>
              <a:t>p</a:t>
            </a:r>
            <a:r>
              <a:rPr sz="2175" spc="-15" dirty="0" smtClean="0">
                <a:latin typeface="Avenir Book" charset="0"/>
                <a:ea typeface="Avenir Book" charset="0"/>
                <a:cs typeface="Avenir Book" charset="0"/>
              </a:rPr>
              <a:t>re</a:t>
            </a:r>
            <a:r>
              <a:rPr sz="2175" dirty="0" smtClean="0">
                <a:latin typeface="Avenir Book" charset="0"/>
                <a:ea typeface="Avenir Book" charset="0"/>
                <a:cs typeface="Avenir Book" charset="0"/>
              </a:rPr>
              <a:t>di</a:t>
            </a:r>
            <a:r>
              <a:rPr sz="2175" spc="-11" dirty="0" smtClean="0">
                <a:latin typeface="Avenir Book" charset="0"/>
                <a:ea typeface="Avenir Book" charset="0"/>
                <a:cs typeface="Avenir Book" charset="0"/>
              </a:rPr>
              <a:t>cte</a:t>
            </a:r>
            <a:r>
              <a:rPr sz="2175" dirty="0" smtClean="0">
                <a:latin typeface="Avenir Book" charset="0"/>
                <a:ea typeface="Avenir Book" charset="0"/>
                <a:cs typeface="Avenir Book" charset="0"/>
              </a:rPr>
              <a:t>d </a:t>
            </a:r>
            <a:r>
              <a:rPr sz="2175" dirty="0">
                <a:latin typeface="Avenir Book" charset="0"/>
                <a:ea typeface="Avenir Book" charset="0"/>
                <a:cs typeface="Avenir Book" charset="0"/>
              </a:rPr>
              <a:t>ans</a:t>
            </a:r>
            <a:r>
              <a:rPr sz="2175" spc="-23" dirty="0">
                <a:latin typeface="Avenir Book" charset="0"/>
                <a:ea typeface="Avenir Book" charset="0"/>
                <a:cs typeface="Avenir Book" charset="0"/>
              </a:rPr>
              <a:t>w</a:t>
            </a:r>
            <a:r>
              <a:rPr sz="2175" spc="-15" dirty="0">
                <a:latin typeface="Avenir Book" charset="0"/>
                <a:ea typeface="Avenir Book" charset="0"/>
                <a:cs typeface="Avenir Book" charset="0"/>
              </a:rPr>
              <a:t>er</a:t>
            </a:r>
            <a:r>
              <a:rPr sz="2175" dirty="0">
                <a:latin typeface="Avenir Book" charset="0"/>
                <a:ea typeface="Avenir Book" charset="0"/>
                <a:cs typeface="Avenir Book" charset="0"/>
              </a:rPr>
              <a:t>s</a:t>
            </a:r>
          </a:p>
        </p:txBody>
      </p:sp>
      <p:sp>
        <p:nvSpPr>
          <p:cNvPr id="16" name="object 16"/>
          <p:cNvSpPr txBox="1"/>
          <p:nvPr/>
        </p:nvSpPr>
        <p:spPr>
          <a:xfrm>
            <a:off x="920060" y="3543300"/>
            <a:ext cx="1743941" cy="743793"/>
          </a:xfrm>
          <a:prstGeom prst="rect">
            <a:avLst/>
          </a:prstGeom>
        </p:spPr>
        <p:txBody>
          <a:bodyPr vert="horz" wrap="square" lIns="0" tIns="0" rIns="0" bIns="0" rtlCol="0">
            <a:spAutoFit/>
          </a:bodyPr>
          <a:lstStyle/>
          <a:p>
            <a:pPr marL="9525" marR="3810" algn="ctr">
              <a:lnSpc>
                <a:spcPts val="2850"/>
              </a:lnSpc>
            </a:pPr>
            <a:r>
              <a:rPr lang="en-US" sz="2175" spc="-15" dirty="0" smtClean="0">
                <a:latin typeface="Avenir Book" charset="0"/>
                <a:ea typeface="Avenir Book" charset="0"/>
                <a:cs typeface="Avenir Book" charset="0"/>
              </a:rPr>
              <a:t>d</a:t>
            </a:r>
            <a:r>
              <a:rPr sz="2175" spc="-11" dirty="0" smtClean="0">
                <a:latin typeface="Avenir Book" charset="0"/>
                <a:ea typeface="Avenir Book" charset="0"/>
                <a:cs typeface="Avenir Book" charset="0"/>
              </a:rPr>
              <a:t>ata</a:t>
            </a:r>
            <a:r>
              <a:rPr sz="2175" spc="-8" dirty="0" smtClean="0">
                <a:latin typeface="Avenir Book" charset="0"/>
                <a:ea typeface="Avenir Book" charset="0"/>
                <a:cs typeface="Avenir Book" charset="0"/>
              </a:rPr>
              <a:t> </a:t>
            </a:r>
            <a:r>
              <a:rPr sz="2175" spc="-23" dirty="0">
                <a:latin typeface="Avenir Book" charset="0"/>
                <a:ea typeface="Avenir Book" charset="0"/>
                <a:cs typeface="Avenir Book" charset="0"/>
              </a:rPr>
              <a:t>w</a:t>
            </a:r>
            <a:r>
              <a:rPr sz="2175" dirty="0">
                <a:latin typeface="Avenir Book" charset="0"/>
                <a:ea typeface="Avenir Book" charset="0"/>
                <a:cs typeface="Avenir Book" charset="0"/>
              </a:rPr>
              <a:t>ith</a:t>
            </a:r>
            <a:r>
              <a:rPr sz="2175" spc="-4" dirty="0">
                <a:latin typeface="Avenir Book" charset="0"/>
                <a:ea typeface="Avenir Book" charset="0"/>
                <a:cs typeface="Avenir Book" charset="0"/>
              </a:rPr>
              <a:t>o</a:t>
            </a:r>
            <a:r>
              <a:rPr sz="2175" dirty="0">
                <a:latin typeface="Avenir Book" charset="0"/>
                <a:ea typeface="Avenir Book" charset="0"/>
                <a:cs typeface="Avenir Book" charset="0"/>
              </a:rPr>
              <a:t>u</a:t>
            </a:r>
            <a:r>
              <a:rPr sz="2175" spc="-11" dirty="0">
                <a:latin typeface="Avenir Book" charset="0"/>
                <a:ea typeface="Avenir Book" charset="0"/>
                <a:cs typeface="Avenir Book" charset="0"/>
              </a:rPr>
              <a:t>t</a:t>
            </a:r>
            <a:r>
              <a:rPr sz="2175" spc="-8" dirty="0">
                <a:latin typeface="Avenir Book" charset="0"/>
                <a:ea typeface="Avenir Book" charset="0"/>
                <a:cs typeface="Avenir Book" charset="0"/>
              </a:rPr>
              <a:t> </a:t>
            </a:r>
            <a:r>
              <a:rPr sz="2175" dirty="0">
                <a:latin typeface="Avenir Book" charset="0"/>
                <a:ea typeface="Avenir Book" charset="0"/>
                <a:cs typeface="Avenir Book" charset="0"/>
              </a:rPr>
              <a:t>ans</a:t>
            </a:r>
            <a:r>
              <a:rPr sz="2175" spc="-23" dirty="0">
                <a:latin typeface="Avenir Book" charset="0"/>
                <a:ea typeface="Avenir Book" charset="0"/>
                <a:cs typeface="Avenir Book" charset="0"/>
              </a:rPr>
              <a:t>w</a:t>
            </a:r>
            <a:r>
              <a:rPr sz="2175" spc="-15" dirty="0">
                <a:latin typeface="Avenir Book" charset="0"/>
                <a:ea typeface="Avenir Book" charset="0"/>
                <a:cs typeface="Avenir Book" charset="0"/>
              </a:rPr>
              <a:t>er</a:t>
            </a:r>
            <a:r>
              <a:rPr sz="2175" dirty="0">
                <a:latin typeface="Avenir Book" charset="0"/>
                <a:ea typeface="Avenir Book" charset="0"/>
                <a:cs typeface="Avenir Book" charset="0"/>
              </a:rPr>
              <a:t>s</a:t>
            </a:r>
          </a:p>
        </p:txBody>
      </p:sp>
      <p:cxnSp>
        <p:nvCxnSpPr>
          <p:cNvPr id="39" name="Straight Arrow Connector 38"/>
          <p:cNvCxnSpPr/>
          <p:nvPr/>
        </p:nvCxnSpPr>
        <p:spPr>
          <a:xfrm>
            <a:off x="4520508" y="2050644"/>
            <a:ext cx="1262499" cy="0"/>
          </a:xfrm>
          <a:prstGeom prst="straightConnector1">
            <a:avLst/>
          </a:prstGeom>
          <a:ln w="38100">
            <a:solidFill>
              <a:srgbClr val="0070C0"/>
            </a:solidFill>
            <a:tailEnd type="arrow"/>
          </a:ln>
          <a:effectLst/>
        </p:spPr>
        <p:style>
          <a:lnRef idx="2">
            <a:schemeClr val="accent1"/>
          </a:lnRef>
          <a:fillRef idx="0">
            <a:schemeClr val="accent1"/>
          </a:fillRef>
          <a:effectRef idx="1">
            <a:schemeClr val="accent1"/>
          </a:effectRef>
          <a:fontRef idx="minor">
            <a:schemeClr val="tx1"/>
          </a:fontRef>
        </p:style>
      </p:cxnSp>
      <p:sp>
        <p:nvSpPr>
          <p:cNvPr id="44" name="object 9"/>
          <p:cNvSpPr txBox="1"/>
          <p:nvPr/>
        </p:nvSpPr>
        <p:spPr>
          <a:xfrm>
            <a:off x="4459361" y="1593189"/>
            <a:ext cx="1410963" cy="362600"/>
          </a:xfrm>
          <a:prstGeom prst="rect">
            <a:avLst/>
          </a:prstGeom>
          <a:ln>
            <a:noFill/>
          </a:ln>
        </p:spPr>
        <p:txBody>
          <a:bodyPr vert="horz" wrap="square" lIns="0" tIns="0" rIns="0" bIns="0" rtlCol="0">
            <a:spAutoFit/>
          </a:bodyPr>
          <a:lstStyle/>
          <a:p>
            <a:pPr marL="9525" marR="3810" algn="ctr">
              <a:lnSpc>
                <a:spcPts val="2850"/>
              </a:lnSpc>
            </a:pPr>
            <a:r>
              <a:rPr lang="en-US" sz="2175" spc="-15" dirty="0" smtClean="0">
                <a:solidFill>
                  <a:schemeClr val="bg1"/>
                </a:solidFill>
                <a:latin typeface="Avenir Book" charset="0"/>
                <a:ea typeface="Avenir Book" charset="0"/>
                <a:cs typeface="Avenir Book" charset="0"/>
              </a:rPr>
              <a:t>fit</a:t>
            </a:r>
            <a:endParaRPr sz="2175" dirty="0">
              <a:solidFill>
                <a:schemeClr val="bg1"/>
              </a:solidFill>
              <a:latin typeface="Avenir Book" charset="0"/>
              <a:ea typeface="Avenir Book" charset="0"/>
              <a:cs typeface="Avenir Book" charset="0"/>
            </a:endParaRPr>
          </a:p>
        </p:txBody>
      </p:sp>
      <p:sp>
        <p:nvSpPr>
          <p:cNvPr id="19" name="object 7"/>
          <p:cNvSpPr txBox="1"/>
          <p:nvPr/>
        </p:nvSpPr>
        <p:spPr>
          <a:xfrm>
            <a:off x="2725148" y="3741650"/>
            <a:ext cx="306119" cy="346249"/>
          </a:xfrm>
          <a:prstGeom prst="rect">
            <a:avLst/>
          </a:prstGeom>
          <a:noFill/>
          <a:ln>
            <a:solidFill>
              <a:schemeClr val="tx1">
                <a:lumMod val="50000"/>
                <a:lumOff val="50000"/>
              </a:schemeClr>
            </a:solidFill>
          </a:ln>
        </p:spPr>
        <p:txBody>
          <a:bodyPr vert="horz" wrap="square" lIns="0" tIns="0" rIns="0" bIns="0" rtlCol="0">
            <a:spAutoFit/>
          </a:bodyPr>
          <a:lstStyle/>
          <a:p>
            <a:pPr marL="68104"/>
            <a:r>
              <a:rPr lang="en-US" sz="2250" dirty="0" smtClean="0">
                <a:solidFill>
                  <a:schemeClr val="bg1">
                    <a:lumMod val="50000"/>
                  </a:schemeClr>
                </a:solidFill>
                <a:latin typeface="Avenir Book" charset="0"/>
                <a:ea typeface="Avenir Book" charset="0"/>
                <a:cs typeface="Avenir Book" charset="0"/>
              </a:rPr>
              <a:t>+</a:t>
            </a:r>
            <a:endParaRPr sz="2250" dirty="0">
              <a:solidFill>
                <a:schemeClr val="bg1">
                  <a:lumMod val="50000"/>
                </a:schemeClr>
              </a:solidFill>
              <a:latin typeface="Avenir Book" charset="0"/>
              <a:ea typeface="Avenir Book" charset="0"/>
              <a:cs typeface="Avenir Book" charset="0"/>
            </a:endParaRPr>
          </a:p>
        </p:txBody>
      </p:sp>
      <p:sp>
        <p:nvSpPr>
          <p:cNvPr id="20" name="object 7"/>
          <p:cNvSpPr txBox="1"/>
          <p:nvPr/>
        </p:nvSpPr>
        <p:spPr>
          <a:xfrm>
            <a:off x="2725148" y="1924165"/>
            <a:ext cx="306119" cy="346249"/>
          </a:xfrm>
          <a:prstGeom prst="rect">
            <a:avLst/>
          </a:prstGeom>
          <a:noFill/>
          <a:ln>
            <a:solidFill>
              <a:schemeClr val="tx1">
                <a:lumMod val="50000"/>
                <a:lumOff val="50000"/>
              </a:schemeClr>
            </a:solidFill>
          </a:ln>
        </p:spPr>
        <p:txBody>
          <a:bodyPr vert="horz" wrap="square" lIns="0" tIns="0" rIns="0" bIns="0" rtlCol="0">
            <a:spAutoFit/>
          </a:bodyPr>
          <a:lstStyle/>
          <a:p>
            <a:pPr marL="68104"/>
            <a:r>
              <a:rPr lang="en-US" sz="2250" dirty="0" smtClean="0">
                <a:solidFill>
                  <a:schemeClr val="bg1">
                    <a:lumMod val="50000"/>
                  </a:schemeClr>
                </a:solidFill>
                <a:latin typeface="Avenir Book" charset="0"/>
                <a:ea typeface="Avenir Book" charset="0"/>
                <a:cs typeface="Avenir Book" charset="0"/>
              </a:rPr>
              <a:t>+</a:t>
            </a:r>
            <a:endParaRPr sz="2250" dirty="0">
              <a:solidFill>
                <a:schemeClr val="bg1">
                  <a:lumMod val="50000"/>
                </a:schemeClr>
              </a:solidFill>
              <a:latin typeface="Avenir Book" charset="0"/>
              <a:ea typeface="Avenir Book" charset="0"/>
              <a:cs typeface="Avenir Book" charset="0"/>
            </a:endParaRPr>
          </a:p>
        </p:txBody>
      </p:sp>
      <p:cxnSp>
        <p:nvCxnSpPr>
          <p:cNvPr id="25" name="Straight Arrow Connector 24"/>
          <p:cNvCxnSpPr/>
          <p:nvPr/>
        </p:nvCxnSpPr>
        <p:spPr>
          <a:xfrm>
            <a:off x="4520508" y="3885601"/>
            <a:ext cx="1262499" cy="0"/>
          </a:xfrm>
          <a:prstGeom prst="straightConnector1">
            <a:avLst/>
          </a:prstGeom>
          <a:ln w="38100">
            <a:solidFill>
              <a:srgbClr val="0070C0"/>
            </a:solidFill>
            <a:tailEnd type="arrow"/>
          </a:ln>
          <a:effectLst/>
        </p:spPr>
        <p:style>
          <a:lnRef idx="2">
            <a:schemeClr val="accent1"/>
          </a:lnRef>
          <a:fillRef idx="0">
            <a:schemeClr val="accent1"/>
          </a:fillRef>
          <a:effectRef idx="1">
            <a:schemeClr val="accent1"/>
          </a:effectRef>
          <a:fontRef idx="minor">
            <a:schemeClr val="tx1"/>
          </a:fontRef>
        </p:style>
      </p:cxnSp>
      <p:sp>
        <p:nvSpPr>
          <p:cNvPr id="26" name="object 9"/>
          <p:cNvSpPr txBox="1"/>
          <p:nvPr/>
        </p:nvSpPr>
        <p:spPr>
          <a:xfrm>
            <a:off x="4459361" y="3428146"/>
            <a:ext cx="1410963" cy="362600"/>
          </a:xfrm>
          <a:prstGeom prst="rect">
            <a:avLst/>
          </a:prstGeom>
          <a:ln>
            <a:noFill/>
          </a:ln>
        </p:spPr>
        <p:txBody>
          <a:bodyPr vert="horz" wrap="square" lIns="0" tIns="0" rIns="0" bIns="0" rtlCol="0">
            <a:spAutoFit/>
          </a:bodyPr>
          <a:lstStyle/>
          <a:p>
            <a:pPr marL="9525" marR="3810" algn="ctr">
              <a:lnSpc>
                <a:spcPts val="2850"/>
              </a:lnSpc>
            </a:pPr>
            <a:r>
              <a:rPr lang="en-US" sz="2175" spc="-15" dirty="0" smtClean="0">
                <a:solidFill>
                  <a:schemeClr val="bg1"/>
                </a:solidFill>
                <a:latin typeface="Avenir Book" charset="0"/>
                <a:ea typeface="Avenir Book" charset="0"/>
                <a:cs typeface="Avenir Book" charset="0"/>
              </a:rPr>
              <a:t>predict</a:t>
            </a:r>
            <a:endParaRPr sz="2175" dirty="0">
              <a:solidFill>
                <a:schemeClr val="bg1"/>
              </a:solidFill>
              <a:latin typeface="Avenir Book" charset="0"/>
              <a:ea typeface="Avenir Book" charset="0"/>
              <a:cs typeface="Avenir Book" charset="0"/>
            </a:endParaRPr>
          </a:p>
        </p:txBody>
      </p:sp>
      <p:sp>
        <p:nvSpPr>
          <p:cNvPr id="28" name="Rectangle 27"/>
          <p:cNvSpPr/>
          <p:nvPr/>
        </p:nvSpPr>
        <p:spPr>
          <a:xfrm>
            <a:off x="3225827" y="3701737"/>
            <a:ext cx="1137943" cy="426076"/>
          </a:xfrm>
          <a:prstGeom prst="rect">
            <a:avLst/>
          </a:prstGeom>
          <a:solidFill>
            <a:srgbClr val="7030A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104" lvl="0"/>
            <a:r>
              <a:rPr lang="en-US" sz="2250" dirty="0">
                <a:solidFill>
                  <a:srgbClr val="212121">
                    <a:lumMod val="50000"/>
                  </a:srgbClr>
                </a:solidFill>
                <a:latin typeface="Avenir Book" charset="0"/>
                <a:ea typeface="Avenir Book" charset="0"/>
                <a:cs typeface="Avenir Book" charset="0"/>
              </a:rPr>
              <a:t>model</a:t>
            </a:r>
          </a:p>
        </p:txBody>
      </p:sp>
      <p:sp>
        <p:nvSpPr>
          <p:cNvPr id="29" name="Rectangle 28"/>
          <p:cNvSpPr/>
          <p:nvPr/>
        </p:nvSpPr>
        <p:spPr>
          <a:xfrm>
            <a:off x="5972171" y="1915801"/>
            <a:ext cx="1179479" cy="426076"/>
          </a:xfrm>
          <a:prstGeom prst="rect">
            <a:avLst/>
          </a:prstGeom>
          <a:solidFill>
            <a:srgbClr val="7030A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104" lvl="0"/>
            <a:r>
              <a:rPr lang="en-US" sz="2250" dirty="0">
                <a:solidFill>
                  <a:srgbClr val="212121">
                    <a:lumMod val="50000"/>
                  </a:srgbClr>
                </a:solidFill>
                <a:latin typeface="Avenir Book" charset="0"/>
                <a:ea typeface="Avenir Book" charset="0"/>
                <a:cs typeface="Avenir Book" charset="0"/>
              </a:rPr>
              <a:t>model</a:t>
            </a:r>
          </a:p>
        </p:txBody>
      </p:sp>
    </p:spTree>
    <p:extLst>
      <p:ext uri="{BB962C8B-B14F-4D97-AF65-F5344CB8AC3E}">
        <p14:creationId xmlns:p14="http://schemas.microsoft.com/office/powerpoint/2010/main" val="5752130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ounded Rectangle 44"/>
          <p:cNvSpPr/>
          <p:nvPr/>
        </p:nvSpPr>
        <p:spPr>
          <a:xfrm>
            <a:off x="777610" y="3257550"/>
            <a:ext cx="3657600" cy="1314450"/>
          </a:xfrm>
          <a:prstGeom prst="roundRect">
            <a:avLst/>
          </a:prstGeom>
          <a:solidFill>
            <a:schemeClr val="tx1"/>
          </a:solidFill>
          <a:ln w="381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dirty="0">
              <a:latin typeface="Avenir Book" charset="0"/>
              <a:ea typeface="Avenir Book" charset="0"/>
              <a:cs typeface="Avenir Book" charset="0"/>
            </a:endParaRPr>
          </a:p>
        </p:txBody>
      </p:sp>
      <p:sp>
        <p:nvSpPr>
          <p:cNvPr id="43" name="Rounded Rectangle 42"/>
          <p:cNvSpPr/>
          <p:nvPr/>
        </p:nvSpPr>
        <p:spPr>
          <a:xfrm>
            <a:off x="777610" y="1526789"/>
            <a:ext cx="3657600" cy="1314450"/>
          </a:xfrm>
          <a:prstGeom prst="roundRect">
            <a:avLst/>
          </a:prstGeom>
          <a:solidFill>
            <a:schemeClr val="tx1"/>
          </a:solidFill>
          <a:ln w="381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dirty="0">
              <a:latin typeface="Avenir Book" charset="0"/>
              <a:ea typeface="Avenir Book" charset="0"/>
              <a:cs typeface="Avenir Book" charset="0"/>
            </a:endParaRPr>
          </a:p>
        </p:txBody>
      </p:sp>
      <p:sp>
        <p:nvSpPr>
          <p:cNvPr id="2" name="object 2"/>
          <p:cNvSpPr txBox="1"/>
          <p:nvPr/>
        </p:nvSpPr>
        <p:spPr>
          <a:xfrm>
            <a:off x="398352" y="296172"/>
            <a:ext cx="8437829" cy="461665"/>
          </a:xfrm>
          <a:prstGeom prst="rect">
            <a:avLst/>
          </a:prstGeom>
          <a:effectLst/>
        </p:spPr>
        <p:txBody>
          <a:bodyPr vert="horz" wrap="square" lIns="0" tIns="0" rIns="0" bIns="0" rtlCol="0">
            <a:spAutoFit/>
          </a:bodyPr>
          <a:lstStyle/>
          <a:p>
            <a:pPr marL="9525"/>
            <a:r>
              <a:rPr lang="en-US" sz="3000" spc="-26" dirty="0" smtClean="0">
                <a:latin typeface="Avenir Book" charset="0"/>
                <a:ea typeface="Avenir Book" charset="0"/>
                <a:cs typeface="Avenir Book" charset="0"/>
              </a:rPr>
              <a:t>Regression: Numeric Answers</a:t>
            </a:r>
            <a:endParaRPr sz="3000" dirty="0">
              <a:latin typeface="Avenir Book" charset="0"/>
              <a:ea typeface="Avenir Book" charset="0"/>
              <a:cs typeface="Avenir Book" charset="0"/>
            </a:endParaRPr>
          </a:p>
        </p:txBody>
      </p:sp>
      <p:sp>
        <p:nvSpPr>
          <p:cNvPr id="3" name="object 3"/>
          <p:cNvSpPr txBox="1"/>
          <p:nvPr/>
        </p:nvSpPr>
        <p:spPr>
          <a:xfrm>
            <a:off x="920060" y="1626805"/>
            <a:ext cx="1709497" cy="1106393"/>
          </a:xfrm>
          <a:prstGeom prst="rect">
            <a:avLst/>
          </a:prstGeom>
          <a:effectLst/>
        </p:spPr>
        <p:txBody>
          <a:bodyPr vert="horz" wrap="square" lIns="0" tIns="0" rIns="0" bIns="0" rtlCol="0">
            <a:spAutoFit/>
          </a:bodyPr>
          <a:lstStyle/>
          <a:p>
            <a:pPr marL="9525" marR="3810" algn="ctr">
              <a:lnSpc>
                <a:spcPts val="2850"/>
              </a:lnSpc>
            </a:pPr>
            <a:r>
              <a:rPr lang="en-US" sz="2175" spc="-4" dirty="0" smtClean="0">
                <a:latin typeface="Avenir Book" charset="0"/>
                <a:ea typeface="Avenir Book" charset="0"/>
                <a:cs typeface="Avenir Book" charset="0"/>
              </a:rPr>
              <a:t>movie data with </a:t>
            </a:r>
          </a:p>
          <a:p>
            <a:pPr marL="9525" marR="3810" algn="ctr">
              <a:lnSpc>
                <a:spcPts val="2850"/>
              </a:lnSpc>
            </a:pPr>
            <a:r>
              <a:rPr lang="en-US" sz="2175" spc="-4" dirty="0" smtClean="0">
                <a:latin typeface="Avenir Book" charset="0"/>
                <a:ea typeface="Avenir Book" charset="0"/>
                <a:cs typeface="Avenir Book" charset="0"/>
              </a:rPr>
              <a:t>revenue</a:t>
            </a:r>
            <a:endParaRPr sz="2175" dirty="0">
              <a:latin typeface="Avenir Book" charset="0"/>
              <a:ea typeface="Avenir Book" charset="0"/>
              <a:cs typeface="Avenir Book" charset="0"/>
            </a:endParaRPr>
          </a:p>
        </p:txBody>
      </p:sp>
      <p:sp>
        <p:nvSpPr>
          <p:cNvPr id="7" name="object 7"/>
          <p:cNvSpPr txBox="1"/>
          <p:nvPr/>
        </p:nvSpPr>
        <p:spPr>
          <a:xfrm>
            <a:off x="3217082" y="2008070"/>
            <a:ext cx="955834" cy="346249"/>
          </a:xfrm>
          <a:prstGeom prst="rect">
            <a:avLst/>
          </a:prstGeom>
          <a:noFill/>
          <a:ln>
            <a:solidFill>
              <a:schemeClr val="tx1">
                <a:lumMod val="50000"/>
                <a:lumOff val="50000"/>
              </a:schemeClr>
            </a:solidFill>
          </a:ln>
          <a:effectLst/>
        </p:spPr>
        <p:txBody>
          <a:bodyPr vert="horz" wrap="square" lIns="0" tIns="0" rIns="0" bIns="0" rtlCol="0">
            <a:spAutoFit/>
          </a:bodyPr>
          <a:lstStyle/>
          <a:p>
            <a:pPr marL="68104"/>
            <a:r>
              <a:rPr sz="2250" dirty="0">
                <a:solidFill>
                  <a:schemeClr val="bg1">
                    <a:lumMod val="50000"/>
                  </a:schemeClr>
                </a:solidFill>
                <a:latin typeface="Avenir Book" charset="0"/>
                <a:ea typeface="Avenir Book" charset="0"/>
                <a:cs typeface="Avenir Book" charset="0"/>
              </a:rPr>
              <a:t>model</a:t>
            </a:r>
          </a:p>
        </p:txBody>
      </p:sp>
      <p:sp>
        <p:nvSpPr>
          <p:cNvPr id="9" name="object 9"/>
          <p:cNvSpPr txBox="1"/>
          <p:nvPr/>
        </p:nvSpPr>
        <p:spPr>
          <a:xfrm>
            <a:off x="5925079" y="3446046"/>
            <a:ext cx="1221475" cy="734496"/>
          </a:xfrm>
          <a:prstGeom prst="rect">
            <a:avLst/>
          </a:prstGeom>
          <a:effectLst/>
        </p:spPr>
        <p:txBody>
          <a:bodyPr vert="horz" wrap="square" lIns="0" tIns="0" rIns="0" bIns="0" rtlCol="0">
            <a:spAutoFit/>
          </a:bodyPr>
          <a:lstStyle/>
          <a:p>
            <a:pPr marL="9525" marR="3810" algn="ctr">
              <a:lnSpc>
                <a:spcPts val="2850"/>
              </a:lnSpc>
            </a:pPr>
            <a:r>
              <a:rPr lang="en-US" sz="2175" spc="-15" dirty="0" smtClean="0">
                <a:latin typeface="Avenir Book" charset="0"/>
                <a:ea typeface="Avenir Book" charset="0"/>
                <a:cs typeface="Avenir Book" charset="0"/>
              </a:rPr>
              <a:t>p</a:t>
            </a:r>
            <a:r>
              <a:rPr sz="2175" spc="-15" dirty="0" smtClean="0">
                <a:latin typeface="Avenir Book" charset="0"/>
                <a:ea typeface="Avenir Book" charset="0"/>
                <a:cs typeface="Avenir Book" charset="0"/>
              </a:rPr>
              <a:t>re</a:t>
            </a:r>
            <a:r>
              <a:rPr sz="2175" dirty="0" smtClean="0">
                <a:latin typeface="Avenir Book" charset="0"/>
                <a:ea typeface="Avenir Book" charset="0"/>
                <a:cs typeface="Avenir Book" charset="0"/>
              </a:rPr>
              <a:t>di</a:t>
            </a:r>
            <a:r>
              <a:rPr sz="2175" spc="-11" dirty="0" smtClean="0">
                <a:latin typeface="Avenir Book" charset="0"/>
                <a:ea typeface="Avenir Book" charset="0"/>
                <a:cs typeface="Avenir Book" charset="0"/>
              </a:rPr>
              <a:t>cte</a:t>
            </a:r>
            <a:r>
              <a:rPr sz="2175" dirty="0" smtClean="0">
                <a:latin typeface="Avenir Book" charset="0"/>
                <a:ea typeface="Avenir Book" charset="0"/>
                <a:cs typeface="Avenir Book" charset="0"/>
              </a:rPr>
              <a:t>d </a:t>
            </a:r>
            <a:r>
              <a:rPr lang="en-US" sz="2175" dirty="0" smtClean="0">
                <a:latin typeface="Avenir Book" charset="0"/>
                <a:ea typeface="Avenir Book" charset="0"/>
                <a:cs typeface="Avenir Book" charset="0"/>
              </a:rPr>
              <a:t>revenue</a:t>
            </a:r>
            <a:endParaRPr sz="2175" dirty="0">
              <a:latin typeface="Avenir Book" charset="0"/>
              <a:ea typeface="Avenir Book" charset="0"/>
              <a:cs typeface="Avenir Book" charset="0"/>
            </a:endParaRPr>
          </a:p>
        </p:txBody>
      </p:sp>
      <p:sp>
        <p:nvSpPr>
          <p:cNvPr id="16" name="object 16"/>
          <p:cNvSpPr txBox="1"/>
          <p:nvPr/>
        </p:nvSpPr>
        <p:spPr>
          <a:xfrm>
            <a:off x="920060" y="3356011"/>
            <a:ext cx="1743941" cy="1106393"/>
          </a:xfrm>
          <a:prstGeom prst="rect">
            <a:avLst/>
          </a:prstGeom>
          <a:effectLst/>
        </p:spPr>
        <p:txBody>
          <a:bodyPr vert="horz" wrap="square" lIns="0" tIns="0" rIns="0" bIns="0" rtlCol="0">
            <a:spAutoFit/>
          </a:bodyPr>
          <a:lstStyle/>
          <a:p>
            <a:pPr marL="9525" marR="3810" algn="ctr">
              <a:lnSpc>
                <a:spcPts val="2850"/>
              </a:lnSpc>
            </a:pPr>
            <a:r>
              <a:rPr lang="en-US" sz="2175" spc="-15" dirty="0" smtClean="0">
                <a:latin typeface="Avenir Book" charset="0"/>
                <a:ea typeface="Avenir Book" charset="0"/>
                <a:cs typeface="Avenir Book" charset="0"/>
              </a:rPr>
              <a:t>movie data (unknown revenue)</a:t>
            </a:r>
            <a:endParaRPr sz="2175" dirty="0">
              <a:latin typeface="Avenir Book" charset="0"/>
              <a:ea typeface="Avenir Book" charset="0"/>
              <a:cs typeface="Avenir Book" charset="0"/>
            </a:endParaRPr>
          </a:p>
        </p:txBody>
      </p:sp>
      <p:cxnSp>
        <p:nvCxnSpPr>
          <p:cNvPr id="39" name="Straight Arrow Connector 38"/>
          <p:cNvCxnSpPr/>
          <p:nvPr/>
        </p:nvCxnSpPr>
        <p:spPr>
          <a:xfrm>
            <a:off x="4520508" y="2148683"/>
            <a:ext cx="1262499" cy="0"/>
          </a:xfrm>
          <a:prstGeom prst="straightConnector1">
            <a:avLst/>
          </a:prstGeom>
          <a:ln w="38100">
            <a:solidFill>
              <a:srgbClr val="0070C0"/>
            </a:solidFill>
            <a:tailEnd type="arrow"/>
          </a:ln>
          <a:effectLst/>
        </p:spPr>
        <p:style>
          <a:lnRef idx="2">
            <a:schemeClr val="accent1"/>
          </a:lnRef>
          <a:fillRef idx="0">
            <a:schemeClr val="accent1"/>
          </a:fillRef>
          <a:effectRef idx="1">
            <a:schemeClr val="accent1"/>
          </a:effectRef>
          <a:fontRef idx="minor">
            <a:schemeClr val="tx1"/>
          </a:fontRef>
        </p:style>
      </p:cxnSp>
      <p:sp>
        <p:nvSpPr>
          <p:cNvPr id="44" name="object 9"/>
          <p:cNvSpPr txBox="1"/>
          <p:nvPr/>
        </p:nvSpPr>
        <p:spPr>
          <a:xfrm>
            <a:off x="4459361" y="1593189"/>
            <a:ext cx="1410963" cy="362600"/>
          </a:xfrm>
          <a:prstGeom prst="rect">
            <a:avLst/>
          </a:prstGeom>
          <a:ln>
            <a:noFill/>
          </a:ln>
          <a:effectLst/>
        </p:spPr>
        <p:txBody>
          <a:bodyPr vert="horz" wrap="square" lIns="0" tIns="0" rIns="0" bIns="0" rtlCol="0">
            <a:spAutoFit/>
          </a:bodyPr>
          <a:lstStyle/>
          <a:p>
            <a:pPr marL="9525" marR="3810" algn="ctr">
              <a:lnSpc>
                <a:spcPts val="2850"/>
              </a:lnSpc>
            </a:pPr>
            <a:r>
              <a:rPr lang="en-US" sz="2175" spc="-15" dirty="0" smtClean="0">
                <a:solidFill>
                  <a:schemeClr val="bg1"/>
                </a:solidFill>
                <a:latin typeface="Avenir Book" charset="0"/>
                <a:ea typeface="Avenir Book" charset="0"/>
                <a:cs typeface="Avenir Book" charset="0"/>
              </a:rPr>
              <a:t>fit</a:t>
            </a:r>
            <a:endParaRPr sz="2175" dirty="0">
              <a:solidFill>
                <a:schemeClr val="bg1"/>
              </a:solidFill>
              <a:latin typeface="Avenir Book" charset="0"/>
              <a:ea typeface="Avenir Book" charset="0"/>
              <a:cs typeface="Avenir Book" charset="0"/>
            </a:endParaRPr>
          </a:p>
        </p:txBody>
      </p:sp>
      <p:sp>
        <p:nvSpPr>
          <p:cNvPr id="19" name="object 7"/>
          <p:cNvSpPr txBox="1"/>
          <p:nvPr/>
        </p:nvSpPr>
        <p:spPr>
          <a:xfrm>
            <a:off x="2725148" y="3741650"/>
            <a:ext cx="306119" cy="346249"/>
          </a:xfrm>
          <a:prstGeom prst="rect">
            <a:avLst/>
          </a:prstGeom>
          <a:noFill/>
          <a:ln>
            <a:solidFill>
              <a:schemeClr val="tx1">
                <a:lumMod val="50000"/>
                <a:lumOff val="50000"/>
              </a:schemeClr>
            </a:solidFill>
          </a:ln>
          <a:effectLst/>
        </p:spPr>
        <p:txBody>
          <a:bodyPr vert="horz" wrap="square" lIns="0" tIns="0" rIns="0" bIns="0" rtlCol="0">
            <a:spAutoFit/>
          </a:bodyPr>
          <a:lstStyle/>
          <a:p>
            <a:pPr marL="68104"/>
            <a:r>
              <a:rPr lang="en-US" sz="2250" dirty="0" smtClean="0">
                <a:solidFill>
                  <a:schemeClr val="bg1">
                    <a:lumMod val="50000"/>
                  </a:schemeClr>
                </a:solidFill>
                <a:latin typeface="Avenir Book" charset="0"/>
                <a:ea typeface="Avenir Book" charset="0"/>
                <a:cs typeface="Avenir Book" charset="0"/>
              </a:rPr>
              <a:t>+</a:t>
            </a:r>
            <a:endParaRPr sz="2250" dirty="0">
              <a:solidFill>
                <a:schemeClr val="bg1">
                  <a:lumMod val="50000"/>
                </a:schemeClr>
              </a:solidFill>
              <a:latin typeface="Avenir Book" charset="0"/>
              <a:ea typeface="Avenir Book" charset="0"/>
              <a:cs typeface="Avenir Book" charset="0"/>
            </a:endParaRPr>
          </a:p>
        </p:txBody>
      </p:sp>
      <p:sp>
        <p:nvSpPr>
          <p:cNvPr id="20" name="object 7"/>
          <p:cNvSpPr txBox="1"/>
          <p:nvPr/>
        </p:nvSpPr>
        <p:spPr>
          <a:xfrm>
            <a:off x="2725148" y="2024181"/>
            <a:ext cx="306119" cy="346249"/>
          </a:xfrm>
          <a:prstGeom prst="rect">
            <a:avLst/>
          </a:prstGeom>
          <a:noFill/>
          <a:ln>
            <a:solidFill>
              <a:schemeClr val="tx1">
                <a:lumMod val="50000"/>
                <a:lumOff val="50000"/>
              </a:schemeClr>
            </a:solidFill>
          </a:ln>
          <a:effectLst/>
        </p:spPr>
        <p:txBody>
          <a:bodyPr vert="horz" wrap="square" lIns="0" tIns="0" rIns="0" bIns="0" rtlCol="0">
            <a:spAutoFit/>
          </a:bodyPr>
          <a:lstStyle/>
          <a:p>
            <a:pPr marL="68104"/>
            <a:r>
              <a:rPr lang="en-US" sz="2250" dirty="0" smtClean="0">
                <a:solidFill>
                  <a:schemeClr val="bg1">
                    <a:lumMod val="50000"/>
                  </a:schemeClr>
                </a:solidFill>
                <a:latin typeface="Avenir Book" charset="0"/>
                <a:ea typeface="Avenir Book" charset="0"/>
                <a:cs typeface="Avenir Book" charset="0"/>
              </a:rPr>
              <a:t>+</a:t>
            </a:r>
            <a:endParaRPr sz="2250" dirty="0">
              <a:solidFill>
                <a:schemeClr val="bg1">
                  <a:lumMod val="50000"/>
                </a:schemeClr>
              </a:solidFill>
              <a:latin typeface="Avenir Book" charset="0"/>
              <a:ea typeface="Avenir Book" charset="0"/>
              <a:cs typeface="Avenir Book" charset="0"/>
            </a:endParaRPr>
          </a:p>
        </p:txBody>
      </p:sp>
      <p:cxnSp>
        <p:nvCxnSpPr>
          <p:cNvPr id="25" name="Straight Arrow Connector 24"/>
          <p:cNvCxnSpPr/>
          <p:nvPr/>
        </p:nvCxnSpPr>
        <p:spPr>
          <a:xfrm>
            <a:off x="4520508" y="3885601"/>
            <a:ext cx="1262499" cy="0"/>
          </a:xfrm>
          <a:prstGeom prst="straightConnector1">
            <a:avLst/>
          </a:prstGeom>
          <a:ln w="38100">
            <a:solidFill>
              <a:srgbClr val="0070C0"/>
            </a:solidFill>
            <a:tailEnd type="arrow"/>
          </a:ln>
          <a:effectLst/>
        </p:spPr>
        <p:style>
          <a:lnRef idx="2">
            <a:schemeClr val="accent1"/>
          </a:lnRef>
          <a:fillRef idx="0">
            <a:schemeClr val="accent1"/>
          </a:fillRef>
          <a:effectRef idx="1">
            <a:schemeClr val="accent1"/>
          </a:effectRef>
          <a:fontRef idx="minor">
            <a:schemeClr val="tx1"/>
          </a:fontRef>
        </p:style>
      </p:cxnSp>
      <p:sp>
        <p:nvSpPr>
          <p:cNvPr id="26" name="object 9"/>
          <p:cNvSpPr txBox="1"/>
          <p:nvPr/>
        </p:nvSpPr>
        <p:spPr>
          <a:xfrm>
            <a:off x="4459361" y="3428146"/>
            <a:ext cx="1410963" cy="362600"/>
          </a:xfrm>
          <a:prstGeom prst="rect">
            <a:avLst/>
          </a:prstGeom>
          <a:ln>
            <a:noFill/>
          </a:ln>
          <a:effectLst/>
        </p:spPr>
        <p:txBody>
          <a:bodyPr vert="horz" wrap="square" lIns="0" tIns="0" rIns="0" bIns="0" rtlCol="0">
            <a:spAutoFit/>
          </a:bodyPr>
          <a:lstStyle/>
          <a:p>
            <a:pPr marL="9525" marR="3810" algn="ctr">
              <a:lnSpc>
                <a:spcPts val="2850"/>
              </a:lnSpc>
            </a:pPr>
            <a:r>
              <a:rPr lang="en-US" sz="2175" spc="-15" dirty="0" smtClean="0">
                <a:solidFill>
                  <a:schemeClr val="bg1"/>
                </a:solidFill>
                <a:latin typeface="Avenir Book" charset="0"/>
                <a:ea typeface="Avenir Book" charset="0"/>
                <a:cs typeface="Avenir Book" charset="0"/>
              </a:rPr>
              <a:t>predict</a:t>
            </a:r>
            <a:endParaRPr sz="2175" dirty="0">
              <a:solidFill>
                <a:schemeClr val="bg1"/>
              </a:solidFill>
              <a:latin typeface="Avenir Book" charset="0"/>
              <a:ea typeface="Avenir Book" charset="0"/>
              <a:cs typeface="Avenir Book" charset="0"/>
            </a:endParaRPr>
          </a:p>
        </p:txBody>
      </p:sp>
      <p:sp>
        <p:nvSpPr>
          <p:cNvPr id="28" name="Rectangle 27"/>
          <p:cNvSpPr/>
          <p:nvPr/>
        </p:nvSpPr>
        <p:spPr>
          <a:xfrm>
            <a:off x="3225827" y="3701737"/>
            <a:ext cx="1137943" cy="426076"/>
          </a:xfrm>
          <a:prstGeom prst="rect">
            <a:avLst/>
          </a:prstGeom>
          <a:solidFill>
            <a:srgbClr val="7030A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104" lvl="0"/>
            <a:r>
              <a:rPr lang="en-US" sz="2250" dirty="0">
                <a:solidFill>
                  <a:srgbClr val="212121">
                    <a:lumMod val="50000"/>
                  </a:srgbClr>
                </a:solidFill>
                <a:latin typeface="Avenir Book" charset="0"/>
                <a:ea typeface="Avenir Book" charset="0"/>
                <a:cs typeface="Avenir Book" charset="0"/>
              </a:rPr>
              <a:t>model</a:t>
            </a:r>
          </a:p>
        </p:txBody>
      </p:sp>
      <p:sp>
        <p:nvSpPr>
          <p:cNvPr id="29" name="Rectangle 28"/>
          <p:cNvSpPr/>
          <p:nvPr/>
        </p:nvSpPr>
        <p:spPr>
          <a:xfrm>
            <a:off x="5972171" y="1915801"/>
            <a:ext cx="1179479" cy="426076"/>
          </a:xfrm>
          <a:prstGeom prst="rect">
            <a:avLst/>
          </a:prstGeom>
          <a:solidFill>
            <a:srgbClr val="7030A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104" lvl="0"/>
            <a:r>
              <a:rPr lang="en-US" sz="2250" dirty="0">
                <a:solidFill>
                  <a:srgbClr val="212121">
                    <a:lumMod val="50000"/>
                  </a:srgbClr>
                </a:solidFill>
                <a:latin typeface="Avenir Book" charset="0"/>
                <a:ea typeface="Avenir Book" charset="0"/>
                <a:cs typeface="Avenir Book" charset="0"/>
              </a:rPr>
              <a:t>model</a:t>
            </a:r>
          </a:p>
        </p:txBody>
      </p:sp>
    </p:spTree>
    <p:extLst>
      <p:ext uri="{BB962C8B-B14F-4D97-AF65-F5344CB8AC3E}">
        <p14:creationId xmlns:p14="http://schemas.microsoft.com/office/powerpoint/2010/main" val="5275169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ounded Rectangle 44"/>
          <p:cNvSpPr/>
          <p:nvPr/>
        </p:nvSpPr>
        <p:spPr>
          <a:xfrm>
            <a:off x="763322" y="3257550"/>
            <a:ext cx="3657600" cy="1314450"/>
          </a:xfrm>
          <a:prstGeom prst="roundRect">
            <a:avLst/>
          </a:prstGeom>
          <a:solidFill>
            <a:schemeClr val="tx1"/>
          </a:solidFill>
          <a:ln w="381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dirty="0">
              <a:latin typeface="Avenir Book" charset="0"/>
              <a:ea typeface="Avenir Book" charset="0"/>
              <a:cs typeface="Avenir Book" charset="0"/>
            </a:endParaRPr>
          </a:p>
        </p:txBody>
      </p:sp>
      <p:sp>
        <p:nvSpPr>
          <p:cNvPr id="43" name="Rounded Rectangle 42"/>
          <p:cNvSpPr/>
          <p:nvPr/>
        </p:nvSpPr>
        <p:spPr>
          <a:xfrm>
            <a:off x="763322" y="1428750"/>
            <a:ext cx="3657600" cy="1314450"/>
          </a:xfrm>
          <a:prstGeom prst="roundRect">
            <a:avLst/>
          </a:prstGeom>
          <a:solidFill>
            <a:schemeClr val="tx1"/>
          </a:solidFill>
          <a:ln w="381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dirty="0">
              <a:latin typeface="Avenir Book" charset="0"/>
              <a:ea typeface="Avenir Book" charset="0"/>
              <a:cs typeface="Avenir Book" charset="0"/>
            </a:endParaRPr>
          </a:p>
        </p:txBody>
      </p:sp>
      <p:sp>
        <p:nvSpPr>
          <p:cNvPr id="2" name="object 2"/>
          <p:cNvSpPr txBox="1"/>
          <p:nvPr/>
        </p:nvSpPr>
        <p:spPr>
          <a:xfrm>
            <a:off x="398352" y="296172"/>
            <a:ext cx="8437829" cy="461665"/>
          </a:xfrm>
          <a:prstGeom prst="rect">
            <a:avLst/>
          </a:prstGeom>
          <a:effectLst/>
        </p:spPr>
        <p:txBody>
          <a:bodyPr vert="horz" wrap="square" lIns="0" tIns="0" rIns="0" bIns="0" rtlCol="0">
            <a:spAutoFit/>
          </a:bodyPr>
          <a:lstStyle/>
          <a:p>
            <a:pPr marL="9525"/>
            <a:r>
              <a:rPr lang="en-US" sz="3000" spc="-26" dirty="0" smtClean="0">
                <a:latin typeface="Avenir Book" charset="0"/>
                <a:ea typeface="Avenir Book" charset="0"/>
                <a:cs typeface="Avenir Book" charset="0"/>
              </a:rPr>
              <a:t>Classification: Categorical Answers</a:t>
            </a:r>
            <a:endParaRPr sz="3000" dirty="0">
              <a:latin typeface="Avenir Book" charset="0"/>
              <a:ea typeface="Avenir Book" charset="0"/>
              <a:cs typeface="Avenir Book" charset="0"/>
            </a:endParaRPr>
          </a:p>
        </p:txBody>
      </p:sp>
      <p:sp>
        <p:nvSpPr>
          <p:cNvPr id="3" name="object 3"/>
          <p:cNvSpPr txBox="1"/>
          <p:nvPr/>
        </p:nvSpPr>
        <p:spPr>
          <a:xfrm>
            <a:off x="920060" y="1683396"/>
            <a:ext cx="1709497" cy="734496"/>
          </a:xfrm>
          <a:prstGeom prst="rect">
            <a:avLst/>
          </a:prstGeom>
          <a:effectLst/>
        </p:spPr>
        <p:txBody>
          <a:bodyPr vert="horz" wrap="square" lIns="0" tIns="0" rIns="0" bIns="0" rtlCol="0">
            <a:spAutoFit/>
          </a:bodyPr>
          <a:lstStyle/>
          <a:p>
            <a:pPr marL="9525" marR="3810" algn="ctr">
              <a:lnSpc>
                <a:spcPts val="2850"/>
              </a:lnSpc>
            </a:pPr>
            <a:r>
              <a:rPr lang="en-US" sz="2175" spc="-4" dirty="0" smtClean="0">
                <a:latin typeface="Avenir Book" charset="0"/>
                <a:ea typeface="Avenir Book" charset="0"/>
                <a:cs typeface="Avenir Book" charset="0"/>
              </a:rPr>
              <a:t>labeled </a:t>
            </a:r>
          </a:p>
          <a:p>
            <a:pPr marL="9525" marR="3810" algn="ctr">
              <a:lnSpc>
                <a:spcPts val="2850"/>
              </a:lnSpc>
            </a:pPr>
            <a:r>
              <a:rPr lang="en-US" sz="2175" spc="-4" dirty="0" smtClean="0">
                <a:latin typeface="Avenir Book" charset="0"/>
                <a:ea typeface="Avenir Book" charset="0"/>
                <a:cs typeface="Avenir Book" charset="0"/>
              </a:rPr>
              <a:t>data</a:t>
            </a:r>
            <a:endParaRPr sz="2175" dirty="0">
              <a:latin typeface="Avenir Book" charset="0"/>
              <a:ea typeface="Avenir Book" charset="0"/>
              <a:cs typeface="Avenir Book" charset="0"/>
            </a:endParaRPr>
          </a:p>
        </p:txBody>
      </p:sp>
      <p:sp>
        <p:nvSpPr>
          <p:cNvPr id="7" name="object 7"/>
          <p:cNvSpPr txBox="1"/>
          <p:nvPr/>
        </p:nvSpPr>
        <p:spPr>
          <a:xfrm>
            <a:off x="3217082" y="1908054"/>
            <a:ext cx="955834" cy="346249"/>
          </a:xfrm>
          <a:prstGeom prst="rect">
            <a:avLst/>
          </a:prstGeom>
          <a:noFill/>
          <a:ln>
            <a:solidFill>
              <a:schemeClr val="tx1">
                <a:lumMod val="50000"/>
                <a:lumOff val="50000"/>
              </a:schemeClr>
            </a:solidFill>
          </a:ln>
          <a:effectLst/>
        </p:spPr>
        <p:txBody>
          <a:bodyPr vert="horz" wrap="square" lIns="0" tIns="0" rIns="0" bIns="0" rtlCol="0">
            <a:spAutoFit/>
          </a:bodyPr>
          <a:lstStyle/>
          <a:p>
            <a:pPr marL="68104"/>
            <a:r>
              <a:rPr sz="2250" dirty="0">
                <a:solidFill>
                  <a:schemeClr val="bg1">
                    <a:lumMod val="50000"/>
                  </a:schemeClr>
                </a:solidFill>
                <a:latin typeface="Avenir Book" charset="0"/>
                <a:ea typeface="Avenir Book" charset="0"/>
                <a:cs typeface="Avenir Book" charset="0"/>
              </a:rPr>
              <a:t>model</a:t>
            </a:r>
          </a:p>
        </p:txBody>
      </p:sp>
      <p:sp>
        <p:nvSpPr>
          <p:cNvPr id="9" name="object 9"/>
          <p:cNvSpPr txBox="1"/>
          <p:nvPr/>
        </p:nvSpPr>
        <p:spPr>
          <a:xfrm>
            <a:off x="5939745" y="3657600"/>
            <a:ext cx="1073989" cy="371897"/>
          </a:xfrm>
          <a:prstGeom prst="rect">
            <a:avLst/>
          </a:prstGeom>
          <a:effectLst/>
        </p:spPr>
        <p:txBody>
          <a:bodyPr vert="horz" wrap="square" lIns="0" tIns="0" rIns="0" bIns="0" rtlCol="0">
            <a:spAutoFit/>
          </a:bodyPr>
          <a:lstStyle/>
          <a:p>
            <a:pPr marL="9525" marR="3810" algn="ctr">
              <a:lnSpc>
                <a:spcPts val="2850"/>
              </a:lnSpc>
            </a:pPr>
            <a:r>
              <a:rPr lang="en-US" sz="2175" spc="-15" dirty="0" smtClean="0">
                <a:latin typeface="Avenir Book" charset="0"/>
                <a:ea typeface="Avenir Book" charset="0"/>
                <a:cs typeface="Avenir Book" charset="0"/>
              </a:rPr>
              <a:t>labels</a:t>
            </a:r>
            <a:endParaRPr sz="2175" dirty="0">
              <a:latin typeface="Avenir Book" charset="0"/>
              <a:ea typeface="Avenir Book" charset="0"/>
              <a:cs typeface="Avenir Book" charset="0"/>
            </a:endParaRPr>
          </a:p>
        </p:txBody>
      </p:sp>
      <p:sp>
        <p:nvSpPr>
          <p:cNvPr id="16" name="object 16"/>
          <p:cNvSpPr txBox="1"/>
          <p:nvPr/>
        </p:nvSpPr>
        <p:spPr>
          <a:xfrm>
            <a:off x="920060" y="3516144"/>
            <a:ext cx="1743941" cy="734496"/>
          </a:xfrm>
          <a:prstGeom prst="rect">
            <a:avLst/>
          </a:prstGeom>
          <a:effectLst/>
        </p:spPr>
        <p:txBody>
          <a:bodyPr vert="horz" wrap="square" lIns="0" tIns="0" rIns="0" bIns="0" rtlCol="0">
            <a:spAutoFit/>
          </a:bodyPr>
          <a:lstStyle/>
          <a:p>
            <a:pPr marL="9525" marR="3810" algn="ctr">
              <a:lnSpc>
                <a:spcPts val="2850"/>
              </a:lnSpc>
            </a:pPr>
            <a:r>
              <a:rPr lang="en-US" sz="2175" spc="-15" dirty="0" smtClean="0">
                <a:latin typeface="Avenir Book" charset="0"/>
                <a:ea typeface="Avenir Book" charset="0"/>
                <a:cs typeface="Avenir Book" charset="0"/>
              </a:rPr>
              <a:t>unlabeled data</a:t>
            </a:r>
            <a:endParaRPr sz="2175" dirty="0">
              <a:latin typeface="Avenir Book" charset="0"/>
              <a:ea typeface="Avenir Book" charset="0"/>
              <a:cs typeface="Avenir Book" charset="0"/>
            </a:endParaRPr>
          </a:p>
        </p:txBody>
      </p:sp>
      <p:cxnSp>
        <p:nvCxnSpPr>
          <p:cNvPr id="39" name="Straight Arrow Connector 38"/>
          <p:cNvCxnSpPr/>
          <p:nvPr/>
        </p:nvCxnSpPr>
        <p:spPr>
          <a:xfrm>
            <a:off x="4520508" y="2050644"/>
            <a:ext cx="1262499" cy="0"/>
          </a:xfrm>
          <a:prstGeom prst="straightConnector1">
            <a:avLst/>
          </a:prstGeom>
          <a:ln w="38100">
            <a:solidFill>
              <a:srgbClr val="0070C0"/>
            </a:solidFill>
            <a:tailEnd type="arrow"/>
          </a:ln>
          <a:effectLst/>
        </p:spPr>
        <p:style>
          <a:lnRef idx="2">
            <a:schemeClr val="accent1"/>
          </a:lnRef>
          <a:fillRef idx="0">
            <a:schemeClr val="accent1"/>
          </a:fillRef>
          <a:effectRef idx="1">
            <a:schemeClr val="accent1"/>
          </a:effectRef>
          <a:fontRef idx="minor">
            <a:schemeClr val="tx1"/>
          </a:fontRef>
        </p:style>
      </p:cxnSp>
      <p:sp>
        <p:nvSpPr>
          <p:cNvPr id="44" name="object 9"/>
          <p:cNvSpPr txBox="1"/>
          <p:nvPr/>
        </p:nvSpPr>
        <p:spPr>
          <a:xfrm>
            <a:off x="4459361" y="1593189"/>
            <a:ext cx="1410963" cy="362600"/>
          </a:xfrm>
          <a:prstGeom prst="rect">
            <a:avLst/>
          </a:prstGeom>
          <a:ln>
            <a:noFill/>
          </a:ln>
          <a:effectLst/>
        </p:spPr>
        <p:txBody>
          <a:bodyPr vert="horz" wrap="square" lIns="0" tIns="0" rIns="0" bIns="0" rtlCol="0">
            <a:spAutoFit/>
          </a:bodyPr>
          <a:lstStyle/>
          <a:p>
            <a:pPr marL="9525" marR="3810" algn="ctr">
              <a:lnSpc>
                <a:spcPts val="2850"/>
              </a:lnSpc>
            </a:pPr>
            <a:r>
              <a:rPr lang="en-US" sz="2175" spc="-15" dirty="0" smtClean="0">
                <a:solidFill>
                  <a:schemeClr val="bg1"/>
                </a:solidFill>
                <a:latin typeface="Avenir Book" charset="0"/>
                <a:ea typeface="Avenir Book" charset="0"/>
                <a:cs typeface="Avenir Book" charset="0"/>
              </a:rPr>
              <a:t>fit</a:t>
            </a:r>
            <a:endParaRPr sz="2175" dirty="0">
              <a:solidFill>
                <a:schemeClr val="bg1"/>
              </a:solidFill>
              <a:latin typeface="Avenir Book" charset="0"/>
              <a:ea typeface="Avenir Book" charset="0"/>
              <a:cs typeface="Avenir Book" charset="0"/>
            </a:endParaRPr>
          </a:p>
        </p:txBody>
      </p:sp>
      <p:sp>
        <p:nvSpPr>
          <p:cNvPr id="19" name="object 7"/>
          <p:cNvSpPr txBox="1"/>
          <p:nvPr/>
        </p:nvSpPr>
        <p:spPr>
          <a:xfrm>
            <a:off x="2725148" y="3741650"/>
            <a:ext cx="306119" cy="346249"/>
          </a:xfrm>
          <a:prstGeom prst="rect">
            <a:avLst/>
          </a:prstGeom>
          <a:noFill/>
          <a:ln>
            <a:solidFill>
              <a:schemeClr val="tx1">
                <a:lumMod val="50000"/>
                <a:lumOff val="50000"/>
              </a:schemeClr>
            </a:solidFill>
          </a:ln>
          <a:effectLst/>
        </p:spPr>
        <p:txBody>
          <a:bodyPr vert="horz" wrap="square" lIns="0" tIns="0" rIns="0" bIns="0" rtlCol="0">
            <a:spAutoFit/>
          </a:bodyPr>
          <a:lstStyle/>
          <a:p>
            <a:pPr marL="68104"/>
            <a:r>
              <a:rPr lang="en-US" sz="2250" dirty="0" smtClean="0">
                <a:solidFill>
                  <a:schemeClr val="bg1">
                    <a:lumMod val="50000"/>
                  </a:schemeClr>
                </a:solidFill>
                <a:latin typeface="Avenir Book" charset="0"/>
                <a:ea typeface="Avenir Book" charset="0"/>
                <a:cs typeface="Avenir Book" charset="0"/>
              </a:rPr>
              <a:t>+</a:t>
            </a:r>
            <a:endParaRPr sz="2250" dirty="0">
              <a:solidFill>
                <a:schemeClr val="bg1">
                  <a:lumMod val="50000"/>
                </a:schemeClr>
              </a:solidFill>
              <a:latin typeface="Avenir Book" charset="0"/>
              <a:ea typeface="Avenir Book" charset="0"/>
              <a:cs typeface="Avenir Book" charset="0"/>
            </a:endParaRPr>
          </a:p>
        </p:txBody>
      </p:sp>
      <p:sp>
        <p:nvSpPr>
          <p:cNvPr id="20" name="object 7"/>
          <p:cNvSpPr txBox="1"/>
          <p:nvPr/>
        </p:nvSpPr>
        <p:spPr>
          <a:xfrm>
            <a:off x="2725148" y="1924165"/>
            <a:ext cx="306119" cy="346249"/>
          </a:xfrm>
          <a:prstGeom prst="rect">
            <a:avLst/>
          </a:prstGeom>
          <a:noFill/>
          <a:ln>
            <a:solidFill>
              <a:schemeClr val="tx1">
                <a:lumMod val="50000"/>
                <a:lumOff val="50000"/>
              </a:schemeClr>
            </a:solidFill>
          </a:ln>
          <a:effectLst/>
        </p:spPr>
        <p:txBody>
          <a:bodyPr vert="horz" wrap="square" lIns="0" tIns="0" rIns="0" bIns="0" rtlCol="0">
            <a:spAutoFit/>
          </a:bodyPr>
          <a:lstStyle/>
          <a:p>
            <a:pPr marL="68104"/>
            <a:r>
              <a:rPr lang="en-US" sz="2250" dirty="0" smtClean="0">
                <a:solidFill>
                  <a:schemeClr val="bg1">
                    <a:lumMod val="50000"/>
                  </a:schemeClr>
                </a:solidFill>
                <a:latin typeface="Avenir Book" charset="0"/>
                <a:ea typeface="Avenir Book" charset="0"/>
                <a:cs typeface="Avenir Book" charset="0"/>
              </a:rPr>
              <a:t>+</a:t>
            </a:r>
            <a:endParaRPr sz="2250" dirty="0">
              <a:solidFill>
                <a:schemeClr val="bg1">
                  <a:lumMod val="50000"/>
                </a:schemeClr>
              </a:solidFill>
              <a:latin typeface="Avenir Book" charset="0"/>
              <a:ea typeface="Avenir Book" charset="0"/>
              <a:cs typeface="Avenir Book" charset="0"/>
            </a:endParaRPr>
          </a:p>
        </p:txBody>
      </p:sp>
      <p:cxnSp>
        <p:nvCxnSpPr>
          <p:cNvPr id="25" name="Straight Arrow Connector 24"/>
          <p:cNvCxnSpPr/>
          <p:nvPr/>
        </p:nvCxnSpPr>
        <p:spPr>
          <a:xfrm>
            <a:off x="4520508" y="3885601"/>
            <a:ext cx="1262499" cy="0"/>
          </a:xfrm>
          <a:prstGeom prst="straightConnector1">
            <a:avLst/>
          </a:prstGeom>
          <a:ln w="38100">
            <a:solidFill>
              <a:srgbClr val="0070C0"/>
            </a:solidFill>
            <a:tailEnd type="arrow"/>
          </a:ln>
          <a:effectLst/>
        </p:spPr>
        <p:style>
          <a:lnRef idx="2">
            <a:schemeClr val="accent1"/>
          </a:lnRef>
          <a:fillRef idx="0">
            <a:schemeClr val="accent1"/>
          </a:fillRef>
          <a:effectRef idx="1">
            <a:schemeClr val="accent1"/>
          </a:effectRef>
          <a:fontRef idx="minor">
            <a:schemeClr val="tx1"/>
          </a:fontRef>
        </p:style>
      </p:cxnSp>
      <p:sp>
        <p:nvSpPr>
          <p:cNvPr id="26" name="object 9"/>
          <p:cNvSpPr txBox="1"/>
          <p:nvPr/>
        </p:nvSpPr>
        <p:spPr>
          <a:xfrm>
            <a:off x="4459361" y="3428146"/>
            <a:ext cx="1410963" cy="362600"/>
          </a:xfrm>
          <a:prstGeom prst="rect">
            <a:avLst/>
          </a:prstGeom>
          <a:ln>
            <a:noFill/>
          </a:ln>
          <a:effectLst/>
        </p:spPr>
        <p:txBody>
          <a:bodyPr vert="horz" wrap="square" lIns="0" tIns="0" rIns="0" bIns="0" rtlCol="0">
            <a:spAutoFit/>
          </a:bodyPr>
          <a:lstStyle/>
          <a:p>
            <a:pPr marL="9525" marR="3810" algn="ctr">
              <a:lnSpc>
                <a:spcPts val="2850"/>
              </a:lnSpc>
            </a:pPr>
            <a:r>
              <a:rPr lang="en-US" sz="2175" spc="-15" dirty="0" smtClean="0">
                <a:solidFill>
                  <a:schemeClr val="bg1"/>
                </a:solidFill>
                <a:latin typeface="Avenir Book" charset="0"/>
                <a:ea typeface="Avenir Book" charset="0"/>
                <a:cs typeface="Avenir Book" charset="0"/>
              </a:rPr>
              <a:t>predict</a:t>
            </a:r>
            <a:endParaRPr sz="2175" dirty="0">
              <a:solidFill>
                <a:schemeClr val="bg1"/>
              </a:solidFill>
              <a:latin typeface="Avenir Book" charset="0"/>
              <a:ea typeface="Avenir Book" charset="0"/>
              <a:cs typeface="Avenir Book" charset="0"/>
            </a:endParaRPr>
          </a:p>
        </p:txBody>
      </p:sp>
      <p:sp>
        <p:nvSpPr>
          <p:cNvPr id="28" name="Rectangle 27"/>
          <p:cNvSpPr/>
          <p:nvPr/>
        </p:nvSpPr>
        <p:spPr>
          <a:xfrm>
            <a:off x="3225827" y="3701737"/>
            <a:ext cx="1137943" cy="426076"/>
          </a:xfrm>
          <a:prstGeom prst="rect">
            <a:avLst/>
          </a:prstGeom>
          <a:solidFill>
            <a:srgbClr val="7030A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104" lvl="0"/>
            <a:r>
              <a:rPr lang="en-US" sz="2250" dirty="0">
                <a:solidFill>
                  <a:srgbClr val="212121">
                    <a:lumMod val="50000"/>
                  </a:srgbClr>
                </a:solidFill>
                <a:latin typeface="Avenir Book" charset="0"/>
                <a:ea typeface="Avenir Book" charset="0"/>
                <a:cs typeface="Avenir Book" charset="0"/>
              </a:rPr>
              <a:t>model</a:t>
            </a:r>
          </a:p>
        </p:txBody>
      </p:sp>
      <p:sp>
        <p:nvSpPr>
          <p:cNvPr id="29" name="Rectangle 28"/>
          <p:cNvSpPr/>
          <p:nvPr/>
        </p:nvSpPr>
        <p:spPr>
          <a:xfrm>
            <a:off x="6115051" y="1872937"/>
            <a:ext cx="1179479" cy="426076"/>
          </a:xfrm>
          <a:prstGeom prst="rect">
            <a:avLst/>
          </a:prstGeom>
          <a:solidFill>
            <a:srgbClr val="7030A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104" lvl="0"/>
            <a:r>
              <a:rPr lang="en-US" sz="2250" dirty="0">
                <a:solidFill>
                  <a:srgbClr val="212121">
                    <a:lumMod val="50000"/>
                  </a:srgbClr>
                </a:solidFill>
                <a:latin typeface="Avenir Book" charset="0"/>
                <a:ea typeface="Avenir Book" charset="0"/>
                <a:cs typeface="Avenir Book" charset="0"/>
              </a:rPr>
              <a:t>model</a:t>
            </a:r>
          </a:p>
        </p:txBody>
      </p:sp>
    </p:spTree>
    <p:extLst>
      <p:ext uri="{BB962C8B-B14F-4D97-AF65-F5344CB8AC3E}">
        <p14:creationId xmlns:p14="http://schemas.microsoft.com/office/powerpoint/2010/main" val="862739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ounded Rectangle 44"/>
          <p:cNvSpPr/>
          <p:nvPr/>
        </p:nvSpPr>
        <p:spPr>
          <a:xfrm>
            <a:off x="763322" y="3257550"/>
            <a:ext cx="3657600" cy="1314450"/>
          </a:xfrm>
          <a:prstGeom prst="roundRect">
            <a:avLst/>
          </a:prstGeom>
          <a:solidFill>
            <a:schemeClr val="tx1"/>
          </a:solidFill>
          <a:ln w="381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dirty="0">
              <a:latin typeface="Avenir Book" charset="0"/>
              <a:ea typeface="Avenir Book" charset="0"/>
              <a:cs typeface="Avenir Book" charset="0"/>
            </a:endParaRPr>
          </a:p>
        </p:txBody>
      </p:sp>
      <p:sp>
        <p:nvSpPr>
          <p:cNvPr id="43" name="Rounded Rectangle 42"/>
          <p:cNvSpPr/>
          <p:nvPr/>
        </p:nvSpPr>
        <p:spPr>
          <a:xfrm>
            <a:off x="763322" y="1428750"/>
            <a:ext cx="3657600" cy="1314450"/>
          </a:xfrm>
          <a:prstGeom prst="roundRect">
            <a:avLst/>
          </a:prstGeom>
          <a:solidFill>
            <a:schemeClr val="tx1"/>
          </a:solidFill>
          <a:ln w="381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dirty="0">
              <a:latin typeface="Avenir Book" charset="0"/>
              <a:ea typeface="Avenir Book" charset="0"/>
              <a:cs typeface="Avenir Book" charset="0"/>
            </a:endParaRPr>
          </a:p>
        </p:txBody>
      </p:sp>
      <p:sp>
        <p:nvSpPr>
          <p:cNvPr id="2" name="object 2"/>
          <p:cNvSpPr txBox="1"/>
          <p:nvPr/>
        </p:nvSpPr>
        <p:spPr>
          <a:xfrm>
            <a:off x="398352" y="296172"/>
            <a:ext cx="8437829" cy="461665"/>
          </a:xfrm>
          <a:prstGeom prst="rect">
            <a:avLst/>
          </a:prstGeom>
          <a:effectLst/>
        </p:spPr>
        <p:txBody>
          <a:bodyPr vert="horz" wrap="square" lIns="0" tIns="0" rIns="0" bIns="0" rtlCol="0">
            <a:spAutoFit/>
          </a:bodyPr>
          <a:lstStyle/>
          <a:p>
            <a:pPr marL="9525"/>
            <a:r>
              <a:rPr lang="en-US" sz="3000" spc="-26" dirty="0" smtClean="0">
                <a:latin typeface="Avenir Book" charset="0"/>
                <a:ea typeface="Avenir Book" charset="0"/>
                <a:cs typeface="Avenir Book" charset="0"/>
              </a:rPr>
              <a:t>Classification: Categorical Answers</a:t>
            </a:r>
            <a:endParaRPr sz="3000" dirty="0">
              <a:latin typeface="Avenir Book" charset="0"/>
              <a:ea typeface="Avenir Book" charset="0"/>
              <a:cs typeface="Avenir Book" charset="0"/>
            </a:endParaRPr>
          </a:p>
        </p:txBody>
      </p:sp>
      <p:sp>
        <p:nvSpPr>
          <p:cNvPr id="3" name="object 3"/>
          <p:cNvSpPr txBox="1"/>
          <p:nvPr/>
        </p:nvSpPr>
        <p:spPr>
          <a:xfrm>
            <a:off x="776291" y="1714079"/>
            <a:ext cx="2165898" cy="743793"/>
          </a:xfrm>
          <a:prstGeom prst="rect">
            <a:avLst/>
          </a:prstGeom>
          <a:effectLst/>
        </p:spPr>
        <p:txBody>
          <a:bodyPr vert="horz" wrap="square" lIns="0" tIns="0" rIns="0" bIns="0" rtlCol="0">
            <a:spAutoFit/>
          </a:bodyPr>
          <a:lstStyle/>
          <a:p>
            <a:pPr marL="9525" marR="3810" algn="ctr">
              <a:lnSpc>
                <a:spcPts val="2850"/>
              </a:lnSpc>
            </a:pPr>
            <a:r>
              <a:rPr lang="en-US" sz="2175" spc="-4" dirty="0" smtClean="0">
                <a:latin typeface="Avenir Book" charset="0"/>
                <a:ea typeface="Avenir Book" charset="0"/>
                <a:cs typeface="Avenir Book" charset="0"/>
              </a:rPr>
              <a:t>emails labeled as spam/not spam</a:t>
            </a:r>
            <a:endParaRPr sz="2175" dirty="0">
              <a:latin typeface="Avenir Book" charset="0"/>
              <a:ea typeface="Avenir Book" charset="0"/>
              <a:cs typeface="Avenir Book" charset="0"/>
            </a:endParaRPr>
          </a:p>
        </p:txBody>
      </p:sp>
      <p:sp>
        <p:nvSpPr>
          <p:cNvPr id="7" name="object 7"/>
          <p:cNvSpPr txBox="1"/>
          <p:nvPr/>
        </p:nvSpPr>
        <p:spPr>
          <a:xfrm>
            <a:off x="3324090" y="1912851"/>
            <a:ext cx="955834" cy="346249"/>
          </a:xfrm>
          <a:prstGeom prst="rect">
            <a:avLst/>
          </a:prstGeom>
          <a:noFill/>
          <a:ln>
            <a:solidFill>
              <a:schemeClr val="tx1">
                <a:lumMod val="50000"/>
                <a:lumOff val="50000"/>
              </a:schemeClr>
            </a:solidFill>
          </a:ln>
          <a:effectLst/>
        </p:spPr>
        <p:txBody>
          <a:bodyPr vert="horz" wrap="square" lIns="0" tIns="0" rIns="0" bIns="0" rtlCol="0">
            <a:spAutoFit/>
          </a:bodyPr>
          <a:lstStyle/>
          <a:p>
            <a:pPr marL="68104"/>
            <a:r>
              <a:rPr sz="2250" dirty="0">
                <a:solidFill>
                  <a:schemeClr val="bg1">
                    <a:lumMod val="50000"/>
                  </a:schemeClr>
                </a:solidFill>
                <a:latin typeface="Avenir Book" charset="0"/>
                <a:ea typeface="Avenir Book" charset="0"/>
                <a:cs typeface="Avenir Book" charset="0"/>
              </a:rPr>
              <a:t>model</a:t>
            </a:r>
          </a:p>
        </p:txBody>
      </p:sp>
      <p:sp>
        <p:nvSpPr>
          <p:cNvPr id="9" name="object 9"/>
          <p:cNvSpPr txBox="1"/>
          <p:nvPr/>
        </p:nvSpPr>
        <p:spPr>
          <a:xfrm>
            <a:off x="5996897" y="3542879"/>
            <a:ext cx="1297634" cy="743793"/>
          </a:xfrm>
          <a:prstGeom prst="rect">
            <a:avLst/>
          </a:prstGeom>
          <a:effectLst/>
        </p:spPr>
        <p:txBody>
          <a:bodyPr vert="horz" wrap="square" lIns="0" tIns="0" rIns="0" bIns="0" rtlCol="0">
            <a:spAutoFit/>
          </a:bodyPr>
          <a:lstStyle/>
          <a:p>
            <a:pPr marL="9525" marR="3810" algn="ctr">
              <a:lnSpc>
                <a:spcPts val="2850"/>
              </a:lnSpc>
            </a:pPr>
            <a:r>
              <a:rPr lang="en-US" sz="2175" spc="-15" dirty="0" smtClean="0">
                <a:latin typeface="Avenir Book" charset="0"/>
                <a:ea typeface="Avenir Book" charset="0"/>
                <a:cs typeface="Avenir Book" charset="0"/>
              </a:rPr>
              <a:t>spam or not spam</a:t>
            </a:r>
            <a:endParaRPr sz="2175" dirty="0">
              <a:latin typeface="Avenir Book" charset="0"/>
              <a:ea typeface="Avenir Book" charset="0"/>
              <a:cs typeface="Avenir Book" charset="0"/>
            </a:endParaRPr>
          </a:p>
        </p:txBody>
      </p:sp>
      <p:sp>
        <p:nvSpPr>
          <p:cNvPr id="16" name="object 16"/>
          <p:cNvSpPr txBox="1"/>
          <p:nvPr/>
        </p:nvSpPr>
        <p:spPr>
          <a:xfrm>
            <a:off x="920060" y="3547527"/>
            <a:ext cx="1743941" cy="734496"/>
          </a:xfrm>
          <a:prstGeom prst="rect">
            <a:avLst/>
          </a:prstGeom>
          <a:effectLst/>
        </p:spPr>
        <p:txBody>
          <a:bodyPr vert="horz" wrap="square" lIns="0" tIns="0" rIns="0" bIns="0" rtlCol="0">
            <a:spAutoFit/>
          </a:bodyPr>
          <a:lstStyle/>
          <a:p>
            <a:pPr marL="9525" marR="3810" algn="ctr">
              <a:lnSpc>
                <a:spcPts val="2850"/>
              </a:lnSpc>
            </a:pPr>
            <a:r>
              <a:rPr lang="en-US" sz="2175" spc="-15" dirty="0" smtClean="0">
                <a:latin typeface="Avenir Book" charset="0"/>
                <a:ea typeface="Avenir Book" charset="0"/>
                <a:cs typeface="Avenir Book" charset="0"/>
              </a:rPr>
              <a:t>unlabeled emails</a:t>
            </a:r>
            <a:endParaRPr sz="2175" dirty="0">
              <a:latin typeface="Avenir Book" charset="0"/>
              <a:ea typeface="Avenir Book" charset="0"/>
              <a:cs typeface="Avenir Book" charset="0"/>
            </a:endParaRPr>
          </a:p>
        </p:txBody>
      </p:sp>
      <p:cxnSp>
        <p:nvCxnSpPr>
          <p:cNvPr id="39" name="Straight Arrow Connector 38"/>
          <p:cNvCxnSpPr/>
          <p:nvPr/>
        </p:nvCxnSpPr>
        <p:spPr>
          <a:xfrm>
            <a:off x="4577660" y="2085975"/>
            <a:ext cx="1262499" cy="0"/>
          </a:xfrm>
          <a:prstGeom prst="straightConnector1">
            <a:avLst/>
          </a:prstGeom>
          <a:ln w="38100">
            <a:solidFill>
              <a:srgbClr val="0070C0"/>
            </a:solidFill>
            <a:tailEnd type="arrow"/>
          </a:ln>
          <a:effectLst/>
        </p:spPr>
        <p:style>
          <a:lnRef idx="2">
            <a:schemeClr val="accent1"/>
          </a:lnRef>
          <a:fillRef idx="0">
            <a:schemeClr val="accent1"/>
          </a:fillRef>
          <a:effectRef idx="1">
            <a:schemeClr val="accent1"/>
          </a:effectRef>
          <a:fontRef idx="minor">
            <a:schemeClr val="tx1"/>
          </a:fontRef>
        </p:style>
      </p:cxnSp>
      <p:sp>
        <p:nvSpPr>
          <p:cNvPr id="44" name="object 9"/>
          <p:cNvSpPr txBox="1"/>
          <p:nvPr/>
        </p:nvSpPr>
        <p:spPr>
          <a:xfrm>
            <a:off x="4516513" y="1593189"/>
            <a:ext cx="1410963" cy="362600"/>
          </a:xfrm>
          <a:prstGeom prst="rect">
            <a:avLst/>
          </a:prstGeom>
          <a:ln>
            <a:noFill/>
          </a:ln>
          <a:effectLst/>
        </p:spPr>
        <p:txBody>
          <a:bodyPr vert="horz" wrap="square" lIns="0" tIns="0" rIns="0" bIns="0" rtlCol="0">
            <a:spAutoFit/>
          </a:bodyPr>
          <a:lstStyle/>
          <a:p>
            <a:pPr marL="9525" marR="3810" algn="ctr">
              <a:lnSpc>
                <a:spcPts val="2850"/>
              </a:lnSpc>
            </a:pPr>
            <a:r>
              <a:rPr lang="en-US" sz="2175" spc="-15" dirty="0" smtClean="0">
                <a:solidFill>
                  <a:schemeClr val="bg1"/>
                </a:solidFill>
                <a:latin typeface="Avenir Book" charset="0"/>
                <a:ea typeface="Avenir Book" charset="0"/>
                <a:cs typeface="Avenir Book" charset="0"/>
              </a:rPr>
              <a:t>fit</a:t>
            </a:r>
            <a:endParaRPr sz="2175" dirty="0">
              <a:solidFill>
                <a:schemeClr val="bg1"/>
              </a:solidFill>
              <a:latin typeface="Avenir Book" charset="0"/>
              <a:ea typeface="Avenir Book" charset="0"/>
              <a:cs typeface="Avenir Book" charset="0"/>
            </a:endParaRPr>
          </a:p>
        </p:txBody>
      </p:sp>
      <p:sp>
        <p:nvSpPr>
          <p:cNvPr id="19" name="object 7"/>
          <p:cNvSpPr txBox="1"/>
          <p:nvPr/>
        </p:nvSpPr>
        <p:spPr>
          <a:xfrm>
            <a:off x="2891132" y="3741651"/>
            <a:ext cx="306119" cy="346249"/>
          </a:xfrm>
          <a:prstGeom prst="rect">
            <a:avLst/>
          </a:prstGeom>
          <a:noFill/>
          <a:ln>
            <a:solidFill>
              <a:schemeClr val="tx1">
                <a:lumMod val="50000"/>
                <a:lumOff val="50000"/>
              </a:schemeClr>
            </a:solidFill>
          </a:ln>
          <a:effectLst/>
        </p:spPr>
        <p:txBody>
          <a:bodyPr vert="horz" wrap="square" lIns="0" tIns="0" rIns="0" bIns="0" rtlCol="0">
            <a:spAutoFit/>
          </a:bodyPr>
          <a:lstStyle/>
          <a:p>
            <a:pPr marL="68104"/>
            <a:r>
              <a:rPr lang="en-US" sz="2250" dirty="0" smtClean="0">
                <a:solidFill>
                  <a:schemeClr val="bg1">
                    <a:lumMod val="50000"/>
                  </a:schemeClr>
                </a:solidFill>
                <a:latin typeface="Avenir Book" charset="0"/>
                <a:ea typeface="Avenir Book" charset="0"/>
                <a:cs typeface="Avenir Book" charset="0"/>
              </a:rPr>
              <a:t>+</a:t>
            </a:r>
            <a:endParaRPr sz="2250" dirty="0">
              <a:solidFill>
                <a:schemeClr val="bg1">
                  <a:lumMod val="50000"/>
                </a:schemeClr>
              </a:solidFill>
              <a:latin typeface="Avenir Book" charset="0"/>
              <a:ea typeface="Avenir Book" charset="0"/>
              <a:cs typeface="Avenir Book" charset="0"/>
            </a:endParaRPr>
          </a:p>
        </p:txBody>
      </p:sp>
      <p:sp>
        <p:nvSpPr>
          <p:cNvPr id="20" name="object 7"/>
          <p:cNvSpPr txBox="1"/>
          <p:nvPr/>
        </p:nvSpPr>
        <p:spPr>
          <a:xfrm>
            <a:off x="2891132" y="1912851"/>
            <a:ext cx="306119" cy="346249"/>
          </a:xfrm>
          <a:prstGeom prst="rect">
            <a:avLst/>
          </a:prstGeom>
          <a:noFill/>
          <a:ln>
            <a:solidFill>
              <a:schemeClr val="tx1">
                <a:lumMod val="50000"/>
                <a:lumOff val="50000"/>
              </a:schemeClr>
            </a:solidFill>
          </a:ln>
          <a:effectLst/>
        </p:spPr>
        <p:txBody>
          <a:bodyPr vert="horz" wrap="square" lIns="0" tIns="0" rIns="0" bIns="0" rtlCol="0">
            <a:spAutoFit/>
          </a:bodyPr>
          <a:lstStyle/>
          <a:p>
            <a:pPr marL="68104"/>
            <a:r>
              <a:rPr lang="en-US" sz="2250" dirty="0" smtClean="0">
                <a:solidFill>
                  <a:schemeClr val="bg1">
                    <a:lumMod val="50000"/>
                  </a:schemeClr>
                </a:solidFill>
                <a:latin typeface="Avenir Book" charset="0"/>
                <a:ea typeface="Avenir Book" charset="0"/>
                <a:cs typeface="Avenir Book" charset="0"/>
              </a:rPr>
              <a:t>+</a:t>
            </a:r>
            <a:endParaRPr sz="2250" dirty="0">
              <a:solidFill>
                <a:schemeClr val="bg1">
                  <a:lumMod val="50000"/>
                </a:schemeClr>
              </a:solidFill>
              <a:latin typeface="Avenir Book" charset="0"/>
              <a:ea typeface="Avenir Book" charset="0"/>
              <a:cs typeface="Avenir Book" charset="0"/>
            </a:endParaRPr>
          </a:p>
        </p:txBody>
      </p:sp>
      <p:sp>
        <p:nvSpPr>
          <p:cNvPr id="4" name="Rectangle 3"/>
          <p:cNvSpPr/>
          <p:nvPr/>
        </p:nvSpPr>
        <p:spPr>
          <a:xfrm>
            <a:off x="3225827" y="3701737"/>
            <a:ext cx="1137943" cy="426076"/>
          </a:xfrm>
          <a:prstGeom prst="rect">
            <a:avLst/>
          </a:prstGeom>
          <a:solidFill>
            <a:srgbClr val="7030A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104" lvl="0"/>
            <a:r>
              <a:rPr lang="en-US" sz="2250" dirty="0">
                <a:solidFill>
                  <a:srgbClr val="212121">
                    <a:lumMod val="50000"/>
                  </a:srgbClr>
                </a:solidFill>
                <a:latin typeface="Avenir Book" charset="0"/>
                <a:ea typeface="Avenir Book" charset="0"/>
                <a:cs typeface="Avenir Book" charset="0"/>
              </a:rPr>
              <a:t>model</a:t>
            </a:r>
          </a:p>
        </p:txBody>
      </p:sp>
      <p:sp>
        <p:nvSpPr>
          <p:cNvPr id="23" name="Rectangle 22"/>
          <p:cNvSpPr/>
          <p:nvPr/>
        </p:nvSpPr>
        <p:spPr>
          <a:xfrm>
            <a:off x="6115051" y="1872937"/>
            <a:ext cx="1179479" cy="426076"/>
          </a:xfrm>
          <a:prstGeom prst="rect">
            <a:avLst/>
          </a:prstGeom>
          <a:solidFill>
            <a:srgbClr val="7030A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8104" lvl="0"/>
            <a:r>
              <a:rPr lang="en-US" sz="2250" dirty="0">
                <a:solidFill>
                  <a:srgbClr val="212121">
                    <a:lumMod val="50000"/>
                  </a:srgbClr>
                </a:solidFill>
                <a:latin typeface="Avenir Book" charset="0"/>
                <a:ea typeface="Avenir Book" charset="0"/>
                <a:cs typeface="Avenir Book" charset="0"/>
              </a:rPr>
              <a:t>model</a:t>
            </a:r>
          </a:p>
        </p:txBody>
      </p:sp>
      <p:cxnSp>
        <p:nvCxnSpPr>
          <p:cNvPr id="25" name="Straight Arrow Connector 24"/>
          <p:cNvCxnSpPr/>
          <p:nvPr/>
        </p:nvCxnSpPr>
        <p:spPr>
          <a:xfrm>
            <a:off x="4577660" y="3914775"/>
            <a:ext cx="1262499" cy="0"/>
          </a:xfrm>
          <a:prstGeom prst="straightConnector1">
            <a:avLst/>
          </a:prstGeom>
          <a:ln w="38100">
            <a:solidFill>
              <a:srgbClr val="0070C0"/>
            </a:solidFill>
            <a:tailEnd type="arrow"/>
          </a:ln>
          <a:effectLst/>
        </p:spPr>
        <p:style>
          <a:lnRef idx="2">
            <a:schemeClr val="accent1"/>
          </a:lnRef>
          <a:fillRef idx="0">
            <a:schemeClr val="accent1"/>
          </a:fillRef>
          <a:effectRef idx="1">
            <a:schemeClr val="accent1"/>
          </a:effectRef>
          <a:fontRef idx="minor">
            <a:schemeClr val="tx1"/>
          </a:fontRef>
        </p:style>
      </p:cxnSp>
      <p:sp>
        <p:nvSpPr>
          <p:cNvPr id="26" name="object 9"/>
          <p:cNvSpPr txBox="1"/>
          <p:nvPr/>
        </p:nvSpPr>
        <p:spPr>
          <a:xfrm>
            <a:off x="4516513" y="3428146"/>
            <a:ext cx="1410963" cy="362600"/>
          </a:xfrm>
          <a:prstGeom prst="rect">
            <a:avLst/>
          </a:prstGeom>
          <a:ln>
            <a:noFill/>
          </a:ln>
          <a:effectLst/>
        </p:spPr>
        <p:txBody>
          <a:bodyPr vert="horz" wrap="square" lIns="0" tIns="0" rIns="0" bIns="0" rtlCol="0">
            <a:spAutoFit/>
          </a:bodyPr>
          <a:lstStyle/>
          <a:p>
            <a:pPr marL="9525" marR="3810" algn="ctr">
              <a:lnSpc>
                <a:spcPts val="2850"/>
              </a:lnSpc>
            </a:pPr>
            <a:r>
              <a:rPr lang="en-US" sz="2175" spc="-15" dirty="0" smtClean="0">
                <a:solidFill>
                  <a:schemeClr val="bg1"/>
                </a:solidFill>
                <a:latin typeface="Avenir Book" charset="0"/>
                <a:ea typeface="Avenir Book" charset="0"/>
                <a:cs typeface="Avenir Book" charset="0"/>
              </a:rPr>
              <a:t>predict</a:t>
            </a:r>
            <a:endParaRPr sz="2175" dirty="0">
              <a:solidFill>
                <a:schemeClr val="bg1"/>
              </a:solidFill>
              <a:latin typeface="Avenir Book" charset="0"/>
              <a:ea typeface="Avenir Book" charset="0"/>
              <a:cs typeface="Avenir Book" charset="0"/>
            </a:endParaRPr>
          </a:p>
        </p:txBody>
      </p:sp>
    </p:spTree>
    <p:extLst>
      <p:ext uri="{BB962C8B-B14F-4D97-AF65-F5344CB8AC3E}">
        <p14:creationId xmlns:p14="http://schemas.microsoft.com/office/powerpoint/2010/main" val="4162329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p:nvPr/>
        </p:nvSpPr>
        <p:spPr>
          <a:xfrm>
            <a:off x="398352" y="296172"/>
            <a:ext cx="8437829" cy="461665"/>
          </a:xfrm>
          <a:prstGeom prst="rect">
            <a:avLst/>
          </a:prstGeom>
        </p:spPr>
        <p:txBody>
          <a:bodyPr vert="horz" wrap="square" lIns="0" tIns="0" rIns="0" bIns="0" rtlCol="0">
            <a:spAutoFit/>
          </a:bodyPr>
          <a:lstStyle/>
          <a:p>
            <a:pPr marL="9525"/>
            <a:r>
              <a:rPr lang="en-US" sz="3000" spc="-26" dirty="0" smtClean="0">
                <a:latin typeface="Avenir Book" charset="0"/>
                <a:ea typeface="Avenir Book" charset="0"/>
                <a:cs typeface="Avenir Book" charset="0"/>
              </a:rPr>
              <a:t>Three Types of Classification Predictions</a:t>
            </a:r>
            <a:endParaRPr sz="3000" dirty="0">
              <a:latin typeface="Avenir Book" charset="0"/>
              <a:ea typeface="Avenir Book" charset="0"/>
              <a:cs typeface="Avenir Book" charset="0"/>
            </a:endParaRPr>
          </a:p>
        </p:txBody>
      </p:sp>
      <p:sp>
        <p:nvSpPr>
          <p:cNvPr id="4" name="Rectangle 3"/>
          <p:cNvSpPr/>
          <p:nvPr/>
        </p:nvSpPr>
        <p:spPr>
          <a:xfrm>
            <a:off x="832304" y="970075"/>
            <a:ext cx="6682188" cy="3139321"/>
          </a:xfrm>
          <a:prstGeom prst="rect">
            <a:avLst/>
          </a:prstGeom>
        </p:spPr>
        <p:txBody>
          <a:bodyPr wrap="square">
            <a:spAutoFit/>
          </a:bodyPr>
          <a:lstStyle/>
          <a:p>
            <a:pPr marL="457200" indent="-457200">
              <a:lnSpc>
                <a:spcPct val="150000"/>
              </a:lnSpc>
              <a:buFont typeface="Arial" charset="0"/>
              <a:buChar char="•"/>
            </a:pPr>
            <a:r>
              <a:rPr lang="en-US" sz="2200" b="1" dirty="0" smtClean="0">
                <a:latin typeface="Avenir Book" charset="0"/>
                <a:ea typeface="Avenir Book" charset="0"/>
                <a:cs typeface="Avenir Book" charset="0"/>
              </a:rPr>
              <a:t>Hard Prediction:</a:t>
            </a:r>
            <a:r>
              <a:rPr lang="en-US" sz="2200" dirty="0" smtClean="0">
                <a:latin typeface="Avenir Book" charset="0"/>
                <a:ea typeface="Avenir Book" charset="0"/>
                <a:cs typeface="Avenir Book" charset="0"/>
              </a:rPr>
              <a:t> Predict a single category for each instance.</a:t>
            </a:r>
            <a:endParaRPr lang="en-US" sz="2200" dirty="0">
              <a:latin typeface="Avenir Book" charset="0"/>
              <a:ea typeface="Avenir Book" charset="0"/>
              <a:cs typeface="Avenir Book" charset="0"/>
            </a:endParaRPr>
          </a:p>
          <a:p>
            <a:pPr marL="457200" lvl="0" indent="-457200">
              <a:lnSpc>
                <a:spcPct val="150000"/>
              </a:lnSpc>
              <a:buFont typeface="Arial" charset="0"/>
              <a:buChar char="•"/>
            </a:pPr>
            <a:r>
              <a:rPr lang="en-US" sz="2200" b="1" dirty="0" smtClean="0">
                <a:latin typeface="Avenir Book" charset="0"/>
                <a:ea typeface="Avenir Book" charset="0"/>
                <a:cs typeface="Avenir Book" charset="0"/>
              </a:rPr>
              <a:t>Ranking Prediction</a:t>
            </a:r>
            <a:r>
              <a:rPr lang="en-US" sz="2200" dirty="0" smtClean="0">
                <a:latin typeface="Avenir Book" charset="0"/>
                <a:ea typeface="Avenir Book" charset="0"/>
                <a:cs typeface="Avenir Book" charset="0"/>
              </a:rPr>
              <a:t>: Rank the instances from most likely to least likely. (binary classification)</a:t>
            </a:r>
          </a:p>
          <a:p>
            <a:pPr marL="457200" lvl="0" indent="-457200">
              <a:lnSpc>
                <a:spcPct val="150000"/>
              </a:lnSpc>
              <a:buFont typeface="Arial" charset="0"/>
              <a:buChar char="•"/>
            </a:pPr>
            <a:r>
              <a:rPr lang="en-US" sz="2200" b="1" dirty="0" smtClean="0">
                <a:latin typeface="Avenir Book" charset="0"/>
                <a:ea typeface="Avenir Book" charset="0"/>
                <a:cs typeface="Avenir Book" charset="0"/>
              </a:rPr>
              <a:t>Probability Prediction:</a:t>
            </a:r>
            <a:r>
              <a:rPr lang="en-US" sz="2200" dirty="0" smtClean="0">
                <a:latin typeface="Avenir Book" charset="0"/>
                <a:ea typeface="Avenir Book" charset="0"/>
                <a:cs typeface="Avenir Book" charset="0"/>
              </a:rPr>
              <a:t> Assign a probability distribution across the classes to each instance.</a:t>
            </a:r>
          </a:p>
        </p:txBody>
      </p:sp>
    </p:spTree>
    <p:extLst>
      <p:ext uri="{BB962C8B-B14F-4D97-AF65-F5344CB8AC3E}">
        <p14:creationId xmlns:p14="http://schemas.microsoft.com/office/powerpoint/2010/main" val="9228377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p:nvPr/>
        </p:nvSpPr>
        <p:spPr>
          <a:xfrm>
            <a:off x="398352" y="296172"/>
            <a:ext cx="8437829" cy="461665"/>
          </a:xfrm>
          <a:prstGeom prst="rect">
            <a:avLst/>
          </a:prstGeom>
        </p:spPr>
        <p:txBody>
          <a:bodyPr vert="horz" wrap="square" lIns="0" tIns="0" rIns="0" bIns="0" rtlCol="0">
            <a:spAutoFit/>
          </a:bodyPr>
          <a:lstStyle/>
          <a:p>
            <a:pPr marL="9525"/>
            <a:r>
              <a:rPr lang="en-US" sz="3000" spc="-26" dirty="0" smtClean="0">
                <a:latin typeface="Avenir Book" charset="0"/>
                <a:ea typeface="Avenir Book" charset="0"/>
                <a:cs typeface="Avenir Book" charset="0"/>
              </a:rPr>
              <a:t>Metrics for Classification</a:t>
            </a:r>
            <a:endParaRPr sz="3000" dirty="0">
              <a:latin typeface="Avenir Book" charset="0"/>
              <a:ea typeface="Avenir Book" charset="0"/>
              <a:cs typeface="Avenir Book" charset="0"/>
            </a:endParaRPr>
          </a:p>
        </p:txBody>
      </p:sp>
      <p:sp>
        <p:nvSpPr>
          <p:cNvPr id="4" name="Rectangle 3"/>
          <p:cNvSpPr/>
          <p:nvPr/>
        </p:nvSpPr>
        <p:spPr>
          <a:xfrm>
            <a:off x="832304" y="970075"/>
            <a:ext cx="6443985" cy="3139321"/>
          </a:xfrm>
          <a:prstGeom prst="rect">
            <a:avLst/>
          </a:prstGeom>
        </p:spPr>
        <p:txBody>
          <a:bodyPr wrap="square">
            <a:spAutoFit/>
          </a:bodyPr>
          <a:lstStyle/>
          <a:p>
            <a:pPr marL="457200" indent="-457200">
              <a:lnSpc>
                <a:spcPct val="150000"/>
              </a:lnSpc>
              <a:buFont typeface="Arial" charset="0"/>
              <a:buChar char="•"/>
            </a:pPr>
            <a:r>
              <a:rPr lang="en-US" sz="2200" b="1" dirty="0" smtClean="0">
                <a:latin typeface="Avenir Book" charset="0"/>
                <a:ea typeface="Avenir Book" charset="0"/>
                <a:cs typeface="Avenir Book" charset="0"/>
              </a:rPr>
              <a:t>Hard Prediction:</a:t>
            </a:r>
            <a:r>
              <a:rPr lang="en-US" sz="2200" dirty="0" smtClean="0">
                <a:latin typeface="Avenir Book" charset="0"/>
                <a:ea typeface="Avenir Book" charset="0"/>
                <a:cs typeface="Avenir Book" charset="0"/>
              </a:rPr>
              <a:t> Accuracy, Precision, Recall (Sensitivity), Specificity, F1 Score</a:t>
            </a:r>
            <a:endParaRPr lang="en-US" sz="2200" dirty="0">
              <a:latin typeface="Avenir Book" charset="0"/>
              <a:ea typeface="Avenir Book" charset="0"/>
              <a:cs typeface="Avenir Book" charset="0"/>
            </a:endParaRPr>
          </a:p>
          <a:p>
            <a:pPr marL="457200" lvl="0" indent="-457200">
              <a:lnSpc>
                <a:spcPct val="150000"/>
              </a:lnSpc>
              <a:buFont typeface="Arial" charset="0"/>
              <a:buChar char="•"/>
            </a:pPr>
            <a:r>
              <a:rPr lang="en-US" sz="2200" b="1" dirty="0" smtClean="0">
                <a:latin typeface="Avenir Book" charset="0"/>
                <a:ea typeface="Avenir Book" charset="0"/>
                <a:cs typeface="Avenir Book" charset="0"/>
              </a:rPr>
              <a:t>Ranking Prediction</a:t>
            </a:r>
            <a:r>
              <a:rPr lang="en-US" sz="2200" dirty="0" smtClean="0">
                <a:latin typeface="Avenir Book" charset="0"/>
                <a:ea typeface="Avenir Book" charset="0"/>
                <a:cs typeface="Avenir Book" charset="0"/>
              </a:rPr>
              <a:t>: AUC (ROC), Precision-Recall Curves</a:t>
            </a:r>
          </a:p>
          <a:p>
            <a:pPr marL="457200" lvl="0" indent="-457200">
              <a:lnSpc>
                <a:spcPct val="150000"/>
              </a:lnSpc>
              <a:buFont typeface="Arial" charset="0"/>
              <a:buChar char="•"/>
            </a:pPr>
            <a:r>
              <a:rPr lang="en-US" sz="2200" b="1" dirty="0" smtClean="0">
                <a:latin typeface="Avenir Book" charset="0"/>
                <a:ea typeface="Avenir Book" charset="0"/>
                <a:cs typeface="Avenir Book" charset="0"/>
              </a:rPr>
              <a:t>Probability Prediction:</a:t>
            </a:r>
            <a:r>
              <a:rPr lang="en-US" sz="2200" dirty="0" smtClean="0">
                <a:latin typeface="Avenir Book" charset="0"/>
                <a:ea typeface="Avenir Book" charset="0"/>
                <a:cs typeface="Avenir Book" charset="0"/>
              </a:rPr>
              <a:t> Log-loss (aka Cross-Entropy), Brier Score</a:t>
            </a:r>
          </a:p>
        </p:txBody>
      </p:sp>
    </p:spTree>
    <p:extLst>
      <p:ext uri="{BB962C8B-B14F-4D97-AF65-F5344CB8AC3E}">
        <p14:creationId xmlns:p14="http://schemas.microsoft.com/office/powerpoint/2010/main" val="3080282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p:nvPr/>
        </p:nvSpPr>
        <p:spPr>
          <a:xfrm>
            <a:off x="398352" y="296172"/>
            <a:ext cx="8437829" cy="461665"/>
          </a:xfrm>
          <a:prstGeom prst="rect">
            <a:avLst/>
          </a:prstGeom>
        </p:spPr>
        <p:txBody>
          <a:bodyPr vert="horz" wrap="square" lIns="0" tIns="0" rIns="0" bIns="0" rtlCol="0">
            <a:spAutoFit/>
          </a:bodyPr>
          <a:lstStyle/>
          <a:p>
            <a:pPr marL="9525"/>
            <a:r>
              <a:rPr lang="en-US" sz="3000" spc="-26" dirty="0" smtClean="0">
                <a:latin typeface="Avenir Book" charset="0"/>
                <a:ea typeface="Avenir Book" charset="0"/>
                <a:cs typeface="Avenir Book" charset="0"/>
              </a:rPr>
              <a:t>Metrics for Regression</a:t>
            </a:r>
            <a:endParaRPr sz="3000" dirty="0">
              <a:latin typeface="Avenir Book" charset="0"/>
              <a:ea typeface="Avenir Book" charset="0"/>
              <a:cs typeface="Avenir Book" charset="0"/>
            </a:endParaRPr>
          </a:p>
        </p:txBody>
      </p:sp>
      <p:sp>
        <p:nvSpPr>
          <p:cNvPr id="4" name="Rectangle 3"/>
          <p:cNvSpPr/>
          <p:nvPr/>
        </p:nvSpPr>
        <p:spPr>
          <a:xfrm>
            <a:off x="832304" y="970075"/>
            <a:ext cx="6443985" cy="2631490"/>
          </a:xfrm>
          <a:prstGeom prst="rect">
            <a:avLst/>
          </a:prstGeom>
        </p:spPr>
        <p:txBody>
          <a:bodyPr wrap="square">
            <a:spAutoFit/>
          </a:bodyPr>
          <a:lstStyle/>
          <a:p>
            <a:pPr marL="457200" indent="-457200">
              <a:lnSpc>
                <a:spcPct val="150000"/>
              </a:lnSpc>
              <a:buFont typeface="Arial" charset="0"/>
              <a:buChar char="•"/>
            </a:pPr>
            <a:r>
              <a:rPr lang="en-US" sz="2200" b="1" dirty="0" smtClean="0">
                <a:latin typeface="Avenir Book" charset="0"/>
                <a:ea typeface="Avenir Book" charset="0"/>
                <a:cs typeface="Avenir Book" charset="0"/>
              </a:rPr>
              <a:t>Root Mean Square Error (RMSE)</a:t>
            </a:r>
          </a:p>
          <a:p>
            <a:pPr marL="457200" indent="-457200">
              <a:lnSpc>
                <a:spcPct val="150000"/>
              </a:lnSpc>
              <a:buFont typeface="Arial" charset="0"/>
              <a:buChar char="•"/>
            </a:pPr>
            <a:endParaRPr lang="en-US" sz="2200" dirty="0" smtClean="0">
              <a:latin typeface="Avenir Book" charset="0"/>
              <a:ea typeface="Avenir Book" charset="0"/>
              <a:cs typeface="Avenir Book" charset="0"/>
            </a:endParaRPr>
          </a:p>
          <a:p>
            <a:pPr marL="457200" indent="-457200">
              <a:lnSpc>
                <a:spcPct val="150000"/>
              </a:lnSpc>
              <a:buFont typeface="Arial" charset="0"/>
              <a:buChar char="•"/>
            </a:pPr>
            <a:endParaRPr lang="en-US" sz="2200" dirty="0">
              <a:latin typeface="Avenir Book" charset="0"/>
              <a:ea typeface="Avenir Book" charset="0"/>
              <a:cs typeface="Avenir Book" charset="0"/>
            </a:endParaRPr>
          </a:p>
          <a:p>
            <a:pPr marL="457200" lvl="4" indent="-457200">
              <a:lnSpc>
                <a:spcPct val="150000"/>
              </a:lnSpc>
              <a:buFont typeface="Arial" charset="0"/>
              <a:buChar char="•"/>
            </a:pPr>
            <a:r>
              <a:rPr lang="en-US" sz="2200" b="1" dirty="0" smtClean="0">
                <a:latin typeface="Avenir Book" charset="0"/>
                <a:ea typeface="Avenir Book" charset="0"/>
                <a:cs typeface="Avenir Book" charset="0"/>
              </a:rPr>
              <a:t>Mean Absolute Deviation</a:t>
            </a:r>
          </a:p>
          <a:p>
            <a:pPr marL="457200" lvl="4" indent="-457200">
              <a:lnSpc>
                <a:spcPct val="150000"/>
              </a:lnSpc>
              <a:buFont typeface="Arial" charset="0"/>
              <a:buChar char="•"/>
            </a:pPr>
            <a:endParaRPr lang="en-US" sz="2200" b="1" dirty="0" smtClean="0">
              <a:latin typeface="Avenir Book" charset="0"/>
              <a:ea typeface="Avenir Book" charset="0"/>
              <a:cs typeface="Avenir Book" charset="0"/>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3939" y="1602508"/>
            <a:ext cx="2833635" cy="829154"/>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3939" y="3246638"/>
            <a:ext cx="2833635" cy="821269"/>
          </a:xfrm>
          <a:prstGeom prst="rect">
            <a:avLst/>
          </a:prstGeom>
        </p:spPr>
      </p:pic>
    </p:spTree>
    <p:extLst>
      <p:ext uri="{BB962C8B-B14F-4D97-AF65-F5344CB8AC3E}">
        <p14:creationId xmlns:p14="http://schemas.microsoft.com/office/powerpoint/2010/main" val="17713407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Arrow Connector 8"/>
          <p:cNvCxnSpPr/>
          <p:nvPr/>
        </p:nvCxnSpPr>
        <p:spPr>
          <a:xfrm>
            <a:off x="2877864" y="1955885"/>
            <a:ext cx="1071398" cy="0"/>
          </a:xfrm>
          <a:prstGeom prst="straightConnector1">
            <a:avLst/>
          </a:prstGeom>
          <a:ln w="38100">
            <a:solidFill>
              <a:schemeClr val="bg1"/>
            </a:solidFill>
            <a:tailEnd type="arrow" w="lg" len="med"/>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2888271" y="1569047"/>
            <a:ext cx="904415" cy="369332"/>
          </a:xfrm>
          <a:prstGeom prst="rect">
            <a:avLst/>
          </a:prstGeom>
          <a:noFill/>
        </p:spPr>
        <p:txBody>
          <a:bodyPr wrap="none">
            <a:spAutoFit/>
          </a:bodyPr>
          <a:lstStyle/>
          <a:p>
            <a:r>
              <a:rPr lang="en-US" sz="1800" b="1" dirty="0" smtClean="0">
                <a:solidFill>
                  <a:srgbClr val="0070C0"/>
                </a:solidFill>
                <a:latin typeface="Avenir Book" charset="0"/>
                <a:ea typeface="Avenir Book" charset="0"/>
                <a:cs typeface="Avenir Book" charset="0"/>
              </a:rPr>
              <a:t>X_train</a:t>
            </a:r>
            <a:endParaRPr lang="en-US" sz="1800" b="1" dirty="0">
              <a:solidFill>
                <a:srgbClr val="0070C0"/>
              </a:solidFill>
              <a:latin typeface="Avenir Book" charset="0"/>
              <a:ea typeface="Avenir Book" charset="0"/>
              <a:cs typeface="Avenir Book" charset="0"/>
            </a:endParaRPr>
          </a:p>
        </p:txBody>
      </p:sp>
      <p:sp>
        <p:nvSpPr>
          <p:cNvPr id="11" name="Rectangle 10"/>
          <p:cNvSpPr/>
          <p:nvPr/>
        </p:nvSpPr>
        <p:spPr>
          <a:xfrm>
            <a:off x="2888272" y="2816821"/>
            <a:ext cx="825867" cy="369332"/>
          </a:xfrm>
          <a:prstGeom prst="rect">
            <a:avLst/>
          </a:prstGeom>
          <a:noFill/>
        </p:spPr>
        <p:txBody>
          <a:bodyPr wrap="none">
            <a:spAutoFit/>
          </a:bodyPr>
          <a:lstStyle/>
          <a:p>
            <a:r>
              <a:rPr lang="en-US" sz="1800" b="1" dirty="0" smtClean="0">
                <a:solidFill>
                  <a:srgbClr val="C00000"/>
                </a:solidFill>
                <a:latin typeface="Avenir Book" charset="0"/>
                <a:ea typeface="Avenir Book" charset="0"/>
                <a:cs typeface="Avenir Book" charset="0"/>
              </a:rPr>
              <a:t>X_test</a:t>
            </a:r>
            <a:endParaRPr lang="en-US" sz="1800" b="1" dirty="0">
              <a:solidFill>
                <a:srgbClr val="C00000"/>
              </a:solidFill>
              <a:latin typeface="Avenir Book" charset="0"/>
              <a:ea typeface="Avenir Book" charset="0"/>
              <a:cs typeface="Avenir Book" charset="0"/>
            </a:endParaRPr>
          </a:p>
        </p:txBody>
      </p:sp>
      <p:sp>
        <p:nvSpPr>
          <p:cNvPr id="12" name="Rectangle 11"/>
          <p:cNvSpPr/>
          <p:nvPr/>
        </p:nvSpPr>
        <p:spPr>
          <a:xfrm>
            <a:off x="2877864" y="2003293"/>
            <a:ext cx="891591" cy="369332"/>
          </a:xfrm>
          <a:prstGeom prst="rect">
            <a:avLst/>
          </a:prstGeom>
          <a:noFill/>
        </p:spPr>
        <p:txBody>
          <a:bodyPr wrap="none">
            <a:spAutoFit/>
          </a:bodyPr>
          <a:lstStyle/>
          <a:p>
            <a:r>
              <a:rPr lang="en-US" sz="1800" b="1" dirty="0" smtClean="0">
                <a:solidFill>
                  <a:srgbClr val="0070C0"/>
                </a:solidFill>
                <a:latin typeface="Avenir Book" charset="0"/>
                <a:ea typeface="Avenir Book" charset="0"/>
                <a:cs typeface="Avenir Book" charset="0"/>
              </a:rPr>
              <a:t>Y_train</a:t>
            </a:r>
            <a:endParaRPr lang="en-US" sz="1800" b="1" dirty="0">
              <a:solidFill>
                <a:srgbClr val="0070C0"/>
              </a:solidFill>
              <a:latin typeface="Avenir Book" charset="0"/>
              <a:ea typeface="Avenir Book" charset="0"/>
              <a:cs typeface="Avenir Book" charset="0"/>
            </a:endParaRPr>
          </a:p>
        </p:txBody>
      </p:sp>
      <p:sp>
        <p:nvSpPr>
          <p:cNvPr id="3" name="Rectangle 2"/>
          <p:cNvSpPr/>
          <p:nvPr/>
        </p:nvSpPr>
        <p:spPr>
          <a:xfrm>
            <a:off x="4043692" y="3007452"/>
            <a:ext cx="952505" cy="415498"/>
          </a:xfrm>
          <a:prstGeom prst="rect">
            <a:avLst/>
          </a:prstGeom>
          <a:solidFill>
            <a:srgbClr val="8E64A2"/>
          </a:solidFill>
        </p:spPr>
        <p:txBody>
          <a:bodyPr wrap="none">
            <a:spAutoFit/>
          </a:bodyPr>
          <a:lstStyle/>
          <a:p>
            <a:r>
              <a:rPr lang="en-US" sz="2100" b="1" dirty="0">
                <a:solidFill>
                  <a:srgbClr val="212121"/>
                </a:solidFill>
                <a:latin typeface="Avenir Book" charset="0"/>
                <a:ea typeface="Avenir Book" charset="0"/>
                <a:cs typeface="Avenir Book" charset="0"/>
              </a:rPr>
              <a:t>model</a:t>
            </a:r>
          </a:p>
        </p:txBody>
      </p:sp>
      <p:sp>
        <p:nvSpPr>
          <p:cNvPr id="13" name="Rectangle 12"/>
          <p:cNvSpPr/>
          <p:nvPr/>
        </p:nvSpPr>
        <p:spPr>
          <a:xfrm>
            <a:off x="3886776" y="1782760"/>
            <a:ext cx="2911374" cy="369332"/>
          </a:xfrm>
          <a:prstGeom prst="rect">
            <a:avLst/>
          </a:prstGeom>
        </p:spPr>
        <p:txBody>
          <a:bodyPr wrap="none">
            <a:spAutoFit/>
          </a:bodyPr>
          <a:lstStyle/>
          <a:p>
            <a:r>
              <a:rPr lang="en-US" sz="1800" b="1" dirty="0" smtClean="0">
                <a:solidFill>
                  <a:srgbClr val="212121"/>
                </a:solidFill>
                <a:latin typeface="Avenir Book" charset="0"/>
                <a:ea typeface="Avenir Book" charset="0"/>
                <a:cs typeface="Avenir Book" charset="0"/>
              </a:rPr>
              <a:t>model.fit( </a:t>
            </a:r>
            <a:r>
              <a:rPr lang="en-US" sz="1800" b="1" dirty="0" smtClean="0">
                <a:solidFill>
                  <a:srgbClr val="0070C0"/>
                </a:solidFill>
                <a:latin typeface="Avenir Book" charset="0"/>
                <a:ea typeface="Avenir Book" charset="0"/>
                <a:cs typeface="Avenir Book" charset="0"/>
              </a:rPr>
              <a:t>X_train</a:t>
            </a:r>
            <a:r>
              <a:rPr lang="en-US" sz="1800" b="1" dirty="0" smtClean="0">
                <a:solidFill>
                  <a:srgbClr val="212121"/>
                </a:solidFill>
                <a:latin typeface="Avenir Book" charset="0"/>
                <a:ea typeface="Avenir Book" charset="0"/>
                <a:cs typeface="Avenir Book" charset="0"/>
              </a:rPr>
              <a:t>,</a:t>
            </a:r>
            <a:r>
              <a:rPr lang="en-US" sz="1800" b="1" dirty="0" smtClean="0">
                <a:solidFill>
                  <a:srgbClr val="0070C0"/>
                </a:solidFill>
                <a:latin typeface="Avenir Book" charset="0"/>
                <a:ea typeface="Avenir Book" charset="0"/>
                <a:cs typeface="Avenir Book" charset="0"/>
              </a:rPr>
              <a:t> Y_train </a:t>
            </a:r>
            <a:r>
              <a:rPr lang="en-US" sz="1800" b="1" dirty="0" smtClean="0">
                <a:solidFill>
                  <a:srgbClr val="212121"/>
                </a:solidFill>
                <a:latin typeface="Avenir Book" charset="0"/>
                <a:ea typeface="Avenir Book" charset="0"/>
                <a:cs typeface="Avenir Book" charset="0"/>
              </a:rPr>
              <a:t>)</a:t>
            </a:r>
            <a:endParaRPr lang="en-US" sz="1800" b="1" dirty="0">
              <a:solidFill>
                <a:srgbClr val="212121"/>
              </a:solidFill>
              <a:latin typeface="Avenir Book" charset="0"/>
              <a:ea typeface="Avenir Book" charset="0"/>
              <a:cs typeface="Avenir Book" charset="0"/>
            </a:endParaRPr>
          </a:p>
        </p:txBody>
      </p:sp>
      <p:sp>
        <p:nvSpPr>
          <p:cNvPr id="14" name="Rectangle 13"/>
          <p:cNvSpPr/>
          <p:nvPr/>
        </p:nvSpPr>
        <p:spPr>
          <a:xfrm>
            <a:off x="4897576" y="3030535"/>
            <a:ext cx="1867819" cy="369332"/>
          </a:xfrm>
          <a:prstGeom prst="rect">
            <a:avLst/>
          </a:prstGeom>
        </p:spPr>
        <p:txBody>
          <a:bodyPr wrap="none">
            <a:spAutoFit/>
          </a:bodyPr>
          <a:lstStyle/>
          <a:p>
            <a:r>
              <a:rPr lang="en-US" sz="1800" b="1" dirty="0">
                <a:solidFill>
                  <a:srgbClr val="212121"/>
                </a:solidFill>
                <a:latin typeface="Avenir Book" charset="0"/>
                <a:ea typeface="Avenir Book" charset="0"/>
                <a:cs typeface="Avenir Book" charset="0"/>
              </a:rPr>
              <a:t>.predict</a:t>
            </a:r>
            <a:r>
              <a:rPr lang="en-US" sz="1800" b="1" dirty="0" smtClean="0">
                <a:solidFill>
                  <a:srgbClr val="212121"/>
                </a:solidFill>
                <a:latin typeface="Avenir Book" charset="0"/>
                <a:ea typeface="Avenir Book" charset="0"/>
                <a:cs typeface="Avenir Book" charset="0"/>
              </a:rPr>
              <a:t>( </a:t>
            </a:r>
            <a:r>
              <a:rPr lang="en-US" sz="1800" b="1" dirty="0" smtClean="0">
                <a:solidFill>
                  <a:srgbClr val="C00000"/>
                </a:solidFill>
                <a:latin typeface="Avenir Book" charset="0"/>
                <a:ea typeface="Avenir Book" charset="0"/>
                <a:cs typeface="Avenir Book" charset="0"/>
              </a:rPr>
              <a:t>X_test</a:t>
            </a:r>
            <a:r>
              <a:rPr lang="en-US" sz="1800" b="1" dirty="0" smtClean="0">
                <a:solidFill>
                  <a:srgbClr val="212121"/>
                </a:solidFill>
                <a:latin typeface="Avenir Book" charset="0"/>
                <a:ea typeface="Avenir Book" charset="0"/>
                <a:cs typeface="Avenir Book" charset="0"/>
              </a:rPr>
              <a:t> )</a:t>
            </a:r>
            <a:endParaRPr lang="en-US" sz="1800" b="1" dirty="0">
              <a:solidFill>
                <a:srgbClr val="212121"/>
              </a:solidFill>
              <a:latin typeface="Avenir Book" charset="0"/>
              <a:ea typeface="Avenir Book" charset="0"/>
              <a:cs typeface="Avenir Book" charset="0"/>
            </a:endParaRPr>
          </a:p>
        </p:txBody>
      </p:sp>
      <p:cxnSp>
        <p:nvCxnSpPr>
          <p:cNvPr id="15" name="Straight Arrow Connector 14"/>
          <p:cNvCxnSpPr/>
          <p:nvPr/>
        </p:nvCxnSpPr>
        <p:spPr>
          <a:xfrm>
            <a:off x="6695268" y="1965409"/>
            <a:ext cx="342900" cy="0"/>
          </a:xfrm>
          <a:prstGeom prst="straightConnector1">
            <a:avLst/>
          </a:prstGeom>
          <a:ln w="38100">
            <a:solidFill>
              <a:schemeClr val="bg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6752624" y="3213184"/>
            <a:ext cx="342900" cy="0"/>
          </a:xfrm>
          <a:prstGeom prst="straightConnector1">
            <a:avLst/>
          </a:prstGeom>
          <a:ln w="38100">
            <a:solidFill>
              <a:schemeClr val="bg1"/>
            </a:solidFill>
            <a:tailEnd type="arrow" w="lg" len="med"/>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7095524" y="1759677"/>
            <a:ext cx="952505" cy="415498"/>
          </a:xfrm>
          <a:prstGeom prst="rect">
            <a:avLst/>
          </a:prstGeom>
          <a:solidFill>
            <a:srgbClr val="8E64A2"/>
          </a:solidFill>
        </p:spPr>
        <p:txBody>
          <a:bodyPr wrap="none">
            <a:spAutoFit/>
          </a:bodyPr>
          <a:lstStyle/>
          <a:p>
            <a:r>
              <a:rPr lang="en-US" sz="2100" b="1" dirty="0">
                <a:solidFill>
                  <a:srgbClr val="212121"/>
                </a:solidFill>
                <a:latin typeface="Avenir Book" charset="0"/>
                <a:ea typeface="Avenir Book" charset="0"/>
                <a:cs typeface="Avenir Book" charset="0"/>
              </a:rPr>
              <a:t>model</a:t>
            </a:r>
          </a:p>
        </p:txBody>
      </p:sp>
      <p:sp>
        <p:nvSpPr>
          <p:cNvPr id="18" name="Rectangle 17"/>
          <p:cNvSpPr/>
          <p:nvPr/>
        </p:nvSpPr>
        <p:spPr>
          <a:xfrm>
            <a:off x="7185024" y="3030535"/>
            <a:ext cx="1164101" cy="369332"/>
          </a:xfrm>
          <a:prstGeom prst="rect">
            <a:avLst/>
          </a:prstGeom>
          <a:noFill/>
        </p:spPr>
        <p:txBody>
          <a:bodyPr wrap="none">
            <a:spAutoFit/>
          </a:bodyPr>
          <a:lstStyle/>
          <a:p>
            <a:r>
              <a:rPr lang="en-US" sz="1800" b="1" dirty="0" smtClean="0">
                <a:solidFill>
                  <a:srgbClr val="7030A0"/>
                </a:solidFill>
                <a:latin typeface="Avenir Book" charset="0"/>
                <a:ea typeface="Avenir Book" charset="0"/>
                <a:cs typeface="Avenir Book" charset="0"/>
              </a:rPr>
              <a:t>Y_predict</a:t>
            </a:r>
            <a:endParaRPr lang="en-US" sz="1800" b="1" dirty="0">
              <a:solidFill>
                <a:srgbClr val="7030A0"/>
              </a:solidFill>
              <a:latin typeface="Avenir Book" charset="0"/>
              <a:ea typeface="Avenir Book" charset="0"/>
              <a:cs typeface="Avenir Book" charset="0"/>
            </a:endParaRPr>
          </a:p>
        </p:txBody>
      </p:sp>
      <p:sp>
        <p:nvSpPr>
          <p:cNvPr id="19" name="object 2"/>
          <p:cNvSpPr txBox="1"/>
          <p:nvPr/>
        </p:nvSpPr>
        <p:spPr>
          <a:xfrm>
            <a:off x="398352" y="307119"/>
            <a:ext cx="8437829" cy="461665"/>
          </a:xfrm>
          <a:prstGeom prst="rect">
            <a:avLst/>
          </a:prstGeom>
        </p:spPr>
        <p:txBody>
          <a:bodyPr vert="horz" wrap="square" lIns="0" tIns="0" rIns="0" bIns="0" rtlCol="0">
            <a:spAutoFit/>
          </a:bodyPr>
          <a:lstStyle/>
          <a:p>
            <a:pPr marL="9525"/>
            <a:r>
              <a:rPr lang="en-US" sz="3000" spc="-26" dirty="0" smtClean="0">
                <a:latin typeface="Avenir Book" charset="0"/>
                <a:ea typeface="Avenir Book" charset="0"/>
                <a:cs typeface="Avenir Book" charset="0"/>
              </a:rPr>
              <a:t>Fitting Training and Test Data</a:t>
            </a:r>
          </a:p>
        </p:txBody>
      </p:sp>
      <p:cxnSp>
        <p:nvCxnSpPr>
          <p:cNvPr id="22" name="Straight Arrow Connector 21"/>
          <p:cNvCxnSpPr/>
          <p:nvPr/>
        </p:nvCxnSpPr>
        <p:spPr>
          <a:xfrm>
            <a:off x="2877864" y="3186153"/>
            <a:ext cx="1071398" cy="0"/>
          </a:xfrm>
          <a:prstGeom prst="straightConnector1">
            <a:avLst/>
          </a:prstGeom>
          <a:ln w="38100">
            <a:solidFill>
              <a:schemeClr val="bg1"/>
            </a:solidFill>
            <a:tailEnd type="arrow" w="lg" len="med"/>
          </a:ln>
        </p:spPr>
        <p:style>
          <a:lnRef idx="1">
            <a:schemeClr val="accent1"/>
          </a:lnRef>
          <a:fillRef idx="0">
            <a:schemeClr val="accent1"/>
          </a:fillRef>
          <a:effectRef idx="0">
            <a:schemeClr val="accent1"/>
          </a:effectRef>
          <a:fontRef idx="minor">
            <a:schemeClr val="tx1"/>
          </a:fontRef>
        </p:style>
      </p:cxnSp>
      <p:grpSp>
        <p:nvGrpSpPr>
          <p:cNvPr id="24" name="Group 23"/>
          <p:cNvGrpSpPr/>
          <p:nvPr/>
        </p:nvGrpSpPr>
        <p:grpSpPr>
          <a:xfrm>
            <a:off x="1739902" y="3785844"/>
            <a:ext cx="1057275" cy="513922"/>
            <a:chOff x="901700" y="4495800"/>
            <a:chExt cx="1409700" cy="685229"/>
          </a:xfrm>
        </p:grpSpPr>
        <p:cxnSp>
          <p:nvCxnSpPr>
            <p:cNvPr id="25" name="Straight Connector 24"/>
            <p:cNvCxnSpPr/>
            <p:nvPr/>
          </p:nvCxnSpPr>
          <p:spPr>
            <a:xfrm>
              <a:off x="901700" y="4495800"/>
              <a:ext cx="508000" cy="685229"/>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1397000" y="5177134"/>
              <a:ext cx="914400" cy="0"/>
            </a:xfrm>
            <a:prstGeom prst="straightConnector1">
              <a:avLst/>
            </a:prstGeom>
            <a:ln w="38100">
              <a:solidFill>
                <a:schemeClr val="bg1"/>
              </a:solidFill>
              <a:tailEnd type="arrow" w="lg" len="med"/>
            </a:ln>
          </p:spPr>
          <p:style>
            <a:lnRef idx="1">
              <a:schemeClr val="accent1"/>
            </a:lnRef>
            <a:fillRef idx="0">
              <a:schemeClr val="accent1"/>
            </a:fillRef>
            <a:effectRef idx="0">
              <a:schemeClr val="accent1"/>
            </a:effectRef>
            <a:fontRef idx="minor">
              <a:schemeClr val="tx1"/>
            </a:fontRef>
          </p:style>
        </p:cxnSp>
      </p:grpSp>
      <p:sp>
        <p:nvSpPr>
          <p:cNvPr id="27" name="Rectangle 26"/>
          <p:cNvSpPr/>
          <p:nvPr/>
        </p:nvSpPr>
        <p:spPr>
          <a:xfrm>
            <a:off x="2888270" y="4164636"/>
            <a:ext cx="3662301" cy="369332"/>
          </a:xfrm>
          <a:prstGeom prst="rect">
            <a:avLst/>
          </a:prstGeom>
        </p:spPr>
        <p:txBody>
          <a:bodyPr wrap="square">
            <a:spAutoFit/>
          </a:bodyPr>
          <a:lstStyle/>
          <a:p>
            <a:r>
              <a:rPr lang="en-US" sz="1800" b="1" dirty="0" smtClean="0">
                <a:solidFill>
                  <a:srgbClr val="212121"/>
                </a:solidFill>
                <a:latin typeface="Avenir Book" charset="0"/>
                <a:ea typeface="Avenir Book" charset="0"/>
                <a:cs typeface="Avenir Book" charset="0"/>
              </a:rPr>
              <a:t>error_metric( </a:t>
            </a:r>
            <a:r>
              <a:rPr lang="en-US" sz="1800" b="1" dirty="0" smtClean="0">
                <a:solidFill>
                  <a:srgbClr val="C00000"/>
                </a:solidFill>
                <a:latin typeface="Avenir Book" charset="0"/>
                <a:ea typeface="Avenir Book" charset="0"/>
                <a:cs typeface="Avenir Book" charset="0"/>
              </a:rPr>
              <a:t>Y_test</a:t>
            </a:r>
            <a:r>
              <a:rPr lang="en-US" sz="1800" b="1" dirty="0" smtClean="0">
                <a:solidFill>
                  <a:srgbClr val="212121"/>
                </a:solidFill>
                <a:latin typeface="Avenir Book" charset="0"/>
                <a:ea typeface="Avenir Book" charset="0"/>
                <a:cs typeface="Avenir Book" charset="0"/>
              </a:rPr>
              <a:t>, </a:t>
            </a:r>
            <a:r>
              <a:rPr lang="en-US" sz="1800" b="1" dirty="0" smtClean="0">
                <a:solidFill>
                  <a:srgbClr val="7030A0"/>
                </a:solidFill>
                <a:latin typeface="Avenir Book" charset="0"/>
                <a:ea typeface="Avenir Book" charset="0"/>
                <a:cs typeface="Avenir Book" charset="0"/>
              </a:rPr>
              <a:t>Y_predict</a:t>
            </a:r>
            <a:r>
              <a:rPr lang="en-US" sz="1800" b="1" dirty="0" smtClean="0">
                <a:solidFill>
                  <a:srgbClr val="212121"/>
                </a:solidFill>
                <a:latin typeface="Avenir Book" charset="0"/>
                <a:ea typeface="Avenir Book" charset="0"/>
                <a:cs typeface="Avenir Book" charset="0"/>
              </a:rPr>
              <a:t>)</a:t>
            </a:r>
            <a:endParaRPr lang="en-US" sz="1800" b="1" dirty="0">
              <a:solidFill>
                <a:srgbClr val="212121"/>
              </a:solidFill>
              <a:latin typeface="Avenir Book" charset="0"/>
              <a:ea typeface="Avenir Book" charset="0"/>
              <a:cs typeface="Avenir Book" charset="0"/>
            </a:endParaRPr>
          </a:p>
        </p:txBody>
      </p:sp>
      <p:cxnSp>
        <p:nvCxnSpPr>
          <p:cNvPr id="28" name="Straight Arrow Connector 27"/>
          <p:cNvCxnSpPr/>
          <p:nvPr/>
        </p:nvCxnSpPr>
        <p:spPr>
          <a:xfrm>
            <a:off x="6193718" y="4349302"/>
            <a:ext cx="342900" cy="0"/>
          </a:xfrm>
          <a:prstGeom prst="straightConnector1">
            <a:avLst/>
          </a:prstGeom>
          <a:ln w="38100">
            <a:solidFill>
              <a:schemeClr val="bg1"/>
            </a:solidFill>
            <a:tailEnd type="arrow" w="lg" len="med"/>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6623011" y="4172419"/>
            <a:ext cx="1124026" cy="369332"/>
          </a:xfrm>
          <a:prstGeom prst="rect">
            <a:avLst/>
          </a:prstGeom>
          <a:solidFill>
            <a:srgbClr val="8E64A2"/>
          </a:solidFill>
        </p:spPr>
        <p:txBody>
          <a:bodyPr wrap="none">
            <a:spAutoFit/>
          </a:bodyPr>
          <a:lstStyle/>
          <a:p>
            <a:r>
              <a:rPr lang="en-US" sz="1800" b="1" dirty="0" smtClean="0">
                <a:solidFill>
                  <a:srgbClr val="212121"/>
                </a:solidFill>
                <a:latin typeface="Avenir Book" charset="0"/>
                <a:ea typeface="Avenir Book" charset="0"/>
                <a:cs typeface="Avenir Book" charset="0"/>
              </a:rPr>
              <a:t>test error</a:t>
            </a:r>
            <a:endParaRPr lang="en-US" sz="1800" b="1" dirty="0">
              <a:solidFill>
                <a:srgbClr val="212121"/>
              </a:solidFill>
              <a:latin typeface="Avenir Book" charset="0"/>
              <a:ea typeface="Avenir Book" charset="0"/>
              <a:cs typeface="Avenir Book" charset="0"/>
            </a:endParaRPr>
          </a:p>
        </p:txBody>
      </p:sp>
      <p:sp>
        <p:nvSpPr>
          <p:cNvPr id="30" name="Rectangle 29"/>
          <p:cNvSpPr/>
          <p:nvPr/>
        </p:nvSpPr>
        <p:spPr>
          <a:xfrm>
            <a:off x="1962590" y="4347842"/>
            <a:ext cx="813043" cy="369332"/>
          </a:xfrm>
          <a:prstGeom prst="rect">
            <a:avLst/>
          </a:prstGeom>
          <a:noFill/>
        </p:spPr>
        <p:txBody>
          <a:bodyPr wrap="none">
            <a:spAutoFit/>
          </a:bodyPr>
          <a:lstStyle/>
          <a:p>
            <a:r>
              <a:rPr lang="en-US" sz="1800" b="1" dirty="0" smtClean="0">
                <a:solidFill>
                  <a:srgbClr val="C00000"/>
                </a:solidFill>
                <a:latin typeface="Avenir Book" charset="0"/>
                <a:ea typeface="Avenir Book" charset="0"/>
                <a:cs typeface="Avenir Book" charset="0"/>
              </a:rPr>
              <a:t>Y_test</a:t>
            </a:r>
            <a:endParaRPr lang="en-US" sz="1800" b="1" dirty="0">
              <a:solidFill>
                <a:srgbClr val="C00000"/>
              </a:solidFill>
              <a:latin typeface="Avenir Book" charset="0"/>
              <a:ea typeface="Avenir Book" charset="0"/>
              <a:cs typeface="Avenir Book" charset="0"/>
            </a:endParaRPr>
          </a:p>
        </p:txBody>
      </p:sp>
      <p:sp>
        <p:nvSpPr>
          <p:cNvPr id="31" name="Rounded Rectangle 30"/>
          <p:cNvSpPr/>
          <p:nvPr/>
        </p:nvSpPr>
        <p:spPr>
          <a:xfrm>
            <a:off x="1143116" y="2759532"/>
            <a:ext cx="1544479" cy="1025035"/>
          </a:xfrm>
          <a:prstGeom prst="roundRect">
            <a:avLst/>
          </a:prstGeom>
          <a:solidFill>
            <a:srgbClr val="C00000">
              <a:alpha val="50196"/>
            </a:srgbClr>
          </a:solidFill>
          <a:ln w="25400">
            <a:solidFill>
              <a:schemeClr val="bg1"/>
            </a:solidFill>
          </a:ln>
        </p:spPr>
        <p:txBody>
          <a:bodyPr wrap="square" anchor="ctr" anchorCtr="0">
            <a:noAutofit/>
          </a:bodyPr>
          <a:lstStyle/>
          <a:p>
            <a:pPr algn="ctr">
              <a:lnSpc>
                <a:spcPts val="2100"/>
              </a:lnSpc>
            </a:pPr>
            <a:r>
              <a:rPr lang="en-US" sz="2400" b="1" dirty="0">
                <a:solidFill>
                  <a:srgbClr val="303030"/>
                </a:solidFill>
                <a:latin typeface="Avenir Book" charset="0"/>
                <a:ea typeface="Avenir Book" charset="0"/>
                <a:cs typeface="Avenir Book" charset="0"/>
              </a:rPr>
              <a:t>Test </a:t>
            </a:r>
            <a:endParaRPr lang="en-US" sz="2400" b="1" dirty="0" smtClean="0">
              <a:solidFill>
                <a:srgbClr val="303030"/>
              </a:solidFill>
              <a:latin typeface="Avenir Book" charset="0"/>
              <a:ea typeface="Avenir Book" charset="0"/>
              <a:cs typeface="Avenir Book" charset="0"/>
            </a:endParaRPr>
          </a:p>
          <a:p>
            <a:pPr algn="ctr">
              <a:lnSpc>
                <a:spcPts val="2100"/>
              </a:lnSpc>
            </a:pPr>
            <a:r>
              <a:rPr lang="en-US" sz="2400" b="1" dirty="0" smtClean="0">
                <a:solidFill>
                  <a:srgbClr val="303030"/>
                </a:solidFill>
                <a:latin typeface="Avenir Book" charset="0"/>
                <a:ea typeface="Avenir Book" charset="0"/>
                <a:cs typeface="Avenir Book" charset="0"/>
              </a:rPr>
              <a:t>Data</a:t>
            </a:r>
            <a:endParaRPr lang="en-US" sz="2400" b="1" dirty="0">
              <a:solidFill>
                <a:srgbClr val="303030"/>
              </a:solidFill>
              <a:latin typeface="Avenir Book" charset="0"/>
              <a:ea typeface="Avenir Book" charset="0"/>
              <a:cs typeface="Avenir Book" charset="0"/>
            </a:endParaRPr>
          </a:p>
        </p:txBody>
      </p:sp>
      <p:sp>
        <p:nvSpPr>
          <p:cNvPr id="32" name="Rounded Rectangle 31"/>
          <p:cNvSpPr/>
          <p:nvPr/>
        </p:nvSpPr>
        <p:spPr>
          <a:xfrm>
            <a:off x="1143116" y="1348497"/>
            <a:ext cx="1544479" cy="1024128"/>
          </a:xfrm>
          <a:prstGeom prst="roundRect">
            <a:avLst/>
          </a:prstGeom>
          <a:solidFill>
            <a:srgbClr val="0070C0">
              <a:alpha val="50196"/>
            </a:srgbClr>
          </a:solidFill>
          <a:ln w="25400">
            <a:solidFill>
              <a:schemeClr val="bg1"/>
            </a:solidFill>
          </a:ln>
        </p:spPr>
        <p:txBody>
          <a:bodyPr wrap="square" anchor="ctr" anchorCtr="0">
            <a:noAutofit/>
          </a:bodyPr>
          <a:lstStyle/>
          <a:p>
            <a:pPr algn="ctr">
              <a:lnSpc>
                <a:spcPts val="2100"/>
              </a:lnSpc>
            </a:pPr>
            <a:r>
              <a:rPr lang="en-US" sz="2400" b="1" dirty="0">
                <a:solidFill>
                  <a:srgbClr val="303030"/>
                </a:solidFill>
                <a:latin typeface="Avenir Book" charset="0"/>
                <a:ea typeface="Avenir Book" charset="0"/>
                <a:cs typeface="Avenir Book" charset="0"/>
              </a:rPr>
              <a:t>Training</a:t>
            </a:r>
          </a:p>
          <a:p>
            <a:pPr algn="ctr">
              <a:lnSpc>
                <a:spcPts val="2100"/>
              </a:lnSpc>
            </a:pPr>
            <a:r>
              <a:rPr lang="en-US" sz="2400" b="1" dirty="0" smtClean="0">
                <a:solidFill>
                  <a:srgbClr val="303030"/>
                </a:solidFill>
                <a:latin typeface="Avenir Book" charset="0"/>
                <a:ea typeface="Avenir Book" charset="0"/>
                <a:cs typeface="Avenir Book" charset="0"/>
              </a:rPr>
              <a:t>Data</a:t>
            </a:r>
            <a:endParaRPr lang="en-US" sz="2400" b="1" dirty="0">
              <a:solidFill>
                <a:srgbClr val="303030"/>
              </a:solidFill>
              <a:latin typeface="Avenir Book" charset="0"/>
              <a:ea typeface="Avenir Book" charset="0"/>
              <a:cs typeface="Avenir Book" charset="0"/>
            </a:endParaRPr>
          </a:p>
        </p:txBody>
      </p:sp>
    </p:spTree>
    <p:extLst>
      <p:ext uri="{BB962C8B-B14F-4D97-AF65-F5344CB8AC3E}">
        <p14:creationId xmlns:p14="http://schemas.microsoft.com/office/powerpoint/2010/main" val="12994614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595497" y="1437867"/>
            <a:ext cx="2514600" cy="577081"/>
          </a:xfrm>
          <a:prstGeom prst="rect">
            <a:avLst/>
          </a:prstGeom>
          <a:noFill/>
          <a:ln>
            <a:noFill/>
          </a:ln>
        </p:spPr>
        <p:txBody>
          <a:bodyPr wrap="square" tIns="137160" bIns="68580" anchor="ctr" anchorCtr="0">
            <a:spAutoFit/>
          </a:bodyPr>
          <a:lstStyle/>
          <a:p>
            <a:r>
              <a:rPr lang="en-US" sz="2400" dirty="0">
                <a:solidFill>
                  <a:srgbClr val="0070C0"/>
                </a:solidFill>
                <a:latin typeface="Avenir Book" charset="0"/>
                <a:ea typeface="Avenir Book" charset="0"/>
                <a:cs typeface="Avenir Book" charset="0"/>
              </a:rPr>
              <a:t>fit the model</a:t>
            </a:r>
          </a:p>
        </p:txBody>
      </p:sp>
      <p:sp>
        <p:nvSpPr>
          <p:cNvPr id="8" name="Rectangle 7"/>
          <p:cNvSpPr/>
          <p:nvPr/>
        </p:nvSpPr>
        <p:spPr>
          <a:xfrm>
            <a:off x="3595496" y="2740141"/>
            <a:ext cx="3751865" cy="1431161"/>
          </a:xfrm>
          <a:prstGeom prst="rect">
            <a:avLst/>
          </a:prstGeom>
        </p:spPr>
        <p:txBody>
          <a:bodyPr wrap="square">
            <a:spAutoFit/>
          </a:bodyPr>
          <a:lstStyle/>
          <a:p>
            <a:r>
              <a:rPr lang="en-US" sz="2400" dirty="0">
                <a:solidFill>
                  <a:srgbClr val="C00000"/>
                </a:solidFill>
                <a:latin typeface="Avenir Book" charset="0"/>
                <a:ea typeface="Avenir Book" charset="0"/>
                <a:cs typeface="Avenir Book" charset="0"/>
              </a:rPr>
              <a:t>measure performance</a:t>
            </a:r>
          </a:p>
          <a:p>
            <a:r>
              <a:rPr lang="en-US" sz="2100" dirty="0">
                <a:solidFill>
                  <a:srgbClr val="212121"/>
                </a:solidFill>
                <a:latin typeface="Avenir Book" charset="0"/>
                <a:ea typeface="Avenir Book" charset="0"/>
                <a:cs typeface="Avenir Book" charset="0"/>
              </a:rPr>
              <a:t>- predict </a:t>
            </a:r>
            <a:r>
              <a:rPr lang="en-US" sz="2100" dirty="0" smtClean="0">
                <a:solidFill>
                  <a:srgbClr val="212121"/>
                </a:solidFill>
                <a:latin typeface="Avenir Book" charset="0"/>
                <a:ea typeface="Avenir Book" charset="0"/>
                <a:cs typeface="Avenir Book" charset="0"/>
              </a:rPr>
              <a:t>label </a:t>
            </a:r>
            <a:r>
              <a:rPr lang="en-US" sz="2100" dirty="0">
                <a:solidFill>
                  <a:srgbClr val="212121"/>
                </a:solidFill>
                <a:latin typeface="Avenir Book" charset="0"/>
                <a:ea typeface="Avenir Book" charset="0"/>
                <a:cs typeface="Avenir Book" charset="0"/>
              </a:rPr>
              <a:t>with model</a:t>
            </a:r>
          </a:p>
          <a:p>
            <a:r>
              <a:rPr lang="en-US" sz="2100" dirty="0">
                <a:solidFill>
                  <a:srgbClr val="212121"/>
                </a:solidFill>
                <a:latin typeface="Avenir Book" charset="0"/>
                <a:ea typeface="Avenir Book" charset="0"/>
                <a:cs typeface="Avenir Book" charset="0"/>
              </a:rPr>
              <a:t>- compare </a:t>
            </a:r>
            <a:r>
              <a:rPr lang="en-US" sz="2100" dirty="0" smtClean="0">
                <a:solidFill>
                  <a:srgbClr val="212121"/>
                </a:solidFill>
                <a:latin typeface="Avenir Book" charset="0"/>
                <a:ea typeface="Avenir Book" charset="0"/>
                <a:cs typeface="Avenir Book" charset="0"/>
              </a:rPr>
              <a:t>with actual value</a:t>
            </a:r>
            <a:endParaRPr lang="en-US" sz="2100" dirty="0">
              <a:solidFill>
                <a:srgbClr val="212121"/>
              </a:solidFill>
              <a:latin typeface="Avenir Book" charset="0"/>
              <a:ea typeface="Avenir Book" charset="0"/>
              <a:cs typeface="Avenir Book" charset="0"/>
            </a:endParaRPr>
          </a:p>
          <a:p>
            <a:r>
              <a:rPr lang="en-US" sz="2100" dirty="0">
                <a:solidFill>
                  <a:srgbClr val="212121"/>
                </a:solidFill>
                <a:latin typeface="Avenir Book" charset="0"/>
                <a:ea typeface="Avenir Book" charset="0"/>
                <a:cs typeface="Avenir Book" charset="0"/>
              </a:rPr>
              <a:t>- measure error</a:t>
            </a:r>
          </a:p>
        </p:txBody>
      </p:sp>
      <p:sp>
        <p:nvSpPr>
          <p:cNvPr id="10" name="Rounded Rectangle 9"/>
          <p:cNvSpPr/>
          <p:nvPr/>
        </p:nvSpPr>
        <p:spPr>
          <a:xfrm>
            <a:off x="1765776" y="2913919"/>
            <a:ext cx="1544479" cy="1025035"/>
          </a:xfrm>
          <a:prstGeom prst="roundRect">
            <a:avLst/>
          </a:prstGeom>
          <a:solidFill>
            <a:srgbClr val="C00000">
              <a:alpha val="50196"/>
            </a:srgbClr>
          </a:solidFill>
          <a:ln w="25400">
            <a:solidFill>
              <a:schemeClr val="bg1"/>
            </a:solidFill>
          </a:ln>
        </p:spPr>
        <p:txBody>
          <a:bodyPr wrap="square" anchor="ctr" anchorCtr="0">
            <a:noAutofit/>
          </a:bodyPr>
          <a:lstStyle/>
          <a:p>
            <a:pPr algn="ctr">
              <a:lnSpc>
                <a:spcPts val="2100"/>
              </a:lnSpc>
            </a:pPr>
            <a:r>
              <a:rPr lang="en-US" sz="2400" b="1" dirty="0">
                <a:solidFill>
                  <a:srgbClr val="303030"/>
                </a:solidFill>
                <a:latin typeface="Avenir Book" charset="0"/>
                <a:ea typeface="Avenir Book" charset="0"/>
                <a:cs typeface="Avenir Book" charset="0"/>
              </a:rPr>
              <a:t>Test </a:t>
            </a:r>
            <a:endParaRPr lang="en-US" sz="2400" b="1" dirty="0" smtClean="0">
              <a:solidFill>
                <a:srgbClr val="303030"/>
              </a:solidFill>
              <a:latin typeface="Avenir Book" charset="0"/>
              <a:ea typeface="Avenir Book" charset="0"/>
              <a:cs typeface="Avenir Book" charset="0"/>
            </a:endParaRPr>
          </a:p>
          <a:p>
            <a:pPr algn="ctr">
              <a:lnSpc>
                <a:spcPts val="2100"/>
              </a:lnSpc>
            </a:pPr>
            <a:r>
              <a:rPr lang="en-US" sz="2400" b="1" dirty="0" smtClean="0">
                <a:solidFill>
                  <a:srgbClr val="303030"/>
                </a:solidFill>
                <a:latin typeface="Avenir Book" charset="0"/>
                <a:ea typeface="Avenir Book" charset="0"/>
                <a:cs typeface="Avenir Book" charset="0"/>
              </a:rPr>
              <a:t>Data</a:t>
            </a:r>
            <a:endParaRPr lang="en-US" sz="2400" b="1" dirty="0">
              <a:solidFill>
                <a:srgbClr val="303030"/>
              </a:solidFill>
              <a:latin typeface="Avenir Book" charset="0"/>
              <a:ea typeface="Avenir Book" charset="0"/>
              <a:cs typeface="Avenir Book" charset="0"/>
            </a:endParaRPr>
          </a:p>
        </p:txBody>
      </p:sp>
      <p:sp>
        <p:nvSpPr>
          <p:cNvPr id="11" name="object 2"/>
          <p:cNvSpPr txBox="1"/>
          <p:nvPr/>
        </p:nvSpPr>
        <p:spPr>
          <a:xfrm>
            <a:off x="398352" y="307119"/>
            <a:ext cx="8437829" cy="461665"/>
          </a:xfrm>
          <a:prstGeom prst="rect">
            <a:avLst/>
          </a:prstGeom>
        </p:spPr>
        <p:txBody>
          <a:bodyPr vert="horz" wrap="square" lIns="0" tIns="0" rIns="0" bIns="0" rtlCol="0">
            <a:spAutoFit/>
          </a:bodyPr>
          <a:lstStyle/>
          <a:p>
            <a:pPr marL="9525"/>
            <a:r>
              <a:rPr lang="en-US" sz="3000" spc="-26" dirty="0" smtClean="0">
                <a:latin typeface="Avenir Book" charset="0"/>
                <a:ea typeface="Avenir Book" charset="0"/>
                <a:cs typeface="Avenir Book" charset="0"/>
              </a:rPr>
              <a:t>Using Training and Test Data</a:t>
            </a:r>
          </a:p>
        </p:txBody>
      </p:sp>
      <p:sp>
        <p:nvSpPr>
          <p:cNvPr id="12" name="Rounded Rectangle 11"/>
          <p:cNvSpPr/>
          <p:nvPr/>
        </p:nvSpPr>
        <p:spPr>
          <a:xfrm>
            <a:off x="1765776" y="1502884"/>
            <a:ext cx="1544479" cy="1024128"/>
          </a:xfrm>
          <a:prstGeom prst="roundRect">
            <a:avLst/>
          </a:prstGeom>
          <a:solidFill>
            <a:srgbClr val="0070C0">
              <a:alpha val="50196"/>
            </a:srgbClr>
          </a:solidFill>
          <a:ln w="25400">
            <a:solidFill>
              <a:schemeClr val="bg1"/>
            </a:solidFill>
          </a:ln>
        </p:spPr>
        <p:txBody>
          <a:bodyPr wrap="square" anchor="ctr" anchorCtr="0">
            <a:noAutofit/>
          </a:bodyPr>
          <a:lstStyle/>
          <a:p>
            <a:pPr algn="ctr">
              <a:lnSpc>
                <a:spcPts val="2100"/>
              </a:lnSpc>
            </a:pPr>
            <a:r>
              <a:rPr lang="en-US" sz="2400" b="1" dirty="0">
                <a:solidFill>
                  <a:srgbClr val="303030"/>
                </a:solidFill>
                <a:latin typeface="Avenir Book" charset="0"/>
                <a:ea typeface="Avenir Book" charset="0"/>
                <a:cs typeface="Avenir Book" charset="0"/>
              </a:rPr>
              <a:t>Training</a:t>
            </a:r>
          </a:p>
          <a:p>
            <a:pPr algn="ctr">
              <a:lnSpc>
                <a:spcPts val="2100"/>
              </a:lnSpc>
            </a:pPr>
            <a:r>
              <a:rPr lang="en-US" sz="2400" b="1" dirty="0" smtClean="0">
                <a:solidFill>
                  <a:srgbClr val="303030"/>
                </a:solidFill>
                <a:latin typeface="Avenir Book" charset="0"/>
                <a:ea typeface="Avenir Book" charset="0"/>
                <a:cs typeface="Avenir Book" charset="0"/>
              </a:rPr>
              <a:t>Data</a:t>
            </a:r>
            <a:endParaRPr lang="en-US" sz="2400" b="1" dirty="0">
              <a:solidFill>
                <a:srgbClr val="303030"/>
              </a:solidFill>
              <a:latin typeface="Avenir Book" charset="0"/>
              <a:ea typeface="Avenir Book" charset="0"/>
              <a:cs typeface="Avenir Book" charset="0"/>
            </a:endParaRPr>
          </a:p>
        </p:txBody>
      </p:sp>
    </p:spTree>
    <p:extLst>
      <p:ext uri="{BB962C8B-B14F-4D97-AF65-F5344CB8AC3E}">
        <p14:creationId xmlns:p14="http://schemas.microsoft.com/office/powerpoint/2010/main" val="15861148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4624825" y="942535"/>
            <a:ext cx="2563948" cy="453639"/>
          </a:xfrm>
          <a:prstGeom prst="roundRect">
            <a:avLst/>
          </a:prstGeom>
          <a:solidFill>
            <a:srgbClr val="C00000">
              <a:alpha val="50196"/>
            </a:srgbClr>
          </a:solidFill>
          <a:ln w="25400">
            <a:solidFill>
              <a:schemeClr val="bg1"/>
            </a:solidFill>
          </a:ln>
        </p:spPr>
        <p:txBody>
          <a:bodyPr wrap="square" anchor="ctr" anchorCtr="0">
            <a:noAutofit/>
          </a:bodyPr>
          <a:lstStyle/>
          <a:p>
            <a:pPr algn="ctr">
              <a:lnSpc>
                <a:spcPts val="2100"/>
              </a:lnSpc>
            </a:pPr>
            <a:r>
              <a:rPr lang="en-US" sz="1800" b="1" dirty="0" smtClean="0">
                <a:solidFill>
                  <a:srgbClr val="303030"/>
                </a:solidFill>
                <a:latin typeface="Avenir Book" charset="0"/>
                <a:ea typeface="Avenir Book" charset="0"/>
                <a:cs typeface="Avenir Book" charset="0"/>
              </a:rPr>
              <a:t>Test Data</a:t>
            </a:r>
            <a:endParaRPr lang="en-US" sz="1800" b="1" dirty="0">
              <a:solidFill>
                <a:srgbClr val="303030"/>
              </a:solidFill>
              <a:latin typeface="Avenir Book" charset="0"/>
              <a:ea typeface="Avenir Book" charset="0"/>
              <a:cs typeface="Avenir Book" charset="0"/>
            </a:endParaRPr>
          </a:p>
        </p:txBody>
      </p:sp>
      <p:sp>
        <p:nvSpPr>
          <p:cNvPr id="8" name="Rounded Rectangle 7"/>
          <p:cNvSpPr/>
          <p:nvPr/>
        </p:nvSpPr>
        <p:spPr>
          <a:xfrm>
            <a:off x="1508649" y="942293"/>
            <a:ext cx="2563948" cy="453238"/>
          </a:xfrm>
          <a:prstGeom prst="roundRect">
            <a:avLst/>
          </a:prstGeom>
          <a:solidFill>
            <a:srgbClr val="0070C0">
              <a:alpha val="50196"/>
            </a:srgbClr>
          </a:solidFill>
          <a:ln w="25400">
            <a:solidFill>
              <a:schemeClr val="bg1"/>
            </a:solidFill>
          </a:ln>
        </p:spPr>
        <p:txBody>
          <a:bodyPr wrap="square" anchor="ctr" anchorCtr="0">
            <a:noAutofit/>
          </a:bodyPr>
          <a:lstStyle/>
          <a:p>
            <a:pPr algn="ctr">
              <a:lnSpc>
                <a:spcPts val="2100"/>
              </a:lnSpc>
            </a:pPr>
            <a:r>
              <a:rPr lang="en-US" sz="1800" b="1" dirty="0" smtClean="0">
                <a:solidFill>
                  <a:srgbClr val="303030"/>
                </a:solidFill>
                <a:latin typeface="Avenir Book" charset="0"/>
                <a:ea typeface="Avenir Book" charset="0"/>
                <a:cs typeface="Avenir Book" charset="0"/>
              </a:rPr>
              <a:t>Training Data</a:t>
            </a:r>
            <a:endParaRPr lang="en-US" sz="1800" b="1" dirty="0">
              <a:solidFill>
                <a:srgbClr val="303030"/>
              </a:solidFill>
              <a:latin typeface="Avenir Book" charset="0"/>
              <a:ea typeface="Avenir Book" charset="0"/>
              <a:cs typeface="Avenir Book" charset="0"/>
            </a:endParaRPr>
          </a:p>
        </p:txBody>
      </p:sp>
      <p:sp>
        <p:nvSpPr>
          <p:cNvPr id="10" name="object 2"/>
          <p:cNvSpPr txBox="1"/>
          <p:nvPr/>
        </p:nvSpPr>
        <p:spPr>
          <a:xfrm>
            <a:off x="398352" y="307119"/>
            <a:ext cx="8437829" cy="461665"/>
          </a:xfrm>
          <a:prstGeom prst="rect">
            <a:avLst/>
          </a:prstGeom>
        </p:spPr>
        <p:txBody>
          <a:bodyPr vert="horz" wrap="square" lIns="0" tIns="0" rIns="0" bIns="0" rtlCol="0">
            <a:spAutoFit/>
          </a:bodyPr>
          <a:lstStyle/>
          <a:p>
            <a:pPr marL="9525"/>
            <a:r>
              <a:rPr lang="en-US" sz="3000" spc="-26" dirty="0" smtClean="0">
                <a:latin typeface="Avenir Book" charset="0"/>
                <a:ea typeface="Avenir Book" charset="0"/>
                <a:cs typeface="Avenir Book" charset="0"/>
              </a:rPr>
              <a:t>Using Training and Test Data</a:t>
            </a:r>
          </a:p>
        </p:txBody>
      </p:sp>
      <p:cxnSp>
        <p:nvCxnSpPr>
          <p:cNvPr id="3" name="Straight Arrow Connector 2"/>
          <p:cNvCxnSpPr/>
          <p:nvPr/>
        </p:nvCxnSpPr>
        <p:spPr>
          <a:xfrm flipV="1">
            <a:off x="1508649" y="1489841"/>
            <a:ext cx="0" cy="266437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508649" y="4146331"/>
            <a:ext cx="2629799" cy="15766"/>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4592155" y="1489841"/>
            <a:ext cx="0" cy="266437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592155" y="4146331"/>
            <a:ext cx="2629799" cy="15766"/>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2207057" y="214411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4" name="Oval 13"/>
          <p:cNvSpPr/>
          <p:nvPr/>
        </p:nvSpPr>
        <p:spPr>
          <a:xfrm>
            <a:off x="2672140" y="186033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5" name="Oval 14"/>
          <p:cNvSpPr/>
          <p:nvPr/>
        </p:nvSpPr>
        <p:spPr>
          <a:xfrm>
            <a:off x="2837678" y="195492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6" name="Oval 15"/>
          <p:cNvSpPr/>
          <p:nvPr/>
        </p:nvSpPr>
        <p:spPr>
          <a:xfrm>
            <a:off x="3255464" y="195492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7" name="Oval 16"/>
          <p:cNvSpPr/>
          <p:nvPr/>
        </p:nvSpPr>
        <p:spPr>
          <a:xfrm>
            <a:off x="3484064" y="258554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8" name="Oval 17"/>
          <p:cNvSpPr/>
          <p:nvPr/>
        </p:nvSpPr>
        <p:spPr>
          <a:xfrm>
            <a:off x="3389471" y="287720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9" name="Oval 18"/>
          <p:cNvSpPr/>
          <p:nvPr/>
        </p:nvSpPr>
        <p:spPr>
          <a:xfrm>
            <a:off x="3160871" y="287720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0" name="Oval 19"/>
          <p:cNvSpPr/>
          <p:nvPr/>
        </p:nvSpPr>
        <p:spPr>
          <a:xfrm>
            <a:off x="3026864" y="297968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1" name="Oval 20"/>
          <p:cNvSpPr/>
          <p:nvPr/>
        </p:nvSpPr>
        <p:spPr>
          <a:xfrm>
            <a:off x="3176637" y="3074276"/>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2" name="Oval 21"/>
          <p:cNvSpPr/>
          <p:nvPr/>
        </p:nvSpPr>
        <p:spPr>
          <a:xfrm>
            <a:off x="3160871" y="360242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3" name="Oval 22"/>
          <p:cNvSpPr/>
          <p:nvPr/>
        </p:nvSpPr>
        <p:spPr>
          <a:xfrm>
            <a:off x="3223933" y="373642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4" name="Oval 23"/>
          <p:cNvSpPr/>
          <p:nvPr/>
        </p:nvSpPr>
        <p:spPr>
          <a:xfrm>
            <a:off x="3042630" y="3870435"/>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5" name="Oval 24"/>
          <p:cNvSpPr/>
          <p:nvPr/>
        </p:nvSpPr>
        <p:spPr>
          <a:xfrm>
            <a:off x="2790381" y="369701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6" name="Oval 25"/>
          <p:cNvSpPr/>
          <p:nvPr/>
        </p:nvSpPr>
        <p:spPr>
          <a:xfrm>
            <a:off x="2672140" y="350782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7" name="Oval 26"/>
          <p:cNvSpPr/>
          <p:nvPr/>
        </p:nvSpPr>
        <p:spPr>
          <a:xfrm>
            <a:off x="2577547" y="3413235"/>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8" name="Oval 27"/>
          <p:cNvSpPr/>
          <p:nvPr/>
        </p:nvSpPr>
        <p:spPr>
          <a:xfrm>
            <a:off x="2435658" y="336593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9" name="Oval 28"/>
          <p:cNvSpPr/>
          <p:nvPr/>
        </p:nvSpPr>
        <p:spPr>
          <a:xfrm>
            <a:off x="2695788" y="366548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0" name="Oval 29"/>
          <p:cNvSpPr/>
          <p:nvPr/>
        </p:nvSpPr>
        <p:spPr>
          <a:xfrm>
            <a:off x="2695788" y="380737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1" name="Oval 30"/>
          <p:cNvSpPr/>
          <p:nvPr/>
        </p:nvSpPr>
        <p:spPr>
          <a:xfrm>
            <a:off x="2672140" y="392561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2" name="Oval 31"/>
          <p:cNvSpPr/>
          <p:nvPr/>
        </p:nvSpPr>
        <p:spPr>
          <a:xfrm>
            <a:off x="1899630" y="331076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3" name="Oval 32"/>
          <p:cNvSpPr/>
          <p:nvPr/>
        </p:nvSpPr>
        <p:spPr>
          <a:xfrm>
            <a:off x="1852333" y="339747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4" name="Oval 33"/>
          <p:cNvSpPr/>
          <p:nvPr/>
        </p:nvSpPr>
        <p:spPr>
          <a:xfrm>
            <a:off x="1715971" y="338170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5" name="Oval 34"/>
          <p:cNvSpPr/>
          <p:nvPr/>
        </p:nvSpPr>
        <p:spPr>
          <a:xfrm>
            <a:off x="1810564" y="347629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6" name="Oval 35"/>
          <p:cNvSpPr/>
          <p:nvPr/>
        </p:nvSpPr>
        <p:spPr>
          <a:xfrm>
            <a:off x="1621378" y="366548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7" name="Oval 36"/>
          <p:cNvSpPr/>
          <p:nvPr/>
        </p:nvSpPr>
        <p:spPr>
          <a:xfrm>
            <a:off x="1574081" y="374431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8" name="Oval 37"/>
          <p:cNvSpPr/>
          <p:nvPr/>
        </p:nvSpPr>
        <p:spPr>
          <a:xfrm>
            <a:off x="1574081" y="3901966"/>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9" name="Oval 38"/>
          <p:cNvSpPr/>
          <p:nvPr/>
        </p:nvSpPr>
        <p:spPr>
          <a:xfrm>
            <a:off x="2254353" y="340535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0" name="Oval 39"/>
          <p:cNvSpPr/>
          <p:nvPr/>
        </p:nvSpPr>
        <p:spPr>
          <a:xfrm>
            <a:off x="2435658" y="347629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1" name="Oval 40"/>
          <p:cNvSpPr/>
          <p:nvPr/>
        </p:nvSpPr>
        <p:spPr>
          <a:xfrm>
            <a:off x="2506603" y="360242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2" name="Oval 41"/>
          <p:cNvSpPr/>
          <p:nvPr/>
        </p:nvSpPr>
        <p:spPr>
          <a:xfrm>
            <a:off x="2222822" y="346053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3" name="Oval 42"/>
          <p:cNvSpPr/>
          <p:nvPr/>
        </p:nvSpPr>
        <p:spPr>
          <a:xfrm>
            <a:off x="2128229" y="360242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4" name="Oval 43"/>
          <p:cNvSpPr/>
          <p:nvPr/>
        </p:nvSpPr>
        <p:spPr>
          <a:xfrm>
            <a:off x="2490837" y="3775842"/>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5" name="Oval 44"/>
          <p:cNvSpPr/>
          <p:nvPr/>
        </p:nvSpPr>
        <p:spPr>
          <a:xfrm>
            <a:off x="2317415" y="374431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6" name="Oval 45"/>
          <p:cNvSpPr/>
          <p:nvPr/>
        </p:nvSpPr>
        <p:spPr>
          <a:xfrm>
            <a:off x="2270118" y="380737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7" name="Oval 46"/>
          <p:cNvSpPr/>
          <p:nvPr/>
        </p:nvSpPr>
        <p:spPr>
          <a:xfrm>
            <a:off x="1954809" y="3641835"/>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8" name="Oval 47"/>
          <p:cNvSpPr/>
          <p:nvPr/>
        </p:nvSpPr>
        <p:spPr>
          <a:xfrm>
            <a:off x="1844451" y="364971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9" name="Oval 48"/>
          <p:cNvSpPr/>
          <p:nvPr/>
        </p:nvSpPr>
        <p:spPr>
          <a:xfrm>
            <a:off x="1797154" y="3760076"/>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0" name="Oval 49"/>
          <p:cNvSpPr/>
          <p:nvPr/>
        </p:nvSpPr>
        <p:spPr>
          <a:xfrm>
            <a:off x="2080932" y="3901966"/>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1" name="Oval 50"/>
          <p:cNvSpPr/>
          <p:nvPr/>
        </p:nvSpPr>
        <p:spPr>
          <a:xfrm>
            <a:off x="2049402" y="382313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2" name="Oval 51"/>
          <p:cNvSpPr/>
          <p:nvPr/>
        </p:nvSpPr>
        <p:spPr>
          <a:xfrm>
            <a:off x="1954808" y="378372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3" name="Oval 52"/>
          <p:cNvSpPr/>
          <p:nvPr/>
        </p:nvSpPr>
        <p:spPr>
          <a:xfrm>
            <a:off x="1875982" y="382313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4" name="Oval 53"/>
          <p:cNvSpPr/>
          <p:nvPr/>
        </p:nvSpPr>
        <p:spPr>
          <a:xfrm>
            <a:off x="1729382" y="380737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5" name="Oval 54"/>
          <p:cNvSpPr/>
          <p:nvPr/>
        </p:nvSpPr>
        <p:spPr>
          <a:xfrm>
            <a:off x="1899629" y="397291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6" name="Oval 55"/>
          <p:cNvSpPr/>
          <p:nvPr/>
        </p:nvSpPr>
        <p:spPr>
          <a:xfrm>
            <a:off x="1810564" y="3949262"/>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7" name="Oval 56"/>
          <p:cNvSpPr/>
          <p:nvPr/>
        </p:nvSpPr>
        <p:spPr>
          <a:xfrm>
            <a:off x="1668674" y="3854669"/>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8" name="Oval 57"/>
          <p:cNvSpPr/>
          <p:nvPr/>
        </p:nvSpPr>
        <p:spPr>
          <a:xfrm>
            <a:off x="1676558" y="3957145"/>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9" name="Oval 58"/>
          <p:cNvSpPr/>
          <p:nvPr/>
        </p:nvSpPr>
        <p:spPr>
          <a:xfrm>
            <a:off x="4710888" y="3996558"/>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0" name="Oval 59"/>
          <p:cNvSpPr/>
          <p:nvPr/>
        </p:nvSpPr>
        <p:spPr>
          <a:xfrm>
            <a:off x="6391581" y="3676917"/>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1" name="Oval 60"/>
          <p:cNvSpPr/>
          <p:nvPr/>
        </p:nvSpPr>
        <p:spPr>
          <a:xfrm>
            <a:off x="5915062" y="2897968"/>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2" name="Oval 61"/>
          <p:cNvSpPr/>
          <p:nvPr/>
        </p:nvSpPr>
        <p:spPr>
          <a:xfrm>
            <a:off x="5696121" y="3142444"/>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3" name="Oval 62"/>
          <p:cNvSpPr/>
          <p:nvPr/>
        </p:nvSpPr>
        <p:spPr>
          <a:xfrm>
            <a:off x="5387029" y="2701009"/>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4" name="Oval 63"/>
          <p:cNvSpPr/>
          <p:nvPr/>
        </p:nvSpPr>
        <p:spPr>
          <a:xfrm>
            <a:off x="5580211" y="3656823"/>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5" name="Oval 64"/>
          <p:cNvSpPr/>
          <p:nvPr/>
        </p:nvSpPr>
        <p:spPr>
          <a:xfrm>
            <a:off x="5434325" y="3744310"/>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6" name="Oval 65"/>
          <p:cNvSpPr/>
          <p:nvPr/>
        </p:nvSpPr>
        <p:spPr>
          <a:xfrm>
            <a:off x="5339732" y="3807373"/>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7" name="Oval 66"/>
          <p:cNvSpPr/>
          <p:nvPr/>
        </p:nvSpPr>
        <p:spPr>
          <a:xfrm>
            <a:off x="5245139" y="3925614"/>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8" name="Oval 67"/>
          <p:cNvSpPr/>
          <p:nvPr/>
        </p:nvSpPr>
        <p:spPr>
          <a:xfrm>
            <a:off x="4916950" y="3271345"/>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9" name="Oval 68"/>
          <p:cNvSpPr/>
          <p:nvPr/>
        </p:nvSpPr>
        <p:spPr>
          <a:xfrm>
            <a:off x="4964246" y="3444766"/>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0" name="Oval 69"/>
          <p:cNvSpPr/>
          <p:nvPr/>
        </p:nvSpPr>
        <p:spPr>
          <a:xfrm>
            <a:off x="4805481" y="3562230"/>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1" name="Oval 70"/>
          <p:cNvSpPr/>
          <p:nvPr/>
        </p:nvSpPr>
        <p:spPr>
          <a:xfrm>
            <a:off x="5011543" y="3562230"/>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2" name="Oval 71"/>
          <p:cNvSpPr/>
          <p:nvPr/>
        </p:nvSpPr>
        <p:spPr>
          <a:xfrm>
            <a:off x="4663591" y="3562230"/>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3" name="Oval 72"/>
          <p:cNvSpPr/>
          <p:nvPr/>
        </p:nvSpPr>
        <p:spPr>
          <a:xfrm>
            <a:off x="4663591" y="3728545"/>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4" name="Oval 73"/>
          <p:cNvSpPr/>
          <p:nvPr/>
        </p:nvSpPr>
        <p:spPr>
          <a:xfrm>
            <a:off x="5069275" y="3697681"/>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5" name="Oval 74"/>
          <p:cNvSpPr/>
          <p:nvPr/>
        </p:nvSpPr>
        <p:spPr>
          <a:xfrm>
            <a:off x="4669586" y="3823138"/>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6" name="Oval 75"/>
          <p:cNvSpPr/>
          <p:nvPr/>
        </p:nvSpPr>
        <p:spPr>
          <a:xfrm>
            <a:off x="5058839" y="3993449"/>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7" name="Oval 76"/>
          <p:cNvSpPr/>
          <p:nvPr/>
        </p:nvSpPr>
        <p:spPr>
          <a:xfrm>
            <a:off x="4964246" y="3807373"/>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8" name="Oval 77"/>
          <p:cNvSpPr/>
          <p:nvPr/>
        </p:nvSpPr>
        <p:spPr>
          <a:xfrm>
            <a:off x="4880089" y="3901966"/>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9" name="Oval 78"/>
          <p:cNvSpPr/>
          <p:nvPr/>
        </p:nvSpPr>
        <p:spPr>
          <a:xfrm>
            <a:off x="4785496" y="3949262"/>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0" name="object 3"/>
          <p:cNvSpPr txBox="1"/>
          <p:nvPr/>
        </p:nvSpPr>
        <p:spPr>
          <a:xfrm>
            <a:off x="4445440"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0.0</a:t>
            </a:r>
            <a:endParaRPr sz="1200" dirty="0">
              <a:latin typeface="Avenir Book" charset="0"/>
              <a:ea typeface="Avenir Book" charset="0"/>
              <a:cs typeface="Avenir Book" charset="0"/>
            </a:endParaRPr>
          </a:p>
        </p:txBody>
      </p:sp>
      <p:sp>
        <p:nvSpPr>
          <p:cNvPr id="81" name="object 3"/>
          <p:cNvSpPr txBox="1"/>
          <p:nvPr/>
        </p:nvSpPr>
        <p:spPr>
          <a:xfrm>
            <a:off x="5311878"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1.0</a:t>
            </a:r>
            <a:endParaRPr sz="1200" dirty="0">
              <a:latin typeface="Avenir Book" charset="0"/>
              <a:ea typeface="Avenir Book" charset="0"/>
              <a:cs typeface="Avenir Book" charset="0"/>
            </a:endParaRPr>
          </a:p>
        </p:txBody>
      </p:sp>
      <p:sp>
        <p:nvSpPr>
          <p:cNvPr id="82" name="object 3"/>
          <p:cNvSpPr txBox="1"/>
          <p:nvPr/>
        </p:nvSpPr>
        <p:spPr>
          <a:xfrm>
            <a:off x="6171178"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2.0</a:t>
            </a:r>
            <a:endParaRPr sz="1200" dirty="0">
              <a:latin typeface="Avenir Book" charset="0"/>
              <a:ea typeface="Avenir Book" charset="0"/>
              <a:cs typeface="Avenir Book" charset="0"/>
            </a:endParaRPr>
          </a:p>
        </p:txBody>
      </p:sp>
      <p:sp>
        <p:nvSpPr>
          <p:cNvPr id="84" name="object 3"/>
          <p:cNvSpPr txBox="1"/>
          <p:nvPr/>
        </p:nvSpPr>
        <p:spPr>
          <a:xfrm>
            <a:off x="1448942"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0.0</a:t>
            </a:r>
            <a:endParaRPr sz="1200" dirty="0">
              <a:latin typeface="Avenir Book" charset="0"/>
              <a:ea typeface="Avenir Book" charset="0"/>
              <a:cs typeface="Avenir Book" charset="0"/>
            </a:endParaRPr>
          </a:p>
        </p:txBody>
      </p:sp>
      <p:sp>
        <p:nvSpPr>
          <p:cNvPr id="85" name="object 3"/>
          <p:cNvSpPr txBox="1"/>
          <p:nvPr/>
        </p:nvSpPr>
        <p:spPr>
          <a:xfrm>
            <a:off x="2315380"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1.0</a:t>
            </a:r>
            <a:endParaRPr sz="1200" dirty="0">
              <a:latin typeface="Avenir Book" charset="0"/>
              <a:ea typeface="Avenir Book" charset="0"/>
              <a:cs typeface="Avenir Book" charset="0"/>
            </a:endParaRPr>
          </a:p>
        </p:txBody>
      </p:sp>
      <p:sp>
        <p:nvSpPr>
          <p:cNvPr id="86" name="object 3"/>
          <p:cNvSpPr txBox="1"/>
          <p:nvPr/>
        </p:nvSpPr>
        <p:spPr>
          <a:xfrm>
            <a:off x="3174680"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2.0</a:t>
            </a:r>
            <a:endParaRPr sz="1200" dirty="0">
              <a:latin typeface="Avenir Book" charset="0"/>
              <a:ea typeface="Avenir Book" charset="0"/>
              <a:cs typeface="Avenir Book" charset="0"/>
            </a:endParaRPr>
          </a:p>
        </p:txBody>
      </p:sp>
      <p:sp>
        <p:nvSpPr>
          <p:cNvPr id="88" name="object 3"/>
          <p:cNvSpPr txBox="1"/>
          <p:nvPr/>
        </p:nvSpPr>
        <p:spPr>
          <a:xfrm>
            <a:off x="1241992" y="3453332"/>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1.0</a:t>
            </a:r>
            <a:endParaRPr sz="1200" dirty="0">
              <a:latin typeface="Avenir Book" charset="0"/>
              <a:ea typeface="Avenir Book" charset="0"/>
              <a:cs typeface="Avenir Book" charset="0"/>
            </a:endParaRPr>
          </a:p>
        </p:txBody>
      </p:sp>
      <p:sp>
        <p:nvSpPr>
          <p:cNvPr id="89" name="object 3"/>
          <p:cNvSpPr txBox="1"/>
          <p:nvPr/>
        </p:nvSpPr>
        <p:spPr>
          <a:xfrm>
            <a:off x="1241992" y="2911948"/>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2.0</a:t>
            </a:r>
            <a:endParaRPr sz="1200" dirty="0">
              <a:latin typeface="Avenir Book" charset="0"/>
              <a:ea typeface="Avenir Book" charset="0"/>
              <a:cs typeface="Avenir Book" charset="0"/>
            </a:endParaRPr>
          </a:p>
        </p:txBody>
      </p:sp>
      <p:sp>
        <p:nvSpPr>
          <p:cNvPr id="92" name="object 3"/>
          <p:cNvSpPr txBox="1"/>
          <p:nvPr/>
        </p:nvSpPr>
        <p:spPr>
          <a:xfrm>
            <a:off x="1241992" y="2388793"/>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3.0</a:t>
            </a:r>
            <a:endParaRPr sz="1200" dirty="0">
              <a:latin typeface="Avenir Book" charset="0"/>
              <a:ea typeface="Avenir Book" charset="0"/>
              <a:cs typeface="Avenir Book" charset="0"/>
            </a:endParaRPr>
          </a:p>
        </p:txBody>
      </p:sp>
      <p:sp>
        <p:nvSpPr>
          <p:cNvPr id="93" name="object 3"/>
          <p:cNvSpPr txBox="1"/>
          <p:nvPr/>
        </p:nvSpPr>
        <p:spPr>
          <a:xfrm>
            <a:off x="1241992" y="1860331"/>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4.0</a:t>
            </a:r>
            <a:endParaRPr sz="1200" dirty="0">
              <a:latin typeface="Avenir Book" charset="0"/>
              <a:ea typeface="Avenir Book" charset="0"/>
              <a:cs typeface="Avenir Book" charset="0"/>
            </a:endParaRPr>
          </a:p>
        </p:txBody>
      </p:sp>
      <p:sp>
        <p:nvSpPr>
          <p:cNvPr id="94" name="object 3"/>
          <p:cNvSpPr txBox="1"/>
          <p:nvPr/>
        </p:nvSpPr>
        <p:spPr>
          <a:xfrm>
            <a:off x="1171061" y="1269032"/>
            <a:ext cx="350327" cy="317395"/>
          </a:xfrm>
          <a:prstGeom prst="rect">
            <a:avLst/>
          </a:prstGeom>
        </p:spPr>
        <p:txBody>
          <a:bodyPr vert="horz" wrap="square" lIns="0" tIns="0" rIns="0" bIns="0" rtlCol="0" anchor="ctr">
            <a:spAutoFit/>
          </a:bodyPr>
          <a:lstStyle/>
          <a:p>
            <a:pPr marL="9525" marR="3810" algn="ctr">
              <a:lnSpc>
                <a:spcPts val="2850"/>
              </a:lnSpc>
            </a:pPr>
            <a:r>
              <a:rPr lang="en-US" sz="1000" dirty="0" smtClean="0">
                <a:latin typeface="Avenir Book" charset="0"/>
                <a:ea typeface="Avenir Book" charset="0"/>
                <a:cs typeface="Avenir Book" charset="0"/>
              </a:rPr>
              <a:t>x10</a:t>
            </a:r>
            <a:r>
              <a:rPr lang="en-US" sz="1000" baseline="30000" dirty="0" smtClean="0">
                <a:latin typeface="Avenir Book" charset="0"/>
                <a:ea typeface="Avenir Book" charset="0"/>
                <a:cs typeface="Avenir Book" charset="0"/>
              </a:rPr>
              <a:t>8</a:t>
            </a:r>
            <a:endParaRPr sz="1000" baseline="30000" dirty="0">
              <a:latin typeface="Avenir Book" charset="0"/>
              <a:ea typeface="Avenir Book" charset="0"/>
              <a:cs typeface="Avenir Book" charset="0"/>
            </a:endParaRPr>
          </a:p>
        </p:txBody>
      </p:sp>
      <p:sp>
        <p:nvSpPr>
          <p:cNvPr id="95" name="object 3"/>
          <p:cNvSpPr txBox="1"/>
          <p:nvPr/>
        </p:nvSpPr>
        <p:spPr>
          <a:xfrm>
            <a:off x="4274419" y="1269032"/>
            <a:ext cx="350327" cy="317395"/>
          </a:xfrm>
          <a:prstGeom prst="rect">
            <a:avLst/>
          </a:prstGeom>
        </p:spPr>
        <p:txBody>
          <a:bodyPr vert="horz" wrap="square" lIns="0" tIns="0" rIns="0" bIns="0" rtlCol="0" anchor="ctr">
            <a:spAutoFit/>
          </a:bodyPr>
          <a:lstStyle/>
          <a:p>
            <a:pPr marL="9525" marR="3810" algn="ctr">
              <a:lnSpc>
                <a:spcPts val="2850"/>
              </a:lnSpc>
            </a:pPr>
            <a:r>
              <a:rPr lang="en-US" sz="1000" dirty="0" smtClean="0">
                <a:latin typeface="Avenir Book" charset="0"/>
                <a:ea typeface="Avenir Book" charset="0"/>
                <a:cs typeface="Avenir Book" charset="0"/>
              </a:rPr>
              <a:t>x10</a:t>
            </a:r>
            <a:r>
              <a:rPr lang="en-US" sz="1000" baseline="30000" dirty="0" smtClean="0">
                <a:latin typeface="Avenir Book" charset="0"/>
                <a:ea typeface="Avenir Book" charset="0"/>
                <a:cs typeface="Avenir Book" charset="0"/>
              </a:rPr>
              <a:t>8</a:t>
            </a:r>
            <a:endParaRPr sz="1000" baseline="30000" dirty="0">
              <a:latin typeface="Avenir Book" charset="0"/>
              <a:ea typeface="Avenir Book" charset="0"/>
              <a:cs typeface="Avenir Book" charset="0"/>
            </a:endParaRPr>
          </a:p>
        </p:txBody>
      </p:sp>
      <p:sp>
        <p:nvSpPr>
          <p:cNvPr id="96" name="object 3"/>
          <p:cNvSpPr txBox="1"/>
          <p:nvPr/>
        </p:nvSpPr>
        <p:spPr>
          <a:xfrm>
            <a:off x="4324108" y="3453332"/>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1.0</a:t>
            </a:r>
            <a:endParaRPr sz="1200" dirty="0">
              <a:latin typeface="Avenir Book" charset="0"/>
              <a:ea typeface="Avenir Book" charset="0"/>
              <a:cs typeface="Avenir Book" charset="0"/>
            </a:endParaRPr>
          </a:p>
        </p:txBody>
      </p:sp>
      <p:sp>
        <p:nvSpPr>
          <p:cNvPr id="97" name="object 3"/>
          <p:cNvSpPr txBox="1"/>
          <p:nvPr/>
        </p:nvSpPr>
        <p:spPr>
          <a:xfrm>
            <a:off x="4324108" y="2911948"/>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2.0</a:t>
            </a:r>
            <a:endParaRPr sz="1200" dirty="0">
              <a:latin typeface="Avenir Book" charset="0"/>
              <a:ea typeface="Avenir Book" charset="0"/>
              <a:cs typeface="Avenir Book" charset="0"/>
            </a:endParaRPr>
          </a:p>
        </p:txBody>
      </p:sp>
      <p:sp>
        <p:nvSpPr>
          <p:cNvPr id="98" name="object 3"/>
          <p:cNvSpPr txBox="1"/>
          <p:nvPr/>
        </p:nvSpPr>
        <p:spPr>
          <a:xfrm>
            <a:off x="4324108" y="2388793"/>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3.0</a:t>
            </a:r>
            <a:endParaRPr sz="1200" dirty="0">
              <a:latin typeface="Avenir Book" charset="0"/>
              <a:ea typeface="Avenir Book" charset="0"/>
              <a:cs typeface="Avenir Book" charset="0"/>
            </a:endParaRPr>
          </a:p>
        </p:txBody>
      </p:sp>
      <p:sp>
        <p:nvSpPr>
          <p:cNvPr id="99" name="object 3"/>
          <p:cNvSpPr txBox="1"/>
          <p:nvPr/>
        </p:nvSpPr>
        <p:spPr>
          <a:xfrm>
            <a:off x="4324108" y="1860331"/>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4.0</a:t>
            </a:r>
            <a:endParaRPr sz="1200" dirty="0">
              <a:latin typeface="Avenir Book" charset="0"/>
              <a:ea typeface="Avenir Book" charset="0"/>
              <a:cs typeface="Avenir Book" charset="0"/>
            </a:endParaRPr>
          </a:p>
        </p:txBody>
      </p:sp>
      <p:sp>
        <p:nvSpPr>
          <p:cNvPr id="100" name="object 3"/>
          <p:cNvSpPr txBox="1"/>
          <p:nvPr/>
        </p:nvSpPr>
        <p:spPr>
          <a:xfrm>
            <a:off x="6882276" y="4086182"/>
            <a:ext cx="350327" cy="317395"/>
          </a:xfrm>
          <a:prstGeom prst="rect">
            <a:avLst/>
          </a:prstGeom>
        </p:spPr>
        <p:txBody>
          <a:bodyPr vert="horz" wrap="square" lIns="0" tIns="0" rIns="0" bIns="0" rtlCol="0" anchor="ctr">
            <a:spAutoFit/>
          </a:bodyPr>
          <a:lstStyle/>
          <a:p>
            <a:pPr marL="9525" marR="3810" algn="ctr">
              <a:lnSpc>
                <a:spcPts val="2850"/>
              </a:lnSpc>
            </a:pPr>
            <a:r>
              <a:rPr lang="en-US" sz="1000" dirty="0" smtClean="0">
                <a:latin typeface="Avenir Book" charset="0"/>
                <a:ea typeface="Avenir Book" charset="0"/>
                <a:cs typeface="Avenir Book" charset="0"/>
              </a:rPr>
              <a:t>x10</a:t>
            </a:r>
            <a:r>
              <a:rPr lang="en-US" sz="1000" baseline="30000" dirty="0" smtClean="0">
                <a:latin typeface="Avenir Book" charset="0"/>
                <a:ea typeface="Avenir Book" charset="0"/>
                <a:cs typeface="Avenir Book" charset="0"/>
              </a:rPr>
              <a:t>8</a:t>
            </a:r>
            <a:endParaRPr sz="1000" baseline="30000" dirty="0">
              <a:latin typeface="Avenir Book" charset="0"/>
              <a:ea typeface="Avenir Book" charset="0"/>
              <a:cs typeface="Avenir Book" charset="0"/>
            </a:endParaRPr>
          </a:p>
        </p:txBody>
      </p:sp>
      <p:sp>
        <p:nvSpPr>
          <p:cNvPr id="101" name="object 3"/>
          <p:cNvSpPr txBox="1"/>
          <p:nvPr/>
        </p:nvSpPr>
        <p:spPr>
          <a:xfrm>
            <a:off x="3894783" y="4086182"/>
            <a:ext cx="350327" cy="317395"/>
          </a:xfrm>
          <a:prstGeom prst="rect">
            <a:avLst/>
          </a:prstGeom>
        </p:spPr>
        <p:txBody>
          <a:bodyPr vert="horz" wrap="square" lIns="0" tIns="0" rIns="0" bIns="0" rtlCol="0" anchor="ctr">
            <a:spAutoFit/>
          </a:bodyPr>
          <a:lstStyle/>
          <a:p>
            <a:pPr marL="9525" marR="3810" algn="ctr">
              <a:lnSpc>
                <a:spcPts val="2850"/>
              </a:lnSpc>
            </a:pPr>
            <a:r>
              <a:rPr lang="en-US" sz="1000" dirty="0" smtClean="0">
                <a:latin typeface="Avenir Book" charset="0"/>
                <a:ea typeface="Avenir Book" charset="0"/>
                <a:cs typeface="Avenir Book" charset="0"/>
              </a:rPr>
              <a:t>x10</a:t>
            </a:r>
            <a:r>
              <a:rPr lang="en-US" sz="1000" baseline="30000" dirty="0" smtClean="0">
                <a:latin typeface="Avenir Book" charset="0"/>
                <a:ea typeface="Avenir Book" charset="0"/>
                <a:cs typeface="Avenir Book" charset="0"/>
              </a:rPr>
              <a:t>8</a:t>
            </a:r>
            <a:endParaRPr sz="1000" baseline="30000" dirty="0">
              <a:latin typeface="Avenir Book" charset="0"/>
              <a:ea typeface="Avenir Book" charset="0"/>
              <a:cs typeface="Avenir Book" charset="0"/>
            </a:endParaRPr>
          </a:p>
        </p:txBody>
      </p:sp>
    </p:spTree>
    <p:extLst>
      <p:ext uri="{BB962C8B-B14F-4D97-AF65-F5344CB8AC3E}">
        <p14:creationId xmlns:p14="http://schemas.microsoft.com/office/powerpoint/2010/main" val="5732424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Arrow Connector 14"/>
          <p:cNvCxnSpPr/>
          <p:nvPr/>
        </p:nvCxnSpPr>
        <p:spPr>
          <a:xfrm flipV="1">
            <a:off x="1508649" y="1489841"/>
            <a:ext cx="0" cy="266437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1508649" y="4146331"/>
            <a:ext cx="2629799" cy="15766"/>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4592155" y="1489841"/>
            <a:ext cx="0" cy="266437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4592155" y="4146331"/>
            <a:ext cx="2629799" cy="15766"/>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2207057" y="214411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0" name="Oval 19"/>
          <p:cNvSpPr/>
          <p:nvPr/>
        </p:nvSpPr>
        <p:spPr>
          <a:xfrm>
            <a:off x="2672140" y="186033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1" name="Oval 20"/>
          <p:cNvSpPr/>
          <p:nvPr/>
        </p:nvSpPr>
        <p:spPr>
          <a:xfrm>
            <a:off x="2837678" y="195492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2" name="Oval 21"/>
          <p:cNvSpPr/>
          <p:nvPr/>
        </p:nvSpPr>
        <p:spPr>
          <a:xfrm>
            <a:off x="3255464" y="195492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3" name="Oval 22"/>
          <p:cNvSpPr/>
          <p:nvPr/>
        </p:nvSpPr>
        <p:spPr>
          <a:xfrm>
            <a:off x="3484064" y="258554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4" name="Oval 23"/>
          <p:cNvSpPr/>
          <p:nvPr/>
        </p:nvSpPr>
        <p:spPr>
          <a:xfrm>
            <a:off x="3389471" y="287720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5" name="Oval 24"/>
          <p:cNvSpPr/>
          <p:nvPr/>
        </p:nvSpPr>
        <p:spPr>
          <a:xfrm>
            <a:off x="3160871" y="287720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6" name="Oval 25"/>
          <p:cNvSpPr/>
          <p:nvPr/>
        </p:nvSpPr>
        <p:spPr>
          <a:xfrm>
            <a:off x="3026864" y="297968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7" name="Oval 26"/>
          <p:cNvSpPr/>
          <p:nvPr/>
        </p:nvSpPr>
        <p:spPr>
          <a:xfrm>
            <a:off x="3176637" y="3074276"/>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8" name="Oval 27"/>
          <p:cNvSpPr/>
          <p:nvPr/>
        </p:nvSpPr>
        <p:spPr>
          <a:xfrm>
            <a:off x="3160871" y="360242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29" name="Oval 28"/>
          <p:cNvSpPr/>
          <p:nvPr/>
        </p:nvSpPr>
        <p:spPr>
          <a:xfrm>
            <a:off x="3223933" y="373642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0" name="Oval 29"/>
          <p:cNvSpPr/>
          <p:nvPr/>
        </p:nvSpPr>
        <p:spPr>
          <a:xfrm>
            <a:off x="3042630" y="3870435"/>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1" name="Oval 30"/>
          <p:cNvSpPr/>
          <p:nvPr/>
        </p:nvSpPr>
        <p:spPr>
          <a:xfrm>
            <a:off x="2790381" y="369701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2" name="Oval 31"/>
          <p:cNvSpPr/>
          <p:nvPr/>
        </p:nvSpPr>
        <p:spPr>
          <a:xfrm>
            <a:off x="2672140" y="350782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3" name="Oval 32"/>
          <p:cNvSpPr/>
          <p:nvPr/>
        </p:nvSpPr>
        <p:spPr>
          <a:xfrm>
            <a:off x="2577547" y="3413235"/>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4" name="Oval 33"/>
          <p:cNvSpPr/>
          <p:nvPr/>
        </p:nvSpPr>
        <p:spPr>
          <a:xfrm>
            <a:off x="2435658" y="336593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5" name="Oval 34"/>
          <p:cNvSpPr/>
          <p:nvPr/>
        </p:nvSpPr>
        <p:spPr>
          <a:xfrm>
            <a:off x="2695788" y="366548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6" name="Oval 35"/>
          <p:cNvSpPr/>
          <p:nvPr/>
        </p:nvSpPr>
        <p:spPr>
          <a:xfrm>
            <a:off x="2695788" y="380737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7" name="Oval 36"/>
          <p:cNvSpPr/>
          <p:nvPr/>
        </p:nvSpPr>
        <p:spPr>
          <a:xfrm>
            <a:off x="2672140" y="392561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8" name="Oval 37"/>
          <p:cNvSpPr/>
          <p:nvPr/>
        </p:nvSpPr>
        <p:spPr>
          <a:xfrm>
            <a:off x="1899630" y="331076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9" name="Oval 38"/>
          <p:cNvSpPr/>
          <p:nvPr/>
        </p:nvSpPr>
        <p:spPr>
          <a:xfrm>
            <a:off x="1852333" y="339747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0" name="Oval 39"/>
          <p:cNvSpPr/>
          <p:nvPr/>
        </p:nvSpPr>
        <p:spPr>
          <a:xfrm>
            <a:off x="1715971" y="338170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1" name="Oval 40"/>
          <p:cNvSpPr/>
          <p:nvPr/>
        </p:nvSpPr>
        <p:spPr>
          <a:xfrm>
            <a:off x="1810564" y="347629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2" name="Oval 41"/>
          <p:cNvSpPr/>
          <p:nvPr/>
        </p:nvSpPr>
        <p:spPr>
          <a:xfrm>
            <a:off x="1621378" y="366548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3" name="Oval 42"/>
          <p:cNvSpPr/>
          <p:nvPr/>
        </p:nvSpPr>
        <p:spPr>
          <a:xfrm>
            <a:off x="1574081" y="374431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4" name="Oval 43"/>
          <p:cNvSpPr/>
          <p:nvPr/>
        </p:nvSpPr>
        <p:spPr>
          <a:xfrm>
            <a:off x="1574081" y="3901966"/>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5" name="Oval 44"/>
          <p:cNvSpPr/>
          <p:nvPr/>
        </p:nvSpPr>
        <p:spPr>
          <a:xfrm>
            <a:off x="2254353" y="340535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6" name="Oval 45"/>
          <p:cNvSpPr/>
          <p:nvPr/>
        </p:nvSpPr>
        <p:spPr>
          <a:xfrm>
            <a:off x="2435658" y="347629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7" name="Oval 46"/>
          <p:cNvSpPr/>
          <p:nvPr/>
        </p:nvSpPr>
        <p:spPr>
          <a:xfrm>
            <a:off x="2506603" y="360242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8" name="Oval 47"/>
          <p:cNvSpPr/>
          <p:nvPr/>
        </p:nvSpPr>
        <p:spPr>
          <a:xfrm>
            <a:off x="2222822" y="346053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9" name="Oval 48"/>
          <p:cNvSpPr/>
          <p:nvPr/>
        </p:nvSpPr>
        <p:spPr>
          <a:xfrm>
            <a:off x="2128229" y="360242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0" name="Oval 49"/>
          <p:cNvSpPr/>
          <p:nvPr/>
        </p:nvSpPr>
        <p:spPr>
          <a:xfrm>
            <a:off x="2490837" y="3775842"/>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1" name="Oval 50"/>
          <p:cNvSpPr/>
          <p:nvPr/>
        </p:nvSpPr>
        <p:spPr>
          <a:xfrm>
            <a:off x="2317415" y="374431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2" name="Oval 51"/>
          <p:cNvSpPr/>
          <p:nvPr/>
        </p:nvSpPr>
        <p:spPr>
          <a:xfrm>
            <a:off x="2270118" y="380737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3" name="Oval 52"/>
          <p:cNvSpPr/>
          <p:nvPr/>
        </p:nvSpPr>
        <p:spPr>
          <a:xfrm>
            <a:off x="1954809" y="3641835"/>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4" name="Oval 53"/>
          <p:cNvSpPr/>
          <p:nvPr/>
        </p:nvSpPr>
        <p:spPr>
          <a:xfrm>
            <a:off x="1844451" y="364971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5" name="Oval 54"/>
          <p:cNvSpPr/>
          <p:nvPr/>
        </p:nvSpPr>
        <p:spPr>
          <a:xfrm>
            <a:off x="1797154" y="3760076"/>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6" name="Oval 55"/>
          <p:cNvSpPr/>
          <p:nvPr/>
        </p:nvSpPr>
        <p:spPr>
          <a:xfrm>
            <a:off x="2080932" y="3901966"/>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7" name="Oval 56"/>
          <p:cNvSpPr/>
          <p:nvPr/>
        </p:nvSpPr>
        <p:spPr>
          <a:xfrm>
            <a:off x="2049402" y="382313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8" name="Oval 57"/>
          <p:cNvSpPr/>
          <p:nvPr/>
        </p:nvSpPr>
        <p:spPr>
          <a:xfrm>
            <a:off x="1954808" y="378372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9" name="Oval 58"/>
          <p:cNvSpPr/>
          <p:nvPr/>
        </p:nvSpPr>
        <p:spPr>
          <a:xfrm>
            <a:off x="1875982" y="382313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0" name="Oval 59"/>
          <p:cNvSpPr/>
          <p:nvPr/>
        </p:nvSpPr>
        <p:spPr>
          <a:xfrm>
            <a:off x="1729382" y="380737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1" name="Oval 60"/>
          <p:cNvSpPr/>
          <p:nvPr/>
        </p:nvSpPr>
        <p:spPr>
          <a:xfrm>
            <a:off x="1899629" y="397291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2" name="Oval 61"/>
          <p:cNvSpPr/>
          <p:nvPr/>
        </p:nvSpPr>
        <p:spPr>
          <a:xfrm>
            <a:off x="1810564" y="3949262"/>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3" name="Oval 62"/>
          <p:cNvSpPr/>
          <p:nvPr/>
        </p:nvSpPr>
        <p:spPr>
          <a:xfrm>
            <a:off x="1668674" y="3854669"/>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4" name="Oval 63"/>
          <p:cNvSpPr/>
          <p:nvPr/>
        </p:nvSpPr>
        <p:spPr>
          <a:xfrm>
            <a:off x="1676558" y="3957145"/>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5" name="Oval 64"/>
          <p:cNvSpPr/>
          <p:nvPr/>
        </p:nvSpPr>
        <p:spPr>
          <a:xfrm>
            <a:off x="4710888" y="3996558"/>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6" name="Oval 65"/>
          <p:cNvSpPr/>
          <p:nvPr/>
        </p:nvSpPr>
        <p:spPr>
          <a:xfrm>
            <a:off x="6391581" y="3676917"/>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7" name="Oval 66"/>
          <p:cNvSpPr/>
          <p:nvPr/>
        </p:nvSpPr>
        <p:spPr>
          <a:xfrm>
            <a:off x="5915062" y="2897968"/>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8" name="Oval 67"/>
          <p:cNvSpPr/>
          <p:nvPr/>
        </p:nvSpPr>
        <p:spPr>
          <a:xfrm>
            <a:off x="5696121" y="3142444"/>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9" name="Oval 68"/>
          <p:cNvSpPr/>
          <p:nvPr/>
        </p:nvSpPr>
        <p:spPr>
          <a:xfrm>
            <a:off x="5387029" y="2701009"/>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0" name="Oval 69"/>
          <p:cNvSpPr/>
          <p:nvPr/>
        </p:nvSpPr>
        <p:spPr>
          <a:xfrm>
            <a:off x="5580211" y="3656823"/>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1" name="Oval 70"/>
          <p:cNvSpPr/>
          <p:nvPr/>
        </p:nvSpPr>
        <p:spPr>
          <a:xfrm>
            <a:off x="5434325" y="3744310"/>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2" name="Oval 71"/>
          <p:cNvSpPr/>
          <p:nvPr/>
        </p:nvSpPr>
        <p:spPr>
          <a:xfrm>
            <a:off x="5339732" y="3807373"/>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3" name="Oval 72"/>
          <p:cNvSpPr/>
          <p:nvPr/>
        </p:nvSpPr>
        <p:spPr>
          <a:xfrm>
            <a:off x="5245139" y="3925614"/>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4" name="Oval 73"/>
          <p:cNvSpPr/>
          <p:nvPr/>
        </p:nvSpPr>
        <p:spPr>
          <a:xfrm>
            <a:off x="4916950" y="3271345"/>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5" name="Oval 74"/>
          <p:cNvSpPr/>
          <p:nvPr/>
        </p:nvSpPr>
        <p:spPr>
          <a:xfrm>
            <a:off x="4964246" y="3444766"/>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6" name="Oval 75"/>
          <p:cNvSpPr/>
          <p:nvPr/>
        </p:nvSpPr>
        <p:spPr>
          <a:xfrm>
            <a:off x="4805481" y="3562230"/>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7" name="Oval 76"/>
          <p:cNvSpPr/>
          <p:nvPr/>
        </p:nvSpPr>
        <p:spPr>
          <a:xfrm>
            <a:off x="5011543" y="3562230"/>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8" name="Oval 77"/>
          <p:cNvSpPr/>
          <p:nvPr/>
        </p:nvSpPr>
        <p:spPr>
          <a:xfrm>
            <a:off x="4663591" y="3562230"/>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9" name="Oval 78"/>
          <p:cNvSpPr/>
          <p:nvPr/>
        </p:nvSpPr>
        <p:spPr>
          <a:xfrm>
            <a:off x="4663591" y="3728545"/>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0" name="Oval 79"/>
          <p:cNvSpPr/>
          <p:nvPr/>
        </p:nvSpPr>
        <p:spPr>
          <a:xfrm>
            <a:off x="5069275" y="3697681"/>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1" name="Oval 80"/>
          <p:cNvSpPr/>
          <p:nvPr/>
        </p:nvSpPr>
        <p:spPr>
          <a:xfrm>
            <a:off x="4669586" y="3823138"/>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2" name="Oval 81"/>
          <p:cNvSpPr/>
          <p:nvPr/>
        </p:nvSpPr>
        <p:spPr>
          <a:xfrm>
            <a:off x="5058839" y="3993449"/>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3" name="Oval 82"/>
          <p:cNvSpPr/>
          <p:nvPr/>
        </p:nvSpPr>
        <p:spPr>
          <a:xfrm>
            <a:off x="4964246" y="3807373"/>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4" name="Oval 83"/>
          <p:cNvSpPr/>
          <p:nvPr/>
        </p:nvSpPr>
        <p:spPr>
          <a:xfrm>
            <a:off x="4880089" y="3901966"/>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5" name="Oval 84"/>
          <p:cNvSpPr/>
          <p:nvPr/>
        </p:nvSpPr>
        <p:spPr>
          <a:xfrm>
            <a:off x="4785496" y="3949262"/>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6" name="object 3"/>
          <p:cNvSpPr txBox="1"/>
          <p:nvPr/>
        </p:nvSpPr>
        <p:spPr>
          <a:xfrm>
            <a:off x="4445440"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0.0</a:t>
            </a:r>
            <a:endParaRPr sz="1200" dirty="0">
              <a:latin typeface="Avenir Book" charset="0"/>
              <a:ea typeface="Avenir Book" charset="0"/>
              <a:cs typeface="Avenir Book" charset="0"/>
            </a:endParaRPr>
          </a:p>
        </p:txBody>
      </p:sp>
      <p:sp>
        <p:nvSpPr>
          <p:cNvPr id="87" name="object 3"/>
          <p:cNvSpPr txBox="1"/>
          <p:nvPr/>
        </p:nvSpPr>
        <p:spPr>
          <a:xfrm>
            <a:off x="5311878"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1.0</a:t>
            </a:r>
            <a:endParaRPr sz="1200" dirty="0">
              <a:latin typeface="Avenir Book" charset="0"/>
              <a:ea typeface="Avenir Book" charset="0"/>
              <a:cs typeface="Avenir Book" charset="0"/>
            </a:endParaRPr>
          </a:p>
        </p:txBody>
      </p:sp>
      <p:sp>
        <p:nvSpPr>
          <p:cNvPr id="88" name="object 3"/>
          <p:cNvSpPr txBox="1"/>
          <p:nvPr/>
        </p:nvSpPr>
        <p:spPr>
          <a:xfrm>
            <a:off x="6171178"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2.0</a:t>
            </a:r>
            <a:endParaRPr sz="1200" dirty="0">
              <a:latin typeface="Avenir Book" charset="0"/>
              <a:ea typeface="Avenir Book" charset="0"/>
              <a:cs typeface="Avenir Book" charset="0"/>
            </a:endParaRPr>
          </a:p>
        </p:txBody>
      </p:sp>
      <p:sp>
        <p:nvSpPr>
          <p:cNvPr id="89" name="object 3"/>
          <p:cNvSpPr txBox="1"/>
          <p:nvPr/>
        </p:nvSpPr>
        <p:spPr>
          <a:xfrm>
            <a:off x="1448942"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0.0</a:t>
            </a:r>
            <a:endParaRPr sz="1200" dirty="0">
              <a:latin typeface="Avenir Book" charset="0"/>
              <a:ea typeface="Avenir Book" charset="0"/>
              <a:cs typeface="Avenir Book" charset="0"/>
            </a:endParaRPr>
          </a:p>
        </p:txBody>
      </p:sp>
      <p:sp>
        <p:nvSpPr>
          <p:cNvPr id="90" name="object 3"/>
          <p:cNvSpPr txBox="1"/>
          <p:nvPr/>
        </p:nvSpPr>
        <p:spPr>
          <a:xfrm>
            <a:off x="2315380"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1.0</a:t>
            </a:r>
            <a:endParaRPr sz="1200" dirty="0">
              <a:latin typeface="Avenir Book" charset="0"/>
              <a:ea typeface="Avenir Book" charset="0"/>
              <a:cs typeface="Avenir Book" charset="0"/>
            </a:endParaRPr>
          </a:p>
        </p:txBody>
      </p:sp>
      <p:sp>
        <p:nvSpPr>
          <p:cNvPr id="91" name="object 3"/>
          <p:cNvSpPr txBox="1"/>
          <p:nvPr/>
        </p:nvSpPr>
        <p:spPr>
          <a:xfrm>
            <a:off x="3174680"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2.0</a:t>
            </a:r>
            <a:endParaRPr sz="1200" dirty="0">
              <a:latin typeface="Avenir Book" charset="0"/>
              <a:ea typeface="Avenir Book" charset="0"/>
              <a:cs typeface="Avenir Book" charset="0"/>
            </a:endParaRPr>
          </a:p>
        </p:txBody>
      </p:sp>
      <p:sp>
        <p:nvSpPr>
          <p:cNvPr id="92" name="object 3"/>
          <p:cNvSpPr txBox="1"/>
          <p:nvPr/>
        </p:nvSpPr>
        <p:spPr>
          <a:xfrm>
            <a:off x="1241992" y="3453332"/>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1.0</a:t>
            </a:r>
            <a:endParaRPr sz="1200" dirty="0">
              <a:latin typeface="Avenir Book" charset="0"/>
              <a:ea typeface="Avenir Book" charset="0"/>
              <a:cs typeface="Avenir Book" charset="0"/>
            </a:endParaRPr>
          </a:p>
        </p:txBody>
      </p:sp>
      <p:sp>
        <p:nvSpPr>
          <p:cNvPr id="93" name="object 3"/>
          <p:cNvSpPr txBox="1"/>
          <p:nvPr/>
        </p:nvSpPr>
        <p:spPr>
          <a:xfrm>
            <a:off x="1241992" y="2911948"/>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2.0</a:t>
            </a:r>
            <a:endParaRPr sz="1200" dirty="0">
              <a:latin typeface="Avenir Book" charset="0"/>
              <a:ea typeface="Avenir Book" charset="0"/>
              <a:cs typeface="Avenir Book" charset="0"/>
            </a:endParaRPr>
          </a:p>
        </p:txBody>
      </p:sp>
      <p:sp>
        <p:nvSpPr>
          <p:cNvPr id="94" name="object 3"/>
          <p:cNvSpPr txBox="1"/>
          <p:nvPr/>
        </p:nvSpPr>
        <p:spPr>
          <a:xfrm>
            <a:off x="1241992" y="2388793"/>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3.0</a:t>
            </a:r>
            <a:endParaRPr sz="1200" dirty="0">
              <a:latin typeface="Avenir Book" charset="0"/>
              <a:ea typeface="Avenir Book" charset="0"/>
              <a:cs typeface="Avenir Book" charset="0"/>
            </a:endParaRPr>
          </a:p>
        </p:txBody>
      </p:sp>
      <p:sp>
        <p:nvSpPr>
          <p:cNvPr id="95" name="object 3"/>
          <p:cNvSpPr txBox="1"/>
          <p:nvPr/>
        </p:nvSpPr>
        <p:spPr>
          <a:xfrm>
            <a:off x="1241992" y="1860331"/>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4.0</a:t>
            </a:r>
            <a:endParaRPr sz="1200" dirty="0">
              <a:latin typeface="Avenir Book" charset="0"/>
              <a:ea typeface="Avenir Book" charset="0"/>
              <a:cs typeface="Avenir Book" charset="0"/>
            </a:endParaRPr>
          </a:p>
        </p:txBody>
      </p:sp>
      <p:sp>
        <p:nvSpPr>
          <p:cNvPr id="96" name="object 3"/>
          <p:cNvSpPr txBox="1"/>
          <p:nvPr/>
        </p:nvSpPr>
        <p:spPr>
          <a:xfrm>
            <a:off x="1171061" y="1269032"/>
            <a:ext cx="350327" cy="317395"/>
          </a:xfrm>
          <a:prstGeom prst="rect">
            <a:avLst/>
          </a:prstGeom>
        </p:spPr>
        <p:txBody>
          <a:bodyPr vert="horz" wrap="square" lIns="0" tIns="0" rIns="0" bIns="0" rtlCol="0" anchor="ctr">
            <a:spAutoFit/>
          </a:bodyPr>
          <a:lstStyle/>
          <a:p>
            <a:pPr marL="9525" marR="3810" algn="ctr">
              <a:lnSpc>
                <a:spcPts val="2850"/>
              </a:lnSpc>
            </a:pPr>
            <a:r>
              <a:rPr lang="en-US" sz="1000" dirty="0" smtClean="0">
                <a:latin typeface="Avenir Book" charset="0"/>
                <a:ea typeface="Avenir Book" charset="0"/>
                <a:cs typeface="Avenir Book" charset="0"/>
              </a:rPr>
              <a:t>x10</a:t>
            </a:r>
            <a:r>
              <a:rPr lang="en-US" sz="1000" baseline="30000" dirty="0" smtClean="0">
                <a:latin typeface="Avenir Book" charset="0"/>
                <a:ea typeface="Avenir Book" charset="0"/>
                <a:cs typeface="Avenir Book" charset="0"/>
              </a:rPr>
              <a:t>8</a:t>
            </a:r>
            <a:endParaRPr sz="1000" baseline="30000" dirty="0">
              <a:latin typeface="Avenir Book" charset="0"/>
              <a:ea typeface="Avenir Book" charset="0"/>
              <a:cs typeface="Avenir Book" charset="0"/>
            </a:endParaRPr>
          </a:p>
        </p:txBody>
      </p:sp>
      <p:sp>
        <p:nvSpPr>
          <p:cNvPr id="97" name="object 3"/>
          <p:cNvSpPr txBox="1"/>
          <p:nvPr/>
        </p:nvSpPr>
        <p:spPr>
          <a:xfrm>
            <a:off x="4274419" y="1269032"/>
            <a:ext cx="350327" cy="317395"/>
          </a:xfrm>
          <a:prstGeom prst="rect">
            <a:avLst/>
          </a:prstGeom>
        </p:spPr>
        <p:txBody>
          <a:bodyPr vert="horz" wrap="square" lIns="0" tIns="0" rIns="0" bIns="0" rtlCol="0" anchor="ctr">
            <a:spAutoFit/>
          </a:bodyPr>
          <a:lstStyle/>
          <a:p>
            <a:pPr marL="9525" marR="3810" algn="ctr">
              <a:lnSpc>
                <a:spcPts val="2850"/>
              </a:lnSpc>
            </a:pPr>
            <a:r>
              <a:rPr lang="en-US" sz="1000" dirty="0" smtClean="0">
                <a:latin typeface="Avenir Book" charset="0"/>
                <a:ea typeface="Avenir Book" charset="0"/>
                <a:cs typeface="Avenir Book" charset="0"/>
              </a:rPr>
              <a:t>x10</a:t>
            </a:r>
            <a:r>
              <a:rPr lang="en-US" sz="1000" baseline="30000" dirty="0" smtClean="0">
                <a:latin typeface="Avenir Book" charset="0"/>
                <a:ea typeface="Avenir Book" charset="0"/>
                <a:cs typeface="Avenir Book" charset="0"/>
              </a:rPr>
              <a:t>8</a:t>
            </a:r>
            <a:endParaRPr sz="1000" baseline="30000" dirty="0">
              <a:latin typeface="Avenir Book" charset="0"/>
              <a:ea typeface="Avenir Book" charset="0"/>
              <a:cs typeface="Avenir Book" charset="0"/>
            </a:endParaRPr>
          </a:p>
        </p:txBody>
      </p:sp>
      <p:sp>
        <p:nvSpPr>
          <p:cNvPr id="98" name="object 3"/>
          <p:cNvSpPr txBox="1"/>
          <p:nvPr/>
        </p:nvSpPr>
        <p:spPr>
          <a:xfrm>
            <a:off x="4324108" y="3453332"/>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1.0</a:t>
            </a:r>
            <a:endParaRPr sz="1200" dirty="0">
              <a:latin typeface="Avenir Book" charset="0"/>
              <a:ea typeface="Avenir Book" charset="0"/>
              <a:cs typeface="Avenir Book" charset="0"/>
            </a:endParaRPr>
          </a:p>
        </p:txBody>
      </p:sp>
      <p:sp>
        <p:nvSpPr>
          <p:cNvPr id="99" name="object 3"/>
          <p:cNvSpPr txBox="1"/>
          <p:nvPr/>
        </p:nvSpPr>
        <p:spPr>
          <a:xfrm>
            <a:off x="4324108" y="2911948"/>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2.0</a:t>
            </a:r>
            <a:endParaRPr sz="1200" dirty="0">
              <a:latin typeface="Avenir Book" charset="0"/>
              <a:ea typeface="Avenir Book" charset="0"/>
              <a:cs typeface="Avenir Book" charset="0"/>
            </a:endParaRPr>
          </a:p>
        </p:txBody>
      </p:sp>
      <p:sp>
        <p:nvSpPr>
          <p:cNvPr id="100" name="object 3"/>
          <p:cNvSpPr txBox="1"/>
          <p:nvPr/>
        </p:nvSpPr>
        <p:spPr>
          <a:xfrm>
            <a:off x="4324108" y="2388793"/>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3.0</a:t>
            </a:r>
            <a:endParaRPr sz="1200" dirty="0">
              <a:latin typeface="Avenir Book" charset="0"/>
              <a:ea typeface="Avenir Book" charset="0"/>
              <a:cs typeface="Avenir Book" charset="0"/>
            </a:endParaRPr>
          </a:p>
        </p:txBody>
      </p:sp>
      <p:sp>
        <p:nvSpPr>
          <p:cNvPr id="101" name="object 3"/>
          <p:cNvSpPr txBox="1"/>
          <p:nvPr/>
        </p:nvSpPr>
        <p:spPr>
          <a:xfrm>
            <a:off x="4324108" y="1860331"/>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4.0</a:t>
            </a:r>
            <a:endParaRPr sz="1200" dirty="0">
              <a:latin typeface="Avenir Book" charset="0"/>
              <a:ea typeface="Avenir Book" charset="0"/>
              <a:cs typeface="Avenir Book" charset="0"/>
            </a:endParaRPr>
          </a:p>
        </p:txBody>
      </p:sp>
      <p:sp>
        <p:nvSpPr>
          <p:cNvPr id="102" name="object 3"/>
          <p:cNvSpPr txBox="1"/>
          <p:nvPr/>
        </p:nvSpPr>
        <p:spPr>
          <a:xfrm>
            <a:off x="6882276" y="4086182"/>
            <a:ext cx="350327" cy="317395"/>
          </a:xfrm>
          <a:prstGeom prst="rect">
            <a:avLst/>
          </a:prstGeom>
        </p:spPr>
        <p:txBody>
          <a:bodyPr vert="horz" wrap="square" lIns="0" tIns="0" rIns="0" bIns="0" rtlCol="0" anchor="ctr">
            <a:spAutoFit/>
          </a:bodyPr>
          <a:lstStyle/>
          <a:p>
            <a:pPr marL="9525" marR="3810" algn="ctr">
              <a:lnSpc>
                <a:spcPts val="2850"/>
              </a:lnSpc>
            </a:pPr>
            <a:r>
              <a:rPr lang="en-US" sz="1000" dirty="0" smtClean="0">
                <a:latin typeface="Avenir Book" charset="0"/>
                <a:ea typeface="Avenir Book" charset="0"/>
                <a:cs typeface="Avenir Book" charset="0"/>
              </a:rPr>
              <a:t>x10</a:t>
            </a:r>
            <a:r>
              <a:rPr lang="en-US" sz="1000" baseline="30000" dirty="0" smtClean="0">
                <a:latin typeface="Avenir Book" charset="0"/>
                <a:ea typeface="Avenir Book" charset="0"/>
                <a:cs typeface="Avenir Book" charset="0"/>
              </a:rPr>
              <a:t>8</a:t>
            </a:r>
            <a:endParaRPr sz="1000" baseline="30000" dirty="0">
              <a:latin typeface="Avenir Book" charset="0"/>
              <a:ea typeface="Avenir Book" charset="0"/>
              <a:cs typeface="Avenir Book" charset="0"/>
            </a:endParaRPr>
          </a:p>
        </p:txBody>
      </p:sp>
      <p:sp>
        <p:nvSpPr>
          <p:cNvPr id="103" name="object 3"/>
          <p:cNvSpPr txBox="1"/>
          <p:nvPr/>
        </p:nvSpPr>
        <p:spPr>
          <a:xfrm>
            <a:off x="3894783" y="4086182"/>
            <a:ext cx="350327" cy="317395"/>
          </a:xfrm>
          <a:prstGeom prst="rect">
            <a:avLst/>
          </a:prstGeom>
        </p:spPr>
        <p:txBody>
          <a:bodyPr vert="horz" wrap="square" lIns="0" tIns="0" rIns="0" bIns="0" rtlCol="0" anchor="ctr">
            <a:spAutoFit/>
          </a:bodyPr>
          <a:lstStyle/>
          <a:p>
            <a:pPr marL="9525" marR="3810" algn="ctr">
              <a:lnSpc>
                <a:spcPts val="2850"/>
              </a:lnSpc>
            </a:pPr>
            <a:r>
              <a:rPr lang="en-US" sz="1000" dirty="0" smtClean="0">
                <a:latin typeface="Avenir Book" charset="0"/>
                <a:ea typeface="Avenir Book" charset="0"/>
                <a:cs typeface="Avenir Book" charset="0"/>
              </a:rPr>
              <a:t>x10</a:t>
            </a:r>
            <a:r>
              <a:rPr lang="en-US" sz="1000" baseline="30000" dirty="0" smtClean="0">
                <a:latin typeface="Avenir Book" charset="0"/>
                <a:ea typeface="Avenir Book" charset="0"/>
                <a:cs typeface="Avenir Book" charset="0"/>
              </a:rPr>
              <a:t>8</a:t>
            </a:r>
            <a:endParaRPr sz="1000" baseline="30000" dirty="0">
              <a:latin typeface="Avenir Book" charset="0"/>
              <a:ea typeface="Avenir Book" charset="0"/>
              <a:cs typeface="Avenir Book" charset="0"/>
            </a:endParaRPr>
          </a:p>
        </p:txBody>
      </p:sp>
      <p:cxnSp>
        <p:nvCxnSpPr>
          <p:cNvPr id="11" name="Straight Connector 10"/>
          <p:cNvCxnSpPr/>
          <p:nvPr/>
        </p:nvCxnSpPr>
        <p:spPr>
          <a:xfrm flipV="1">
            <a:off x="1656275" y="2834640"/>
            <a:ext cx="2032782" cy="1118382"/>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1508649" y="4421945"/>
            <a:ext cx="2563948" cy="415498"/>
          </a:xfrm>
          <a:prstGeom prst="rect">
            <a:avLst/>
          </a:prstGeom>
        </p:spPr>
        <p:txBody>
          <a:bodyPr wrap="square">
            <a:spAutoFit/>
          </a:bodyPr>
          <a:lstStyle/>
          <a:p>
            <a:pPr algn="ctr"/>
            <a:r>
              <a:rPr lang="en-US" sz="2100" dirty="0">
                <a:solidFill>
                  <a:srgbClr val="212121"/>
                </a:solidFill>
                <a:latin typeface="Avenir Book" charset="0"/>
                <a:ea typeface="Avenir Book" charset="0"/>
                <a:cs typeface="Avenir Book" charset="0"/>
              </a:rPr>
              <a:t>Fit the model</a:t>
            </a:r>
          </a:p>
        </p:txBody>
      </p:sp>
      <p:sp>
        <p:nvSpPr>
          <p:cNvPr id="12" name="object 2"/>
          <p:cNvSpPr txBox="1"/>
          <p:nvPr/>
        </p:nvSpPr>
        <p:spPr>
          <a:xfrm>
            <a:off x="398352" y="307119"/>
            <a:ext cx="8437829" cy="461665"/>
          </a:xfrm>
          <a:prstGeom prst="rect">
            <a:avLst/>
          </a:prstGeom>
        </p:spPr>
        <p:txBody>
          <a:bodyPr vert="horz" wrap="square" lIns="0" tIns="0" rIns="0" bIns="0" rtlCol="0">
            <a:spAutoFit/>
          </a:bodyPr>
          <a:lstStyle/>
          <a:p>
            <a:pPr marL="9525"/>
            <a:r>
              <a:rPr lang="en-US" sz="3000" spc="-26" dirty="0" smtClean="0">
                <a:latin typeface="Avenir Book" charset="0"/>
                <a:ea typeface="Avenir Book" charset="0"/>
                <a:cs typeface="Avenir Book" charset="0"/>
              </a:rPr>
              <a:t>Using Training and Test Data</a:t>
            </a:r>
          </a:p>
        </p:txBody>
      </p:sp>
      <p:sp>
        <p:nvSpPr>
          <p:cNvPr id="13" name="Rounded Rectangle 12"/>
          <p:cNvSpPr/>
          <p:nvPr/>
        </p:nvSpPr>
        <p:spPr>
          <a:xfrm>
            <a:off x="4624825" y="942535"/>
            <a:ext cx="2563948" cy="453639"/>
          </a:xfrm>
          <a:prstGeom prst="roundRect">
            <a:avLst/>
          </a:prstGeom>
          <a:solidFill>
            <a:srgbClr val="C00000">
              <a:alpha val="50196"/>
            </a:srgbClr>
          </a:solidFill>
          <a:ln w="25400">
            <a:solidFill>
              <a:schemeClr val="bg1"/>
            </a:solidFill>
          </a:ln>
        </p:spPr>
        <p:txBody>
          <a:bodyPr wrap="square" anchor="ctr" anchorCtr="0">
            <a:noAutofit/>
          </a:bodyPr>
          <a:lstStyle/>
          <a:p>
            <a:pPr algn="ctr">
              <a:lnSpc>
                <a:spcPts val="2100"/>
              </a:lnSpc>
            </a:pPr>
            <a:r>
              <a:rPr lang="en-US" sz="1800" b="1" dirty="0" smtClean="0">
                <a:solidFill>
                  <a:srgbClr val="303030"/>
                </a:solidFill>
                <a:latin typeface="Avenir Book" charset="0"/>
                <a:ea typeface="Avenir Book" charset="0"/>
                <a:cs typeface="Avenir Book" charset="0"/>
              </a:rPr>
              <a:t>Test Data</a:t>
            </a:r>
            <a:endParaRPr lang="en-US" sz="1800" b="1" dirty="0">
              <a:solidFill>
                <a:srgbClr val="303030"/>
              </a:solidFill>
              <a:latin typeface="Avenir Book" charset="0"/>
              <a:ea typeface="Avenir Book" charset="0"/>
              <a:cs typeface="Avenir Book" charset="0"/>
            </a:endParaRPr>
          </a:p>
        </p:txBody>
      </p:sp>
      <p:sp>
        <p:nvSpPr>
          <p:cNvPr id="14" name="Rounded Rectangle 13"/>
          <p:cNvSpPr/>
          <p:nvPr/>
        </p:nvSpPr>
        <p:spPr>
          <a:xfrm>
            <a:off x="1508649" y="942293"/>
            <a:ext cx="2563948" cy="453238"/>
          </a:xfrm>
          <a:prstGeom prst="roundRect">
            <a:avLst/>
          </a:prstGeom>
          <a:solidFill>
            <a:srgbClr val="0070C0">
              <a:alpha val="50196"/>
            </a:srgbClr>
          </a:solidFill>
          <a:ln w="25400">
            <a:solidFill>
              <a:schemeClr val="bg1"/>
            </a:solidFill>
          </a:ln>
        </p:spPr>
        <p:txBody>
          <a:bodyPr wrap="square" anchor="ctr" anchorCtr="0">
            <a:noAutofit/>
          </a:bodyPr>
          <a:lstStyle/>
          <a:p>
            <a:pPr algn="ctr">
              <a:lnSpc>
                <a:spcPts val="2100"/>
              </a:lnSpc>
            </a:pPr>
            <a:r>
              <a:rPr lang="en-US" sz="1800" b="1" dirty="0" smtClean="0">
                <a:solidFill>
                  <a:srgbClr val="303030"/>
                </a:solidFill>
                <a:latin typeface="Avenir Book" charset="0"/>
                <a:ea typeface="Avenir Book" charset="0"/>
                <a:cs typeface="Avenir Book" charset="0"/>
              </a:rPr>
              <a:t>Training Data</a:t>
            </a:r>
            <a:endParaRPr lang="en-US" sz="1800" b="1" dirty="0">
              <a:solidFill>
                <a:srgbClr val="303030"/>
              </a:solidFill>
              <a:latin typeface="Avenir Book" charset="0"/>
              <a:ea typeface="Avenir Book" charset="0"/>
              <a:cs typeface="Avenir Book" charset="0"/>
            </a:endParaRPr>
          </a:p>
        </p:txBody>
      </p:sp>
    </p:spTree>
    <p:extLst>
      <p:ext uri="{BB962C8B-B14F-4D97-AF65-F5344CB8AC3E}">
        <p14:creationId xmlns:p14="http://schemas.microsoft.com/office/powerpoint/2010/main" val="44204908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Straight Arrow Connector 25"/>
          <p:cNvCxnSpPr/>
          <p:nvPr/>
        </p:nvCxnSpPr>
        <p:spPr>
          <a:xfrm flipV="1">
            <a:off x="1508649" y="1489841"/>
            <a:ext cx="0" cy="266437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1508649" y="4146331"/>
            <a:ext cx="2629799" cy="15766"/>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4592155" y="1489841"/>
            <a:ext cx="0" cy="266437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4592155" y="4146331"/>
            <a:ext cx="2629799" cy="15766"/>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2207057" y="214411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1" name="Oval 30"/>
          <p:cNvSpPr/>
          <p:nvPr/>
        </p:nvSpPr>
        <p:spPr>
          <a:xfrm>
            <a:off x="2672140" y="186033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2" name="Oval 31"/>
          <p:cNvSpPr/>
          <p:nvPr/>
        </p:nvSpPr>
        <p:spPr>
          <a:xfrm>
            <a:off x="2837678" y="195492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3" name="Oval 32"/>
          <p:cNvSpPr/>
          <p:nvPr/>
        </p:nvSpPr>
        <p:spPr>
          <a:xfrm>
            <a:off x="3255464" y="195492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4" name="Oval 33"/>
          <p:cNvSpPr/>
          <p:nvPr/>
        </p:nvSpPr>
        <p:spPr>
          <a:xfrm>
            <a:off x="3484064" y="258554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5" name="Oval 34"/>
          <p:cNvSpPr/>
          <p:nvPr/>
        </p:nvSpPr>
        <p:spPr>
          <a:xfrm>
            <a:off x="3389471" y="287720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6" name="Oval 35"/>
          <p:cNvSpPr/>
          <p:nvPr/>
        </p:nvSpPr>
        <p:spPr>
          <a:xfrm>
            <a:off x="3160871" y="287720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7" name="Oval 36"/>
          <p:cNvSpPr/>
          <p:nvPr/>
        </p:nvSpPr>
        <p:spPr>
          <a:xfrm>
            <a:off x="3026864" y="297968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8" name="Oval 37"/>
          <p:cNvSpPr/>
          <p:nvPr/>
        </p:nvSpPr>
        <p:spPr>
          <a:xfrm>
            <a:off x="3176637" y="3074276"/>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39" name="Oval 38"/>
          <p:cNvSpPr/>
          <p:nvPr/>
        </p:nvSpPr>
        <p:spPr>
          <a:xfrm>
            <a:off x="3160871" y="360242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0" name="Oval 39"/>
          <p:cNvSpPr/>
          <p:nvPr/>
        </p:nvSpPr>
        <p:spPr>
          <a:xfrm>
            <a:off x="3223933" y="373642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1" name="Oval 40"/>
          <p:cNvSpPr/>
          <p:nvPr/>
        </p:nvSpPr>
        <p:spPr>
          <a:xfrm>
            <a:off x="3042630" y="3870435"/>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2" name="Oval 41"/>
          <p:cNvSpPr/>
          <p:nvPr/>
        </p:nvSpPr>
        <p:spPr>
          <a:xfrm>
            <a:off x="2790381" y="369701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3" name="Oval 42"/>
          <p:cNvSpPr/>
          <p:nvPr/>
        </p:nvSpPr>
        <p:spPr>
          <a:xfrm>
            <a:off x="2672140" y="350782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4" name="Oval 43"/>
          <p:cNvSpPr/>
          <p:nvPr/>
        </p:nvSpPr>
        <p:spPr>
          <a:xfrm>
            <a:off x="2577547" y="3413235"/>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5" name="Oval 44"/>
          <p:cNvSpPr/>
          <p:nvPr/>
        </p:nvSpPr>
        <p:spPr>
          <a:xfrm>
            <a:off x="2435658" y="336593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6" name="Oval 45"/>
          <p:cNvSpPr/>
          <p:nvPr/>
        </p:nvSpPr>
        <p:spPr>
          <a:xfrm>
            <a:off x="2695788" y="366548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7" name="Oval 46"/>
          <p:cNvSpPr/>
          <p:nvPr/>
        </p:nvSpPr>
        <p:spPr>
          <a:xfrm>
            <a:off x="2695788" y="380737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8" name="Oval 47"/>
          <p:cNvSpPr/>
          <p:nvPr/>
        </p:nvSpPr>
        <p:spPr>
          <a:xfrm>
            <a:off x="2672140" y="392561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49" name="Oval 48"/>
          <p:cNvSpPr/>
          <p:nvPr/>
        </p:nvSpPr>
        <p:spPr>
          <a:xfrm>
            <a:off x="1899630" y="331076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0" name="Oval 49"/>
          <p:cNvSpPr/>
          <p:nvPr/>
        </p:nvSpPr>
        <p:spPr>
          <a:xfrm>
            <a:off x="1852333" y="339747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1" name="Oval 50"/>
          <p:cNvSpPr/>
          <p:nvPr/>
        </p:nvSpPr>
        <p:spPr>
          <a:xfrm>
            <a:off x="1715971" y="338170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2" name="Oval 51"/>
          <p:cNvSpPr/>
          <p:nvPr/>
        </p:nvSpPr>
        <p:spPr>
          <a:xfrm>
            <a:off x="1810564" y="347629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3" name="Oval 52"/>
          <p:cNvSpPr/>
          <p:nvPr/>
        </p:nvSpPr>
        <p:spPr>
          <a:xfrm>
            <a:off x="1621378" y="366548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4" name="Oval 53"/>
          <p:cNvSpPr/>
          <p:nvPr/>
        </p:nvSpPr>
        <p:spPr>
          <a:xfrm>
            <a:off x="1574081" y="374431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55" name="Oval 54"/>
          <p:cNvSpPr/>
          <p:nvPr/>
        </p:nvSpPr>
        <p:spPr>
          <a:xfrm>
            <a:off x="1574081" y="3901966"/>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2" name="Oval 61"/>
          <p:cNvSpPr/>
          <p:nvPr/>
        </p:nvSpPr>
        <p:spPr>
          <a:xfrm>
            <a:off x="2254353" y="340535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3" name="Oval 62"/>
          <p:cNvSpPr/>
          <p:nvPr/>
        </p:nvSpPr>
        <p:spPr>
          <a:xfrm>
            <a:off x="2435658" y="347629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4" name="Oval 63"/>
          <p:cNvSpPr/>
          <p:nvPr/>
        </p:nvSpPr>
        <p:spPr>
          <a:xfrm>
            <a:off x="2506603" y="360242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5" name="Oval 64"/>
          <p:cNvSpPr/>
          <p:nvPr/>
        </p:nvSpPr>
        <p:spPr>
          <a:xfrm>
            <a:off x="2222822" y="346053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6" name="Oval 65"/>
          <p:cNvSpPr/>
          <p:nvPr/>
        </p:nvSpPr>
        <p:spPr>
          <a:xfrm>
            <a:off x="2128229" y="360242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7" name="Oval 66"/>
          <p:cNvSpPr/>
          <p:nvPr/>
        </p:nvSpPr>
        <p:spPr>
          <a:xfrm>
            <a:off x="2490837" y="3775842"/>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8" name="Oval 67"/>
          <p:cNvSpPr/>
          <p:nvPr/>
        </p:nvSpPr>
        <p:spPr>
          <a:xfrm>
            <a:off x="2317415" y="374431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9" name="Oval 68"/>
          <p:cNvSpPr/>
          <p:nvPr/>
        </p:nvSpPr>
        <p:spPr>
          <a:xfrm>
            <a:off x="2270118" y="380737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0" name="Oval 69"/>
          <p:cNvSpPr/>
          <p:nvPr/>
        </p:nvSpPr>
        <p:spPr>
          <a:xfrm>
            <a:off x="1954809" y="3641835"/>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1" name="Oval 70"/>
          <p:cNvSpPr/>
          <p:nvPr/>
        </p:nvSpPr>
        <p:spPr>
          <a:xfrm>
            <a:off x="1844451" y="364971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2" name="Oval 71"/>
          <p:cNvSpPr/>
          <p:nvPr/>
        </p:nvSpPr>
        <p:spPr>
          <a:xfrm>
            <a:off x="1797154" y="3760076"/>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3" name="Oval 72"/>
          <p:cNvSpPr/>
          <p:nvPr/>
        </p:nvSpPr>
        <p:spPr>
          <a:xfrm>
            <a:off x="2080932" y="3901966"/>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4" name="Oval 73"/>
          <p:cNvSpPr/>
          <p:nvPr/>
        </p:nvSpPr>
        <p:spPr>
          <a:xfrm>
            <a:off x="2049402" y="382313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5" name="Oval 74"/>
          <p:cNvSpPr/>
          <p:nvPr/>
        </p:nvSpPr>
        <p:spPr>
          <a:xfrm>
            <a:off x="1954808" y="378372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6" name="Oval 75"/>
          <p:cNvSpPr/>
          <p:nvPr/>
        </p:nvSpPr>
        <p:spPr>
          <a:xfrm>
            <a:off x="1875982" y="382313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7" name="Oval 76"/>
          <p:cNvSpPr/>
          <p:nvPr/>
        </p:nvSpPr>
        <p:spPr>
          <a:xfrm>
            <a:off x="1729382" y="380737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8" name="Oval 77"/>
          <p:cNvSpPr/>
          <p:nvPr/>
        </p:nvSpPr>
        <p:spPr>
          <a:xfrm>
            <a:off x="1899629" y="397291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9" name="Oval 78"/>
          <p:cNvSpPr/>
          <p:nvPr/>
        </p:nvSpPr>
        <p:spPr>
          <a:xfrm>
            <a:off x="1810564" y="3949262"/>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0" name="Oval 79"/>
          <p:cNvSpPr/>
          <p:nvPr/>
        </p:nvSpPr>
        <p:spPr>
          <a:xfrm>
            <a:off x="1668674" y="3854669"/>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1" name="Oval 80"/>
          <p:cNvSpPr/>
          <p:nvPr/>
        </p:nvSpPr>
        <p:spPr>
          <a:xfrm>
            <a:off x="1676558" y="3957145"/>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2" name="Oval 81"/>
          <p:cNvSpPr/>
          <p:nvPr/>
        </p:nvSpPr>
        <p:spPr>
          <a:xfrm>
            <a:off x="4710888" y="3996558"/>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3" name="Oval 82"/>
          <p:cNvSpPr/>
          <p:nvPr/>
        </p:nvSpPr>
        <p:spPr>
          <a:xfrm>
            <a:off x="6391581" y="3676917"/>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4" name="Oval 83"/>
          <p:cNvSpPr/>
          <p:nvPr/>
        </p:nvSpPr>
        <p:spPr>
          <a:xfrm>
            <a:off x="5915062" y="2897968"/>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5" name="Oval 84"/>
          <p:cNvSpPr/>
          <p:nvPr/>
        </p:nvSpPr>
        <p:spPr>
          <a:xfrm>
            <a:off x="5696121" y="3142444"/>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6" name="Oval 85"/>
          <p:cNvSpPr/>
          <p:nvPr/>
        </p:nvSpPr>
        <p:spPr>
          <a:xfrm>
            <a:off x="5387029" y="2701009"/>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7" name="Oval 86"/>
          <p:cNvSpPr/>
          <p:nvPr/>
        </p:nvSpPr>
        <p:spPr>
          <a:xfrm>
            <a:off x="5580211" y="3656823"/>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8" name="Oval 87"/>
          <p:cNvSpPr/>
          <p:nvPr/>
        </p:nvSpPr>
        <p:spPr>
          <a:xfrm>
            <a:off x="5434325" y="3744310"/>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9" name="Oval 88"/>
          <p:cNvSpPr/>
          <p:nvPr/>
        </p:nvSpPr>
        <p:spPr>
          <a:xfrm>
            <a:off x="5339732" y="3807373"/>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0" name="Oval 89"/>
          <p:cNvSpPr/>
          <p:nvPr/>
        </p:nvSpPr>
        <p:spPr>
          <a:xfrm>
            <a:off x="5245139" y="3925614"/>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1" name="Oval 90"/>
          <p:cNvSpPr/>
          <p:nvPr/>
        </p:nvSpPr>
        <p:spPr>
          <a:xfrm>
            <a:off x="4916950" y="3271345"/>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2" name="Oval 91"/>
          <p:cNvSpPr/>
          <p:nvPr/>
        </p:nvSpPr>
        <p:spPr>
          <a:xfrm>
            <a:off x="4964246" y="3444766"/>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3" name="Oval 92"/>
          <p:cNvSpPr/>
          <p:nvPr/>
        </p:nvSpPr>
        <p:spPr>
          <a:xfrm>
            <a:off x="4805481" y="3562230"/>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4" name="Oval 93"/>
          <p:cNvSpPr/>
          <p:nvPr/>
        </p:nvSpPr>
        <p:spPr>
          <a:xfrm>
            <a:off x="5011543" y="3562230"/>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5" name="Oval 94"/>
          <p:cNvSpPr/>
          <p:nvPr/>
        </p:nvSpPr>
        <p:spPr>
          <a:xfrm>
            <a:off x="4663591" y="3562230"/>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6" name="Oval 95"/>
          <p:cNvSpPr/>
          <p:nvPr/>
        </p:nvSpPr>
        <p:spPr>
          <a:xfrm>
            <a:off x="4663591" y="3728545"/>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7" name="Oval 96"/>
          <p:cNvSpPr/>
          <p:nvPr/>
        </p:nvSpPr>
        <p:spPr>
          <a:xfrm>
            <a:off x="5069275" y="3697681"/>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8" name="Oval 97"/>
          <p:cNvSpPr/>
          <p:nvPr/>
        </p:nvSpPr>
        <p:spPr>
          <a:xfrm>
            <a:off x="4669586" y="3823138"/>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9" name="Oval 98"/>
          <p:cNvSpPr/>
          <p:nvPr/>
        </p:nvSpPr>
        <p:spPr>
          <a:xfrm>
            <a:off x="5058839" y="3993449"/>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00" name="Oval 99"/>
          <p:cNvSpPr/>
          <p:nvPr/>
        </p:nvSpPr>
        <p:spPr>
          <a:xfrm>
            <a:off x="4964246" y="3807373"/>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01" name="Oval 100"/>
          <p:cNvSpPr/>
          <p:nvPr/>
        </p:nvSpPr>
        <p:spPr>
          <a:xfrm>
            <a:off x="4880089" y="3901966"/>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02" name="Oval 101"/>
          <p:cNvSpPr/>
          <p:nvPr/>
        </p:nvSpPr>
        <p:spPr>
          <a:xfrm>
            <a:off x="4785496" y="3949262"/>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03" name="object 3"/>
          <p:cNvSpPr txBox="1"/>
          <p:nvPr/>
        </p:nvSpPr>
        <p:spPr>
          <a:xfrm>
            <a:off x="4445440"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0.0</a:t>
            </a:r>
            <a:endParaRPr sz="1200" dirty="0">
              <a:latin typeface="Avenir Book" charset="0"/>
              <a:ea typeface="Avenir Book" charset="0"/>
              <a:cs typeface="Avenir Book" charset="0"/>
            </a:endParaRPr>
          </a:p>
        </p:txBody>
      </p:sp>
      <p:sp>
        <p:nvSpPr>
          <p:cNvPr id="104" name="object 3"/>
          <p:cNvSpPr txBox="1"/>
          <p:nvPr/>
        </p:nvSpPr>
        <p:spPr>
          <a:xfrm>
            <a:off x="5311878"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1.0</a:t>
            </a:r>
            <a:endParaRPr sz="1200" dirty="0">
              <a:latin typeface="Avenir Book" charset="0"/>
              <a:ea typeface="Avenir Book" charset="0"/>
              <a:cs typeface="Avenir Book" charset="0"/>
            </a:endParaRPr>
          </a:p>
        </p:txBody>
      </p:sp>
      <p:sp>
        <p:nvSpPr>
          <p:cNvPr id="105" name="object 3"/>
          <p:cNvSpPr txBox="1"/>
          <p:nvPr/>
        </p:nvSpPr>
        <p:spPr>
          <a:xfrm>
            <a:off x="6171178"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2.0</a:t>
            </a:r>
            <a:endParaRPr sz="1200" dirty="0">
              <a:latin typeface="Avenir Book" charset="0"/>
              <a:ea typeface="Avenir Book" charset="0"/>
              <a:cs typeface="Avenir Book" charset="0"/>
            </a:endParaRPr>
          </a:p>
        </p:txBody>
      </p:sp>
      <p:sp>
        <p:nvSpPr>
          <p:cNvPr id="106" name="object 3"/>
          <p:cNvSpPr txBox="1"/>
          <p:nvPr/>
        </p:nvSpPr>
        <p:spPr>
          <a:xfrm>
            <a:off x="1448942"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0.0</a:t>
            </a:r>
            <a:endParaRPr sz="1200" dirty="0">
              <a:latin typeface="Avenir Book" charset="0"/>
              <a:ea typeface="Avenir Book" charset="0"/>
              <a:cs typeface="Avenir Book" charset="0"/>
            </a:endParaRPr>
          </a:p>
        </p:txBody>
      </p:sp>
      <p:sp>
        <p:nvSpPr>
          <p:cNvPr id="107" name="object 3"/>
          <p:cNvSpPr txBox="1"/>
          <p:nvPr/>
        </p:nvSpPr>
        <p:spPr>
          <a:xfrm>
            <a:off x="2315380"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1.0</a:t>
            </a:r>
            <a:endParaRPr sz="1200" dirty="0">
              <a:latin typeface="Avenir Book" charset="0"/>
              <a:ea typeface="Avenir Book" charset="0"/>
              <a:cs typeface="Avenir Book" charset="0"/>
            </a:endParaRPr>
          </a:p>
        </p:txBody>
      </p:sp>
      <p:sp>
        <p:nvSpPr>
          <p:cNvPr id="108" name="object 3"/>
          <p:cNvSpPr txBox="1"/>
          <p:nvPr/>
        </p:nvSpPr>
        <p:spPr>
          <a:xfrm>
            <a:off x="3174680"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2.0</a:t>
            </a:r>
            <a:endParaRPr sz="1200" dirty="0">
              <a:latin typeface="Avenir Book" charset="0"/>
              <a:ea typeface="Avenir Book" charset="0"/>
              <a:cs typeface="Avenir Book" charset="0"/>
            </a:endParaRPr>
          </a:p>
        </p:txBody>
      </p:sp>
      <p:sp>
        <p:nvSpPr>
          <p:cNvPr id="109" name="object 3"/>
          <p:cNvSpPr txBox="1"/>
          <p:nvPr/>
        </p:nvSpPr>
        <p:spPr>
          <a:xfrm>
            <a:off x="1241992" y="3453332"/>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1.0</a:t>
            </a:r>
            <a:endParaRPr sz="1200" dirty="0">
              <a:latin typeface="Avenir Book" charset="0"/>
              <a:ea typeface="Avenir Book" charset="0"/>
              <a:cs typeface="Avenir Book" charset="0"/>
            </a:endParaRPr>
          </a:p>
        </p:txBody>
      </p:sp>
      <p:sp>
        <p:nvSpPr>
          <p:cNvPr id="110" name="object 3"/>
          <p:cNvSpPr txBox="1"/>
          <p:nvPr/>
        </p:nvSpPr>
        <p:spPr>
          <a:xfrm>
            <a:off x="1241992" y="2911948"/>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2.0</a:t>
            </a:r>
            <a:endParaRPr sz="1200" dirty="0">
              <a:latin typeface="Avenir Book" charset="0"/>
              <a:ea typeface="Avenir Book" charset="0"/>
              <a:cs typeface="Avenir Book" charset="0"/>
            </a:endParaRPr>
          </a:p>
        </p:txBody>
      </p:sp>
      <p:sp>
        <p:nvSpPr>
          <p:cNvPr id="111" name="object 3"/>
          <p:cNvSpPr txBox="1"/>
          <p:nvPr/>
        </p:nvSpPr>
        <p:spPr>
          <a:xfrm>
            <a:off x="1241992" y="2388793"/>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3.0</a:t>
            </a:r>
            <a:endParaRPr sz="1200" dirty="0">
              <a:latin typeface="Avenir Book" charset="0"/>
              <a:ea typeface="Avenir Book" charset="0"/>
              <a:cs typeface="Avenir Book" charset="0"/>
            </a:endParaRPr>
          </a:p>
        </p:txBody>
      </p:sp>
      <p:sp>
        <p:nvSpPr>
          <p:cNvPr id="112" name="object 3"/>
          <p:cNvSpPr txBox="1"/>
          <p:nvPr/>
        </p:nvSpPr>
        <p:spPr>
          <a:xfrm>
            <a:off x="1241992" y="1860331"/>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4.0</a:t>
            </a:r>
            <a:endParaRPr sz="1200" dirty="0">
              <a:latin typeface="Avenir Book" charset="0"/>
              <a:ea typeface="Avenir Book" charset="0"/>
              <a:cs typeface="Avenir Book" charset="0"/>
            </a:endParaRPr>
          </a:p>
        </p:txBody>
      </p:sp>
      <p:sp>
        <p:nvSpPr>
          <p:cNvPr id="113" name="object 3"/>
          <p:cNvSpPr txBox="1"/>
          <p:nvPr/>
        </p:nvSpPr>
        <p:spPr>
          <a:xfrm>
            <a:off x="1171061" y="1269032"/>
            <a:ext cx="350327" cy="317395"/>
          </a:xfrm>
          <a:prstGeom prst="rect">
            <a:avLst/>
          </a:prstGeom>
        </p:spPr>
        <p:txBody>
          <a:bodyPr vert="horz" wrap="square" lIns="0" tIns="0" rIns="0" bIns="0" rtlCol="0" anchor="ctr">
            <a:spAutoFit/>
          </a:bodyPr>
          <a:lstStyle/>
          <a:p>
            <a:pPr marL="9525" marR="3810" algn="ctr">
              <a:lnSpc>
                <a:spcPts val="2850"/>
              </a:lnSpc>
            </a:pPr>
            <a:r>
              <a:rPr lang="en-US" sz="1000" dirty="0" smtClean="0">
                <a:latin typeface="Avenir Book" charset="0"/>
                <a:ea typeface="Avenir Book" charset="0"/>
                <a:cs typeface="Avenir Book" charset="0"/>
              </a:rPr>
              <a:t>x10</a:t>
            </a:r>
            <a:r>
              <a:rPr lang="en-US" sz="1000" baseline="30000" dirty="0" smtClean="0">
                <a:latin typeface="Avenir Book" charset="0"/>
                <a:ea typeface="Avenir Book" charset="0"/>
                <a:cs typeface="Avenir Book" charset="0"/>
              </a:rPr>
              <a:t>8</a:t>
            </a:r>
            <a:endParaRPr sz="1000" baseline="30000" dirty="0">
              <a:latin typeface="Avenir Book" charset="0"/>
              <a:ea typeface="Avenir Book" charset="0"/>
              <a:cs typeface="Avenir Book" charset="0"/>
            </a:endParaRPr>
          </a:p>
        </p:txBody>
      </p:sp>
      <p:sp>
        <p:nvSpPr>
          <p:cNvPr id="114" name="object 3"/>
          <p:cNvSpPr txBox="1"/>
          <p:nvPr/>
        </p:nvSpPr>
        <p:spPr>
          <a:xfrm>
            <a:off x="4274419" y="1269032"/>
            <a:ext cx="350327" cy="317395"/>
          </a:xfrm>
          <a:prstGeom prst="rect">
            <a:avLst/>
          </a:prstGeom>
        </p:spPr>
        <p:txBody>
          <a:bodyPr vert="horz" wrap="square" lIns="0" tIns="0" rIns="0" bIns="0" rtlCol="0" anchor="ctr">
            <a:spAutoFit/>
          </a:bodyPr>
          <a:lstStyle/>
          <a:p>
            <a:pPr marL="9525" marR="3810" algn="ctr">
              <a:lnSpc>
                <a:spcPts val="2850"/>
              </a:lnSpc>
            </a:pPr>
            <a:r>
              <a:rPr lang="en-US" sz="1000" dirty="0" smtClean="0">
                <a:latin typeface="Avenir Book" charset="0"/>
                <a:ea typeface="Avenir Book" charset="0"/>
                <a:cs typeface="Avenir Book" charset="0"/>
              </a:rPr>
              <a:t>x10</a:t>
            </a:r>
            <a:r>
              <a:rPr lang="en-US" sz="1000" baseline="30000" dirty="0" smtClean="0">
                <a:latin typeface="Avenir Book" charset="0"/>
                <a:ea typeface="Avenir Book" charset="0"/>
                <a:cs typeface="Avenir Book" charset="0"/>
              </a:rPr>
              <a:t>8</a:t>
            </a:r>
            <a:endParaRPr sz="1000" baseline="30000" dirty="0">
              <a:latin typeface="Avenir Book" charset="0"/>
              <a:ea typeface="Avenir Book" charset="0"/>
              <a:cs typeface="Avenir Book" charset="0"/>
            </a:endParaRPr>
          </a:p>
        </p:txBody>
      </p:sp>
      <p:sp>
        <p:nvSpPr>
          <p:cNvPr id="115" name="object 3"/>
          <p:cNvSpPr txBox="1"/>
          <p:nvPr/>
        </p:nvSpPr>
        <p:spPr>
          <a:xfrm>
            <a:off x="4324108" y="3453332"/>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1.0</a:t>
            </a:r>
            <a:endParaRPr sz="1200" dirty="0">
              <a:latin typeface="Avenir Book" charset="0"/>
              <a:ea typeface="Avenir Book" charset="0"/>
              <a:cs typeface="Avenir Book" charset="0"/>
            </a:endParaRPr>
          </a:p>
        </p:txBody>
      </p:sp>
      <p:sp>
        <p:nvSpPr>
          <p:cNvPr id="116" name="object 3"/>
          <p:cNvSpPr txBox="1"/>
          <p:nvPr/>
        </p:nvSpPr>
        <p:spPr>
          <a:xfrm>
            <a:off x="4324108" y="2911948"/>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2.0</a:t>
            </a:r>
            <a:endParaRPr sz="1200" dirty="0">
              <a:latin typeface="Avenir Book" charset="0"/>
              <a:ea typeface="Avenir Book" charset="0"/>
              <a:cs typeface="Avenir Book" charset="0"/>
            </a:endParaRPr>
          </a:p>
        </p:txBody>
      </p:sp>
      <p:sp>
        <p:nvSpPr>
          <p:cNvPr id="117" name="object 3"/>
          <p:cNvSpPr txBox="1"/>
          <p:nvPr/>
        </p:nvSpPr>
        <p:spPr>
          <a:xfrm>
            <a:off x="4324108" y="2388793"/>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3.0</a:t>
            </a:r>
            <a:endParaRPr sz="1200" dirty="0">
              <a:latin typeface="Avenir Book" charset="0"/>
              <a:ea typeface="Avenir Book" charset="0"/>
              <a:cs typeface="Avenir Book" charset="0"/>
            </a:endParaRPr>
          </a:p>
        </p:txBody>
      </p:sp>
      <p:sp>
        <p:nvSpPr>
          <p:cNvPr id="118" name="object 3"/>
          <p:cNvSpPr txBox="1"/>
          <p:nvPr/>
        </p:nvSpPr>
        <p:spPr>
          <a:xfrm>
            <a:off x="4324108" y="1860331"/>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4.0</a:t>
            </a:r>
            <a:endParaRPr sz="1200" dirty="0">
              <a:latin typeface="Avenir Book" charset="0"/>
              <a:ea typeface="Avenir Book" charset="0"/>
              <a:cs typeface="Avenir Book" charset="0"/>
            </a:endParaRPr>
          </a:p>
        </p:txBody>
      </p:sp>
      <p:sp>
        <p:nvSpPr>
          <p:cNvPr id="119" name="object 3"/>
          <p:cNvSpPr txBox="1"/>
          <p:nvPr/>
        </p:nvSpPr>
        <p:spPr>
          <a:xfrm>
            <a:off x="6882276" y="4086182"/>
            <a:ext cx="350327" cy="317395"/>
          </a:xfrm>
          <a:prstGeom prst="rect">
            <a:avLst/>
          </a:prstGeom>
        </p:spPr>
        <p:txBody>
          <a:bodyPr vert="horz" wrap="square" lIns="0" tIns="0" rIns="0" bIns="0" rtlCol="0" anchor="ctr">
            <a:spAutoFit/>
          </a:bodyPr>
          <a:lstStyle/>
          <a:p>
            <a:pPr marL="9525" marR="3810" algn="ctr">
              <a:lnSpc>
                <a:spcPts val="2850"/>
              </a:lnSpc>
            </a:pPr>
            <a:r>
              <a:rPr lang="en-US" sz="1000" dirty="0" smtClean="0">
                <a:latin typeface="Avenir Book" charset="0"/>
                <a:ea typeface="Avenir Book" charset="0"/>
                <a:cs typeface="Avenir Book" charset="0"/>
              </a:rPr>
              <a:t>x10</a:t>
            </a:r>
            <a:r>
              <a:rPr lang="en-US" sz="1000" baseline="30000" dirty="0" smtClean="0">
                <a:latin typeface="Avenir Book" charset="0"/>
                <a:ea typeface="Avenir Book" charset="0"/>
                <a:cs typeface="Avenir Book" charset="0"/>
              </a:rPr>
              <a:t>8</a:t>
            </a:r>
            <a:endParaRPr sz="1000" baseline="30000" dirty="0">
              <a:latin typeface="Avenir Book" charset="0"/>
              <a:ea typeface="Avenir Book" charset="0"/>
              <a:cs typeface="Avenir Book" charset="0"/>
            </a:endParaRPr>
          </a:p>
        </p:txBody>
      </p:sp>
      <p:sp>
        <p:nvSpPr>
          <p:cNvPr id="120" name="object 3"/>
          <p:cNvSpPr txBox="1"/>
          <p:nvPr/>
        </p:nvSpPr>
        <p:spPr>
          <a:xfrm>
            <a:off x="3894783" y="4086182"/>
            <a:ext cx="350327" cy="317395"/>
          </a:xfrm>
          <a:prstGeom prst="rect">
            <a:avLst/>
          </a:prstGeom>
        </p:spPr>
        <p:txBody>
          <a:bodyPr vert="horz" wrap="square" lIns="0" tIns="0" rIns="0" bIns="0" rtlCol="0" anchor="ctr">
            <a:spAutoFit/>
          </a:bodyPr>
          <a:lstStyle/>
          <a:p>
            <a:pPr marL="9525" marR="3810" algn="ctr">
              <a:lnSpc>
                <a:spcPts val="2850"/>
              </a:lnSpc>
            </a:pPr>
            <a:r>
              <a:rPr lang="en-US" sz="1000" dirty="0" smtClean="0">
                <a:latin typeface="Avenir Book" charset="0"/>
                <a:ea typeface="Avenir Book" charset="0"/>
                <a:cs typeface="Avenir Book" charset="0"/>
              </a:rPr>
              <a:t>x10</a:t>
            </a:r>
            <a:r>
              <a:rPr lang="en-US" sz="1000" baseline="30000" dirty="0" smtClean="0">
                <a:latin typeface="Avenir Book" charset="0"/>
                <a:ea typeface="Avenir Book" charset="0"/>
                <a:cs typeface="Avenir Book" charset="0"/>
              </a:rPr>
              <a:t>8</a:t>
            </a:r>
            <a:endParaRPr sz="1000" baseline="30000" dirty="0">
              <a:latin typeface="Avenir Book" charset="0"/>
              <a:ea typeface="Avenir Book" charset="0"/>
              <a:cs typeface="Avenir Book" charset="0"/>
            </a:endParaRPr>
          </a:p>
        </p:txBody>
      </p:sp>
      <p:cxnSp>
        <p:nvCxnSpPr>
          <p:cNvPr id="3" name="Straight Connector 2"/>
          <p:cNvCxnSpPr/>
          <p:nvPr/>
        </p:nvCxnSpPr>
        <p:spPr>
          <a:xfrm flipV="1">
            <a:off x="4586609" y="2834640"/>
            <a:ext cx="2032782" cy="1118382"/>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690766" y="3802059"/>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12" name="Rectangle 11"/>
          <p:cNvSpPr/>
          <p:nvPr/>
        </p:nvSpPr>
        <p:spPr>
          <a:xfrm>
            <a:off x="5080250" y="3594698"/>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13" name="Rectangle 12"/>
          <p:cNvSpPr/>
          <p:nvPr/>
        </p:nvSpPr>
        <p:spPr>
          <a:xfrm>
            <a:off x="5439881" y="3402802"/>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14" name="Rectangle 13"/>
          <p:cNvSpPr/>
          <p:nvPr/>
        </p:nvSpPr>
        <p:spPr>
          <a:xfrm>
            <a:off x="5919110" y="3141243"/>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15" name="Rectangle 14"/>
          <p:cNvSpPr/>
          <p:nvPr/>
        </p:nvSpPr>
        <p:spPr>
          <a:xfrm>
            <a:off x="5708584" y="3257331"/>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16" name="Rectangle 15"/>
          <p:cNvSpPr/>
          <p:nvPr/>
        </p:nvSpPr>
        <p:spPr>
          <a:xfrm>
            <a:off x="6394158" y="2897968"/>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21" name="Rectangle 20"/>
          <p:cNvSpPr/>
          <p:nvPr/>
        </p:nvSpPr>
        <p:spPr>
          <a:xfrm>
            <a:off x="5334232" y="3468808"/>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22" name="Rectangle 21"/>
          <p:cNvSpPr/>
          <p:nvPr/>
        </p:nvSpPr>
        <p:spPr>
          <a:xfrm>
            <a:off x="5567671" y="3335671"/>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56" name="Rectangle 55"/>
          <p:cNvSpPr/>
          <p:nvPr/>
        </p:nvSpPr>
        <p:spPr>
          <a:xfrm>
            <a:off x="5231946" y="3528882"/>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57" name="Rectangle 56"/>
          <p:cNvSpPr/>
          <p:nvPr/>
        </p:nvSpPr>
        <p:spPr>
          <a:xfrm>
            <a:off x="5009138" y="3642189"/>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58" name="Rectangle 57"/>
          <p:cNvSpPr/>
          <p:nvPr/>
        </p:nvSpPr>
        <p:spPr>
          <a:xfrm>
            <a:off x="4924443" y="3694794"/>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59" name="Rectangle 58"/>
          <p:cNvSpPr/>
          <p:nvPr/>
        </p:nvSpPr>
        <p:spPr>
          <a:xfrm>
            <a:off x="4806761" y="3757998"/>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60" name="Rectangle 59"/>
          <p:cNvSpPr/>
          <p:nvPr/>
        </p:nvSpPr>
        <p:spPr>
          <a:xfrm>
            <a:off x="4624825" y="4398341"/>
            <a:ext cx="2563948" cy="415498"/>
          </a:xfrm>
          <a:prstGeom prst="rect">
            <a:avLst/>
          </a:prstGeom>
        </p:spPr>
        <p:txBody>
          <a:bodyPr wrap="square">
            <a:spAutoFit/>
          </a:bodyPr>
          <a:lstStyle/>
          <a:p>
            <a:pPr algn="ctr"/>
            <a:r>
              <a:rPr lang="en-US" sz="2100" dirty="0" smtClean="0">
                <a:solidFill>
                  <a:srgbClr val="212121"/>
                </a:solidFill>
                <a:latin typeface="Avenir Book" charset="0"/>
                <a:ea typeface="Avenir Book" charset="0"/>
                <a:cs typeface="Avenir Book" charset="0"/>
              </a:rPr>
              <a:t>Make predictions</a:t>
            </a:r>
            <a:endParaRPr lang="en-US" sz="2100" dirty="0">
              <a:solidFill>
                <a:srgbClr val="212121"/>
              </a:solidFill>
              <a:latin typeface="Avenir Book" charset="0"/>
              <a:ea typeface="Avenir Book" charset="0"/>
              <a:cs typeface="Avenir Book" charset="0"/>
            </a:endParaRPr>
          </a:p>
        </p:txBody>
      </p:sp>
      <p:sp>
        <p:nvSpPr>
          <p:cNvPr id="61" name="object 2"/>
          <p:cNvSpPr txBox="1"/>
          <p:nvPr/>
        </p:nvSpPr>
        <p:spPr>
          <a:xfrm>
            <a:off x="398352" y="307119"/>
            <a:ext cx="8437829" cy="461665"/>
          </a:xfrm>
          <a:prstGeom prst="rect">
            <a:avLst/>
          </a:prstGeom>
        </p:spPr>
        <p:txBody>
          <a:bodyPr vert="horz" wrap="square" lIns="0" tIns="0" rIns="0" bIns="0" rtlCol="0">
            <a:spAutoFit/>
          </a:bodyPr>
          <a:lstStyle/>
          <a:p>
            <a:pPr marL="9525"/>
            <a:r>
              <a:rPr lang="en-US" sz="3000" spc="-26" dirty="0" smtClean="0">
                <a:latin typeface="Avenir Book" charset="0"/>
                <a:ea typeface="Avenir Book" charset="0"/>
                <a:cs typeface="Avenir Book" charset="0"/>
              </a:rPr>
              <a:t>Using Training and Test Data</a:t>
            </a:r>
          </a:p>
        </p:txBody>
      </p:sp>
      <p:sp>
        <p:nvSpPr>
          <p:cNvPr id="24" name="Rounded Rectangle 23"/>
          <p:cNvSpPr/>
          <p:nvPr/>
        </p:nvSpPr>
        <p:spPr>
          <a:xfrm>
            <a:off x="4624825" y="942535"/>
            <a:ext cx="2563948" cy="453639"/>
          </a:xfrm>
          <a:prstGeom prst="roundRect">
            <a:avLst/>
          </a:prstGeom>
          <a:solidFill>
            <a:srgbClr val="C00000">
              <a:alpha val="50196"/>
            </a:srgbClr>
          </a:solidFill>
          <a:ln w="25400">
            <a:solidFill>
              <a:schemeClr val="bg1"/>
            </a:solidFill>
          </a:ln>
        </p:spPr>
        <p:txBody>
          <a:bodyPr wrap="square" anchor="ctr" anchorCtr="0">
            <a:noAutofit/>
          </a:bodyPr>
          <a:lstStyle/>
          <a:p>
            <a:pPr algn="ctr">
              <a:lnSpc>
                <a:spcPts val="2100"/>
              </a:lnSpc>
            </a:pPr>
            <a:r>
              <a:rPr lang="en-US" sz="1800" b="1" dirty="0" smtClean="0">
                <a:solidFill>
                  <a:srgbClr val="303030"/>
                </a:solidFill>
                <a:latin typeface="Avenir Book" charset="0"/>
                <a:ea typeface="Avenir Book" charset="0"/>
                <a:cs typeface="Avenir Book" charset="0"/>
              </a:rPr>
              <a:t>Test Data</a:t>
            </a:r>
            <a:endParaRPr lang="en-US" sz="1800" b="1" dirty="0">
              <a:solidFill>
                <a:srgbClr val="303030"/>
              </a:solidFill>
              <a:latin typeface="Avenir Book" charset="0"/>
              <a:ea typeface="Avenir Book" charset="0"/>
              <a:cs typeface="Avenir Book" charset="0"/>
            </a:endParaRPr>
          </a:p>
        </p:txBody>
      </p:sp>
      <p:sp>
        <p:nvSpPr>
          <p:cNvPr id="25" name="Rounded Rectangle 24"/>
          <p:cNvSpPr/>
          <p:nvPr/>
        </p:nvSpPr>
        <p:spPr>
          <a:xfrm>
            <a:off x="1508649" y="942293"/>
            <a:ext cx="2563948" cy="453238"/>
          </a:xfrm>
          <a:prstGeom prst="roundRect">
            <a:avLst/>
          </a:prstGeom>
          <a:solidFill>
            <a:srgbClr val="0070C0">
              <a:alpha val="50196"/>
            </a:srgbClr>
          </a:solidFill>
          <a:ln w="25400">
            <a:solidFill>
              <a:schemeClr val="bg1"/>
            </a:solidFill>
          </a:ln>
        </p:spPr>
        <p:txBody>
          <a:bodyPr wrap="square" anchor="ctr" anchorCtr="0">
            <a:noAutofit/>
          </a:bodyPr>
          <a:lstStyle/>
          <a:p>
            <a:pPr algn="ctr">
              <a:lnSpc>
                <a:spcPts val="2100"/>
              </a:lnSpc>
            </a:pPr>
            <a:r>
              <a:rPr lang="en-US" sz="1800" b="1" dirty="0" smtClean="0">
                <a:solidFill>
                  <a:srgbClr val="303030"/>
                </a:solidFill>
                <a:latin typeface="Avenir Book" charset="0"/>
                <a:ea typeface="Avenir Book" charset="0"/>
                <a:cs typeface="Avenir Book" charset="0"/>
              </a:rPr>
              <a:t>Training Data</a:t>
            </a:r>
            <a:endParaRPr lang="en-US" sz="1800" b="1" dirty="0">
              <a:solidFill>
                <a:srgbClr val="303030"/>
              </a:solidFill>
              <a:latin typeface="Avenir Book" charset="0"/>
              <a:ea typeface="Avenir Book" charset="0"/>
              <a:cs typeface="Avenir Book" charset="0"/>
            </a:endParaRPr>
          </a:p>
        </p:txBody>
      </p:sp>
    </p:spTree>
    <p:extLst>
      <p:ext uri="{BB962C8B-B14F-4D97-AF65-F5344CB8AC3E}">
        <p14:creationId xmlns:p14="http://schemas.microsoft.com/office/powerpoint/2010/main" val="5023426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p:nvPr/>
        </p:nvCxnSpPr>
        <p:spPr>
          <a:xfrm flipH="1">
            <a:off x="6442613" y="2935334"/>
            <a:ext cx="6749" cy="732768"/>
          </a:xfrm>
          <a:prstGeom prst="line">
            <a:avLst/>
          </a:prstGeom>
          <a:ln w="19050">
            <a:solidFill>
              <a:schemeClr val="bg1">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5455734" y="2736452"/>
            <a:ext cx="1" cy="705112"/>
          </a:xfrm>
          <a:prstGeom prst="line">
            <a:avLst/>
          </a:prstGeom>
          <a:ln w="19050">
            <a:solidFill>
              <a:schemeClr val="bg1">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5751818" y="3170235"/>
            <a:ext cx="1" cy="131483"/>
          </a:xfrm>
          <a:prstGeom prst="line">
            <a:avLst/>
          </a:prstGeom>
          <a:ln w="19050">
            <a:solidFill>
              <a:schemeClr val="bg1">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4955160" y="3322028"/>
            <a:ext cx="6748" cy="406147"/>
          </a:xfrm>
          <a:prstGeom prst="line">
            <a:avLst/>
          </a:prstGeom>
          <a:ln w="19050">
            <a:solidFill>
              <a:schemeClr val="bg1">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5488336" y="3448381"/>
            <a:ext cx="0" cy="319738"/>
          </a:xfrm>
          <a:prstGeom prst="line">
            <a:avLst/>
          </a:prstGeom>
          <a:ln w="19050">
            <a:solidFill>
              <a:schemeClr val="bg1">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5102483" y="3665376"/>
            <a:ext cx="0" cy="319738"/>
          </a:xfrm>
          <a:prstGeom prst="line">
            <a:avLst/>
          </a:prstGeom>
          <a:ln w="19050">
            <a:solidFill>
              <a:schemeClr val="bg1">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5967565" y="2910850"/>
            <a:ext cx="3606" cy="274780"/>
          </a:xfrm>
          <a:prstGeom prst="line">
            <a:avLst/>
          </a:prstGeom>
          <a:ln w="19050">
            <a:solidFill>
              <a:schemeClr val="bg1">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4729099" y="3646659"/>
            <a:ext cx="10122" cy="222295"/>
          </a:xfrm>
          <a:prstGeom prst="line">
            <a:avLst/>
          </a:prstGeom>
          <a:ln w="19050">
            <a:solidFill>
              <a:schemeClr val="bg1">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4775797" y="3834854"/>
            <a:ext cx="0" cy="168135"/>
          </a:xfrm>
          <a:prstGeom prst="line">
            <a:avLst/>
          </a:prstGeom>
          <a:ln w="19050">
            <a:solidFill>
              <a:schemeClr val="bg1">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5128705" y="3630143"/>
            <a:ext cx="0" cy="120643"/>
          </a:xfrm>
          <a:prstGeom prst="line">
            <a:avLst/>
          </a:prstGeom>
          <a:ln w="19050">
            <a:solidFill>
              <a:schemeClr val="bg1">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4853403" y="3784887"/>
            <a:ext cx="0" cy="168135"/>
          </a:xfrm>
          <a:prstGeom prst="line">
            <a:avLst/>
          </a:prstGeom>
          <a:ln w="19050">
            <a:solidFill>
              <a:schemeClr val="bg1">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5021040" y="3690464"/>
            <a:ext cx="0" cy="168135"/>
          </a:xfrm>
          <a:prstGeom prst="line">
            <a:avLst/>
          </a:prstGeom>
          <a:ln w="19050">
            <a:solidFill>
              <a:schemeClr val="bg1">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5024414" y="3518473"/>
            <a:ext cx="0" cy="168135"/>
          </a:xfrm>
          <a:prstGeom prst="line">
            <a:avLst/>
          </a:prstGeom>
          <a:ln w="19050">
            <a:solidFill>
              <a:schemeClr val="bg1">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H="1">
            <a:off x="4878793" y="3646255"/>
            <a:ext cx="3215" cy="146532"/>
          </a:xfrm>
          <a:prstGeom prst="line">
            <a:avLst/>
          </a:prstGeom>
          <a:ln w="19050">
            <a:solidFill>
              <a:schemeClr val="bg1">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623120" y="3381857"/>
            <a:ext cx="0" cy="319738"/>
          </a:xfrm>
          <a:prstGeom prst="line">
            <a:avLst/>
          </a:prstGeom>
          <a:ln w="19050">
            <a:solidFill>
              <a:schemeClr val="bg1">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5383786" y="3518473"/>
            <a:ext cx="0" cy="319738"/>
          </a:xfrm>
          <a:prstGeom prst="line">
            <a:avLst/>
          </a:prstGeom>
          <a:ln w="19050">
            <a:solidFill>
              <a:schemeClr val="bg1">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H="1">
            <a:off x="5279186" y="3558423"/>
            <a:ext cx="1506" cy="399724"/>
          </a:xfrm>
          <a:prstGeom prst="line">
            <a:avLst/>
          </a:prstGeom>
          <a:ln w="19050">
            <a:solidFill>
              <a:schemeClr val="bg1">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flipV="1">
            <a:off x="4569002" y="2834640"/>
            <a:ext cx="2032782" cy="1118382"/>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flipV="1">
            <a:off x="1508649" y="1489841"/>
            <a:ext cx="0" cy="266437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1508649" y="4146331"/>
            <a:ext cx="2629799" cy="15766"/>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V="1">
            <a:off x="4592155" y="1489841"/>
            <a:ext cx="0" cy="2664373"/>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4592155" y="4146331"/>
            <a:ext cx="2629799" cy="15766"/>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1" name="Oval 60"/>
          <p:cNvSpPr/>
          <p:nvPr/>
        </p:nvSpPr>
        <p:spPr>
          <a:xfrm>
            <a:off x="2207057" y="214411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2" name="Oval 61"/>
          <p:cNvSpPr/>
          <p:nvPr/>
        </p:nvSpPr>
        <p:spPr>
          <a:xfrm>
            <a:off x="2672140" y="186033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3" name="Oval 62"/>
          <p:cNvSpPr/>
          <p:nvPr/>
        </p:nvSpPr>
        <p:spPr>
          <a:xfrm>
            <a:off x="2837678" y="195492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4" name="Oval 63"/>
          <p:cNvSpPr/>
          <p:nvPr/>
        </p:nvSpPr>
        <p:spPr>
          <a:xfrm>
            <a:off x="3255464" y="195492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5" name="Oval 64"/>
          <p:cNvSpPr/>
          <p:nvPr/>
        </p:nvSpPr>
        <p:spPr>
          <a:xfrm>
            <a:off x="3484064" y="258554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6" name="Oval 65"/>
          <p:cNvSpPr/>
          <p:nvPr/>
        </p:nvSpPr>
        <p:spPr>
          <a:xfrm>
            <a:off x="3389471" y="287720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7" name="Oval 66"/>
          <p:cNvSpPr/>
          <p:nvPr/>
        </p:nvSpPr>
        <p:spPr>
          <a:xfrm>
            <a:off x="3160871" y="287720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8" name="Oval 67"/>
          <p:cNvSpPr/>
          <p:nvPr/>
        </p:nvSpPr>
        <p:spPr>
          <a:xfrm>
            <a:off x="3026864" y="297968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69" name="Oval 68"/>
          <p:cNvSpPr/>
          <p:nvPr/>
        </p:nvSpPr>
        <p:spPr>
          <a:xfrm>
            <a:off x="3176637" y="3074276"/>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0" name="Oval 69"/>
          <p:cNvSpPr/>
          <p:nvPr/>
        </p:nvSpPr>
        <p:spPr>
          <a:xfrm>
            <a:off x="3160871" y="360242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1" name="Oval 70"/>
          <p:cNvSpPr/>
          <p:nvPr/>
        </p:nvSpPr>
        <p:spPr>
          <a:xfrm>
            <a:off x="3223933" y="373642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2" name="Oval 71"/>
          <p:cNvSpPr/>
          <p:nvPr/>
        </p:nvSpPr>
        <p:spPr>
          <a:xfrm>
            <a:off x="3042630" y="3870435"/>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3" name="Oval 72"/>
          <p:cNvSpPr/>
          <p:nvPr/>
        </p:nvSpPr>
        <p:spPr>
          <a:xfrm>
            <a:off x="2790381" y="369701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4" name="Oval 73"/>
          <p:cNvSpPr/>
          <p:nvPr/>
        </p:nvSpPr>
        <p:spPr>
          <a:xfrm>
            <a:off x="2672140" y="350782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5" name="Oval 74"/>
          <p:cNvSpPr/>
          <p:nvPr/>
        </p:nvSpPr>
        <p:spPr>
          <a:xfrm>
            <a:off x="2577547" y="3413235"/>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6" name="Oval 75"/>
          <p:cNvSpPr/>
          <p:nvPr/>
        </p:nvSpPr>
        <p:spPr>
          <a:xfrm>
            <a:off x="2435658" y="336593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7" name="Oval 76"/>
          <p:cNvSpPr/>
          <p:nvPr/>
        </p:nvSpPr>
        <p:spPr>
          <a:xfrm>
            <a:off x="2695788" y="366548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8" name="Oval 77"/>
          <p:cNvSpPr/>
          <p:nvPr/>
        </p:nvSpPr>
        <p:spPr>
          <a:xfrm>
            <a:off x="2695788" y="380737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79" name="Oval 78"/>
          <p:cNvSpPr/>
          <p:nvPr/>
        </p:nvSpPr>
        <p:spPr>
          <a:xfrm>
            <a:off x="2672140" y="392561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0" name="Oval 79"/>
          <p:cNvSpPr/>
          <p:nvPr/>
        </p:nvSpPr>
        <p:spPr>
          <a:xfrm>
            <a:off x="1899630" y="331076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1" name="Oval 80"/>
          <p:cNvSpPr/>
          <p:nvPr/>
        </p:nvSpPr>
        <p:spPr>
          <a:xfrm>
            <a:off x="1852333" y="339747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2" name="Oval 81"/>
          <p:cNvSpPr/>
          <p:nvPr/>
        </p:nvSpPr>
        <p:spPr>
          <a:xfrm>
            <a:off x="1715971" y="338170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3" name="Oval 82"/>
          <p:cNvSpPr/>
          <p:nvPr/>
        </p:nvSpPr>
        <p:spPr>
          <a:xfrm>
            <a:off x="1810564" y="347629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4" name="Oval 83"/>
          <p:cNvSpPr/>
          <p:nvPr/>
        </p:nvSpPr>
        <p:spPr>
          <a:xfrm>
            <a:off x="1621378" y="366548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5" name="Oval 84"/>
          <p:cNvSpPr/>
          <p:nvPr/>
        </p:nvSpPr>
        <p:spPr>
          <a:xfrm>
            <a:off x="1574081" y="374431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6" name="Oval 85"/>
          <p:cNvSpPr/>
          <p:nvPr/>
        </p:nvSpPr>
        <p:spPr>
          <a:xfrm>
            <a:off x="1574081" y="3901966"/>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7" name="Oval 86"/>
          <p:cNvSpPr/>
          <p:nvPr/>
        </p:nvSpPr>
        <p:spPr>
          <a:xfrm>
            <a:off x="2254353" y="340535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8" name="Oval 87"/>
          <p:cNvSpPr/>
          <p:nvPr/>
        </p:nvSpPr>
        <p:spPr>
          <a:xfrm>
            <a:off x="2435658" y="347629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89" name="Oval 88"/>
          <p:cNvSpPr/>
          <p:nvPr/>
        </p:nvSpPr>
        <p:spPr>
          <a:xfrm>
            <a:off x="2506603" y="360242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0" name="Oval 89"/>
          <p:cNvSpPr/>
          <p:nvPr/>
        </p:nvSpPr>
        <p:spPr>
          <a:xfrm>
            <a:off x="2222822" y="346053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1" name="Oval 90"/>
          <p:cNvSpPr/>
          <p:nvPr/>
        </p:nvSpPr>
        <p:spPr>
          <a:xfrm>
            <a:off x="2128229" y="3602421"/>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2" name="Oval 91"/>
          <p:cNvSpPr/>
          <p:nvPr/>
        </p:nvSpPr>
        <p:spPr>
          <a:xfrm>
            <a:off x="2490837" y="3775842"/>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3" name="Oval 92"/>
          <p:cNvSpPr/>
          <p:nvPr/>
        </p:nvSpPr>
        <p:spPr>
          <a:xfrm>
            <a:off x="2317415" y="374431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4" name="Oval 93"/>
          <p:cNvSpPr/>
          <p:nvPr/>
        </p:nvSpPr>
        <p:spPr>
          <a:xfrm>
            <a:off x="2270118" y="380737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5" name="Oval 94"/>
          <p:cNvSpPr/>
          <p:nvPr/>
        </p:nvSpPr>
        <p:spPr>
          <a:xfrm>
            <a:off x="1954809" y="3641835"/>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6" name="Oval 95"/>
          <p:cNvSpPr/>
          <p:nvPr/>
        </p:nvSpPr>
        <p:spPr>
          <a:xfrm>
            <a:off x="1844451" y="3649717"/>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7" name="Oval 96"/>
          <p:cNvSpPr/>
          <p:nvPr/>
        </p:nvSpPr>
        <p:spPr>
          <a:xfrm>
            <a:off x="1797154" y="3760076"/>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8" name="Oval 97"/>
          <p:cNvSpPr/>
          <p:nvPr/>
        </p:nvSpPr>
        <p:spPr>
          <a:xfrm>
            <a:off x="2080932" y="3901966"/>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99" name="Oval 98"/>
          <p:cNvSpPr/>
          <p:nvPr/>
        </p:nvSpPr>
        <p:spPr>
          <a:xfrm>
            <a:off x="2049402" y="382313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00" name="Oval 99"/>
          <p:cNvSpPr/>
          <p:nvPr/>
        </p:nvSpPr>
        <p:spPr>
          <a:xfrm>
            <a:off x="1954808" y="3783724"/>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01" name="Oval 100"/>
          <p:cNvSpPr/>
          <p:nvPr/>
        </p:nvSpPr>
        <p:spPr>
          <a:xfrm>
            <a:off x="1875982" y="3823138"/>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02" name="Oval 101"/>
          <p:cNvSpPr/>
          <p:nvPr/>
        </p:nvSpPr>
        <p:spPr>
          <a:xfrm>
            <a:off x="1729382" y="3807373"/>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03" name="Oval 102"/>
          <p:cNvSpPr/>
          <p:nvPr/>
        </p:nvSpPr>
        <p:spPr>
          <a:xfrm>
            <a:off x="1899629" y="3972910"/>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04" name="Oval 103"/>
          <p:cNvSpPr/>
          <p:nvPr/>
        </p:nvSpPr>
        <p:spPr>
          <a:xfrm>
            <a:off x="1810564" y="3949262"/>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05" name="Oval 104"/>
          <p:cNvSpPr/>
          <p:nvPr/>
        </p:nvSpPr>
        <p:spPr>
          <a:xfrm>
            <a:off x="1668674" y="3854669"/>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06" name="Oval 105"/>
          <p:cNvSpPr/>
          <p:nvPr/>
        </p:nvSpPr>
        <p:spPr>
          <a:xfrm>
            <a:off x="1676558" y="3957145"/>
            <a:ext cx="94593" cy="94593"/>
          </a:xfrm>
          <a:prstGeom prst="ellipse">
            <a:avLst/>
          </a:prstGeom>
          <a:gradFill>
            <a:gsLst>
              <a:gs pos="75000">
                <a:srgbClr val="0070C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07" name="Oval 106"/>
          <p:cNvSpPr/>
          <p:nvPr/>
        </p:nvSpPr>
        <p:spPr>
          <a:xfrm>
            <a:off x="4710888" y="3996558"/>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08" name="Oval 107"/>
          <p:cNvSpPr/>
          <p:nvPr/>
        </p:nvSpPr>
        <p:spPr>
          <a:xfrm>
            <a:off x="6391581" y="3676917"/>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09" name="Oval 108"/>
          <p:cNvSpPr/>
          <p:nvPr/>
        </p:nvSpPr>
        <p:spPr>
          <a:xfrm>
            <a:off x="5915062" y="2897968"/>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10" name="Oval 109"/>
          <p:cNvSpPr/>
          <p:nvPr/>
        </p:nvSpPr>
        <p:spPr>
          <a:xfrm>
            <a:off x="5696121" y="3142444"/>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11" name="Oval 110"/>
          <p:cNvSpPr/>
          <p:nvPr/>
        </p:nvSpPr>
        <p:spPr>
          <a:xfrm>
            <a:off x="5387029" y="2701009"/>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12" name="Oval 111"/>
          <p:cNvSpPr/>
          <p:nvPr/>
        </p:nvSpPr>
        <p:spPr>
          <a:xfrm>
            <a:off x="5580211" y="3656823"/>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13" name="Oval 112"/>
          <p:cNvSpPr/>
          <p:nvPr/>
        </p:nvSpPr>
        <p:spPr>
          <a:xfrm>
            <a:off x="5434325" y="3744310"/>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14" name="Oval 113"/>
          <p:cNvSpPr/>
          <p:nvPr/>
        </p:nvSpPr>
        <p:spPr>
          <a:xfrm>
            <a:off x="5339732" y="3807373"/>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15" name="Oval 114"/>
          <p:cNvSpPr/>
          <p:nvPr/>
        </p:nvSpPr>
        <p:spPr>
          <a:xfrm>
            <a:off x="5245139" y="3925614"/>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16" name="Oval 115"/>
          <p:cNvSpPr/>
          <p:nvPr/>
        </p:nvSpPr>
        <p:spPr>
          <a:xfrm>
            <a:off x="4916950" y="3271345"/>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17" name="Oval 116"/>
          <p:cNvSpPr/>
          <p:nvPr/>
        </p:nvSpPr>
        <p:spPr>
          <a:xfrm>
            <a:off x="4964246" y="3444766"/>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18" name="Oval 117"/>
          <p:cNvSpPr/>
          <p:nvPr/>
        </p:nvSpPr>
        <p:spPr>
          <a:xfrm>
            <a:off x="4805481" y="3562230"/>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19" name="Oval 118"/>
          <p:cNvSpPr/>
          <p:nvPr/>
        </p:nvSpPr>
        <p:spPr>
          <a:xfrm>
            <a:off x="5011543" y="3562230"/>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20" name="Oval 119"/>
          <p:cNvSpPr/>
          <p:nvPr/>
        </p:nvSpPr>
        <p:spPr>
          <a:xfrm>
            <a:off x="4663591" y="3562230"/>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21" name="Oval 120"/>
          <p:cNvSpPr/>
          <p:nvPr/>
        </p:nvSpPr>
        <p:spPr>
          <a:xfrm>
            <a:off x="4663591" y="3728545"/>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22" name="Oval 121"/>
          <p:cNvSpPr/>
          <p:nvPr/>
        </p:nvSpPr>
        <p:spPr>
          <a:xfrm>
            <a:off x="5069275" y="3697681"/>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23" name="Oval 122"/>
          <p:cNvSpPr/>
          <p:nvPr/>
        </p:nvSpPr>
        <p:spPr>
          <a:xfrm>
            <a:off x="4669586" y="3823138"/>
            <a:ext cx="94593" cy="94593"/>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24" name="Oval 123"/>
          <p:cNvSpPr/>
          <p:nvPr/>
        </p:nvSpPr>
        <p:spPr>
          <a:xfrm>
            <a:off x="5058839" y="3993449"/>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25" name="Oval 124"/>
          <p:cNvSpPr/>
          <p:nvPr/>
        </p:nvSpPr>
        <p:spPr>
          <a:xfrm>
            <a:off x="4964246" y="3807373"/>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26" name="Oval 125"/>
          <p:cNvSpPr/>
          <p:nvPr/>
        </p:nvSpPr>
        <p:spPr>
          <a:xfrm>
            <a:off x="4880089" y="3901966"/>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27" name="Oval 126"/>
          <p:cNvSpPr/>
          <p:nvPr/>
        </p:nvSpPr>
        <p:spPr>
          <a:xfrm>
            <a:off x="4785496" y="3949262"/>
            <a:ext cx="94593" cy="94593"/>
          </a:xfrm>
          <a:prstGeom prst="ellipse">
            <a:avLst/>
          </a:prstGeom>
          <a:gradFill>
            <a:gsLst>
              <a:gs pos="75000">
                <a:srgbClr val="C0000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endParaRPr>
          </a:p>
        </p:txBody>
      </p:sp>
      <p:sp>
        <p:nvSpPr>
          <p:cNvPr id="128" name="object 3"/>
          <p:cNvSpPr txBox="1"/>
          <p:nvPr/>
        </p:nvSpPr>
        <p:spPr>
          <a:xfrm>
            <a:off x="4445440"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0.0</a:t>
            </a:r>
            <a:endParaRPr sz="1200" dirty="0">
              <a:latin typeface="Avenir Book" charset="0"/>
              <a:ea typeface="Avenir Book" charset="0"/>
              <a:cs typeface="Avenir Book" charset="0"/>
            </a:endParaRPr>
          </a:p>
        </p:txBody>
      </p:sp>
      <p:sp>
        <p:nvSpPr>
          <p:cNvPr id="129" name="object 3"/>
          <p:cNvSpPr txBox="1"/>
          <p:nvPr/>
        </p:nvSpPr>
        <p:spPr>
          <a:xfrm>
            <a:off x="5311878"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1.0</a:t>
            </a:r>
            <a:endParaRPr sz="1200" dirty="0">
              <a:latin typeface="Avenir Book" charset="0"/>
              <a:ea typeface="Avenir Book" charset="0"/>
              <a:cs typeface="Avenir Book" charset="0"/>
            </a:endParaRPr>
          </a:p>
        </p:txBody>
      </p:sp>
      <p:sp>
        <p:nvSpPr>
          <p:cNvPr id="130" name="object 3"/>
          <p:cNvSpPr txBox="1"/>
          <p:nvPr/>
        </p:nvSpPr>
        <p:spPr>
          <a:xfrm>
            <a:off x="6171178"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2.0</a:t>
            </a:r>
            <a:endParaRPr sz="1200" dirty="0">
              <a:latin typeface="Avenir Book" charset="0"/>
              <a:ea typeface="Avenir Book" charset="0"/>
              <a:cs typeface="Avenir Book" charset="0"/>
            </a:endParaRPr>
          </a:p>
        </p:txBody>
      </p:sp>
      <p:sp>
        <p:nvSpPr>
          <p:cNvPr id="131" name="object 3"/>
          <p:cNvSpPr txBox="1"/>
          <p:nvPr/>
        </p:nvSpPr>
        <p:spPr>
          <a:xfrm>
            <a:off x="1448942"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0.0</a:t>
            </a:r>
            <a:endParaRPr sz="1200" dirty="0">
              <a:latin typeface="Avenir Book" charset="0"/>
              <a:ea typeface="Avenir Book" charset="0"/>
              <a:cs typeface="Avenir Book" charset="0"/>
            </a:endParaRPr>
          </a:p>
        </p:txBody>
      </p:sp>
      <p:sp>
        <p:nvSpPr>
          <p:cNvPr id="132" name="object 3"/>
          <p:cNvSpPr txBox="1"/>
          <p:nvPr/>
        </p:nvSpPr>
        <p:spPr>
          <a:xfrm>
            <a:off x="2315380"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1.0</a:t>
            </a:r>
            <a:endParaRPr sz="1200" dirty="0">
              <a:latin typeface="Avenir Book" charset="0"/>
              <a:ea typeface="Avenir Book" charset="0"/>
              <a:cs typeface="Avenir Book" charset="0"/>
            </a:endParaRPr>
          </a:p>
        </p:txBody>
      </p:sp>
      <p:sp>
        <p:nvSpPr>
          <p:cNvPr id="133" name="object 3"/>
          <p:cNvSpPr txBox="1"/>
          <p:nvPr/>
        </p:nvSpPr>
        <p:spPr>
          <a:xfrm>
            <a:off x="3174680" y="4097220"/>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2.0</a:t>
            </a:r>
            <a:endParaRPr sz="1200" dirty="0">
              <a:latin typeface="Avenir Book" charset="0"/>
              <a:ea typeface="Avenir Book" charset="0"/>
              <a:cs typeface="Avenir Book" charset="0"/>
            </a:endParaRPr>
          </a:p>
        </p:txBody>
      </p:sp>
      <p:sp>
        <p:nvSpPr>
          <p:cNvPr id="134" name="object 3"/>
          <p:cNvSpPr txBox="1"/>
          <p:nvPr/>
        </p:nvSpPr>
        <p:spPr>
          <a:xfrm>
            <a:off x="1241992" y="3453332"/>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1.0</a:t>
            </a:r>
            <a:endParaRPr sz="1200" dirty="0">
              <a:latin typeface="Avenir Book" charset="0"/>
              <a:ea typeface="Avenir Book" charset="0"/>
              <a:cs typeface="Avenir Book" charset="0"/>
            </a:endParaRPr>
          </a:p>
        </p:txBody>
      </p:sp>
      <p:sp>
        <p:nvSpPr>
          <p:cNvPr id="135" name="object 3"/>
          <p:cNvSpPr txBox="1"/>
          <p:nvPr/>
        </p:nvSpPr>
        <p:spPr>
          <a:xfrm>
            <a:off x="1241992" y="2911948"/>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2.0</a:t>
            </a:r>
            <a:endParaRPr sz="1200" dirty="0">
              <a:latin typeface="Avenir Book" charset="0"/>
              <a:ea typeface="Avenir Book" charset="0"/>
              <a:cs typeface="Avenir Book" charset="0"/>
            </a:endParaRPr>
          </a:p>
        </p:txBody>
      </p:sp>
      <p:sp>
        <p:nvSpPr>
          <p:cNvPr id="136" name="object 3"/>
          <p:cNvSpPr txBox="1"/>
          <p:nvPr/>
        </p:nvSpPr>
        <p:spPr>
          <a:xfrm>
            <a:off x="1241992" y="2388793"/>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3.0</a:t>
            </a:r>
            <a:endParaRPr sz="1200" dirty="0">
              <a:latin typeface="Avenir Book" charset="0"/>
              <a:ea typeface="Avenir Book" charset="0"/>
              <a:cs typeface="Avenir Book" charset="0"/>
            </a:endParaRPr>
          </a:p>
        </p:txBody>
      </p:sp>
      <p:sp>
        <p:nvSpPr>
          <p:cNvPr id="137" name="object 3"/>
          <p:cNvSpPr txBox="1"/>
          <p:nvPr/>
        </p:nvSpPr>
        <p:spPr>
          <a:xfrm>
            <a:off x="1241992" y="1860331"/>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4.0</a:t>
            </a:r>
            <a:endParaRPr sz="1200" dirty="0">
              <a:latin typeface="Avenir Book" charset="0"/>
              <a:ea typeface="Avenir Book" charset="0"/>
              <a:cs typeface="Avenir Book" charset="0"/>
            </a:endParaRPr>
          </a:p>
        </p:txBody>
      </p:sp>
      <p:sp>
        <p:nvSpPr>
          <p:cNvPr id="138" name="object 3"/>
          <p:cNvSpPr txBox="1"/>
          <p:nvPr/>
        </p:nvSpPr>
        <p:spPr>
          <a:xfrm>
            <a:off x="1171061" y="1269032"/>
            <a:ext cx="350327" cy="317395"/>
          </a:xfrm>
          <a:prstGeom prst="rect">
            <a:avLst/>
          </a:prstGeom>
        </p:spPr>
        <p:txBody>
          <a:bodyPr vert="horz" wrap="square" lIns="0" tIns="0" rIns="0" bIns="0" rtlCol="0" anchor="ctr">
            <a:spAutoFit/>
          </a:bodyPr>
          <a:lstStyle/>
          <a:p>
            <a:pPr marL="9525" marR="3810" algn="ctr">
              <a:lnSpc>
                <a:spcPts val="2850"/>
              </a:lnSpc>
            </a:pPr>
            <a:r>
              <a:rPr lang="en-US" sz="1000" dirty="0" smtClean="0">
                <a:latin typeface="Avenir Book" charset="0"/>
                <a:ea typeface="Avenir Book" charset="0"/>
                <a:cs typeface="Avenir Book" charset="0"/>
              </a:rPr>
              <a:t>x10</a:t>
            </a:r>
            <a:r>
              <a:rPr lang="en-US" sz="1000" baseline="30000" dirty="0" smtClean="0">
                <a:latin typeface="Avenir Book" charset="0"/>
                <a:ea typeface="Avenir Book" charset="0"/>
                <a:cs typeface="Avenir Book" charset="0"/>
              </a:rPr>
              <a:t>8</a:t>
            </a:r>
            <a:endParaRPr sz="1000" baseline="30000" dirty="0">
              <a:latin typeface="Avenir Book" charset="0"/>
              <a:ea typeface="Avenir Book" charset="0"/>
              <a:cs typeface="Avenir Book" charset="0"/>
            </a:endParaRPr>
          </a:p>
        </p:txBody>
      </p:sp>
      <p:sp>
        <p:nvSpPr>
          <p:cNvPr id="139" name="object 3"/>
          <p:cNvSpPr txBox="1"/>
          <p:nvPr/>
        </p:nvSpPr>
        <p:spPr>
          <a:xfrm>
            <a:off x="4274419" y="1269032"/>
            <a:ext cx="350327" cy="317395"/>
          </a:xfrm>
          <a:prstGeom prst="rect">
            <a:avLst/>
          </a:prstGeom>
        </p:spPr>
        <p:txBody>
          <a:bodyPr vert="horz" wrap="square" lIns="0" tIns="0" rIns="0" bIns="0" rtlCol="0" anchor="ctr">
            <a:spAutoFit/>
          </a:bodyPr>
          <a:lstStyle/>
          <a:p>
            <a:pPr marL="9525" marR="3810" algn="ctr">
              <a:lnSpc>
                <a:spcPts val="2850"/>
              </a:lnSpc>
            </a:pPr>
            <a:r>
              <a:rPr lang="en-US" sz="1000" dirty="0" smtClean="0">
                <a:latin typeface="Avenir Book" charset="0"/>
                <a:ea typeface="Avenir Book" charset="0"/>
                <a:cs typeface="Avenir Book" charset="0"/>
              </a:rPr>
              <a:t>x10</a:t>
            </a:r>
            <a:r>
              <a:rPr lang="en-US" sz="1000" baseline="30000" dirty="0" smtClean="0">
                <a:latin typeface="Avenir Book" charset="0"/>
                <a:ea typeface="Avenir Book" charset="0"/>
                <a:cs typeface="Avenir Book" charset="0"/>
              </a:rPr>
              <a:t>8</a:t>
            </a:r>
            <a:endParaRPr sz="1000" baseline="30000" dirty="0">
              <a:latin typeface="Avenir Book" charset="0"/>
              <a:ea typeface="Avenir Book" charset="0"/>
              <a:cs typeface="Avenir Book" charset="0"/>
            </a:endParaRPr>
          </a:p>
        </p:txBody>
      </p:sp>
      <p:sp>
        <p:nvSpPr>
          <p:cNvPr id="140" name="object 3"/>
          <p:cNvSpPr txBox="1"/>
          <p:nvPr/>
        </p:nvSpPr>
        <p:spPr>
          <a:xfrm>
            <a:off x="4324108" y="3453332"/>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1.0</a:t>
            </a:r>
            <a:endParaRPr sz="1200" dirty="0">
              <a:latin typeface="Avenir Book" charset="0"/>
              <a:ea typeface="Avenir Book" charset="0"/>
              <a:cs typeface="Avenir Book" charset="0"/>
            </a:endParaRPr>
          </a:p>
        </p:txBody>
      </p:sp>
      <p:sp>
        <p:nvSpPr>
          <p:cNvPr id="141" name="object 3"/>
          <p:cNvSpPr txBox="1"/>
          <p:nvPr/>
        </p:nvSpPr>
        <p:spPr>
          <a:xfrm>
            <a:off x="4324108" y="2911948"/>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2.0</a:t>
            </a:r>
            <a:endParaRPr sz="1200" dirty="0">
              <a:latin typeface="Avenir Book" charset="0"/>
              <a:ea typeface="Avenir Book" charset="0"/>
              <a:cs typeface="Avenir Book" charset="0"/>
            </a:endParaRPr>
          </a:p>
        </p:txBody>
      </p:sp>
      <p:sp>
        <p:nvSpPr>
          <p:cNvPr id="142" name="object 3"/>
          <p:cNvSpPr txBox="1"/>
          <p:nvPr/>
        </p:nvSpPr>
        <p:spPr>
          <a:xfrm>
            <a:off x="4324108" y="2388793"/>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3.0</a:t>
            </a:r>
            <a:endParaRPr sz="1200" dirty="0">
              <a:latin typeface="Avenir Book" charset="0"/>
              <a:ea typeface="Avenir Book" charset="0"/>
              <a:cs typeface="Avenir Book" charset="0"/>
            </a:endParaRPr>
          </a:p>
        </p:txBody>
      </p:sp>
      <p:sp>
        <p:nvSpPr>
          <p:cNvPr id="143" name="object 3"/>
          <p:cNvSpPr txBox="1"/>
          <p:nvPr/>
        </p:nvSpPr>
        <p:spPr>
          <a:xfrm>
            <a:off x="4324108" y="1860331"/>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4.0</a:t>
            </a:r>
            <a:endParaRPr sz="1200" dirty="0">
              <a:latin typeface="Avenir Book" charset="0"/>
              <a:ea typeface="Avenir Book" charset="0"/>
              <a:cs typeface="Avenir Book" charset="0"/>
            </a:endParaRPr>
          </a:p>
        </p:txBody>
      </p:sp>
      <p:sp>
        <p:nvSpPr>
          <p:cNvPr id="144" name="object 3"/>
          <p:cNvSpPr txBox="1"/>
          <p:nvPr/>
        </p:nvSpPr>
        <p:spPr>
          <a:xfrm>
            <a:off x="6882276" y="4086182"/>
            <a:ext cx="350327" cy="317395"/>
          </a:xfrm>
          <a:prstGeom prst="rect">
            <a:avLst/>
          </a:prstGeom>
        </p:spPr>
        <p:txBody>
          <a:bodyPr vert="horz" wrap="square" lIns="0" tIns="0" rIns="0" bIns="0" rtlCol="0" anchor="ctr">
            <a:spAutoFit/>
          </a:bodyPr>
          <a:lstStyle/>
          <a:p>
            <a:pPr marL="9525" marR="3810" algn="ctr">
              <a:lnSpc>
                <a:spcPts val="2850"/>
              </a:lnSpc>
            </a:pPr>
            <a:r>
              <a:rPr lang="en-US" sz="1000" dirty="0" smtClean="0">
                <a:latin typeface="Avenir Book" charset="0"/>
                <a:ea typeface="Avenir Book" charset="0"/>
                <a:cs typeface="Avenir Book" charset="0"/>
              </a:rPr>
              <a:t>x10</a:t>
            </a:r>
            <a:r>
              <a:rPr lang="en-US" sz="1000" baseline="30000" dirty="0" smtClean="0">
                <a:latin typeface="Avenir Book" charset="0"/>
                <a:ea typeface="Avenir Book" charset="0"/>
                <a:cs typeface="Avenir Book" charset="0"/>
              </a:rPr>
              <a:t>8</a:t>
            </a:r>
            <a:endParaRPr sz="1000" baseline="30000" dirty="0">
              <a:latin typeface="Avenir Book" charset="0"/>
              <a:ea typeface="Avenir Book" charset="0"/>
              <a:cs typeface="Avenir Book" charset="0"/>
            </a:endParaRPr>
          </a:p>
        </p:txBody>
      </p:sp>
      <p:sp>
        <p:nvSpPr>
          <p:cNvPr id="145" name="object 3"/>
          <p:cNvSpPr txBox="1"/>
          <p:nvPr/>
        </p:nvSpPr>
        <p:spPr>
          <a:xfrm>
            <a:off x="3894783" y="4086182"/>
            <a:ext cx="350327" cy="317395"/>
          </a:xfrm>
          <a:prstGeom prst="rect">
            <a:avLst/>
          </a:prstGeom>
        </p:spPr>
        <p:txBody>
          <a:bodyPr vert="horz" wrap="square" lIns="0" tIns="0" rIns="0" bIns="0" rtlCol="0" anchor="ctr">
            <a:spAutoFit/>
          </a:bodyPr>
          <a:lstStyle/>
          <a:p>
            <a:pPr marL="9525" marR="3810" algn="ctr">
              <a:lnSpc>
                <a:spcPts val="2850"/>
              </a:lnSpc>
            </a:pPr>
            <a:r>
              <a:rPr lang="en-US" sz="1000" dirty="0" smtClean="0">
                <a:latin typeface="Avenir Book" charset="0"/>
                <a:ea typeface="Avenir Book" charset="0"/>
                <a:cs typeface="Avenir Book" charset="0"/>
              </a:rPr>
              <a:t>x10</a:t>
            </a:r>
            <a:r>
              <a:rPr lang="en-US" sz="1000" baseline="30000" dirty="0" smtClean="0">
                <a:latin typeface="Avenir Book" charset="0"/>
                <a:ea typeface="Avenir Book" charset="0"/>
                <a:cs typeface="Avenir Book" charset="0"/>
              </a:rPr>
              <a:t>8</a:t>
            </a:r>
            <a:endParaRPr sz="1000" baseline="30000" dirty="0">
              <a:latin typeface="Avenir Book" charset="0"/>
              <a:ea typeface="Avenir Book" charset="0"/>
              <a:cs typeface="Avenir Book" charset="0"/>
            </a:endParaRPr>
          </a:p>
        </p:txBody>
      </p:sp>
      <p:sp>
        <p:nvSpPr>
          <p:cNvPr id="17" name="Rectangle 16"/>
          <p:cNvSpPr/>
          <p:nvPr/>
        </p:nvSpPr>
        <p:spPr>
          <a:xfrm>
            <a:off x="4624825" y="4304150"/>
            <a:ext cx="2563948" cy="415498"/>
          </a:xfrm>
          <a:prstGeom prst="rect">
            <a:avLst/>
          </a:prstGeom>
        </p:spPr>
        <p:txBody>
          <a:bodyPr wrap="square">
            <a:spAutoFit/>
          </a:bodyPr>
          <a:lstStyle/>
          <a:p>
            <a:pPr algn="ctr"/>
            <a:r>
              <a:rPr lang="en-US" sz="2100" dirty="0" smtClean="0">
                <a:solidFill>
                  <a:srgbClr val="212121"/>
                </a:solidFill>
                <a:latin typeface="Avenir Book" charset="0"/>
                <a:ea typeface="Avenir Book" charset="0"/>
                <a:cs typeface="Avenir Book" charset="0"/>
              </a:rPr>
              <a:t>Measure error</a:t>
            </a:r>
            <a:endParaRPr lang="en-US" sz="2100" dirty="0">
              <a:solidFill>
                <a:srgbClr val="212121"/>
              </a:solidFill>
              <a:latin typeface="Avenir Book" charset="0"/>
              <a:ea typeface="Avenir Book" charset="0"/>
              <a:cs typeface="Avenir Book" charset="0"/>
            </a:endParaRPr>
          </a:p>
        </p:txBody>
      </p:sp>
      <p:cxnSp>
        <p:nvCxnSpPr>
          <p:cNvPr id="42" name="Straight Connector 41"/>
          <p:cNvCxnSpPr/>
          <p:nvPr/>
        </p:nvCxnSpPr>
        <p:spPr>
          <a:xfrm flipH="1">
            <a:off x="5489774" y="3617527"/>
            <a:ext cx="1231" cy="57457"/>
          </a:xfrm>
          <a:prstGeom prst="line">
            <a:avLst/>
          </a:prstGeom>
          <a:ln>
            <a:solidFill>
              <a:schemeClr val="bg1">
                <a:lumMod val="90000"/>
                <a:lumOff val="10000"/>
              </a:schemeClr>
            </a:solidFill>
          </a:ln>
        </p:spPr>
        <p:style>
          <a:lnRef idx="1">
            <a:schemeClr val="accent1"/>
          </a:lnRef>
          <a:fillRef idx="0">
            <a:schemeClr val="accent1"/>
          </a:fillRef>
          <a:effectRef idx="0">
            <a:schemeClr val="accent1"/>
          </a:effectRef>
          <a:fontRef idx="minor">
            <a:schemeClr val="tx1"/>
          </a:fontRef>
        </p:style>
      </p:cxnSp>
      <p:sp>
        <p:nvSpPr>
          <p:cNvPr id="43" name="object 2"/>
          <p:cNvSpPr txBox="1"/>
          <p:nvPr/>
        </p:nvSpPr>
        <p:spPr>
          <a:xfrm>
            <a:off x="398352" y="307119"/>
            <a:ext cx="8437829" cy="461665"/>
          </a:xfrm>
          <a:prstGeom prst="rect">
            <a:avLst/>
          </a:prstGeom>
        </p:spPr>
        <p:txBody>
          <a:bodyPr vert="horz" wrap="square" lIns="0" tIns="0" rIns="0" bIns="0" rtlCol="0">
            <a:spAutoFit/>
          </a:bodyPr>
          <a:lstStyle/>
          <a:p>
            <a:pPr marL="9525"/>
            <a:r>
              <a:rPr lang="en-US" sz="3000" spc="-26" dirty="0" smtClean="0">
                <a:latin typeface="Avenir Book" charset="0"/>
                <a:ea typeface="Avenir Book" charset="0"/>
                <a:cs typeface="Avenir Book" charset="0"/>
              </a:rPr>
              <a:t>Using Training and Test Data</a:t>
            </a:r>
          </a:p>
        </p:txBody>
      </p:sp>
      <p:sp>
        <p:nvSpPr>
          <p:cNvPr id="45" name="Rounded Rectangle 44"/>
          <p:cNvSpPr/>
          <p:nvPr/>
        </p:nvSpPr>
        <p:spPr>
          <a:xfrm>
            <a:off x="4624825" y="942535"/>
            <a:ext cx="2563948" cy="453639"/>
          </a:xfrm>
          <a:prstGeom prst="roundRect">
            <a:avLst/>
          </a:prstGeom>
          <a:solidFill>
            <a:srgbClr val="C00000">
              <a:alpha val="50196"/>
            </a:srgbClr>
          </a:solidFill>
          <a:ln w="25400">
            <a:solidFill>
              <a:schemeClr val="bg1"/>
            </a:solidFill>
          </a:ln>
        </p:spPr>
        <p:txBody>
          <a:bodyPr wrap="square" anchor="ctr" anchorCtr="0">
            <a:noAutofit/>
          </a:bodyPr>
          <a:lstStyle/>
          <a:p>
            <a:pPr algn="ctr">
              <a:lnSpc>
                <a:spcPts val="2100"/>
              </a:lnSpc>
            </a:pPr>
            <a:r>
              <a:rPr lang="en-US" sz="1800" b="1" dirty="0" smtClean="0">
                <a:solidFill>
                  <a:srgbClr val="303030"/>
                </a:solidFill>
                <a:latin typeface="Avenir Book" charset="0"/>
                <a:ea typeface="Avenir Book" charset="0"/>
                <a:cs typeface="Avenir Book" charset="0"/>
              </a:rPr>
              <a:t>Test Data</a:t>
            </a:r>
            <a:endParaRPr lang="en-US" sz="1800" b="1" dirty="0">
              <a:solidFill>
                <a:srgbClr val="303030"/>
              </a:solidFill>
              <a:latin typeface="Avenir Book" charset="0"/>
              <a:ea typeface="Avenir Book" charset="0"/>
              <a:cs typeface="Avenir Book" charset="0"/>
            </a:endParaRPr>
          </a:p>
        </p:txBody>
      </p:sp>
      <p:sp>
        <p:nvSpPr>
          <p:cNvPr id="52" name="Rounded Rectangle 51"/>
          <p:cNvSpPr/>
          <p:nvPr/>
        </p:nvSpPr>
        <p:spPr>
          <a:xfrm>
            <a:off x="1508649" y="942293"/>
            <a:ext cx="2563948" cy="453238"/>
          </a:xfrm>
          <a:prstGeom prst="roundRect">
            <a:avLst/>
          </a:prstGeom>
          <a:solidFill>
            <a:srgbClr val="0070C0">
              <a:alpha val="50196"/>
            </a:srgbClr>
          </a:solidFill>
          <a:ln w="25400">
            <a:solidFill>
              <a:schemeClr val="bg1"/>
            </a:solidFill>
          </a:ln>
        </p:spPr>
        <p:txBody>
          <a:bodyPr wrap="square" anchor="ctr" anchorCtr="0">
            <a:noAutofit/>
          </a:bodyPr>
          <a:lstStyle/>
          <a:p>
            <a:pPr algn="ctr">
              <a:lnSpc>
                <a:spcPts val="2100"/>
              </a:lnSpc>
            </a:pPr>
            <a:r>
              <a:rPr lang="en-US" sz="1800" b="1" dirty="0" smtClean="0">
                <a:solidFill>
                  <a:srgbClr val="303030"/>
                </a:solidFill>
                <a:latin typeface="Avenir Book" charset="0"/>
                <a:ea typeface="Avenir Book" charset="0"/>
                <a:cs typeface="Avenir Book" charset="0"/>
              </a:rPr>
              <a:t>Training Data</a:t>
            </a:r>
            <a:endParaRPr lang="en-US" sz="1800" b="1" dirty="0">
              <a:solidFill>
                <a:srgbClr val="303030"/>
              </a:solidFill>
              <a:latin typeface="Avenir Book" charset="0"/>
              <a:ea typeface="Avenir Book" charset="0"/>
              <a:cs typeface="Avenir Book" charset="0"/>
            </a:endParaRPr>
          </a:p>
        </p:txBody>
      </p:sp>
      <p:sp>
        <p:nvSpPr>
          <p:cNvPr id="204" name="Rectangle 203"/>
          <p:cNvSpPr/>
          <p:nvPr/>
        </p:nvSpPr>
        <p:spPr>
          <a:xfrm>
            <a:off x="4690766" y="3802059"/>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205" name="Rectangle 204"/>
          <p:cNvSpPr/>
          <p:nvPr/>
        </p:nvSpPr>
        <p:spPr>
          <a:xfrm>
            <a:off x="5080250" y="3594698"/>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206" name="Rectangle 205"/>
          <p:cNvSpPr/>
          <p:nvPr/>
        </p:nvSpPr>
        <p:spPr>
          <a:xfrm>
            <a:off x="5439881" y="3402802"/>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207" name="Rectangle 206"/>
          <p:cNvSpPr/>
          <p:nvPr/>
        </p:nvSpPr>
        <p:spPr>
          <a:xfrm>
            <a:off x="5919110" y="3141243"/>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208" name="Rectangle 207"/>
          <p:cNvSpPr/>
          <p:nvPr/>
        </p:nvSpPr>
        <p:spPr>
          <a:xfrm>
            <a:off x="5708584" y="3257331"/>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209" name="Rectangle 208"/>
          <p:cNvSpPr/>
          <p:nvPr/>
        </p:nvSpPr>
        <p:spPr>
          <a:xfrm>
            <a:off x="6394158" y="2897968"/>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210" name="Rectangle 209"/>
          <p:cNvSpPr/>
          <p:nvPr/>
        </p:nvSpPr>
        <p:spPr>
          <a:xfrm>
            <a:off x="5334232" y="3468808"/>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211" name="Rectangle 210"/>
          <p:cNvSpPr/>
          <p:nvPr/>
        </p:nvSpPr>
        <p:spPr>
          <a:xfrm>
            <a:off x="5567671" y="3335671"/>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212" name="Rectangle 211"/>
          <p:cNvSpPr/>
          <p:nvPr/>
        </p:nvSpPr>
        <p:spPr>
          <a:xfrm>
            <a:off x="5231946" y="3528882"/>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213" name="Rectangle 212"/>
          <p:cNvSpPr/>
          <p:nvPr/>
        </p:nvSpPr>
        <p:spPr>
          <a:xfrm>
            <a:off x="5009138" y="3642189"/>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214" name="Rectangle 213"/>
          <p:cNvSpPr/>
          <p:nvPr/>
        </p:nvSpPr>
        <p:spPr>
          <a:xfrm>
            <a:off x="4924443" y="3694794"/>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
        <p:nvSpPr>
          <p:cNvPr id="215" name="Rectangle 214"/>
          <p:cNvSpPr/>
          <p:nvPr/>
        </p:nvSpPr>
        <p:spPr>
          <a:xfrm>
            <a:off x="4806761" y="3757998"/>
            <a:ext cx="109728" cy="109728"/>
          </a:xfrm>
          <a:prstGeom prst="rect">
            <a:avLst/>
          </a:prstGeom>
          <a:gradFill>
            <a:gsLst>
              <a:gs pos="75000">
                <a:srgbClr val="7030A0"/>
              </a:gs>
              <a:gs pos="0">
                <a:schemeClr val="tx1"/>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12121"/>
              </a:solidFill>
              <a:latin typeface="Avenir Book" charset="0"/>
              <a:ea typeface="Avenir Book" charset="0"/>
              <a:cs typeface="Avenir Book" charset="0"/>
            </a:endParaRPr>
          </a:p>
        </p:txBody>
      </p:sp>
    </p:spTree>
    <p:extLst>
      <p:ext uri="{BB962C8B-B14F-4D97-AF65-F5344CB8AC3E}">
        <p14:creationId xmlns:p14="http://schemas.microsoft.com/office/powerpoint/2010/main" val="18439140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p:cNvSpPr txBox="1"/>
          <p:nvPr/>
        </p:nvSpPr>
        <p:spPr>
          <a:xfrm>
            <a:off x="398352" y="307119"/>
            <a:ext cx="8437829" cy="461665"/>
          </a:xfrm>
          <a:prstGeom prst="rect">
            <a:avLst/>
          </a:prstGeom>
        </p:spPr>
        <p:txBody>
          <a:bodyPr vert="horz" wrap="square" lIns="0" tIns="0" rIns="0" bIns="0" rtlCol="0">
            <a:spAutoFit/>
          </a:bodyPr>
          <a:lstStyle/>
          <a:p>
            <a:pPr marL="9525"/>
            <a:r>
              <a:rPr lang="en-US" sz="3000" spc="-26" dirty="0" smtClean="0">
                <a:latin typeface="Avenir Book" charset="0"/>
                <a:ea typeface="Avenir Book" charset="0"/>
                <a:cs typeface="Avenir Book" charset="0"/>
              </a:rPr>
              <a:t>How Well Does the Model Generalize?</a:t>
            </a:r>
          </a:p>
        </p:txBody>
      </p:sp>
      <p:sp>
        <p:nvSpPr>
          <p:cNvPr id="4" name="Rectangle 3"/>
          <p:cNvSpPr/>
          <p:nvPr/>
        </p:nvSpPr>
        <p:spPr>
          <a:xfrm>
            <a:off x="979202" y="4013657"/>
            <a:ext cx="2297425" cy="646331"/>
          </a:xfrm>
          <a:prstGeom prst="rect">
            <a:avLst/>
          </a:prstGeom>
        </p:spPr>
        <p:txBody>
          <a:bodyPr wrap="none">
            <a:spAutoFit/>
          </a:bodyPr>
          <a:lstStyle/>
          <a:p>
            <a:pPr algn="ctr"/>
            <a:r>
              <a:rPr lang="en-US" sz="1800" b="1" dirty="0" smtClean="0">
                <a:solidFill>
                  <a:schemeClr val="bg1"/>
                </a:solidFill>
                <a:latin typeface="Avenir Book" charset="0"/>
                <a:ea typeface="Avenir Book" charset="0"/>
                <a:cs typeface="Avenir Book" charset="0"/>
              </a:rPr>
              <a:t>Poor on Training Set</a:t>
            </a:r>
          </a:p>
          <a:p>
            <a:pPr algn="ctr"/>
            <a:r>
              <a:rPr lang="en-US" sz="1800" b="1" dirty="0" smtClean="0">
                <a:solidFill>
                  <a:schemeClr val="bg1"/>
                </a:solidFill>
                <a:latin typeface="Avenir Book" charset="0"/>
                <a:ea typeface="Avenir Book" charset="0"/>
                <a:cs typeface="Avenir Book" charset="0"/>
              </a:rPr>
              <a:t>Poor at Predicting</a:t>
            </a:r>
            <a:endParaRPr lang="en-US" sz="1800" b="1" dirty="0">
              <a:solidFill>
                <a:schemeClr val="bg1"/>
              </a:solidFill>
              <a:latin typeface="Avenir Book" charset="0"/>
              <a:ea typeface="Avenir Book" charset="0"/>
              <a:cs typeface="Avenir Book" charset="0"/>
            </a:endParaRPr>
          </a:p>
        </p:txBody>
      </p:sp>
      <p:sp>
        <p:nvSpPr>
          <p:cNvPr id="7" name="Rectangle 6"/>
          <p:cNvSpPr/>
          <p:nvPr/>
        </p:nvSpPr>
        <p:spPr>
          <a:xfrm>
            <a:off x="4129182" y="4152156"/>
            <a:ext cx="1200970" cy="369332"/>
          </a:xfrm>
          <a:prstGeom prst="rect">
            <a:avLst/>
          </a:prstGeom>
        </p:spPr>
        <p:txBody>
          <a:bodyPr wrap="none">
            <a:spAutoFit/>
          </a:bodyPr>
          <a:lstStyle/>
          <a:p>
            <a:r>
              <a:rPr lang="en-US" sz="1800" b="1" dirty="0">
                <a:solidFill>
                  <a:schemeClr val="bg1"/>
                </a:solidFill>
                <a:latin typeface="Avenir Book" charset="0"/>
                <a:ea typeface="Avenir Book" charset="0"/>
                <a:cs typeface="Avenir Book" charset="0"/>
              </a:rPr>
              <a:t>Just Right</a:t>
            </a:r>
          </a:p>
        </p:txBody>
      </p:sp>
      <p:sp>
        <p:nvSpPr>
          <p:cNvPr id="8" name="Rectangle 7"/>
          <p:cNvSpPr/>
          <p:nvPr/>
        </p:nvSpPr>
        <p:spPr>
          <a:xfrm>
            <a:off x="5921901" y="4013657"/>
            <a:ext cx="2929008" cy="646331"/>
          </a:xfrm>
          <a:prstGeom prst="rect">
            <a:avLst/>
          </a:prstGeom>
        </p:spPr>
        <p:txBody>
          <a:bodyPr wrap="none">
            <a:spAutoFit/>
          </a:bodyPr>
          <a:lstStyle/>
          <a:p>
            <a:pPr algn="ctr"/>
            <a:r>
              <a:rPr lang="en-US" sz="1800" b="1" dirty="0" smtClean="0">
                <a:solidFill>
                  <a:schemeClr val="bg1"/>
                </a:solidFill>
                <a:latin typeface="Avenir Book" charset="0"/>
                <a:ea typeface="Avenir Book" charset="0"/>
                <a:cs typeface="Avenir Book" charset="0"/>
              </a:rPr>
              <a:t>Very Good on Training Set</a:t>
            </a:r>
          </a:p>
          <a:p>
            <a:pPr algn="ctr"/>
            <a:r>
              <a:rPr lang="en-US" sz="1800" b="1" dirty="0" smtClean="0">
                <a:solidFill>
                  <a:schemeClr val="bg1"/>
                </a:solidFill>
                <a:latin typeface="Avenir Book" charset="0"/>
                <a:ea typeface="Avenir Book" charset="0"/>
                <a:cs typeface="Avenir Book" charset="0"/>
              </a:rPr>
              <a:t>Poor at Predicting</a:t>
            </a:r>
            <a:endParaRPr lang="en-US" sz="1800" b="1" dirty="0">
              <a:solidFill>
                <a:schemeClr val="bg1"/>
              </a:solidFill>
              <a:latin typeface="Avenir Book" charset="0"/>
              <a:ea typeface="Avenir Book" charset="0"/>
              <a:cs typeface="Avenir Book" charset="0"/>
            </a:endParaRPr>
          </a:p>
        </p:txBody>
      </p:sp>
      <p:cxnSp>
        <p:nvCxnSpPr>
          <p:cNvPr id="10" name="Straight Arrow Connector 9"/>
          <p:cNvCxnSpPr/>
          <p:nvPr/>
        </p:nvCxnSpPr>
        <p:spPr>
          <a:xfrm flipV="1">
            <a:off x="1066800" y="1524000"/>
            <a:ext cx="10160" cy="216408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1066800" y="3688080"/>
            <a:ext cx="2174240" cy="1016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Freeform 11"/>
          <p:cNvSpPr/>
          <p:nvPr/>
        </p:nvSpPr>
        <p:spPr>
          <a:xfrm>
            <a:off x="1071475" y="2092461"/>
            <a:ext cx="2114900" cy="1071475"/>
          </a:xfrm>
          <a:custGeom>
            <a:avLst/>
            <a:gdLst>
              <a:gd name="connsiteX0" fmla="*/ 0 w 2114900"/>
              <a:gd name="connsiteY0" fmla="*/ 0 h 1071475"/>
              <a:gd name="connsiteX1" fmla="*/ 201953 w 2114900"/>
              <a:gd name="connsiteY1" fmla="*/ 39269 h 1071475"/>
              <a:gd name="connsiteX2" fmla="*/ 409516 w 2114900"/>
              <a:gd name="connsiteY2" fmla="*/ 207564 h 1071475"/>
              <a:gd name="connsiteX3" fmla="*/ 544152 w 2114900"/>
              <a:gd name="connsiteY3" fmla="*/ 347809 h 1071475"/>
              <a:gd name="connsiteX4" fmla="*/ 718056 w 2114900"/>
              <a:gd name="connsiteY4" fmla="*/ 544152 h 1071475"/>
              <a:gd name="connsiteX5" fmla="*/ 886351 w 2114900"/>
              <a:gd name="connsiteY5" fmla="*/ 740496 h 1071475"/>
              <a:gd name="connsiteX6" fmla="*/ 1015377 w 2114900"/>
              <a:gd name="connsiteY6" fmla="*/ 869522 h 1071475"/>
              <a:gd name="connsiteX7" fmla="*/ 1211720 w 2114900"/>
              <a:gd name="connsiteY7" fmla="*/ 1020987 h 1071475"/>
              <a:gd name="connsiteX8" fmla="*/ 1413673 w 2114900"/>
              <a:gd name="connsiteY8" fmla="*/ 1071475 h 1071475"/>
              <a:gd name="connsiteX9" fmla="*/ 1626846 w 2114900"/>
              <a:gd name="connsiteY9" fmla="*/ 1020987 h 1071475"/>
              <a:gd name="connsiteX10" fmla="*/ 1817580 w 2114900"/>
              <a:gd name="connsiteY10" fmla="*/ 875132 h 1071475"/>
              <a:gd name="connsiteX11" fmla="*/ 2114900 w 2114900"/>
              <a:gd name="connsiteY11" fmla="*/ 555372 h 1071475"/>
              <a:gd name="connsiteX12" fmla="*/ 2114900 w 2114900"/>
              <a:gd name="connsiteY12" fmla="*/ 555372 h 10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14900" h="1071475">
                <a:moveTo>
                  <a:pt x="0" y="0"/>
                </a:moveTo>
                <a:cubicBezTo>
                  <a:pt x="66850" y="2337"/>
                  <a:pt x="133700" y="4675"/>
                  <a:pt x="201953" y="39269"/>
                </a:cubicBezTo>
                <a:cubicBezTo>
                  <a:pt x="270206" y="73863"/>
                  <a:pt x="352483" y="156141"/>
                  <a:pt x="409516" y="207564"/>
                </a:cubicBezTo>
                <a:cubicBezTo>
                  <a:pt x="466549" y="258987"/>
                  <a:pt x="492729" y="291711"/>
                  <a:pt x="544152" y="347809"/>
                </a:cubicBezTo>
                <a:cubicBezTo>
                  <a:pt x="595575" y="403907"/>
                  <a:pt x="661023" y="478704"/>
                  <a:pt x="718056" y="544152"/>
                </a:cubicBezTo>
                <a:cubicBezTo>
                  <a:pt x="775089" y="609600"/>
                  <a:pt x="836798" y="686268"/>
                  <a:pt x="886351" y="740496"/>
                </a:cubicBezTo>
                <a:cubicBezTo>
                  <a:pt x="935904" y="794724"/>
                  <a:pt x="961149" y="822774"/>
                  <a:pt x="1015377" y="869522"/>
                </a:cubicBezTo>
                <a:cubicBezTo>
                  <a:pt x="1069605" y="916270"/>
                  <a:pt x="1145337" y="987328"/>
                  <a:pt x="1211720" y="1020987"/>
                </a:cubicBezTo>
                <a:cubicBezTo>
                  <a:pt x="1278103" y="1054646"/>
                  <a:pt x="1344485" y="1071475"/>
                  <a:pt x="1413673" y="1071475"/>
                </a:cubicBezTo>
                <a:cubicBezTo>
                  <a:pt x="1482861" y="1071475"/>
                  <a:pt x="1559528" y="1053711"/>
                  <a:pt x="1626846" y="1020987"/>
                </a:cubicBezTo>
                <a:cubicBezTo>
                  <a:pt x="1694164" y="988263"/>
                  <a:pt x="1736238" y="952735"/>
                  <a:pt x="1817580" y="875132"/>
                </a:cubicBezTo>
                <a:cubicBezTo>
                  <a:pt x="1898922" y="797529"/>
                  <a:pt x="2114900" y="555372"/>
                  <a:pt x="2114900" y="555372"/>
                </a:cubicBezTo>
                <a:lnTo>
                  <a:pt x="2114900" y="555372"/>
                </a:lnTo>
              </a:path>
            </a:pathLst>
          </a:custGeom>
          <a:noFill/>
          <a:ln>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p:cNvSpPr/>
          <p:nvPr/>
        </p:nvSpPr>
        <p:spPr>
          <a:xfrm>
            <a:off x="1227703" y="197465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p:cNvSpPr/>
          <p:nvPr/>
        </p:nvSpPr>
        <p:spPr>
          <a:xfrm>
            <a:off x="1082782" y="2013924"/>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p:cNvSpPr/>
          <p:nvPr/>
        </p:nvSpPr>
        <p:spPr>
          <a:xfrm>
            <a:off x="1194131" y="2103680"/>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p:cNvSpPr/>
          <p:nvPr/>
        </p:nvSpPr>
        <p:spPr>
          <a:xfrm>
            <a:off x="1322222" y="216538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p:cNvSpPr/>
          <p:nvPr/>
        </p:nvSpPr>
        <p:spPr>
          <a:xfrm>
            <a:off x="1912100" y="2695141"/>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p:cNvSpPr/>
          <p:nvPr/>
        </p:nvSpPr>
        <p:spPr>
          <a:xfrm>
            <a:off x="3107838" y="2627822"/>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p:cNvSpPr/>
          <p:nvPr/>
        </p:nvSpPr>
        <p:spPr>
          <a:xfrm>
            <a:off x="3066232" y="270635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p:cNvSpPr/>
          <p:nvPr/>
        </p:nvSpPr>
        <p:spPr>
          <a:xfrm>
            <a:off x="2927624" y="278732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p:cNvSpPr/>
          <p:nvPr/>
        </p:nvSpPr>
        <p:spPr>
          <a:xfrm>
            <a:off x="2888355" y="2932864"/>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p:cNvSpPr/>
          <p:nvPr/>
        </p:nvSpPr>
        <p:spPr>
          <a:xfrm>
            <a:off x="2708694" y="289359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p:cNvSpPr/>
          <p:nvPr/>
        </p:nvSpPr>
        <p:spPr>
          <a:xfrm>
            <a:off x="2769989" y="300821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p:cNvSpPr/>
          <p:nvPr/>
        </p:nvSpPr>
        <p:spPr>
          <a:xfrm>
            <a:off x="2708693" y="312709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p:cNvSpPr/>
          <p:nvPr/>
        </p:nvSpPr>
        <p:spPr>
          <a:xfrm>
            <a:off x="2551619" y="3175192"/>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p:cNvSpPr/>
          <p:nvPr/>
        </p:nvSpPr>
        <p:spPr>
          <a:xfrm>
            <a:off x="2321617" y="304430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p:cNvSpPr/>
          <p:nvPr/>
        </p:nvSpPr>
        <p:spPr>
          <a:xfrm>
            <a:off x="2400154" y="3145516"/>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p:cNvSpPr/>
          <p:nvPr/>
        </p:nvSpPr>
        <p:spPr>
          <a:xfrm>
            <a:off x="1953790" y="285145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p:cNvSpPr/>
          <p:nvPr/>
        </p:nvSpPr>
        <p:spPr>
          <a:xfrm>
            <a:off x="2203810" y="298051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p:cNvSpPr/>
          <p:nvPr/>
        </p:nvSpPr>
        <p:spPr>
          <a:xfrm>
            <a:off x="2132456" y="3048576"/>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p:cNvSpPr/>
          <p:nvPr/>
        </p:nvSpPr>
        <p:spPr>
          <a:xfrm>
            <a:off x="2199361" y="313592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p:cNvSpPr/>
          <p:nvPr/>
        </p:nvSpPr>
        <p:spPr>
          <a:xfrm>
            <a:off x="3019017" y="285873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p:cNvSpPr/>
          <p:nvPr/>
        </p:nvSpPr>
        <p:spPr>
          <a:xfrm>
            <a:off x="1932988" y="2092461"/>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bject 3"/>
          <p:cNvSpPr txBox="1"/>
          <p:nvPr/>
        </p:nvSpPr>
        <p:spPr>
          <a:xfrm>
            <a:off x="2009220" y="3617034"/>
            <a:ext cx="244894" cy="371897"/>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X</a:t>
            </a:r>
            <a:endParaRPr sz="1200" dirty="0">
              <a:latin typeface="Avenir Book" charset="0"/>
              <a:ea typeface="Avenir Book" charset="0"/>
              <a:cs typeface="Avenir Book" charset="0"/>
            </a:endParaRPr>
          </a:p>
        </p:txBody>
      </p:sp>
      <p:sp>
        <p:nvSpPr>
          <p:cNvPr id="35" name="object 3"/>
          <p:cNvSpPr txBox="1"/>
          <p:nvPr/>
        </p:nvSpPr>
        <p:spPr>
          <a:xfrm>
            <a:off x="834977" y="2433987"/>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Y</a:t>
            </a:r>
            <a:endParaRPr sz="1200" dirty="0">
              <a:latin typeface="Avenir Book" charset="0"/>
              <a:ea typeface="Avenir Book" charset="0"/>
              <a:cs typeface="Avenir Book" charset="0"/>
            </a:endParaRPr>
          </a:p>
        </p:txBody>
      </p:sp>
      <p:sp>
        <p:nvSpPr>
          <p:cNvPr id="36" name="object 3"/>
          <p:cNvSpPr txBox="1"/>
          <p:nvPr/>
        </p:nvSpPr>
        <p:spPr>
          <a:xfrm>
            <a:off x="2172341" y="1681666"/>
            <a:ext cx="1063588" cy="553998"/>
          </a:xfrm>
          <a:prstGeom prst="rect">
            <a:avLst/>
          </a:prstGeom>
        </p:spPr>
        <p:txBody>
          <a:bodyPr vert="horz" wrap="square" lIns="0" tIns="0" rIns="0" bIns="0" rtlCol="0" anchor="ctr">
            <a:spAutoFit/>
          </a:bodyPr>
          <a:lstStyle/>
          <a:p>
            <a:pPr marL="9525" marR="3810"/>
            <a:r>
              <a:rPr lang="en-US" sz="1200" dirty="0" smtClean="0">
                <a:latin typeface="Avenir Book" charset="0"/>
                <a:ea typeface="Avenir Book" charset="0"/>
                <a:cs typeface="Avenir Book" charset="0"/>
              </a:rPr>
              <a:t>Model</a:t>
            </a:r>
          </a:p>
          <a:p>
            <a:pPr marL="9525" marR="3810"/>
            <a:r>
              <a:rPr lang="en-US" sz="1200" dirty="0" smtClean="0">
                <a:latin typeface="Avenir Book" charset="0"/>
                <a:ea typeface="Avenir Book" charset="0"/>
                <a:cs typeface="Avenir Book" charset="0"/>
              </a:rPr>
              <a:t>True Function</a:t>
            </a:r>
          </a:p>
          <a:p>
            <a:pPr marL="9525" marR="3810"/>
            <a:r>
              <a:rPr lang="en-US" sz="1200" dirty="0" smtClean="0">
                <a:latin typeface="Avenir Book" charset="0"/>
                <a:ea typeface="Avenir Book" charset="0"/>
                <a:cs typeface="Avenir Book" charset="0"/>
              </a:rPr>
              <a:t>Samples</a:t>
            </a:r>
            <a:endParaRPr sz="1200" dirty="0">
              <a:latin typeface="Avenir Book" charset="0"/>
              <a:ea typeface="Avenir Book" charset="0"/>
              <a:cs typeface="Avenir Book" charset="0"/>
            </a:endParaRPr>
          </a:p>
        </p:txBody>
      </p:sp>
      <p:cxnSp>
        <p:nvCxnSpPr>
          <p:cNvPr id="37" name="Straight Connector 36"/>
          <p:cNvCxnSpPr/>
          <p:nvPr/>
        </p:nvCxnSpPr>
        <p:spPr>
          <a:xfrm>
            <a:off x="1874311" y="1943865"/>
            <a:ext cx="220356" cy="0"/>
          </a:xfrm>
          <a:prstGeom prst="line">
            <a:avLst/>
          </a:prstGeom>
          <a:ln w="2540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1874311" y="1775950"/>
            <a:ext cx="220356"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1066800" y="2347449"/>
            <a:ext cx="2119575" cy="827743"/>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1" name="Freeform 40"/>
          <p:cNvSpPr/>
          <p:nvPr/>
        </p:nvSpPr>
        <p:spPr>
          <a:xfrm>
            <a:off x="3626427" y="2078182"/>
            <a:ext cx="2119746" cy="1111155"/>
          </a:xfrm>
          <a:custGeom>
            <a:avLst/>
            <a:gdLst>
              <a:gd name="connsiteX0" fmla="*/ 0 w 2119746"/>
              <a:gd name="connsiteY0" fmla="*/ 0 h 1111155"/>
              <a:gd name="connsiteX1" fmla="*/ 197428 w 2119746"/>
              <a:gd name="connsiteY1" fmla="*/ 41563 h 1111155"/>
              <a:gd name="connsiteX2" fmla="*/ 353291 w 2119746"/>
              <a:gd name="connsiteY2" fmla="*/ 166254 h 1111155"/>
              <a:gd name="connsiteX3" fmla="*/ 571500 w 2119746"/>
              <a:gd name="connsiteY3" fmla="*/ 374073 h 1111155"/>
              <a:gd name="connsiteX4" fmla="*/ 748146 w 2119746"/>
              <a:gd name="connsiteY4" fmla="*/ 571500 h 1111155"/>
              <a:gd name="connsiteX5" fmla="*/ 997528 w 2119746"/>
              <a:gd name="connsiteY5" fmla="*/ 872836 h 1111155"/>
              <a:gd name="connsiteX6" fmla="*/ 1257300 w 2119746"/>
              <a:gd name="connsiteY6" fmla="*/ 1049482 h 1111155"/>
              <a:gd name="connsiteX7" fmla="*/ 1548246 w 2119746"/>
              <a:gd name="connsiteY7" fmla="*/ 1101436 h 1111155"/>
              <a:gd name="connsiteX8" fmla="*/ 1880755 w 2119746"/>
              <a:gd name="connsiteY8" fmla="*/ 872836 h 1111155"/>
              <a:gd name="connsiteX9" fmla="*/ 2119746 w 2119746"/>
              <a:gd name="connsiteY9" fmla="*/ 571500 h 111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19746" h="1111155">
                <a:moveTo>
                  <a:pt x="0" y="0"/>
                </a:moveTo>
                <a:cubicBezTo>
                  <a:pt x="69273" y="6927"/>
                  <a:pt x="138546" y="13854"/>
                  <a:pt x="197428" y="41563"/>
                </a:cubicBezTo>
                <a:cubicBezTo>
                  <a:pt x="256310" y="69272"/>
                  <a:pt x="290946" y="110836"/>
                  <a:pt x="353291" y="166254"/>
                </a:cubicBezTo>
                <a:cubicBezTo>
                  <a:pt x="415636" y="221672"/>
                  <a:pt x="505691" y="306532"/>
                  <a:pt x="571500" y="374073"/>
                </a:cubicBezTo>
                <a:cubicBezTo>
                  <a:pt x="637309" y="441614"/>
                  <a:pt x="677141" y="488373"/>
                  <a:pt x="748146" y="571500"/>
                </a:cubicBezTo>
                <a:cubicBezTo>
                  <a:pt x="819151" y="654627"/>
                  <a:pt x="912669" y="793173"/>
                  <a:pt x="997528" y="872836"/>
                </a:cubicBezTo>
                <a:cubicBezTo>
                  <a:pt x="1082387" y="952499"/>
                  <a:pt x="1165514" y="1011382"/>
                  <a:pt x="1257300" y="1049482"/>
                </a:cubicBezTo>
                <a:cubicBezTo>
                  <a:pt x="1349086" y="1087582"/>
                  <a:pt x="1444337" y="1130877"/>
                  <a:pt x="1548246" y="1101436"/>
                </a:cubicBezTo>
                <a:cubicBezTo>
                  <a:pt x="1652155" y="1071995"/>
                  <a:pt x="1785505" y="961159"/>
                  <a:pt x="1880755" y="872836"/>
                </a:cubicBezTo>
                <a:cubicBezTo>
                  <a:pt x="1976005" y="784513"/>
                  <a:pt x="2119746" y="571500"/>
                  <a:pt x="2119746" y="571500"/>
                </a:cubicBezTo>
              </a:path>
            </a:pathLst>
          </a:cu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41"/>
          <p:cNvSpPr/>
          <p:nvPr/>
        </p:nvSpPr>
        <p:spPr>
          <a:xfrm>
            <a:off x="6213764" y="1558636"/>
            <a:ext cx="2088572" cy="2026759"/>
          </a:xfrm>
          <a:custGeom>
            <a:avLst/>
            <a:gdLst>
              <a:gd name="connsiteX0" fmla="*/ 0 w 2088572"/>
              <a:gd name="connsiteY0" fmla="*/ 0 h 2026759"/>
              <a:gd name="connsiteX1" fmla="*/ 20781 w 2088572"/>
              <a:gd name="connsiteY1" fmla="*/ 2015837 h 2026759"/>
              <a:gd name="connsiteX2" fmla="*/ 93518 w 2088572"/>
              <a:gd name="connsiteY2" fmla="*/ 789709 h 2026759"/>
              <a:gd name="connsiteX3" fmla="*/ 135081 w 2088572"/>
              <a:gd name="connsiteY3" fmla="*/ 446809 h 2026759"/>
              <a:gd name="connsiteX4" fmla="*/ 218209 w 2088572"/>
              <a:gd name="connsiteY4" fmla="*/ 696191 h 2026759"/>
              <a:gd name="connsiteX5" fmla="*/ 322118 w 2088572"/>
              <a:gd name="connsiteY5" fmla="*/ 394855 h 2026759"/>
              <a:gd name="connsiteX6" fmla="*/ 374072 w 2088572"/>
              <a:gd name="connsiteY6" fmla="*/ 228600 h 2026759"/>
              <a:gd name="connsiteX7" fmla="*/ 436418 w 2088572"/>
              <a:gd name="connsiteY7" fmla="*/ 374073 h 2026759"/>
              <a:gd name="connsiteX8" fmla="*/ 540327 w 2088572"/>
              <a:gd name="connsiteY8" fmla="*/ 1111828 h 2026759"/>
              <a:gd name="connsiteX9" fmla="*/ 644236 w 2088572"/>
              <a:gd name="connsiteY9" fmla="*/ 1361209 h 2026759"/>
              <a:gd name="connsiteX10" fmla="*/ 758536 w 2088572"/>
              <a:gd name="connsiteY10" fmla="*/ 1215737 h 2026759"/>
              <a:gd name="connsiteX11" fmla="*/ 852054 w 2088572"/>
              <a:gd name="connsiteY11" fmla="*/ 1194955 h 2026759"/>
              <a:gd name="connsiteX12" fmla="*/ 997527 w 2088572"/>
              <a:gd name="connsiteY12" fmla="*/ 1517073 h 2026759"/>
              <a:gd name="connsiteX13" fmla="*/ 1143000 w 2088572"/>
              <a:gd name="connsiteY13" fmla="*/ 1506682 h 2026759"/>
              <a:gd name="connsiteX14" fmla="*/ 1267691 w 2088572"/>
              <a:gd name="connsiteY14" fmla="*/ 1485900 h 2026759"/>
              <a:gd name="connsiteX15" fmla="*/ 1402772 w 2088572"/>
              <a:gd name="connsiteY15" fmla="*/ 1683328 h 2026759"/>
              <a:gd name="connsiteX16" fmla="*/ 1548245 w 2088572"/>
              <a:gd name="connsiteY16" fmla="*/ 1652155 h 2026759"/>
              <a:gd name="connsiteX17" fmla="*/ 1652154 w 2088572"/>
              <a:gd name="connsiteY17" fmla="*/ 1496291 h 2026759"/>
              <a:gd name="connsiteX18" fmla="*/ 1818409 w 2088572"/>
              <a:gd name="connsiteY18" fmla="*/ 1454728 h 2026759"/>
              <a:gd name="connsiteX19" fmla="*/ 1870363 w 2088572"/>
              <a:gd name="connsiteY19" fmla="*/ 1278082 h 2026759"/>
              <a:gd name="connsiteX20" fmla="*/ 1995054 w 2088572"/>
              <a:gd name="connsiteY20" fmla="*/ 1246909 h 2026759"/>
              <a:gd name="connsiteX21" fmla="*/ 2026227 w 2088572"/>
              <a:gd name="connsiteY21" fmla="*/ 1143000 h 2026759"/>
              <a:gd name="connsiteX22" fmla="*/ 2067791 w 2088572"/>
              <a:gd name="connsiteY22" fmla="*/ 1558637 h 2026759"/>
              <a:gd name="connsiteX23" fmla="*/ 2078181 w 2088572"/>
              <a:gd name="connsiteY23" fmla="*/ 1558637 h 2026759"/>
              <a:gd name="connsiteX24" fmla="*/ 2088572 w 2088572"/>
              <a:gd name="connsiteY24" fmla="*/ 1569028 h 2026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88572" h="2026759">
                <a:moveTo>
                  <a:pt x="0" y="0"/>
                </a:moveTo>
                <a:cubicBezTo>
                  <a:pt x="2597" y="942109"/>
                  <a:pt x="5195" y="1884219"/>
                  <a:pt x="20781" y="2015837"/>
                </a:cubicBezTo>
                <a:cubicBezTo>
                  <a:pt x="36367" y="2147455"/>
                  <a:pt x="74468" y="1051214"/>
                  <a:pt x="93518" y="789709"/>
                </a:cubicBezTo>
                <a:cubicBezTo>
                  <a:pt x="112568" y="528204"/>
                  <a:pt x="114299" y="462395"/>
                  <a:pt x="135081" y="446809"/>
                </a:cubicBezTo>
                <a:cubicBezTo>
                  <a:pt x="155863" y="431223"/>
                  <a:pt x="187036" y="704850"/>
                  <a:pt x="218209" y="696191"/>
                </a:cubicBezTo>
                <a:cubicBezTo>
                  <a:pt x="249382" y="687532"/>
                  <a:pt x="296141" y="472787"/>
                  <a:pt x="322118" y="394855"/>
                </a:cubicBezTo>
                <a:cubicBezTo>
                  <a:pt x="348095" y="316923"/>
                  <a:pt x="355022" y="232064"/>
                  <a:pt x="374072" y="228600"/>
                </a:cubicBezTo>
                <a:cubicBezTo>
                  <a:pt x="393122" y="225136"/>
                  <a:pt x="408709" y="226868"/>
                  <a:pt x="436418" y="374073"/>
                </a:cubicBezTo>
                <a:cubicBezTo>
                  <a:pt x="464127" y="521278"/>
                  <a:pt x="505691" y="947305"/>
                  <a:pt x="540327" y="1111828"/>
                </a:cubicBezTo>
                <a:cubicBezTo>
                  <a:pt x="574963" y="1276351"/>
                  <a:pt x="607868" y="1343891"/>
                  <a:pt x="644236" y="1361209"/>
                </a:cubicBezTo>
                <a:cubicBezTo>
                  <a:pt x="680604" y="1378527"/>
                  <a:pt x="723900" y="1243446"/>
                  <a:pt x="758536" y="1215737"/>
                </a:cubicBezTo>
                <a:cubicBezTo>
                  <a:pt x="793172" y="1188028"/>
                  <a:pt x="812222" y="1144732"/>
                  <a:pt x="852054" y="1194955"/>
                </a:cubicBezTo>
                <a:cubicBezTo>
                  <a:pt x="891886" y="1245178"/>
                  <a:pt x="949036" y="1465119"/>
                  <a:pt x="997527" y="1517073"/>
                </a:cubicBezTo>
                <a:cubicBezTo>
                  <a:pt x="1046018" y="1569027"/>
                  <a:pt x="1097973" y="1511878"/>
                  <a:pt x="1143000" y="1506682"/>
                </a:cubicBezTo>
                <a:cubicBezTo>
                  <a:pt x="1188027" y="1501487"/>
                  <a:pt x="1224396" y="1456459"/>
                  <a:pt x="1267691" y="1485900"/>
                </a:cubicBezTo>
                <a:cubicBezTo>
                  <a:pt x="1310986" y="1515341"/>
                  <a:pt x="1356013" y="1655619"/>
                  <a:pt x="1402772" y="1683328"/>
                </a:cubicBezTo>
                <a:cubicBezTo>
                  <a:pt x="1449531" y="1711037"/>
                  <a:pt x="1506682" y="1683328"/>
                  <a:pt x="1548245" y="1652155"/>
                </a:cubicBezTo>
                <a:cubicBezTo>
                  <a:pt x="1589808" y="1620982"/>
                  <a:pt x="1607127" y="1529196"/>
                  <a:pt x="1652154" y="1496291"/>
                </a:cubicBezTo>
                <a:cubicBezTo>
                  <a:pt x="1697181" y="1463387"/>
                  <a:pt x="1782041" y="1491096"/>
                  <a:pt x="1818409" y="1454728"/>
                </a:cubicBezTo>
                <a:cubicBezTo>
                  <a:pt x="1854777" y="1418360"/>
                  <a:pt x="1840922" y="1312718"/>
                  <a:pt x="1870363" y="1278082"/>
                </a:cubicBezTo>
                <a:cubicBezTo>
                  <a:pt x="1899804" y="1243446"/>
                  <a:pt x="1969077" y="1269423"/>
                  <a:pt x="1995054" y="1246909"/>
                </a:cubicBezTo>
                <a:cubicBezTo>
                  <a:pt x="2021031" y="1224395"/>
                  <a:pt x="2014104" y="1091045"/>
                  <a:pt x="2026227" y="1143000"/>
                </a:cubicBezTo>
                <a:cubicBezTo>
                  <a:pt x="2038350" y="1194955"/>
                  <a:pt x="2059132" y="1489364"/>
                  <a:pt x="2067791" y="1558637"/>
                </a:cubicBezTo>
                <a:cubicBezTo>
                  <a:pt x="2076450" y="1627910"/>
                  <a:pt x="2074718" y="1556905"/>
                  <a:pt x="2078181" y="1558637"/>
                </a:cubicBezTo>
                <a:cubicBezTo>
                  <a:pt x="2081645" y="1560369"/>
                  <a:pt x="2088572" y="1569028"/>
                  <a:pt x="2088572" y="1569028"/>
                </a:cubicBezTo>
              </a:path>
            </a:pathLst>
          </a:cu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3" name="Straight Arrow Connector 42"/>
          <p:cNvCxnSpPr/>
          <p:nvPr/>
        </p:nvCxnSpPr>
        <p:spPr>
          <a:xfrm flipV="1">
            <a:off x="3626427" y="1524000"/>
            <a:ext cx="10160" cy="216408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V="1">
            <a:off x="3626427" y="3688080"/>
            <a:ext cx="2174240" cy="1016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5" name="Freeform 44"/>
          <p:cNvSpPr/>
          <p:nvPr/>
        </p:nvSpPr>
        <p:spPr>
          <a:xfrm>
            <a:off x="3631102" y="2092461"/>
            <a:ext cx="2114900" cy="1071475"/>
          </a:xfrm>
          <a:custGeom>
            <a:avLst/>
            <a:gdLst>
              <a:gd name="connsiteX0" fmla="*/ 0 w 2114900"/>
              <a:gd name="connsiteY0" fmla="*/ 0 h 1071475"/>
              <a:gd name="connsiteX1" fmla="*/ 201953 w 2114900"/>
              <a:gd name="connsiteY1" fmla="*/ 39269 h 1071475"/>
              <a:gd name="connsiteX2" fmla="*/ 409516 w 2114900"/>
              <a:gd name="connsiteY2" fmla="*/ 207564 h 1071475"/>
              <a:gd name="connsiteX3" fmla="*/ 544152 w 2114900"/>
              <a:gd name="connsiteY3" fmla="*/ 347809 h 1071475"/>
              <a:gd name="connsiteX4" fmla="*/ 718056 w 2114900"/>
              <a:gd name="connsiteY4" fmla="*/ 544152 h 1071475"/>
              <a:gd name="connsiteX5" fmla="*/ 886351 w 2114900"/>
              <a:gd name="connsiteY5" fmla="*/ 740496 h 1071475"/>
              <a:gd name="connsiteX6" fmla="*/ 1015377 w 2114900"/>
              <a:gd name="connsiteY6" fmla="*/ 869522 h 1071475"/>
              <a:gd name="connsiteX7" fmla="*/ 1211720 w 2114900"/>
              <a:gd name="connsiteY7" fmla="*/ 1020987 h 1071475"/>
              <a:gd name="connsiteX8" fmla="*/ 1413673 w 2114900"/>
              <a:gd name="connsiteY8" fmla="*/ 1071475 h 1071475"/>
              <a:gd name="connsiteX9" fmla="*/ 1626846 w 2114900"/>
              <a:gd name="connsiteY9" fmla="*/ 1020987 h 1071475"/>
              <a:gd name="connsiteX10" fmla="*/ 1817580 w 2114900"/>
              <a:gd name="connsiteY10" fmla="*/ 875132 h 1071475"/>
              <a:gd name="connsiteX11" fmla="*/ 2114900 w 2114900"/>
              <a:gd name="connsiteY11" fmla="*/ 555372 h 1071475"/>
              <a:gd name="connsiteX12" fmla="*/ 2114900 w 2114900"/>
              <a:gd name="connsiteY12" fmla="*/ 555372 h 10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14900" h="1071475">
                <a:moveTo>
                  <a:pt x="0" y="0"/>
                </a:moveTo>
                <a:cubicBezTo>
                  <a:pt x="66850" y="2337"/>
                  <a:pt x="133700" y="4675"/>
                  <a:pt x="201953" y="39269"/>
                </a:cubicBezTo>
                <a:cubicBezTo>
                  <a:pt x="270206" y="73863"/>
                  <a:pt x="352483" y="156141"/>
                  <a:pt x="409516" y="207564"/>
                </a:cubicBezTo>
                <a:cubicBezTo>
                  <a:pt x="466549" y="258987"/>
                  <a:pt x="492729" y="291711"/>
                  <a:pt x="544152" y="347809"/>
                </a:cubicBezTo>
                <a:cubicBezTo>
                  <a:pt x="595575" y="403907"/>
                  <a:pt x="661023" y="478704"/>
                  <a:pt x="718056" y="544152"/>
                </a:cubicBezTo>
                <a:cubicBezTo>
                  <a:pt x="775089" y="609600"/>
                  <a:pt x="836798" y="686268"/>
                  <a:pt x="886351" y="740496"/>
                </a:cubicBezTo>
                <a:cubicBezTo>
                  <a:pt x="935904" y="794724"/>
                  <a:pt x="961149" y="822774"/>
                  <a:pt x="1015377" y="869522"/>
                </a:cubicBezTo>
                <a:cubicBezTo>
                  <a:pt x="1069605" y="916270"/>
                  <a:pt x="1145337" y="987328"/>
                  <a:pt x="1211720" y="1020987"/>
                </a:cubicBezTo>
                <a:cubicBezTo>
                  <a:pt x="1278103" y="1054646"/>
                  <a:pt x="1344485" y="1071475"/>
                  <a:pt x="1413673" y="1071475"/>
                </a:cubicBezTo>
                <a:cubicBezTo>
                  <a:pt x="1482861" y="1071475"/>
                  <a:pt x="1559528" y="1053711"/>
                  <a:pt x="1626846" y="1020987"/>
                </a:cubicBezTo>
                <a:cubicBezTo>
                  <a:pt x="1694164" y="988263"/>
                  <a:pt x="1736238" y="952735"/>
                  <a:pt x="1817580" y="875132"/>
                </a:cubicBezTo>
                <a:cubicBezTo>
                  <a:pt x="1898922" y="797529"/>
                  <a:pt x="2114900" y="555372"/>
                  <a:pt x="2114900" y="555372"/>
                </a:cubicBezTo>
                <a:lnTo>
                  <a:pt x="2114900" y="555372"/>
                </a:lnTo>
              </a:path>
            </a:pathLst>
          </a:custGeom>
          <a:noFill/>
          <a:ln>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p:cNvSpPr/>
          <p:nvPr/>
        </p:nvSpPr>
        <p:spPr>
          <a:xfrm>
            <a:off x="3787330" y="197465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p:cNvSpPr/>
          <p:nvPr/>
        </p:nvSpPr>
        <p:spPr>
          <a:xfrm>
            <a:off x="3642409" y="2013924"/>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p:cNvSpPr/>
          <p:nvPr/>
        </p:nvSpPr>
        <p:spPr>
          <a:xfrm>
            <a:off x="3753758" y="2103680"/>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48"/>
          <p:cNvSpPr/>
          <p:nvPr/>
        </p:nvSpPr>
        <p:spPr>
          <a:xfrm>
            <a:off x="3881849" y="216538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49"/>
          <p:cNvSpPr/>
          <p:nvPr/>
        </p:nvSpPr>
        <p:spPr>
          <a:xfrm>
            <a:off x="4471727" y="2695141"/>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p:cNvSpPr/>
          <p:nvPr/>
        </p:nvSpPr>
        <p:spPr>
          <a:xfrm>
            <a:off x="5667465" y="2627822"/>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p:cNvSpPr/>
          <p:nvPr/>
        </p:nvSpPr>
        <p:spPr>
          <a:xfrm>
            <a:off x="5625859" y="270635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p:cNvSpPr/>
          <p:nvPr/>
        </p:nvSpPr>
        <p:spPr>
          <a:xfrm>
            <a:off x="5487251" y="278732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53"/>
          <p:cNvSpPr/>
          <p:nvPr/>
        </p:nvSpPr>
        <p:spPr>
          <a:xfrm>
            <a:off x="5447982" y="2932864"/>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Oval 54"/>
          <p:cNvSpPr/>
          <p:nvPr/>
        </p:nvSpPr>
        <p:spPr>
          <a:xfrm>
            <a:off x="5268321" y="289359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p:cNvSpPr/>
          <p:nvPr/>
        </p:nvSpPr>
        <p:spPr>
          <a:xfrm>
            <a:off x="5329616" y="300821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p:cNvSpPr/>
          <p:nvPr/>
        </p:nvSpPr>
        <p:spPr>
          <a:xfrm>
            <a:off x="5268320" y="312709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p:cNvSpPr/>
          <p:nvPr/>
        </p:nvSpPr>
        <p:spPr>
          <a:xfrm>
            <a:off x="5111246" y="3175192"/>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p:cNvSpPr/>
          <p:nvPr/>
        </p:nvSpPr>
        <p:spPr>
          <a:xfrm>
            <a:off x="4881244" y="304430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Oval 59"/>
          <p:cNvSpPr/>
          <p:nvPr/>
        </p:nvSpPr>
        <p:spPr>
          <a:xfrm>
            <a:off x="4959781" y="3145516"/>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Oval 60"/>
          <p:cNvSpPr/>
          <p:nvPr/>
        </p:nvSpPr>
        <p:spPr>
          <a:xfrm>
            <a:off x="4513417" y="285145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p:cNvSpPr/>
          <p:nvPr/>
        </p:nvSpPr>
        <p:spPr>
          <a:xfrm>
            <a:off x="4763437" y="298051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p:cNvSpPr/>
          <p:nvPr/>
        </p:nvSpPr>
        <p:spPr>
          <a:xfrm>
            <a:off x="4692083" y="3048576"/>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Oval 63"/>
          <p:cNvSpPr/>
          <p:nvPr/>
        </p:nvSpPr>
        <p:spPr>
          <a:xfrm>
            <a:off x="4758988" y="313592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p:cNvSpPr/>
          <p:nvPr/>
        </p:nvSpPr>
        <p:spPr>
          <a:xfrm>
            <a:off x="5578644" y="285873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object 3"/>
          <p:cNvSpPr txBox="1"/>
          <p:nvPr/>
        </p:nvSpPr>
        <p:spPr>
          <a:xfrm>
            <a:off x="4568847" y="3617034"/>
            <a:ext cx="244894" cy="371897"/>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X</a:t>
            </a:r>
            <a:endParaRPr sz="1200" dirty="0">
              <a:latin typeface="Avenir Book" charset="0"/>
              <a:ea typeface="Avenir Book" charset="0"/>
              <a:cs typeface="Avenir Book" charset="0"/>
            </a:endParaRPr>
          </a:p>
        </p:txBody>
      </p:sp>
      <p:sp>
        <p:nvSpPr>
          <p:cNvPr id="67" name="object 3"/>
          <p:cNvSpPr txBox="1"/>
          <p:nvPr/>
        </p:nvSpPr>
        <p:spPr>
          <a:xfrm>
            <a:off x="3394604" y="2433987"/>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Y</a:t>
            </a:r>
            <a:endParaRPr sz="1200" dirty="0">
              <a:latin typeface="Avenir Book" charset="0"/>
              <a:ea typeface="Avenir Book" charset="0"/>
              <a:cs typeface="Avenir Book" charset="0"/>
            </a:endParaRPr>
          </a:p>
        </p:txBody>
      </p:sp>
      <p:cxnSp>
        <p:nvCxnSpPr>
          <p:cNvPr id="69" name="Straight Arrow Connector 68"/>
          <p:cNvCxnSpPr/>
          <p:nvPr/>
        </p:nvCxnSpPr>
        <p:spPr>
          <a:xfrm flipV="1">
            <a:off x="6183124" y="1524000"/>
            <a:ext cx="10160" cy="216408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V="1">
            <a:off x="6183124" y="3688080"/>
            <a:ext cx="2174240" cy="1016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1" name="Freeform 70"/>
          <p:cNvSpPr/>
          <p:nvPr/>
        </p:nvSpPr>
        <p:spPr>
          <a:xfrm>
            <a:off x="6187799" y="2092461"/>
            <a:ext cx="2114900" cy="1071475"/>
          </a:xfrm>
          <a:custGeom>
            <a:avLst/>
            <a:gdLst>
              <a:gd name="connsiteX0" fmla="*/ 0 w 2114900"/>
              <a:gd name="connsiteY0" fmla="*/ 0 h 1071475"/>
              <a:gd name="connsiteX1" fmla="*/ 201953 w 2114900"/>
              <a:gd name="connsiteY1" fmla="*/ 39269 h 1071475"/>
              <a:gd name="connsiteX2" fmla="*/ 409516 w 2114900"/>
              <a:gd name="connsiteY2" fmla="*/ 207564 h 1071475"/>
              <a:gd name="connsiteX3" fmla="*/ 544152 w 2114900"/>
              <a:gd name="connsiteY3" fmla="*/ 347809 h 1071475"/>
              <a:gd name="connsiteX4" fmla="*/ 718056 w 2114900"/>
              <a:gd name="connsiteY4" fmla="*/ 544152 h 1071475"/>
              <a:gd name="connsiteX5" fmla="*/ 886351 w 2114900"/>
              <a:gd name="connsiteY5" fmla="*/ 740496 h 1071475"/>
              <a:gd name="connsiteX6" fmla="*/ 1015377 w 2114900"/>
              <a:gd name="connsiteY6" fmla="*/ 869522 h 1071475"/>
              <a:gd name="connsiteX7" fmla="*/ 1211720 w 2114900"/>
              <a:gd name="connsiteY7" fmla="*/ 1020987 h 1071475"/>
              <a:gd name="connsiteX8" fmla="*/ 1413673 w 2114900"/>
              <a:gd name="connsiteY8" fmla="*/ 1071475 h 1071475"/>
              <a:gd name="connsiteX9" fmla="*/ 1626846 w 2114900"/>
              <a:gd name="connsiteY9" fmla="*/ 1020987 h 1071475"/>
              <a:gd name="connsiteX10" fmla="*/ 1817580 w 2114900"/>
              <a:gd name="connsiteY10" fmla="*/ 875132 h 1071475"/>
              <a:gd name="connsiteX11" fmla="*/ 2114900 w 2114900"/>
              <a:gd name="connsiteY11" fmla="*/ 555372 h 1071475"/>
              <a:gd name="connsiteX12" fmla="*/ 2114900 w 2114900"/>
              <a:gd name="connsiteY12" fmla="*/ 555372 h 10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14900" h="1071475">
                <a:moveTo>
                  <a:pt x="0" y="0"/>
                </a:moveTo>
                <a:cubicBezTo>
                  <a:pt x="66850" y="2337"/>
                  <a:pt x="133700" y="4675"/>
                  <a:pt x="201953" y="39269"/>
                </a:cubicBezTo>
                <a:cubicBezTo>
                  <a:pt x="270206" y="73863"/>
                  <a:pt x="352483" y="156141"/>
                  <a:pt x="409516" y="207564"/>
                </a:cubicBezTo>
                <a:cubicBezTo>
                  <a:pt x="466549" y="258987"/>
                  <a:pt x="492729" y="291711"/>
                  <a:pt x="544152" y="347809"/>
                </a:cubicBezTo>
                <a:cubicBezTo>
                  <a:pt x="595575" y="403907"/>
                  <a:pt x="661023" y="478704"/>
                  <a:pt x="718056" y="544152"/>
                </a:cubicBezTo>
                <a:cubicBezTo>
                  <a:pt x="775089" y="609600"/>
                  <a:pt x="836798" y="686268"/>
                  <a:pt x="886351" y="740496"/>
                </a:cubicBezTo>
                <a:cubicBezTo>
                  <a:pt x="935904" y="794724"/>
                  <a:pt x="961149" y="822774"/>
                  <a:pt x="1015377" y="869522"/>
                </a:cubicBezTo>
                <a:cubicBezTo>
                  <a:pt x="1069605" y="916270"/>
                  <a:pt x="1145337" y="987328"/>
                  <a:pt x="1211720" y="1020987"/>
                </a:cubicBezTo>
                <a:cubicBezTo>
                  <a:pt x="1278103" y="1054646"/>
                  <a:pt x="1344485" y="1071475"/>
                  <a:pt x="1413673" y="1071475"/>
                </a:cubicBezTo>
                <a:cubicBezTo>
                  <a:pt x="1482861" y="1071475"/>
                  <a:pt x="1559528" y="1053711"/>
                  <a:pt x="1626846" y="1020987"/>
                </a:cubicBezTo>
                <a:cubicBezTo>
                  <a:pt x="1694164" y="988263"/>
                  <a:pt x="1736238" y="952735"/>
                  <a:pt x="1817580" y="875132"/>
                </a:cubicBezTo>
                <a:cubicBezTo>
                  <a:pt x="1898922" y="797529"/>
                  <a:pt x="2114900" y="555372"/>
                  <a:pt x="2114900" y="555372"/>
                </a:cubicBezTo>
                <a:lnTo>
                  <a:pt x="2114900" y="555372"/>
                </a:lnTo>
              </a:path>
            </a:pathLst>
          </a:custGeom>
          <a:noFill/>
          <a:ln>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Oval 71"/>
          <p:cNvSpPr/>
          <p:nvPr/>
        </p:nvSpPr>
        <p:spPr>
          <a:xfrm>
            <a:off x="6344027" y="197465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Oval 72"/>
          <p:cNvSpPr/>
          <p:nvPr/>
        </p:nvSpPr>
        <p:spPr>
          <a:xfrm>
            <a:off x="6199106" y="2013924"/>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Oval 73"/>
          <p:cNvSpPr/>
          <p:nvPr/>
        </p:nvSpPr>
        <p:spPr>
          <a:xfrm>
            <a:off x="6310455" y="2103680"/>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p:cNvSpPr/>
          <p:nvPr/>
        </p:nvSpPr>
        <p:spPr>
          <a:xfrm>
            <a:off x="6438546" y="216538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p:cNvSpPr/>
          <p:nvPr/>
        </p:nvSpPr>
        <p:spPr>
          <a:xfrm>
            <a:off x="7028424" y="2695141"/>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Oval 76"/>
          <p:cNvSpPr/>
          <p:nvPr/>
        </p:nvSpPr>
        <p:spPr>
          <a:xfrm>
            <a:off x="8224162" y="2627822"/>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Oval 77"/>
          <p:cNvSpPr/>
          <p:nvPr/>
        </p:nvSpPr>
        <p:spPr>
          <a:xfrm>
            <a:off x="8182556" y="270635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Oval 78"/>
          <p:cNvSpPr/>
          <p:nvPr/>
        </p:nvSpPr>
        <p:spPr>
          <a:xfrm>
            <a:off x="8043948" y="278732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Oval 79"/>
          <p:cNvSpPr/>
          <p:nvPr/>
        </p:nvSpPr>
        <p:spPr>
          <a:xfrm>
            <a:off x="8004679" y="2932864"/>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Oval 80"/>
          <p:cNvSpPr/>
          <p:nvPr/>
        </p:nvSpPr>
        <p:spPr>
          <a:xfrm>
            <a:off x="7825018" y="289359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Oval 81"/>
          <p:cNvSpPr/>
          <p:nvPr/>
        </p:nvSpPr>
        <p:spPr>
          <a:xfrm>
            <a:off x="7886313" y="300821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Oval 82"/>
          <p:cNvSpPr/>
          <p:nvPr/>
        </p:nvSpPr>
        <p:spPr>
          <a:xfrm>
            <a:off x="7825017" y="312709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Oval 83"/>
          <p:cNvSpPr/>
          <p:nvPr/>
        </p:nvSpPr>
        <p:spPr>
          <a:xfrm>
            <a:off x="7667943" y="3175192"/>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Oval 84"/>
          <p:cNvSpPr/>
          <p:nvPr/>
        </p:nvSpPr>
        <p:spPr>
          <a:xfrm>
            <a:off x="7437941" y="304430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Oval 85"/>
          <p:cNvSpPr/>
          <p:nvPr/>
        </p:nvSpPr>
        <p:spPr>
          <a:xfrm>
            <a:off x="7516478" y="3145516"/>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Oval 86"/>
          <p:cNvSpPr/>
          <p:nvPr/>
        </p:nvSpPr>
        <p:spPr>
          <a:xfrm>
            <a:off x="7070114" y="285145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Oval 87"/>
          <p:cNvSpPr/>
          <p:nvPr/>
        </p:nvSpPr>
        <p:spPr>
          <a:xfrm>
            <a:off x="7320134" y="298051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Oval 88"/>
          <p:cNvSpPr/>
          <p:nvPr/>
        </p:nvSpPr>
        <p:spPr>
          <a:xfrm>
            <a:off x="7248780" y="3048576"/>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Oval 89"/>
          <p:cNvSpPr/>
          <p:nvPr/>
        </p:nvSpPr>
        <p:spPr>
          <a:xfrm>
            <a:off x="7315685" y="313592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Oval 90"/>
          <p:cNvSpPr/>
          <p:nvPr/>
        </p:nvSpPr>
        <p:spPr>
          <a:xfrm>
            <a:off x="8135341" y="285873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bject 3"/>
          <p:cNvSpPr txBox="1"/>
          <p:nvPr/>
        </p:nvSpPr>
        <p:spPr>
          <a:xfrm>
            <a:off x="7125544" y="3617034"/>
            <a:ext cx="244894" cy="371897"/>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X</a:t>
            </a:r>
            <a:endParaRPr sz="1200" dirty="0">
              <a:latin typeface="Avenir Book" charset="0"/>
              <a:ea typeface="Avenir Book" charset="0"/>
              <a:cs typeface="Avenir Book" charset="0"/>
            </a:endParaRPr>
          </a:p>
        </p:txBody>
      </p:sp>
      <p:sp>
        <p:nvSpPr>
          <p:cNvPr id="93" name="object 3"/>
          <p:cNvSpPr txBox="1"/>
          <p:nvPr/>
        </p:nvSpPr>
        <p:spPr>
          <a:xfrm>
            <a:off x="5951301" y="2433987"/>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Y</a:t>
            </a:r>
            <a:endParaRPr sz="1200" dirty="0">
              <a:latin typeface="Avenir Book" charset="0"/>
              <a:ea typeface="Avenir Book" charset="0"/>
              <a:cs typeface="Avenir Book" charset="0"/>
            </a:endParaRPr>
          </a:p>
        </p:txBody>
      </p:sp>
      <p:sp>
        <p:nvSpPr>
          <p:cNvPr id="94" name="object 3"/>
          <p:cNvSpPr txBox="1"/>
          <p:nvPr/>
        </p:nvSpPr>
        <p:spPr>
          <a:xfrm>
            <a:off x="1071475" y="1124122"/>
            <a:ext cx="2114900" cy="371897"/>
          </a:xfrm>
          <a:prstGeom prst="rect">
            <a:avLst/>
          </a:prstGeom>
        </p:spPr>
        <p:txBody>
          <a:bodyPr vert="horz" wrap="square" lIns="0" tIns="0" rIns="0" bIns="0" rtlCol="0" anchor="ctr">
            <a:spAutoFit/>
          </a:bodyPr>
          <a:lstStyle/>
          <a:p>
            <a:pPr marL="9525" marR="3810" algn="ctr">
              <a:lnSpc>
                <a:spcPts val="2850"/>
              </a:lnSpc>
            </a:pPr>
            <a:r>
              <a:rPr lang="en-US" sz="1600" dirty="0" smtClean="0">
                <a:latin typeface="Avenir Book" charset="0"/>
                <a:ea typeface="Avenir Book" charset="0"/>
                <a:cs typeface="Avenir Book" charset="0"/>
              </a:rPr>
              <a:t>Polynomial Degree = 1</a:t>
            </a:r>
            <a:endParaRPr sz="1600" dirty="0">
              <a:latin typeface="Avenir Book" charset="0"/>
              <a:ea typeface="Avenir Book" charset="0"/>
              <a:cs typeface="Avenir Book" charset="0"/>
            </a:endParaRPr>
          </a:p>
        </p:txBody>
      </p:sp>
      <p:sp>
        <p:nvSpPr>
          <p:cNvPr id="98" name="object 3"/>
          <p:cNvSpPr txBox="1"/>
          <p:nvPr/>
        </p:nvSpPr>
        <p:spPr>
          <a:xfrm>
            <a:off x="3628850" y="1124122"/>
            <a:ext cx="2114900" cy="371897"/>
          </a:xfrm>
          <a:prstGeom prst="rect">
            <a:avLst/>
          </a:prstGeom>
        </p:spPr>
        <p:txBody>
          <a:bodyPr vert="horz" wrap="square" lIns="0" tIns="0" rIns="0" bIns="0" rtlCol="0" anchor="ctr">
            <a:spAutoFit/>
          </a:bodyPr>
          <a:lstStyle/>
          <a:p>
            <a:pPr marL="9525" marR="3810" algn="ctr">
              <a:lnSpc>
                <a:spcPts val="2850"/>
              </a:lnSpc>
            </a:pPr>
            <a:r>
              <a:rPr lang="en-US" sz="1600" dirty="0" smtClean="0">
                <a:latin typeface="Avenir Book" charset="0"/>
                <a:ea typeface="Avenir Book" charset="0"/>
                <a:cs typeface="Avenir Book" charset="0"/>
              </a:rPr>
              <a:t>Polynomial Degree = 4</a:t>
            </a:r>
            <a:endParaRPr sz="1600" dirty="0">
              <a:latin typeface="Avenir Book" charset="0"/>
              <a:ea typeface="Avenir Book" charset="0"/>
              <a:cs typeface="Avenir Book" charset="0"/>
            </a:endParaRPr>
          </a:p>
        </p:txBody>
      </p:sp>
      <p:sp>
        <p:nvSpPr>
          <p:cNvPr id="99" name="object 3"/>
          <p:cNvSpPr txBox="1"/>
          <p:nvPr/>
        </p:nvSpPr>
        <p:spPr>
          <a:xfrm>
            <a:off x="6154442" y="1124122"/>
            <a:ext cx="2309936" cy="371897"/>
          </a:xfrm>
          <a:prstGeom prst="rect">
            <a:avLst/>
          </a:prstGeom>
        </p:spPr>
        <p:txBody>
          <a:bodyPr vert="horz" wrap="square" lIns="0" tIns="0" rIns="0" bIns="0" rtlCol="0" anchor="ctr">
            <a:spAutoFit/>
          </a:bodyPr>
          <a:lstStyle/>
          <a:p>
            <a:pPr marL="9525" marR="3810" algn="ctr">
              <a:lnSpc>
                <a:spcPts val="2850"/>
              </a:lnSpc>
            </a:pPr>
            <a:r>
              <a:rPr lang="en-US" sz="1600" dirty="0" smtClean="0">
                <a:latin typeface="Avenir Book" charset="0"/>
                <a:ea typeface="Avenir Book" charset="0"/>
                <a:cs typeface="Avenir Book" charset="0"/>
              </a:rPr>
              <a:t>Polynomial Degree = 15</a:t>
            </a:r>
            <a:endParaRPr sz="1600" dirty="0">
              <a:latin typeface="Avenir Book" charset="0"/>
              <a:ea typeface="Avenir Book" charset="0"/>
              <a:cs typeface="Avenir Book" charset="0"/>
            </a:endParaRPr>
          </a:p>
        </p:txBody>
      </p:sp>
    </p:spTree>
    <p:extLst>
      <p:ext uri="{BB962C8B-B14F-4D97-AF65-F5344CB8AC3E}">
        <p14:creationId xmlns:p14="http://schemas.microsoft.com/office/powerpoint/2010/main" val="2684181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p:cNvSpPr txBox="1"/>
          <p:nvPr/>
        </p:nvSpPr>
        <p:spPr>
          <a:xfrm>
            <a:off x="398352" y="307119"/>
            <a:ext cx="8437829" cy="461665"/>
          </a:xfrm>
          <a:prstGeom prst="rect">
            <a:avLst/>
          </a:prstGeom>
        </p:spPr>
        <p:txBody>
          <a:bodyPr vert="horz" wrap="square" lIns="0" tIns="0" rIns="0" bIns="0" rtlCol="0">
            <a:spAutoFit/>
          </a:bodyPr>
          <a:lstStyle/>
          <a:p>
            <a:pPr marL="9525"/>
            <a:r>
              <a:rPr lang="en-US" sz="3000" spc="-26" dirty="0" smtClean="0">
                <a:latin typeface="Avenir Book" charset="0"/>
                <a:ea typeface="Avenir Book" charset="0"/>
                <a:cs typeface="Avenir Book" charset="0"/>
              </a:rPr>
              <a:t>Underfitting vs Overfitting</a:t>
            </a:r>
          </a:p>
        </p:txBody>
      </p:sp>
      <p:sp>
        <p:nvSpPr>
          <p:cNvPr id="4" name="Rectangle 3"/>
          <p:cNvSpPr/>
          <p:nvPr/>
        </p:nvSpPr>
        <p:spPr>
          <a:xfrm>
            <a:off x="1480137" y="3956363"/>
            <a:ext cx="1422184" cy="369332"/>
          </a:xfrm>
          <a:prstGeom prst="rect">
            <a:avLst/>
          </a:prstGeom>
        </p:spPr>
        <p:txBody>
          <a:bodyPr wrap="none">
            <a:spAutoFit/>
          </a:bodyPr>
          <a:lstStyle/>
          <a:p>
            <a:r>
              <a:rPr lang="en-US" sz="1800" b="1" dirty="0">
                <a:solidFill>
                  <a:schemeClr val="bg1"/>
                </a:solidFill>
                <a:latin typeface="Avenir Book" charset="0"/>
                <a:ea typeface="Avenir Book" charset="0"/>
                <a:cs typeface="Avenir Book" charset="0"/>
              </a:rPr>
              <a:t>Underfitting</a:t>
            </a:r>
          </a:p>
        </p:txBody>
      </p:sp>
      <p:sp>
        <p:nvSpPr>
          <p:cNvPr id="7" name="Rectangle 6"/>
          <p:cNvSpPr/>
          <p:nvPr/>
        </p:nvSpPr>
        <p:spPr>
          <a:xfrm>
            <a:off x="4147289" y="3956363"/>
            <a:ext cx="1200970" cy="369332"/>
          </a:xfrm>
          <a:prstGeom prst="rect">
            <a:avLst/>
          </a:prstGeom>
        </p:spPr>
        <p:txBody>
          <a:bodyPr wrap="none">
            <a:spAutoFit/>
          </a:bodyPr>
          <a:lstStyle/>
          <a:p>
            <a:r>
              <a:rPr lang="en-US" sz="1800" b="1" dirty="0">
                <a:solidFill>
                  <a:schemeClr val="bg1"/>
                </a:solidFill>
                <a:latin typeface="Avenir Book" charset="0"/>
                <a:ea typeface="Avenir Book" charset="0"/>
                <a:cs typeface="Avenir Book" charset="0"/>
              </a:rPr>
              <a:t>Just Right</a:t>
            </a:r>
          </a:p>
        </p:txBody>
      </p:sp>
      <p:sp>
        <p:nvSpPr>
          <p:cNvPr id="8" name="Rectangle 7"/>
          <p:cNvSpPr/>
          <p:nvPr/>
        </p:nvSpPr>
        <p:spPr>
          <a:xfrm>
            <a:off x="6593228" y="3956363"/>
            <a:ext cx="1297150" cy="369332"/>
          </a:xfrm>
          <a:prstGeom prst="rect">
            <a:avLst/>
          </a:prstGeom>
        </p:spPr>
        <p:txBody>
          <a:bodyPr wrap="none">
            <a:spAutoFit/>
          </a:bodyPr>
          <a:lstStyle/>
          <a:p>
            <a:r>
              <a:rPr lang="en-US" sz="1800" b="1" dirty="0">
                <a:solidFill>
                  <a:schemeClr val="bg1"/>
                </a:solidFill>
                <a:latin typeface="Avenir Book" charset="0"/>
                <a:ea typeface="Avenir Book" charset="0"/>
                <a:cs typeface="Avenir Book" charset="0"/>
              </a:rPr>
              <a:t>Overfitting</a:t>
            </a:r>
          </a:p>
        </p:txBody>
      </p:sp>
      <p:cxnSp>
        <p:nvCxnSpPr>
          <p:cNvPr id="10" name="Straight Arrow Connector 9"/>
          <p:cNvCxnSpPr/>
          <p:nvPr/>
        </p:nvCxnSpPr>
        <p:spPr>
          <a:xfrm flipV="1">
            <a:off x="1066800" y="1524000"/>
            <a:ext cx="10160" cy="216408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1066800" y="3688080"/>
            <a:ext cx="2174240" cy="1016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Freeform 11"/>
          <p:cNvSpPr/>
          <p:nvPr/>
        </p:nvSpPr>
        <p:spPr>
          <a:xfrm>
            <a:off x="1071475" y="2092461"/>
            <a:ext cx="2114900" cy="1071475"/>
          </a:xfrm>
          <a:custGeom>
            <a:avLst/>
            <a:gdLst>
              <a:gd name="connsiteX0" fmla="*/ 0 w 2114900"/>
              <a:gd name="connsiteY0" fmla="*/ 0 h 1071475"/>
              <a:gd name="connsiteX1" fmla="*/ 201953 w 2114900"/>
              <a:gd name="connsiteY1" fmla="*/ 39269 h 1071475"/>
              <a:gd name="connsiteX2" fmla="*/ 409516 w 2114900"/>
              <a:gd name="connsiteY2" fmla="*/ 207564 h 1071475"/>
              <a:gd name="connsiteX3" fmla="*/ 544152 w 2114900"/>
              <a:gd name="connsiteY3" fmla="*/ 347809 h 1071475"/>
              <a:gd name="connsiteX4" fmla="*/ 718056 w 2114900"/>
              <a:gd name="connsiteY4" fmla="*/ 544152 h 1071475"/>
              <a:gd name="connsiteX5" fmla="*/ 886351 w 2114900"/>
              <a:gd name="connsiteY5" fmla="*/ 740496 h 1071475"/>
              <a:gd name="connsiteX6" fmla="*/ 1015377 w 2114900"/>
              <a:gd name="connsiteY6" fmla="*/ 869522 h 1071475"/>
              <a:gd name="connsiteX7" fmla="*/ 1211720 w 2114900"/>
              <a:gd name="connsiteY7" fmla="*/ 1020987 h 1071475"/>
              <a:gd name="connsiteX8" fmla="*/ 1413673 w 2114900"/>
              <a:gd name="connsiteY8" fmla="*/ 1071475 h 1071475"/>
              <a:gd name="connsiteX9" fmla="*/ 1626846 w 2114900"/>
              <a:gd name="connsiteY9" fmla="*/ 1020987 h 1071475"/>
              <a:gd name="connsiteX10" fmla="*/ 1817580 w 2114900"/>
              <a:gd name="connsiteY10" fmla="*/ 875132 h 1071475"/>
              <a:gd name="connsiteX11" fmla="*/ 2114900 w 2114900"/>
              <a:gd name="connsiteY11" fmla="*/ 555372 h 1071475"/>
              <a:gd name="connsiteX12" fmla="*/ 2114900 w 2114900"/>
              <a:gd name="connsiteY12" fmla="*/ 555372 h 10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14900" h="1071475">
                <a:moveTo>
                  <a:pt x="0" y="0"/>
                </a:moveTo>
                <a:cubicBezTo>
                  <a:pt x="66850" y="2337"/>
                  <a:pt x="133700" y="4675"/>
                  <a:pt x="201953" y="39269"/>
                </a:cubicBezTo>
                <a:cubicBezTo>
                  <a:pt x="270206" y="73863"/>
                  <a:pt x="352483" y="156141"/>
                  <a:pt x="409516" y="207564"/>
                </a:cubicBezTo>
                <a:cubicBezTo>
                  <a:pt x="466549" y="258987"/>
                  <a:pt x="492729" y="291711"/>
                  <a:pt x="544152" y="347809"/>
                </a:cubicBezTo>
                <a:cubicBezTo>
                  <a:pt x="595575" y="403907"/>
                  <a:pt x="661023" y="478704"/>
                  <a:pt x="718056" y="544152"/>
                </a:cubicBezTo>
                <a:cubicBezTo>
                  <a:pt x="775089" y="609600"/>
                  <a:pt x="836798" y="686268"/>
                  <a:pt x="886351" y="740496"/>
                </a:cubicBezTo>
                <a:cubicBezTo>
                  <a:pt x="935904" y="794724"/>
                  <a:pt x="961149" y="822774"/>
                  <a:pt x="1015377" y="869522"/>
                </a:cubicBezTo>
                <a:cubicBezTo>
                  <a:pt x="1069605" y="916270"/>
                  <a:pt x="1145337" y="987328"/>
                  <a:pt x="1211720" y="1020987"/>
                </a:cubicBezTo>
                <a:cubicBezTo>
                  <a:pt x="1278103" y="1054646"/>
                  <a:pt x="1344485" y="1071475"/>
                  <a:pt x="1413673" y="1071475"/>
                </a:cubicBezTo>
                <a:cubicBezTo>
                  <a:pt x="1482861" y="1071475"/>
                  <a:pt x="1559528" y="1053711"/>
                  <a:pt x="1626846" y="1020987"/>
                </a:cubicBezTo>
                <a:cubicBezTo>
                  <a:pt x="1694164" y="988263"/>
                  <a:pt x="1736238" y="952735"/>
                  <a:pt x="1817580" y="875132"/>
                </a:cubicBezTo>
                <a:cubicBezTo>
                  <a:pt x="1898922" y="797529"/>
                  <a:pt x="2114900" y="555372"/>
                  <a:pt x="2114900" y="555372"/>
                </a:cubicBezTo>
                <a:lnTo>
                  <a:pt x="2114900" y="555372"/>
                </a:lnTo>
              </a:path>
            </a:pathLst>
          </a:custGeom>
          <a:noFill/>
          <a:ln>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p:cNvSpPr/>
          <p:nvPr/>
        </p:nvSpPr>
        <p:spPr>
          <a:xfrm>
            <a:off x="1227703" y="197465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p:cNvSpPr/>
          <p:nvPr/>
        </p:nvSpPr>
        <p:spPr>
          <a:xfrm>
            <a:off x="1082782" y="2013924"/>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p:cNvSpPr/>
          <p:nvPr/>
        </p:nvSpPr>
        <p:spPr>
          <a:xfrm>
            <a:off x="1194131" y="2103680"/>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p:cNvSpPr/>
          <p:nvPr/>
        </p:nvSpPr>
        <p:spPr>
          <a:xfrm>
            <a:off x="1322222" y="216538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p:cNvSpPr/>
          <p:nvPr/>
        </p:nvSpPr>
        <p:spPr>
          <a:xfrm>
            <a:off x="1912100" y="2695141"/>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p:cNvSpPr/>
          <p:nvPr/>
        </p:nvSpPr>
        <p:spPr>
          <a:xfrm>
            <a:off x="3107838" y="2627822"/>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p:cNvSpPr/>
          <p:nvPr/>
        </p:nvSpPr>
        <p:spPr>
          <a:xfrm>
            <a:off x="3066232" y="270635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p:cNvSpPr/>
          <p:nvPr/>
        </p:nvSpPr>
        <p:spPr>
          <a:xfrm>
            <a:off x="2927624" y="278732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p:cNvSpPr/>
          <p:nvPr/>
        </p:nvSpPr>
        <p:spPr>
          <a:xfrm>
            <a:off x="2888355" y="2932864"/>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p:cNvSpPr/>
          <p:nvPr/>
        </p:nvSpPr>
        <p:spPr>
          <a:xfrm>
            <a:off x="2708694" y="289359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p:cNvSpPr/>
          <p:nvPr/>
        </p:nvSpPr>
        <p:spPr>
          <a:xfrm>
            <a:off x="2769989" y="300821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p:cNvSpPr/>
          <p:nvPr/>
        </p:nvSpPr>
        <p:spPr>
          <a:xfrm>
            <a:off x="2708693" y="312709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p:cNvSpPr/>
          <p:nvPr/>
        </p:nvSpPr>
        <p:spPr>
          <a:xfrm>
            <a:off x="2551619" y="3175192"/>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p:cNvSpPr/>
          <p:nvPr/>
        </p:nvSpPr>
        <p:spPr>
          <a:xfrm>
            <a:off x="2321617" y="304430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p:cNvSpPr/>
          <p:nvPr/>
        </p:nvSpPr>
        <p:spPr>
          <a:xfrm>
            <a:off x="2400154" y="3145516"/>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p:cNvSpPr/>
          <p:nvPr/>
        </p:nvSpPr>
        <p:spPr>
          <a:xfrm>
            <a:off x="1953790" y="285145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p:cNvSpPr/>
          <p:nvPr/>
        </p:nvSpPr>
        <p:spPr>
          <a:xfrm>
            <a:off x="2203810" y="298051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p:cNvSpPr/>
          <p:nvPr/>
        </p:nvSpPr>
        <p:spPr>
          <a:xfrm>
            <a:off x="2132456" y="3048576"/>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p:cNvSpPr/>
          <p:nvPr/>
        </p:nvSpPr>
        <p:spPr>
          <a:xfrm>
            <a:off x="2199361" y="313592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p:cNvSpPr/>
          <p:nvPr/>
        </p:nvSpPr>
        <p:spPr>
          <a:xfrm>
            <a:off x="3019017" y="285873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p:cNvSpPr/>
          <p:nvPr/>
        </p:nvSpPr>
        <p:spPr>
          <a:xfrm>
            <a:off x="1932988" y="2092461"/>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bject 3"/>
          <p:cNvSpPr txBox="1"/>
          <p:nvPr/>
        </p:nvSpPr>
        <p:spPr>
          <a:xfrm>
            <a:off x="2009220" y="3617034"/>
            <a:ext cx="244894" cy="371897"/>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X</a:t>
            </a:r>
            <a:endParaRPr sz="1200" dirty="0">
              <a:latin typeface="Avenir Book" charset="0"/>
              <a:ea typeface="Avenir Book" charset="0"/>
              <a:cs typeface="Avenir Book" charset="0"/>
            </a:endParaRPr>
          </a:p>
        </p:txBody>
      </p:sp>
      <p:sp>
        <p:nvSpPr>
          <p:cNvPr id="35" name="object 3"/>
          <p:cNvSpPr txBox="1"/>
          <p:nvPr/>
        </p:nvSpPr>
        <p:spPr>
          <a:xfrm>
            <a:off x="834977" y="2433987"/>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Y</a:t>
            </a:r>
            <a:endParaRPr sz="1200" dirty="0">
              <a:latin typeface="Avenir Book" charset="0"/>
              <a:ea typeface="Avenir Book" charset="0"/>
              <a:cs typeface="Avenir Book" charset="0"/>
            </a:endParaRPr>
          </a:p>
        </p:txBody>
      </p:sp>
      <p:sp>
        <p:nvSpPr>
          <p:cNvPr id="36" name="object 3"/>
          <p:cNvSpPr txBox="1"/>
          <p:nvPr/>
        </p:nvSpPr>
        <p:spPr>
          <a:xfrm>
            <a:off x="2172341" y="1681666"/>
            <a:ext cx="1063588" cy="553998"/>
          </a:xfrm>
          <a:prstGeom prst="rect">
            <a:avLst/>
          </a:prstGeom>
        </p:spPr>
        <p:txBody>
          <a:bodyPr vert="horz" wrap="square" lIns="0" tIns="0" rIns="0" bIns="0" rtlCol="0" anchor="ctr">
            <a:spAutoFit/>
          </a:bodyPr>
          <a:lstStyle/>
          <a:p>
            <a:pPr marL="9525" marR="3810"/>
            <a:r>
              <a:rPr lang="en-US" sz="1200" dirty="0" smtClean="0">
                <a:latin typeface="Avenir Book" charset="0"/>
                <a:ea typeface="Avenir Book" charset="0"/>
                <a:cs typeface="Avenir Book" charset="0"/>
              </a:rPr>
              <a:t>Model</a:t>
            </a:r>
          </a:p>
          <a:p>
            <a:pPr marL="9525" marR="3810"/>
            <a:r>
              <a:rPr lang="en-US" sz="1200" dirty="0" smtClean="0">
                <a:latin typeface="Avenir Book" charset="0"/>
                <a:ea typeface="Avenir Book" charset="0"/>
                <a:cs typeface="Avenir Book" charset="0"/>
              </a:rPr>
              <a:t>True Function</a:t>
            </a:r>
          </a:p>
          <a:p>
            <a:pPr marL="9525" marR="3810"/>
            <a:r>
              <a:rPr lang="en-US" sz="1200" dirty="0" smtClean="0">
                <a:latin typeface="Avenir Book" charset="0"/>
                <a:ea typeface="Avenir Book" charset="0"/>
                <a:cs typeface="Avenir Book" charset="0"/>
              </a:rPr>
              <a:t>Samples</a:t>
            </a:r>
            <a:endParaRPr sz="1200" dirty="0">
              <a:latin typeface="Avenir Book" charset="0"/>
              <a:ea typeface="Avenir Book" charset="0"/>
              <a:cs typeface="Avenir Book" charset="0"/>
            </a:endParaRPr>
          </a:p>
        </p:txBody>
      </p:sp>
      <p:cxnSp>
        <p:nvCxnSpPr>
          <p:cNvPr id="37" name="Straight Connector 36"/>
          <p:cNvCxnSpPr/>
          <p:nvPr/>
        </p:nvCxnSpPr>
        <p:spPr>
          <a:xfrm>
            <a:off x="1874311" y="1943865"/>
            <a:ext cx="220356" cy="0"/>
          </a:xfrm>
          <a:prstGeom prst="line">
            <a:avLst/>
          </a:prstGeom>
          <a:ln w="2540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1874311" y="1775950"/>
            <a:ext cx="220356"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1066800" y="2347449"/>
            <a:ext cx="2119575" cy="827743"/>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1" name="Freeform 40"/>
          <p:cNvSpPr/>
          <p:nvPr/>
        </p:nvSpPr>
        <p:spPr>
          <a:xfrm>
            <a:off x="3626427" y="2078182"/>
            <a:ext cx="2119746" cy="1111155"/>
          </a:xfrm>
          <a:custGeom>
            <a:avLst/>
            <a:gdLst>
              <a:gd name="connsiteX0" fmla="*/ 0 w 2119746"/>
              <a:gd name="connsiteY0" fmla="*/ 0 h 1111155"/>
              <a:gd name="connsiteX1" fmla="*/ 197428 w 2119746"/>
              <a:gd name="connsiteY1" fmla="*/ 41563 h 1111155"/>
              <a:gd name="connsiteX2" fmla="*/ 353291 w 2119746"/>
              <a:gd name="connsiteY2" fmla="*/ 166254 h 1111155"/>
              <a:gd name="connsiteX3" fmla="*/ 571500 w 2119746"/>
              <a:gd name="connsiteY3" fmla="*/ 374073 h 1111155"/>
              <a:gd name="connsiteX4" fmla="*/ 748146 w 2119746"/>
              <a:gd name="connsiteY4" fmla="*/ 571500 h 1111155"/>
              <a:gd name="connsiteX5" fmla="*/ 997528 w 2119746"/>
              <a:gd name="connsiteY5" fmla="*/ 872836 h 1111155"/>
              <a:gd name="connsiteX6" fmla="*/ 1257300 w 2119746"/>
              <a:gd name="connsiteY6" fmla="*/ 1049482 h 1111155"/>
              <a:gd name="connsiteX7" fmla="*/ 1548246 w 2119746"/>
              <a:gd name="connsiteY7" fmla="*/ 1101436 h 1111155"/>
              <a:gd name="connsiteX8" fmla="*/ 1880755 w 2119746"/>
              <a:gd name="connsiteY8" fmla="*/ 872836 h 1111155"/>
              <a:gd name="connsiteX9" fmla="*/ 2119746 w 2119746"/>
              <a:gd name="connsiteY9" fmla="*/ 571500 h 111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19746" h="1111155">
                <a:moveTo>
                  <a:pt x="0" y="0"/>
                </a:moveTo>
                <a:cubicBezTo>
                  <a:pt x="69273" y="6927"/>
                  <a:pt x="138546" y="13854"/>
                  <a:pt x="197428" y="41563"/>
                </a:cubicBezTo>
                <a:cubicBezTo>
                  <a:pt x="256310" y="69272"/>
                  <a:pt x="290946" y="110836"/>
                  <a:pt x="353291" y="166254"/>
                </a:cubicBezTo>
                <a:cubicBezTo>
                  <a:pt x="415636" y="221672"/>
                  <a:pt x="505691" y="306532"/>
                  <a:pt x="571500" y="374073"/>
                </a:cubicBezTo>
                <a:cubicBezTo>
                  <a:pt x="637309" y="441614"/>
                  <a:pt x="677141" y="488373"/>
                  <a:pt x="748146" y="571500"/>
                </a:cubicBezTo>
                <a:cubicBezTo>
                  <a:pt x="819151" y="654627"/>
                  <a:pt x="912669" y="793173"/>
                  <a:pt x="997528" y="872836"/>
                </a:cubicBezTo>
                <a:cubicBezTo>
                  <a:pt x="1082387" y="952499"/>
                  <a:pt x="1165514" y="1011382"/>
                  <a:pt x="1257300" y="1049482"/>
                </a:cubicBezTo>
                <a:cubicBezTo>
                  <a:pt x="1349086" y="1087582"/>
                  <a:pt x="1444337" y="1130877"/>
                  <a:pt x="1548246" y="1101436"/>
                </a:cubicBezTo>
                <a:cubicBezTo>
                  <a:pt x="1652155" y="1071995"/>
                  <a:pt x="1785505" y="961159"/>
                  <a:pt x="1880755" y="872836"/>
                </a:cubicBezTo>
                <a:cubicBezTo>
                  <a:pt x="1976005" y="784513"/>
                  <a:pt x="2119746" y="571500"/>
                  <a:pt x="2119746" y="571500"/>
                </a:cubicBezTo>
              </a:path>
            </a:pathLst>
          </a:cu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41"/>
          <p:cNvSpPr/>
          <p:nvPr/>
        </p:nvSpPr>
        <p:spPr>
          <a:xfrm>
            <a:off x="6213764" y="1558636"/>
            <a:ext cx="2088572" cy="2026759"/>
          </a:xfrm>
          <a:custGeom>
            <a:avLst/>
            <a:gdLst>
              <a:gd name="connsiteX0" fmla="*/ 0 w 2088572"/>
              <a:gd name="connsiteY0" fmla="*/ 0 h 2026759"/>
              <a:gd name="connsiteX1" fmla="*/ 20781 w 2088572"/>
              <a:gd name="connsiteY1" fmla="*/ 2015837 h 2026759"/>
              <a:gd name="connsiteX2" fmla="*/ 93518 w 2088572"/>
              <a:gd name="connsiteY2" fmla="*/ 789709 h 2026759"/>
              <a:gd name="connsiteX3" fmla="*/ 135081 w 2088572"/>
              <a:gd name="connsiteY3" fmla="*/ 446809 h 2026759"/>
              <a:gd name="connsiteX4" fmla="*/ 218209 w 2088572"/>
              <a:gd name="connsiteY4" fmla="*/ 696191 h 2026759"/>
              <a:gd name="connsiteX5" fmla="*/ 322118 w 2088572"/>
              <a:gd name="connsiteY5" fmla="*/ 394855 h 2026759"/>
              <a:gd name="connsiteX6" fmla="*/ 374072 w 2088572"/>
              <a:gd name="connsiteY6" fmla="*/ 228600 h 2026759"/>
              <a:gd name="connsiteX7" fmla="*/ 436418 w 2088572"/>
              <a:gd name="connsiteY7" fmla="*/ 374073 h 2026759"/>
              <a:gd name="connsiteX8" fmla="*/ 540327 w 2088572"/>
              <a:gd name="connsiteY8" fmla="*/ 1111828 h 2026759"/>
              <a:gd name="connsiteX9" fmla="*/ 644236 w 2088572"/>
              <a:gd name="connsiteY9" fmla="*/ 1361209 h 2026759"/>
              <a:gd name="connsiteX10" fmla="*/ 758536 w 2088572"/>
              <a:gd name="connsiteY10" fmla="*/ 1215737 h 2026759"/>
              <a:gd name="connsiteX11" fmla="*/ 852054 w 2088572"/>
              <a:gd name="connsiteY11" fmla="*/ 1194955 h 2026759"/>
              <a:gd name="connsiteX12" fmla="*/ 997527 w 2088572"/>
              <a:gd name="connsiteY12" fmla="*/ 1517073 h 2026759"/>
              <a:gd name="connsiteX13" fmla="*/ 1143000 w 2088572"/>
              <a:gd name="connsiteY13" fmla="*/ 1506682 h 2026759"/>
              <a:gd name="connsiteX14" fmla="*/ 1267691 w 2088572"/>
              <a:gd name="connsiteY14" fmla="*/ 1485900 h 2026759"/>
              <a:gd name="connsiteX15" fmla="*/ 1402772 w 2088572"/>
              <a:gd name="connsiteY15" fmla="*/ 1683328 h 2026759"/>
              <a:gd name="connsiteX16" fmla="*/ 1548245 w 2088572"/>
              <a:gd name="connsiteY16" fmla="*/ 1652155 h 2026759"/>
              <a:gd name="connsiteX17" fmla="*/ 1652154 w 2088572"/>
              <a:gd name="connsiteY17" fmla="*/ 1496291 h 2026759"/>
              <a:gd name="connsiteX18" fmla="*/ 1818409 w 2088572"/>
              <a:gd name="connsiteY18" fmla="*/ 1454728 h 2026759"/>
              <a:gd name="connsiteX19" fmla="*/ 1870363 w 2088572"/>
              <a:gd name="connsiteY19" fmla="*/ 1278082 h 2026759"/>
              <a:gd name="connsiteX20" fmla="*/ 1995054 w 2088572"/>
              <a:gd name="connsiteY20" fmla="*/ 1246909 h 2026759"/>
              <a:gd name="connsiteX21" fmla="*/ 2026227 w 2088572"/>
              <a:gd name="connsiteY21" fmla="*/ 1143000 h 2026759"/>
              <a:gd name="connsiteX22" fmla="*/ 2067791 w 2088572"/>
              <a:gd name="connsiteY22" fmla="*/ 1558637 h 2026759"/>
              <a:gd name="connsiteX23" fmla="*/ 2078181 w 2088572"/>
              <a:gd name="connsiteY23" fmla="*/ 1558637 h 2026759"/>
              <a:gd name="connsiteX24" fmla="*/ 2088572 w 2088572"/>
              <a:gd name="connsiteY24" fmla="*/ 1569028 h 2026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88572" h="2026759">
                <a:moveTo>
                  <a:pt x="0" y="0"/>
                </a:moveTo>
                <a:cubicBezTo>
                  <a:pt x="2597" y="942109"/>
                  <a:pt x="5195" y="1884219"/>
                  <a:pt x="20781" y="2015837"/>
                </a:cubicBezTo>
                <a:cubicBezTo>
                  <a:pt x="36367" y="2147455"/>
                  <a:pt x="74468" y="1051214"/>
                  <a:pt x="93518" y="789709"/>
                </a:cubicBezTo>
                <a:cubicBezTo>
                  <a:pt x="112568" y="528204"/>
                  <a:pt x="114299" y="462395"/>
                  <a:pt x="135081" y="446809"/>
                </a:cubicBezTo>
                <a:cubicBezTo>
                  <a:pt x="155863" y="431223"/>
                  <a:pt x="187036" y="704850"/>
                  <a:pt x="218209" y="696191"/>
                </a:cubicBezTo>
                <a:cubicBezTo>
                  <a:pt x="249382" y="687532"/>
                  <a:pt x="296141" y="472787"/>
                  <a:pt x="322118" y="394855"/>
                </a:cubicBezTo>
                <a:cubicBezTo>
                  <a:pt x="348095" y="316923"/>
                  <a:pt x="355022" y="232064"/>
                  <a:pt x="374072" y="228600"/>
                </a:cubicBezTo>
                <a:cubicBezTo>
                  <a:pt x="393122" y="225136"/>
                  <a:pt x="408709" y="226868"/>
                  <a:pt x="436418" y="374073"/>
                </a:cubicBezTo>
                <a:cubicBezTo>
                  <a:pt x="464127" y="521278"/>
                  <a:pt x="505691" y="947305"/>
                  <a:pt x="540327" y="1111828"/>
                </a:cubicBezTo>
                <a:cubicBezTo>
                  <a:pt x="574963" y="1276351"/>
                  <a:pt x="607868" y="1343891"/>
                  <a:pt x="644236" y="1361209"/>
                </a:cubicBezTo>
                <a:cubicBezTo>
                  <a:pt x="680604" y="1378527"/>
                  <a:pt x="723900" y="1243446"/>
                  <a:pt x="758536" y="1215737"/>
                </a:cubicBezTo>
                <a:cubicBezTo>
                  <a:pt x="793172" y="1188028"/>
                  <a:pt x="812222" y="1144732"/>
                  <a:pt x="852054" y="1194955"/>
                </a:cubicBezTo>
                <a:cubicBezTo>
                  <a:pt x="891886" y="1245178"/>
                  <a:pt x="949036" y="1465119"/>
                  <a:pt x="997527" y="1517073"/>
                </a:cubicBezTo>
                <a:cubicBezTo>
                  <a:pt x="1046018" y="1569027"/>
                  <a:pt x="1097973" y="1511878"/>
                  <a:pt x="1143000" y="1506682"/>
                </a:cubicBezTo>
                <a:cubicBezTo>
                  <a:pt x="1188027" y="1501487"/>
                  <a:pt x="1224396" y="1456459"/>
                  <a:pt x="1267691" y="1485900"/>
                </a:cubicBezTo>
                <a:cubicBezTo>
                  <a:pt x="1310986" y="1515341"/>
                  <a:pt x="1356013" y="1655619"/>
                  <a:pt x="1402772" y="1683328"/>
                </a:cubicBezTo>
                <a:cubicBezTo>
                  <a:pt x="1449531" y="1711037"/>
                  <a:pt x="1506682" y="1683328"/>
                  <a:pt x="1548245" y="1652155"/>
                </a:cubicBezTo>
                <a:cubicBezTo>
                  <a:pt x="1589808" y="1620982"/>
                  <a:pt x="1607127" y="1529196"/>
                  <a:pt x="1652154" y="1496291"/>
                </a:cubicBezTo>
                <a:cubicBezTo>
                  <a:pt x="1697181" y="1463387"/>
                  <a:pt x="1782041" y="1491096"/>
                  <a:pt x="1818409" y="1454728"/>
                </a:cubicBezTo>
                <a:cubicBezTo>
                  <a:pt x="1854777" y="1418360"/>
                  <a:pt x="1840922" y="1312718"/>
                  <a:pt x="1870363" y="1278082"/>
                </a:cubicBezTo>
                <a:cubicBezTo>
                  <a:pt x="1899804" y="1243446"/>
                  <a:pt x="1969077" y="1269423"/>
                  <a:pt x="1995054" y="1246909"/>
                </a:cubicBezTo>
                <a:cubicBezTo>
                  <a:pt x="2021031" y="1224395"/>
                  <a:pt x="2014104" y="1091045"/>
                  <a:pt x="2026227" y="1143000"/>
                </a:cubicBezTo>
                <a:cubicBezTo>
                  <a:pt x="2038350" y="1194955"/>
                  <a:pt x="2059132" y="1489364"/>
                  <a:pt x="2067791" y="1558637"/>
                </a:cubicBezTo>
                <a:cubicBezTo>
                  <a:pt x="2076450" y="1627910"/>
                  <a:pt x="2074718" y="1556905"/>
                  <a:pt x="2078181" y="1558637"/>
                </a:cubicBezTo>
                <a:cubicBezTo>
                  <a:pt x="2081645" y="1560369"/>
                  <a:pt x="2088572" y="1569028"/>
                  <a:pt x="2088572" y="1569028"/>
                </a:cubicBezTo>
              </a:path>
            </a:pathLst>
          </a:cu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3" name="Straight Arrow Connector 42"/>
          <p:cNvCxnSpPr/>
          <p:nvPr/>
        </p:nvCxnSpPr>
        <p:spPr>
          <a:xfrm flipV="1">
            <a:off x="3626427" y="1524000"/>
            <a:ext cx="10160" cy="216408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V="1">
            <a:off x="3626427" y="3688080"/>
            <a:ext cx="2174240" cy="1016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5" name="Freeform 44"/>
          <p:cNvSpPr/>
          <p:nvPr/>
        </p:nvSpPr>
        <p:spPr>
          <a:xfrm>
            <a:off x="3631102" y="2092461"/>
            <a:ext cx="2114900" cy="1071475"/>
          </a:xfrm>
          <a:custGeom>
            <a:avLst/>
            <a:gdLst>
              <a:gd name="connsiteX0" fmla="*/ 0 w 2114900"/>
              <a:gd name="connsiteY0" fmla="*/ 0 h 1071475"/>
              <a:gd name="connsiteX1" fmla="*/ 201953 w 2114900"/>
              <a:gd name="connsiteY1" fmla="*/ 39269 h 1071475"/>
              <a:gd name="connsiteX2" fmla="*/ 409516 w 2114900"/>
              <a:gd name="connsiteY2" fmla="*/ 207564 h 1071475"/>
              <a:gd name="connsiteX3" fmla="*/ 544152 w 2114900"/>
              <a:gd name="connsiteY3" fmla="*/ 347809 h 1071475"/>
              <a:gd name="connsiteX4" fmla="*/ 718056 w 2114900"/>
              <a:gd name="connsiteY4" fmla="*/ 544152 h 1071475"/>
              <a:gd name="connsiteX5" fmla="*/ 886351 w 2114900"/>
              <a:gd name="connsiteY5" fmla="*/ 740496 h 1071475"/>
              <a:gd name="connsiteX6" fmla="*/ 1015377 w 2114900"/>
              <a:gd name="connsiteY6" fmla="*/ 869522 h 1071475"/>
              <a:gd name="connsiteX7" fmla="*/ 1211720 w 2114900"/>
              <a:gd name="connsiteY7" fmla="*/ 1020987 h 1071475"/>
              <a:gd name="connsiteX8" fmla="*/ 1413673 w 2114900"/>
              <a:gd name="connsiteY8" fmla="*/ 1071475 h 1071475"/>
              <a:gd name="connsiteX9" fmla="*/ 1626846 w 2114900"/>
              <a:gd name="connsiteY9" fmla="*/ 1020987 h 1071475"/>
              <a:gd name="connsiteX10" fmla="*/ 1817580 w 2114900"/>
              <a:gd name="connsiteY10" fmla="*/ 875132 h 1071475"/>
              <a:gd name="connsiteX11" fmla="*/ 2114900 w 2114900"/>
              <a:gd name="connsiteY11" fmla="*/ 555372 h 1071475"/>
              <a:gd name="connsiteX12" fmla="*/ 2114900 w 2114900"/>
              <a:gd name="connsiteY12" fmla="*/ 555372 h 10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14900" h="1071475">
                <a:moveTo>
                  <a:pt x="0" y="0"/>
                </a:moveTo>
                <a:cubicBezTo>
                  <a:pt x="66850" y="2337"/>
                  <a:pt x="133700" y="4675"/>
                  <a:pt x="201953" y="39269"/>
                </a:cubicBezTo>
                <a:cubicBezTo>
                  <a:pt x="270206" y="73863"/>
                  <a:pt x="352483" y="156141"/>
                  <a:pt x="409516" y="207564"/>
                </a:cubicBezTo>
                <a:cubicBezTo>
                  <a:pt x="466549" y="258987"/>
                  <a:pt x="492729" y="291711"/>
                  <a:pt x="544152" y="347809"/>
                </a:cubicBezTo>
                <a:cubicBezTo>
                  <a:pt x="595575" y="403907"/>
                  <a:pt x="661023" y="478704"/>
                  <a:pt x="718056" y="544152"/>
                </a:cubicBezTo>
                <a:cubicBezTo>
                  <a:pt x="775089" y="609600"/>
                  <a:pt x="836798" y="686268"/>
                  <a:pt x="886351" y="740496"/>
                </a:cubicBezTo>
                <a:cubicBezTo>
                  <a:pt x="935904" y="794724"/>
                  <a:pt x="961149" y="822774"/>
                  <a:pt x="1015377" y="869522"/>
                </a:cubicBezTo>
                <a:cubicBezTo>
                  <a:pt x="1069605" y="916270"/>
                  <a:pt x="1145337" y="987328"/>
                  <a:pt x="1211720" y="1020987"/>
                </a:cubicBezTo>
                <a:cubicBezTo>
                  <a:pt x="1278103" y="1054646"/>
                  <a:pt x="1344485" y="1071475"/>
                  <a:pt x="1413673" y="1071475"/>
                </a:cubicBezTo>
                <a:cubicBezTo>
                  <a:pt x="1482861" y="1071475"/>
                  <a:pt x="1559528" y="1053711"/>
                  <a:pt x="1626846" y="1020987"/>
                </a:cubicBezTo>
                <a:cubicBezTo>
                  <a:pt x="1694164" y="988263"/>
                  <a:pt x="1736238" y="952735"/>
                  <a:pt x="1817580" y="875132"/>
                </a:cubicBezTo>
                <a:cubicBezTo>
                  <a:pt x="1898922" y="797529"/>
                  <a:pt x="2114900" y="555372"/>
                  <a:pt x="2114900" y="555372"/>
                </a:cubicBezTo>
                <a:lnTo>
                  <a:pt x="2114900" y="555372"/>
                </a:lnTo>
              </a:path>
            </a:pathLst>
          </a:custGeom>
          <a:noFill/>
          <a:ln>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p:cNvSpPr/>
          <p:nvPr/>
        </p:nvSpPr>
        <p:spPr>
          <a:xfrm>
            <a:off x="3787330" y="197465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p:cNvSpPr/>
          <p:nvPr/>
        </p:nvSpPr>
        <p:spPr>
          <a:xfrm>
            <a:off x="3642409" y="2013924"/>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p:cNvSpPr/>
          <p:nvPr/>
        </p:nvSpPr>
        <p:spPr>
          <a:xfrm>
            <a:off x="3753758" y="2103680"/>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48"/>
          <p:cNvSpPr/>
          <p:nvPr/>
        </p:nvSpPr>
        <p:spPr>
          <a:xfrm>
            <a:off x="3881849" y="216538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49"/>
          <p:cNvSpPr/>
          <p:nvPr/>
        </p:nvSpPr>
        <p:spPr>
          <a:xfrm>
            <a:off x="4471727" y="2695141"/>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p:cNvSpPr/>
          <p:nvPr/>
        </p:nvSpPr>
        <p:spPr>
          <a:xfrm>
            <a:off x="5667465" y="2627822"/>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p:cNvSpPr/>
          <p:nvPr/>
        </p:nvSpPr>
        <p:spPr>
          <a:xfrm>
            <a:off x="5625859" y="270635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p:cNvSpPr/>
          <p:nvPr/>
        </p:nvSpPr>
        <p:spPr>
          <a:xfrm>
            <a:off x="5487251" y="278732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53"/>
          <p:cNvSpPr/>
          <p:nvPr/>
        </p:nvSpPr>
        <p:spPr>
          <a:xfrm>
            <a:off x="5447982" y="2932864"/>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Oval 54"/>
          <p:cNvSpPr/>
          <p:nvPr/>
        </p:nvSpPr>
        <p:spPr>
          <a:xfrm>
            <a:off x="5268321" y="289359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p:cNvSpPr/>
          <p:nvPr/>
        </p:nvSpPr>
        <p:spPr>
          <a:xfrm>
            <a:off x="5329616" y="300821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p:cNvSpPr/>
          <p:nvPr/>
        </p:nvSpPr>
        <p:spPr>
          <a:xfrm>
            <a:off x="5268320" y="312709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p:cNvSpPr/>
          <p:nvPr/>
        </p:nvSpPr>
        <p:spPr>
          <a:xfrm>
            <a:off x="5111246" y="3175192"/>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p:cNvSpPr/>
          <p:nvPr/>
        </p:nvSpPr>
        <p:spPr>
          <a:xfrm>
            <a:off x="4881244" y="304430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Oval 59"/>
          <p:cNvSpPr/>
          <p:nvPr/>
        </p:nvSpPr>
        <p:spPr>
          <a:xfrm>
            <a:off x="4959781" y="3145516"/>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Oval 60"/>
          <p:cNvSpPr/>
          <p:nvPr/>
        </p:nvSpPr>
        <p:spPr>
          <a:xfrm>
            <a:off x="4513417" y="285145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p:cNvSpPr/>
          <p:nvPr/>
        </p:nvSpPr>
        <p:spPr>
          <a:xfrm>
            <a:off x="4763437" y="298051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p:cNvSpPr/>
          <p:nvPr/>
        </p:nvSpPr>
        <p:spPr>
          <a:xfrm>
            <a:off x="4692083" y="3048576"/>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Oval 63"/>
          <p:cNvSpPr/>
          <p:nvPr/>
        </p:nvSpPr>
        <p:spPr>
          <a:xfrm>
            <a:off x="4758988" y="313592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p:cNvSpPr/>
          <p:nvPr/>
        </p:nvSpPr>
        <p:spPr>
          <a:xfrm>
            <a:off x="5578644" y="285873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object 3"/>
          <p:cNvSpPr txBox="1"/>
          <p:nvPr/>
        </p:nvSpPr>
        <p:spPr>
          <a:xfrm>
            <a:off x="4568847" y="3617034"/>
            <a:ext cx="244894" cy="371897"/>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X</a:t>
            </a:r>
            <a:endParaRPr sz="1200" dirty="0">
              <a:latin typeface="Avenir Book" charset="0"/>
              <a:ea typeface="Avenir Book" charset="0"/>
              <a:cs typeface="Avenir Book" charset="0"/>
            </a:endParaRPr>
          </a:p>
        </p:txBody>
      </p:sp>
      <p:sp>
        <p:nvSpPr>
          <p:cNvPr id="67" name="object 3"/>
          <p:cNvSpPr txBox="1"/>
          <p:nvPr/>
        </p:nvSpPr>
        <p:spPr>
          <a:xfrm>
            <a:off x="3394604" y="2433987"/>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Y</a:t>
            </a:r>
            <a:endParaRPr sz="1200" dirty="0">
              <a:latin typeface="Avenir Book" charset="0"/>
              <a:ea typeface="Avenir Book" charset="0"/>
              <a:cs typeface="Avenir Book" charset="0"/>
            </a:endParaRPr>
          </a:p>
        </p:txBody>
      </p:sp>
      <p:cxnSp>
        <p:nvCxnSpPr>
          <p:cNvPr id="69" name="Straight Arrow Connector 68"/>
          <p:cNvCxnSpPr/>
          <p:nvPr/>
        </p:nvCxnSpPr>
        <p:spPr>
          <a:xfrm flipV="1">
            <a:off x="6183124" y="1524000"/>
            <a:ext cx="10160" cy="216408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V="1">
            <a:off x="6183124" y="3688080"/>
            <a:ext cx="2174240" cy="1016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1" name="Freeform 70"/>
          <p:cNvSpPr/>
          <p:nvPr/>
        </p:nvSpPr>
        <p:spPr>
          <a:xfrm>
            <a:off x="6187799" y="2092461"/>
            <a:ext cx="2114900" cy="1071475"/>
          </a:xfrm>
          <a:custGeom>
            <a:avLst/>
            <a:gdLst>
              <a:gd name="connsiteX0" fmla="*/ 0 w 2114900"/>
              <a:gd name="connsiteY0" fmla="*/ 0 h 1071475"/>
              <a:gd name="connsiteX1" fmla="*/ 201953 w 2114900"/>
              <a:gd name="connsiteY1" fmla="*/ 39269 h 1071475"/>
              <a:gd name="connsiteX2" fmla="*/ 409516 w 2114900"/>
              <a:gd name="connsiteY2" fmla="*/ 207564 h 1071475"/>
              <a:gd name="connsiteX3" fmla="*/ 544152 w 2114900"/>
              <a:gd name="connsiteY3" fmla="*/ 347809 h 1071475"/>
              <a:gd name="connsiteX4" fmla="*/ 718056 w 2114900"/>
              <a:gd name="connsiteY4" fmla="*/ 544152 h 1071475"/>
              <a:gd name="connsiteX5" fmla="*/ 886351 w 2114900"/>
              <a:gd name="connsiteY5" fmla="*/ 740496 h 1071475"/>
              <a:gd name="connsiteX6" fmla="*/ 1015377 w 2114900"/>
              <a:gd name="connsiteY6" fmla="*/ 869522 h 1071475"/>
              <a:gd name="connsiteX7" fmla="*/ 1211720 w 2114900"/>
              <a:gd name="connsiteY7" fmla="*/ 1020987 h 1071475"/>
              <a:gd name="connsiteX8" fmla="*/ 1413673 w 2114900"/>
              <a:gd name="connsiteY8" fmla="*/ 1071475 h 1071475"/>
              <a:gd name="connsiteX9" fmla="*/ 1626846 w 2114900"/>
              <a:gd name="connsiteY9" fmla="*/ 1020987 h 1071475"/>
              <a:gd name="connsiteX10" fmla="*/ 1817580 w 2114900"/>
              <a:gd name="connsiteY10" fmla="*/ 875132 h 1071475"/>
              <a:gd name="connsiteX11" fmla="*/ 2114900 w 2114900"/>
              <a:gd name="connsiteY11" fmla="*/ 555372 h 1071475"/>
              <a:gd name="connsiteX12" fmla="*/ 2114900 w 2114900"/>
              <a:gd name="connsiteY12" fmla="*/ 555372 h 10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14900" h="1071475">
                <a:moveTo>
                  <a:pt x="0" y="0"/>
                </a:moveTo>
                <a:cubicBezTo>
                  <a:pt x="66850" y="2337"/>
                  <a:pt x="133700" y="4675"/>
                  <a:pt x="201953" y="39269"/>
                </a:cubicBezTo>
                <a:cubicBezTo>
                  <a:pt x="270206" y="73863"/>
                  <a:pt x="352483" y="156141"/>
                  <a:pt x="409516" y="207564"/>
                </a:cubicBezTo>
                <a:cubicBezTo>
                  <a:pt x="466549" y="258987"/>
                  <a:pt x="492729" y="291711"/>
                  <a:pt x="544152" y="347809"/>
                </a:cubicBezTo>
                <a:cubicBezTo>
                  <a:pt x="595575" y="403907"/>
                  <a:pt x="661023" y="478704"/>
                  <a:pt x="718056" y="544152"/>
                </a:cubicBezTo>
                <a:cubicBezTo>
                  <a:pt x="775089" y="609600"/>
                  <a:pt x="836798" y="686268"/>
                  <a:pt x="886351" y="740496"/>
                </a:cubicBezTo>
                <a:cubicBezTo>
                  <a:pt x="935904" y="794724"/>
                  <a:pt x="961149" y="822774"/>
                  <a:pt x="1015377" y="869522"/>
                </a:cubicBezTo>
                <a:cubicBezTo>
                  <a:pt x="1069605" y="916270"/>
                  <a:pt x="1145337" y="987328"/>
                  <a:pt x="1211720" y="1020987"/>
                </a:cubicBezTo>
                <a:cubicBezTo>
                  <a:pt x="1278103" y="1054646"/>
                  <a:pt x="1344485" y="1071475"/>
                  <a:pt x="1413673" y="1071475"/>
                </a:cubicBezTo>
                <a:cubicBezTo>
                  <a:pt x="1482861" y="1071475"/>
                  <a:pt x="1559528" y="1053711"/>
                  <a:pt x="1626846" y="1020987"/>
                </a:cubicBezTo>
                <a:cubicBezTo>
                  <a:pt x="1694164" y="988263"/>
                  <a:pt x="1736238" y="952735"/>
                  <a:pt x="1817580" y="875132"/>
                </a:cubicBezTo>
                <a:cubicBezTo>
                  <a:pt x="1898922" y="797529"/>
                  <a:pt x="2114900" y="555372"/>
                  <a:pt x="2114900" y="555372"/>
                </a:cubicBezTo>
                <a:lnTo>
                  <a:pt x="2114900" y="555372"/>
                </a:lnTo>
              </a:path>
            </a:pathLst>
          </a:custGeom>
          <a:noFill/>
          <a:ln>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Oval 71"/>
          <p:cNvSpPr/>
          <p:nvPr/>
        </p:nvSpPr>
        <p:spPr>
          <a:xfrm>
            <a:off x="6344027" y="197465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Oval 72"/>
          <p:cNvSpPr/>
          <p:nvPr/>
        </p:nvSpPr>
        <p:spPr>
          <a:xfrm>
            <a:off x="6199106" y="2013924"/>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Oval 73"/>
          <p:cNvSpPr/>
          <p:nvPr/>
        </p:nvSpPr>
        <p:spPr>
          <a:xfrm>
            <a:off x="6310455" y="2103680"/>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p:cNvSpPr/>
          <p:nvPr/>
        </p:nvSpPr>
        <p:spPr>
          <a:xfrm>
            <a:off x="6438546" y="216538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p:cNvSpPr/>
          <p:nvPr/>
        </p:nvSpPr>
        <p:spPr>
          <a:xfrm>
            <a:off x="7028424" y="2695141"/>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Oval 76"/>
          <p:cNvSpPr/>
          <p:nvPr/>
        </p:nvSpPr>
        <p:spPr>
          <a:xfrm>
            <a:off x="8224162" y="2627822"/>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Oval 77"/>
          <p:cNvSpPr/>
          <p:nvPr/>
        </p:nvSpPr>
        <p:spPr>
          <a:xfrm>
            <a:off x="8182556" y="270635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Oval 78"/>
          <p:cNvSpPr/>
          <p:nvPr/>
        </p:nvSpPr>
        <p:spPr>
          <a:xfrm>
            <a:off x="8043948" y="278732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Oval 79"/>
          <p:cNvSpPr/>
          <p:nvPr/>
        </p:nvSpPr>
        <p:spPr>
          <a:xfrm>
            <a:off x="8004679" y="2932864"/>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Oval 80"/>
          <p:cNvSpPr/>
          <p:nvPr/>
        </p:nvSpPr>
        <p:spPr>
          <a:xfrm>
            <a:off x="7825018" y="289359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Oval 81"/>
          <p:cNvSpPr/>
          <p:nvPr/>
        </p:nvSpPr>
        <p:spPr>
          <a:xfrm>
            <a:off x="7886313" y="300821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Oval 82"/>
          <p:cNvSpPr/>
          <p:nvPr/>
        </p:nvSpPr>
        <p:spPr>
          <a:xfrm>
            <a:off x="7825017" y="312709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Oval 83"/>
          <p:cNvSpPr/>
          <p:nvPr/>
        </p:nvSpPr>
        <p:spPr>
          <a:xfrm>
            <a:off x="7667943" y="3175192"/>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Oval 84"/>
          <p:cNvSpPr/>
          <p:nvPr/>
        </p:nvSpPr>
        <p:spPr>
          <a:xfrm>
            <a:off x="7437941" y="304430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Oval 85"/>
          <p:cNvSpPr/>
          <p:nvPr/>
        </p:nvSpPr>
        <p:spPr>
          <a:xfrm>
            <a:off x="7516478" y="3145516"/>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Oval 86"/>
          <p:cNvSpPr/>
          <p:nvPr/>
        </p:nvSpPr>
        <p:spPr>
          <a:xfrm>
            <a:off x="7070114" y="285145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Oval 87"/>
          <p:cNvSpPr/>
          <p:nvPr/>
        </p:nvSpPr>
        <p:spPr>
          <a:xfrm>
            <a:off x="7320134" y="298051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Oval 88"/>
          <p:cNvSpPr/>
          <p:nvPr/>
        </p:nvSpPr>
        <p:spPr>
          <a:xfrm>
            <a:off x="7248780" y="3048576"/>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Oval 89"/>
          <p:cNvSpPr/>
          <p:nvPr/>
        </p:nvSpPr>
        <p:spPr>
          <a:xfrm>
            <a:off x="7315685" y="313592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Oval 90"/>
          <p:cNvSpPr/>
          <p:nvPr/>
        </p:nvSpPr>
        <p:spPr>
          <a:xfrm>
            <a:off x="8135341" y="285873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bject 3"/>
          <p:cNvSpPr txBox="1"/>
          <p:nvPr/>
        </p:nvSpPr>
        <p:spPr>
          <a:xfrm>
            <a:off x="7125544" y="3617034"/>
            <a:ext cx="244894" cy="371897"/>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X</a:t>
            </a:r>
            <a:endParaRPr sz="1200" dirty="0">
              <a:latin typeface="Avenir Book" charset="0"/>
              <a:ea typeface="Avenir Book" charset="0"/>
              <a:cs typeface="Avenir Book" charset="0"/>
            </a:endParaRPr>
          </a:p>
        </p:txBody>
      </p:sp>
      <p:sp>
        <p:nvSpPr>
          <p:cNvPr id="93" name="object 3"/>
          <p:cNvSpPr txBox="1"/>
          <p:nvPr/>
        </p:nvSpPr>
        <p:spPr>
          <a:xfrm>
            <a:off x="5951301" y="2433987"/>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Y</a:t>
            </a:r>
            <a:endParaRPr sz="1200" dirty="0">
              <a:latin typeface="Avenir Book" charset="0"/>
              <a:ea typeface="Avenir Book" charset="0"/>
              <a:cs typeface="Avenir Book" charset="0"/>
            </a:endParaRPr>
          </a:p>
        </p:txBody>
      </p:sp>
      <p:sp>
        <p:nvSpPr>
          <p:cNvPr id="94" name="object 3"/>
          <p:cNvSpPr txBox="1"/>
          <p:nvPr/>
        </p:nvSpPr>
        <p:spPr>
          <a:xfrm>
            <a:off x="1071475" y="1124122"/>
            <a:ext cx="2114900" cy="371897"/>
          </a:xfrm>
          <a:prstGeom prst="rect">
            <a:avLst/>
          </a:prstGeom>
        </p:spPr>
        <p:txBody>
          <a:bodyPr vert="horz" wrap="square" lIns="0" tIns="0" rIns="0" bIns="0" rtlCol="0" anchor="ctr">
            <a:spAutoFit/>
          </a:bodyPr>
          <a:lstStyle/>
          <a:p>
            <a:pPr marL="9525" marR="3810" algn="ctr">
              <a:lnSpc>
                <a:spcPts val="2850"/>
              </a:lnSpc>
            </a:pPr>
            <a:r>
              <a:rPr lang="en-US" sz="1600" dirty="0" smtClean="0">
                <a:latin typeface="Avenir Book" charset="0"/>
                <a:ea typeface="Avenir Book" charset="0"/>
                <a:cs typeface="Avenir Book" charset="0"/>
              </a:rPr>
              <a:t>Polynomial Degree = 1</a:t>
            </a:r>
            <a:endParaRPr sz="1600" dirty="0">
              <a:latin typeface="Avenir Book" charset="0"/>
              <a:ea typeface="Avenir Book" charset="0"/>
              <a:cs typeface="Avenir Book" charset="0"/>
            </a:endParaRPr>
          </a:p>
        </p:txBody>
      </p:sp>
      <p:sp>
        <p:nvSpPr>
          <p:cNvPr id="98" name="object 3"/>
          <p:cNvSpPr txBox="1"/>
          <p:nvPr/>
        </p:nvSpPr>
        <p:spPr>
          <a:xfrm>
            <a:off x="3628850" y="1124122"/>
            <a:ext cx="2114900" cy="371897"/>
          </a:xfrm>
          <a:prstGeom prst="rect">
            <a:avLst/>
          </a:prstGeom>
        </p:spPr>
        <p:txBody>
          <a:bodyPr vert="horz" wrap="square" lIns="0" tIns="0" rIns="0" bIns="0" rtlCol="0" anchor="ctr">
            <a:spAutoFit/>
          </a:bodyPr>
          <a:lstStyle/>
          <a:p>
            <a:pPr marL="9525" marR="3810" algn="ctr">
              <a:lnSpc>
                <a:spcPts val="2850"/>
              </a:lnSpc>
            </a:pPr>
            <a:r>
              <a:rPr lang="en-US" sz="1600" dirty="0" smtClean="0">
                <a:latin typeface="Avenir Book" charset="0"/>
                <a:ea typeface="Avenir Book" charset="0"/>
                <a:cs typeface="Avenir Book" charset="0"/>
              </a:rPr>
              <a:t>Polynomial Degree = 4</a:t>
            </a:r>
            <a:endParaRPr sz="1600" dirty="0">
              <a:latin typeface="Avenir Book" charset="0"/>
              <a:ea typeface="Avenir Book" charset="0"/>
              <a:cs typeface="Avenir Book" charset="0"/>
            </a:endParaRPr>
          </a:p>
        </p:txBody>
      </p:sp>
      <p:sp>
        <p:nvSpPr>
          <p:cNvPr id="99" name="object 3"/>
          <p:cNvSpPr txBox="1"/>
          <p:nvPr/>
        </p:nvSpPr>
        <p:spPr>
          <a:xfrm>
            <a:off x="6154442" y="1124122"/>
            <a:ext cx="2309936" cy="371897"/>
          </a:xfrm>
          <a:prstGeom prst="rect">
            <a:avLst/>
          </a:prstGeom>
        </p:spPr>
        <p:txBody>
          <a:bodyPr vert="horz" wrap="square" lIns="0" tIns="0" rIns="0" bIns="0" rtlCol="0" anchor="ctr">
            <a:spAutoFit/>
          </a:bodyPr>
          <a:lstStyle/>
          <a:p>
            <a:pPr marL="9525" marR="3810" algn="ctr">
              <a:lnSpc>
                <a:spcPts val="2850"/>
              </a:lnSpc>
            </a:pPr>
            <a:r>
              <a:rPr lang="en-US" sz="1600" dirty="0" smtClean="0">
                <a:latin typeface="Avenir Book" charset="0"/>
                <a:ea typeface="Avenir Book" charset="0"/>
                <a:cs typeface="Avenir Book" charset="0"/>
              </a:rPr>
              <a:t>Polynomial Degree = 15</a:t>
            </a:r>
            <a:endParaRPr sz="1600" dirty="0">
              <a:latin typeface="Avenir Book" charset="0"/>
              <a:ea typeface="Avenir Book" charset="0"/>
              <a:cs typeface="Avenir Book" charset="0"/>
            </a:endParaRPr>
          </a:p>
        </p:txBody>
      </p:sp>
    </p:spTree>
    <p:extLst>
      <p:ext uri="{BB962C8B-B14F-4D97-AF65-F5344CB8AC3E}">
        <p14:creationId xmlns:p14="http://schemas.microsoft.com/office/powerpoint/2010/main" val="2145796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p:cNvSpPr txBox="1"/>
          <p:nvPr/>
        </p:nvSpPr>
        <p:spPr>
          <a:xfrm>
            <a:off x="398352" y="307119"/>
            <a:ext cx="8437829" cy="461665"/>
          </a:xfrm>
          <a:prstGeom prst="rect">
            <a:avLst/>
          </a:prstGeom>
        </p:spPr>
        <p:txBody>
          <a:bodyPr vert="horz" wrap="square" lIns="0" tIns="0" rIns="0" bIns="0" rtlCol="0">
            <a:spAutoFit/>
          </a:bodyPr>
          <a:lstStyle/>
          <a:p>
            <a:pPr marL="9525"/>
            <a:r>
              <a:rPr lang="en-US" sz="3000" spc="-26" dirty="0" smtClean="0">
                <a:latin typeface="Avenir Book" charset="0"/>
                <a:ea typeface="Avenir Book" charset="0"/>
                <a:cs typeface="Avenir Book" charset="0"/>
              </a:rPr>
              <a:t>Bias – Variance Tradeoff</a:t>
            </a:r>
          </a:p>
        </p:txBody>
      </p:sp>
      <p:sp>
        <p:nvSpPr>
          <p:cNvPr id="4" name="Rectangle 3"/>
          <p:cNvSpPr/>
          <p:nvPr/>
        </p:nvSpPr>
        <p:spPr>
          <a:xfrm>
            <a:off x="1353498" y="4013657"/>
            <a:ext cx="1548822" cy="646331"/>
          </a:xfrm>
          <a:prstGeom prst="rect">
            <a:avLst/>
          </a:prstGeom>
        </p:spPr>
        <p:txBody>
          <a:bodyPr wrap="none">
            <a:spAutoFit/>
          </a:bodyPr>
          <a:lstStyle/>
          <a:p>
            <a:pPr algn="ctr"/>
            <a:r>
              <a:rPr lang="en-US" sz="1800" b="1" dirty="0" smtClean="0">
                <a:solidFill>
                  <a:schemeClr val="bg1"/>
                </a:solidFill>
                <a:latin typeface="Avenir Book" charset="0"/>
                <a:ea typeface="Avenir Book" charset="0"/>
                <a:cs typeface="Avenir Book" charset="0"/>
              </a:rPr>
              <a:t>High Bias</a:t>
            </a:r>
          </a:p>
          <a:p>
            <a:pPr algn="ctr"/>
            <a:r>
              <a:rPr lang="en-US" sz="1800" b="1" dirty="0" smtClean="0">
                <a:solidFill>
                  <a:schemeClr val="bg1"/>
                </a:solidFill>
                <a:latin typeface="Avenir Book" charset="0"/>
                <a:ea typeface="Avenir Book" charset="0"/>
                <a:cs typeface="Avenir Book" charset="0"/>
              </a:rPr>
              <a:t>Low Variance</a:t>
            </a:r>
            <a:endParaRPr lang="en-US" sz="1800" b="1" dirty="0">
              <a:solidFill>
                <a:schemeClr val="bg1"/>
              </a:solidFill>
              <a:latin typeface="Avenir Book" charset="0"/>
              <a:ea typeface="Avenir Book" charset="0"/>
              <a:cs typeface="Avenir Book" charset="0"/>
            </a:endParaRPr>
          </a:p>
        </p:txBody>
      </p:sp>
      <p:sp>
        <p:nvSpPr>
          <p:cNvPr id="7" name="Rectangle 6"/>
          <p:cNvSpPr/>
          <p:nvPr/>
        </p:nvSpPr>
        <p:spPr>
          <a:xfrm>
            <a:off x="4129182" y="4152156"/>
            <a:ext cx="1200970" cy="369332"/>
          </a:xfrm>
          <a:prstGeom prst="rect">
            <a:avLst/>
          </a:prstGeom>
        </p:spPr>
        <p:txBody>
          <a:bodyPr wrap="none">
            <a:spAutoFit/>
          </a:bodyPr>
          <a:lstStyle/>
          <a:p>
            <a:r>
              <a:rPr lang="en-US" sz="1800" b="1" dirty="0">
                <a:solidFill>
                  <a:schemeClr val="bg1"/>
                </a:solidFill>
                <a:latin typeface="Avenir Book" charset="0"/>
                <a:ea typeface="Avenir Book" charset="0"/>
                <a:cs typeface="Avenir Book" charset="0"/>
              </a:rPr>
              <a:t>Just Right</a:t>
            </a:r>
          </a:p>
        </p:txBody>
      </p:sp>
      <p:sp>
        <p:nvSpPr>
          <p:cNvPr id="8" name="Rectangle 7"/>
          <p:cNvSpPr/>
          <p:nvPr/>
        </p:nvSpPr>
        <p:spPr>
          <a:xfrm>
            <a:off x="6575121" y="4013657"/>
            <a:ext cx="1622559" cy="646331"/>
          </a:xfrm>
          <a:prstGeom prst="rect">
            <a:avLst/>
          </a:prstGeom>
        </p:spPr>
        <p:txBody>
          <a:bodyPr wrap="none">
            <a:spAutoFit/>
          </a:bodyPr>
          <a:lstStyle/>
          <a:p>
            <a:pPr algn="ctr"/>
            <a:r>
              <a:rPr lang="en-US" sz="1800" b="1" dirty="0" smtClean="0">
                <a:solidFill>
                  <a:schemeClr val="bg1"/>
                </a:solidFill>
                <a:latin typeface="Avenir Book" charset="0"/>
                <a:ea typeface="Avenir Book" charset="0"/>
                <a:cs typeface="Avenir Book" charset="0"/>
              </a:rPr>
              <a:t>Low Bias</a:t>
            </a:r>
          </a:p>
          <a:p>
            <a:pPr algn="ctr"/>
            <a:r>
              <a:rPr lang="en-US" sz="1800" b="1" dirty="0" smtClean="0">
                <a:solidFill>
                  <a:schemeClr val="bg1"/>
                </a:solidFill>
                <a:latin typeface="Avenir Book" charset="0"/>
                <a:ea typeface="Avenir Book" charset="0"/>
                <a:cs typeface="Avenir Book" charset="0"/>
              </a:rPr>
              <a:t>High Variance</a:t>
            </a:r>
            <a:endParaRPr lang="en-US" sz="1800" b="1" dirty="0">
              <a:solidFill>
                <a:schemeClr val="bg1"/>
              </a:solidFill>
              <a:latin typeface="Avenir Book" charset="0"/>
              <a:ea typeface="Avenir Book" charset="0"/>
              <a:cs typeface="Avenir Book" charset="0"/>
            </a:endParaRPr>
          </a:p>
        </p:txBody>
      </p:sp>
      <p:cxnSp>
        <p:nvCxnSpPr>
          <p:cNvPr id="10" name="Straight Arrow Connector 9"/>
          <p:cNvCxnSpPr/>
          <p:nvPr/>
        </p:nvCxnSpPr>
        <p:spPr>
          <a:xfrm flipV="1">
            <a:off x="1066800" y="1524000"/>
            <a:ext cx="10160" cy="216408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1066800" y="3688080"/>
            <a:ext cx="2174240" cy="1016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Freeform 11"/>
          <p:cNvSpPr/>
          <p:nvPr/>
        </p:nvSpPr>
        <p:spPr>
          <a:xfrm>
            <a:off x="1071475" y="2092461"/>
            <a:ext cx="2114900" cy="1071475"/>
          </a:xfrm>
          <a:custGeom>
            <a:avLst/>
            <a:gdLst>
              <a:gd name="connsiteX0" fmla="*/ 0 w 2114900"/>
              <a:gd name="connsiteY0" fmla="*/ 0 h 1071475"/>
              <a:gd name="connsiteX1" fmla="*/ 201953 w 2114900"/>
              <a:gd name="connsiteY1" fmla="*/ 39269 h 1071475"/>
              <a:gd name="connsiteX2" fmla="*/ 409516 w 2114900"/>
              <a:gd name="connsiteY2" fmla="*/ 207564 h 1071475"/>
              <a:gd name="connsiteX3" fmla="*/ 544152 w 2114900"/>
              <a:gd name="connsiteY3" fmla="*/ 347809 h 1071475"/>
              <a:gd name="connsiteX4" fmla="*/ 718056 w 2114900"/>
              <a:gd name="connsiteY4" fmla="*/ 544152 h 1071475"/>
              <a:gd name="connsiteX5" fmla="*/ 886351 w 2114900"/>
              <a:gd name="connsiteY5" fmla="*/ 740496 h 1071475"/>
              <a:gd name="connsiteX6" fmla="*/ 1015377 w 2114900"/>
              <a:gd name="connsiteY6" fmla="*/ 869522 h 1071475"/>
              <a:gd name="connsiteX7" fmla="*/ 1211720 w 2114900"/>
              <a:gd name="connsiteY7" fmla="*/ 1020987 h 1071475"/>
              <a:gd name="connsiteX8" fmla="*/ 1413673 w 2114900"/>
              <a:gd name="connsiteY8" fmla="*/ 1071475 h 1071475"/>
              <a:gd name="connsiteX9" fmla="*/ 1626846 w 2114900"/>
              <a:gd name="connsiteY9" fmla="*/ 1020987 h 1071475"/>
              <a:gd name="connsiteX10" fmla="*/ 1817580 w 2114900"/>
              <a:gd name="connsiteY10" fmla="*/ 875132 h 1071475"/>
              <a:gd name="connsiteX11" fmla="*/ 2114900 w 2114900"/>
              <a:gd name="connsiteY11" fmla="*/ 555372 h 1071475"/>
              <a:gd name="connsiteX12" fmla="*/ 2114900 w 2114900"/>
              <a:gd name="connsiteY12" fmla="*/ 555372 h 10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14900" h="1071475">
                <a:moveTo>
                  <a:pt x="0" y="0"/>
                </a:moveTo>
                <a:cubicBezTo>
                  <a:pt x="66850" y="2337"/>
                  <a:pt x="133700" y="4675"/>
                  <a:pt x="201953" y="39269"/>
                </a:cubicBezTo>
                <a:cubicBezTo>
                  <a:pt x="270206" y="73863"/>
                  <a:pt x="352483" y="156141"/>
                  <a:pt x="409516" y="207564"/>
                </a:cubicBezTo>
                <a:cubicBezTo>
                  <a:pt x="466549" y="258987"/>
                  <a:pt x="492729" y="291711"/>
                  <a:pt x="544152" y="347809"/>
                </a:cubicBezTo>
                <a:cubicBezTo>
                  <a:pt x="595575" y="403907"/>
                  <a:pt x="661023" y="478704"/>
                  <a:pt x="718056" y="544152"/>
                </a:cubicBezTo>
                <a:cubicBezTo>
                  <a:pt x="775089" y="609600"/>
                  <a:pt x="836798" y="686268"/>
                  <a:pt x="886351" y="740496"/>
                </a:cubicBezTo>
                <a:cubicBezTo>
                  <a:pt x="935904" y="794724"/>
                  <a:pt x="961149" y="822774"/>
                  <a:pt x="1015377" y="869522"/>
                </a:cubicBezTo>
                <a:cubicBezTo>
                  <a:pt x="1069605" y="916270"/>
                  <a:pt x="1145337" y="987328"/>
                  <a:pt x="1211720" y="1020987"/>
                </a:cubicBezTo>
                <a:cubicBezTo>
                  <a:pt x="1278103" y="1054646"/>
                  <a:pt x="1344485" y="1071475"/>
                  <a:pt x="1413673" y="1071475"/>
                </a:cubicBezTo>
                <a:cubicBezTo>
                  <a:pt x="1482861" y="1071475"/>
                  <a:pt x="1559528" y="1053711"/>
                  <a:pt x="1626846" y="1020987"/>
                </a:cubicBezTo>
                <a:cubicBezTo>
                  <a:pt x="1694164" y="988263"/>
                  <a:pt x="1736238" y="952735"/>
                  <a:pt x="1817580" y="875132"/>
                </a:cubicBezTo>
                <a:cubicBezTo>
                  <a:pt x="1898922" y="797529"/>
                  <a:pt x="2114900" y="555372"/>
                  <a:pt x="2114900" y="555372"/>
                </a:cubicBezTo>
                <a:lnTo>
                  <a:pt x="2114900" y="555372"/>
                </a:lnTo>
              </a:path>
            </a:pathLst>
          </a:custGeom>
          <a:noFill/>
          <a:ln>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p:cNvSpPr/>
          <p:nvPr/>
        </p:nvSpPr>
        <p:spPr>
          <a:xfrm>
            <a:off x="1227703" y="197465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p:cNvSpPr/>
          <p:nvPr/>
        </p:nvSpPr>
        <p:spPr>
          <a:xfrm>
            <a:off x="1082782" y="2013924"/>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p:cNvSpPr/>
          <p:nvPr/>
        </p:nvSpPr>
        <p:spPr>
          <a:xfrm>
            <a:off x="1194131" y="2103680"/>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p:cNvSpPr/>
          <p:nvPr/>
        </p:nvSpPr>
        <p:spPr>
          <a:xfrm>
            <a:off x="1322222" y="216538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p:cNvSpPr/>
          <p:nvPr/>
        </p:nvSpPr>
        <p:spPr>
          <a:xfrm>
            <a:off x="1912100" y="2695141"/>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p:cNvSpPr/>
          <p:nvPr/>
        </p:nvSpPr>
        <p:spPr>
          <a:xfrm>
            <a:off x="3107838" y="2627822"/>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p:cNvSpPr/>
          <p:nvPr/>
        </p:nvSpPr>
        <p:spPr>
          <a:xfrm>
            <a:off x="3066232" y="270635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p:cNvSpPr/>
          <p:nvPr/>
        </p:nvSpPr>
        <p:spPr>
          <a:xfrm>
            <a:off x="2927624" y="278732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p:cNvSpPr/>
          <p:nvPr/>
        </p:nvSpPr>
        <p:spPr>
          <a:xfrm>
            <a:off x="2888355" y="2932864"/>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p:cNvSpPr/>
          <p:nvPr/>
        </p:nvSpPr>
        <p:spPr>
          <a:xfrm>
            <a:off x="2708694" y="289359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p:cNvSpPr/>
          <p:nvPr/>
        </p:nvSpPr>
        <p:spPr>
          <a:xfrm>
            <a:off x="2769989" y="300821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p:cNvSpPr/>
          <p:nvPr/>
        </p:nvSpPr>
        <p:spPr>
          <a:xfrm>
            <a:off x="2708693" y="312709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p:cNvSpPr/>
          <p:nvPr/>
        </p:nvSpPr>
        <p:spPr>
          <a:xfrm>
            <a:off x="2551619" y="3175192"/>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p:cNvSpPr/>
          <p:nvPr/>
        </p:nvSpPr>
        <p:spPr>
          <a:xfrm>
            <a:off x="2321617" y="304430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p:cNvSpPr/>
          <p:nvPr/>
        </p:nvSpPr>
        <p:spPr>
          <a:xfrm>
            <a:off x="2400154" y="3145516"/>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p:cNvSpPr/>
          <p:nvPr/>
        </p:nvSpPr>
        <p:spPr>
          <a:xfrm>
            <a:off x="1953790" y="285145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p:cNvSpPr/>
          <p:nvPr/>
        </p:nvSpPr>
        <p:spPr>
          <a:xfrm>
            <a:off x="2203810" y="298051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p:cNvSpPr/>
          <p:nvPr/>
        </p:nvSpPr>
        <p:spPr>
          <a:xfrm>
            <a:off x="2132456" y="3048576"/>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p:cNvSpPr/>
          <p:nvPr/>
        </p:nvSpPr>
        <p:spPr>
          <a:xfrm>
            <a:off x="2199361" y="313592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p:cNvSpPr/>
          <p:nvPr/>
        </p:nvSpPr>
        <p:spPr>
          <a:xfrm>
            <a:off x="3019017" y="285873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p:cNvSpPr/>
          <p:nvPr/>
        </p:nvSpPr>
        <p:spPr>
          <a:xfrm>
            <a:off x="1932988" y="2092461"/>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bject 3"/>
          <p:cNvSpPr txBox="1"/>
          <p:nvPr/>
        </p:nvSpPr>
        <p:spPr>
          <a:xfrm>
            <a:off x="2009220" y="3617034"/>
            <a:ext cx="244894" cy="371897"/>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X</a:t>
            </a:r>
            <a:endParaRPr sz="1200" dirty="0">
              <a:latin typeface="Avenir Book" charset="0"/>
              <a:ea typeface="Avenir Book" charset="0"/>
              <a:cs typeface="Avenir Book" charset="0"/>
            </a:endParaRPr>
          </a:p>
        </p:txBody>
      </p:sp>
      <p:sp>
        <p:nvSpPr>
          <p:cNvPr id="35" name="object 3"/>
          <p:cNvSpPr txBox="1"/>
          <p:nvPr/>
        </p:nvSpPr>
        <p:spPr>
          <a:xfrm>
            <a:off x="834977" y="2433987"/>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Y</a:t>
            </a:r>
            <a:endParaRPr sz="1200" dirty="0">
              <a:latin typeface="Avenir Book" charset="0"/>
              <a:ea typeface="Avenir Book" charset="0"/>
              <a:cs typeface="Avenir Book" charset="0"/>
            </a:endParaRPr>
          </a:p>
        </p:txBody>
      </p:sp>
      <p:sp>
        <p:nvSpPr>
          <p:cNvPr id="36" name="object 3"/>
          <p:cNvSpPr txBox="1"/>
          <p:nvPr/>
        </p:nvSpPr>
        <p:spPr>
          <a:xfrm>
            <a:off x="2172341" y="1681666"/>
            <a:ext cx="1063588" cy="553998"/>
          </a:xfrm>
          <a:prstGeom prst="rect">
            <a:avLst/>
          </a:prstGeom>
        </p:spPr>
        <p:txBody>
          <a:bodyPr vert="horz" wrap="square" lIns="0" tIns="0" rIns="0" bIns="0" rtlCol="0" anchor="ctr">
            <a:spAutoFit/>
          </a:bodyPr>
          <a:lstStyle/>
          <a:p>
            <a:pPr marL="9525" marR="3810"/>
            <a:r>
              <a:rPr lang="en-US" sz="1200" dirty="0" smtClean="0">
                <a:latin typeface="Avenir Book" charset="0"/>
                <a:ea typeface="Avenir Book" charset="0"/>
                <a:cs typeface="Avenir Book" charset="0"/>
              </a:rPr>
              <a:t>Model</a:t>
            </a:r>
          </a:p>
          <a:p>
            <a:pPr marL="9525" marR="3810"/>
            <a:r>
              <a:rPr lang="en-US" sz="1200" dirty="0" smtClean="0">
                <a:latin typeface="Avenir Book" charset="0"/>
                <a:ea typeface="Avenir Book" charset="0"/>
                <a:cs typeface="Avenir Book" charset="0"/>
              </a:rPr>
              <a:t>True Function</a:t>
            </a:r>
          </a:p>
          <a:p>
            <a:pPr marL="9525" marR="3810"/>
            <a:r>
              <a:rPr lang="en-US" sz="1200" dirty="0" smtClean="0">
                <a:latin typeface="Avenir Book" charset="0"/>
                <a:ea typeface="Avenir Book" charset="0"/>
                <a:cs typeface="Avenir Book" charset="0"/>
              </a:rPr>
              <a:t>Samples</a:t>
            </a:r>
            <a:endParaRPr sz="1200" dirty="0">
              <a:latin typeface="Avenir Book" charset="0"/>
              <a:ea typeface="Avenir Book" charset="0"/>
              <a:cs typeface="Avenir Book" charset="0"/>
            </a:endParaRPr>
          </a:p>
        </p:txBody>
      </p:sp>
      <p:cxnSp>
        <p:nvCxnSpPr>
          <p:cNvPr id="37" name="Straight Connector 36"/>
          <p:cNvCxnSpPr/>
          <p:nvPr/>
        </p:nvCxnSpPr>
        <p:spPr>
          <a:xfrm>
            <a:off x="1874311" y="1943865"/>
            <a:ext cx="220356" cy="0"/>
          </a:xfrm>
          <a:prstGeom prst="line">
            <a:avLst/>
          </a:prstGeom>
          <a:ln w="2540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1874311" y="1775950"/>
            <a:ext cx="220356"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1066800" y="2347449"/>
            <a:ext cx="2119575" cy="827743"/>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sp>
        <p:nvSpPr>
          <p:cNvPr id="41" name="Freeform 40"/>
          <p:cNvSpPr/>
          <p:nvPr/>
        </p:nvSpPr>
        <p:spPr>
          <a:xfrm>
            <a:off x="3626427" y="2078182"/>
            <a:ext cx="2119746" cy="1111155"/>
          </a:xfrm>
          <a:custGeom>
            <a:avLst/>
            <a:gdLst>
              <a:gd name="connsiteX0" fmla="*/ 0 w 2119746"/>
              <a:gd name="connsiteY0" fmla="*/ 0 h 1111155"/>
              <a:gd name="connsiteX1" fmla="*/ 197428 w 2119746"/>
              <a:gd name="connsiteY1" fmla="*/ 41563 h 1111155"/>
              <a:gd name="connsiteX2" fmla="*/ 353291 w 2119746"/>
              <a:gd name="connsiteY2" fmla="*/ 166254 h 1111155"/>
              <a:gd name="connsiteX3" fmla="*/ 571500 w 2119746"/>
              <a:gd name="connsiteY3" fmla="*/ 374073 h 1111155"/>
              <a:gd name="connsiteX4" fmla="*/ 748146 w 2119746"/>
              <a:gd name="connsiteY4" fmla="*/ 571500 h 1111155"/>
              <a:gd name="connsiteX5" fmla="*/ 997528 w 2119746"/>
              <a:gd name="connsiteY5" fmla="*/ 872836 h 1111155"/>
              <a:gd name="connsiteX6" fmla="*/ 1257300 w 2119746"/>
              <a:gd name="connsiteY6" fmla="*/ 1049482 h 1111155"/>
              <a:gd name="connsiteX7" fmla="*/ 1548246 w 2119746"/>
              <a:gd name="connsiteY7" fmla="*/ 1101436 h 1111155"/>
              <a:gd name="connsiteX8" fmla="*/ 1880755 w 2119746"/>
              <a:gd name="connsiteY8" fmla="*/ 872836 h 1111155"/>
              <a:gd name="connsiteX9" fmla="*/ 2119746 w 2119746"/>
              <a:gd name="connsiteY9" fmla="*/ 571500 h 111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19746" h="1111155">
                <a:moveTo>
                  <a:pt x="0" y="0"/>
                </a:moveTo>
                <a:cubicBezTo>
                  <a:pt x="69273" y="6927"/>
                  <a:pt x="138546" y="13854"/>
                  <a:pt x="197428" y="41563"/>
                </a:cubicBezTo>
                <a:cubicBezTo>
                  <a:pt x="256310" y="69272"/>
                  <a:pt x="290946" y="110836"/>
                  <a:pt x="353291" y="166254"/>
                </a:cubicBezTo>
                <a:cubicBezTo>
                  <a:pt x="415636" y="221672"/>
                  <a:pt x="505691" y="306532"/>
                  <a:pt x="571500" y="374073"/>
                </a:cubicBezTo>
                <a:cubicBezTo>
                  <a:pt x="637309" y="441614"/>
                  <a:pt x="677141" y="488373"/>
                  <a:pt x="748146" y="571500"/>
                </a:cubicBezTo>
                <a:cubicBezTo>
                  <a:pt x="819151" y="654627"/>
                  <a:pt x="912669" y="793173"/>
                  <a:pt x="997528" y="872836"/>
                </a:cubicBezTo>
                <a:cubicBezTo>
                  <a:pt x="1082387" y="952499"/>
                  <a:pt x="1165514" y="1011382"/>
                  <a:pt x="1257300" y="1049482"/>
                </a:cubicBezTo>
                <a:cubicBezTo>
                  <a:pt x="1349086" y="1087582"/>
                  <a:pt x="1444337" y="1130877"/>
                  <a:pt x="1548246" y="1101436"/>
                </a:cubicBezTo>
                <a:cubicBezTo>
                  <a:pt x="1652155" y="1071995"/>
                  <a:pt x="1785505" y="961159"/>
                  <a:pt x="1880755" y="872836"/>
                </a:cubicBezTo>
                <a:cubicBezTo>
                  <a:pt x="1976005" y="784513"/>
                  <a:pt x="2119746" y="571500"/>
                  <a:pt x="2119746" y="571500"/>
                </a:cubicBezTo>
              </a:path>
            </a:pathLst>
          </a:cu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41"/>
          <p:cNvSpPr/>
          <p:nvPr/>
        </p:nvSpPr>
        <p:spPr>
          <a:xfrm>
            <a:off x="6213764" y="1558636"/>
            <a:ext cx="2088572" cy="2026759"/>
          </a:xfrm>
          <a:custGeom>
            <a:avLst/>
            <a:gdLst>
              <a:gd name="connsiteX0" fmla="*/ 0 w 2088572"/>
              <a:gd name="connsiteY0" fmla="*/ 0 h 2026759"/>
              <a:gd name="connsiteX1" fmla="*/ 20781 w 2088572"/>
              <a:gd name="connsiteY1" fmla="*/ 2015837 h 2026759"/>
              <a:gd name="connsiteX2" fmla="*/ 93518 w 2088572"/>
              <a:gd name="connsiteY2" fmla="*/ 789709 h 2026759"/>
              <a:gd name="connsiteX3" fmla="*/ 135081 w 2088572"/>
              <a:gd name="connsiteY3" fmla="*/ 446809 h 2026759"/>
              <a:gd name="connsiteX4" fmla="*/ 218209 w 2088572"/>
              <a:gd name="connsiteY4" fmla="*/ 696191 h 2026759"/>
              <a:gd name="connsiteX5" fmla="*/ 322118 w 2088572"/>
              <a:gd name="connsiteY5" fmla="*/ 394855 h 2026759"/>
              <a:gd name="connsiteX6" fmla="*/ 374072 w 2088572"/>
              <a:gd name="connsiteY6" fmla="*/ 228600 h 2026759"/>
              <a:gd name="connsiteX7" fmla="*/ 436418 w 2088572"/>
              <a:gd name="connsiteY7" fmla="*/ 374073 h 2026759"/>
              <a:gd name="connsiteX8" fmla="*/ 540327 w 2088572"/>
              <a:gd name="connsiteY8" fmla="*/ 1111828 h 2026759"/>
              <a:gd name="connsiteX9" fmla="*/ 644236 w 2088572"/>
              <a:gd name="connsiteY9" fmla="*/ 1361209 h 2026759"/>
              <a:gd name="connsiteX10" fmla="*/ 758536 w 2088572"/>
              <a:gd name="connsiteY10" fmla="*/ 1215737 h 2026759"/>
              <a:gd name="connsiteX11" fmla="*/ 852054 w 2088572"/>
              <a:gd name="connsiteY11" fmla="*/ 1194955 h 2026759"/>
              <a:gd name="connsiteX12" fmla="*/ 997527 w 2088572"/>
              <a:gd name="connsiteY12" fmla="*/ 1517073 h 2026759"/>
              <a:gd name="connsiteX13" fmla="*/ 1143000 w 2088572"/>
              <a:gd name="connsiteY13" fmla="*/ 1506682 h 2026759"/>
              <a:gd name="connsiteX14" fmla="*/ 1267691 w 2088572"/>
              <a:gd name="connsiteY14" fmla="*/ 1485900 h 2026759"/>
              <a:gd name="connsiteX15" fmla="*/ 1402772 w 2088572"/>
              <a:gd name="connsiteY15" fmla="*/ 1683328 h 2026759"/>
              <a:gd name="connsiteX16" fmla="*/ 1548245 w 2088572"/>
              <a:gd name="connsiteY16" fmla="*/ 1652155 h 2026759"/>
              <a:gd name="connsiteX17" fmla="*/ 1652154 w 2088572"/>
              <a:gd name="connsiteY17" fmla="*/ 1496291 h 2026759"/>
              <a:gd name="connsiteX18" fmla="*/ 1818409 w 2088572"/>
              <a:gd name="connsiteY18" fmla="*/ 1454728 h 2026759"/>
              <a:gd name="connsiteX19" fmla="*/ 1870363 w 2088572"/>
              <a:gd name="connsiteY19" fmla="*/ 1278082 h 2026759"/>
              <a:gd name="connsiteX20" fmla="*/ 1995054 w 2088572"/>
              <a:gd name="connsiteY20" fmla="*/ 1246909 h 2026759"/>
              <a:gd name="connsiteX21" fmla="*/ 2026227 w 2088572"/>
              <a:gd name="connsiteY21" fmla="*/ 1143000 h 2026759"/>
              <a:gd name="connsiteX22" fmla="*/ 2067791 w 2088572"/>
              <a:gd name="connsiteY22" fmla="*/ 1558637 h 2026759"/>
              <a:gd name="connsiteX23" fmla="*/ 2078181 w 2088572"/>
              <a:gd name="connsiteY23" fmla="*/ 1558637 h 2026759"/>
              <a:gd name="connsiteX24" fmla="*/ 2088572 w 2088572"/>
              <a:gd name="connsiteY24" fmla="*/ 1569028 h 2026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88572" h="2026759">
                <a:moveTo>
                  <a:pt x="0" y="0"/>
                </a:moveTo>
                <a:cubicBezTo>
                  <a:pt x="2597" y="942109"/>
                  <a:pt x="5195" y="1884219"/>
                  <a:pt x="20781" y="2015837"/>
                </a:cubicBezTo>
                <a:cubicBezTo>
                  <a:pt x="36367" y="2147455"/>
                  <a:pt x="74468" y="1051214"/>
                  <a:pt x="93518" y="789709"/>
                </a:cubicBezTo>
                <a:cubicBezTo>
                  <a:pt x="112568" y="528204"/>
                  <a:pt x="114299" y="462395"/>
                  <a:pt x="135081" y="446809"/>
                </a:cubicBezTo>
                <a:cubicBezTo>
                  <a:pt x="155863" y="431223"/>
                  <a:pt x="187036" y="704850"/>
                  <a:pt x="218209" y="696191"/>
                </a:cubicBezTo>
                <a:cubicBezTo>
                  <a:pt x="249382" y="687532"/>
                  <a:pt x="296141" y="472787"/>
                  <a:pt x="322118" y="394855"/>
                </a:cubicBezTo>
                <a:cubicBezTo>
                  <a:pt x="348095" y="316923"/>
                  <a:pt x="355022" y="232064"/>
                  <a:pt x="374072" y="228600"/>
                </a:cubicBezTo>
                <a:cubicBezTo>
                  <a:pt x="393122" y="225136"/>
                  <a:pt x="408709" y="226868"/>
                  <a:pt x="436418" y="374073"/>
                </a:cubicBezTo>
                <a:cubicBezTo>
                  <a:pt x="464127" y="521278"/>
                  <a:pt x="505691" y="947305"/>
                  <a:pt x="540327" y="1111828"/>
                </a:cubicBezTo>
                <a:cubicBezTo>
                  <a:pt x="574963" y="1276351"/>
                  <a:pt x="607868" y="1343891"/>
                  <a:pt x="644236" y="1361209"/>
                </a:cubicBezTo>
                <a:cubicBezTo>
                  <a:pt x="680604" y="1378527"/>
                  <a:pt x="723900" y="1243446"/>
                  <a:pt x="758536" y="1215737"/>
                </a:cubicBezTo>
                <a:cubicBezTo>
                  <a:pt x="793172" y="1188028"/>
                  <a:pt x="812222" y="1144732"/>
                  <a:pt x="852054" y="1194955"/>
                </a:cubicBezTo>
                <a:cubicBezTo>
                  <a:pt x="891886" y="1245178"/>
                  <a:pt x="949036" y="1465119"/>
                  <a:pt x="997527" y="1517073"/>
                </a:cubicBezTo>
                <a:cubicBezTo>
                  <a:pt x="1046018" y="1569027"/>
                  <a:pt x="1097973" y="1511878"/>
                  <a:pt x="1143000" y="1506682"/>
                </a:cubicBezTo>
                <a:cubicBezTo>
                  <a:pt x="1188027" y="1501487"/>
                  <a:pt x="1224396" y="1456459"/>
                  <a:pt x="1267691" y="1485900"/>
                </a:cubicBezTo>
                <a:cubicBezTo>
                  <a:pt x="1310986" y="1515341"/>
                  <a:pt x="1356013" y="1655619"/>
                  <a:pt x="1402772" y="1683328"/>
                </a:cubicBezTo>
                <a:cubicBezTo>
                  <a:pt x="1449531" y="1711037"/>
                  <a:pt x="1506682" y="1683328"/>
                  <a:pt x="1548245" y="1652155"/>
                </a:cubicBezTo>
                <a:cubicBezTo>
                  <a:pt x="1589808" y="1620982"/>
                  <a:pt x="1607127" y="1529196"/>
                  <a:pt x="1652154" y="1496291"/>
                </a:cubicBezTo>
                <a:cubicBezTo>
                  <a:pt x="1697181" y="1463387"/>
                  <a:pt x="1782041" y="1491096"/>
                  <a:pt x="1818409" y="1454728"/>
                </a:cubicBezTo>
                <a:cubicBezTo>
                  <a:pt x="1854777" y="1418360"/>
                  <a:pt x="1840922" y="1312718"/>
                  <a:pt x="1870363" y="1278082"/>
                </a:cubicBezTo>
                <a:cubicBezTo>
                  <a:pt x="1899804" y="1243446"/>
                  <a:pt x="1969077" y="1269423"/>
                  <a:pt x="1995054" y="1246909"/>
                </a:cubicBezTo>
                <a:cubicBezTo>
                  <a:pt x="2021031" y="1224395"/>
                  <a:pt x="2014104" y="1091045"/>
                  <a:pt x="2026227" y="1143000"/>
                </a:cubicBezTo>
                <a:cubicBezTo>
                  <a:pt x="2038350" y="1194955"/>
                  <a:pt x="2059132" y="1489364"/>
                  <a:pt x="2067791" y="1558637"/>
                </a:cubicBezTo>
                <a:cubicBezTo>
                  <a:pt x="2076450" y="1627910"/>
                  <a:pt x="2074718" y="1556905"/>
                  <a:pt x="2078181" y="1558637"/>
                </a:cubicBezTo>
                <a:cubicBezTo>
                  <a:pt x="2081645" y="1560369"/>
                  <a:pt x="2088572" y="1569028"/>
                  <a:pt x="2088572" y="1569028"/>
                </a:cubicBezTo>
              </a:path>
            </a:pathLst>
          </a:cu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3" name="Straight Arrow Connector 42"/>
          <p:cNvCxnSpPr/>
          <p:nvPr/>
        </p:nvCxnSpPr>
        <p:spPr>
          <a:xfrm flipV="1">
            <a:off x="3626427" y="1524000"/>
            <a:ext cx="10160" cy="216408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V="1">
            <a:off x="3626427" y="3688080"/>
            <a:ext cx="2174240" cy="1016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5" name="Freeform 44"/>
          <p:cNvSpPr/>
          <p:nvPr/>
        </p:nvSpPr>
        <p:spPr>
          <a:xfrm>
            <a:off x="3631102" y="2092461"/>
            <a:ext cx="2114900" cy="1071475"/>
          </a:xfrm>
          <a:custGeom>
            <a:avLst/>
            <a:gdLst>
              <a:gd name="connsiteX0" fmla="*/ 0 w 2114900"/>
              <a:gd name="connsiteY0" fmla="*/ 0 h 1071475"/>
              <a:gd name="connsiteX1" fmla="*/ 201953 w 2114900"/>
              <a:gd name="connsiteY1" fmla="*/ 39269 h 1071475"/>
              <a:gd name="connsiteX2" fmla="*/ 409516 w 2114900"/>
              <a:gd name="connsiteY2" fmla="*/ 207564 h 1071475"/>
              <a:gd name="connsiteX3" fmla="*/ 544152 w 2114900"/>
              <a:gd name="connsiteY3" fmla="*/ 347809 h 1071475"/>
              <a:gd name="connsiteX4" fmla="*/ 718056 w 2114900"/>
              <a:gd name="connsiteY4" fmla="*/ 544152 h 1071475"/>
              <a:gd name="connsiteX5" fmla="*/ 886351 w 2114900"/>
              <a:gd name="connsiteY5" fmla="*/ 740496 h 1071475"/>
              <a:gd name="connsiteX6" fmla="*/ 1015377 w 2114900"/>
              <a:gd name="connsiteY6" fmla="*/ 869522 h 1071475"/>
              <a:gd name="connsiteX7" fmla="*/ 1211720 w 2114900"/>
              <a:gd name="connsiteY7" fmla="*/ 1020987 h 1071475"/>
              <a:gd name="connsiteX8" fmla="*/ 1413673 w 2114900"/>
              <a:gd name="connsiteY8" fmla="*/ 1071475 h 1071475"/>
              <a:gd name="connsiteX9" fmla="*/ 1626846 w 2114900"/>
              <a:gd name="connsiteY9" fmla="*/ 1020987 h 1071475"/>
              <a:gd name="connsiteX10" fmla="*/ 1817580 w 2114900"/>
              <a:gd name="connsiteY10" fmla="*/ 875132 h 1071475"/>
              <a:gd name="connsiteX11" fmla="*/ 2114900 w 2114900"/>
              <a:gd name="connsiteY11" fmla="*/ 555372 h 1071475"/>
              <a:gd name="connsiteX12" fmla="*/ 2114900 w 2114900"/>
              <a:gd name="connsiteY12" fmla="*/ 555372 h 10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14900" h="1071475">
                <a:moveTo>
                  <a:pt x="0" y="0"/>
                </a:moveTo>
                <a:cubicBezTo>
                  <a:pt x="66850" y="2337"/>
                  <a:pt x="133700" y="4675"/>
                  <a:pt x="201953" y="39269"/>
                </a:cubicBezTo>
                <a:cubicBezTo>
                  <a:pt x="270206" y="73863"/>
                  <a:pt x="352483" y="156141"/>
                  <a:pt x="409516" y="207564"/>
                </a:cubicBezTo>
                <a:cubicBezTo>
                  <a:pt x="466549" y="258987"/>
                  <a:pt x="492729" y="291711"/>
                  <a:pt x="544152" y="347809"/>
                </a:cubicBezTo>
                <a:cubicBezTo>
                  <a:pt x="595575" y="403907"/>
                  <a:pt x="661023" y="478704"/>
                  <a:pt x="718056" y="544152"/>
                </a:cubicBezTo>
                <a:cubicBezTo>
                  <a:pt x="775089" y="609600"/>
                  <a:pt x="836798" y="686268"/>
                  <a:pt x="886351" y="740496"/>
                </a:cubicBezTo>
                <a:cubicBezTo>
                  <a:pt x="935904" y="794724"/>
                  <a:pt x="961149" y="822774"/>
                  <a:pt x="1015377" y="869522"/>
                </a:cubicBezTo>
                <a:cubicBezTo>
                  <a:pt x="1069605" y="916270"/>
                  <a:pt x="1145337" y="987328"/>
                  <a:pt x="1211720" y="1020987"/>
                </a:cubicBezTo>
                <a:cubicBezTo>
                  <a:pt x="1278103" y="1054646"/>
                  <a:pt x="1344485" y="1071475"/>
                  <a:pt x="1413673" y="1071475"/>
                </a:cubicBezTo>
                <a:cubicBezTo>
                  <a:pt x="1482861" y="1071475"/>
                  <a:pt x="1559528" y="1053711"/>
                  <a:pt x="1626846" y="1020987"/>
                </a:cubicBezTo>
                <a:cubicBezTo>
                  <a:pt x="1694164" y="988263"/>
                  <a:pt x="1736238" y="952735"/>
                  <a:pt x="1817580" y="875132"/>
                </a:cubicBezTo>
                <a:cubicBezTo>
                  <a:pt x="1898922" y="797529"/>
                  <a:pt x="2114900" y="555372"/>
                  <a:pt x="2114900" y="555372"/>
                </a:cubicBezTo>
                <a:lnTo>
                  <a:pt x="2114900" y="555372"/>
                </a:lnTo>
              </a:path>
            </a:pathLst>
          </a:custGeom>
          <a:noFill/>
          <a:ln>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p:cNvSpPr/>
          <p:nvPr/>
        </p:nvSpPr>
        <p:spPr>
          <a:xfrm>
            <a:off x="3787330" y="197465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p:cNvSpPr/>
          <p:nvPr/>
        </p:nvSpPr>
        <p:spPr>
          <a:xfrm>
            <a:off x="3642409" y="2013924"/>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p:cNvSpPr/>
          <p:nvPr/>
        </p:nvSpPr>
        <p:spPr>
          <a:xfrm>
            <a:off x="3753758" y="2103680"/>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48"/>
          <p:cNvSpPr/>
          <p:nvPr/>
        </p:nvSpPr>
        <p:spPr>
          <a:xfrm>
            <a:off x="3881849" y="216538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49"/>
          <p:cNvSpPr/>
          <p:nvPr/>
        </p:nvSpPr>
        <p:spPr>
          <a:xfrm>
            <a:off x="4471727" y="2695141"/>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p:cNvSpPr/>
          <p:nvPr/>
        </p:nvSpPr>
        <p:spPr>
          <a:xfrm>
            <a:off x="5667465" y="2627822"/>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p:cNvSpPr/>
          <p:nvPr/>
        </p:nvSpPr>
        <p:spPr>
          <a:xfrm>
            <a:off x="5625859" y="270635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p:cNvSpPr/>
          <p:nvPr/>
        </p:nvSpPr>
        <p:spPr>
          <a:xfrm>
            <a:off x="5487251" y="278732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53"/>
          <p:cNvSpPr/>
          <p:nvPr/>
        </p:nvSpPr>
        <p:spPr>
          <a:xfrm>
            <a:off x="5447982" y="2932864"/>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Oval 54"/>
          <p:cNvSpPr/>
          <p:nvPr/>
        </p:nvSpPr>
        <p:spPr>
          <a:xfrm>
            <a:off x="5268321" y="289359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p:cNvSpPr/>
          <p:nvPr/>
        </p:nvSpPr>
        <p:spPr>
          <a:xfrm>
            <a:off x="5329616" y="300821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p:cNvSpPr/>
          <p:nvPr/>
        </p:nvSpPr>
        <p:spPr>
          <a:xfrm>
            <a:off x="5268320" y="312709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p:cNvSpPr/>
          <p:nvPr/>
        </p:nvSpPr>
        <p:spPr>
          <a:xfrm>
            <a:off x="5111246" y="3175192"/>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p:cNvSpPr/>
          <p:nvPr/>
        </p:nvSpPr>
        <p:spPr>
          <a:xfrm>
            <a:off x="4881244" y="304430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Oval 59"/>
          <p:cNvSpPr/>
          <p:nvPr/>
        </p:nvSpPr>
        <p:spPr>
          <a:xfrm>
            <a:off x="4959781" y="3145516"/>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Oval 60"/>
          <p:cNvSpPr/>
          <p:nvPr/>
        </p:nvSpPr>
        <p:spPr>
          <a:xfrm>
            <a:off x="4513417" y="285145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p:cNvSpPr/>
          <p:nvPr/>
        </p:nvSpPr>
        <p:spPr>
          <a:xfrm>
            <a:off x="4763437" y="298051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p:cNvSpPr/>
          <p:nvPr/>
        </p:nvSpPr>
        <p:spPr>
          <a:xfrm>
            <a:off x="4692083" y="3048576"/>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Oval 63"/>
          <p:cNvSpPr/>
          <p:nvPr/>
        </p:nvSpPr>
        <p:spPr>
          <a:xfrm>
            <a:off x="4758988" y="313592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p:cNvSpPr/>
          <p:nvPr/>
        </p:nvSpPr>
        <p:spPr>
          <a:xfrm>
            <a:off x="5578644" y="285873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object 3"/>
          <p:cNvSpPr txBox="1"/>
          <p:nvPr/>
        </p:nvSpPr>
        <p:spPr>
          <a:xfrm>
            <a:off x="4568847" y="3617034"/>
            <a:ext cx="244894" cy="371897"/>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X</a:t>
            </a:r>
            <a:endParaRPr sz="1200" dirty="0">
              <a:latin typeface="Avenir Book" charset="0"/>
              <a:ea typeface="Avenir Book" charset="0"/>
              <a:cs typeface="Avenir Book" charset="0"/>
            </a:endParaRPr>
          </a:p>
        </p:txBody>
      </p:sp>
      <p:sp>
        <p:nvSpPr>
          <p:cNvPr id="67" name="object 3"/>
          <p:cNvSpPr txBox="1"/>
          <p:nvPr/>
        </p:nvSpPr>
        <p:spPr>
          <a:xfrm>
            <a:off x="3394604" y="2433987"/>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Y</a:t>
            </a:r>
            <a:endParaRPr sz="1200" dirty="0">
              <a:latin typeface="Avenir Book" charset="0"/>
              <a:ea typeface="Avenir Book" charset="0"/>
              <a:cs typeface="Avenir Book" charset="0"/>
            </a:endParaRPr>
          </a:p>
        </p:txBody>
      </p:sp>
      <p:cxnSp>
        <p:nvCxnSpPr>
          <p:cNvPr id="69" name="Straight Arrow Connector 68"/>
          <p:cNvCxnSpPr/>
          <p:nvPr/>
        </p:nvCxnSpPr>
        <p:spPr>
          <a:xfrm flipV="1">
            <a:off x="6183124" y="1524000"/>
            <a:ext cx="10160" cy="216408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V="1">
            <a:off x="6183124" y="3688080"/>
            <a:ext cx="2174240" cy="1016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1" name="Freeform 70"/>
          <p:cNvSpPr/>
          <p:nvPr/>
        </p:nvSpPr>
        <p:spPr>
          <a:xfrm>
            <a:off x="6187799" y="2092461"/>
            <a:ext cx="2114900" cy="1071475"/>
          </a:xfrm>
          <a:custGeom>
            <a:avLst/>
            <a:gdLst>
              <a:gd name="connsiteX0" fmla="*/ 0 w 2114900"/>
              <a:gd name="connsiteY0" fmla="*/ 0 h 1071475"/>
              <a:gd name="connsiteX1" fmla="*/ 201953 w 2114900"/>
              <a:gd name="connsiteY1" fmla="*/ 39269 h 1071475"/>
              <a:gd name="connsiteX2" fmla="*/ 409516 w 2114900"/>
              <a:gd name="connsiteY2" fmla="*/ 207564 h 1071475"/>
              <a:gd name="connsiteX3" fmla="*/ 544152 w 2114900"/>
              <a:gd name="connsiteY3" fmla="*/ 347809 h 1071475"/>
              <a:gd name="connsiteX4" fmla="*/ 718056 w 2114900"/>
              <a:gd name="connsiteY4" fmla="*/ 544152 h 1071475"/>
              <a:gd name="connsiteX5" fmla="*/ 886351 w 2114900"/>
              <a:gd name="connsiteY5" fmla="*/ 740496 h 1071475"/>
              <a:gd name="connsiteX6" fmla="*/ 1015377 w 2114900"/>
              <a:gd name="connsiteY6" fmla="*/ 869522 h 1071475"/>
              <a:gd name="connsiteX7" fmla="*/ 1211720 w 2114900"/>
              <a:gd name="connsiteY7" fmla="*/ 1020987 h 1071475"/>
              <a:gd name="connsiteX8" fmla="*/ 1413673 w 2114900"/>
              <a:gd name="connsiteY8" fmla="*/ 1071475 h 1071475"/>
              <a:gd name="connsiteX9" fmla="*/ 1626846 w 2114900"/>
              <a:gd name="connsiteY9" fmla="*/ 1020987 h 1071475"/>
              <a:gd name="connsiteX10" fmla="*/ 1817580 w 2114900"/>
              <a:gd name="connsiteY10" fmla="*/ 875132 h 1071475"/>
              <a:gd name="connsiteX11" fmla="*/ 2114900 w 2114900"/>
              <a:gd name="connsiteY11" fmla="*/ 555372 h 1071475"/>
              <a:gd name="connsiteX12" fmla="*/ 2114900 w 2114900"/>
              <a:gd name="connsiteY12" fmla="*/ 555372 h 10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14900" h="1071475">
                <a:moveTo>
                  <a:pt x="0" y="0"/>
                </a:moveTo>
                <a:cubicBezTo>
                  <a:pt x="66850" y="2337"/>
                  <a:pt x="133700" y="4675"/>
                  <a:pt x="201953" y="39269"/>
                </a:cubicBezTo>
                <a:cubicBezTo>
                  <a:pt x="270206" y="73863"/>
                  <a:pt x="352483" y="156141"/>
                  <a:pt x="409516" y="207564"/>
                </a:cubicBezTo>
                <a:cubicBezTo>
                  <a:pt x="466549" y="258987"/>
                  <a:pt x="492729" y="291711"/>
                  <a:pt x="544152" y="347809"/>
                </a:cubicBezTo>
                <a:cubicBezTo>
                  <a:pt x="595575" y="403907"/>
                  <a:pt x="661023" y="478704"/>
                  <a:pt x="718056" y="544152"/>
                </a:cubicBezTo>
                <a:cubicBezTo>
                  <a:pt x="775089" y="609600"/>
                  <a:pt x="836798" y="686268"/>
                  <a:pt x="886351" y="740496"/>
                </a:cubicBezTo>
                <a:cubicBezTo>
                  <a:pt x="935904" y="794724"/>
                  <a:pt x="961149" y="822774"/>
                  <a:pt x="1015377" y="869522"/>
                </a:cubicBezTo>
                <a:cubicBezTo>
                  <a:pt x="1069605" y="916270"/>
                  <a:pt x="1145337" y="987328"/>
                  <a:pt x="1211720" y="1020987"/>
                </a:cubicBezTo>
                <a:cubicBezTo>
                  <a:pt x="1278103" y="1054646"/>
                  <a:pt x="1344485" y="1071475"/>
                  <a:pt x="1413673" y="1071475"/>
                </a:cubicBezTo>
                <a:cubicBezTo>
                  <a:pt x="1482861" y="1071475"/>
                  <a:pt x="1559528" y="1053711"/>
                  <a:pt x="1626846" y="1020987"/>
                </a:cubicBezTo>
                <a:cubicBezTo>
                  <a:pt x="1694164" y="988263"/>
                  <a:pt x="1736238" y="952735"/>
                  <a:pt x="1817580" y="875132"/>
                </a:cubicBezTo>
                <a:cubicBezTo>
                  <a:pt x="1898922" y="797529"/>
                  <a:pt x="2114900" y="555372"/>
                  <a:pt x="2114900" y="555372"/>
                </a:cubicBezTo>
                <a:lnTo>
                  <a:pt x="2114900" y="555372"/>
                </a:lnTo>
              </a:path>
            </a:pathLst>
          </a:custGeom>
          <a:noFill/>
          <a:ln>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Oval 71"/>
          <p:cNvSpPr/>
          <p:nvPr/>
        </p:nvSpPr>
        <p:spPr>
          <a:xfrm>
            <a:off x="6344027" y="197465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Oval 72"/>
          <p:cNvSpPr/>
          <p:nvPr/>
        </p:nvSpPr>
        <p:spPr>
          <a:xfrm>
            <a:off x="6199106" y="2013924"/>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Oval 73"/>
          <p:cNvSpPr/>
          <p:nvPr/>
        </p:nvSpPr>
        <p:spPr>
          <a:xfrm>
            <a:off x="6310455" y="2103680"/>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p:cNvSpPr/>
          <p:nvPr/>
        </p:nvSpPr>
        <p:spPr>
          <a:xfrm>
            <a:off x="6438546" y="216538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p:cNvSpPr/>
          <p:nvPr/>
        </p:nvSpPr>
        <p:spPr>
          <a:xfrm>
            <a:off x="7028424" y="2695141"/>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Oval 76"/>
          <p:cNvSpPr/>
          <p:nvPr/>
        </p:nvSpPr>
        <p:spPr>
          <a:xfrm>
            <a:off x="8224162" y="2627822"/>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Oval 77"/>
          <p:cNvSpPr/>
          <p:nvPr/>
        </p:nvSpPr>
        <p:spPr>
          <a:xfrm>
            <a:off x="8182556" y="270635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Oval 78"/>
          <p:cNvSpPr/>
          <p:nvPr/>
        </p:nvSpPr>
        <p:spPr>
          <a:xfrm>
            <a:off x="8043948" y="278732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Oval 79"/>
          <p:cNvSpPr/>
          <p:nvPr/>
        </p:nvSpPr>
        <p:spPr>
          <a:xfrm>
            <a:off x="8004679" y="2932864"/>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Oval 80"/>
          <p:cNvSpPr/>
          <p:nvPr/>
        </p:nvSpPr>
        <p:spPr>
          <a:xfrm>
            <a:off x="7825018" y="289359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Oval 81"/>
          <p:cNvSpPr/>
          <p:nvPr/>
        </p:nvSpPr>
        <p:spPr>
          <a:xfrm>
            <a:off x="7886313" y="300821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Oval 82"/>
          <p:cNvSpPr/>
          <p:nvPr/>
        </p:nvSpPr>
        <p:spPr>
          <a:xfrm>
            <a:off x="7825017" y="3127095"/>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Oval 83"/>
          <p:cNvSpPr/>
          <p:nvPr/>
        </p:nvSpPr>
        <p:spPr>
          <a:xfrm>
            <a:off x="7667943" y="3175192"/>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Oval 84"/>
          <p:cNvSpPr/>
          <p:nvPr/>
        </p:nvSpPr>
        <p:spPr>
          <a:xfrm>
            <a:off x="7437941" y="304430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Oval 85"/>
          <p:cNvSpPr/>
          <p:nvPr/>
        </p:nvSpPr>
        <p:spPr>
          <a:xfrm>
            <a:off x="7516478" y="3145516"/>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Oval 86"/>
          <p:cNvSpPr/>
          <p:nvPr/>
        </p:nvSpPr>
        <p:spPr>
          <a:xfrm>
            <a:off x="7070114" y="2851458"/>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Oval 87"/>
          <p:cNvSpPr/>
          <p:nvPr/>
        </p:nvSpPr>
        <p:spPr>
          <a:xfrm>
            <a:off x="7320134" y="298051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Oval 88"/>
          <p:cNvSpPr/>
          <p:nvPr/>
        </p:nvSpPr>
        <p:spPr>
          <a:xfrm>
            <a:off x="7248780" y="3048576"/>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Oval 89"/>
          <p:cNvSpPr/>
          <p:nvPr/>
        </p:nvSpPr>
        <p:spPr>
          <a:xfrm>
            <a:off x="7315685" y="3135923"/>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Oval 90"/>
          <p:cNvSpPr/>
          <p:nvPr/>
        </p:nvSpPr>
        <p:spPr>
          <a:xfrm>
            <a:off x="8135341" y="2858739"/>
            <a:ext cx="78537" cy="78537"/>
          </a:xfrm>
          <a:prstGeom prst="ellipse">
            <a:avLst/>
          </a:prstGeom>
          <a:gradFill>
            <a:gsLst>
              <a:gs pos="75000">
                <a:srgbClr val="C00000"/>
              </a:gs>
              <a:gs pos="0">
                <a:schemeClr val="tx1">
                  <a:alpha val="50000"/>
                </a:schemeClr>
              </a:gs>
            </a:gsLst>
            <a:lin ang="5400000" scaled="0"/>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bject 3"/>
          <p:cNvSpPr txBox="1"/>
          <p:nvPr/>
        </p:nvSpPr>
        <p:spPr>
          <a:xfrm>
            <a:off x="7125544" y="3617034"/>
            <a:ext cx="244894" cy="371897"/>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X</a:t>
            </a:r>
            <a:endParaRPr sz="1200" dirty="0">
              <a:latin typeface="Avenir Book" charset="0"/>
              <a:ea typeface="Avenir Book" charset="0"/>
              <a:cs typeface="Avenir Book" charset="0"/>
            </a:endParaRPr>
          </a:p>
        </p:txBody>
      </p:sp>
      <p:sp>
        <p:nvSpPr>
          <p:cNvPr id="93" name="object 3"/>
          <p:cNvSpPr txBox="1"/>
          <p:nvPr/>
        </p:nvSpPr>
        <p:spPr>
          <a:xfrm>
            <a:off x="5951301" y="2433987"/>
            <a:ext cx="244894" cy="325089"/>
          </a:xfrm>
          <a:prstGeom prst="rect">
            <a:avLst/>
          </a:prstGeom>
        </p:spPr>
        <p:txBody>
          <a:bodyPr vert="horz" wrap="square" lIns="0" tIns="0" rIns="0" bIns="0" rtlCol="0" anchor="ctr">
            <a:spAutoFit/>
          </a:bodyPr>
          <a:lstStyle/>
          <a:p>
            <a:pPr marL="9525" marR="3810" algn="ctr">
              <a:lnSpc>
                <a:spcPts val="2850"/>
              </a:lnSpc>
            </a:pPr>
            <a:r>
              <a:rPr lang="en-US" sz="1200" dirty="0" smtClean="0">
                <a:latin typeface="Avenir Book" charset="0"/>
                <a:ea typeface="Avenir Book" charset="0"/>
                <a:cs typeface="Avenir Book" charset="0"/>
              </a:rPr>
              <a:t>Y</a:t>
            </a:r>
            <a:endParaRPr sz="1200" dirty="0">
              <a:latin typeface="Avenir Book" charset="0"/>
              <a:ea typeface="Avenir Book" charset="0"/>
              <a:cs typeface="Avenir Book" charset="0"/>
            </a:endParaRPr>
          </a:p>
        </p:txBody>
      </p:sp>
      <p:sp>
        <p:nvSpPr>
          <p:cNvPr id="95" name="object 3"/>
          <p:cNvSpPr txBox="1"/>
          <p:nvPr/>
        </p:nvSpPr>
        <p:spPr>
          <a:xfrm>
            <a:off x="1071475" y="1124122"/>
            <a:ext cx="2114900" cy="371897"/>
          </a:xfrm>
          <a:prstGeom prst="rect">
            <a:avLst/>
          </a:prstGeom>
        </p:spPr>
        <p:txBody>
          <a:bodyPr vert="horz" wrap="square" lIns="0" tIns="0" rIns="0" bIns="0" rtlCol="0" anchor="ctr">
            <a:spAutoFit/>
          </a:bodyPr>
          <a:lstStyle/>
          <a:p>
            <a:pPr marL="9525" marR="3810" algn="ctr">
              <a:lnSpc>
                <a:spcPts val="2850"/>
              </a:lnSpc>
            </a:pPr>
            <a:r>
              <a:rPr lang="en-US" sz="1600" dirty="0" smtClean="0">
                <a:latin typeface="Avenir Book" charset="0"/>
                <a:ea typeface="Avenir Book" charset="0"/>
                <a:cs typeface="Avenir Book" charset="0"/>
              </a:rPr>
              <a:t>Polynomial Degree = 1</a:t>
            </a:r>
            <a:endParaRPr sz="1600" dirty="0">
              <a:latin typeface="Avenir Book" charset="0"/>
              <a:ea typeface="Avenir Book" charset="0"/>
              <a:cs typeface="Avenir Book" charset="0"/>
            </a:endParaRPr>
          </a:p>
        </p:txBody>
      </p:sp>
      <p:sp>
        <p:nvSpPr>
          <p:cNvPr id="96" name="object 3"/>
          <p:cNvSpPr txBox="1"/>
          <p:nvPr/>
        </p:nvSpPr>
        <p:spPr>
          <a:xfrm>
            <a:off x="3628850" y="1124122"/>
            <a:ext cx="2114900" cy="371897"/>
          </a:xfrm>
          <a:prstGeom prst="rect">
            <a:avLst/>
          </a:prstGeom>
        </p:spPr>
        <p:txBody>
          <a:bodyPr vert="horz" wrap="square" lIns="0" tIns="0" rIns="0" bIns="0" rtlCol="0" anchor="ctr">
            <a:spAutoFit/>
          </a:bodyPr>
          <a:lstStyle/>
          <a:p>
            <a:pPr marL="9525" marR="3810" algn="ctr">
              <a:lnSpc>
                <a:spcPts val="2850"/>
              </a:lnSpc>
            </a:pPr>
            <a:r>
              <a:rPr lang="en-US" sz="1600" dirty="0" smtClean="0">
                <a:latin typeface="Avenir Book" charset="0"/>
                <a:ea typeface="Avenir Book" charset="0"/>
                <a:cs typeface="Avenir Book" charset="0"/>
              </a:rPr>
              <a:t>Polynomial Degree = 4</a:t>
            </a:r>
            <a:endParaRPr sz="1600" dirty="0">
              <a:latin typeface="Avenir Book" charset="0"/>
              <a:ea typeface="Avenir Book" charset="0"/>
              <a:cs typeface="Avenir Book" charset="0"/>
            </a:endParaRPr>
          </a:p>
        </p:txBody>
      </p:sp>
      <p:sp>
        <p:nvSpPr>
          <p:cNvPr id="97" name="object 3"/>
          <p:cNvSpPr txBox="1"/>
          <p:nvPr/>
        </p:nvSpPr>
        <p:spPr>
          <a:xfrm>
            <a:off x="6154442" y="1124122"/>
            <a:ext cx="2309936" cy="371897"/>
          </a:xfrm>
          <a:prstGeom prst="rect">
            <a:avLst/>
          </a:prstGeom>
        </p:spPr>
        <p:txBody>
          <a:bodyPr vert="horz" wrap="square" lIns="0" tIns="0" rIns="0" bIns="0" rtlCol="0" anchor="ctr">
            <a:spAutoFit/>
          </a:bodyPr>
          <a:lstStyle/>
          <a:p>
            <a:pPr marL="9525" marR="3810" algn="ctr">
              <a:lnSpc>
                <a:spcPts val="2850"/>
              </a:lnSpc>
            </a:pPr>
            <a:r>
              <a:rPr lang="en-US" sz="1600" dirty="0" smtClean="0">
                <a:latin typeface="Avenir Book" charset="0"/>
                <a:ea typeface="Avenir Book" charset="0"/>
                <a:cs typeface="Avenir Book" charset="0"/>
              </a:rPr>
              <a:t>Polynomial Degree = 15</a:t>
            </a:r>
            <a:endParaRPr sz="1600" dirty="0">
              <a:latin typeface="Avenir Book" charset="0"/>
              <a:ea typeface="Avenir Book" charset="0"/>
              <a:cs typeface="Avenir Book" charset="0"/>
            </a:endParaRPr>
          </a:p>
        </p:txBody>
      </p:sp>
    </p:spTree>
    <p:extLst>
      <p:ext uri="{BB962C8B-B14F-4D97-AF65-F5344CB8AC3E}">
        <p14:creationId xmlns:p14="http://schemas.microsoft.com/office/powerpoint/2010/main" val="5457904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305235" y="4388625"/>
            <a:ext cx="5202249" cy="399740"/>
          </a:xfrm>
          <a:prstGeom prst="rect">
            <a:avLst/>
          </a:prstGeom>
          <a:noFill/>
        </p:spPr>
        <p:txBody>
          <a:bodyPr wrap="none" rtlCol="0">
            <a:spAutoFit/>
          </a:bodyPr>
          <a:lstStyle/>
          <a:p>
            <a:r>
              <a:rPr lang="en-US" sz="1998" kern="1200" dirty="0">
                <a:solidFill>
                  <a:srgbClr val="212121"/>
                </a:solidFill>
                <a:latin typeface="Avenir Book" charset="0"/>
                <a:ea typeface="Avenir Book" charset="0"/>
                <a:cs typeface="Avenir Book" charset="0"/>
              </a:rPr>
              <a:t>Then gradually move towards the minimum.</a:t>
            </a:r>
          </a:p>
        </p:txBody>
      </p:sp>
      <mc:AlternateContent xmlns:mc="http://schemas.openxmlformats.org/markup-compatibility/2006" xmlns:a14="http://schemas.microsoft.com/office/drawing/2010/main">
        <mc:Choice Requires="a14">
          <p:sp>
            <p:nvSpPr>
              <p:cNvPr id="20" name="TextBox 19"/>
              <p:cNvSpPr txBox="1"/>
              <p:nvPr/>
            </p:nvSpPr>
            <p:spPr>
              <a:xfrm>
                <a:off x="1581734" y="2206869"/>
                <a:ext cx="880113" cy="491994"/>
              </a:xfrm>
              <a:prstGeom prst="rect">
                <a:avLst/>
              </a:prstGeom>
              <a:solidFill>
                <a:srgbClr val="FFFFFF"/>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197" i="1" kern="1200">
                          <a:latin typeface="Cambria Math" charset="0"/>
                          <a:ea typeface="Avenir Book" charset="0"/>
                          <a:cs typeface="Avenir Book" charset="0"/>
                        </a:rPr>
                        <m:t>𝐽</m:t>
                      </m:r>
                      <m:d>
                        <m:dPr>
                          <m:ctrlPr>
                            <a:rPr lang="en-US" sz="3197" i="1" kern="1200">
                              <a:latin typeface="Cambria Math" panose="02040503050406030204" pitchFamily="18" charset="0"/>
                              <a:ea typeface="Avenir Book" charset="0"/>
                              <a:cs typeface="Avenir Book" charset="0"/>
                            </a:rPr>
                          </m:ctrlPr>
                        </m:dPr>
                        <m:e>
                          <m:r>
                            <a:rPr lang="en-US" sz="3197" i="1" kern="1200">
                              <a:latin typeface="Cambria Math" charset="0"/>
                              <a:ea typeface="Avenir Book" charset="0"/>
                              <a:cs typeface="Avenir Book" charset="0"/>
                            </a:rPr>
                            <m:t>𝛽</m:t>
                          </m:r>
                        </m:e>
                      </m:d>
                    </m:oMath>
                  </m:oMathPara>
                </a14:m>
                <a:endParaRPr lang="en-US" sz="3197" kern="1200" dirty="0">
                  <a:latin typeface="Avenir Book" charset="0"/>
                  <a:ea typeface="Avenir Book" charset="0"/>
                  <a:cs typeface="Avenir Book" charset="0"/>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1581734" y="2206869"/>
                <a:ext cx="880113" cy="491994"/>
              </a:xfrm>
              <a:prstGeom prst="rect">
                <a:avLst/>
              </a:prstGeom>
              <a:blipFill rotWithShape="0">
                <a:blip r:embed="rId3"/>
                <a:stretch>
                  <a:fillRect/>
                </a:stretch>
              </a:blipFill>
            </p:spPr>
            <p:txBody>
              <a:bodyPr/>
              <a:lstStyle/>
              <a:p>
                <a:r>
                  <a:rPr lang="en-US">
                    <a:noFill/>
                  </a:rPr>
                  <a:t> </a:t>
                </a:r>
              </a:p>
            </p:txBody>
          </p:sp>
        </mc:Fallback>
      </mc:AlternateContent>
      <p:sp>
        <p:nvSpPr>
          <p:cNvPr id="26" name="object 2"/>
          <p:cNvSpPr txBox="1"/>
          <p:nvPr/>
        </p:nvSpPr>
        <p:spPr>
          <a:xfrm>
            <a:off x="305235" y="268944"/>
            <a:ext cx="8430023" cy="461238"/>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sz="2997" kern="1200" dirty="0">
                <a:solidFill>
                  <a:srgbClr val="212121"/>
                </a:solidFill>
                <a:latin typeface="Avenir Book" charset="0"/>
                <a:ea typeface="Avenir Book" charset="0"/>
                <a:cs typeface="Avenir Book" charset="0"/>
              </a:rPr>
              <a:t>Gradient Descent</a:t>
            </a:r>
          </a:p>
        </p:txBody>
      </p:sp>
      <mc:AlternateContent xmlns:mc="http://schemas.openxmlformats.org/markup-compatibility/2006" xmlns:a14="http://schemas.microsoft.com/office/drawing/2010/main">
        <mc:Choice Requires="a14">
          <p:sp>
            <p:nvSpPr>
              <p:cNvPr id="18" name="TextBox 17"/>
              <p:cNvSpPr txBox="1"/>
              <p:nvPr/>
            </p:nvSpPr>
            <p:spPr>
              <a:xfrm>
                <a:off x="3949453" y="3851598"/>
                <a:ext cx="374653" cy="491994"/>
              </a:xfrm>
              <a:prstGeom prst="rect">
                <a:avLst/>
              </a:prstGeom>
              <a:solidFill>
                <a:srgbClr val="FFFFFF"/>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197" i="1" kern="1200">
                          <a:latin typeface="Cambria Math" charset="0"/>
                          <a:ea typeface="Avenir Book" charset="0"/>
                          <a:cs typeface="Avenir Book" charset="0"/>
                        </a:rPr>
                        <m:t>𝛽</m:t>
                      </m:r>
                    </m:oMath>
                  </m:oMathPara>
                </a14:m>
                <a:endParaRPr lang="en-US" sz="3197" kern="1200" dirty="0">
                  <a:latin typeface="Avenir Book" charset="0"/>
                  <a:ea typeface="Avenir Book" charset="0"/>
                  <a:cs typeface="Avenir Book" charset="0"/>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3949453" y="3851598"/>
                <a:ext cx="374653" cy="491994"/>
              </a:xfrm>
              <a:prstGeom prst="rect">
                <a:avLst/>
              </a:prstGeom>
              <a:blipFill rotWithShape="0">
                <a:blip r:embed="rId4"/>
                <a:stretch>
                  <a:fillRect/>
                </a:stretch>
              </a:blipFill>
            </p:spPr>
            <p:txBody>
              <a:bodyPr/>
              <a:lstStyle/>
              <a:p>
                <a:r>
                  <a:rPr lang="en-US">
                    <a:noFill/>
                  </a:rPr>
                  <a:t> </a:t>
                </a:r>
              </a:p>
            </p:txBody>
          </p:sp>
        </mc:Fallback>
      </mc:AlternateContent>
      <p:cxnSp>
        <p:nvCxnSpPr>
          <p:cNvPr id="5" name="Straight Arrow Connector 4"/>
          <p:cNvCxnSpPr/>
          <p:nvPr/>
        </p:nvCxnSpPr>
        <p:spPr>
          <a:xfrm flipV="1">
            <a:off x="2505808" y="1204546"/>
            <a:ext cx="0" cy="2647052"/>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2497015" y="3851598"/>
            <a:ext cx="3358662" cy="0"/>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 name="Freeform 8"/>
          <p:cNvSpPr/>
          <p:nvPr/>
        </p:nvSpPr>
        <p:spPr>
          <a:xfrm>
            <a:off x="2813538" y="1600200"/>
            <a:ext cx="2646484" cy="1969815"/>
          </a:xfrm>
          <a:custGeom>
            <a:avLst/>
            <a:gdLst>
              <a:gd name="connsiteX0" fmla="*/ 0 w 2628900"/>
              <a:gd name="connsiteY0" fmla="*/ 0 h 1970115"/>
              <a:gd name="connsiteX1" fmla="*/ 448408 w 2628900"/>
              <a:gd name="connsiteY1" fmla="*/ 1503485 h 1970115"/>
              <a:gd name="connsiteX2" fmla="*/ 1354016 w 2628900"/>
              <a:gd name="connsiteY2" fmla="*/ 1969477 h 1970115"/>
              <a:gd name="connsiteX3" fmla="*/ 2224454 w 2628900"/>
              <a:gd name="connsiteY3" fmla="*/ 1433146 h 1970115"/>
              <a:gd name="connsiteX4" fmla="*/ 2628900 w 2628900"/>
              <a:gd name="connsiteY4" fmla="*/ 17585 h 1970115"/>
              <a:gd name="connsiteX0" fmla="*/ 0 w 2628900"/>
              <a:gd name="connsiteY0" fmla="*/ 0 h 1970115"/>
              <a:gd name="connsiteX1" fmla="*/ 448408 w 2628900"/>
              <a:gd name="connsiteY1" fmla="*/ 1503485 h 1970115"/>
              <a:gd name="connsiteX2" fmla="*/ 1354016 w 2628900"/>
              <a:gd name="connsiteY2" fmla="*/ 1969477 h 1970115"/>
              <a:gd name="connsiteX3" fmla="*/ 2224454 w 2628900"/>
              <a:gd name="connsiteY3" fmla="*/ 1433146 h 1970115"/>
              <a:gd name="connsiteX4" fmla="*/ 2628900 w 2628900"/>
              <a:gd name="connsiteY4" fmla="*/ 17585 h 1970115"/>
              <a:gd name="connsiteX0" fmla="*/ 0 w 2628900"/>
              <a:gd name="connsiteY0" fmla="*/ 0 h 1970473"/>
              <a:gd name="connsiteX1" fmla="*/ 448408 w 2628900"/>
              <a:gd name="connsiteY1" fmla="*/ 1503485 h 1970473"/>
              <a:gd name="connsiteX2" fmla="*/ 1354016 w 2628900"/>
              <a:gd name="connsiteY2" fmla="*/ 1969477 h 1970473"/>
              <a:gd name="connsiteX3" fmla="*/ 2224454 w 2628900"/>
              <a:gd name="connsiteY3" fmla="*/ 1433146 h 1970473"/>
              <a:gd name="connsiteX4" fmla="*/ 2628900 w 2628900"/>
              <a:gd name="connsiteY4" fmla="*/ 17585 h 1970473"/>
              <a:gd name="connsiteX0" fmla="*/ 0 w 2628900"/>
              <a:gd name="connsiteY0" fmla="*/ 0 h 1970473"/>
              <a:gd name="connsiteX1" fmla="*/ 448408 w 2628900"/>
              <a:gd name="connsiteY1" fmla="*/ 1503485 h 1970473"/>
              <a:gd name="connsiteX2" fmla="*/ 1354016 w 2628900"/>
              <a:gd name="connsiteY2" fmla="*/ 1969477 h 1970473"/>
              <a:gd name="connsiteX3" fmla="*/ 2224454 w 2628900"/>
              <a:gd name="connsiteY3" fmla="*/ 1433146 h 1970473"/>
              <a:gd name="connsiteX4" fmla="*/ 2628900 w 2628900"/>
              <a:gd name="connsiteY4" fmla="*/ 17585 h 1970473"/>
              <a:gd name="connsiteX0" fmla="*/ 0 w 2628900"/>
              <a:gd name="connsiteY0" fmla="*/ 0 h 1969815"/>
              <a:gd name="connsiteX1" fmla="*/ 474785 w 2628900"/>
              <a:gd name="connsiteY1" fmla="*/ 1477108 h 1969815"/>
              <a:gd name="connsiteX2" fmla="*/ 1354016 w 2628900"/>
              <a:gd name="connsiteY2" fmla="*/ 1969477 h 1969815"/>
              <a:gd name="connsiteX3" fmla="*/ 2224454 w 2628900"/>
              <a:gd name="connsiteY3" fmla="*/ 1433146 h 1969815"/>
              <a:gd name="connsiteX4" fmla="*/ 2628900 w 2628900"/>
              <a:gd name="connsiteY4" fmla="*/ 17585 h 1969815"/>
              <a:gd name="connsiteX0" fmla="*/ 0 w 2628900"/>
              <a:gd name="connsiteY0" fmla="*/ 0 h 1969815"/>
              <a:gd name="connsiteX1" fmla="*/ 474785 w 2628900"/>
              <a:gd name="connsiteY1" fmla="*/ 1477108 h 1969815"/>
              <a:gd name="connsiteX2" fmla="*/ 1354016 w 2628900"/>
              <a:gd name="connsiteY2" fmla="*/ 1969477 h 1969815"/>
              <a:gd name="connsiteX3" fmla="*/ 2224454 w 2628900"/>
              <a:gd name="connsiteY3" fmla="*/ 1433146 h 1969815"/>
              <a:gd name="connsiteX4" fmla="*/ 2628900 w 2628900"/>
              <a:gd name="connsiteY4" fmla="*/ 17585 h 1969815"/>
              <a:gd name="connsiteX0" fmla="*/ 0 w 2646484"/>
              <a:gd name="connsiteY0" fmla="*/ 0 h 1969815"/>
              <a:gd name="connsiteX1" fmla="*/ 474785 w 2646484"/>
              <a:gd name="connsiteY1" fmla="*/ 1477108 h 1969815"/>
              <a:gd name="connsiteX2" fmla="*/ 1354016 w 2646484"/>
              <a:gd name="connsiteY2" fmla="*/ 1969477 h 1969815"/>
              <a:gd name="connsiteX3" fmla="*/ 2224454 w 2646484"/>
              <a:gd name="connsiteY3" fmla="*/ 1433146 h 1969815"/>
              <a:gd name="connsiteX4" fmla="*/ 2646484 w 2646484"/>
              <a:gd name="connsiteY4" fmla="*/ 52754 h 1969815"/>
              <a:gd name="connsiteX0" fmla="*/ 0 w 2646484"/>
              <a:gd name="connsiteY0" fmla="*/ 0 h 1969815"/>
              <a:gd name="connsiteX1" fmla="*/ 474785 w 2646484"/>
              <a:gd name="connsiteY1" fmla="*/ 1477108 h 1969815"/>
              <a:gd name="connsiteX2" fmla="*/ 1354016 w 2646484"/>
              <a:gd name="connsiteY2" fmla="*/ 1969477 h 1969815"/>
              <a:gd name="connsiteX3" fmla="*/ 2224454 w 2646484"/>
              <a:gd name="connsiteY3" fmla="*/ 1433146 h 1969815"/>
              <a:gd name="connsiteX4" fmla="*/ 2646484 w 2646484"/>
              <a:gd name="connsiteY4" fmla="*/ 52754 h 1969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6484" h="1969815">
                <a:moveTo>
                  <a:pt x="0" y="0"/>
                </a:moveTo>
                <a:cubicBezTo>
                  <a:pt x="84993" y="807426"/>
                  <a:pt x="152400" y="1087316"/>
                  <a:pt x="474785" y="1477108"/>
                </a:cubicBezTo>
                <a:cubicBezTo>
                  <a:pt x="797170" y="1866900"/>
                  <a:pt x="1062405" y="1976804"/>
                  <a:pt x="1354016" y="1969477"/>
                </a:cubicBezTo>
                <a:cubicBezTo>
                  <a:pt x="1645627" y="1962150"/>
                  <a:pt x="1868366" y="1849316"/>
                  <a:pt x="2224454" y="1433146"/>
                </a:cubicBezTo>
                <a:cubicBezTo>
                  <a:pt x="2580542" y="1016976"/>
                  <a:pt x="2646484" y="52754"/>
                  <a:pt x="2646484" y="52754"/>
                </a:cubicBezTo>
              </a:path>
            </a:pathLst>
          </a:cu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7" name="TextBox 26"/>
              <p:cNvSpPr txBox="1"/>
              <p:nvPr/>
            </p:nvSpPr>
            <p:spPr>
              <a:xfrm>
                <a:off x="232618" y="749780"/>
                <a:ext cx="3558642" cy="399740"/>
              </a:xfrm>
              <a:prstGeom prst="rect">
                <a:avLst/>
              </a:prstGeom>
              <a:noFill/>
            </p:spPr>
            <p:txBody>
              <a:bodyPr wrap="none" rtlCol="0">
                <a:spAutoFit/>
              </a:bodyPr>
              <a:lstStyle/>
              <a:p>
                <a:r>
                  <a:rPr lang="en-US" sz="1998" kern="1200" dirty="0">
                    <a:solidFill>
                      <a:srgbClr val="212121"/>
                    </a:solidFill>
                    <a:latin typeface="Avenir Book" charset="0"/>
                    <a:ea typeface="Avenir Book" charset="0"/>
                    <a:cs typeface="Avenir Book" charset="0"/>
                  </a:rPr>
                  <a:t>Start with a cost function J(</a:t>
                </a:r>
                <a14:m>
                  <m:oMath xmlns:m="http://schemas.openxmlformats.org/officeDocument/2006/math">
                    <m:r>
                      <a:rPr lang="en-US" sz="1998" i="1" kern="1200">
                        <a:latin typeface="Cambria Math" charset="0"/>
                        <a:ea typeface="Avenir Book" charset="0"/>
                        <a:cs typeface="Avenir Book" charset="0"/>
                      </a:rPr>
                      <m:t>𝛽</m:t>
                    </m:r>
                  </m:oMath>
                </a14:m>
                <a:r>
                  <a:rPr lang="en-US" sz="1998" kern="1200" dirty="0">
                    <a:solidFill>
                      <a:srgbClr val="212121"/>
                    </a:solidFill>
                    <a:latin typeface="Avenir Book" charset="0"/>
                    <a:ea typeface="Avenir Book" charset="0"/>
                    <a:cs typeface="Avenir Book" charset="0"/>
                  </a:rPr>
                  <a:t>):</a:t>
                </a:r>
              </a:p>
            </p:txBody>
          </p:sp>
        </mc:Choice>
        <mc:Fallback xmlns="">
          <p:sp>
            <p:nvSpPr>
              <p:cNvPr id="27" name="TextBox 26"/>
              <p:cNvSpPr txBox="1">
                <a:spLocks noRot="1" noChangeAspect="1" noMove="1" noResize="1" noEditPoints="1" noAdjustHandles="1" noChangeArrowheads="1" noChangeShapeType="1" noTextEdit="1"/>
              </p:cNvSpPr>
              <p:nvPr/>
            </p:nvSpPr>
            <p:spPr>
              <a:xfrm>
                <a:off x="232618" y="749780"/>
                <a:ext cx="3558642" cy="399740"/>
              </a:xfrm>
              <a:prstGeom prst="rect">
                <a:avLst/>
              </a:prstGeom>
              <a:blipFill rotWithShape="0">
                <a:blip r:embed="rId5"/>
                <a:stretch>
                  <a:fillRect l="-1712" t="-9091" r="-1027" b="-25758"/>
                </a:stretch>
              </a:blipFill>
            </p:spPr>
            <p:txBody>
              <a:bodyPr/>
              <a:lstStyle/>
              <a:p>
                <a:r>
                  <a:rPr lang="en-US">
                    <a:noFill/>
                  </a:rPr>
                  <a:t> </a:t>
                </a:r>
              </a:p>
            </p:txBody>
          </p:sp>
        </mc:Fallback>
      </mc:AlternateContent>
      <p:sp>
        <p:nvSpPr>
          <p:cNvPr id="31" name="TextBox 30"/>
          <p:cNvSpPr txBox="1"/>
          <p:nvPr/>
        </p:nvSpPr>
        <p:spPr>
          <a:xfrm>
            <a:off x="4642338" y="3377234"/>
            <a:ext cx="2089033" cy="399789"/>
          </a:xfrm>
          <a:prstGeom prst="rect">
            <a:avLst/>
          </a:prstGeom>
          <a:noFill/>
        </p:spPr>
        <p:txBody>
          <a:bodyPr wrap="none" rtlCol="0">
            <a:spAutoFit/>
          </a:bodyPr>
          <a:lstStyle/>
          <a:p>
            <a:r>
              <a:rPr lang="en-US" sz="1998" kern="1200" dirty="0" smtClean="0">
                <a:solidFill>
                  <a:srgbClr val="212121"/>
                </a:solidFill>
                <a:latin typeface="Avenir Book" charset="0"/>
                <a:ea typeface="Avenir Book" charset="0"/>
                <a:cs typeface="Avenir Book" charset="0"/>
              </a:rPr>
              <a:t>Global Minimum</a:t>
            </a:r>
            <a:endParaRPr lang="en-US" sz="1998" kern="1200" dirty="0">
              <a:solidFill>
                <a:srgbClr val="212121"/>
              </a:solidFill>
              <a:latin typeface="Avenir Book" charset="0"/>
              <a:ea typeface="Avenir Book" charset="0"/>
              <a:cs typeface="Avenir Book" charset="0"/>
            </a:endParaRPr>
          </a:p>
        </p:txBody>
      </p:sp>
      <p:sp>
        <p:nvSpPr>
          <p:cNvPr id="13" name="Oval 12"/>
          <p:cNvSpPr/>
          <p:nvPr/>
        </p:nvSpPr>
        <p:spPr>
          <a:xfrm>
            <a:off x="5117123" y="2206869"/>
            <a:ext cx="254977" cy="254977"/>
          </a:xfrm>
          <a:prstGeom prst="ellipse">
            <a:avLst/>
          </a:prstGeom>
          <a:solidFill>
            <a:srgbClr val="0070C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Arrow Connector 14"/>
          <p:cNvCxnSpPr/>
          <p:nvPr/>
        </p:nvCxnSpPr>
        <p:spPr>
          <a:xfrm flipH="1">
            <a:off x="5117123" y="2461846"/>
            <a:ext cx="127488" cy="298939"/>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a:off x="4941808" y="2773336"/>
            <a:ext cx="175315" cy="269032"/>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H="1">
            <a:off x="4712676" y="3073309"/>
            <a:ext cx="167056" cy="215055"/>
          </a:xfrm>
          <a:prstGeom prst="straightConnector1">
            <a:avLst/>
          </a:prstGeom>
          <a:ln w="254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402350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object 2"/>
          <p:cNvSpPr txBox="1"/>
          <p:nvPr/>
        </p:nvSpPr>
        <p:spPr>
          <a:xfrm>
            <a:off x="305235" y="268944"/>
            <a:ext cx="8430023" cy="461238"/>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sz="2997" kern="1200" dirty="0">
                <a:solidFill>
                  <a:srgbClr val="212121"/>
                </a:solidFill>
                <a:latin typeface="Avenir Book" charset="0"/>
                <a:ea typeface="Avenir Book" charset="0"/>
                <a:cs typeface="Avenir Book" charset="0"/>
              </a:rPr>
              <a:t>Gradient Descent with Linear Regression</a:t>
            </a:r>
          </a:p>
        </p:txBody>
      </p:sp>
      <mc:AlternateContent xmlns:mc="http://schemas.openxmlformats.org/markup-compatibility/2006" xmlns:a14="http://schemas.microsoft.com/office/drawing/2010/main">
        <mc:Choice Requires="a14">
          <p:sp>
            <p:nvSpPr>
              <p:cNvPr id="33" name="object 2"/>
              <p:cNvSpPr txBox="1"/>
              <p:nvPr/>
            </p:nvSpPr>
            <p:spPr>
              <a:xfrm>
                <a:off x="414635" y="1010755"/>
                <a:ext cx="4492851" cy="2462213"/>
              </a:xfrm>
              <a:prstGeom prst="rect">
                <a:avLst/>
              </a:prstGeom>
            </p:spPr>
            <p:txBody>
              <a:bodyPr vert="horz" wrap="square" lIns="0" tIns="0" rIns="0" bIns="0" rtlCol="0">
                <a:spAutoFit/>
              </a:bodyPr>
              <a:lstStyle/>
              <a:p>
                <a:pPr marL="352108" marR="3807" indent="-342591">
                  <a:spcAft>
                    <a:spcPts val="1199"/>
                  </a:spcAft>
                  <a:buFont typeface="Arial" charset="0"/>
                  <a:buChar char="•"/>
                </a:pPr>
                <a:r>
                  <a:rPr lang="en-US" sz="2000" kern="1200" spc="-15" dirty="0" smtClean="0">
                    <a:solidFill>
                      <a:srgbClr val="212121">
                        <a:lumMod val="50000"/>
                      </a:srgbClr>
                    </a:solidFill>
                    <a:latin typeface="Avenir Book" charset="0"/>
                    <a:ea typeface="Avenir Book" charset="0"/>
                    <a:cs typeface="Avenir Book" charset="0"/>
                  </a:rPr>
                  <a:t>Now imagine there are two parameters (</a:t>
                </a:r>
                <a14:m>
                  <m:oMath xmlns:m="http://schemas.openxmlformats.org/officeDocument/2006/math">
                    <m:sSub>
                      <m:sSubPr>
                        <m:ctrlPr>
                          <a:rPr lang="en-US" sz="2000" i="1" kern="1200">
                            <a:latin typeface="Cambria Math" panose="02040503050406030204" pitchFamily="18" charset="0"/>
                            <a:ea typeface="Avenir Book" charset="0"/>
                            <a:cs typeface="Avenir Book" charset="0"/>
                          </a:rPr>
                        </m:ctrlPr>
                      </m:sSubPr>
                      <m:e>
                        <m:r>
                          <a:rPr lang="en-US" sz="2000" i="1" kern="1200">
                            <a:latin typeface="Cambria Math" charset="0"/>
                            <a:ea typeface="Avenir Book" charset="0"/>
                            <a:cs typeface="Avenir Book" charset="0"/>
                          </a:rPr>
                          <m:t>𝛽</m:t>
                        </m:r>
                      </m:e>
                      <m:sub>
                        <m:r>
                          <a:rPr lang="en-US" sz="2000" i="1" kern="1200">
                            <a:latin typeface="Cambria Math" charset="0"/>
                            <a:ea typeface="Avenir Book" charset="0"/>
                            <a:cs typeface="Avenir Book" charset="0"/>
                          </a:rPr>
                          <m:t>0</m:t>
                        </m:r>
                      </m:sub>
                    </m:sSub>
                    <m:r>
                      <a:rPr lang="en-US" sz="2000" i="1" kern="1200">
                        <a:latin typeface="Cambria Math" charset="0"/>
                        <a:ea typeface="Avenir Book" charset="0"/>
                        <a:cs typeface="Avenir Book" charset="0"/>
                      </a:rPr>
                      <m:t>,</m:t>
                    </m:r>
                    <m:r>
                      <a:rPr lang="en-US" sz="2000" b="0" i="1" kern="1200" smtClean="0">
                        <a:latin typeface="Cambria Math" charset="0"/>
                        <a:ea typeface="Avenir Book" charset="0"/>
                        <a:cs typeface="Avenir Book" charset="0"/>
                      </a:rPr>
                      <m:t> </m:t>
                    </m:r>
                    <m:sSub>
                      <m:sSubPr>
                        <m:ctrlPr>
                          <a:rPr lang="en-US" sz="2000" i="1" kern="1200">
                            <a:latin typeface="Cambria Math" panose="02040503050406030204" pitchFamily="18" charset="0"/>
                            <a:ea typeface="Avenir Book" charset="0"/>
                            <a:cs typeface="Avenir Book" charset="0"/>
                          </a:rPr>
                        </m:ctrlPr>
                      </m:sSubPr>
                      <m:e>
                        <m:r>
                          <a:rPr lang="en-US" sz="2000" b="0" i="1" kern="1200" smtClean="0">
                            <a:latin typeface="Cambria Math" charset="0"/>
                            <a:ea typeface="Avenir Book" charset="0"/>
                            <a:cs typeface="Avenir Book" charset="0"/>
                          </a:rPr>
                          <m:t> </m:t>
                        </m:r>
                        <m:r>
                          <a:rPr lang="en-US" sz="2000" i="1" kern="1200">
                            <a:latin typeface="Cambria Math" charset="0"/>
                            <a:ea typeface="Avenir Book" charset="0"/>
                            <a:cs typeface="Avenir Book" charset="0"/>
                          </a:rPr>
                          <m:t>𝛽</m:t>
                        </m:r>
                      </m:e>
                      <m:sub>
                        <m:r>
                          <a:rPr lang="en-US" sz="2000" i="1" kern="1200">
                            <a:latin typeface="Cambria Math" charset="0"/>
                            <a:ea typeface="Avenir Book" charset="0"/>
                            <a:cs typeface="Avenir Book" charset="0"/>
                          </a:rPr>
                          <m:t>1</m:t>
                        </m:r>
                      </m:sub>
                    </m:sSub>
                  </m:oMath>
                </a14:m>
                <a:r>
                  <a:rPr lang="en-US" sz="2000" kern="1200" spc="-15" dirty="0" smtClean="0">
                    <a:solidFill>
                      <a:srgbClr val="212121">
                        <a:lumMod val="50000"/>
                      </a:srgbClr>
                    </a:solidFill>
                    <a:latin typeface="Avenir Book" charset="0"/>
                    <a:ea typeface="Avenir Book" charset="0"/>
                    <a:cs typeface="Avenir Book" charset="0"/>
                  </a:rPr>
                  <a:t>)</a:t>
                </a:r>
              </a:p>
              <a:p>
                <a:pPr marL="352108" marR="3807" indent="-342591">
                  <a:spcAft>
                    <a:spcPts val="1199"/>
                  </a:spcAft>
                  <a:buFont typeface="Arial" charset="0"/>
                  <a:buChar char="•"/>
                </a:pPr>
                <a:r>
                  <a:rPr lang="en-US" sz="2000" kern="1200" spc="-15" dirty="0" smtClean="0">
                    <a:solidFill>
                      <a:srgbClr val="212121">
                        <a:lumMod val="50000"/>
                      </a:srgbClr>
                    </a:solidFill>
                    <a:latin typeface="Avenir Book" charset="0"/>
                    <a:ea typeface="Avenir Book" charset="0"/>
                    <a:cs typeface="Avenir Book" charset="0"/>
                  </a:rPr>
                  <a:t>This is a more complicated surface on which the minimum must be found</a:t>
                </a:r>
              </a:p>
              <a:p>
                <a:pPr marL="352108" marR="3807" indent="-342591">
                  <a:spcAft>
                    <a:spcPts val="1199"/>
                  </a:spcAft>
                  <a:buFont typeface="Arial" charset="0"/>
                  <a:buChar char="•"/>
                </a:pPr>
                <a:r>
                  <a:rPr lang="en-US" sz="2000" kern="1200" spc="-15" dirty="0">
                    <a:solidFill>
                      <a:srgbClr val="212121">
                        <a:lumMod val="50000"/>
                      </a:srgbClr>
                    </a:solidFill>
                    <a:latin typeface="Avenir Book" charset="0"/>
                    <a:ea typeface="Avenir Book" charset="0"/>
                    <a:cs typeface="Avenir Book" charset="0"/>
                  </a:rPr>
                  <a:t>How can we do this without knowing what </a:t>
                </a:r>
                <a14:m>
                  <m:oMath xmlns:m="http://schemas.openxmlformats.org/officeDocument/2006/math">
                    <m:r>
                      <a:rPr lang="en-US" sz="2000" i="1" kern="1200">
                        <a:latin typeface="Cambria Math" charset="0"/>
                        <a:ea typeface="Avenir Book" charset="0"/>
                        <a:cs typeface="Avenir Book" charset="0"/>
                      </a:rPr>
                      <m:t>𝐽</m:t>
                    </m:r>
                    <m:d>
                      <m:dPr>
                        <m:ctrlPr>
                          <a:rPr lang="en-US" sz="2000" i="1" kern="1200">
                            <a:latin typeface="Cambria Math" panose="02040503050406030204" pitchFamily="18" charset="0"/>
                            <a:ea typeface="Avenir Book" charset="0"/>
                            <a:cs typeface="Avenir Book" charset="0"/>
                          </a:rPr>
                        </m:ctrlPr>
                      </m:dPr>
                      <m:e>
                        <m:sSub>
                          <m:sSubPr>
                            <m:ctrlPr>
                              <a:rPr lang="en-US" sz="2000" i="1" kern="1200">
                                <a:latin typeface="Cambria Math" panose="02040503050406030204" pitchFamily="18" charset="0"/>
                                <a:ea typeface="Avenir Book" charset="0"/>
                                <a:cs typeface="Avenir Book" charset="0"/>
                              </a:rPr>
                            </m:ctrlPr>
                          </m:sSubPr>
                          <m:e>
                            <m:r>
                              <a:rPr lang="en-US" sz="2000" i="1" kern="1200">
                                <a:latin typeface="Cambria Math" charset="0"/>
                                <a:ea typeface="Avenir Book" charset="0"/>
                                <a:cs typeface="Avenir Book" charset="0"/>
                              </a:rPr>
                              <m:t>𝛽</m:t>
                            </m:r>
                          </m:e>
                          <m:sub>
                            <m:r>
                              <a:rPr lang="en-US" sz="2000" i="1" kern="1200">
                                <a:latin typeface="Cambria Math" charset="0"/>
                                <a:ea typeface="Avenir Book" charset="0"/>
                                <a:cs typeface="Avenir Book" charset="0"/>
                              </a:rPr>
                              <m:t>0</m:t>
                            </m:r>
                          </m:sub>
                        </m:sSub>
                        <m:r>
                          <a:rPr lang="en-US" sz="2000" i="1" kern="1200">
                            <a:latin typeface="Cambria Math" charset="0"/>
                            <a:ea typeface="Avenir Book" charset="0"/>
                            <a:cs typeface="Avenir Book" charset="0"/>
                          </a:rPr>
                          <m:t>,</m:t>
                        </m:r>
                        <m:sSub>
                          <m:sSubPr>
                            <m:ctrlPr>
                              <a:rPr lang="en-US" sz="2000" i="1" kern="1200">
                                <a:latin typeface="Cambria Math" panose="02040503050406030204" pitchFamily="18" charset="0"/>
                                <a:ea typeface="Avenir Book" charset="0"/>
                                <a:cs typeface="Avenir Book" charset="0"/>
                              </a:rPr>
                            </m:ctrlPr>
                          </m:sSubPr>
                          <m:e>
                            <m:r>
                              <a:rPr lang="en-US" sz="2000" i="1" kern="1200">
                                <a:latin typeface="Cambria Math" charset="0"/>
                                <a:ea typeface="Avenir Book" charset="0"/>
                                <a:cs typeface="Avenir Book" charset="0"/>
                              </a:rPr>
                              <m:t>𝛽</m:t>
                            </m:r>
                          </m:e>
                          <m:sub>
                            <m:r>
                              <a:rPr lang="en-US" sz="2000" i="1" kern="1200">
                                <a:latin typeface="Cambria Math" charset="0"/>
                                <a:ea typeface="Avenir Book" charset="0"/>
                                <a:cs typeface="Avenir Book" charset="0"/>
                              </a:rPr>
                              <m:t>1</m:t>
                            </m:r>
                          </m:sub>
                        </m:sSub>
                      </m:e>
                    </m:d>
                  </m:oMath>
                </a14:m>
                <a:r>
                  <a:rPr lang="en-US" sz="2000" kern="1200" dirty="0">
                    <a:solidFill>
                      <a:srgbClr val="212121">
                        <a:lumMod val="50000"/>
                      </a:srgbClr>
                    </a:solidFill>
                    <a:latin typeface="Avenir Book" charset="0"/>
                    <a:ea typeface="Avenir Book" charset="0"/>
                    <a:cs typeface="Avenir Book" charset="0"/>
                  </a:rPr>
                  <a:t> looks like</a:t>
                </a:r>
                <a:r>
                  <a:rPr lang="en-US" sz="2000" kern="1200" dirty="0" smtClean="0">
                    <a:solidFill>
                      <a:srgbClr val="212121">
                        <a:lumMod val="50000"/>
                      </a:srgbClr>
                    </a:solidFill>
                    <a:latin typeface="Avenir Book" charset="0"/>
                    <a:ea typeface="Avenir Book" charset="0"/>
                    <a:cs typeface="Avenir Book" charset="0"/>
                  </a:rPr>
                  <a:t>?</a:t>
                </a:r>
              </a:p>
            </p:txBody>
          </p:sp>
        </mc:Choice>
        <mc:Fallback xmlns="">
          <p:sp>
            <p:nvSpPr>
              <p:cNvPr id="33" name="object 2"/>
              <p:cNvSpPr txBox="1">
                <a:spLocks noRot="1" noChangeAspect="1" noMove="1" noResize="1" noEditPoints="1" noAdjustHandles="1" noChangeArrowheads="1" noChangeShapeType="1" noTextEdit="1"/>
              </p:cNvSpPr>
              <p:nvPr/>
            </p:nvSpPr>
            <p:spPr>
              <a:xfrm>
                <a:off x="414635" y="1010755"/>
                <a:ext cx="4492851" cy="2462213"/>
              </a:xfrm>
              <a:prstGeom prst="rect">
                <a:avLst/>
              </a:prstGeom>
              <a:blipFill rotWithShape="0">
                <a:blip r:embed="rId3"/>
                <a:stretch>
                  <a:fillRect l="-2985" t="-6188" r="-4071" b="-5198"/>
                </a:stretch>
              </a:blipFill>
            </p:spPr>
            <p:txBody>
              <a:bodyPr/>
              <a:lstStyle/>
              <a:p>
                <a:r>
                  <a:rPr lang="en-US">
                    <a:noFill/>
                  </a:rPr>
                  <a:t> </a:t>
                </a:r>
              </a:p>
            </p:txBody>
          </p:sp>
        </mc:Fallback>
      </mc:AlternateContent>
      <p:pic>
        <p:nvPicPr>
          <p:cNvPr id="10" name="Picture 9"/>
          <p:cNvPicPr>
            <a:picLocks noChangeAspect="1"/>
          </p:cNvPicPr>
          <p:nvPr/>
        </p:nvPicPr>
        <p:blipFill rotWithShape="1">
          <a:blip r:embed="rId4" cstate="print"/>
          <a:srcRect l="4481" t="7254" r="7208" b="4857"/>
          <a:stretch/>
        </p:blipFill>
        <p:spPr>
          <a:xfrm>
            <a:off x="5833063" y="1258221"/>
            <a:ext cx="3324834" cy="2479948"/>
          </a:xfrm>
          <a:prstGeom prst="rect">
            <a:avLst/>
          </a:prstGeom>
        </p:spPr>
      </p:pic>
      <mc:AlternateContent xmlns:mc="http://schemas.openxmlformats.org/markup-compatibility/2006" xmlns:a14="http://schemas.microsoft.com/office/drawing/2010/main">
        <mc:Choice Requires="a14">
          <p:sp>
            <p:nvSpPr>
              <p:cNvPr id="11" name="TextBox 10"/>
              <p:cNvSpPr txBox="1"/>
              <p:nvPr/>
            </p:nvSpPr>
            <p:spPr>
              <a:xfrm>
                <a:off x="6089490" y="988756"/>
                <a:ext cx="1274625"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398" i="1" kern="1200">
                          <a:latin typeface="Cambria Math" charset="0"/>
                          <a:ea typeface="Avenir Book" charset="0"/>
                          <a:cs typeface="Avenir Book" charset="0"/>
                        </a:rPr>
                        <m:t>𝐽</m:t>
                      </m:r>
                      <m:d>
                        <m:dPr>
                          <m:ctrlPr>
                            <a:rPr lang="en-US" sz="2398" i="1" kern="1200">
                              <a:latin typeface="Cambria Math" panose="02040503050406030204" pitchFamily="18" charset="0"/>
                              <a:ea typeface="Avenir Book" charset="0"/>
                              <a:cs typeface="Avenir Book" charset="0"/>
                            </a:rPr>
                          </m:ctrlPr>
                        </m:dPr>
                        <m:e>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0</m:t>
                              </m:r>
                            </m:sub>
                          </m:sSub>
                          <m:r>
                            <a:rPr lang="en-US" sz="2398" i="1" kern="1200">
                              <a:latin typeface="Cambria Math" charset="0"/>
                              <a:ea typeface="Avenir Book" charset="0"/>
                              <a:cs typeface="Avenir Book" charset="0"/>
                            </a:rPr>
                            <m:t>,</m:t>
                          </m:r>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1</m:t>
                              </m:r>
                            </m:sub>
                          </m:sSub>
                        </m:e>
                      </m:d>
                    </m:oMath>
                  </m:oMathPara>
                </a14:m>
                <a:endParaRPr lang="en-US" sz="2398" kern="1200" dirty="0">
                  <a:latin typeface="Avenir Book" charset="0"/>
                  <a:ea typeface="Avenir Book" charset="0"/>
                  <a:cs typeface="Avenir Book" charset="0"/>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6089490" y="988756"/>
                <a:ext cx="1274625" cy="368990"/>
              </a:xfrm>
              <a:prstGeom prst="rect">
                <a:avLst/>
              </a:prstGeom>
              <a:blipFill rotWithShape="0">
                <a:blip r:embed="rId5"/>
                <a:stretch>
                  <a:fillRect l="-3349" t="-3279" b="-278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6129008" y="3226594"/>
                <a:ext cx="414757"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1</m:t>
                          </m:r>
                        </m:sub>
                      </m:sSub>
                    </m:oMath>
                  </m:oMathPara>
                </a14:m>
                <a:endParaRPr lang="en-US" sz="2398" kern="1200" dirty="0">
                  <a:latin typeface="Avenir Book" charset="0"/>
                  <a:ea typeface="Avenir Book" charset="0"/>
                  <a:cs typeface="Avenir Book"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6129008" y="3226594"/>
                <a:ext cx="414757" cy="368990"/>
              </a:xfrm>
              <a:prstGeom prst="rect">
                <a:avLst/>
              </a:prstGeom>
              <a:blipFill rotWithShape="0">
                <a:blip r:embed="rId6"/>
                <a:stretch>
                  <a:fillRect l="-20588" t="-1639" b="-278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8298387" y="3378686"/>
                <a:ext cx="422371"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0</m:t>
                          </m:r>
                        </m:sub>
                      </m:sSub>
                    </m:oMath>
                  </m:oMathPara>
                </a14:m>
                <a:endParaRPr lang="en-US" sz="2398" kern="1200" dirty="0">
                  <a:latin typeface="Avenir Book" charset="0"/>
                  <a:ea typeface="Avenir Book" charset="0"/>
                  <a:cs typeface="Avenir Book" charset="0"/>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8298387" y="3378686"/>
                <a:ext cx="422371" cy="368990"/>
              </a:xfrm>
              <a:prstGeom prst="rect">
                <a:avLst/>
              </a:prstGeom>
              <a:blipFill rotWithShape="0">
                <a:blip r:embed="rId7"/>
                <a:stretch>
                  <a:fillRect l="-18571" t="-3279" r="-1429" b="-27869"/>
                </a:stretch>
              </a:blipFill>
            </p:spPr>
            <p:txBody>
              <a:bodyPr/>
              <a:lstStyle/>
              <a:p>
                <a:r>
                  <a:rPr lang="en-US">
                    <a:noFill/>
                  </a:rPr>
                  <a:t> </a:t>
                </a:r>
              </a:p>
            </p:txBody>
          </p:sp>
        </mc:Fallback>
      </mc:AlternateContent>
      <p:sp>
        <p:nvSpPr>
          <p:cNvPr id="14" name="Multiply 13"/>
          <p:cNvSpPr/>
          <p:nvPr/>
        </p:nvSpPr>
        <p:spPr>
          <a:xfrm>
            <a:off x="7381179" y="1891332"/>
            <a:ext cx="228600" cy="228600"/>
          </a:xfrm>
          <a:prstGeom prst="mathMultiply">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350" kern="1200" dirty="0">
              <a:solidFill>
                <a:srgbClr val="000000"/>
              </a:solidFill>
            </a:endParaRPr>
          </a:p>
        </p:txBody>
      </p:sp>
    </p:spTree>
    <p:extLst>
      <p:ext uri="{BB962C8B-B14F-4D97-AF65-F5344CB8AC3E}">
        <p14:creationId xmlns:p14="http://schemas.microsoft.com/office/powerpoint/2010/main" val="91173883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object 2"/>
              <p:cNvSpPr txBox="1"/>
              <p:nvPr/>
            </p:nvSpPr>
            <p:spPr>
              <a:xfrm>
                <a:off x="440944" y="1173252"/>
                <a:ext cx="4807313" cy="1692451"/>
              </a:xfrm>
              <a:prstGeom prst="rect">
                <a:avLst/>
              </a:prstGeom>
            </p:spPr>
            <p:txBody>
              <a:bodyPr vert="horz" wrap="square" lIns="0" tIns="0" rIns="0" bIns="0" rtlCol="0">
                <a:spAutoFit/>
              </a:bodyPr>
              <a:lstStyle/>
              <a:p>
                <a:pPr marL="352108" marR="3807" indent="-342591">
                  <a:spcAft>
                    <a:spcPts val="1199"/>
                  </a:spcAft>
                  <a:buFont typeface="Arial" charset="0"/>
                  <a:buChar char="•"/>
                </a:pPr>
                <a:r>
                  <a:rPr lang="en-US" sz="2000" kern="1200" dirty="0" smtClean="0">
                    <a:solidFill>
                      <a:srgbClr val="212121">
                        <a:lumMod val="50000"/>
                      </a:srgbClr>
                    </a:solidFill>
                    <a:latin typeface="Avenir Book" charset="0"/>
                    <a:ea typeface="Avenir Book" charset="0"/>
                    <a:cs typeface="Avenir Book" charset="0"/>
                  </a:rPr>
                  <a:t>Compute </a:t>
                </a:r>
                <a:r>
                  <a:rPr lang="en-US" sz="2000" kern="1200" dirty="0">
                    <a:solidFill>
                      <a:srgbClr val="212121">
                        <a:lumMod val="50000"/>
                      </a:srgbClr>
                    </a:solidFill>
                    <a:latin typeface="Avenir Book" charset="0"/>
                    <a:ea typeface="Avenir Book" charset="0"/>
                    <a:cs typeface="Avenir Book" charset="0"/>
                  </a:rPr>
                  <a:t>the gradient, </a:t>
                </a:r>
                <a14:m>
                  <m:oMath xmlns:m="http://schemas.openxmlformats.org/officeDocument/2006/math">
                    <m:r>
                      <a:rPr lang="en-US" sz="2000" i="1" kern="1200">
                        <a:latin typeface="Cambria Math" charset="0"/>
                        <a:ea typeface="Cambria Math" charset="0"/>
                        <a:cs typeface="Cambria Math" charset="0"/>
                      </a:rPr>
                      <m:t>𝛻</m:t>
                    </m:r>
                    <m:r>
                      <a:rPr lang="en-US" sz="2000" i="1" kern="1200">
                        <a:latin typeface="Cambria Math" charset="0"/>
                        <a:ea typeface="Avenir Book" charset="0"/>
                        <a:cs typeface="Avenir Book" charset="0"/>
                      </a:rPr>
                      <m:t>𝐽</m:t>
                    </m:r>
                    <m:d>
                      <m:dPr>
                        <m:ctrlPr>
                          <a:rPr lang="en-US" sz="2000" i="1" kern="1200">
                            <a:latin typeface="Cambria Math" panose="02040503050406030204" pitchFamily="18" charset="0"/>
                            <a:ea typeface="Avenir Book" charset="0"/>
                            <a:cs typeface="Avenir Book" charset="0"/>
                          </a:rPr>
                        </m:ctrlPr>
                      </m:dPr>
                      <m:e>
                        <m:sSub>
                          <m:sSubPr>
                            <m:ctrlPr>
                              <a:rPr lang="en-US" sz="2000" i="1" kern="1200">
                                <a:latin typeface="Cambria Math" panose="02040503050406030204" pitchFamily="18" charset="0"/>
                                <a:ea typeface="Avenir Book" charset="0"/>
                                <a:cs typeface="Avenir Book" charset="0"/>
                              </a:rPr>
                            </m:ctrlPr>
                          </m:sSubPr>
                          <m:e>
                            <m:r>
                              <a:rPr lang="en-US" sz="2000" i="1" kern="1200">
                                <a:latin typeface="Cambria Math" charset="0"/>
                                <a:ea typeface="Avenir Book" charset="0"/>
                                <a:cs typeface="Avenir Book" charset="0"/>
                              </a:rPr>
                              <m:t>𝛽</m:t>
                            </m:r>
                          </m:e>
                          <m:sub>
                            <m:r>
                              <a:rPr lang="en-US" sz="2000" i="1" kern="1200">
                                <a:latin typeface="Cambria Math" charset="0"/>
                                <a:ea typeface="Avenir Book" charset="0"/>
                                <a:cs typeface="Avenir Book" charset="0"/>
                              </a:rPr>
                              <m:t>0</m:t>
                            </m:r>
                          </m:sub>
                        </m:sSub>
                        <m:r>
                          <a:rPr lang="en-US" sz="2000" i="1" kern="1200">
                            <a:latin typeface="Cambria Math" charset="0"/>
                            <a:ea typeface="Avenir Book" charset="0"/>
                            <a:cs typeface="Avenir Book" charset="0"/>
                          </a:rPr>
                          <m:t>,</m:t>
                        </m:r>
                        <m:sSub>
                          <m:sSubPr>
                            <m:ctrlPr>
                              <a:rPr lang="en-US" sz="2000" i="1" kern="1200">
                                <a:latin typeface="Cambria Math" panose="02040503050406030204" pitchFamily="18" charset="0"/>
                                <a:ea typeface="Avenir Book" charset="0"/>
                                <a:cs typeface="Avenir Book" charset="0"/>
                              </a:rPr>
                            </m:ctrlPr>
                          </m:sSubPr>
                          <m:e>
                            <m:r>
                              <a:rPr lang="en-US" sz="2000" i="1" kern="1200">
                                <a:latin typeface="Cambria Math" charset="0"/>
                                <a:ea typeface="Avenir Book" charset="0"/>
                                <a:cs typeface="Avenir Book" charset="0"/>
                              </a:rPr>
                              <m:t>𝛽</m:t>
                            </m:r>
                          </m:e>
                          <m:sub>
                            <m:r>
                              <a:rPr lang="en-US" sz="2000" i="1" kern="1200">
                                <a:latin typeface="Cambria Math" charset="0"/>
                                <a:ea typeface="Avenir Book" charset="0"/>
                                <a:cs typeface="Avenir Book" charset="0"/>
                              </a:rPr>
                              <m:t>1</m:t>
                            </m:r>
                          </m:sub>
                        </m:sSub>
                      </m:e>
                    </m:d>
                  </m:oMath>
                </a14:m>
                <a:r>
                  <a:rPr lang="en-US" sz="2000" kern="1200" dirty="0">
                    <a:solidFill>
                      <a:srgbClr val="212121">
                        <a:lumMod val="50000"/>
                      </a:srgbClr>
                    </a:solidFill>
                    <a:latin typeface="Avenir Book" charset="0"/>
                    <a:ea typeface="Avenir Book" charset="0"/>
                    <a:cs typeface="Avenir Book" charset="0"/>
                  </a:rPr>
                  <a:t>, which points in the direction </a:t>
                </a:r>
                <a:r>
                  <a:rPr lang="en-US" sz="2000" kern="1200" dirty="0" smtClean="0">
                    <a:solidFill>
                      <a:srgbClr val="212121">
                        <a:lumMod val="50000"/>
                      </a:srgbClr>
                    </a:solidFill>
                    <a:latin typeface="Avenir Book" charset="0"/>
                    <a:ea typeface="Avenir Book" charset="0"/>
                    <a:cs typeface="Avenir Book" charset="0"/>
                  </a:rPr>
                  <a:t>of the biggest increase!</a:t>
                </a:r>
              </a:p>
              <a:p>
                <a:pPr marL="352108" marR="3807" indent="-342591">
                  <a:spcAft>
                    <a:spcPts val="1199"/>
                  </a:spcAft>
                  <a:buFont typeface="Arial" charset="0"/>
                  <a:buChar char="•"/>
                </a:pPr>
                <a:r>
                  <a:rPr lang="en-US" sz="2000" kern="1200" dirty="0" smtClean="0">
                    <a:solidFill>
                      <a:srgbClr val="212121">
                        <a:lumMod val="50000"/>
                      </a:srgbClr>
                    </a:solidFill>
                    <a:latin typeface="Avenir Book" charset="0"/>
                    <a:ea typeface="Avenir Book" charset="0"/>
                    <a:cs typeface="Avenir Book" charset="0"/>
                  </a:rPr>
                  <a:t>-</a:t>
                </a:r>
                <a14:m>
                  <m:oMath xmlns:m="http://schemas.openxmlformats.org/officeDocument/2006/math">
                    <m:r>
                      <a:rPr lang="en-US" sz="2000" i="1" kern="1200">
                        <a:latin typeface="Cambria Math" charset="0"/>
                        <a:ea typeface="Cambria Math" charset="0"/>
                        <a:cs typeface="Cambria Math" charset="0"/>
                      </a:rPr>
                      <m:t>𝛻</m:t>
                    </m:r>
                    <m:r>
                      <a:rPr lang="en-US" sz="2000" i="1" kern="1200">
                        <a:latin typeface="Cambria Math" charset="0"/>
                        <a:ea typeface="Avenir Book" charset="0"/>
                        <a:cs typeface="Avenir Book" charset="0"/>
                      </a:rPr>
                      <m:t>𝐽</m:t>
                    </m:r>
                    <m:d>
                      <m:dPr>
                        <m:ctrlPr>
                          <a:rPr lang="en-US" sz="2000" i="1" kern="1200">
                            <a:latin typeface="Cambria Math" panose="02040503050406030204" pitchFamily="18" charset="0"/>
                            <a:ea typeface="Avenir Book" charset="0"/>
                            <a:cs typeface="Avenir Book" charset="0"/>
                          </a:rPr>
                        </m:ctrlPr>
                      </m:dPr>
                      <m:e>
                        <m:sSub>
                          <m:sSubPr>
                            <m:ctrlPr>
                              <a:rPr lang="en-US" sz="2000" i="1" kern="1200">
                                <a:latin typeface="Cambria Math" panose="02040503050406030204" pitchFamily="18" charset="0"/>
                                <a:ea typeface="Avenir Book" charset="0"/>
                                <a:cs typeface="Avenir Book" charset="0"/>
                              </a:rPr>
                            </m:ctrlPr>
                          </m:sSubPr>
                          <m:e>
                            <m:r>
                              <a:rPr lang="en-US" sz="2000" i="1" kern="1200">
                                <a:latin typeface="Cambria Math" charset="0"/>
                                <a:ea typeface="Avenir Book" charset="0"/>
                                <a:cs typeface="Avenir Book" charset="0"/>
                              </a:rPr>
                              <m:t>𝛽</m:t>
                            </m:r>
                          </m:e>
                          <m:sub>
                            <m:r>
                              <a:rPr lang="en-US" sz="2000" i="1" kern="1200">
                                <a:latin typeface="Cambria Math" charset="0"/>
                                <a:ea typeface="Avenir Book" charset="0"/>
                                <a:cs typeface="Avenir Book" charset="0"/>
                              </a:rPr>
                              <m:t>0</m:t>
                            </m:r>
                          </m:sub>
                        </m:sSub>
                        <m:r>
                          <a:rPr lang="en-US" sz="2000" i="1" kern="1200">
                            <a:latin typeface="Cambria Math" charset="0"/>
                            <a:ea typeface="Avenir Book" charset="0"/>
                            <a:cs typeface="Avenir Book" charset="0"/>
                          </a:rPr>
                          <m:t>,</m:t>
                        </m:r>
                        <m:sSub>
                          <m:sSubPr>
                            <m:ctrlPr>
                              <a:rPr lang="en-US" sz="2000" i="1" kern="1200">
                                <a:latin typeface="Cambria Math" panose="02040503050406030204" pitchFamily="18" charset="0"/>
                                <a:ea typeface="Avenir Book" charset="0"/>
                                <a:cs typeface="Avenir Book" charset="0"/>
                              </a:rPr>
                            </m:ctrlPr>
                          </m:sSubPr>
                          <m:e>
                            <m:r>
                              <a:rPr lang="en-US" sz="2000" i="1" kern="1200">
                                <a:latin typeface="Cambria Math" charset="0"/>
                                <a:ea typeface="Avenir Book" charset="0"/>
                                <a:cs typeface="Avenir Book" charset="0"/>
                              </a:rPr>
                              <m:t>𝛽</m:t>
                            </m:r>
                          </m:e>
                          <m:sub>
                            <m:r>
                              <a:rPr lang="en-US" sz="2000" i="1" kern="1200">
                                <a:latin typeface="Cambria Math" charset="0"/>
                                <a:ea typeface="Avenir Book" charset="0"/>
                                <a:cs typeface="Avenir Book" charset="0"/>
                              </a:rPr>
                              <m:t>1</m:t>
                            </m:r>
                          </m:sub>
                        </m:sSub>
                      </m:e>
                    </m:d>
                  </m:oMath>
                </a14:m>
                <a:r>
                  <a:rPr lang="en-US" sz="1998" kern="1200" dirty="0" smtClean="0">
                    <a:solidFill>
                      <a:srgbClr val="212121">
                        <a:lumMod val="50000"/>
                      </a:srgbClr>
                    </a:solidFill>
                    <a:latin typeface="Avenir Book" charset="0"/>
                    <a:ea typeface="Avenir Book" charset="0"/>
                    <a:cs typeface="Avenir Book" charset="0"/>
                  </a:rPr>
                  <a:t> (negative gradient) points to the biggest decrease at that point!</a:t>
                </a:r>
                <a:endParaRPr lang="en-US" sz="1998" kern="1200" dirty="0">
                  <a:solidFill>
                    <a:srgbClr val="212121">
                      <a:lumMod val="50000"/>
                    </a:srgbClr>
                  </a:solidFill>
                  <a:latin typeface="Avenir Book" charset="0"/>
                  <a:ea typeface="Avenir Book" charset="0"/>
                  <a:cs typeface="Avenir Book" charset="0"/>
                </a:endParaRPr>
              </a:p>
            </p:txBody>
          </p:sp>
        </mc:Choice>
        <mc:Fallback xmlns="">
          <p:sp>
            <p:nvSpPr>
              <p:cNvPr id="13" name="object 2"/>
              <p:cNvSpPr txBox="1">
                <a:spLocks noRot="1" noChangeAspect="1" noMove="1" noResize="1" noEditPoints="1" noAdjustHandles="1" noChangeArrowheads="1" noChangeShapeType="1" noTextEdit="1"/>
              </p:cNvSpPr>
              <p:nvPr/>
            </p:nvSpPr>
            <p:spPr>
              <a:xfrm>
                <a:off x="440944" y="1173252"/>
                <a:ext cx="4807313" cy="1692451"/>
              </a:xfrm>
              <a:prstGeom prst="rect">
                <a:avLst/>
              </a:prstGeom>
              <a:blipFill rotWithShape="0">
                <a:blip r:embed="rId3"/>
                <a:stretch>
                  <a:fillRect l="-2788" t="-4676" r="-4183" b="-8273"/>
                </a:stretch>
              </a:blipFill>
            </p:spPr>
            <p:txBody>
              <a:bodyPr/>
              <a:lstStyle/>
              <a:p>
                <a:r>
                  <a:rPr lang="en-US">
                    <a:noFill/>
                  </a:rPr>
                  <a:t> </a:t>
                </a:r>
              </a:p>
            </p:txBody>
          </p:sp>
        </mc:Fallback>
      </mc:AlternateContent>
      <p:pic>
        <p:nvPicPr>
          <p:cNvPr id="21" name="Picture 20"/>
          <p:cNvPicPr>
            <a:picLocks noChangeAspect="1"/>
          </p:cNvPicPr>
          <p:nvPr/>
        </p:nvPicPr>
        <p:blipFill rotWithShape="1">
          <a:blip r:embed="rId4" cstate="print"/>
          <a:srcRect l="4481" t="7254" r="7208" b="4857"/>
          <a:stretch/>
        </p:blipFill>
        <p:spPr>
          <a:xfrm>
            <a:off x="5833063" y="1258221"/>
            <a:ext cx="3324834" cy="2479948"/>
          </a:xfrm>
          <a:prstGeom prst="rect">
            <a:avLst/>
          </a:prstGeom>
        </p:spPr>
      </p:pic>
      <mc:AlternateContent xmlns:mc="http://schemas.openxmlformats.org/markup-compatibility/2006" xmlns:a14="http://schemas.microsoft.com/office/drawing/2010/main">
        <mc:Choice Requires="a14">
          <p:sp>
            <p:nvSpPr>
              <p:cNvPr id="29" name="TextBox 28"/>
              <p:cNvSpPr txBox="1"/>
              <p:nvPr/>
            </p:nvSpPr>
            <p:spPr>
              <a:xfrm>
                <a:off x="6089490" y="988756"/>
                <a:ext cx="1274625"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398" i="1" kern="1200">
                          <a:latin typeface="Cambria Math" charset="0"/>
                          <a:ea typeface="Avenir Book" charset="0"/>
                          <a:cs typeface="Avenir Book" charset="0"/>
                        </a:rPr>
                        <m:t>𝐽</m:t>
                      </m:r>
                      <m:d>
                        <m:dPr>
                          <m:ctrlPr>
                            <a:rPr lang="en-US" sz="2398" i="1" kern="1200">
                              <a:latin typeface="Cambria Math" panose="02040503050406030204" pitchFamily="18" charset="0"/>
                              <a:ea typeface="Avenir Book" charset="0"/>
                              <a:cs typeface="Avenir Book" charset="0"/>
                            </a:rPr>
                          </m:ctrlPr>
                        </m:dPr>
                        <m:e>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0</m:t>
                              </m:r>
                            </m:sub>
                          </m:sSub>
                          <m:r>
                            <a:rPr lang="en-US" sz="2398" i="1" kern="1200">
                              <a:latin typeface="Cambria Math" charset="0"/>
                              <a:ea typeface="Avenir Book" charset="0"/>
                              <a:cs typeface="Avenir Book" charset="0"/>
                            </a:rPr>
                            <m:t>,</m:t>
                          </m:r>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1</m:t>
                              </m:r>
                            </m:sub>
                          </m:sSub>
                        </m:e>
                      </m:d>
                    </m:oMath>
                  </m:oMathPara>
                </a14:m>
                <a:endParaRPr lang="en-US" sz="2398" kern="1200" dirty="0">
                  <a:latin typeface="Avenir Book" charset="0"/>
                  <a:ea typeface="Avenir Book" charset="0"/>
                  <a:cs typeface="Avenir Book" charset="0"/>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6090895" y="989671"/>
                <a:ext cx="1275805" cy="369332"/>
              </a:xfrm>
              <a:prstGeom prst="rect">
                <a:avLst/>
              </a:prstGeom>
              <a:blipFill rotWithShape="0">
                <a:blip r:embed="rId5"/>
                <a:stretch>
                  <a:fillRect l="-3349" t="-1639" b="-278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6129008" y="3226594"/>
                <a:ext cx="414757"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1</m:t>
                          </m:r>
                        </m:sub>
                      </m:sSub>
                    </m:oMath>
                  </m:oMathPara>
                </a14:m>
                <a:endParaRPr lang="en-US" sz="2398" kern="1200" dirty="0">
                  <a:latin typeface="Avenir Book" charset="0"/>
                  <a:ea typeface="Avenir Book" charset="0"/>
                  <a:cs typeface="Avenir Book" charset="0"/>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6130449" y="3229581"/>
                <a:ext cx="415141" cy="369332"/>
              </a:xfrm>
              <a:prstGeom prst="rect">
                <a:avLst/>
              </a:prstGeom>
              <a:blipFill rotWithShape="0">
                <a:blip r:embed="rId6"/>
                <a:stretch>
                  <a:fillRect l="-20588" t="-3333" b="-3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8298387" y="3378686"/>
                <a:ext cx="422371"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0</m:t>
                          </m:r>
                        </m:sub>
                      </m:sSub>
                    </m:oMath>
                  </m:oMathPara>
                </a14:m>
                <a:endParaRPr lang="en-US" sz="2398" kern="1200" dirty="0">
                  <a:latin typeface="Avenir Book" charset="0"/>
                  <a:ea typeface="Avenir Book" charset="0"/>
                  <a:cs typeface="Avenir Book" charset="0"/>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8301837" y="3381814"/>
                <a:ext cx="422762" cy="369332"/>
              </a:xfrm>
              <a:prstGeom prst="rect">
                <a:avLst/>
              </a:prstGeom>
              <a:blipFill rotWithShape="0">
                <a:blip r:embed="rId7"/>
                <a:stretch>
                  <a:fillRect l="-18841" t="-3333" r="-1449" b="-30000"/>
                </a:stretch>
              </a:blipFill>
            </p:spPr>
            <p:txBody>
              <a:bodyPr/>
              <a:lstStyle/>
              <a:p>
                <a:r>
                  <a:rPr lang="en-US">
                    <a:noFill/>
                  </a:rPr>
                  <a:t> </a:t>
                </a:r>
              </a:p>
            </p:txBody>
          </p:sp>
        </mc:Fallback>
      </mc:AlternateContent>
      <p:sp>
        <p:nvSpPr>
          <p:cNvPr id="32" name="object 2"/>
          <p:cNvSpPr txBox="1"/>
          <p:nvPr/>
        </p:nvSpPr>
        <p:spPr>
          <a:xfrm>
            <a:off x="305235" y="268944"/>
            <a:ext cx="8430023" cy="461238"/>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sz="2997" kern="1200" dirty="0">
                <a:solidFill>
                  <a:srgbClr val="212121"/>
                </a:solidFill>
                <a:latin typeface="Avenir Book" charset="0"/>
                <a:ea typeface="Avenir Book" charset="0"/>
                <a:cs typeface="Avenir Book" charset="0"/>
              </a:rPr>
              <a:t>Gradient Descent with Linear Regression</a:t>
            </a:r>
          </a:p>
        </p:txBody>
      </p:sp>
      <p:sp>
        <p:nvSpPr>
          <p:cNvPr id="5" name="Multiply 4"/>
          <p:cNvSpPr/>
          <p:nvPr/>
        </p:nvSpPr>
        <p:spPr>
          <a:xfrm>
            <a:off x="7381179" y="1891332"/>
            <a:ext cx="228600" cy="228600"/>
          </a:xfrm>
          <a:prstGeom prst="mathMultiply">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350" kern="1200" dirty="0">
              <a:solidFill>
                <a:srgbClr val="000000"/>
              </a:solidFill>
            </a:endParaRPr>
          </a:p>
        </p:txBody>
      </p:sp>
    </p:spTree>
    <p:extLst>
      <p:ext uri="{BB962C8B-B14F-4D97-AF65-F5344CB8AC3E}">
        <p14:creationId xmlns:p14="http://schemas.microsoft.com/office/powerpoint/2010/main" val="5288787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2"/>
          <p:cNvSpPr txBox="1"/>
          <p:nvPr/>
        </p:nvSpPr>
        <p:spPr>
          <a:xfrm>
            <a:off x="440944" y="1173252"/>
            <a:ext cx="4807313" cy="922368"/>
          </a:xfrm>
          <a:prstGeom prst="rect">
            <a:avLst/>
          </a:prstGeom>
        </p:spPr>
        <p:txBody>
          <a:bodyPr vert="horz" wrap="square" lIns="0" tIns="0" rIns="0" bIns="0" rtlCol="0">
            <a:spAutoFit/>
          </a:bodyPr>
          <a:lstStyle/>
          <a:p>
            <a:pPr marL="352108" marR="3807" indent="-342591">
              <a:spcAft>
                <a:spcPts val="1199"/>
              </a:spcAft>
              <a:buFont typeface="Arial" charset="0"/>
              <a:buChar char="•"/>
            </a:pPr>
            <a:r>
              <a:rPr lang="en-US" sz="1998" kern="1200" spc="-15" dirty="0" smtClean="0">
                <a:solidFill>
                  <a:srgbClr val="212121">
                    <a:lumMod val="50000"/>
                  </a:srgbClr>
                </a:solidFill>
                <a:latin typeface="Avenir Book" charset="0"/>
                <a:ea typeface="Avenir Book" charset="0"/>
                <a:cs typeface="Avenir Book" charset="0"/>
              </a:rPr>
              <a:t>The </a:t>
            </a:r>
            <a:r>
              <a:rPr lang="en-US" sz="1998" kern="1200" spc="-15" dirty="0">
                <a:solidFill>
                  <a:srgbClr val="212121">
                    <a:lumMod val="50000"/>
                  </a:srgbClr>
                </a:solidFill>
                <a:latin typeface="Avenir Book" charset="0"/>
                <a:ea typeface="Avenir Book" charset="0"/>
                <a:cs typeface="Avenir Book" charset="0"/>
              </a:rPr>
              <a:t>gradient is the </a:t>
            </a:r>
            <a:r>
              <a:rPr lang="en-US" sz="1998" kern="1200" spc="-15" dirty="0" smtClean="0">
                <a:solidFill>
                  <a:srgbClr val="212121">
                    <a:lumMod val="50000"/>
                  </a:srgbClr>
                </a:solidFill>
                <a:latin typeface="Avenir Book" charset="0"/>
                <a:ea typeface="Avenir Book" charset="0"/>
                <a:cs typeface="Avenir Book" charset="0"/>
              </a:rPr>
              <a:t>a vector whose coordinates consist of </a:t>
            </a:r>
            <a:r>
              <a:rPr lang="en-US" sz="1998" kern="1200" spc="-15" dirty="0">
                <a:solidFill>
                  <a:srgbClr val="212121">
                    <a:lumMod val="50000"/>
                  </a:srgbClr>
                </a:solidFill>
                <a:latin typeface="Avenir Book" charset="0"/>
                <a:ea typeface="Avenir Book" charset="0"/>
                <a:cs typeface="Avenir Book" charset="0"/>
              </a:rPr>
              <a:t>the partial derivatives </a:t>
            </a:r>
            <a:r>
              <a:rPr lang="en-US" sz="1998" kern="1200" spc="-15" dirty="0" smtClean="0">
                <a:solidFill>
                  <a:srgbClr val="212121">
                    <a:lumMod val="50000"/>
                  </a:srgbClr>
                </a:solidFill>
                <a:latin typeface="Avenir Book" charset="0"/>
                <a:ea typeface="Avenir Book" charset="0"/>
                <a:cs typeface="Avenir Book" charset="0"/>
              </a:rPr>
              <a:t>of the parameters</a:t>
            </a:r>
            <a:endParaRPr lang="en-US" sz="1998" kern="1200" dirty="0">
              <a:solidFill>
                <a:srgbClr val="212121">
                  <a:lumMod val="50000"/>
                </a:srgbClr>
              </a:solidFill>
              <a:latin typeface="Avenir Book" charset="0"/>
              <a:ea typeface="Avenir Book" charset="0"/>
              <a:cs typeface="Avenir Book" charset="0"/>
            </a:endParaRPr>
          </a:p>
        </p:txBody>
      </p:sp>
      <p:pic>
        <p:nvPicPr>
          <p:cNvPr id="21" name="Picture 20"/>
          <p:cNvPicPr>
            <a:picLocks noChangeAspect="1"/>
          </p:cNvPicPr>
          <p:nvPr/>
        </p:nvPicPr>
        <p:blipFill rotWithShape="1">
          <a:blip r:embed="rId3" cstate="print"/>
          <a:srcRect l="4481" t="7254" r="7208" b="4857"/>
          <a:stretch/>
        </p:blipFill>
        <p:spPr>
          <a:xfrm>
            <a:off x="5833063" y="1258221"/>
            <a:ext cx="3324834" cy="2479948"/>
          </a:xfrm>
          <a:prstGeom prst="rect">
            <a:avLst/>
          </a:prstGeom>
        </p:spPr>
      </p:pic>
      <mc:AlternateContent xmlns:mc="http://schemas.openxmlformats.org/markup-compatibility/2006" xmlns:a14="http://schemas.microsoft.com/office/drawing/2010/main">
        <mc:Choice Requires="a14">
          <p:sp>
            <p:nvSpPr>
              <p:cNvPr id="29" name="TextBox 28"/>
              <p:cNvSpPr txBox="1"/>
              <p:nvPr/>
            </p:nvSpPr>
            <p:spPr>
              <a:xfrm>
                <a:off x="6089490" y="988756"/>
                <a:ext cx="1274625"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398" i="1" kern="1200">
                          <a:latin typeface="Cambria Math" charset="0"/>
                          <a:ea typeface="Avenir Book" charset="0"/>
                          <a:cs typeface="Avenir Book" charset="0"/>
                        </a:rPr>
                        <m:t>𝐽</m:t>
                      </m:r>
                      <m:d>
                        <m:dPr>
                          <m:ctrlPr>
                            <a:rPr lang="en-US" sz="2398" i="1" kern="1200">
                              <a:latin typeface="Cambria Math" panose="02040503050406030204" pitchFamily="18" charset="0"/>
                              <a:ea typeface="Avenir Book" charset="0"/>
                              <a:cs typeface="Avenir Book" charset="0"/>
                            </a:rPr>
                          </m:ctrlPr>
                        </m:dPr>
                        <m:e>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0</m:t>
                              </m:r>
                            </m:sub>
                          </m:sSub>
                          <m:r>
                            <a:rPr lang="en-US" sz="2398" i="1" kern="1200">
                              <a:latin typeface="Cambria Math" charset="0"/>
                              <a:ea typeface="Avenir Book" charset="0"/>
                              <a:cs typeface="Avenir Book" charset="0"/>
                            </a:rPr>
                            <m:t>,</m:t>
                          </m:r>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1</m:t>
                              </m:r>
                            </m:sub>
                          </m:sSub>
                        </m:e>
                      </m:d>
                    </m:oMath>
                  </m:oMathPara>
                </a14:m>
                <a:endParaRPr lang="en-US" sz="2398" kern="1200" dirty="0">
                  <a:latin typeface="Avenir Book" charset="0"/>
                  <a:ea typeface="Avenir Book" charset="0"/>
                  <a:cs typeface="Avenir Book" charset="0"/>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6090895" y="989671"/>
                <a:ext cx="1275805" cy="369332"/>
              </a:xfrm>
              <a:prstGeom prst="rect">
                <a:avLst/>
              </a:prstGeom>
              <a:blipFill rotWithShape="0">
                <a:blip r:embed="rId5"/>
                <a:stretch>
                  <a:fillRect l="-3349" t="-1639" b="-278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6129008" y="3226594"/>
                <a:ext cx="414757"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1</m:t>
                          </m:r>
                        </m:sub>
                      </m:sSub>
                    </m:oMath>
                  </m:oMathPara>
                </a14:m>
                <a:endParaRPr lang="en-US" sz="2398" kern="1200" dirty="0">
                  <a:latin typeface="Avenir Book" charset="0"/>
                  <a:ea typeface="Avenir Book" charset="0"/>
                  <a:cs typeface="Avenir Book" charset="0"/>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6130449" y="3229581"/>
                <a:ext cx="415141" cy="369332"/>
              </a:xfrm>
              <a:prstGeom prst="rect">
                <a:avLst/>
              </a:prstGeom>
              <a:blipFill rotWithShape="0">
                <a:blip r:embed="rId6"/>
                <a:stretch>
                  <a:fillRect l="-20588" t="-3333" b="-3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8298387" y="3378686"/>
                <a:ext cx="422371"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0</m:t>
                          </m:r>
                        </m:sub>
                      </m:sSub>
                    </m:oMath>
                  </m:oMathPara>
                </a14:m>
                <a:endParaRPr lang="en-US" sz="2398" kern="1200" dirty="0">
                  <a:latin typeface="Avenir Book" charset="0"/>
                  <a:ea typeface="Avenir Book" charset="0"/>
                  <a:cs typeface="Avenir Book" charset="0"/>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8301837" y="3381814"/>
                <a:ext cx="422762" cy="369332"/>
              </a:xfrm>
              <a:prstGeom prst="rect">
                <a:avLst/>
              </a:prstGeom>
              <a:blipFill rotWithShape="0">
                <a:blip r:embed="rId7"/>
                <a:stretch>
                  <a:fillRect l="-18841" t="-3333" r="-1449" b="-30000"/>
                </a:stretch>
              </a:blipFill>
            </p:spPr>
            <p:txBody>
              <a:bodyPr/>
              <a:lstStyle/>
              <a:p>
                <a:r>
                  <a:rPr lang="en-US">
                    <a:noFill/>
                  </a:rPr>
                  <a:t> </a:t>
                </a:r>
              </a:p>
            </p:txBody>
          </p:sp>
        </mc:Fallback>
      </mc:AlternateContent>
      <p:sp>
        <p:nvSpPr>
          <p:cNvPr id="32" name="object 2"/>
          <p:cNvSpPr txBox="1"/>
          <p:nvPr/>
        </p:nvSpPr>
        <p:spPr>
          <a:xfrm>
            <a:off x="305235" y="268944"/>
            <a:ext cx="8430023" cy="461238"/>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sz="2997" kern="1200" dirty="0">
                <a:solidFill>
                  <a:srgbClr val="212121"/>
                </a:solidFill>
                <a:latin typeface="Avenir Book" charset="0"/>
                <a:ea typeface="Avenir Book" charset="0"/>
                <a:cs typeface="Avenir Book" charset="0"/>
              </a:rPr>
              <a:t>Gradient Descent with Linear Regression</a:t>
            </a:r>
          </a:p>
        </p:txBody>
      </p:sp>
      <p:sp>
        <p:nvSpPr>
          <p:cNvPr id="5" name="Multiply 4"/>
          <p:cNvSpPr/>
          <p:nvPr/>
        </p:nvSpPr>
        <p:spPr>
          <a:xfrm>
            <a:off x="7381179" y="1891332"/>
            <a:ext cx="228600" cy="228600"/>
          </a:xfrm>
          <a:prstGeom prst="mathMultiply">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350" kern="1200" dirty="0">
              <a:solidFill>
                <a:srgbClr val="000000"/>
              </a:solidFill>
            </a:endParaRPr>
          </a:p>
        </p:txBody>
      </p:sp>
      <mc:AlternateContent xmlns:mc="http://schemas.openxmlformats.org/markup-compatibility/2006" xmlns:a14="http://schemas.microsoft.com/office/drawing/2010/main">
        <mc:Choice Requires="a14">
          <p:sp>
            <p:nvSpPr>
              <p:cNvPr id="16" name="TextBox 15"/>
              <p:cNvSpPr txBox="1"/>
              <p:nvPr/>
            </p:nvSpPr>
            <p:spPr>
              <a:xfrm>
                <a:off x="386244" y="2865382"/>
                <a:ext cx="4916712" cy="57355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798" i="1" kern="1200" smtClean="0">
                          <a:latin typeface="Cambria Math" charset="0"/>
                          <a:ea typeface="Cambria Math" charset="0"/>
                          <a:cs typeface="Cambria Math" charset="0"/>
                        </a:rPr>
                        <m:t>𝛻</m:t>
                      </m:r>
                      <m:r>
                        <a:rPr lang="en-US" sz="1798" i="1" kern="1200">
                          <a:latin typeface="Cambria Math" charset="0"/>
                          <a:ea typeface="Avenir Book" charset="0"/>
                          <a:cs typeface="Avenir Book" charset="0"/>
                        </a:rPr>
                        <m:t>𝐽</m:t>
                      </m:r>
                      <m:d>
                        <m:dPr>
                          <m:ctrlPr>
                            <a:rPr lang="en-US" sz="1798" i="1" kern="1200">
                              <a:latin typeface="Cambria Math" panose="02040503050406030204" pitchFamily="18" charset="0"/>
                              <a:ea typeface="Avenir Book" charset="0"/>
                              <a:cs typeface="Avenir Book" charset="0"/>
                            </a:rPr>
                          </m:ctrlPr>
                        </m:dPr>
                        <m:e>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Avenir Book" charset="0"/>
                                  <a:cs typeface="Avenir Book" charset="0"/>
                                </a:rPr>
                                <m:t>𝛽</m:t>
                              </m:r>
                            </m:e>
                            <m:sub>
                              <m:r>
                                <a:rPr lang="en-US" sz="1798" i="1" kern="1200">
                                  <a:latin typeface="Cambria Math" charset="0"/>
                                  <a:ea typeface="Avenir Book" charset="0"/>
                                  <a:cs typeface="Avenir Book" charset="0"/>
                                </a:rPr>
                                <m:t>0</m:t>
                              </m:r>
                            </m:sub>
                          </m:sSub>
                          <m:r>
                            <a:rPr lang="en-US" sz="1798" i="1" kern="1200">
                              <a:latin typeface="Cambria Math" charset="0"/>
                              <a:ea typeface="Avenir Book" charset="0"/>
                              <a:cs typeface="Avenir Book" charset="0"/>
                            </a:rPr>
                            <m:t>,…,</m:t>
                          </m:r>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Avenir Book" charset="0"/>
                                  <a:cs typeface="Avenir Book" charset="0"/>
                                </a:rPr>
                                <m:t>𝛽</m:t>
                              </m:r>
                            </m:e>
                            <m:sub>
                              <m:r>
                                <a:rPr lang="en-US" sz="1798" i="1" kern="1200">
                                  <a:latin typeface="Cambria Math" charset="0"/>
                                  <a:ea typeface="Avenir Book" charset="0"/>
                                  <a:cs typeface="Avenir Book" charset="0"/>
                                </a:rPr>
                                <m:t>𝑛</m:t>
                              </m:r>
                            </m:sub>
                          </m:sSub>
                        </m:e>
                      </m:d>
                      <m:r>
                        <a:rPr lang="en-US" sz="1798" i="1" kern="1200">
                          <a:latin typeface="Cambria Math" charset="0"/>
                          <a:ea typeface="Avenir Book" charset="0"/>
                          <a:cs typeface="Avenir Book" charset="0"/>
                        </a:rPr>
                        <m:t>= &lt;</m:t>
                      </m:r>
                      <m:f>
                        <m:fPr>
                          <m:ctrlPr>
                            <a:rPr lang="mr-IN" sz="1798" i="1" kern="1200">
                              <a:latin typeface="Cambria Math" panose="02040503050406030204" pitchFamily="18" charset="0"/>
                              <a:ea typeface="Avenir Book" charset="0"/>
                              <a:cs typeface="Avenir Book" charset="0"/>
                            </a:rPr>
                          </m:ctrlPr>
                        </m:fPr>
                        <m:num>
                          <m:r>
                            <a:rPr lang="mr-IN" sz="1798" i="1" kern="1200">
                              <a:latin typeface="Cambria Math" charset="0"/>
                              <a:ea typeface="Cambria Math" charset="0"/>
                              <a:cs typeface="Cambria Math" charset="0"/>
                            </a:rPr>
                            <m:t>𝜕</m:t>
                          </m:r>
                          <m:r>
                            <a:rPr lang="en-US" sz="1798" i="1" kern="1200">
                              <a:latin typeface="Cambria Math" charset="0"/>
                              <a:ea typeface="Cambria Math" charset="0"/>
                              <a:cs typeface="Cambria Math" charset="0"/>
                            </a:rPr>
                            <m:t>𝐽</m:t>
                          </m:r>
                        </m:num>
                        <m:den>
                          <m:r>
                            <a:rPr lang="mr-IN" sz="1798" i="1" kern="1200">
                              <a:latin typeface="Cambria Math" charset="0"/>
                              <a:ea typeface="Cambria Math" charset="0"/>
                              <a:cs typeface="Cambria Math" charset="0"/>
                            </a:rPr>
                            <m:t>𝜕</m:t>
                          </m:r>
                          <m:sSub>
                            <m:sSubPr>
                              <m:ctrlPr>
                                <a:rPr lang="en-US" sz="1798" i="1" kern="1200">
                                  <a:latin typeface="Cambria Math" panose="02040503050406030204" pitchFamily="18" charset="0"/>
                                  <a:ea typeface="Cambria Math" charset="0"/>
                                  <a:cs typeface="Cambria Math" charset="0"/>
                                </a:rPr>
                              </m:ctrlPr>
                            </m:sSubPr>
                            <m:e>
                              <m:r>
                                <a:rPr lang="en-US" sz="1798" i="1" kern="1200">
                                  <a:latin typeface="Cambria Math" charset="0"/>
                                  <a:ea typeface="Cambria Math" charset="0"/>
                                  <a:cs typeface="Cambria Math" charset="0"/>
                                </a:rPr>
                                <m:t>𝛽</m:t>
                              </m:r>
                            </m:e>
                            <m:sub>
                              <m:r>
                                <a:rPr lang="en-US" sz="1798" i="1" kern="1200">
                                  <a:latin typeface="Cambria Math" charset="0"/>
                                  <a:ea typeface="Cambria Math" charset="0"/>
                                  <a:cs typeface="Cambria Math" charset="0"/>
                                </a:rPr>
                                <m:t>0</m:t>
                              </m:r>
                            </m:sub>
                          </m:sSub>
                        </m:den>
                      </m:f>
                      <m:r>
                        <m:rPr>
                          <m:nor/>
                        </m:rPr>
                        <a:rPr lang="en-US" sz="1798" kern="1200">
                          <a:latin typeface="Cambria Math" charset="0"/>
                          <a:ea typeface="Cambria Math" charset="0"/>
                          <a:cs typeface="Cambria Math" charset="0"/>
                        </a:rPr>
                        <m:t>, </m:t>
                      </m:r>
                      <m:r>
                        <a:rPr lang="mr-IN" sz="1798" i="1" kern="1200">
                          <a:latin typeface="Cambria Math" charset="0"/>
                          <a:ea typeface="Cambria Math" charset="0"/>
                          <a:cs typeface="Cambria Math" charset="0"/>
                        </a:rPr>
                        <m:t>…</m:t>
                      </m:r>
                      <m:r>
                        <a:rPr lang="en-US" sz="1798" i="1" kern="1200">
                          <a:latin typeface="Cambria Math" charset="0"/>
                          <a:ea typeface="Cambria Math" charset="0"/>
                          <a:cs typeface="Cambria Math" charset="0"/>
                        </a:rPr>
                        <m:t>,</m:t>
                      </m:r>
                      <m:f>
                        <m:fPr>
                          <m:ctrlPr>
                            <a:rPr lang="mr-IN" sz="1798" i="1" kern="1200">
                              <a:latin typeface="Cambria Math" panose="02040503050406030204" pitchFamily="18" charset="0"/>
                              <a:ea typeface="Avenir Book" charset="0"/>
                              <a:cs typeface="Avenir Book" charset="0"/>
                            </a:rPr>
                          </m:ctrlPr>
                        </m:fPr>
                        <m:num>
                          <m:r>
                            <a:rPr lang="mr-IN" sz="1798" i="1" kern="1200">
                              <a:latin typeface="Cambria Math" charset="0"/>
                              <a:ea typeface="Cambria Math" charset="0"/>
                              <a:cs typeface="Cambria Math" charset="0"/>
                            </a:rPr>
                            <m:t>𝜕</m:t>
                          </m:r>
                          <m:r>
                            <a:rPr lang="en-US" sz="1798" i="1" kern="1200">
                              <a:latin typeface="Cambria Math" charset="0"/>
                              <a:ea typeface="Cambria Math" charset="0"/>
                              <a:cs typeface="Cambria Math" charset="0"/>
                            </a:rPr>
                            <m:t>𝐽</m:t>
                          </m:r>
                        </m:num>
                        <m:den>
                          <m:r>
                            <a:rPr lang="mr-IN" sz="1798" i="1" kern="1200">
                              <a:latin typeface="Cambria Math" charset="0"/>
                              <a:ea typeface="Cambria Math" charset="0"/>
                              <a:cs typeface="Cambria Math" charset="0"/>
                            </a:rPr>
                            <m:t>𝜕</m:t>
                          </m:r>
                          <m:sSub>
                            <m:sSubPr>
                              <m:ctrlPr>
                                <a:rPr lang="en-US" sz="1798" i="1" kern="1200">
                                  <a:latin typeface="Cambria Math" panose="02040503050406030204" pitchFamily="18" charset="0"/>
                                  <a:ea typeface="Cambria Math" charset="0"/>
                                  <a:cs typeface="Cambria Math" charset="0"/>
                                </a:rPr>
                              </m:ctrlPr>
                            </m:sSubPr>
                            <m:e>
                              <m:r>
                                <a:rPr lang="en-US" sz="1798" i="1" kern="1200">
                                  <a:latin typeface="Cambria Math" charset="0"/>
                                  <a:ea typeface="Cambria Math" charset="0"/>
                                  <a:cs typeface="Cambria Math" charset="0"/>
                                </a:rPr>
                                <m:t>𝛽</m:t>
                              </m:r>
                            </m:e>
                            <m:sub>
                              <m:r>
                                <a:rPr lang="en-US" sz="1798" b="0" i="1" kern="1200" smtClean="0">
                                  <a:latin typeface="Cambria Math" charset="0"/>
                                  <a:ea typeface="Cambria Math" charset="0"/>
                                  <a:cs typeface="Cambria Math" charset="0"/>
                                </a:rPr>
                                <m:t>𝑛</m:t>
                              </m:r>
                            </m:sub>
                          </m:sSub>
                        </m:den>
                      </m:f>
                      <m:r>
                        <a:rPr lang="en-US" sz="1798" i="1" kern="1200">
                          <a:latin typeface="Cambria Math" charset="0"/>
                          <a:ea typeface="Cambria Math" charset="0"/>
                          <a:cs typeface="Cambria Math" charset="0"/>
                        </a:rPr>
                        <m:t>&gt;</m:t>
                      </m:r>
                    </m:oMath>
                  </m:oMathPara>
                </a14:m>
                <a:endParaRPr lang="en-US" sz="1798" kern="1200" dirty="0">
                  <a:latin typeface="Avenir Book" charset="0"/>
                  <a:ea typeface="Avenir Book" charset="0"/>
                  <a:cs typeface="Avenir Book" charset="0"/>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386244" y="2865382"/>
                <a:ext cx="4916712" cy="573555"/>
              </a:xfrm>
              <a:prstGeom prst="rect">
                <a:avLst/>
              </a:prstGeom>
              <a:blipFill rotWithShape="0">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9024677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object 2"/>
              <p:cNvSpPr txBox="1"/>
              <p:nvPr/>
            </p:nvSpPr>
            <p:spPr>
              <a:xfrm>
                <a:off x="440943" y="1173251"/>
                <a:ext cx="4968481" cy="2613681"/>
              </a:xfrm>
              <a:prstGeom prst="rect">
                <a:avLst/>
              </a:prstGeom>
            </p:spPr>
            <p:txBody>
              <a:bodyPr vert="horz" wrap="square" lIns="0" tIns="0" rIns="0" bIns="0" rtlCol="0">
                <a:spAutoFit/>
              </a:bodyPr>
              <a:lstStyle/>
              <a:p>
                <a:pPr marL="352108" marR="3807" indent="-342591">
                  <a:spcAft>
                    <a:spcPts val="1199"/>
                  </a:spcAft>
                  <a:buFont typeface="Arial" charset="0"/>
                  <a:buChar char="•"/>
                </a:pPr>
                <a:r>
                  <a:rPr lang="en-US" sz="1998" kern="1200" spc="-15" dirty="0">
                    <a:solidFill>
                      <a:srgbClr val="212121">
                        <a:lumMod val="50000"/>
                      </a:srgbClr>
                    </a:solidFill>
                    <a:latin typeface="Avenir Book" charset="0"/>
                    <a:ea typeface="Avenir Book" charset="0"/>
                    <a:cs typeface="Avenir Book" charset="0"/>
                  </a:rPr>
                  <a:t>Then use the gradient </a:t>
                </a:r>
                <a14:m>
                  <m:oMath xmlns:m="http://schemas.openxmlformats.org/officeDocument/2006/math">
                    <m:r>
                      <a:rPr lang="en-US" sz="1998" kern="1200">
                        <a:latin typeface="Cambria Math" charset="0"/>
                        <a:ea typeface="Cambria Math" charset="0"/>
                        <a:cs typeface="Cambria Math" charset="0"/>
                      </a:rPr>
                      <m:t>(</m:t>
                    </m:r>
                    <m:r>
                      <a:rPr lang="en-US" sz="1998" kern="1200">
                        <a:latin typeface="Cambria Math" charset="0"/>
                        <a:ea typeface="Cambria Math" charset="0"/>
                        <a:cs typeface="Cambria Math" charset="0"/>
                      </a:rPr>
                      <m:t>𝛻</m:t>
                    </m:r>
                    <m:r>
                      <a:rPr lang="en-US" sz="1998" kern="1200">
                        <a:latin typeface="Cambria Math" charset="0"/>
                        <a:ea typeface="Cambria Math" charset="0"/>
                        <a:cs typeface="Cambria Math" charset="0"/>
                      </a:rPr>
                      <m:t>)</m:t>
                    </m:r>
                  </m:oMath>
                </a14:m>
                <a:r>
                  <a:rPr lang="en-US" sz="1998" kern="1200" spc="-15" dirty="0">
                    <a:solidFill>
                      <a:srgbClr val="212121">
                        <a:lumMod val="50000"/>
                      </a:srgbClr>
                    </a:solidFill>
                    <a:latin typeface="Avenir Book" charset="0"/>
                    <a:ea typeface="Avenir Book" charset="0"/>
                    <a:cs typeface="Avenir Book" charset="0"/>
                  </a:rPr>
                  <a:t> and the cost function to calculate the next point (</a:t>
                </a:r>
                <a14:m>
                  <m:oMath xmlns:m="http://schemas.openxmlformats.org/officeDocument/2006/math">
                    <m:sSub>
                      <m:sSubPr>
                        <m:ctrlPr>
                          <a:rPr lang="en-US" sz="1998" i="1" kern="1200">
                            <a:latin typeface="Cambria Math" panose="02040503050406030204" pitchFamily="18" charset="0"/>
                            <a:ea typeface="Avenir Book" charset="0"/>
                            <a:cs typeface="Avenir Book" charset="0"/>
                          </a:rPr>
                        </m:ctrlPr>
                      </m:sSubPr>
                      <m:e>
                        <m:r>
                          <a:rPr lang="en-US" sz="1998" i="1" kern="1200">
                            <a:latin typeface="Cambria Math" charset="0"/>
                            <a:ea typeface="Cambria Math" charset="0"/>
                            <a:cs typeface="Cambria Math" charset="0"/>
                          </a:rPr>
                          <m:t>𝜔</m:t>
                        </m:r>
                      </m:e>
                      <m:sub>
                        <m:r>
                          <a:rPr lang="en-US" sz="1998" i="1" kern="1200">
                            <a:latin typeface="Cambria Math" charset="0"/>
                            <a:ea typeface="Avenir Book" charset="0"/>
                            <a:cs typeface="Avenir Book" charset="0"/>
                          </a:rPr>
                          <m:t>1</m:t>
                        </m:r>
                      </m:sub>
                    </m:sSub>
                  </m:oMath>
                </a14:m>
                <a:r>
                  <a:rPr lang="en-US" sz="1998" kern="1200" spc="-15" dirty="0">
                    <a:solidFill>
                      <a:srgbClr val="212121">
                        <a:lumMod val="50000"/>
                      </a:srgbClr>
                    </a:solidFill>
                    <a:latin typeface="Avenir Book" charset="0"/>
                    <a:ea typeface="Avenir Book" charset="0"/>
                    <a:cs typeface="Avenir Book" charset="0"/>
                  </a:rPr>
                  <a:t>) from the current one (</a:t>
                </a:r>
                <a14:m>
                  <m:oMath xmlns:m="http://schemas.openxmlformats.org/officeDocument/2006/math">
                    <m:sSub>
                      <m:sSubPr>
                        <m:ctrlPr>
                          <a:rPr lang="en-US" sz="1998" i="1" kern="1200">
                            <a:latin typeface="Cambria Math" panose="02040503050406030204" pitchFamily="18" charset="0"/>
                            <a:ea typeface="Avenir Book" charset="0"/>
                            <a:cs typeface="Avenir Book" charset="0"/>
                          </a:rPr>
                        </m:ctrlPr>
                      </m:sSubPr>
                      <m:e>
                        <m:r>
                          <a:rPr lang="en-US" sz="1998" i="1" kern="1200">
                            <a:latin typeface="Cambria Math" charset="0"/>
                            <a:ea typeface="Cambria Math" charset="0"/>
                            <a:cs typeface="Cambria Math" charset="0"/>
                          </a:rPr>
                          <m:t>𝜔</m:t>
                        </m:r>
                      </m:e>
                      <m:sub>
                        <m:r>
                          <a:rPr lang="en-US" sz="1998" i="1" kern="1200">
                            <a:latin typeface="Cambria Math" charset="0"/>
                            <a:ea typeface="Avenir Book" charset="0"/>
                            <a:cs typeface="Avenir Book" charset="0"/>
                          </a:rPr>
                          <m:t>0</m:t>
                        </m:r>
                      </m:sub>
                    </m:sSub>
                    <m:r>
                      <a:rPr lang="en-US" sz="1998" i="1" kern="1200">
                        <a:latin typeface="Cambria Math" charset="0"/>
                        <a:ea typeface="Avenir Book" charset="0"/>
                        <a:cs typeface="Avenir Book" charset="0"/>
                      </a:rPr>
                      <m:t>):</m:t>
                    </m:r>
                  </m:oMath>
                </a14:m>
                <a:endParaRPr lang="en-US" sz="1998" kern="1200" spc="-15" dirty="0">
                  <a:solidFill>
                    <a:srgbClr val="212121">
                      <a:lumMod val="50000"/>
                    </a:srgbClr>
                  </a:solidFill>
                  <a:latin typeface="Avenir Book" charset="0"/>
                  <a:ea typeface="Avenir Book" charset="0"/>
                  <a:cs typeface="Avenir Book" charset="0"/>
                </a:endParaRPr>
              </a:p>
              <a:p>
                <a:pPr marL="352108" marR="3807" indent="-342591">
                  <a:spcAft>
                    <a:spcPts val="1199"/>
                  </a:spcAft>
                  <a:buFont typeface="Arial" charset="0"/>
                  <a:buChar char="•"/>
                </a:pPr>
                <a:endParaRPr lang="en-US" sz="1998" kern="1200" spc="-15" dirty="0">
                  <a:solidFill>
                    <a:srgbClr val="212121">
                      <a:lumMod val="50000"/>
                    </a:srgbClr>
                  </a:solidFill>
                  <a:latin typeface="Avenir Book" charset="0"/>
                  <a:ea typeface="Avenir Book" charset="0"/>
                  <a:cs typeface="Avenir Book" charset="0"/>
                </a:endParaRPr>
              </a:p>
              <a:p>
                <a:pPr marL="352108" marR="3807" indent="-342591">
                  <a:spcAft>
                    <a:spcPts val="1199"/>
                  </a:spcAft>
                  <a:buFont typeface="Arial" charset="0"/>
                  <a:buChar char="•"/>
                </a:pPr>
                <a:endParaRPr lang="en-US" sz="1998" kern="1200" spc="-15" dirty="0">
                  <a:solidFill>
                    <a:srgbClr val="212121">
                      <a:lumMod val="50000"/>
                    </a:srgbClr>
                  </a:solidFill>
                  <a:latin typeface="Avenir Book" charset="0"/>
                  <a:ea typeface="Avenir Book" charset="0"/>
                  <a:cs typeface="Avenir Book" charset="0"/>
                </a:endParaRPr>
              </a:p>
              <a:p>
                <a:pPr marL="352108" marR="3807" indent="-342591">
                  <a:spcAft>
                    <a:spcPts val="1199"/>
                  </a:spcAft>
                  <a:buFont typeface="Arial" charset="0"/>
                  <a:buChar char="•"/>
                </a:pPr>
                <a:r>
                  <a:rPr lang="en-US" sz="1998" kern="1200" spc="-15" dirty="0">
                    <a:solidFill>
                      <a:srgbClr val="212121">
                        <a:lumMod val="50000"/>
                      </a:srgbClr>
                    </a:solidFill>
                    <a:latin typeface="Avenir Book" charset="0"/>
                    <a:ea typeface="Avenir Book" charset="0"/>
                    <a:cs typeface="Avenir Book" charset="0"/>
                  </a:rPr>
                  <a:t>The learning rate (</a:t>
                </a:r>
                <a14:m>
                  <m:oMath xmlns:m="http://schemas.openxmlformats.org/officeDocument/2006/math">
                    <m:r>
                      <a:rPr lang="en-US" sz="1998" i="1" kern="1200">
                        <a:latin typeface="Cambria Math" charset="0"/>
                        <a:ea typeface="Cambria Math" charset="0"/>
                        <a:cs typeface="Cambria Math" charset="0"/>
                      </a:rPr>
                      <m:t>𝛼</m:t>
                    </m:r>
                  </m:oMath>
                </a14:m>
                <a:r>
                  <a:rPr lang="en-US" sz="1998" kern="1200" spc="-15" dirty="0">
                    <a:solidFill>
                      <a:srgbClr val="212121">
                        <a:lumMod val="50000"/>
                      </a:srgbClr>
                    </a:solidFill>
                    <a:latin typeface="Avenir Book" charset="0"/>
                    <a:ea typeface="Avenir Book" charset="0"/>
                    <a:cs typeface="Avenir Book" charset="0"/>
                  </a:rPr>
                  <a:t>) is a tunable parameter that determines step size</a:t>
                </a:r>
              </a:p>
            </p:txBody>
          </p:sp>
        </mc:Choice>
        <mc:Fallback xmlns="">
          <p:sp>
            <p:nvSpPr>
              <p:cNvPr id="13" name="object 2"/>
              <p:cNvSpPr txBox="1">
                <a:spLocks noRot="1" noChangeAspect="1" noMove="1" noResize="1" noEditPoints="1" noAdjustHandles="1" noChangeArrowheads="1" noChangeShapeType="1" noTextEdit="1"/>
              </p:cNvSpPr>
              <p:nvPr/>
            </p:nvSpPr>
            <p:spPr>
              <a:xfrm>
                <a:off x="437118" y="1174337"/>
                <a:ext cx="4973081" cy="2616101"/>
              </a:xfrm>
              <a:prstGeom prst="rect">
                <a:avLst/>
              </a:prstGeom>
              <a:blipFill rotWithShape="0">
                <a:blip r:embed="rId3"/>
                <a:stretch>
                  <a:fillRect l="-2699" t="-3263" b="-4895"/>
                </a:stretch>
              </a:blipFill>
            </p:spPr>
            <p:txBody>
              <a:bodyPr/>
              <a:lstStyle/>
              <a:p>
                <a:r>
                  <a:rPr lang="en-US">
                    <a:noFill/>
                  </a:rPr>
                  <a:t> </a:t>
                </a:r>
              </a:p>
            </p:txBody>
          </p:sp>
        </mc:Fallback>
      </mc:AlternateContent>
      <p:pic>
        <p:nvPicPr>
          <p:cNvPr id="21" name="Picture 20"/>
          <p:cNvPicPr>
            <a:picLocks noChangeAspect="1"/>
          </p:cNvPicPr>
          <p:nvPr/>
        </p:nvPicPr>
        <p:blipFill rotWithShape="1">
          <a:blip r:embed="rId4" cstate="print"/>
          <a:srcRect l="4481" t="7254" r="7208" b="4857"/>
          <a:stretch/>
        </p:blipFill>
        <p:spPr>
          <a:xfrm>
            <a:off x="5833063" y="1258221"/>
            <a:ext cx="3324834" cy="2479948"/>
          </a:xfrm>
          <a:prstGeom prst="rect">
            <a:avLst/>
          </a:prstGeom>
        </p:spPr>
      </p:pic>
      <mc:AlternateContent xmlns:mc="http://schemas.openxmlformats.org/markup-compatibility/2006" xmlns:a14="http://schemas.microsoft.com/office/drawing/2010/main">
        <mc:Choice Requires="a14">
          <p:sp>
            <p:nvSpPr>
              <p:cNvPr id="29" name="TextBox 28"/>
              <p:cNvSpPr txBox="1"/>
              <p:nvPr/>
            </p:nvSpPr>
            <p:spPr>
              <a:xfrm>
                <a:off x="6089490" y="988756"/>
                <a:ext cx="1274625"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398" i="1" kern="1200">
                          <a:latin typeface="Cambria Math" charset="0"/>
                          <a:ea typeface="Avenir Book" charset="0"/>
                          <a:cs typeface="Avenir Book" charset="0"/>
                        </a:rPr>
                        <m:t>𝐽</m:t>
                      </m:r>
                      <m:d>
                        <m:dPr>
                          <m:ctrlPr>
                            <a:rPr lang="en-US" sz="2398" i="1" kern="1200">
                              <a:latin typeface="Cambria Math" panose="02040503050406030204" pitchFamily="18" charset="0"/>
                              <a:ea typeface="Avenir Book" charset="0"/>
                              <a:cs typeface="Avenir Book" charset="0"/>
                            </a:rPr>
                          </m:ctrlPr>
                        </m:dPr>
                        <m:e>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0</m:t>
                              </m:r>
                            </m:sub>
                          </m:sSub>
                          <m:r>
                            <a:rPr lang="en-US" sz="2398" i="1" kern="1200">
                              <a:latin typeface="Cambria Math" charset="0"/>
                              <a:ea typeface="Avenir Book" charset="0"/>
                              <a:cs typeface="Avenir Book" charset="0"/>
                            </a:rPr>
                            <m:t>,</m:t>
                          </m:r>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1</m:t>
                              </m:r>
                            </m:sub>
                          </m:sSub>
                        </m:e>
                      </m:d>
                    </m:oMath>
                  </m:oMathPara>
                </a14:m>
                <a:endParaRPr lang="en-US" sz="2398" kern="1200" dirty="0">
                  <a:latin typeface="Avenir Book" charset="0"/>
                  <a:ea typeface="Avenir Book" charset="0"/>
                  <a:cs typeface="Avenir Book" charset="0"/>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6090895" y="989671"/>
                <a:ext cx="1275805" cy="369332"/>
              </a:xfrm>
              <a:prstGeom prst="rect">
                <a:avLst/>
              </a:prstGeom>
              <a:blipFill rotWithShape="0">
                <a:blip r:embed="rId5"/>
                <a:stretch>
                  <a:fillRect l="-3349" t="-1639" b="-278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6129008" y="3226594"/>
                <a:ext cx="414757"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1</m:t>
                          </m:r>
                        </m:sub>
                      </m:sSub>
                    </m:oMath>
                  </m:oMathPara>
                </a14:m>
                <a:endParaRPr lang="en-US" sz="2398" kern="1200" dirty="0">
                  <a:latin typeface="Avenir Book" charset="0"/>
                  <a:ea typeface="Avenir Book" charset="0"/>
                  <a:cs typeface="Avenir Book" charset="0"/>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6130449" y="3229581"/>
                <a:ext cx="415141" cy="369332"/>
              </a:xfrm>
              <a:prstGeom prst="rect">
                <a:avLst/>
              </a:prstGeom>
              <a:blipFill rotWithShape="0">
                <a:blip r:embed="rId6"/>
                <a:stretch>
                  <a:fillRect l="-20588" t="-3333" b="-3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8298387" y="3378686"/>
                <a:ext cx="422371"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0</m:t>
                          </m:r>
                        </m:sub>
                      </m:sSub>
                    </m:oMath>
                  </m:oMathPara>
                </a14:m>
                <a:endParaRPr lang="en-US" sz="2398" kern="1200" dirty="0">
                  <a:latin typeface="Avenir Book" charset="0"/>
                  <a:ea typeface="Avenir Book" charset="0"/>
                  <a:cs typeface="Avenir Book" charset="0"/>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8301837" y="3381814"/>
                <a:ext cx="422762" cy="369332"/>
              </a:xfrm>
              <a:prstGeom prst="rect">
                <a:avLst/>
              </a:prstGeom>
              <a:blipFill rotWithShape="0">
                <a:blip r:embed="rId7"/>
                <a:stretch>
                  <a:fillRect l="-18841" t="-3333" r="-1449" b="-30000"/>
                </a:stretch>
              </a:blipFill>
            </p:spPr>
            <p:txBody>
              <a:bodyPr/>
              <a:lstStyle/>
              <a:p>
                <a:r>
                  <a:rPr lang="en-US">
                    <a:noFill/>
                  </a:rPr>
                  <a:t> </a:t>
                </a:r>
              </a:p>
            </p:txBody>
          </p:sp>
        </mc:Fallback>
      </mc:AlternateContent>
      <p:sp>
        <p:nvSpPr>
          <p:cNvPr id="32" name="object 2"/>
          <p:cNvSpPr txBox="1"/>
          <p:nvPr/>
        </p:nvSpPr>
        <p:spPr>
          <a:xfrm>
            <a:off x="305235" y="268944"/>
            <a:ext cx="8430023" cy="461238"/>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sz="2997" kern="1200" dirty="0">
                <a:solidFill>
                  <a:srgbClr val="212121"/>
                </a:solidFill>
                <a:latin typeface="Avenir Book" charset="0"/>
                <a:ea typeface="Avenir Book" charset="0"/>
                <a:cs typeface="Avenir Book" charset="0"/>
              </a:rPr>
              <a:t>Gradient Descent with Linear Regression</a:t>
            </a:r>
          </a:p>
        </p:txBody>
      </p:sp>
      <p:sp>
        <p:nvSpPr>
          <p:cNvPr id="5" name="Multiply 4"/>
          <p:cNvSpPr/>
          <p:nvPr/>
        </p:nvSpPr>
        <p:spPr>
          <a:xfrm>
            <a:off x="7364115" y="1836227"/>
            <a:ext cx="312131" cy="283706"/>
          </a:xfrm>
          <a:prstGeom prst="mathMultiply">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350" kern="1200" dirty="0">
              <a:solidFill>
                <a:srgbClr val="000000"/>
              </a:solidFill>
            </a:endParaRPr>
          </a:p>
        </p:txBody>
      </p:sp>
      <mc:AlternateContent xmlns:mc="http://schemas.openxmlformats.org/markup-compatibility/2006" xmlns:a14="http://schemas.microsoft.com/office/drawing/2010/main">
        <mc:Choice Requires="a14">
          <p:sp>
            <p:nvSpPr>
              <p:cNvPr id="15" name="TextBox 14"/>
              <p:cNvSpPr txBox="1"/>
              <p:nvPr/>
            </p:nvSpPr>
            <p:spPr>
              <a:xfrm>
                <a:off x="537136" y="2191103"/>
                <a:ext cx="4948418" cy="7555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Cambria Math" charset="0"/>
                              <a:cs typeface="Cambria Math" charset="0"/>
                            </a:rPr>
                            <m:t>𝜔</m:t>
                          </m:r>
                        </m:e>
                        <m:sub>
                          <m:r>
                            <a:rPr lang="en-US" sz="1798" i="1" kern="1200">
                              <a:latin typeface="Cambria Math" charset="0"/>
                              <a:ea typeface="Avenir Book" charset="0"/>
                              <a:cs typeface="Avenir Book" charset="0"/>
                            </a:rPr>
                            <m:t>1</m:t>
                          </m:r>
                        </m:sub>
                      </m:sSub>
                      <m:r>
                        <a:rPr lang="en-US" sz="1798" i="1" kern="1200">
                          <a:latin typeface="Cambria Math" charset="0"/>
                          <a:ea typeface="Avenir Book" charset="0"/>
                          <a:cs typeface="Avenir Book" charset="0"/>
                        </a:rPr>
                        <m:t>=</m:t>
                      </m:r>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Cambria Math" charset="0"/>
                              <a:cs typeface="Cambria Math" charset="0"/>
                            </a:rPr>
                            <m:t>𝜔</m:t>
                          </m:r>
                        </m:e>
                        <m:sub>
                          <m:r>
                            <a:rPr lang="en-US" sz="1798" i="1" kern="1200">
                              <a:latin typeface="Cambria Math" charset="0"/>
                              <a:ea typeface="Avenir Book" charset="0"/>
                              <a:cs typeface="Avenir Book" charset="0"/>
                            </a:rPr>
                            <m:t>0</m:t>
                          </m:r>
                        </m:sub>
                      </m:sSub>
                      <m:r>
                        <a:rPr lang="en-US" sz="1798" i="1" kern="1200">
                          <a:latin typeface="Cambria Math" charset="0"/>
                          <a:ea typeface="Avenir Book" charset="0"/>
                          <a:cs typeface="Avenir Book" charset="0"/>
                        </a:rPr>
                        <m:t>−</m:t>
                      </m:r>
                      <m:r>
                        <a:rPr lang="en-US" sz="1798" i="1" kern="1200">
                          <a:latin typeface="Cambria Math" charset="0"/>
                          <a:ea typeface="Cambria Math" charset="0"/>
                          <a:cs typeface="Cambria Math" charset="0"/>
                        </a:rPr>
                        <m:t>𝛼𝛻</m:t>
                      </m:r>
                      <m:f>
                        <m:fPr>
                          <m:ctrlPr>
                            <a:rPr lang="mr-IN" sz="1798" i="1" kern="1200">
                              <a:latin typeface="Cambria Math" panose="02040503050406030204" pitchFamily="18" charset="0"/>
                              <a:ea typeface="Avenir Book" charset="0"/>
                              <a:cs typeface="Avenir Book" charset="0"/>
                            </a:rPr>
                          </m:ctrlPr>
                        </m:fPr>
                        <m:num>
                          <m:r>
                            <a:rPr lang="en-US" sz="1798" i="1" kern="1200">
                              <a:latin typeface="Cambria Math" charset="0"/>
                              <a:ea typeface="Avenir Book" charset="0"/>
                              <a:cs typeface="Avenir Book" charset="0"/>
                            </a:rPr>
                            <m:t>1</m:t>
                          </m:r>
                        </m:num>
                        <m:den>
                          <m:r>
                            <a:rPr lang="en-US" sz="1798" i="1" kern="1200">
                              <a:latin typeface="Cambria Math" charset="0"/>
                              <a:ea typeface="Avenir Book" charset="0"/>
                              <a:cs typeface="Avenir Book" charset="0"/>
                            </a:rPr>
                            <m:t>2</m:t>
                          </m:r>
                        </m:den>
                      </m:f>
                      <m:nary>
                        <m:naryPr>
                          <m:chr m:val="∑"/>
                          <m:ctrlPr>
                            <a:rPr lang="is-IS" sz="1798" i="1" kern="1200">
                              <a:latin typeface="Cambria Math" panose="02040503050406030204" pitchFamily="18" charset="0"/>
                              <a:ea typeface="Avenir Book" charset="0"/>
                              <a:cs typeface="Avenir Book" charset="0"/>
                            </a:rPr>
                          </m:ctrlPr>
                        </m:naryPr>
                        <m:sub>
                          <m:r>
                            <m:rPr>
                              <m:brk m:alnAt="23"/>
                            </m:rPr>
                            <a:rPr lang="en-US" sz="1798" i="1" kern="1200">
                              <a:latin typeface="Cambria Math" charset="0"/>
                              <a:ea typeface="Avenir Book" charset="0"/>
                              <a:cs typeface="Avenir Book" charset="0"/>
                            </a:rPr>
                            <m:t>𝑖</m:t>
                          </m:r>
                          <m:r>
                            <a:rPr lang="en-US" sz="1798" i="1" kern="1200">
                              <a:latin typeface="Cambria Math" charset="0"/>
                              <a:ea typeface="Avenir Book" charset="0"/>
                              <a:cs typeface="Avenir Book" charset="0"/>
                            </a:rPr>
                            <m:t>=1</m:t>
                          </m:r>
                        </m:sub>
                        <m:sup>
                          <m:r>
                            <a:rPr lang="en-US" sz="1798" i="1" kern="1200">
                              <a:latin typeface="Cambria Math" charset="0"/>
                              <a:ea typeface="Avenir Book" charset="0"/>
                              <a:cs typeface="Avenir Book" charset="0"/>
                            </a:rPr>
                            <m:t>𝑚</m:t>
                          </m:r>
                        </m:sup>
                        <m:e>
                          <m:sSup>
                            <m:sSupPr>
                              <m:ctrlPr>
                                <a:rPr lang="mr-IN" sz="1798" i="1" kern="1200">
                                  <a:latin typeface="Cambria Math" panose="02040503050406030204" pitchFamily="18" charset="0"/>
                                  <a:ea typeface="Avenir Book" charset="0"/>
                                  <a:cs typeface="Avenir Book" charset="0"/>
                                </a:rPr>
                              </m:ctrlPr>
                            </m:sSupPr>
                            <m:e>
                              <m:d>
                                <m:dPr>
                                  <m:ctrlPr>
                                    <a:rPr lang="mr-IN" sz="1798" i="1" kern="1200">
                                      <a:latin typeface="Cambria Math" panose="02040503050406030204" pitchFamily="18" charset="0"/>
                                      <a:ea typeface="Avenir Book" charset="0"/>
                                      <a:cs typeface="Avenir Book" charset="0"/>
                                    </a:rPr>
                                  </m:ctrlPr>
                                </m:dPr>
                                <m:e>
                                  <m:d>
                                    <m:dPr>
                                      <m:ctrlPr>
                                        <a:rPr lang="en-US" sz="1798" i="1" kern="1200">
                                          <a:latin typeface="Cambria Math" panose="02040503050406030204" pitchFamily="18" charset="0"/>
                                          <a:ea typeface="Avenir Book" charset="0"/>
                                          <a:cs typeface="Avenir Book" charset="0"/>
                                        </a:rPr>
                                      </m:ctrlPr>
                                    </m:dPr>
                                    <m:e>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Avenir Book" charset="0"/>
                                              <a:cs typeface="Avenir Book" charset="0"/>
                                            </a:rPr>
                                            <m:t>𝛽</m:t>
                                          </m:r>
                                        </m:e>
                                        <m:sub>
                                          <m:r>
                                            <a:rPr lang="en-US" sz="1798" i="1" kern="1200">
                                              <a:latin typeface="Cambria Math" charset="0"/>
                                              <a:ea typeface="Avenir Book" charset="0"/>
                                              <a:cs typeface="Avenir Book" charset="0"/>
                                            </a:rPr>
                                            <m:t>0</m:t>
                                          </m:r>
                                        </m:sub>
                                      </m:sSub>
                                      <m:r>
                                        <m:rPr>
                                          <m:nor/>
                                        </m:rPr>
                                        <a:rPr lang="en-US" sz="1798" kern="1200" dirty="0">
                                          <a:latin typeface="Avenir Book" charset="0"/>
                                          <a:ea typeface="Avenir Book" charset="0"/>
                                          <a:cs typeface="Avenir Book" charset="0"/>
                                        </a:rPr>
                                        <m:t> + </m:t>
                                      </m:r>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Avenir Book" charset="0"/>
                                              <a:cs typeface="Avenir Book" charset="0"/>
                                            </a:rPr>
                                            <m:t>𝛽</m:t>
                                          </m:r>
                                        </m:e>
                                        <m:sub>
                                          <m:r>
                                            <a:rPr lang="en-US" sz="1798" i="1" kern="1200">
                                              <a:latin typeface="Cambria Math" charset="0"/>
                                              <a:ea typeface="Avenir Book" charset="0"/>
                                              <a:cs typeface="Avenir Book" charset="0"/>
                                            </a:rPr>
                                            <m:t>1</m:t>
                                          </m:r>
                                        </m:sub>
                                      </m:sSub>
                                      <m:sSubSup>
                                        <m:sSubSupPr>
                                          <m:ctrlPr>
                                            <a:rPr lang="en-US" sz="1798" i="1" kern="1200">
                                              <a:latin typeface="Cambria Math" panose="02040503050406030204" pitchFamily="18" charset="0"/>
                                              <a:ea typeface="Avenir Book" charset="0"/>
                                              <a:cs typeface="Avenir Book" charset="0"/>
                                            </a:rPr>
                                          </m:ctrlPr>
                                        </m:sSubSupPr>
                                        <m:e>
                                          <m:r>
                                            <a:rPr lang="en-US" sz="1798" i="1" kern="1200">
                                              <a:latin typeface="Cambria Math" charset="0"/>
                                              <a:ea typeface="Avenir Book" charset="0"/>
                                              <a:cs typeface="Avenir Book" charset="0"/>
                                            </a:rPr>
                                            <m:t>𝑥</m:t>
                                          </m:r>
                                        </m:e>
                                        <m:sub>
                                          <m:r>
                                            <a:rPr lang="en-US" sz="1798" i="1" kern="1200">
                                              <a:latin typeface="Cambria Math" charset="0"/>
                                              <a:ea typeface="Avenir Book" charset="0"/>
                                              <a:cs typeface="Avenir Book" charset="0"/>
                                            </a:rPr>
                                            <m:t>𝑜𝑏𝑠</m:t>
                                          </m:r>
                                        </m:sub>
                                        <m:sup>
                                          <m:r>
                                            <a:rPr lang="en-US" sz="1798" i="1" kern="1200">
                                              <a:latin typeface="Cambria Math" charset="0"/>
                                              <a:ea typeface="Avenir Book" charset="0"/>
                                              <a:cs typeface="Avenir Book" charset="0"/>
                                            </a:rPr>
                                            <m:t>(</m:t>
                                          </m:r>
                                          <m:r>
                                            <a:rPr lang="en-US" sz="1798" i="1" kern="1200">
                                              <a:latin typeface="Cambria Math" charset="0"/>
                                              <a:ea typeface="Avenir Book" charset="0"/>
                                              <a:cs typeface="Avenir Book" charset="0"/>
                                            </a:rPr>
                                            <m:t>𝑖</m:t>
                                          </m:r>
                                          <m:r>
                                            <a:rPr lang="en-US" sz="1798" i="1" kern="1200">
                                              <a:latin typeface="Cambria Math" charset="0"/>
                                              <a:ea typeface="Avenir Book" charset="0"/>
                                              <a:cs typeface="Avenir Book" charset="0"/>
                                            </a:rPr>
                                            <m:t>)</m:t>
                                          </m:r>
                                        </m:sup>
                                      </m:sSubSup>
                                    </m:e>
                                  </m:d>
                                  <m:r>
                                    <a:rPr lang="en-US" sz="1798" i="1" kern="1200">
                                      <a:latin typeface="Cambria Math" charset="0"/>
                                      <a:ea typeface="Avenir Book" charset="0"/>
                                      <a:cs typeface="Avenir Book" charset="0"/>
                                    </a:rPr>
                                    <m:t>−</m:t>
                                  </m:r>
                                  <m:sSubSup>
                                    <m:sSubSupPr>
                                      <m:ctrlPr>
                                        <a:rPr lang="en-US" sz="1798" i="1" kern="1200">
                                          <a:latin typeface="Cambria Math" panose="02040503050406030204" pitchFamily="18" charset="0"/>
                                          <a:ea typeface="Avenir Book" charset="0"/>
                                          <a:cs typeface="Avenir Book" charset="0"/>
                                        </a:rPr>
                                      </m:ctrlPr>
                                    </m:sSubSupPr>
                                    <m:e>
                                      <m:r>
                                        <a:rPr lang="en-US" sz="1798" i="1" kern="1200">
                                          <a:latin typeface="Cambria Math" charset="0"/>
                                          <a:ea typeface="Avenir Book" charset="0"/>
                                          <a:cs typeface="Avenir Book" charset="0"/>
                                        </a:rPr>
                                        <m:t>𝑦</m:t>
                                      </m:r>
                                    </m:e>
                                    <m:sub>
                                      <m:r>
                                        <a:rPr lang="en-US" sz="1798" i="1" kern="1200">
                                          <a:latin typeface="Cambria Math" charset="0"/>
                                          <a:ea typeface="Avenir Book" charset="0"/>
                                          <a:cs typeface="Avenir Book" charset="0"/>
                                        </a:rPr>
                                        <m:t>𝑜𝑏𝑠</m:t>
                                      </m:r>
                                    </m:sub>
                                    <m:sup>
                                      <m:r>
                                        <a:rPr lang="en-US" sz="1798" i="1" kern="1200">
                                          <a:latin typeface="Cambria Math" charset="0"/>
                                          <a:ea typeface="Avenir Book" charset="0"/>
                                          <a:cs typeface="Avenir Book" charset="0"/>
                                        </a:rPr>
                                        <m:t>(</m:t>
                                      </m:r>
                                      <m:r>
                                        <a:rPr lang="en-US" sz="1798" i="1" kern="1200">
                                          <a:latin typeface="Cambria Math" charset="0"/>
                                          <a:ea typeface="Avenir Book" charset="0"/>
                                          <a:cs typeface="Avenir Book" charset="0"/>
                                        </a:rPr>
                                        <m:t>𝑖</m:t>
                                      </m:r>
                                      <m:r>
                                        <a:rPr lang="en-US" sz="1798" i="1" kern="1200">
                                          <a:latin typeface="Cambria Math" charset="0"/>
                                          <a:ea typeface="Avenir Book" charset="0"/>
                                          <a:cs typeface="Avenir Book" charset="0"/>
                                        </a:rPr>
                                        <m:t>)</m:t>
                                      </m:r>
                                    </m:sup>
                                  </m:sSubSup>
                                </m:e>
                              </m:d>
                            </m:e>
                            <m:sup>
                              <m:r>
                                <a:rPr lang="en-US" sz="1798" i="1" kern="1200">
                                  <a:latin typeface="Cambria Math" charset="0"/>
                                  <a:ea typeface="Avenir Book" charset="0"/>
                                  <a:cs typeface="Avenir Book" charset="0"/>
                                </a:rPr>
                                <m:t>2</m:t>
                              </m:r>
                            </m:sup>
                          </m:sSup>
                          <m:r>
                            <m:rPr>
                              <m:nor/>
                            </m:rPr>
                            <a:rPr lang="en-US" sz="1798" kern="1200" dirty="0">
                              <a:latin typeface="Avenir Book" charset="0"/>
                              <a:ea typeface="Avenir Book" charset="0"/>
                              <a:cs typeface="Avenir Book" charset="0"/>
                            </a:rPr>
                            <m:t> </m:t>
                          </m:r>
                        </m:e>
                      </m:nary>
                    </m:oMath>
                  </m:oMathPara>
                </a14:m>
                <a:endParaRPr lang="en-US" sz="1798" kern="1200" dirty="0">
                  <a:latin typeface="Avenir Book" charset="0"/>
                  <a:ea typeface="Avenir Book" charset="0"/>
                  <a:cs typeface="Avenir Book" charset="0"/>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533400" y="2193131"/>
                <a:ext cx="4953000" cy="756233"/>
              </a:xfrm>
              <a:prstGeom prst="rect">
                <a:avLst/>
              </a:prstGeom>
              <a:blipFill rotWithShape="0">
                <a:blip r:embed="rId8"/>
                <a:stretch>
                  <a:fillRect b="-806"/>
                </a:stretch>
              </a:blipFill>
            </p:spPr>
            <p:txBody>
              <a:bodyPr/>
              <a:lstStyle/>
              <a:p>
                <a:r>
                  <a:rPr lang="en-US">
                    <a:noFill/>
                  </a:rPr>
                  <a:t> </a:t>
                </a:r>
              </a:p>
            </p:txBody>
          </p:sp>
        </mc:Fallback>
      </mc:AlternateContent>
      <p:cxnSp>
        <p:nvCxnSpPr>
          <p:cNvPr id="17" name="Straight Arrow Connector 16"/>
          <p:cNvCxnSpPr/>
          <p:nvPr/>
        </p:nvCxnSpPr>
        <p:spPr>
          <a:xfrm flipH="1">
            <a:off x="7407265" y="2090916"/>
            <a:ext cx="85725" cy="228600"/>
          </a:xfrm>
          <a:prstGeom prst="straightConnector1">
            <a:avLst/>
          </a:prstGeom>
          <a:ln w="38100">
            <a:solidFill>
              <a:srgbClr val="FF000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7606154" y="1790581"/>
                <a:ext cx="422371" cy="36899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smtClean="0">
                              <a:solidFill>
                                <a:srgbClr val="FFFFFF"/>
                              </a:solidFill>
                              <a:latin typeface="Cambria Math" panose="02040503050406030204" pitchFamily="18" charset="0"/>
                              <a:ea typeface="Avenir Book" charset="0"/>
                              <a:cs typeface="Avenir Book" charset="0"/>
                            </a:rPr>
                          </m:ctrlPr>
                        </m:sSubPr>
                        <m:e>
                          <m:r>
                            <a:rPr lang="en-US" sz="2398" i="1" kern="1200">
                              <a:solidFill>
                                <a:srgbClr val="FFFFFF"/>
                              </a:solidFill>
                              <a:latin typeface="Cambria Math" charset="0"/>
                              <a:ea typeface="Cambria Math" charset="0"/>
                              <a:cs typeface="Cambria Math" charset="0"/>
                            </a:rPr>
                            <m:t>𝜔</m:t>
                          </m:r>
                        </m:e>
                        <m:sub>
                          <m:r>
                            <a:rPr lang="en-US" sz="2398" i="1" kern="1200">
                              <a:solidFill>
                                <a:srgbClr val="FFFFFF"/>
                              </a:solidFill>
                              <a:latin typeface="Cambria Math" charset="0"/>
                              <a:ea typeface="Avenir Book" charset="0"/>
                              <a:cs typeface="Avenir Book" charset="0"/>
                            </a:rPr>
                            <m:t>0</m:t>
                          </m:r>
                        </m:sub>
                      </m:sSub>
                    </m:oMath>
                  </m:oMathPara>
                </a14:m>
                <a:endParaRPr lang="en-US" sz="2398" kern="1200" dirty="0">
                  <a:solidFill>
                    <a:srgbClr val="FFFFFF"/>
                  </a:solidFill>
                  <a:latin typeface="Avenir Book" charset="0"/>
                  <a:ea typeface="Avenir Book" charset="0"/>
                  <a:cs typeface="Avenir Book" charset="0"/>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7606154" y="1790581"/>
                <a:ext cx="422371" cy="368990"/>
              </a:xfrm>
              <a:prstGeom prst="rect">
                <a:avLst/>
              </a:prstGeom>
              <a:blipFill rotWithShape="0">
                <a:blip r:embed="rId9"/>
                <a:stretch>
                  <a:fillRect l="-11594" r="-7246"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7558530" y="2213939"/>
                <a:ext cx="422371" cy="36899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smtClean="0">
                              <a:solidFill>
                                <a:srgbClr val="FFFFFF"/>
                              </a:solidFill>
                              <a:latin typeface="Cambria Math" panose="02040503050406030204" pitchFamily="18" charset="0"/>
                              <a:ea typeface="Avenir Book" charset="0"/>
                              <a:cs typeface="Avenir Book" charset="0"/>
                            </a:rPr>
                          </m:ctrlPr>
                        </m:sSubPr>
                        <m:e>
                          <m:r>
                            <a:rPr lang="en-US" sz="2398" i="1" kern="1200">
                              <a:solidFill>
                                <a:srgbClr val="FFFFFF"/>
                              </a:solidFill>
                              <a:latin typeface="Cambria Math" charset="0"/>
                              <a:ea typeface="Cambria Math" charset="0"/>
                              <a:cs typeface="Cambria Math" charset="0"/>
                            </a:rPr>
                            <m:t>𝜔</m:t>
                          </m:r>
                        </m:e>
                        <m:sub>
                          <m:r>
                            <a:rPr lang="en-US" sz="2398" i="1" kern="1200">
                              <a:solidFill>
                                <a:srgbClr val="FFFFFF"/>
                              </a:solidFill>
                              <a:latin typeface="Cambria Math" charset="0"/>
                              <a:ea typeface="Avenir Book" charset="0"/>
                              <a:cs typeface="Avenir Book" charset="0"/>
                            </a:rPr>
                            <m:t>1</m:t>
                          </m:r>
                        </m:sub>
                      </m:sSub>
                    </m:oMath>
                  </m:oMathPara>
                </a14:m>
                <a:endParaRPr lang="en-US" sz="2398" kern="1200" dirty="0">
                  <a:solidFill>
                    <a:srgbClr val="FFFFFF"/>
                  </a:solidFill>
                  <a:latin typeface="Avenir Book" charset="0"/>
                  <a:ea typeface="Avenir Book" charset="0"/>
                  <a:cs typeface="Avenir Book"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7558530" y="2213939"/>
                <a:ext cx="422371" cy="368990"/>
              </a:xfrm>
              <a:prstGeom prst="rect">
                <a:avLst/>
              </a:prstGeom>
              <a:blipFill rotWithShape="0">
                <a:blip r:embed="rId10"/>
                <a:stretch>
                  <a:fillRect l="-10145" r="-7246" b="-9836"/>
                </a:stretch>
              </a:blipFill>
            </p:spPr>
            <p:txBody>
              <a:bodyPr/>
              <a:lstStyle/>
              <a:p>
                <a:r>
                  <a:rPr lang="en-US">
                    <a:noFill/>
                  </a:rPr>
                  <a:t> </a:t>
                </a:r>
              </a:p>
            </p:txBody>
          </p:sp>
        </mc:Fallback>
      </mc:AlternateContent>
      <p:sp>
        <p:nvSpPr>
          <p:cNvPr id="20" name="Multiply 19"/>
          <p:cNvSpPr/>
          <p:nvPr/>
        </p:nvSpPr>
        <p:spPr>
          <a:xfrm>
            <a:off x="7246399" y="2271702"/>
            <a:ext cx="312131" cy="283706"/>
          </a:xfrm>
          <a:prstGeom prst="mathMultiply">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350" kern="1200" dirty="0">
              <a:solidFill>
                <a:srgbClr val="000000"/>
              </a:solidFill>
            </a:endParaRPr>
          </a:p>
        </p:txBody>
      </p:sp>
    </p:spTree>
    <p:extLst>
      <p:ext uri="{BB962C8B-B14F-4D97-AF65-F5344CB8AC3E}">
        <p14:creationId xmlns:p14="http://schemas.microsoft.com/office/powerpoint/2010/main" val="170850542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2"/>
          <p:cNvSpPr txBox="1"/>
          <p:nvPr/>
        </p:nvSpPr>
        <p:spPr>
          <a:xfrm>
            <a:off x="440943" y="1173252"/>
            <a:ext cx="4968481" cy="1075261"/>
          </a:xfrm>
          <a:prstGeom prst="rect">
            <a:avLst/>
          </a:prstGeom>
        </p:spPr>
        <p:txBody>
          <a:bodyPr vert="horz" wrap="square" lIns="0" tIns="0" rIns="0" bIns="0" rtlCol="0">
            <a:spAutoFit/>
          </a:bodyPr>
          <a:lstStyle/>
          <a:p>
            <a:pPr marL="352108" marR="3807" indent="-342591">
              <a:spcAft>
                <a:spcPts val="1199"/>
              </a:spcAft>
              <a:buFont typeface="Arial" charset="0"/>
              <a:buChar char="•"/>
            </a:pPr>
            <a:r>
              <a:rPr lang="en-US" sz="1998" kern="1200" spc="-15" dirty="0">
                <a:solidFill>
                  <a:srgbClr val="212121">
                    <a:lumMod val="50000"/>
                  </a:srgbClr>
                </a:solidFill>
                <a:latin typeface="Avenir Book" charset="0"/>
                <a:ea typeface="Avenir Book" charset="0"/>
                <a:cs typeface="Avenir Book" charset="0"/>
              </a:rPr>
              <a:t>Each point can be iteratively calculated from the previous one</a:t>
            </a:r>
          </a:p>
          <a:p>
            <a:pPr marL="352108" marR="3807" indent="-342591">
              <a:spcAft>
                <a:spcPts val="1199"/>
              </a:spcAft>
              <a:buFont typeface="Arial" charset="0"/>
              <a:buChar char="•"/>
            </a:pPr>
            <a:endParaRPr lang="en-US" sz="1998" kern="1200" spc="-15" dirty="0">
              <a:solidFill>
                <a:srgbClr val="212121">
                  <a:lumMod val="50000"/>
                </a:srgbClr>
              </a:solidFill>
              <a:latin typeface="Avenir Book" charset="0"/>
              <a:ea typeface="Avenir Book" charset="0"/>
              <a:cs typeface="Avenir Book" charset="0"/>
            </a:endParaRPr>
          </a:p>
        </p:txBody>
      </p:sp>
      <p:pic>
        <p:nvPicPr>
          <p:cNvPr id="21" name="Picture 20"/>
          <p:cNvPicPr>
            <a:picLocks noChangeAspect="1"/>
          </p:cNvPicPr>
          <p:nvPr/>
        </p:nvPicPr>
        <p:blipFill rotWithShape="1">
          <a:blip r:embed="rId3" cstate="print"/>
          <a:srcRect l="4481" t="7254" r="7208" b="4857"/>
          <a:stretch/>
        </p:blipFill>
        <p:spPr>
          <a:xfrm>
            <a:off x="5833063" y="1258221"/>
            <a:ext cx="3324834" cy="2479948"/>
          </a:xfrm>
          <a:prstGeom prst="rect">
            <a:avLst/>
          </a:prstGeom>
        </p:spPr>
      </p:pic>
      <mc:AlternateContent xmlns:mc="http://schemas.openxmlformats.org/markup-compatibility/2006" xmlns:a14="http://schemas.microsoft.com/office/drawing/2010/main">
        <mc:Choice Requires="a14">
          <p:sp>
            <p:nvSpPr>
              <p:cNvPr id="29" name="TextBox 28"/>
              <p:cNvSpPr txBox="1"/>
              <p:nvPr/>
            </p:nvSpPr>
            <p:spPr>
              <a:xfrm>
                <a:off x="6089490" y="988756"/>
                <a:ext cx="1274625"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398" i="1" kern="1200">
                          <a:latin typeface="Cambria Math" charset="0"/>
                          <a:ea typeface="Avenir Book" charset="0"/>
                          <a:cs typeface="Avenir Book" charset="0"/>
                        </a:rPr>
                        <m:t>𝐽</m:t>
                      </m:r>
                      <m:d>
                        <m:dPr>
                          <m:ctrlPr>
                            <a:rPr lang="en-US" sz="2398" i="1" kern="1200">
                              <a:latin typeface="Cambria Math" panose="02040503050406030204" pitchFamily="18" charset="0"/>
                              <a:ea typeface="Avenir Book" charset="0"/>
                              <a:cs typeface="Avenir Book" charset="0"/>
                            </a:rPr>
                          </m:ctrlPr>
                        </m:dPr>
                        <m:e>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0</m:t>
                              </m:r>
                            </m:sub>
                          </m:sSub>
                          <m:r>
                            <a:rPr lang="en-US" sz="2398" i="1" kern="1200">
                              <a:latin typeface="Cambria Math" charset="0"/>
                              <a:ea typeface="Avenir Book" charset="0"/>
                              <a:cs typeface="Avenir Book" charset="0"/>
                            </a:rPr>
                            <m:t>,</m:t>
                          </m:r>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1</m:t>
                              </m:r>
                            </m:sub>
                          </m:sSub>
                        </m:e>
                      </m:d>
                    </m:oMath>
                  </m:oMathPara>
                </a14:m>
                <a:endParaRPr lang="en-US" sz="2398" kern="1200" dirty="0">
                  <a:latin typeface="Avenir Book" charset="0"/>
                  <a:ea typeface="Avenir Book" charset="0"/>
                  <a:cs typeface="Avenir Book" charset="0"/>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6090895" y="989671"/>
                <a:ext cx="1275805" cy="369332"/>
              </a:xfrm>
              <a:prstGeom prst="rect">
                <a:avLst/>
              </a:prstGeom>
              <a:blipFill rotWithShape="0">
                <a:blip r:embed="rId4"/>
                <a:stretch>
                  <a:fillRect l="-3349" t="-1639" b="-278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6129008" y="3226594"/>
                <a:ext cx="414757"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1</m:t>
                          </m:r>
                        </m:sub>
                      </m:sSub>
                    </m:oMath>
                  </m:oMathPara>
                </a14:m>
                <a:endParaRPr lang="en-US" sz="2398" kern="1200" dirty="0">
                  <a:latin typeface="Avenir Book" charset="0"/>
                  <a:ea typeface="Avenir Book" charset="0"/>
                  <a:cs typeface="Avenir Book" charset="0"/>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6130449" y="3229581"/>
                <a:ext cx="415141" cy="369332"/>
              </a:xfrm>
              <a:prstGeom prst="rect">
                <a:avLst/>
              </a:prstGeom>
              <a:blipFill rotWithShape="0">
                <a:blip r:embed="rId5"/>
                <a:stretch>
                  <a:fillRect l="-20588" t="-3333" b="-3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8298387" y="3378686"/>
                <a:ext cx="422371"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0</m:t>
                          </m:r>
                        </m:sub>
                      </m:sSub>
                    </m:oMath>
                  </m:oMathPara>
                </a14:m>
                <a:endParaRPr lang="en-US" sz="2398" kern="1200" dirty="0">
                  <a:latin typeface="Avenir Book" charset="0"/>
                  <a:ea typeface="Avenir Book" charset="0"/>
                  <a:cs typeface="Avenir Book" charset="0"/>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8301837" y="3381814"/>
                <a:ext cx="422762" cy="369332"/>
              </a:xfrm>
              <a:prstGeom prst="rect">
                <a:avLst/>
              </a:prstGeom>
              <a:blipFill rotWithShape="0">
                <a:blip r:embed="rId6"/>
                <a:stretch>
                  <a:fillRect l="-18841" t="-3333" r="-1449" b="-30000"/>
                </a:stretch>
              </a:blipFill>
            </p:spPr>
            <p:txBody>
              <a:bodyPr/>
              <a:lstStyle/>
              <a:p>
                <a:r>
                  <a:rPr lang="en-US">
                    <a:noFill/>
                  </a:rPr>
                  <a:t> </a:t>
                </a:r>
              </a:p>
            </p:txBody>
          </p:sp>
        </mc:Fallback>
      </mc:AlternateContent>
      <p:sp>
        <p:nvSpPr>
          <p:cNvPr id="32" name="object 2"/>
          <p:cNvSpPr txBox="1"/>
          <p:nvPr/>
        </p:nvSpPr>
        <p:spPr>
          <a:xfrm>
            <a:off x="305235" y="268944"/>
            <a:ext cx="8430023" cy="461238"/>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sz="2997" kern="1200" dirty="0">
                <a:solidFill>
                  <a:srgbClr val="212121"/>
                </a:solidFill>
                <a:latin typeface="Avenir Book" charset="0"/>
                <a:ea typeface="Avenir Book" charset="0"/>
                <a:cs typeface="Avenir Book" charset="0"/>
              </a:rPr>
              <a:t>Gradient Descent with Linear Regression</a:t>
            </a:r>
          </a:p>
        </p:txBody>
      </p:sp>
      <p:sp>
        <p:nvSpPr>
          <p:cNvPr id="5" name="Multiply 4"/>
          <p:cNvSpPr/>
          <p:nvPr/>
        </p:nvSpPr>
        <p:spPr>
          <a:xfrm>
            <a:off x="7364115" y="1836227"/>
            <a:ext cx="312131" cy="283706"/>
          </a:xfrm>
          <a:prstGeom prst="mathMultiply">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350" kern="1200" dirty="0">
              <a:solidFill>
                <a:srgbClr val="000000"/>
              </a:solidFill>
            </a:endParaRPr>
          </a:p>
        </p:txBody>
      </p:sp>
      <mc:AlternateContent xmlns:mc="http://schemas.openxmlformats.org/markup-compatibility/2006" xmlns:a14="http://schemas.microsoft.com/office/drawing/2010/main">
        <mc:Choice Requires="a14">
          <p:sp>
            <p:nvSpPr>
              <p:cNvPr id="15" name="TextBox 14"/>
              <p:cNvSpPr txBox="1"/>
              <p:nvPr/>
            </p:nvSpPr>
            <p:spPr>
              <a:xfrm>
                <a:off x="537136" y="1836227"/>
                <a:ext cx="4948418" cy="7555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Cambria Math" charset="0"/>
                              <a:cs typeface="Cambria Math" charset="0"/>
                            </a:rPr>
                            <m:t>𝜔</m:t>
                          </m:r>
                        </m:e>
                        <m:sub>
                          <m:r>
                            <a:rPr lang="en-US" sz="1798" i="1" kern="1200">
                              <a:latin typeface="Cambria Math" charset="0"/>
                              <a:ea typeface="Avenir Book" charset="0"/>
                              <a:cs typeface="Avenir Book" charset="0"/>
                            </a:rPr>
                            <m:t>2</m:t>
                          </m:r>
                        </m:sub>
                      </m:sSub>
                      <m:r>
                        <a:rPr lang="en-US" sz="1798" i="1" kern="1200">
                          <a:latin typeface="Cambria Math" charset="0"/>
                          <a:ea typeface="Avenir Book" charset="0"/>
                          <a:cs typeface="Avenir Book" charset="0"/>
                        </a:rPr>
                        <m:t>=</m:t>
                      </m:r>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Cambria Math" charset="0"/>
                              <a:cs typeface="Cambria Math" charset="0"/>
                            </a:rPr>
                            <m:t>𝜔</m:t>
                          </m:r>
                        </m:e>
                        <m:sub>
                          <m:r>
                            <a:rPr lang="en-US" sz="1798" i="1" kern="1200">
                              <a:latin typeface="Cambria Math" charset="0"/>
                              <a:ea typeface="Avenir Book" charset="0"/>
                              <a:cs typeface="Avenir Book" charset="0"/>
                            </a:rPr>
                            <m:t>1</m:t>
                          </m:r>
                        </m:sub>
                      </m:sSub>
                      <m:r>
                        <a:rPr lang="en-US" sz="1798" i="1" kern="1200">
                          <a:latin typeface="Cambria Math" charset="0"/>
                          <a:ea typeface="Avenir Book" charset="0"/>
                          <a:cs typeface="Avenir Book" charset="0"/>
                        </a:rPr>
                        <m:t>−</m:t>
                      </m:r>
                      <m:r>
                        <a:rPr lang="en-US" sz="1798" i="1" kern="1200">
                          <a:latin typeface="Cambria Math" charset="0"/>
                          <a:ea typeface="Cambria Math" charset="0"/>
                          <a:cs typeface="Cambria Math" charset="0"/>
                        </a:rPr>
                        <m:t>𝛼𝛻</m:t>
                      </m:r>
                      <m:f>
                        <m:fPr>
                          <m:ctrlPr>
                            <a:rPr lang="mr-IN" sz="1798" i="1" kern="1200">
                              <a:latin typeface="Cambria Math" panose="02040503050406030204" pitchFamily="18" charset="0"/>
                              <a:ea typeface="Avenir Book" charset="0"/>
                              <a:cs typeface="Avenir Book" charset="0"/>
                            </a:rPr>
                          </m:ctrlPr>
                        </m:fPr>
                        <m:num>
                          <m:r>
                            <a:rPr lang="en-US" sz="1798" i="1" kern="1200">
                              <a:latin typeface="Cambria Math" charset="0"/>
                              <a:ea typeface="Avenir Book" charset="0"/>
                              <a:cs typeface="Avenir Book" charset="0"/>
                            </a:rPr>
                            <m:t>1</m:t>
                          </m:r>
                        </m:num>
                        <m:den>
                          <m:r>
                            <a:rPr lang="en-US" sz="1798" i="1" kern="1200">
                              <a:latin typeface="Cambria Math" charset="0"/>
                              <a:ea typeface="Avenir Book" charset="0"/>
                              <a:cs typeface="Avenir Book" charset="0"/>
                            </a:rPr>
                            <m:t>2</m:t>
                          </m:r>
                        </m:den>
                      </m:f>
                      <m:nary>
                        <m:naryPr>
                          <m:chr m:val="∑"/>
                          <m:ctrlPr>
                            <a:rPr lang="is-IS" sz="1798" i="1" kern="1200">
                              <a:latin typeface="Cambria Math" panose="02040503050406030204" pitchFamily="18" charset="0"/>
                              <a:ea typeface="Avenir Book" charset="0"/>
                              <a:cs typeface="Avenir Book" charset="0"/>
                            </a:rPr>
                          </m:ctrlPr>
                        </m:naryPr>
                        <m:sub>
                          <m:r>
                            <m:rPr>
                              <m:brk m:alnAt="23"/>
                            </m:rPr>
                            <a:rPr lang="en-US" sz="1798" i="1" kern="1200">
                              <a:latin typeface="Cambria Math" charset="0"/>
                              <a:ea typeface="Avenir Book" charset="0"/>
                              <a:cs typeface="Avenir Book" charset="0"/>
                            </a:rPr>
                            <m:t>𝑖</m:t>
                          </m:r>
                          <m:r>
                            <a:rPr lang="en-US" sz="1798" i="1" kern="1200">
                              <a:latin typeface="Cambria Math" charset="0"/>
                              <a:ea typeface="Avenir Book" charset="0"/>
                              <a:cs typeface="Avenir Book" charset="0"/>
                            </a:rPr>
                            <m:t>=1</m:t>
                          </m:r>
                        </m:sub>
                        <m:sup>
                          <m:r>
                            <a:rPr lang="en-US" sz="1798" i="1" kern="1200">
                              <a:latin typeface="Cambria Math" charset="0"/>
                              <a:ea typeface="Avenir Book" charset="0"/>
                              <a:cs typeface="Avenir Book" charset="0"/>
                            </a:rPr>
                            <m:t>𝑚</m:t>
                          </m:r>
                        </m:sup>
                        <m:e>
                          <m:sSup>
                            <m:sSupPr>
                              <m:ctrlPr>
                                <a:rPr lang="mr-IN" sz="1798" i="1" kern="1200">
                                  <a:latin typeface="Cambria Math" panose="02040503050406030204" pitchFamily="18" charset="0"/>
                                  <a:ea typeface="Avenir Book" charset="0"/>
                                  <a:cs typeface="Avenir Book" charset="0"/>
                                </a:rPr>
                              </m:ctrlPr>
                            </m:sSupPr>
                            <m:e>
                              <m:d>
                                <m:dPr>
                                  <m:ctrlPr>
                                    <a:rPr lang="mr-IN" sz="1798" i="1" kern="1200">
                                      <a:latin typeface="Cambria Math" panose="02040503050406030204" pitchFamily="18" charset="0"/>
                                      <a:ea typeface="Avenir Book" charset="0"/>
                                      <a:cs typeface="Avenir Book" charset="0"/>
                                    </a:rPr>
                                  </m:ctrlPr>
                                </m:dPr>
                                <m:e>
                                  <m:d>
                                    <m:dPr>
                                      <m:ctrlPr>
                                        <a:rPr lang="en-US" sz="1798" i="1" kern="1200">
                                          <a:latin typeface="Cambria Math" panose="02040503050406030204" pitchFamily="18" charset="0"/>
                                          <a:ea typeface="Avenir Book" charset="0"/>
                                          <a:cs typeface="Avenir Book" charset="0"/>
                                        </a:rPr>
                                      </m:ctrlPr>
                                    </m:dPr>
                                    <m:e>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Avenir Book" charset="0"/>
                                              <a:cs typeface="Avenir Book" charset="0"/>
                                            </a:rPr>
                                            <m:t>𝛽</m:t>
                                          </m:r>
                                        </m:e>
                                        <m:sub>
                                          <m:r>
                                            <a:rPr lang="en-US" sz="1798" i="1" kern="1200">
                                              <a:latin typeface="Cambria Math" charset="0"/>
                                              <a:ea typeface="Avenir Book" charset="0"/>
                                              <a:cs typeface="Avenir Book" charset="0"/>
                                            </a:rPr>
                                            <m:t>0</m:t>
                                          </m:r>
                                        </m:sub>
                                      </m:sSub>
                                      <m:r>
                                        <m:rPr>
                                          <m:nor/>
                                        </m:rPr>
                                        <a:rPr lang="en-US" sz="1798" kern="1200" dirty="0">
                                          <a:latin typeface="Avenir Book" charset="0"/>
                                          <a:ea typeface="Avenir Book" charset="0"/>
                                          <a:cs typeface="Avenir Book" charset="0"/>
                                        </a:rPr>
                                        <m:t> + </m:t>
                                      </m:r>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Avenir Book" charset="0"/>
                                              <a:cs typeface="Avenir Book" charset="0"/>
                                            </a:rPr>
                                            <m:t>𝛽</m:t>
                                          </m:r>
                                        </m:e>
                                        <m:sub>
                                          <m:r>
                                            <a:rPr lang="en-US" sz="1798" i="1" kern="1200">
                                              <a:latin typeface="Cambria Math" charset="0"/>
                                              <a:ea typeface="Avenir Book" charset="0"/>
                                              <a:cs typeface="Avenir Book" charset="0"/>
                                            </a:rPr>
                                            <m:t>1</m:t>
                                          </m:r>
                                        </m:sub>
                                      </m:sSub>
                                      <m:sSubSup>
                                        <m:sSubSupPr>
                                          <m:ctrlPr>
                                            <a:rPr lang="en-US" sz="1798" i="1" kern="1200">
                                              <a:latin typeface="Cambria Math" panose="02040503050406030204" pitchFamily="18" charset="0"/>
                                              <a:ea typeface="Avenir Book" charset="0"/>
                                              <a:cs typeface="Avenir Book" charset="0"/>
                                            </a:rPr>
                                          </m:ctrlPr>
                                        </m:sSubSupPr>
                                        <m:e>
                                          <m:r>
                                            <a:rPr lang="en-US" sz="1798" i="1" kern="1200">
                                              <a:latin typeface="Cambria Math" charset="0"/>
                                              <a:ea typeface="Avenir Book" charset="0"/>
                                              <a:cs typeface="Avenir Book" charset="0"/>
                                            </a:rPr>
                                            <m:t>𝑥</m:t>
                                          </m:r>
                                        </m:e>
                                        <m:sub>
                                          <m:r>
                                            <a:rPr lang="en-US" sz="1798" i="1" kern="1200">
                                              <a:latin typeface="Cambria Math" charset="0"/>
                                              <a:ea typeface="Avenir Book" charset="0"/>
                                              <a:cs typeface="Avenir Book" charset="0"/>
                                            </a:rPr>
                                            <m:t>𝑜𝑏𝑠</m:t>
                                          </m:r>
                                        </m:sub>
                                        <m:sup>
                                          <m:r>
                                            <a:rPr lang="en-US" sz="1798" i="1" kern="1200">
                                              <a:latin typeface="Cambria Math" charset="0"/>
                                              <a:ea typeface="Avenir Book" charset="0"/>
                                              <a:cs typeface="Avenir Book" charset="0"/>
                                            </a:rPr>
                                            <m:t>(</m:t>
                                          </m:r>
                                          <m:r>
                                            <a:rPr lang="en-US" sz="1798" i="1" kern="1200">
                                              <a:latin typeface="Cambria Math" charset="0"/>
                                              <a:ea typeface="Avenir Book" charset="0"/>
                                              <a:cs typeface="Avenir Book" charset="0"/>
                                            </a:rPr>
                                            <m:t>𝑖</m:t>
                                          </m:r>
                                          <m:r>
                                            <a:rPr lang="en-US" sz="1798" i="1" kern="1200">
                                              <a:latin typeface="Cambria Math" charset="0"/>
                                              <a:ea typeface="Avenir Book" charset="0"/>
                                              <a:cs typeface="Avenir Book" charset="0"/>
                                            </a:rPr>
                                            <m:t>)</m:t>
                                          </m:r>
                                        </m:sup>
                                      </m:sSubSup>
                                    </m:e>
                                  </m:d>
                                  <m:r>
                                    <a:rPr lang="en-US" sz="1798" i="1" kern="1200">
                                      <a:latin typeface="Cambria Math" charset="0"/>
                                      <a:ea typeface="Avenir Book" charset="0"/>
                                      <a:cs typeface="Avenir Book" charset="0"/>
                                    </a:rPr>
                                    <m:t>−</m:t>
                                  </m:r>
                                  <m:sSubSup>
                                    <m:sSubSupPr>
                                      <m:ctrlPr>
                                        <a:rPr lang="en-US" sz="1798" i="1" kern="1200">
                                          <a:latin typeface="Cambria Math" panose="02040503050406030204" pitchFamily="18" charset="0"/>
                                          <a:ea typeface="Avenir Book" charset="0"/>
                                          <a:cs typeface="Avenir Book" charset="0"/>
                                        </a:rPr>
                                      </m:ctrlPr>
                                    </m:sSubSupPr>
                                    <m:e>
                                      <m:r>
                                        <a:rPr lang="en-US" sz="1798" i="1" kern="1200">
                                          <a:latin typeface="Cambria Math" charset="0"/>
                                          <a:ea typeface="Avenir Book" charset="0"/>
                                          <a:cs typeface="Avenir Book" charset="0"/>
                                        </a:rPr>
                                        <m:t>𝑦</m:t>
                                      </m:r>
                                    </m:e>
                                    <m:sub>
                                      <m:r>
                                        <a:rPr lang="en-US" sz="1798" i="1" kern="1200">
                                          <a:latin typeface="Cambria Math" charset="0"/>
                                          <a:ea typeface="Avenir Book" charset="0"/>
                                          <a:cs typeface="Avenir Book" charset="0"/>
                                        </a:rPr>
                                        <m:t>𝑜𝑏𝑠</m:t>
                                      </m:r>
                                    </m:sub>
                                    <m:sup>
                                      <m:r>
                                        <a:rPr lang="en-US" sz="1798" i="1" kern="1200">
                                          <a:latin typeface="Cambria Math" charset="0"/>
                                          <a:ea typeface="Avenir Book" charset="0"/>
                                          <a:cs typeface="Avenir Book" charset="0"/>
                                        </a:rPr>
                                        <m:t>(</m:t>
                                      </m:r>
                                      <m:r>
                                        <a:rPr lang="en-US" sz="1798" i="1" kern="1200">
                                          <a:latin typeface="Cambria Math" charset="0"/>
                                          <a:ea typeface="Avenir Book" charset="0"/>
                                          <a:cs typeface="Avenir Book" charset="0"/>
                                        </a:rPr>
                                        <m:t>𝑖</m:t>
                                      </m:r>
                                      <m:r>
                                        <a:rPr lang="en-US" sz="1798" i="1" kern="1200">
                                          <a:latin typeface="Cambria Math" charset="0"/>
                                          <a:ea typeface="Avenir Book" charset="0"/>
                                          <a:cs typeface="Avenir Book" charset="0"/>
                                        </a:rPr>
                                        <m:t>)</m:t>
                                      </m:r>
                                    </m:sup>
                                  </m:sSubSup>
                                </m:e>
                              </m:d>
                            </m:e>
                            <m:sup>
                              <m:r>
                                <a:rPr lang="en-US" sz="1798" i="1" kern="1200">
                                  <a:latin typeface="Cambria Math" charset="0"/>
                                  <a:ea typeface="Avenir Book" charset="0"/>
                                  <a:cs typeface="Avenir Book" charset="0"/>
                                </a:rPr>
                                <m:t>2</m:t>
                              </m:r>
                            </m:sup>
                          </m:sSup>
                          <m:r>
                            <m:rPr>
                              <m:nor/>
                            </m:rPr>
                            <a:rPr lang="en-US" sz="1798" kern="1200" dirty="0">
                              <a:latin typeface="Avenir Book" charset="0"/>
                              <a:ea typeface="Avenir Book" charset="0"/>
                              <a:cs typeface="Avenir Book" charset="0"/>
                            </a:rPr>
                            <m:t> </m:t>
                          </m:r>
                        </m:e>
                      </m:nary>
                    </m:oMath>
                  </m:oMathPara>
                </a14:m>
                <a:endParaRPr lang="en-US" sz="1798" kern="1200" dirty="0">
                  <a:latin typeface="Avenir Book" charset="0"/>
                  <a:ea typeface="Avenir Book" charset="0"/>
                  <a:cs typeface="Avenir Book" charset="0"/>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533400" y="1837926"/>
                <a:ext cx="4953000" cy="756233"/>
              </a:xfrm>
              <a:prstGeom prst="rect">
                <a:avLst/>
              </a:prstGeom>
              <a:blipFill rotWithShape="0">
                <a:blip r:embed="rId7"/>
                <a:stretch>
                  <a:fillRect/>
                </a:stretch>
              </a:blipFill>
            </p:spPr>
            <p:txBody>
              <a:bodyPr/>
              <a:lstStyle/>
              <a:p>
                <a:r>
                  <a:rPr lang="en-US">
                    <a:noFill/>
                  </a:rPr>
                  <a:t> </a:t>
                </a:r>
              </a:p>
            </p:txBody>
          </p:sp>
        </mc:Fallback>
      </mc:AlternateContent>
      <p:cxnSp>
        <p:nvCxnSpPr>
          <p:cNvPr id="17" name="Straight Arrow Connector 16"/>
          <p:cNvCxnSpPr/>
          <p:nvPr/>
        </p:nvCxnSpPr>
        <p:spPr>
          <a:xfrm flipH="1">
            <a:off x="7407265" y="2090916"/>
            <a:ext cx="85725" cy="228600"/>
          </a:xfrm>
          <a:prstGeom prst="straightConnector1">
            <a:avLst/>
          </a:prstGeom>
          <a:ln w="38100">
            <a:solidFill>
              <a:srgbClr val="FF000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7606154" y="1790581"/>
                <a:ext cx="422371" cy="36899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solidFill>
                                <a:srgbClr val="FFFFFF"/>
                              </a:solidFill>
                              <a:latin typeface="Cambria Math" panose="02040503050406030204" pitchFamily="18" charset="0"/>
                              <a:ea typeface="Avenir Book" charset="0"/>
                              <a:cs typeface="Avenir Book" charset="0"/>
                            </a:rPr>
                          </m:ctrlPr>
                        </m:sSubPr>
                        <m:e>
                          <m:r>
                            <a:rPr lang="en-US" sz="2398" i="1" kern="1200">
                              <a:solidFill>
                                <a:srgbClr val="FFFFFF"/>
                              </a:solidFill>
                              <a:latin typeface="Cambria Math" charset="0"/>
                              <a:ea typeface="Cambria Math" charset="0"/>
                              <a:cs typeface="Cambria Math" charset="0"/>
                            </a:rPr>
                            <m:t>𝜔</m:t>
                          </m:r>
                        </m:e>
                        <m:sub>
                          <m:r>
                            <a:rPr lang="en-US" sz="2398" i="1" kern="1200">
                              <a:solidFill>
                                <a:srgbClr val="FFFFFF"/>
                              </a:solidFill>
                              <a:latin typeface="Cambria Math" charset="0"/>
                              <a:ea typeface="Avenir Book" charset="0"/>
                              <a:cs typeface="Avenir Book" charset="0"/>
                            </a:rPr>
                            <m:t>0</m:t>
                          </m:r>
                        </m:sub>
                      </m:sSub>
                    </m:oMath>
                  </m:oMathPara>
                </a14:m>
                <a:endParaRPr lang="en-US" sz="2398" kern="1200" dirty="0">
                  <a:solidFill>
                    <a:srgbClr val="FFFFFF"/>
                  </a:solidFill>
                  <a:latin typeface="Avenir Book" charset="0"/>
                  <a:ea typeface="Avenir Book" charset="0"/>
                  <a:cs typeface="Avenir Book" charset="0"/>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7608963" y="1792239"/>
                <a:ext cx="422762" cy="369332"/>
              </a:xfrm>
              <a:prstGeom prst="rect">
                <a:avLst/>
              </a:prstGeom>
              <a:blipFill rotWithShape="0">
                <a:blip r:embed="rId8"/>
                <a:stretch>
                  <a:fillRect l="-10000" r="-7143"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7558530" y="2213939"/>
                <a:ext cx="422371" cy="36899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solidFill>
                                <a:srgbClr val="FFFFFF"/>
                              </a:solidFill>
                              <a:latin typeface="Cambria Math" panose="02040503050406030204" pitchFamily="18" charset="0"/>
                              <a:ea typeface="Avenir Book" charset="0"/>
                              <a:cs typeface="Avenir Book" charset="0"/>
                            </a:rPr>
                          </m:ctrlPr>
                        </m:sSubPr>
                        <m:e>
                          <m:r>
                            <a:rPr lang="en-US" sz="2398" i="1" kern="1200">
                              <a:solidFill>
                                <a:srgbClr val="FFFFFF"/>
                              </a:solidFill>
                              <a:latin typeface="Cambria Math" charset="0"/>
                              <a:ea typeface="Cambria Math" charset="0"/>
                              <a:cs typeface="Cambria Math" charset="0"/>
                            </a:rPr>
                            <m:t>𝜔</m:t>
                          </m:r>
                        </m:e>
                        <m:sub>
                          <m:r>
                            <a:rPr lang="en-US" sz="2398" i="1" kern="1200">
                              <a:solidFill>
                                <a:srgbClr val="FFFFFF"/>
                              </a:solidFill>
                              <a:latin typeface="Cambria Math" charset="0"/>
                              <a:ea typeface="Avenir Book" charset="0"/>
                              <a:cs typeface="Avenir Book" charset="0"/>
                            </a:rPr>
                            <m:t>1</m:t>
                          </m:r>
                        </m:sub>
                      </m:sSub>
                    </m:oMath>
                  </m:oMathPara>
                </a14:m>
                <a:endParaRPr lang="en-US" sz="2398" kern="1200" dirty="0">
                  <a:solidFill>
                    <a:srgbClr val="FFFFFF"/>
                  </a:solidFill>
                  <a:latin typeface="Avenir Book" charset="0"/>
                  <a:ea typeface="Avenir Book" charset="0"/>
                  <a:cs typeface="Avenir Book"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7561295" y="2215989"/>
                <a:ext cx="422762" cy="369332"/>
              </a:xfrm>
              <a:prstGeom prst="rect">
                <a:avLst/>
              </a:prstGeom>
              <a:blipFill rotWithShape="0">
                <a:blip r:embed="rId9"/>
                <a:stretch>
                  <a:fillRect l="-8571" r="-5714" b="-11667"/>
                </a:stretch>
              </a:blipFill>
            </p:spPr>
            <p:txBody>
              <a:bodyPr/>
              <a:lstStyle/>
              <a:p>
                <a:r>
                  <a:rPr lang="en-US">
                    <a:noFill/>
                  </a:rPr>
                  <a:t> </a:t>
                </a:r>
              </a:p>
            </p:txBody>
          </p:sp>
        </mc:Fallback>
      </mc:AlternateContent>
      <p:sp>
        <p:nvSpPr>
          <p:cNvPr id="20" name="Multiply 19"/>
          <p:cNvSpPr/>
          <p:nvPr/>
        </p:nvSpPr>
        <p:spPr>
          <a:xfrm>
            <a:off x="7246399" y="2271702"/>
            <a:ext cx="312131" cy="283706"/>
          </a:xfrm>
          <a:prstGeom prst="mathMultiply">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350" kern="1200" dirty="0">
              <a:solidFill>
                <a:srgbClr val="000000"/>
              </a:solidFill>
            </a:endParaRPr>
          </a:p>
        </p:txBody>
      </p:sp>
      <p:cxnSp>
        <p:nvCxnSpPr>
          <p:cNvPr id="14" name="Straight Arrow Connector 13"/>
          <p:cNvCxnSpPr/>
          <p:nvPr/>
        </p:nvCxnSpPr>
        <p:spPr>
          <a:xfrm flipH="1">
            <a:off x="7278390" y="2528965"/>
            <a:ext cx="85725" cy="228600"/>
          </a:xfrm>
          <a:prstGeom prst="straightConnector1">
            <a:avLst/>
          </a:prstGeom>
          <a:ln w="38100">
            <a:solidFill>
              <a:srgbClr val="FF000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6" name="Multiply 15"/>
          <p:cNvSpPr/>
          <p:nvPr/>
        </p:nvSpPr>
        <p:spPr>
          <a:xfrm>
            <a:off x="7122325" y="2705704"/>
            <a:ext cx="312131" cy="283706"/>
          </a:xfrm>
          <a:prstGeom prst="mathMultiply">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350" kern="1200" dirty="0">
              <a:solidFill>
                <a:srgbClr val="000000"/>
              </a:solidFill>
            </a:endParaRPr>
          </a:p>
        </p:txBody>
      </p:sp>
      <mc:AlternateContent xmlns:mc="http://schemas.openxmlformats.org/markup-compatibility/2006" xmlns:a14="http://schemas.microsoft.com/office/drawing/2010/main">
        <mc:Choice Requires="a14">
          <p:sp>
            <p:nvSpPr>
              <p:cNvPr id="22" name="TextBox 21"/>
              <p:cNvSpPr txBox="1"/>
              <p:nvPr/>
            </p:nvSpPr>
            <p:spPr>
              <a:xfrm>
                <a:off x="7417685" y="2503117"/>
                <a:ext cx="422371" cy="36899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solidFill>
                                <a:srgbClr val="FFFFFF"/>
                              </a:solidFill>
                              <a:latin typeface="Cambria Math" panose="02040503050406030204" pitchFamily="18" charset="0"/>
                              <a:ea typeface="Avenir Book" charset="0"/>
                              <a:cs typeface="Avenir Book" charset="0"/>
                            </a:rPr>
                          </m:ctrlPr>
                        </m:sSubPr>
                        <m:e>
                          <m:r>
                            <a:rPr lang="en-US" sz="2398" i="1" kern="1200">
                              <a:solidFill>
                                <a:srgbClr val="FFFFFF"/>
                              </a:solidFill>
                              <a:latin typeface="Cambria Math" charset="0"/>
                              <a:ea typeface="Cambria Math" charset="0"/>
                              <a:cs typeface="Cambria Math" charset="0"/>
                            </a:rPr>
                            <m:t>𝜔</m:t>
                          </m:r>
                        </m:e>
                        <m:sub>
                          <m:r>
                            <a:rPr lang="en-US" sz="2398" i="1" kern="1200">
                              <a:solidFill>
                                <a:srgbClr val="FFFFFF"/>
                              </a:solidFill>
                              <a:latin typeface="Cambria Math" charset="0"/>
                              <a:ea typeface="Avenir Book" charset="0"/>
                              <a:cs typeface="Avenir Book" charset="0"/>
                            </a:rPr>
                            <m:t>2</m:t>
                          </m:r>
                        </m:sub>
                      </m:sSub>
                    </m:oMath>
                  </m:oMathPara>
                </a14:m>
                <a:endParaRPr lang="en-US" sz="2398" kern="1200" dirty="0">
                  <a:solidFill>
                    <a:srgbClr val="FFFFFF"/>
                  </a:solidFill>
                  <a:latin typeface="Avenir Book" charset="0"/>
                  <a:ea typeface="Avenir Book" charset="0"/>
                  <a:cs typeface="Avenir Book" charset="0"/>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7420320" y="2505434"/>
                <a:ext cx="422762" cy="369332"/>
              </a:xfrm>
              <a:prstGeom prst="rect">
                <a:avLst/>
              </a:prstGeom>
              <a:blipFill rotWithShape="0">
                <a:blip r:embed="rId10"/>
                <a:stretch>
                  <a:fillRect l="-10000" r="-5714" b="-98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537136" y="2855406"/>
                <a:ext cx="4948418" cy="7555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Cambria Math" charset="0"/>
                              <a:cs typeface="Cambria Math" charset="0"/>
                            </a:rPr>
                            <m:t>𝜔</m:t>
                          </m:r>
                        </m:e>
                        <m:sub>
                          <m:r>
                            <a:rPr lang="en-US" sz="1798" i="1" kern="1200">
                              <a:latin typeface="Cambria Math" charset="0"/>
                              <a:ea typeface="Avenir Book" charset="0"/>
                              <a:cs typeface="Avenir Book" charset="0"/>
                            </a:rPr>
                            <m:t>3</m:t>
                          </m:r>
                        </m:sub>
                      </m:sSub>
                      <m:r>
                        <a:rPr lang="en-US" sz="1798" i="1" kern="1200">
                          <a:latin typeface="Cambria Math" charset="0"/>
                          <a:ea typeface="Avenir Book" charset="0"/>
                          <a:cs typeface="Avenir Book" charset="0"/>
                        </a:rPr>
                        <m:t>=</m:t>
                      </m:r>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Cambria Math" charset="0"/>
                              <a:cs typeface="Cambria Math" charset="0"/>
                            </a:rPr>
                            <m:t>𝜔</m:t>
                          </m:r>
                        </m:e>
                        <m:sub>
                          <m:r>
                            <a:rPr lang="en-US" sz="1798" i="1" kern="1200">
                              <a:latin typeface="Cambria Math" charset="0"/>
                              <a:ea typeface="Avenir Book" charset="0"/>
                              <a:cs typeface="Avenir Book" charset="0"/>
                            </a:rPr>
                            <m:t>2</m:t>
                          </m:r>
                        </m:sub>
                      </m:sSub>
                      <m:r>
                        <a:rPr lang="en-US" sz="1798" i="1" kern="1200">
                          <a:latin typeface="Cambria Math" charset="0"/>
                          <a:ea typeface="Avenir Book" charset="0"/>
                          <a:cs typeface="Avenir Book" charset="0"/>
                        </a:rPr>
                        <m:t>−</m:t>
                      </m:r>
                      <m:r>
                        <a:rPr lang="en-US" sz="1798" i="1" kern="1200">
                          <a:latin typeface="Cambria Math" charset="0"/>
                          <a:ea typeface="Cambria Math" charset="0"/>
                          <a:cs typeface="Cambria Math" charset="0"/>
                        </a:rPr>
                        <m:t>𝛼𝛻</m:t>
                      </m:r>
                      <m:f>
                        <m:fPr>
                          <m:ctrlPr>
                            <a:rPr lang="mr-IN" sz="1798" i="1" kern="1200">
                              <a:latin typeface="Cambria Math" panose="02040503050406030204" pitchFamily="18" charset="0"/>
                              <a:ea typeface="Avenir Book" charset="0"/>
                              <a:cs typeface="Avenir Book" charset="0"/>
                            </a:rPr>
                          </m:ctrlPr>
                        </m:fPr>
                        <m:num>
                          <m:r>
                            <a:rPr lang="en-US" sz="1798" i="1" kern="1200">
                              <a:latin typeface="Cambria Math" charset="0"/>
                              <a:ea typeface="Avenir Book" charset="0"/>
                              <a:cs typeface="Avenir Book" charset="0"/>
                            </a:rPr>
                            <m:t>1</m:t>
                          </m:r>
                        </m:num>
                        <m:den>
                          <m:r>
                            <a:rPr lang="en-US" sz="1798" i="1" kern="1200">
                              <a:latin typeface="Cambria Math" charset="0"/>
                              <a:ea typeface="Avenir Book" charset="0"/>
                              <a:cs typeface="Avenir Book" charset="0"/>
                            </a:rPr>
                            <m:t>2</m:t>
                          </m:r>
                        </m:den>
                      </m:f>
                      <m:nary>
                        <m:naryPr>
                          <m:chr m:val="∑"/>
                          <m:ctrlPr>
                            <a:rPr lang="is-IS" sz="1798" i="1" kern="1200">
                              <a:latin typeface="Cambria Math" panose="02040503050406030204" pitchFamily="18" charset="0"/>
                              <a:ea typeface="Avenir Book" charset="0"/>
                              <a:cs typeface="Avenir Book" charset="0"/>
                            </a:rPr>
                          </m:ctrlPr>
                        </m:naryPr>
                        <m:sub>
                          <m:r>
                            <m:rPr>
                              <m:brk m:alnAt="23"/>
                            </m:rPr>
                            <a:rPr lang="en-US" sz="1798" i="1" kern="1200">
                              <a:latin typeface="Cambria Math" charset="0"/>
                              <a:ea typeface="Avenir Book" charset="0"/>
                              <a:cs typeface="Avenir Book" charset="0"/>
                            </a:rPr>
                            <m:t>𝑖</m:t>
                          </m:r>
                          <m:r>
                            <a:rPr lang="en-US" sz="1798" i="1" kern="1200">
                              <a:latin typeface="Cambria Math" charset="0"/>
                              <a:ea typeface="Avenir Book" charset="0"/>
                              <a:cs typeface="Avenir Book" charset="0"/>
                            </a:rPr>
                            <m:t>=1</m:t>
                          </m:r>
                        </m:sub>
                        <m:sup>
                          <m:r>
                            <a:rPr lang="en-US" sz="1798" i="1" kern="1200">
                              <a:latin typeface="Cambria Math" charset="0"/>
                              <a:ea typeface="Avenir Book" charset="0"/>
                              <a:cs typeface="Avenir Book" charset="0"/>
                            </a:rPr>
                            <m:t>𝑚</m:t>
                          </m:r>
                        </m:sup>
                        <m:e>
                          <m:sSup>
                            <m:sSupPr>
                              <m:ctrlPr>
                                <a:rPr lang="mr-IN" sz="1798" i="1" kern="1200">
                                  <a:latin typeface="Cambria Math" panose="02040503050406030204" pitchFamily="18" charset="0"/>
                                  <a:ea typeface="Avenir Book" charset="0"/>
                                  <a:cs typeface="Avenir Book" charset="0"/>
                                </a:rPr>
                              </m:ctrlPr>
                            </m:sSupPr>
                            <m:e>
                              <m:d>
                                <m:dPr>
                                  <m:ctrlPr>
                                    <a:rPr lang="mr-IN" sz="1798" i="1" kern="1200">
                                      <a:latin typeface="Cambria Math" panose="02040503050406030204" pitchFamily="18" charset="0"/>
                                      <a:ea typeface="Avenir Book" charset="0"/>
                                      <a:cs typeface="Avenir Book" charset="0"/>
                                    </a:rPr>
                                  </m:ctrlPr>
                                </m:dPr>
                                <m:e>
                                  <m:d>
                                    <m:dPr>
                                      <m:ctrlPr>
                                        <a:rPr lang="en-US" sz="1798" i="1" kern="1200">
                                          <a:latin typeface="Cambria Math" panose="02040503050406030204" pitchFamily="18" charset="0"/>
                                          <a:ea typeface="Avenir Book" charset="0"/>
                                          <a:cs typeface="Avenir Book" charset="0"/>
                                        </a:rPr>
                                      </m:ctrlPr>
                                    </m:dPr>
                                    <m:e>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Avenir Book" charset="0"/>
                                              <a:cs typeface="Avenir Book" charset="0"/>
                                            </a:rPr>
                                            <m:t>𝛽</m:t>
                                          </m:r>
                                        </m:e>
                                        <m:sub>
                                          <m:r>
                                            <a:rPr lang="en-US" sz="1798" i="1" kern="1200">
                                              <a:latin typeface="Cambria Math" charset="0"/>
                                              <a:ea typeface="Avenir Book" charset="0"/>
                                              <a:cs typeface="Avenir Book" charset="0"/>
                                            </a:rPr>
                                            <m:t>0</m:t>
                                          </m:r>
                                        </m:sub>
                                      </m:sSub>
                                      <m:r>
                                        <m:rPr>
                                          <m:nor/>
                                        </m:rPr>
                                        <a:rPr lang="en-US" sz="1798" kern="1200" dirty="0">
                                          <a:latin typeface="Avenir Book" charset="0"/>
                                          <a:ea typeface="Avenir Book" charset="0"/>
                                          <a:cs typeface="Avenir Book" charset="0"/>
                                        </a:rPr>
                                        <m:t> + </m:t>
                                      </m:r>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Avenir Book" charset="0"/>
                                              <a:cs typeface="Avenir Book" charset="0"/>
                                            </a:rPr>
                                            <m:t>𝛽</m:t>
                                          </m:r>
                                        </m:e>
                                        <m:sub>
                                          <m:r>
                                            <a:rPr lang="en-US" sz="1798" i="1" kern="1200">
                                              <a:latin typeface="Cambria Math" charset="0"/>
                                              <a:ea typeface="Avenir Book" charset="0"/>
                                              <a:cs typeface="Avenir Book" charset="0"/>
                                            </a:rPr>
                                            <m:t>1</m:t>
                                          </m:r>
                                        </m:sub>
                                      </m:sSub>
                                      <m:sSubSup>
                                        <m:sSubSupPr>
                                          <m:ctrlPr>
                                            <a:rPr lang="en-US" sz="1798" i="1" kern="1200">
                                              <a:latin typeface="Cambria Math" panose="02040503050406030204" pitchFamily="18" charset="0"/>
                                              <a:ea typeface="Avenir Book" charset="0"/>
                                              <a:cs typeface="Avenir Book" charset="0"/>
                                            </a:rPr>
                                          </m:ctrlPr>
                                        </m:sSubSupPr>
                                        <m:e>
                                          <m:r>
                                            <a:rPr lang="en-US" sz="1798" i="1" kern="1200">
                                              <a:latin typeface="Cambria Math" charset="0"/>
                                              <a:ea typeface="Avenir Book" charset="0"/>
                                              <a:cs typeface="Avenir Book" charset="0"/>
                                            </a:rPr>
                                            <m:t>𝑥</m:t>
                                          </m:r>
                                        </m:e>
                                        <m:sub>
                                          <m:r>
                                            <a:rPr lang="en-US" sz="1798" i="1" kern="1200">
                                              <a:latin typeface="Cambria Math" charset="0"/>
                                              <a:ea typeface="Avenir Book" charset="0"/>
                                              <a:cs typeface="Avenir Book" charset="0"/>
                                            </a:rPr>
                                            <m:t>𝑜𝑏𝑠</m:t>
                                          </m:r>
                                        </m:sub>
                                        <m:sup>
                                          <m:r>
                                            <a:rPr lang="en-US" sz="1798" i="1" kern="1200">
                                              <a:latin typeface="Cambria Math" charset="0"/>
                                              <a:ea typeface="Avenir Book" charset="0"/>
                                              <a:cs typeface="Avenir Book" charset="0"/>
                                            </a:rPr>
                                            <m:t>(</m:t>
                                          </m:r>
                                          <m:r>
                                            <a:rPr lang="en-US" sz="1798" i="1" kern="1200">
                                              <a:latin typeface="Cambria Math" charset="0"/>
                                              <a:ea typeface="Avenir Book" charset="0"/>
                                              <a:cs typeface="Avenir Book" charset="0"/>
                                            </a:rPr>
                                            <m:t>𝑖</m:t>
                                          </m:r>
                                          <m:r>
                                            <a:rPr lang="en-US" sz="1798" i="1" kern="1200">
                                              <a:latin typeface="Cambria Math" charset="0"/>
                                              <a:ea typeface="Avenir Book" charset="0"/>
                                              <a:cs typeface="Avenir Book" charset="0"/>
                                            </a:rPr>
                                            <m:t>)</m:t>
                                          </m:r>
                                        </m:sup>
                                      </m:sSubSup>
                                    </m:e>
                                  </m:d>
                                  <m:r>
                                    <a:rPr lang="en-US" sz="1798" i="1" kern="1200">
                                      <a:latin typeface="Cambria Math" charset="0"/>
                                      <a:ea typeface="Avenir Book" charset="0"/>
                                      <a:cs typeface="Avenir Book" charset="0"/>
                                    </a:rPr>
                                    <m:t>−</m:t>
                                  </m:r>
                                  <m:sSubSup>
                                    <m:sSubSupPr>
                                      <m:ctrlPr>
                                        <a:rPr lang="en-US" sz="1798" i="1" kern="1200">
                                          <a:latin typeface="Cambria Math" panose="02040503050406030204" pitchFamily="18" charset="0"/>
                                          <a:ea typeface="Avenir Book" charset="0"/>
                                          <a:cs typeface="Avenir Book" charset="0"/>
                                        </a:rPr>
                                      </m:ctrlPr>
                                    </m:sSubSupPr>
                                    <m:e>
                                      <m:r>
                                        <a:rPr lang="en-US" sz="1798" i="1" kern="1200">
                                          <a:latin typeface="Cambria Math" charset="0"/>
                                          <a:ea typeface="Avenir Book" charset="0"/>
                                          <a:cs typeface="Avenir Book" charset="0"/>
                                        </a:rPr>
                                        <m:t>𝑦</m:t>
                                      </m:r>
                                    </m:e>
                                    <m:sub>
                                      <m:r>
                                        <a:rPr lang="en-US" sz="1798" i="1" kern="1200">
                                          <a:latin typeface="Cambria Math" charset="0"/>
                                          <a:ea typeface="Avenir Book" charset="0"/>
                                          <a:cs typeface="Avenir Book" charset="0"/>
                                        </a:rPr>
                                        <m:t>𝑜𝑏𝑠</m:t>
                                      </m:r>
                                    </m:sub>
                                    <m:sup>
                                      <m:r>
                                        <a:rPr lang="en-US" sz="1798" i="1" kern="1200">
                                          <a:latin typeface="Cambria Math" charset="0"/>
                                          <a:ea typeface="Avenir Book" charset="0"/>
                                          <a:cs typeface="Avenir Book" charset="0"/>
                                        </a:rPr>
                                        <m:t>(</m:t>
                                      </m:r>
                                      <m:r>
                                        <a:rPr lang="en-US" sz="1798" i="1" kern="1200">
                                          <a:latin typeface="Cambria Math" charset="0"/>
                                          <a:ea typeface="Avenir Book" charset="0"/>
                                          <a:cs typeface="Avenir Book" charset="0"/>
                                        </a:rPr>
                                        <m:t>𝑖</m:t>
                                      </m:r>
                                      <m:r>
                                        <a:rPr lang="en-US" sz="1798" i="1" kern="1200">
                                          <a:latin typeface="Cambria Math" charset="0"/>
                                          <a:ea typeface="Avenir Book" charset="0"/>
                                          <a:cs typeface="Avenir Book" charset="0"/>
                                        </a:rPr>
                                        <m:t>)</m:t>
                                      </m:r>
                                    </m:sup>
                                  </m:sSubSup>
                                </m:e>
                              </m:d>
                            </m:e>
                            <m:sup>
                              <m:r>
                                <a:rPr lang="en-US" sz="1798" i="1" kern="1200">
                                  <a:latin typeface="Cambria Math" charset="0"/>
                                  <a:ea typeface="Avenir Book" charset="0"/>
                                  <a:cs typeface="Avenir Book" charset="0"/>
                                </a:rPr>
                                <m:t>2</m:t>
                              </m:r>
                            </m:sup>
                          </m:sSup>
                          <m:r>
                            <m:rPr>
                              <m:nor/>
                            </m:rPr>
                            <a:rPr lang="en-US" sz="1798" kern="1200" dirty="0">
                              <a:latin typeface="Avenir Book" charset="0"/>
                              <a:ea typeface="Avenir Book" charset="0"/>
                              <a:cs typeface="Avenir Book" charset="0"/>
                            </a:rPr>
                            <m:t> </m:t>
                          </m:r>
                        </m:e>
                      </m:nary>
                    </m:oMath>
                  </m:oMathPara>
                </a14:m>
                <a:endParaRPr lang="en-US" sz="1798" kern="1200" dirty="0">
                  <a:latin typeface="Avenir Book" charset="0"/>
                  <a:ea typeface="Avenir Book" charset="0"/>
                  <a:cs typeface="Avenir Book" charset="0"/>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533400" y="2858049"/>
                <a:ext cx="4953000" cy="756233"/>
              </a:xfrm>
              <a:prstGeom prst="rect">
                <a:avLst/>
              </a:prstGeom>
              <a:blipFill rotWithShape="0">
                <a:blip r:embed="rId11"/>
                <a:stretch>
                  <a:fillRect b="-806"/>
                </a:stretch>
              </a:blipFill>
            </p:spPr>
            <p:txBody>
              <a:bodyPr/>
              <a:lstStyle/>
              <a:p>
                <a:r>
                  <a:rPr lang="en-US">
                    <a:noFill/>
                  </a:rPr>
                  <a:t> </a:t>
                </a:r>
              </a:p>
            </p:txBody>
          </p:sp>
        </mc:Fallback>
      </mc:AlternateContent>
      <p:sp>
        <p:nvSpPr>
          <p:cNvPr id="24" name="Multiply 23"/>
          <p:cNvSpPr/>
          <p:nvPr/>
        </p:nvSpPr>
        <p:spPr>
          <a:xfrm>
            <a:off x="7466281" y="2849270"/>
            <a:ext cx="312131" cy="283706"/>
          </a:xfrm>
          <a:prstGeom prst="mathMultiply">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350" kern="1200" dirty="0">
              <a:solidFill>
                <a:srgbClr val="000000"/>
              </a:solidFill>
            </a:endParaRPr>
          </a:p>
        </p:txBody>
      </p:sp>
      <mc:AlternateContent xmlns:mc="http://schemas.openxmlformats.org/markup-compatibility/2006" xmlns:a14="http://schemas.microsoft.com/office/drawing/2010/main">
        <mc:Choice Requires="a14">
          <p:sp>
            <p:nvSpPr>
              <p:cNvPr id="25" name="TextBox 24"/>
              <p:cNvSpPr txBox="1"/>
              <p:nvPr/>
            </p:nvSpPr>
            <p:spPr>
              <a:xfrm>
                <a:off x="7769715" y="2757565"/>
                <a:ext cx="422371" cy="36899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solidFill>
                                <a:srgbClr val="FFFFFF"/>
                              </a:solidFill>
                              <a:latin typeface="Cambria Math" panose="02040503050406030204" pitchFamily="18" charset="0"/>
                              <a:ea typeface="Avenir Book" charset="0"/>
                              <a:cs typeface="Avenir Book" charset="0"/>
                            </a:rPr>
                          </m:ctrlPr>
                        </m:sSubPr>
                        <m:e>
                          <m:r>
                            <a:rPr lang="en-US" sz="2398" i="1" kern="1200">
                              <a:solidFill>
                                <a:srgbClr val="FFFFFF"/>
                              </a:solidFill>
                              <a:latin typeface="Cambria Math" charset="0"/>
                              <a:ea typeface="Cambria Math" charset="0"/>
                              <a:cs typeface="Cambria Math" charset="0"/>
                            </a:rPr>
                            <m:t>𝜔</m:t>
                          </m:r>
                        </m:e>
                        <m:sub>
                          <m:r>
                            <a:rPr lang="en-US" sz="2398" i="1" kern="1200">
                              <a:solidFill>
                                <a:srgbClr val="FFFFFF"/>
                              </a:solidFill>
                              <a:latin typeface="Cambria Math" charset="0"/>
                              <a:ea typeface="Avenir Book" charset="0"/>
                              <a:cs typeface="Avenir Book" charset="0"/>
                            </a:rPr>
                            <m:t>3</m:t>
                          </m:r>
                        </m:sub>
                      </m:sSub>
                    </m:oMath>
                  </m:oMathPara>
                </a14:m>
                <a:endParaRPr lang="en-US" sz="2398" kern="1200" dirty="0">
                  <a:solidFill>
                    <a:srgbClr val="FFFFFF"/>
                  </a:solidFill>
                  <a:latin typeface="Avenir Book" charset="0"/>
                  <a:ea typeface="Avenir Book" charset="0"/>
                  <a:cs typeface="Avenir Book" charset="0"/>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7772676" y="2760118"/>
                <a:ext cx="422762" cy="369332"/>
              </a:xfrm>
              <a:prstGeom prst="rect">
                <a:avLst/>
              </a:prstGeom>
              <a:blipFill rotWithShape="0">
                <a:blip r:embed="rId12"/>
                <a:stretch>
                  <a:fillRect l="-10145" r="-8696" b="-13333"/>
                </a:stretch>
              </a:blipFill>
            </p:spPr>
            <p:txBody>
              <a:bodyPr/>
              <a:lstStyle/>
              <a:p>
                <a:r>
                  <a:rPr lang="en-US">
                    <a:noFill/>
                  </a:rPr>
                  <a:t> </a:t>
                </a:r>
              </a:p>
            </p:txBody>
          </p:sp>
        </mc:Fallback>
      </mc:AlternateContent>
      <p:cxnSp>
        <p:nvCxnSpPr>
          <p:cNvPr id="26" name="Straight Arrow Connector 25"/>
          <p:cNvCxnSpPr/>
          <p:nvPr/>
        </p:nvCxnSpPr>
        <p:spPr>
          <a:xfrm>
            <a:off x="7286793" y="2969148"/>
            <a:ext cx="228241" cy="20261"/>
          </a:xfrm>
          <a:prstGeom prst="straightConnector1">
            <a:avLst/>
          </a:prstGeom>
          <a:ln w="38100">
            <a:solidFill>
              <a:srgbClr val="FF000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61467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2"/>
          <p:cNvSpPr txBox="1"/>
          <p:nvPr/>
        </p:nvSpPr>
        <p:spPr>
          <a:xfrm>
            <a:off x="531332" y="1110795"/>
            <a:ext cx="4892276" cy="922368"/>
          </a:xfrm>
          <a:prstGeom prst="rect">
            <a:avLst/>
          </a:prstGeom>
        </p:spPr>
        <p:txBody>
          <a:bodyPr vert="horz" wrap="square" lIns="0" tIns="0" rIns="0" bIns="0" rtlCol="0">
            <a:spAutoFit/>
          </a:bodyPr>
          <a:lstStyle/>
          <a:p>
            <a:pPr marL="352108" marR="3807" lvl="0" indent="-342591">
              <a:spcAft>
                <a:spcPts val="1199"/>
              </a:spcAft>
              <a:buFont typeface="Arial" charset="0"/>
              <a:buChar char="•"/>
            </a:pPr>
            <a:r>
              <a:rPr lang="en-US" sz="1998" kern="1200" spc="-15" dirty="0" smtClean="0">
                <a:solidFill>
                  <a:srgbClr val="212121">
                    <a:lumMod val="50000"/>
                  </a:srgbClr>
                </a:solidFill>
                <a:latin typeface="Avenir Book" charset="0"/>
                <a:ea typeface="Avenir Book" charset="0"/>
                <a:cs typeface="Avenir Book" charset="0"/>
              </a:rPr>
              <a:t>Use a single data point to determine the gradient and cost function instead of all the data</a:t>
            </a:r>
          </a:p>
        </p:txBody>
      </p:sp>
      <p:pic>
        <p:nvPicPr>
          <p:cNvPr id="21" name="Picture 20"/>
          <p:cNvPicPr>
            <a:picLocks noChangeAspect="1"/>
          </p:cNvPicPr>
          <p:nvPr/>
        </p:nvPicPr>
        <p:blipFill rotWithShape="1">
          <a:blip r:embed="rId3" cstate="print"/>
          <a:srcRect l="4481" t="7254" r="7208" b="4857"/>
          <a:stretch/>
        </p:blipFill>
        <p:spPr>
          <a:xfrm>
            <a:off x="5833063" y="1258221"/>
            <a:ext cx="3324834" cy="2479948"/>
          </a:xfrm>
          <a:prstGeom prst="rect">
            <a:avLst/>
          </a:prstGeom>
        </p:spPr>
      </p:pic>
      <mc:AlternateContent xmlns:mc="http://schemas.openxmlformats.org/markup-compatibility/2006" xmlns:a14="http://schemas.microsoft.com/office/drawing/2010/main">
        <mc:Choice Requires="a14">
          <p:sp>
            <p:nvSpPr>
              <p:cNvPr id="29" name="TextBox 28"/>
              <p:cNvSpPr txBox="1"/>
              <p:nvPr/>
            </p:nvSpPr>
            <p:spPr>
              <a:xfrm>
                <a:off x="6089490" y="988756"/>
                <a:ext cx="1274625"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398" i="1" kern="1200">
                          <a:latin typeface="Cambria Math" charset="0"/>
                          <a:ea typeface="Avenir Book" charset="0"/>
                          <a:cs typeface="Avenir Book" charset="0"/>
                        </a:rPr>
                        <m:t>𝐽</m:t>
                      </m:r>
                      <m:d>
                        <m:dPr>
                          <m:ctrlPr>
                            <a:rPr lang="en-US" sz="2398" i="1" kern="1200">
                              <a:latin typeface="Cambria Math" panose="02040503050406030204" pitchFamily="18" charset="0"/>
                              <a:ea typeface="Avenir Book" charset="0"/>
                              <a:cs typeface="Avenir Book" charset="0"/>
                            </a:rPr>
                          </m:ctrlPr>
                        </m:dPr>
                        <m:e>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0</m:t>
                              </m:r>
                            </m:sub>
                          </m:sSub>
                          <m:r>
                            <a:rPr lang="en-US" sz="2398" i="1" kern="1200">
                              <a:latin typeface="Cambria Math" charset="0"/>
                              <a:ea typeface="Avenir Book" charset="0"/>
                              <a:cs typeface="Avenir Book" charset="0"/>
                            </a:rPr>
                            <m:t>,</m:t>
                          </m:r>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1</m:t>
                              </m:r>
                            </m:sub>
                          </m:sSub>
                        </m:e>
                      </m:d>
                    </m:oMath>
                  </m:oMathPara>
                </a14:m>
                <a:endParaRPr lang="en-US" sz="2398" kern="1200" dirty="0">
                  <a:latin typeface="Avenir Book" charset="0"/>
                  <a:ea typeface="Avenir Book" charset="0"/>
                  <a:cs typeface="Avenir Book" charset="0"/>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6090895" y="989671"/>
                <a:ext cx="1275805" cy="369332"/>
              </a:xfrm>
              <a:prstGeom prst="rect">
                <a:avLst/>
              </a:prstGeom>
              <a:blipFill rotWithShape="0">
                <a:blip r:embed="rId4"/>
                <a:stretch>
                  <a:fillRect l="-3349" t="-1639" b="-278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6129008" y="3226594"/>
                <a:ext cx="414757"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1</m:t>
                          </m:r>
                        </m:sub>
                      </m:sSub>
                    </m:oMath>
                  </m:oMathPara>
                </a14:m>
                <a:endParaRPr lang="en-US" sz="2398" kern="1200" dirty="0">
                  <a:latin typeface="Avenir Book" charset="0"/>
                  <a:ea typeface="Avenir Book" charset="0"/>
                  <a:cs typeface="Avenir Book" charset="0"/>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6130449" y="3229581"/>
                <a:ext cx="415141" cy="369332"/>
              </a:xfrm>
              <a:prstGeom prst="rect">
                <a:avLst/>
              </a:prstGeom>
              <a:blipFill rotWithShape="0">
                <a:blip r:embed="rId5"/>
                <a:stretch>
                  <a:fillRect l="-20588" t="-3333" b="-3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8298387" y="3378686"/>
                <a:ext cx="422371"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0</m:t>
                          </m:r>
                        </m:sub>
                      </m:sSub>
                    </m:oMath>
                  </m:oMathPara>
                </a14:m>
                <a:endParaRPr lang="en-US" sz="2398" kern="1200" dirty="0">
                  <a:latin typeface="Avenir Book" charset="0"/>
                  <a:ea typeface="Avenir Book" charset="0"/>
                  <a:cs typeface="Avenir Book" charset="0"/>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8301837" y="3381814"/>
                <a:ext cx="422762" cy="369332"/>
              </a:xfrm>
              <a:prstGeom prst="rect">
                <a:avLst/>
              </a:prstGeom>
              <a:blipFill rotWithShape="0">
                <a:blip r:embed="rId6"/>
                <a:stretch>
                  <a:fillRect l="-18841" t="-3333" r="-1449" b="-30000"/>
                </a:stretch>
              </a:blipFill>
            </p:spPr>
            <p:txBody>
              <a:bodyPr/>
              <a:lstStyle/>
              <a:p>
                <a:r>
                  <a:rPr lang="en-US">
                    <a:noFill/>
                  </a:rPr>
                  <a:t> </a:t>
                </a:r>
              </a:p>
            </p:txBody>
          </p:sp>
        </mc:Fallback>
      </mc:AlternateContent>
      <p:sp>
        <p:nvSpPr>
          <p:cNvPr id="32" name="object 2"/>
          <p:cNvSpPr txBox="1"/>
          <p:nvPr/>
        </p:nvSpPr>
        <p:spPr>
          <a:xfrm>
            <a:off x="305235" y="268944"/>
            <a:ext cx="8430023" cy="461238"/>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sz="2997" kern="1200" dirty="0" smtClean="0">
                <a:solidFill>
                  <a:srgbClr val="212121"/>
                </a:solidFill>
                <a:latin typeface="Avenir Book" charset="0"/>
                <a:ea typeface="Avenir Book" charset="0"/>
                <a:cs typeface="Avenir Book" charset="0"/>
              </a:rPr>
              <a:t>Stochastic Gradient Descent</a:t>
            </a:r>
            <a:endParaRPr lang="en-US" sz="2997" kern="1200" dirty="0">
              <a:solidFill>
                <a:srgbClr val="212121"/>
              </a:solidFill>
              <a:latin typeface="Avenir Book" charset="0"/>
              <a:ea typeface="Avenir Book" charset="0"/>
              <a:cs typeface="Avenir Book" charset="0"/>
            </a:endParaRPr>
          </a:p>
        </p:txBody>
      </p:sp>
      <p:sp>
        <p:nvSpPr>
          <p:cNvPr id="5" name="Multiply 4"/>
          <p:cNvSpPr/>
          <p:nvPr/>
        </p:nvSpPr>
        <p:spPr>
          <a:xfrm>
            <a:off x="7364115" y="1836227"/>
            <a:ext cx="312131" cy="283706"/>
          </a:xfrm>
          <a:prstGeom prst="mathMultiply">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350" kern="1200" dirty="0">
              <a:solidFill>
                <a:srgbClr val="000000"/>
              </a:solidFill>
            </a:endParaRPr>
          </a:p>
        </p:txBody>
      </p:sp>
      <p:cxnSp>
        <p:nvCxnSpPr>
          <p:cNvPr id="17" name="Straight Arrow Connector 16"/>
          <p:cNvCxnSpPr/>
          <p:nvPr/>
        </p:nvCxnSpPr>
        <p:spPr>
          <a:xfrm flipH="1">
            <a:off x="7407265" y="2090916"/>
            <a:ext cx="85725" cy="228600"/>
          </a:xfrm>
          <a:prstGeom prst="straightConnector1">
            <a:avLst/>
          </a:prstGeom>
          <a:ln w="38100">
            <a:solidFill>
              <a:srgbClr val="FF000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0" name="Multiply 19"/>
          <p:cNvSpPr/>
          <p:nvPr/>
        </p:nvSpPr>
        <p:spPr>
          <a:xfrm>
            <a:off x="7246399" y="2271702"/>
            <a:ext cx="312131" cy="283706"/>
          </a:xfrm>
          <a:prstGeom prst="mathMultiply">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350" kern="1200" dirty="0">
              <a:solidFill>
                <a:srgbClr val="000000"/>
              </a:solidFill>
            </a:endParaRPr>
          </a:p>
        </p:txBody>
      </p:sp>
      <mc:AlternateContent xmlns:mc="http://schemas.openxmlformats.org/markup-compatibility/2006" xmlns:a14="http://schemas.microsoft.com/office/drawing/2010/main">
        <mc:Choice Requires="a14">
          <p:sp>
            <p:nvSpPr>
              <p:cNvPr id="28" name="TextBox 27"/>
              <p:cNvSpPr txBox="1"/>
              <p:nvPr/>
            </p:nvSpPr>
            <p:spPr>
              <a:xfrm>
                <a:off x="339214" y="3466235"/>
                <a:ext cx="4948418" cy="5438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798" i="1" kern="1200" smtClean="0">
                              <a:latin typeface="Cambria Math" panose="02040503050406030204" pitchFamily="18" charset="0"/>
                              <a:ea typeface="Avenir Book" charset="0"/>
                              <a:cs typeface="Avenir Book" charset="0"/>
                            </a:rPr>
                          </m:ctrlPr>
                        </m:sSubPr>
                        <m:e>
                          <m:r>
                            <a:rPr lang="en-US" sz="1798" i="1" kern="1200">
                              <a:latin typeface="Cambria Math" charset="0"/>
                              <a:ea typeface="Cambria Math" charset="0"/>
                              <a:cs typeface="Cambria Math" charset="0"/>
                            </a:rPr>
                            <m:t>𝜔</m:t>
                          </m:r>
                        </m:e>
                        <m:sub>
                          <m:r>
                            <a:rPr lang="en-US" sz="1798" i="1" kern="1200">
                              <a:latin typeface="Cambria Math" charset="0"/>
                              <a:ea typeface="Avenir Book" charset="0"/>
                              <a:cs typeface="Avenir Book" charset="0"/>
                            </a:rPr>
                            <m:t>1</m:t>
                          </m:r>
                        </m:sub>
                      </m:sSub>
                      <m:r>
                        <a:rPr lang="en-US" sz="1798" i="1" kern="1200">
                          <a:latin typeface="Cambria Math" charset="0"/>
                          <a:ea typeface="Avenir Book" charset="0"/>
                          <a:cs typeface="Avenir Book" charset="0"/>
                        </a:rPr>
                        <m:t>=</m:t>
                      </m:r>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Cambria Math" charset="0"/>
                              <a:cs typeface="Cambria Math" charset="0"/>
                            </a:rPr>
                            <m:t>𝜔</m:t>
                          </m:r>
                        </m:e>
                        <m:sub>
                          <m:r>
                            <a:rPr lang="en-US" sz="1798" i="1" kern="1200">
                              <a:latin typeface="Cambria Math" charset="0"/>
                              <a:ea typeface="Avenir Book" charset="0"/>
                              <a:cs typeface="Avenir Book" charset="0"/>
                            </a:rPr>
                            <m:t>0</m:t>
                          </m:r>
                        </m:sub>
                      </m:sSub>
                      <m:r>
                        <a:rPr lang="en-US" sz="1798" i="1" kern="1200">
                          <a:latin typeface="Cambria Math" charset="0"/>
                          <a:ea typeface="Avenir Book" charset="0"/>
                          <a:cs typeface="Avenir Book" charset="0"/>
                        </a:rPr>
                        <m:t>−</m:t>
                      </m:r>
                      <m:r>
                        <a:rPr lang="en-US" sz="1798" i="1" kern="1200">
                          <a:latin typeface="Cambria Math" charset="0"/>
                          <a:ea typeface="Cambria Math" charset="0"/>
                          <a:cs typeface="Cambria Math" charset="0"/>
                        </a:rPr>
                        <m:t>𝛼𝛻</m:t>
                      </m:r>
                      <m:f>
                        <m:fPr>
                          <m:ctrlPr>
                            <a:rPr lang="mr-IN" sz="1798" i="1" kern="1200">
                              <a:latin typeface="Cambria Math" panose="02040503050406030204" pitchFamily="18" charset="0"/>
                              <a:ea typeface="Avenir Book" charset="0"/>
                              <a:cs typeface="Avenir Book" charset="0"/>
                            </a:rPr>
                          </m:ctrlPr>
                        </m:fPr>
                        <m:num>
                          <m:r>
                            <a:rPr lang="en-US" sz="1798" i="1" kern="1200">
                              <a:latin typeface="Cambria Math" charset="0"/>
                              <a:ea typeface="Avenir Book" charset="0"/>
                              <a:cs typeface="Avenir Book" charset="0"/>
                            </a:rPr>
                            <m:t>1</m:t>
                          </m:r>
                        </m:num>
                        <m:den>
                          <m:r>
                            <a:rPr lang="en-US" sz="1798" i="1" kern="1200">
                              <a:latin typeface="Cambria Math" charset="0"/>
                              <a:ea typeface="Avenir Book" charset="0"/>
                              <a:cs typeface="Avenir Book" charset="0"/>
                            </a:rPr>
                            <m:t>2</m:t>
                          </m:r>
                        </m:den>
                      </m:f>
                      <m:sSup>
                        <m:sSupPr>
                          <m:ctrlPr>
                            <a:rPr lang="mr-IN" sz="1798" i="1" kern="1200">
                              <a:latin typeface="Cambria Math" panose="02040503050406030204" pitchFamily="18" charset="0"/>
                              <a:ea typeface="Avenir Book" charset="0"/>
                              <a:cs typeface="Avenir Book" charset="0"/>
                            </a:rPr>
                          </m:ctrlPr>
                        </m:sSupPr>
                        <m:e>
                          <m:d>
                            <m:dPr>
                              <m:ctrlPr>
                                <a:rPr lang="mr-IN" sz="1798" i="1" kern="1200">
                                  <a:latin typeface="Cambria Math" panose="02040503050406030204" pitchFamily="18" charset="0"/>
                                  <a:ea typeface="Avenir Book" charset="0"/>
                                  <a:cs typeface="Avenir Book" charset="0"/>
                                </a:rPr>
                              </m:ctrlPr>
                            </m:dPr>
                            <m:e>
                              <m:d>
                                <m:dPr>
                                  <m:ctrlPr>
                                    <a:rPr lang="en-US" sz="1798" i="1" kern="1200">
                                      <a:latin typeface="Cambria Math" panose="02040503050406030204" pitchFamily="18" charset="0"/>
                                      <a:ea typeface="Avenir Book" charset="0"/>
                                      <a:cs typeface="Avenir Book" charset="0"/>
                                    </a:rPr>
                                  </m:ctrlPr>
                                </m:dPr>
                                <m:e>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Avenir Book" charset="0"/>
                                          <a:cs typeface="Avenir Book" charset="0"/>
                                        </a:rPr>
                                        <m:t>𝛽</m:t>
                                      </m:r>
                                    </m:e>
                                    <m:sub>
                                      <m:r>
                                        <a:rPr lang="en-US" sz="1798" i="1" kern="1200">
                                          <a:latin typeface="Cambria Math" charset="0"/>
                                          <a:ea typeface="Avenir Book" charset="0"/>
                                          <a:cs typeface="Avenir Book" charset="0"/>
                                        </a:rPr>
                                        <m:t>0</m:t>
                                      </m:r>
                                    </m:sub>
                                  </m:sSub>
                                  <m:r>
                                    <m:rPr>
                                      <m:nor/>
                                    </m:rPr>
                                    <a:rPr lang="en-US" sz="1798" kern="1200" dirty="0">
                                      <a:latin typeface="Avenir Book" charset="0"/>
                                      <a:ea typeface="Avenir Book" charset="0"/>
                                      <a:cs typeface="Avenir Book" charset="0"/>
                                    </a:rPr>
                                    <m:t> + </m:t>
                                  </m:r>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Avenir Book" charset="0"/>
                                          <a:cs typeface="Avenir Book" charset="0"/>
                                        </a:rPr>
                                        <m:t>𝛽</m:t>
                                      </m:r>
                                    </m:e>
                                    <m:sub>
                                      <m:r>
                                        <a:rPr lang="en-US" sz="1798" i="1" kern="1200">
                                          <a:latin typeface="Cambria Math" charset="0"/>
                                          <a:ea typeface="Avenir Book" charset="0"/>
                                          <a:cs typeface="Avenir Book" charset="0"/>
                                        </a:rPr>
                                        <m:t>1</m:t>
                                      </m:r>
                                    </m:sub>
                                  </m:sSub>
                                  <m:sSubSup>
                                    <m:sSubSupPr>
                                      <m:ctrlPr>
                                        <a:rPr lang="en-US" sz="1798" i="1" kern="1200">
                                          <a:latin typeface="Cambria Math" panose="02040503050406030204" pitchFamily="18" charset="0"/>
                                          <a:ea typeface="Avenir Book" charset="0"/>
                                          <a:cs typeface="Avenir Book" charset="0"/>
                                        </a:rPr>
                                      </m:ctrlPr>
                                    </m:sSubSupPr>
                                    <m:e>
                                      <m:r>
                                        <a:rPr lang="en-US" sz="1798" i="1" kern="1200">
                                          <a:latin typeface="Cambria Math" charset="0"/>
                                          <a:ea typeface="Avenir Book" charset="0"/>
                                          <a:cs typeface="Avenir Book" charset="0"/>
                                        </a:rPr>
                                        <m:t>𝑥</m:t>
                                      </m:r>
                                    </m:e>
                                    <m:sub>
                                      <m:r>
                                        <a:rPr lang="en-US" sz="1798" i="1" kern="1200">
                                          <a:latin typeface="Cambria Math" charset="0"/>
                                          <a:ea typeface="Avenir Book" charset="0"/>
                                          <a:cs typeface="Avenir Book" charset="0"/>
                                        </a:rPr>
                                        <m:t>𝑜𝑏𝑠</m:t>
                                      </m:r>
                                    </m:sub>
                                    <m:sup>
                                      <m:r>
                                        <a:rPr lang="en-US" sz="1798" i="1" kern="1200">
                                          <a:latin typeface="Cambria Math" charset="0"/>
                                          <a:ea typeface="Avenir Book" charset="0"/>
                                          <a:cs typeface="Avenir Book" charset="0"/>
                                        </a:rPr>
                                        <m:t>(</m:t>
                                      </m:r>
                                      <m:r>
                                        <a:rPr lang="en-US" sz="1798" i="1" kern="1200" smtClean="0">
                                          <a:latin typeface="Cambria Math" charset="0"/>
                                          <a:ea typeface="Avenir Book" charset="0"/>
                                          <a:cs typeface="Avenir Book" charset="0"/>
                                        </a:rPr>
                                        <m:t>0</m:t>
                                      </m:r>
                                      <m:r>
                                        <a:rPr lang="en-US" sz="1798" i="1" kern="1200">
                                          <a:latin typeface="Cambria Math" charset="0"/>
                                          <a:ea typeface="Avenir Book" charset="0"/>
                                          <a:cs typeface="Avenir Book" charset="0"/>
                                        </a:rPr>
                                        <m:t>)</m:t>
                                      </m:r>
                                    </m:sup>
                                  </m:sSubSup>
                                </m:e>
                              </m:d>
                              <m:r>
                                <a:rPr lang="en-US" sz="1798" i="1" kern="1200">
                                  <a:latin typeface="Cambria Math" charset="0"/>
                                  <a:ea typeface="Avenir Book" charset="0"/>
                                  <a:cs typeface="Avenir Book" charset="0"/>
                                </a:rPr>
                                <m:t>−</m:t>
                              </m:r>
                              <m:sSubSup>
                                <m:sSubSupPr>
                                  <m:ctrlPr>
                                    <a:rPr lang="en-US" sz="1798" i="1" kern="1200">
                                      <a:latin typeface="Cambria Math" panose="02040503050406030204" pitchFamily="18" charset="0"/>
                                      <a:ea typeface="Avenir Book" charset="0"/>
                                      <a:cs typeface="Avenir Book" charset="0"/>
                                    </a:rPr>
                                  </m:ctrlPr>
                                </m:sSubSupPr>
                                <m:e>
                                  <m:r>
                                    <a:rPr lang="en-US" sz="1798" i="1" kern="1200">
                                      <a:latin typeface="Cambria Math" charset="0"/>
                                      <a:ea typeface="Avenir Book" charset="0"/>
                                      <a:cs typeface="Avenir Book" charset="0"/>
                                    </a:rPr>
                                    <m:t>𝑦</m:t>
                                  </m:r>
                                </m:e>
                                <m:sub>
                                  <m:r>
                                    <a:rPr lang="en-US" sz="1798" i="1" kern="1200">
                                      <a:latin typeface="Cambria Math" charset="0"/>
                                      <a:ea typeface="Avenir Book" charset="0"/>
                                      <a:cs typeface="Avenir Book" charset="0"/>
                                    </a:rPr>
                                    <m:t>𝑜𝑏𝑠</m:t>
                                  </m:r>
                                </m:sub>
                                <m:sup>
                                  <m:r>
                                    <a:rPr lang="en-US" sz="1798" i="1" kern="1200">
                                      <a:latin typeface="Cambria Math" charset="0"/>
                                      <a:ea typeface="Avenir Book" charset="0"/>
                                      <a:cs typeface="Avenir Book" charset="0"/>
                                    </a:rPr>
                                    <m:t>(</m:t>
                                  </m:r>
                                  <m:r>
                                    <a:rPr lang="en-US" sz="1798" i="1" kern="1200" smtClean="0">
                                      <a:latin typeface="Cambria Math" charset="0"/>
                                      <a:ea typeface="Avenir Book" charset="0"/>
                                      <a:cs typeface="Avenir Book" charset="0"/>
                                    </a:rPr>
                                    <m:t>0</m:t>
                                  </m:r>
                                  <m:r>
                                    <a:rPr lang="en-US" sz="1798" i="1" kern="1200">
                                      <a:latin typeface="Cambria Math" charset="0"/>
                                      <a:ea typeface="Avenir Book" charset="0"/>
                                      <a:cs typeface="Avenir Book" charset="0"/>
                                    </a:rPr>
                                    <m:t>)</m:t>
                                  </m:r>
                                </m:sup>
                              </m:sSubSup>
                            </m:e>
                          </m:d>
                        </m:e>
                        <m:sup>
                          <m:r>
                            <a:rPr lang="en-US" sz="1798" i="1" kern="1200">
                              <a:latin typeface="Cambria Math" charset="0"/>
                              <a:ea typeface="Avenir Book" charset="0"/>
                              <a:cs typeface="Avenir Book" charset="0"/>
                            </a:rPr>
                            <m:t>2</m:t>
                          </m:r>
                        </m:sup>
                      </m:sSup>
                    </m:oMath>
                  </m:oMathPara>
                </a14:m>
                <a:endParaRPr lang="en-US" sz="1798" kern="1200" dirty="0">
                  <a:latin typeface="Avenir Book" charset="0"/>
                  <a:ea typeface="Avenir Book" charset="0"/>
                  <a:cs typeface="Avenir Book" charset="0"/>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339214" y="3466235"/>
                <a:ext cx="4948418" cy="543867"/>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7031965" y="1814966"/>
                <a:ext cx="422371" cy="36899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solidFill>
                                <a:srgbClr val="FFFFFF"/>
                              </a:solidFill>
                              <a:latin typeface="Cambria Math" panose="02040503050406030204" pitchFamily="18" charset="0"/>
                              <a:ea typeface="Avenir Book" charset="0"/>
                              <a:cs typeface="Avenir Book" charset="0"/>
                            </a:rPr>
                          </m:ctrlPr>
                        </m:sSubPr>
                        <m:e>
                          <m:r>
                            <a:rPr lang="en-US" sz="2398" i="1" kern="1200">
                              <a:solidFill>
                                <a:srgbClr val="FFFFFF"/>
                              </a:solidFill>
                              <a:latin typeface="Cambria Math" charset="0"/>
                              <a:ea typeface="Cambria Math" charset="0"/>
                              <a:cs typeface="Cambria Math" charset="0"/>
                            </a:rPr>
                            <m:t>𝜔</m:t>
                          </m:r>
                        </m:e>
                        <m:sub>
                          <m:r>
                            <a:rPr lang="en-US" sz="2398" i="1" kern="1200">
                              <a:solidFill>
                                <a:srgbClr val="FFFFFF"/>
                              </a:solidFill>
                              <a:latin typeface="Cambria Math" charset="0"/>
                              <a:ea typeface="Avenir Book" charset="0"/>
                              <a:cs typeface="Avenir Book" charset="0"/>
                            </a:rPr>
                            <m:t>0</m:t>
                          </m:r>
                        </m:sub>
                      </m:sSub>
                    </m:oMath>
                  </m:oMathPara>
                </a14:m>
                <a:endParaRPr lang="en-US" sz="2398" kern="1200" dirty="0">
                  <a:solidFill>
                    <a:srgbClr val="FFFFFF"/>
                  </a:solidFill>
                  <a:latin typeface="Avenir Book" charset="0"/>
                  <a:ea typeface="Avenir Book" charset="0"/>
                  <a:cs typeface="Avenir Book" charset="0"/>
                </a:endParaRPr>
              </a:p>
            </p:txBody>
          </p:sp>
        </mc:Choice>
        <mc:Fallback xmlns="">
          <p:sp>
            <p:nvSpPr>
              <p:cNvPr id="34" name="TextBox 33"/>
              <p:cNvSpPr txBox="1">
                <a:spLocks noRot="1" noChangeAspect="1" noMove="1" noResize="1" noEditPoints="1" noAdjustHandles="1" noChangeArrowheads="1" noChangeShapeType="1" noTextEdit="1"/>
              </p:cNvSpPr>
              <p:nvPr/>
            </p:nvSpPr>
            <p:spPr>
              <a:xfrm>
                <a:off x="7031965" y="1814966"/>
                <a:ext cx="422371" cy="368990"/>
              </a:xfrm>
              <a:prstGeom prst="rect">
                <a:avLst/>
              </a:prstGeom>
              <a:blipFill rotWithShape="0">
                <a:blip r:embed="rId9"/>
                <a:stretch>
                  <a:fillRect l="-11594" r="-7246"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6878761" y="2159974"/>
                <a:ext cx="422371" cy="36899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solidFill>
                                <a:srgbClr val="FFFFFF"/>
                              </a:solidFill>
                              <a:latin typeface="Cambria Math" panose="02040503050406030204" pitchFamily="18" charset="0"/>
                              <a:ea typeface="Avenir Book" charset="0"/>
                              <a:cs typeface="Avenir Book" charset="0"/>
                            </a:rPr>
                          </m:ctrlPr>
                        </m:sSubPr>
                        <m:e>
                          <m:r>
                            <a:rPr lang="en-US" sz="2398" i="1" kern="1200">
                              <a:solidFill>
                                <a:srgbClr val="FFFFFF"/>
                              </a:solidFill>
                              <a:latin typeface="Cambria Math" charset="0"/>
                              <a:ea typeface="Cambria Math" charset="0"/>
                              <a:cs typeface="Cambria Math" charset="0"/>
                            </a:rPr>
                            <m:t>𝜔</m:t>
                          </m:r>
                        </m:e>
                        <m:sub>
                          <m:r>
                            <a:rPr lang="en-US" sz="2398" i="1" kern="1200">
                              <a:solidFill>
                                <a:srgbClr val="FFFFFF"/>
                              </a:solidFill>
                              <a:latin typeface="Cambria Math" charset="0"/>
                              <a:ea typeface="Avenir Book" charset="0"/>
                              <a:cs typeface="Avenir Book" charset="0"/>
                            </a:rPr>
                            <m:t>1</m:t>
                          </m:r>
                        </m:sub>
                      </m:sSub>
                    </m:oMath>
                  </m:oMathPara>
                </a14:m>
                <a:endParaRPr lang="en-US" sz="2398" kern="1200" dirty="0">
                  <a:solidFill>
                    <a:srgbClr val="FFFFFF"/>
                  </a:solidFill>
                  <a:latin typeface="Avenir Book" charset="0"/>
                  <a:ea typeface="Avenir Book" charset="0"/>
                  <a:cs typeface="Avenir Book" charset="0"/>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6878761" y="2159974"/>
                <a:ext cx="422371" cy="368990"/>
              </a:xfrm>
              <a:prstGeom prst="rect">
                <a:avLst/>
              </a:prstGeom>
              <a:blipFill rotWithShape="0">
                <a:blip r:embed="rId10"/>
                <a:stretch>
                  <a:fillRect l="-8571" r="-5714" b="-98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484180" y="2183956"/>
                <a:ext cx="4948418" cy="7555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Cambria Math" charset="0"/>
                              <a:cs typeface="Cambria Math" charset="0"/>
                            </a:rPr>
                            <m:t>𝜔</m:t>
                          </m:r>
                        </m:e>
                        <m:sub>
                          <m:r>
                            <a:rPr lang="en-US" sz="1798" i="1" kern="1200">
                              <a:latin typeface="Cambria Math" charset="0"/>
                              <a:ea typeface="Avenir Book" charset="0"/>
                              <a:cs typeface="Avenir Book" charset="0"/>
                            </a:rPr>
                            <m:t>1</m:t>
                          </m:r>
                        </m:sub>
                      </m:sSub>
                      <m:r>
                        <a:rPr lang="en-US" sz="1798" i="1" kern="1200">
                          <a:latin typeface="Cambria Math" charset="0"/>
                          <a:ea typeface="Avenir Book" charset="0"/>
                          <a:cs typeface="Avenir Book" charset="0"/>
                        </a:rPr>
                        <m:t>=</m:t>
                      </m:r>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Cambria Math" charset="0"/>
                              <a:cs typeface="Cambria Math" charset="0"/>
                            </a:rPr>
                            <m:t>𝜔</m:t>
                          </m:r>
                        </m:e>
                        <m:sub>
                          <m:r>
                            <a:rPr lang="en-US" sz="1798" i="1" kern="1200">
                              <a:latin typeface="Cambria Math" charset="0"/>
                              <a:ea typeface="Avenir Book" charset="0"/>
                              <a:cs typeface="Avenir Book" charset="0"/>
                            </a:rPr>
                            <m:t>0</m:t>
                          </m:r>
                        </m:sub>
                      </m:sSub>
                      <m:r>
                        <a:rPr lang="en-US" sz="1798" i="1" kern="1200">
                          <a:latin typeface="Cambria Math" charset="0"/>
                          <a:ea typeface="Avenir Book" charset="0"/>
                          <a:cs typeface="Avenir Book" charset="0"/>
                        </a:rPr>
                        <m:t>−</m:t>
                      </m:r>
                      <m:r>
                        <a:rPr lang="en-US" sz="1798" i="1" kern="1200">
                          <a:latin typeface="Cambria Math" charset="0"/>
                          <a:ea typeface="Cambria Math" charset="0"/>
                          <a:cs typeface="Cambria Math" charset="0"/>
                        </a:rPr>
                        <m:t>𝛼𝛻</m:t>
                      </m:r>
                      <m:f>
                        <m:fPr>
                          <m:ctrlPr>
                            <a:rPr lang="mr-IN" sz="1798" i="1" kern="1200">
                              <a:latin typeface="Cambria Math" panose="02040503050406030204" pitchFamily="18" charset="0"/>
                              <a:ea typeface="Avenir Book" charset="0"/>
                              <a:cs typeface="Avenir Book" charset="0"/>
                            </a:rPr>
                          </m:ctrlPr>
                        </m:fPr>
                        <m:num>
                          <m:r>
                            <a:rPr lang="en-US" sz="1798" i="1" kern="1200">
                              <a:latin typeface="Cambria Math" charset="0"/>
                              <a:ea typeface="Avenir Book" charset="0"/>
                              <a:cs typeface="Avenir Book" charset="0"/>
                            </a:rPr>
                            <m:t>1</m:t>
                          </m:r>
                        </m:num>
                        <m:den>
                          <m:r>
                            <a:rPr lang="en-US" sz="1798" i="1" kern="1200">
                              <a:latin typeface="Cambria Math" charset="0"/>
                              <a:ea typeface="Avenir Book" charset="0"/>
                              <a:cs typeface="Avenir Book" charset="0"/>
                            </a:rPr>
                            <m:t>2</m:t>
                          </m:r>
                        </m:den>
                      </m:f>
                      <m:nary>
                        <m:naryPr>
                          <m:chr m:val="∑"/>
                          <m:ctrlPr>
                            <a:rPr lang="is-IS" sz="1798" i="1" kern="1200">
                              <a:latin typeface="Cambria Math" panose="02040503050406030204" pitchFamily="18" charset="0"/>
                              <a:ea typeface="Avenir Book" charset="0"/>
                              <a:cs typeface="Avenir Book" charset="0"/>
                            </a:rPr>
                          </m:ctrlPr>
                        </m:naryPr>
                        <m:sub>
                          <m:r>
                            <m:rPr>
                              <m:brk m:alnAt="23"/>
                            </m:rPr>
                            <a:rPr lang="en-US" sz="1798" i="1" kern="1200">
                              <a:latin typeface="Cambria Math" charset="0"/>
                              <a:ea typeface="Avenir Book" charset="0"/>
                              <a:cs typeface="Avenir Book" charset="0"/>
                            </a:rPr>
                            <m:t>𝑖</m:t>
                          </m:r>
                          <m:r>
                            <a:rPr lang="en-US" sz="1798" i="1" kern="1200">
                              <a:latin typeface="Cambria Math" charset="0"/>
                              <a:ea typeface="Avenir Book" charset="0"/>
                              <a:cs typeface="Avenir Book" charset="0"/>
                            </a:rPr>
                            <m:t>=1</m:t>
                          </m:r>
                        </m:sub>
                        <m:sup>
                          <m:r>
                            <a:rPr lang="en-US" sz="1798" i="1" kern="1200">
                              <a:latin typeface="Cambria Math" charset="0"/>
                              <a:ea typeface="Avenir Book" charset="0"/>
                              <a:cs typeface="Avenir Book" charset="0"/>
                            </a:rPr>
                            <m:t>𝑚</m:t>
                          </m:r>
                        </m:sup>
                        <m:e>
                          <m:sSup>
                            <m:sSupPr>
                              <m:ctrlPr>
                                <a:rPr lang="mr-IN" sz="1798" i="1" kern="1200">
                                  <a:latin typeface="Cambria Math" panose="02040503050406030204" pitchFamily="18" charset="0"/>
                                  <a:ea typeface="Avenir Book" charset="0"/>
                                  <a:cs typeface="Avenir Book" charset="0"/>
                                </a:rPr>
                              </m:ctrlPr>
                            </m:sSupPr>
                            <m:e>
                              <m:d>
                                <m:dPr>
                                  <m:ctrlPr>
                                    <a:rPr lang="mr-IN" sz="1798" i="1" kern="1200">
                                      <a:latin typeface="Cambria Math" panose="02040503050406030204" pitchFamily="18" charset="0"/>
                                      <a:ea typeface="Avenir Book" charset="0"/>
                                      <a:cs typeface="Avenir Book" charset="0"/>
                                    </a:rPr>
                                  </m:ctrlPr>
                                </m:dPr>
                                <m:e>
                                  <m:d>
                                    <m:dPr>
                                      <m:ctrlPr>
                                        <a:rPr lang="en-US" sz="1798" i="1" kern="1200">
                                          <a:latin typeface="Cambria Math" panose="02040503050406030204" pitchFamily="18" charset="0"/>
                                          <a:ea typeface="Avenir Book" charset="0"/>
                                          <a:cs typeface="Avenir Book" charset="0"/>
                                        </a:rPr>
                                      </m:ctrlPr>
                                    </m:dPr>
                                    <m:e>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Avenir Book" charset="0"/>
                                              <a:cs typeface="Avenir Book" charset="0"/>
                                            </a:rPr>
                                            <m:t>𝛽</m:t>
                                          </m:r>
                                        </m:e>
                                        <m:sub>
                                          <m:r>
                                            <a:rPr lang="en-US" sz="1798" i="1" kern="1200">
                                              <a:latin typeface="Cambria Math" charset="0"/>
                                              <a:ea typeface="Avenir Book" charset="0"/>
                                              <a:cs typeface="Avenir Book" charset="0"/>
                                            </a:rPr>
                                            <m:t>0</m:t>
                                          </m:r>
                                        </m:sub>
                                      </m:sSub>
                                      <m:r>
                                        <m:rPr>
                                          <m:nor/>
                                        </m:rPr>
                                        <a:rPr lang="en-US" sz="1798" kern="1200" dirty="0">
                                          <a:latin typeface="Avenir Book" charset="0"/>
                                          <a:ea typeface="Avenir Book" charset="0"/>
                                          <a:cs typeface="Avenir Book" charset="0"/>
                                        </a:rPr>
                                        <m:t> + </m:t>
                                      </m:r>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Avenir Book" charset="0"/>
                                              <a:cs typeface="Avenir Book" charset="0"/>
                                            </a:rPr>
                                            <m:t>𝛽</m:t>
                                          </m:r>
                                        </m:e>
                                        <m:sub>
                                          <m:r>
                                            <a:rPr lang="en-US" sz="1798" i="1" kern="1200">
                                              <a:latin typeface="Cambria Math" charset="0"/>
                                              <a:ea typeface="Avenir Book" charset="0"/>
                                              <a:cs typeface="Avenir Book" charset="0"/>
                                            </a:rPr>
                                            <m:t>1</m:t>
                                          </m:r>
                                        </m:sub>
                                      </m:sSub>
                                      <m:sSubSup>
                                        <m:sSubSupPr>
                                          <m:ctrlPr>
                                            <a:rPr lang="en-US" sz="1798" i="1" kern="1200">
                                              <a:latin typeface="Cambria Math" panose="02040503050406030204" pitchFamily="18" charset="0"/>
                                              <a:ea typeface="Avenir Book" charset="0"/>
                                              <a:cs typeface="Avenir Book" charset="0"/>
                                            </a:rPr>
                                          </m:ctrlPr>
                                        </m:sSubSupPr>
                                        <m:e>
                                          <m:r>
                                            <a:rPr lang="en-US" sz="1798" i="1" kern="1200">
                                              <a:latin typeface="Cambria Math" charset="0"/>
                                              <a:ea typeface="Avenir Book" charset="0"/>
                                              <a:cs typeface="Avenir Book" charset="0"/>
                                            </a:rPr>
                                            <m:t>𝑥</m:t>
                                          </m:r>
                                        </m:e>
                                        <m:sub>
                                          <m:r>
                                            <a:rPr lang="en-US" sz="1798" i="1" kern="1200">
                                              <a:latin typeface="Cambria Math" charset="0"/>
                                              <a:ea typeface="Avenir Book" charset="0"/>
                                              <a:cs typeface="Avenir Book" charset="0"/>
                                            </a:rPr>
                                            <m:t>𝑜𝑏𝑠</m:t>
                                          </m:r>
                                        </m:sub>
                                        <m:sup>
                                          <m:r>
                                            <a:rPr lang="en-US" sz="1798" i="1" kern="1200">
                                              <a:latin typeface="Cambria Math" charset="0"/>
                                              <a:ea typeface="Avenir Book" charset="0"/>
                                              <a:cs typeface="Avenir Book" charset="0"/>
                                            </a:rPr>
                                            <m:t>(</m:t>
                                          </m:r>
                                          <m:r>
                                            <a:rPr lang="en-US" sz="1798" i="1" kern="1200">
                                              <a:latin typeface="Cambria Math" charset="0"/>
                                              <a:ea typeface="Avenir Book" charset="0"/>
                                              <a:cs typeface="Avenir Book" charset="0"/>
                                            </a:rPr>
                                            <m:t>𝑖</m:t>
                                          </m:r>
                                          <m:r>
                                            <a:rPr lang="en-US" sz="1798" i="1" kern="1200">
                                              <a:latin typeface="Cambria Math" charset="0"/>
                                              <a:ea typeface="Avenir Book" charset="0"/>
                                              <a:cs typeface="Avenir Book" charset="0"/>
                                            </a:rPr>
                                            <m:t>)</m:t>
                                          </m:r>
                                        </m:sup>
                                      </m:sSubSup>
                                    </m:e>
                                  </m:d>
                                  <m:r>
                                    <a:rPr lang="en-US" sz="1798" i="1" kern="1200">
                                      <a:latin typeface="Cambria Math" charset="0"/>
                                      <a:ea typeface="Avenir Book" charset="0"/>
                                      <a:cs typeface="Avenir Book" charset="0"/>
                                    </a:rPr>
                                    <m:t>−</m:t>
                                  </m:r>
                                  <m:sSubSup>
                                    <m:sSubSupPr>
                                      <m:ctrlPr>
                                        <a:rPr lang="en-US" sz="1798" i="1" kern="1200">
                                          <a:latin typeface="Cambria Math" panose="02040503050406030204" pitchFamily="18" charset="0"/>
                                          <a:ea typeface="Avenir Book" charset="0"/>
                                          <a:cs typeface="Avenir Book" charset="0"/>
                                        </a:rPr>
                                      </m:ctrlPr>
                                    </m:sSubSupPr>
                                    <m:e>
                                      <m:r>
                                        <a:rPr lang="en-US" sz="1798" i="1" kern="1200">
                                          <a:latin typeface="Cambria Math" charset="0"/>
                                          <a:ea typeface="Avenir Book" charset="0"/>
                                          <a:cs typeface="Avenir Book" charset="0"/>
                                        </a:rPr>
                                        <m:t>𝑦</m:t>
                                      </m:r>
                                    </m:e>
                                    <m:sub>
                                      <m:r>
                                        <a:rPr lang="en-US" sz="1798" i="1" kern="1200">
                                          <a:latin typeface="Cambria Math" charset="0"/>
                                          <a:ea typeface="Avenir Book" charset="0"/>
                                          <a:cs typeface="Avenir Book" charset="0"/>
                                        </a:rPr>
                                        <m:t>𝑜𝑏𝑠</m:t>
                                      </m:r>
                                    </m:sub>
                                    <m:sup>
                                      <m:r>
                                        <a:rPr lang="en-US" sz="1798" i="1" kern="1200">
                                          <a:latin typeface="Cambria Math" charset="0"/>
                                          <a:ea typeface="Avenir Book" charset="0"/>
                                          <a:cs typeface="Avenir Book" charset="0"/>
                                        </a:rPr>
                                        <m:t>(</m:t>
                                      </m:r>
                                      <m:r>
                                        <a:rPr lang="en-US" sz="1798" i="1" kern="1200">
                                          <a:latin typeface="Cambria Math" charset="0"/>
                                          <a:ea typeface="Avenir Book" charset="0"/>
                                          <a:cs typeface="Avenir Book" charset="0"/>
                                        </a:rPr>
                                        <m:t>𝑖</m:t>
                                      </m:r>
                                      <m:r>
                                        <a:rPr lang="en-US" sz="1798" i="1" kern="1200">
                                          <a:latin typeface="Cambria Math" charset="0"/>
                                          <a:ea typeface="Avenir Book" charset="0"/>
                                          <a:cs typeface="Avenir Book" charset="0"/>
                                        </a:rPr>
                                        <m:t>)</m:t>
                                      </m:r>
                                    </m:sup>
                                  </m:sSubSup>
                                </m:e>
                              </m:d>
                            </m:e>
                            <m:sup>
                              <m:r>
                                <a:rPr lang="en-US" sz="1798" i="1" kern="1200">
                                  <a:latin typeface="Cambria Math" charset="0"/>
                                  <a:ea typeface="Avenir Book" charset="0"/>
                                  <a:cs typeface="Avenir Book" charset="0"/>
                                </a:rPr>
                                <m:t>2</m:t>
                              </m:r>
                            </m:sup>
                          </m:sSup>
                          <m:r>
                            <m:rPr>
                              <m:nor/>
                            </m:rPr>
                            <a:rPr lang="en-US" sz="1798" kern="1200" dirty="0">
                              <a:latin typeface="Avenir Book" charset="0"/>
                              <a:ea typeface="Avenir Book" charset="0"/>
                              <a:cs typeface="Avenir Book" charset="0"/>
                            </a:rPr>
                            <m:t> </m:t>
                          </m:r>
                        </m:e>
                      </m:nary>
                    </m:oMath>
                  </m:oMathPara>
                </a14:m>
                <a:endParaRPr lang="en-US" sz="1798" kern="1200" dirty="0">
                  <a:latin typeface="Avenir Book" charset="0"/>
                  <a:ea typeface="Avenir Book" charset="0"/>
                  <a:cs typeface="Avenir Book" charset="0"/>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484180" y="2183956"/>
                <a:ext cx="4948418" cy="755533"/>
              </a:xfrm>
              <a:prstGeom prst="rect">
                <a:avLst/>
              </a:prstGeom>
              <a:blipFill rotWithShape="0">
                <a:blip r:embed="rId11"/>
                <a:stretch>
                  <a:fillRect/>
                </a:stretch>
              </a:blipFill>
            </p:spPr>
            <p:txBody>
              <a:bodyPr/>
              <a:lstStyle/>
              <a:p>
                <a:r>
                  <a:rPr lang="en-US">
                    <a:noFill/>
                  </a:rPr>
                  <a:t> </a:t>
                </a:r>
              </a:p>
            </p:txBody>
          </p:sp>
        </mc:Fallback>
      </mc:AlternateContent>
      <p:sp>
        <p:nvSpPr>
          <p:cNvPr id="2" name="Cross 1"/>
          <p:cNvSpPr/>
          <p:nvPr/>
        </p:nvSpPr>
        <p:spPr>
          <a:xfrm rot="2700000">
            <a:off x="2248908" y="2362392"/>
            <a:ext cx="437890" cy="437890"/>
          </a:xfrm>
          <a:prstGeom prst="plus">
            <a:avLst>
              <a:gd name="adj" fmla="val 39530"/>
            </a:avLst>
          </a:prstGeom>
          <a:solidFill>
            <a:srgbClr val="C00000">
              <a:alpha val="75000"/>
            </a:srgb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own Arrow 2"/>
          <p:cNvSpPr/>
          <p:nvPr/>
        </p:nvSpPr>
        <p:spPr>
          <a:xfrm>
            <a:off x="2313035" y="3038984"/>
            <a:ext cx="309635" cy="327755"/>
          </a:xfrm>
          <a:prstGeom prst="downArrow">
            <a:avLst/>
          </a:prstGeom>
          <a:solidFill>
            <a:srgbClr val="FFC00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ounded Rectangle 3"/>
          <p:cNvSpPr/>
          <p:nvPr/>
        </p:nvSpPr>
        <p:spPr>
          <a:xfrm>
            <a:off x="694592" y="3466235"/>
            <a:ext cx="4281854" cy="657357"/>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6999608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 name="TextBox 27"/>
              <p:cNvSpPr txBox="1"/>
              <p:nvPr/>
            </p:nvSpPr>
            <p:spPr>
              <a:xfrm>
                <a:off x="393667" y="3155933"/>
                <a:ext cx="4948418" cy="5438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798" i="1" kern="1200" smtClean="0">
                              <a:latin typeface="Cambria Math" panose="02040503050406030204" pitchFamily="18" charset="0"/>
                              <a:ea typeface="Avenir Book" charset="0"/>
                              <a:cs typeface="Avenir Book" charset="0"/>
                            </a:rPr>
                          </m:ctrlPr>
                        </m:sSubPr>
                        <m:e>
                          <m:r>
                            <a:rPr lang="en-US" sz="1798" i="1" kern="1200">
                              <a:latin typeface="Cambria Math" charset="0"/>
                              <a:ea typeface="Cambria Math" charset="0"/>
                              <a:cs typeface="Cambria Math" charset="0"/>
                            </a:rPr>
                            <m:t>𝜔</m:t>
                          </m:r>
                        </m:e>
                        <m:sub>
                          <m:r>
                            <a:rPr lang="en-US" sz="1798" i="1" kern="1200" smtClean="0">
                              <a:latin typeface="Cambria Math" charset="0"/>
                              <a:ea typeface="Avenir Book" charset="0"/>
                              <a:cs typeface="Avenir Book" charset="0"/>
                            </a:rPr>
                            <m:t>4</m:t>
                          </m:r>
                        </m:sub>
                      </m:sSub>
                      <m:r>
                        <a:rPr lang="en-US" sz="1798" i="1" kern="1200">
                          <a:latin typeface="Cambria Math" charset="0"/>
                          <a:ea typeface="Avenir Book" charset="0"/>
                          <a:cs typeface="Avenir Book" charset="0"/>
                        </a:rPr>
                        <m:t>=</m:t>
                      </m:r>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Cambria Math" charset="0"/>
                              <a:cs typeface="Cambria Math" charset="0"/>
                            </a:rPr>
                            <m:t>𝜔</m:t>
                          </m:r>
                        </m:e>
                        <m:sub>
                          <m:r>
                            <a:rPr lang="en-US" sz="1798" i="1" kern="1200" smtClean="0">
                              <a:latin typeface="Cambria Math" charset="0"/>
                              <a:ea typeface="Avenir Book" charset="0"/>
                              <a:cs typeface="Avenir Book" charset="0"/>
                            </a:rPr>
                            <m:t>3</m:t>
                          </m:r>
                        </m:sub>
                      </m:sSub>
                      <m:r>
                        <a:rPr lang="en-US" sz="1798" i="1" kern="1200">
                          <a:latin typeface="Cambria Math" charset="0"/>
                          <a:ea typeface="Avenir Book" charset="0"/>
                          <a:cs typeface="Avenir Book" charset="0"/>
                        </a:rPr>
                        <m:t>−</m:t>
                      </m:r>
                      <m:r>
                        <a:rPr lang="en-US" sz="1798" i="1" kern="1200">
                          <a:latin typeface="Cambria Math" charset="0"/>
                          <a:ea typeface="Cambria Math" charset="0"/>
                          <a:cs typeface="Cambria Math" charset="0"/>
                        </a:rPr>
                        <m:t>𝛼𝛻</m:t>
                      </m:r>
                      <m:f>
                        <m:fPr>
                          <m:ctrlPr>
                            <a:rPr lang="mr-IN" sz="1798" i="1" kern="1200">
                              <a:latin typeface="Cambria Math" panose="02040503050406030204" pitchFamily="18" charset="0"/>
                              <a:ea typeface="Avenir Book" charset="0"/>
                              <a:cs typeface="Avenir Book" charset="0"/>
                            </a:rPr>
                          </m:ctrlPr>
                        </m:fPr>
                        <m:num>
                          <m:r>
                            <a:rPr lang="en-US" sz="1798" i="1" kern="1200">
                              <a:latin typeface="Cambria Math" charset="0"/>
                              <a:ea typeface="Avenir Book" charset="0"/>
                              <a:cs typeface="Avenir Book" charset="0"/>
                            </a:rPr>
                            <m:t>1</m:t>
                          </m:r>
                        </m:num>
                        <m:den>
                          <m:r>
                            <a:rPr lang="en-US" sz="1798" i="1" kern="1200">
                              <a:latin typeface="Cambria Math" charset="0"/>
                              <a:ea typeface="Avenir Book" charset="0"/>
                              <a:cs typeface="Avenir Book" charset="0"/>
                            </a:rPr>
                            <m:t>2</m:t>
                          </m:r>
                        </m:den>
                      </m:f>
                      <m:sSup>
                        <m:sSupPr>
                          <m:ctrlPr>
                            <a:rPr lang="mr-IN" sz="1798" i="1" kern="1200">
                              <a:latin typeface="Cambria Math" panose="02040503050406030204" pitchFamily="18" charset="0"/>
                              <a:ea typeface="Avenir Book" charset="0"/>
                              <a:cs typeface="Avenir Book" charset="0"/>
                            </a:rPr>
                          </m:ctrlPr>
                        </m:sSupPr>
                        <m:e>
                          <m:d>
                            <m:dPr>
                              <m:ctrlPr>
                                <a:rPr lang="mr-IN" sz="1798" i="1" kern="1200">
                                  <a:latin typeface="Cambria Math" panose="02040503050406030204" pitchFamily="18" charset="0"/>
                                  <a:ea typeface="Avenir Book" charset="0"/>
                                  <a:cs typeface="Avenir Book" charset="0"/>
                                </a:rPr>
                              </m:ctrlPr>
                            </m:dPr>
                            <m:e>
                              <m:d>
                                <m:dPr>
                                  <m:ctrlPr>
                                    <a:rPr lang="en-US" sz="1798" i="1" kern="1200">
                                      <a:latin typeface="Cambria Math" panose="02040503050406030204" pitchFamily="18" charset="0"/>
                                      <a:ea typeface="Avenir Book" charset="0"/>
                                      <a:cs typeface="Avenir Book" charset="0"/>
                                    </a:rPr>
                                  </m:ctrlPr>
                                </m:dPr>
                                <m:e>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Avenir Book" charset="0"/>
                                          <a:cs typeface="Avenir Book" charset="0"/>
                                        </a:rPr>
                                        <m:t>𝛽</m:t>
                                      </m:r>
                                    </m:e>
                                    <m:sub>
                                      <m:r>
                                        <a:rPr lang="en-US" sz="1798" i="1" kern="1200">
                                          <a:latin typeface="Cambria Math" charset="0"/>
                                          <a:ea typeface="Avenir Book" charset="0"/>
                                          <a:cs typeface="Avenir Book" charset="0"/>
                                        </a:rPr>
                                        <m:t>0</m:t>
                                      </m:r>
                                    </m:sub>
                                  </m:sSub>
                                  <m:r>
                                    <m:rPr>
                                      <m:nor/>
                                    </m:rPr>
                                    <a:rPr lang="en-US" sz="1798" kern="1200" dirty="0">
                                      <a:latin typeface="Avenir Book" charset="0"/>
                                      <a:ea typeface="Avenir Book" charset="0"/>
                                      <a:cs typeface="Avenir Book" charset="0"/>
                                    </a:rPr>
                                    <m:t> + </m:t>
                                  </m:r>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Avenir Book" charset="0"/>
                                          <a:cs typeface="Avenir Book" charset="0"/>
                                        </a:rPr>
                                        <m:t>𝛽</m:t>
                                      </m:r>
                                    </m:e>
                                    <m:sub>
                                      <m:r>
                                        <a:rPr lang="en-US" sz="1798" i="1" kern="1200">
                                          <a:latin typeface="Cambria Math" charset="0"/>
                                          <a:ea typeface="Avenir Book" charset="0"/>
                                          <a:cs typeface="Avenir Book" charset="0"/>
                                        </a:rPr>
                                        <m:t>1</m:t>
                                      </m:r>
                                    </m:sub>
                                  </m:sSub>
                                  <m:sSubSup>
                                    <m:sSubSupPr>
                                      <m:ctrlPr>
                                        <a:rPr lang="en-US" sz="1798" i="1" kern="1200">
                                          <a:latin typeface="Cambria Math" panose="02040503050406030204" pitchFamily="18" charset="0"/>
                                          <a:ea typeface="Avenir Book" charset="0"/>
                                          <a:cs typeface="Avenir Book" charset="0"/>
                                        </a:rPr>
                                      </m:ctrlPr>
                                    </m:sSubSupPr>
                                    <m:e>
                                      <m:r>
                                        <a:rPr lang="en-US" sz="1798" i="1" kern="1200">
                                          <a:latin typeface="Cambria Math" charset="0"/>
                                          <a:ea typeface="Avenir Book" charset="0"/>
                                          <a:cs typeface="Avenir Book" charset="0"/>
                                        </a:rPr>
                                        <m:t>𝑥</m:t>
                                      </m:r>
                                    </m:e>
                                    <m:sub>
                                      <m:r>
                                        <a:rPr lang="en-US" sz="1798" i="1" kern="1200">
                                          <a:latin typeface="Cambria Math" charset="0"/>
                                          <a:ea typeface="Avenir Book" charset="0"/>
                                          <a:cs typeface="Avenir Book" charset="0"/>
                                        </a:rPr>
                                        <m:t>𝑜𝑏𝑠</m:t>
                                      </m:r>
                                    </m:sub>
                                    <m:sup>
                                      <m:r>
                                        <a:rPr lang="en-US" sz="1798" i="1" kern="1200">
                                          <a:latin typeface="Cambria Math" charset="0"/>
                                          <a:ea typeface="Avenir Book" charset="0"/>
                                          <a:cs typeface="Avenir Book" charset="0"/>
                                        </a:rPr>
                                        <m:t>(</m:t>
                                      </m:r>
                                      <m:r>
                                        <a:rPr lang="en-US" sz="1798" i="1" kern="1200" smtClean="0">
                                          <a:latin typeface="Cambria Math" charset="0"/>
                                          <a:ea typeface="Avenir Book" charset="0"/>
                                          <a:cs typeface="Avenir Book" charset="0"/>
                                        </a:rPr>
                                        <m:t>3</m:t>
                                      </m:r>
                                      <m:r>
                                        <a:rPr lang="en-US" sz="1798" i="1" kern="1200">
                                          <a:latin typeface="Cambria Math" charset="0"/>
                                          <a:ea typeface="Avenir Book" charset="0"/>
                                          <a:cs typeface="Avenir Book" charset="0"/>
                                        </a:rPr>
                                        <m:t>)</m:t>
                                      </m:r>
                                    </m:sup>
                                  </m:sSubSup>
                                </m:e>
                              </m:d>
                              <m:r>
                                <a:rPr lang="en-US" sz="1798" i="1" kern="1200">
                                  <a:latin typeface="Cambria Math" charset="0"/>
                                  <a:ea typeface="Avenir Book" charset="0"/>
                                  <a:cs typeface="Avenir Book" charset="0"/>
                                </a:rPr>
                                <m:t>−</m:t>
                              </m:r>
                              <m:sSubSup>
                                <m:sSubSupPr>
                                  <m:ctrlPr>
                                    <a:rPr lang="en-US" sz="1798" i="1" kern="1200">
                                      <a:latin typeface="Cambria Math" panose="02040503050406030204" pitchFamily="18" charset="0"/>
                                      <a:ea typeface="Avenir Book" charset="0"/>
                                      <a:cs typeface="Avenir Book" charset="0"/>
                                    </a:rPr>
                                  </m:ctrlPr>
                                </m:sSubSupPr>
                                <m:e>
                                  <m:r>
                                    <a:rPr lang="en-US" sz="1798" i="1" kern="1200">
                                      <a:latin typeface="Cambria Math" charset="0"/>
                                      <a:ea typeface="Avenir Book" charset="0"/>
                                      <a:cs typeface="Avenir Book" charset="0"/>
                                    </a:rPr>
                                    <m:t>𝑦</m:t>
                                  </m:r>
                                </m:e>
                                <m:sub>
                                  <m:r>
                                    <a:rPr lang="en-US" sz="1798" i="1" kern="1200">
                                      <a:latin typeface="Cambria Math" charset="0"/>
                                      <a:ea typeface="Avenir Book" charset="0"/>
                                      <a:cs typeface="Avenir Book" charset="0"/>
                                    </a:rPr>
                                    <m:t>𝑜𝑏𝑠</m:t>
                                  </m:r>
                                </m:sub>
                                <m:sup>
                                  <m:r>
                                    <a:rPr lang="en-US" sz="1798" i="1" kern="1200">
                                      <a:latin typeface="Cambria Math" charset="0"/>
                                      <a:ea typeface="Avenir Book" charset="0"/>
                                      <a:cs typeface="Avenir Book" charset="0"/>
                                    </a:rPr>
                                    <m:t>(</m:t>
                                  </m:r>
                                  <m:r>
                                    <a:rPr lang="en-US" sz="1798" i="1" kern="1200" smtClean="0">
                                      <a:latin typeface="Cambria Math" charset="0"/>
                                      <a:ea typeface="Avenir Book" charset="0"/>
                                      <a:cs typeface="Avenir Book" charset="0"/>
                                    </a:rPr>
                                    <m:t>3</m:t>
                                  </m:r>
                                  <m:r>
                                    <a:rPr lang="en-US" sz="1798" i="1" kern="1200">
                                      <a:latin typeface="Cambria Math" charset="0"/>
                                      <a:ea typeface="Avenir Book" charset="0"/>
                                      <a:cs typeface="Avenir Book" charset="0"/>
                                    </a:rPr>
                                    <m:t>)</m:t>
                                  </m:r>
                                </m:sup>
                              </m:sSubSup>
                            </m:e>
                          </m:d>
                        </m:e>
                        <m:sup>
                          <m:r>
                            <a:rPr lang="en-US" sz="1798" i="1" kern="1200">
                              <a:latin typeface="Cambria Math" charset="0"/>
                              <a:ea typeface="Avenir Book" charset="0"/>
                              <a:cs typeface="Avenir Book" charset="0"/>
                            </a:rPr>
                            <m:t>2</m:t>
                          </m:r>
                        </m:sup>
                      </m:sSup>
                    </m:oMath>
                  </m:oMathPara>
                </a14:m>
                <a:endParaRPr lang="en-US" sz="1798" kern="1200" dirty="0">
                  <a:latin typeface="Avenir Book" charset="0"/>
                  <a:ea typeface="Avenir Book" charset="0"/>
                  <a:cs typeface="Avenir Book" charset="0"/>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393667" y="3155933"/>
                <a:ext cx="4948418" cy="543867"/>
              </a:xfrm>
              <a:prstGeom prst="rect">
                <a:avLst/>
              </a:prstGeom>
              <a:blipFill rotWithShape="0">
                <a:blip r:embed="rId3"/>
                <a:stretch>
                  <a:fillRect/>
                </a:stretch>
              </a:blipFill>
            </p:spPr>
            <p:txBody>
              <a:bodyPr/>
              <a:lstStyle/>
              <a:p>
                <a:r>
                  <a:rPr lang="en-US">
                    <a:noFill/>
                  </a:rPr>
                  <a:t> </a:t>
                </a:r>
              </a:p>
            </p:txBody>
          </p:sp>
        </mc:Fallback>
      </mc:AlternateContent>
      <p:pic>
        <p:nvPicPr>
          <p:cNvPr id="21" name="Picture 20"/>
          <p:cNvPicPr>
            <a:picLocks noChangeAspect="1"/>
          </p:cNvPicPr>
          <p:nvPr/>
        </p:nvPicPr>
        <p:blipFill rotWithShape="1">
          <a:blip r:embed="rId4" cstate="print"/>
          <a:srcRect l="4481" t="7254" r="7208" b="4857"/>
          <a:stretch/>
        </p:blipFill>
        <p:spPr>
          <a:xfrm>
            <a:off x="5833063" y="1258221"/>
            <a:ext cx="3324834" cy="2479948"/>
          </a:xfrm>
          <a:prstGeom prst="rect">
            <a:avLst/>
          </a:prstGeom>
        </p:spPr>
      </p:pic>
      <mc:AlternateContent xmlns:mc="http://schemas.openxmlformats.org/markup-compatibility/2006" xmlns:a14="http://schemas.microsoft.com/office/drawing/2010/main">
        <mc:Choice Requires="a14">
          <p:sp>
            <p:nvSpPr>
              <p:cNvPr id="29" name="TextBox 28"/>
              <p:cNvSpPr txBox="1"/>
              <p:nvPr/>
            </p:nvSpPr>
            <p:spPr>
              <a:xfrm>
                <a:off x="6089490" y="988756"/>
                <a:ext cx="1274625"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398" i="1" kern="1200">
                          <a:latin typeface="Cambria Math" charset="0"/>
                          <a:ea typeface="Avenir Book" charset="0"/>
                          <a:cs typeface="Avenir Book" charset="0"/>
                        </a:rPr>
                        <m:t>𝐽</m:t>
                      </m:r>
                      <m:d>
                        <m:dPr>
                          <m:ctrlPr>
                            <a:rPr lang="en-US" sz="2398" i="1" kern="1200">
                              <a:latin typeface="Cambria Math" panose="02040503050406030204" pitchFamily="18" charset="0"/>
                              <a:ea typeface="Avenir Book" charset="0"/>
                              <a:cs typeface="Avenir Book" charset="0"/>
                            </a:rPr>
                          </m:ctrlPr>
                        </m:dPr>
                        <m:e>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0</m:t>
                              </m:r>
                            </m:sub>
                          </m:sSub>
                          <m:r>
                            <a:rPr lang="en-US" sz="2398" i="1" kern="1200">
                              <a:latin typeface="Cambria Math" charset="0"/>
                              <a:ea typeface="Avenir Book" charset="0"/>
                              <a:cs typeface="Avenir Book" charset="0"/>
                            </a:rPr>
                            <m:t>,</m:t>
                          </m:r>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1</m:t>
                              </m:r>
                            </m:sub>
                          </m:sSub>
                        </m:e>
                      </m:d>
                    </m:oMath>
                  </m:oMathPara>
                </a14:m>
                <a:endParaRPr lang="en-US" sz="2398" kern="1200" dirty="0">
                  <a:latin typeface="Avenir Book" charset="0"/>
                  <a:ea typeface="Avenir Book" charset="0"/>
                  <a:cs typeface="Avenir Book" charset="0"/>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6090895" y="989671"/>
                <a:ext cx="1275805" cy="369332"/>
              </a:xfrm>
              <a:prstGeom prst="rect">
                <a:avLst/>
              </a:prstGeom>
              <a:blipFill rotWithShape="0">
                <a:blip r:embed="rId5"/>
                <a:stretch>
                  <a:fillRect l="-3349" t="-1639" b="-278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6129008" y="3226594"/>
                <a:ext cx="414757"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1</m:t>
                          </m:r>
                        </m:sub>
                      </m:sSub>
                    </m:oMath>
                  </m:oMathPara>
                </a14:m>
                <a:endParaRPr lang="en-US" sz="2398" kern="1200" dirty="0">
                  <a:latin typeface="Avenir Book" charset="0"/>
                  <a:ea typeface="Avenir Book" charset="0"/>
                  <a:cs typeface="Avenir Book" charset="0"/>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6130449" y="3229581"/>
                <a:ext cx="415141" cy="369332"/>
              </a:xfrm>
              <a:prstGeom prst="rect">
                <a:avLst/>
              </a:prstGeom>
              <a:blipFill rotWithShape="0">
                <a:blip r:embed="rId6"/>
                <a:stretch>
                  <a:fillRect l="-20588" t="-3333" b="-3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8298387" y="3378686"/>
                <a:ext cx="422371"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0</m:t>
                          </m:r>
                        </m:sub>
                      </m:sSub>
                    </m:oMath>
                  </m:oMathPara>
                </a14:m>
                <a:endParaRPr lang="en-US" sz="2398" kern="1200" dirty="0">
                  <a:latin typeface="Avenir Book" charset="0"/>
                  <a:ea typeface="Avenir Book" charset="0"/>
                  <a:cs typeface="Avenir Book" charset="0"/>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8301837" y="3381814"/>
                <a:ext cx="422762" cy="369332"/>
              </a:xfrm>
              <a:prstGeom prst="rect">
                <a:avLst/>
              </a:prstGeom>
              <a:blipFill rotWithShape="0">
                <a:blip r:embed="rId7"/>
                <a:stretch>
                  <a:fillRect l="-18841" t="-3333" r="-1449" b="-30000"/>
                </a:stretch>
              </a:blipFill>
            </p:spPr>
            <p:txBody>
              <a:bodyPr/>
              <a:lstStyle/>
              <a:p>
                <a:r>
                  <a:rPr lang="en-US">
                    <a:noFill/>
                  </a:rPr>
                  <a:t> </a:t>
                </a:r>
              </a:p>
            </p:txBody>
          </p:sp>
        </mc:Fallback>
      </mc:AlternateContent>
      <p:sp>
        <p:nvSpPr>
          <p:cNvPr id="32" name="object 2"/>
          <p:cNvSpPr txBox="1"/>
          <p:nvPr/>
        </p:nvSpPr>
        <p:spPr>
          <a:xfrm>
            <a:off x="305235" y="268944"/>
            <a:ext cx="8430023" cy="461238"/>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sz="2997" kern="1200" dirty="0" smtClean="0">
                <a:solidFill>
                  <a:srgbClr val="212121"/>
                </a:solidFill>
                <a:latin typeface="Avenir Book" charset="0"/>
                <a:ea typeface="Avenir Book" charset="0"/>
                <a:cs typeface="Avenir Book" charset="0"/>
              </a:rPr>
              <a:t>Stochastic Gradient Descent</a:t>
            </a:r>
            <a:endParaRPr lang="en-US" sz="2997" kern="1200" dirty="0">
              <a:solidFill>
                <a:srgbClr val="212121"/>
              </a:solidFill>
              <a:latin typeface="Avenir Book" charset="0"/>
              <a:ea typeface="Avenir Book" charset="0"/>
              <a:cs typeface="Avenir Book" charset="0"/>
            </a:endParaRPr>
          </a:p>
        </p:txBody>
      </p:sp>
      <p:sp>
        <p:nvSpPr>
          <p:cNvPr id="5" name="Multiply 4"/>
          <p:cNvSpPr/>
          <p:nvPr/>
        </p:nvSpPr>
        <p:spPr>
          <a:xfrm>
            <a:off x="7364115" y="1836227"/>
            <a:ext cx="312131" cy="283706"/>
          </a:xfrm>
          <a:prstGeom prst="mathMultiply">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350" kern="1200" dirty="0">
              <a:solidFill>
                <a:srgbClr val="000000"/>
              </a:solidFill>
            </a:endParaRPr>
          </a:p>
        </p:txBody>
      </p:sp>
      <p:cxnSp>
        <p:nvCxnSpPr>
          <p:cNvPr id="17" name="Straight Arrow Connector 16"/>
          <p:cNvCxnSpPr/>
          <p:nvPr/>
        </p:nvCxnSpPr>
        <p:spPr>
          <a:xfrm flipH="1">
            <a:off x="7407265" y="2090916"/>
            <a:ext cx="85725" cy="228600"/>
          </a:xfrm>
          <a:prstGeom prst="straightConnector1">
            <a:avLst/>
          </a:prstGeom>
          <a:ln w="38100">
            <a:solidFill>
              <a:srgbClr val="FF000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7031965" y="1814966"/>
                <a:ext cx="422371" cy="36899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solidFill>
                                <a:srgbClr val="FFFFFF"/>
                              </a:solidFill>
                              <a:latin typeface="Cambria Math" panose="02040503050406030204" pitchFamily="18" charset="0"/>
                              <a:ea typeface="Avenir Book" charset="0"/>
                              <a:cs typeface="Avenir Book" charset="0"/>
                            </a:rPr>
                          </m:ctrlPr>
                        </m:sSubPr>
                        <m:e>
                          <m:r>
                            <a:rPr lang="en-US" sz="2398" i="1" kern="1200">
                              <a:solidFill>
                                <a:srgbClr val="FFFFFF"/>
                              </a:solidFill>
                              <a:latin typeface="Cambria Math" charset="0"/>
                              <a:ea typeface="Cambria Math" charset="0"/>
                              <a:cs typeface="Cambria Math" charset="0"/>
                            </a:rPr>
                            <m:t>𝜔</m:t>
                          </m:r>
                        </m:e>
                        <m:sub>
                          <m:r>
                            <a:rPr lang="en-US" sz="2398" i="1" kern="1200">
                              <a:solidFill>
                                <a:srgbClr val="FFFFFF"/>
                              </a:solidFill>
                              <a:latin typeface="Cambria Math" charset="0"/>
                              <a:ea typeface="Avenir Book" charset="0"/>
                              <a:cs typeface="Avenir Book" charset="0"/>
                            </a:rPr>
                            <m:t>0</m:t>
                          </m:r>
                        </m:sub>
                      </m:sSub>
                    </m:oMath>
                  </m:oMathPara>
                </a14:m>
                <a:endParaRPr lang="en-US" sz="2398" kern="1200" dirty="0">
                  <a:solidFill>
                    <a:srgbClr val="FFFFFF"/>
                  </a:solidFill>
                  <a:latin typeface="Avenir Book" charset="0"/>
                  <a:ea typeface="Avenir Book" charset="0"/>
                  <a:cs typeface="Avenir Book" charset="0"/>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7031965" y="1814966"/>
                <a:ext cx="422371" cy="368990"/>
              </a:xfrm>
              <a:prstGeom prst="rect">
                <a:avLst/>
              </a:prstGeom>
              <a:blipFill rotWithShape="0">
                <a:blip r:embed="rId8"/>
                <a:stretch>
                  <a:fillRect l="-11594" r="-7246"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6878761" y="2159974"/>
                <a:ext cx="422371" cy="36899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solidFill>
                                <a:srgbClr val="FFFFFF"/>
                              </a:solidFill>
                              <a:latin typeface="Cambria Math" panose="02040503050406030204" pitchFamily="18" charset="0"/>
                              <a:ea typeface="Avenir Book" charset="0"/>
                              <a:cs typeface="Avenir Book" charset="0"/>
                            </a:rPr>
                          </m:ctrlPr>
                        </m:sSubPr>
                        <m:e>
                          <m:r>
                            <a:rPr lang="en-US" sz="2398" i="1" kern="1200">
                              <a:solidFill>
                                <a:srgbClr val="FFFFFF"/>
                              </a:solidFill>
                              <a:latin typeface="Cambria Math" charset="0"/>
                              <a:ea typeface="Cambria Math" charset="0"/>
                              <a:cs typeface="Cambria Math" charset="0"/>
                            </a:rPr>
                            <m:t>𝜔</m:t>
                          </m:r>
                        </m:e>
                        <m:sub>
                          <m:r>
                            <a:rPr lang="en-US" sz="2398" i="1" kern="1200">
                              <a:solidFill>
                                <a:srgbClr val="FFFFFF"/>
                              </a:solidFill>
                              <a:latin typeface="Cambria Math" charset="0"/>
                              <a:ea typeface="Avenir Book" charset="0"/>
                              <a:cs typeface="Avenir Book" charset="0"/>
                            </a:rPr>
                            <m:t>1</m:t>
                          </m:r>
                        </m:sub>
                      </m:sSub>
                    </m:oMath>
                  </m:oMathPara>
                </a14:m>
                <a:endParaRPr lang="en-US" sz="2398" kern="1200" dirty="0">
                  <a:solidFill>
                    <a:srgbClr val="FFFFFF"/>
                  </a:solidFill>
                  <a:latin typeface="Avenir Book" charset="0"/>
                  <a:ea typeface="Avenir Book" charset="0"/>
                  <a:cs typeface="Avenir Book" charset="0"/>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6878761" y="2159974"/>
                <a:ext cx="422371" cy="368990"/>
              </a:xfrm>
              <a:prstGeom prst="rect">
                <a:avLst/>
              </a:prstGeom>
              <a:blipFill rotWithShape="0">
                <a:blip r:embed="rId9"/>
                <a:stretch>
                  <a:fillRect l="-8571" r="-5714" b="-9836"/>
                </a:stretch>
              </a:blipFill>
            </p:spPr>
            <p:txBody>
              <a:bodyPr/>
              <a:lstStyle/>
              <a:p>
                <a:r>
                  <a:rPr lang="en-US">
                    <a:noFill/>
                  </a:rPr>
                  <a:t> </a:t>
                </a:r>
              </a:p>
            </p:txBody>
          </p:sp>
        </mc:Fallback>
      </mc:AlternateContent>
      <p:sp>
        <p:nvSpPr>
          <p:cNvPr id="20" name="Multiply 19"/>
          <p:cNvSpPr/>
          <p:nvPr/>
        </p:nvSpPr>
        <p:spPr>
          <a:xfrm>
            <a:off x="7246399" y="2271702"/>
            <a:ext cx="312131" cy="283706"/>
          </a:xfrm>
          <a:prstGeom prst="mathMultiply">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350" kern="1200" dirty="0">
              <a:solidFill>
                <a:srgbClr val="000000"/>
              </a:solidFill>
            </a:endParaRPr>
          </a:p>
        </p:txBody>
      </p:sp>
      <p:cxnSp>
        <p:nvCxnSpPr>
          <p:cNvPr id="14" name="Straight Arrow Connector 13"/>
          <p:cNvCxnSpPr/>
          <p:nvPr/>
        </p:nvCxnSpPr>
        <p:spPr>
          <a:xfrm flipH="1">
            <a:off x="7278390" y="2528965"/>
            <a:ext cx="85725" cy="228600"/>
          </a:xfrm>
          <a:prstGeom prst="straightConnector1">
            <a:avLst/>
          </a:prstGeom>
          <a:ln w="38100">
            <a:solidFill>
              <a:srgbClr val="FF000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6" name="Multiply 15"/>
          <p:cNvSpPr/>
          <p:nvPr/>
        </p:nvSpPr>
        <p:spPr>
          <a:xfrm>
            <a:off x="7122325" y="2705704"/>
            <a:ext cx="312131" cy="283706"/>
          </a:xfrm>
          <a:prstGeom prst="mathMultiply">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350" kern="1200" dirty="0">
              <a:solidFill>
                <a:srgbClr val="000000"/>
              </a:solidFill>
            </a:endParaRPr>
          </a:p>
        </p:txBody>
      </p:sp>
      <mc:AlternateContent xmlns:mc="http://schemas.openxmlformats.org/markup-compatibility/2006" xmlns:a14="http://schemas.microsoft.com/office/drawing/2010/main">
        <mc:Choice Requires="a14">
          <p:sp>
            <p:nvSpPr>
              <p:cNvPr id="22" name="TextBox 21"/>
              <p:cNvSpPr txBox="1"/>
              <p:nvPr/>
            </p:nvSpPr>
            <p:spPr>
              <a:xfrm>
                <a:off x="6719305" y="2528965"/>
                <a:ext cx="422371" cy="36899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solidFill>
                                <a:srgbClr val="FFFFFF"/>
                              </a:solidFill>
                              <a:latin typeface="Cambria Math" panose="02040503050406030204" pitchFamily="18" charset="0"/>
                              <a:ea typeface="Avenir Book" charset="0"/>
                              <a:cs typeface="Avenir Book" charset="0"/>
                            </a:rPr>
                          </m:ctrlPr>
                        </m:sSubPr>
                        <m:e>
                          <m:r>
                            <a:rPr lang="en-US" sz="2398" i="1" kern="1200">
                              <a:solidFill>
                                <a:srgbClr val="FFFFFF"/>
                              </a:solidFill>
                              <a:latin typeface="Cambria Math" charset="0"/>
                              <a:ea typeface="Cambria Math" charset="0"/>
                              <a:cs typeface="Cambria Math" charset="0"/>
                            </a:rPr>
                            <m:t>𝜔</m:t>
                          </m:r>
                        </m:e>
                        <m:sub>
                          <m:r>
                            <a:rPr lang="en-US" sz="2398" i="1" kern="1200">
                              <a:solidFill>
                                <a:srgbClr val="FFFFFF"/>
                              </a:solidFill>
                              <a:latin typeface="Cambria Math" charset="0"/>
                              <a:ea typeface="Avenir Book" charset="0"/>
                              <a:cs typeface="Avenir Book" charset="0"/>
                            </a:rPr>
                            <m:t>2</m:t>
                          </m:r>
                        </m:sub>
                      </m:sSub>
                    </m:oMath>
                  </m:oMathPara>
                </a14:m>
                <a:endParaRPr lang="en-US" sz="2398" kern="1200" dirty="0">
                  <a:solidFill>
                    <a:srgbClr val="FFFFFF"/>
                  </a:solidFill>
                  <a:latin typeface="Avenir Book" charset="0"/>
                  <a:ea typeface="Avenir Book" charset="0"/>
                  <a:cs typeface="Avenir Book" charset="0"/>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6719305" y="2528965"/>
                <a:ext cx="422371" cy="368990"/>
              </a:xfrm>
              <a:prstGeom prst="rect">
                <a:avLst/>
              </a:prstGeom>
              <a:blipFill rotWithShape="0">
                <a:blip r:embed="rId10"/>
                <a:stretch>
                  <a:fillRect l="-10000" r="-5714" b="-11667"/>
                </a:stretch>
              </a:blipFill>
            </p:spPr>
            <p:txBody>
              <a:bodyPr/>
              <a:lstStyle/>
              <a:p>
                <a:r>
                  <a:rPr lang="en-US">
                    <a:noFill/>
                  </a:rPr>
                  <a:t> </a:t>
                </a:r>
              </a:p>
            </p:txBody>
          </p:sp>
        </mc:Fallback>
      </mc:AlternateContent>
      <p:sp>
        <p:nvSpPr>
          <p:cNvPr id="24" name="Multiply 23"/>
          <p:cNvSpPr/>
          <p:nvPr/>
        </p:nvSpPr>
        <p:spPr>
          <a:xfrm>
            <a:off x="7466281" y="2849270"/>
            <a:ext cx="312131" cy="283706"/>
          </a:xfrm>
          <a:prstGeom prst="mathMultiply">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350" kern="1200" dirty="0">
              <a:solidFill>
                <a:srgbClr val="000000"/>
              </a:solidFill>
            </a:endParaRPr>
          </a:p>
        </p:txBody>
      </p:sp>
      <mc:AlternateContent xmlns:mc="http://schemas.openxmlformats.org/markup-compatibility/2006" xmlns:a14="http://schemas.microsoft.com/office/drawing/2010/main">
        <mc:Choice Requires="a14">
          <p:sp>
            <p:nvSpPr>
              <p:cNvPr id="25" name="TextBox 24"/>
              <p:cNvSpPr txBox="1"/>
              <p:nvPr/>
            </p:nvSpPr>
            <p:spPr>
              <a:xfrm>
                <a:off x="7489731" y="2544927"/>
                <a:ext cx="422371" cy="36899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solidFill>
                                <a:srgbClr val="FFFFFF"/>
                              </a:solidFill>
                              <a:latin typeface="Cambria Math" panose="02040503050406030204" pitchFamily="18" charset="0"/>
                              <a:ea typeface="Avenir Book" charset="0"/>
                              <a:cs typeface="Avenir Book" charset="0"/>
                            </a:rPr>
                          </m:ctrlPr>
                        </m:sSubPr>
                        <m:e>
                          <m:r>
                            <a:rPr lang="en-US" sz="2398" i="1" kern="1200">
                              <a:solidFill>
                                <a:srgbClr val="FFFFFF"/>
                              </a:solidFill>
                              <a:latin typeface="Cambria Math" charset="0"/>
                              <a:ea typeface="Cambria Math" charset="0"/>
                              <a:cs typeface="Cambria Math" charset="0"/>
                            </a:rPr>
                            <m:t>𝜔</m:t>
                          </m:r>
                        </m:e>
                        <m:sub>
                          <m:r>
                            <a:rPr lang="en-US" sz="2398" i="1" kern="1200">
                              <a:solidFill>
                                <a:srgbClr val="FFFFFF"/>
                              </a:solidFill>
                              <a:latin typeface="Cambria Math" charset="0"/>
                              <a:ea typeface="Avenir Book" charset="0"/>
                              <a:cs typeface="Avenir Book" charset="0"/>
                            </a:rPr>
                            <m:t>3</m:t>
                          </m:r>
                        </m:sub>
                      </m:sSub>
                    </m:oMath>
                  </m:oMathPara>
                </a14:m>
                <a:endParaRPr lang="en-US" sz="2398" kern="1200" dirty="0">
                  <a:solidFill>
                    <a:srgbClr val="FFFFFF"/>
                  </a:solidFill>
                  <a:latin typeface="Avenir Book" charset="0"/>
                  <a:ea typeface="Avenir Book" charset="0"/>
                  <a:cs typeface="Avenir Book" charset="0"/>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7489731" y="2544927"/>
                <a:ext cx="422371" cy="368990"/>
              </a:xfrm>
              <a:prstGeom prst="rect">
                <a:avLst/>
              </a:prstGeom>
              <a:blipFill rotWithShape="0">
                <a:blip r:embed="rId11"/>
                <a:stretch>
                  <a:fillRect l="-11594" r="-7246" b="-13115"/>
                </a:stretch>
              </a:blipFill>
            </p:spPr>
            <p:txBody>
              <a:bodyPr/>
              <a:lstStyle/>
              <a:p>
                <a:r>
                  <a:rPr lang="en-US">
                    <a:noFill/>
                  </a:rPr>
                  <a:t> </a:t>
                </a:r>
              </a:p>
            </p:txBody>
          </p:sp>
        </mc:Fallback>
      </mc:AlternateContent>
      <p:cxnSp>
        <p:nvCxnSpPr>
          <p:cNvPr id="26" name="Straight Arrow Connector 25"/>
          <p:cNvCxnSpPr/>
          <p:nvPr/>
        </p:nvCxnSpPr>
        <p:spPr>
          <a:xfrm>
            <a:off x="7286793" y="2969148"/>
            <a:ext cx="228241" cy="20261"/>
          </a:xfrm>
          <a:prstGeom prst="straightConnector1">
            <a:avLst/>
          </a:prstGeom>
          <a:ln w="38100">
            <a:solidFill>
              <a:srgbClr val="FF000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3" name="Multiply 22"/>
          <p:cNvSpPr/>
          <p:nvPr/>
        </p:nvSpPr>
        <p:spPr>
          <a:xfrm>
            <a:off x="7920741" y="2893438"/>
            <a:ext cx="312131" cy="283706"/>
          </a:xfrm>
          <a:prstGeom prst="mathMultiply">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350" kern="1200" dirty="0">
              <a:solidFill>
                <a:srgbClr val="000000"/>
              </a:solidFill>
            </a:endParaRPr>
          </a:p>
        </p:txBody>
      </p:sp>
      <p:cxnSp>
        <p:nvCxnSpPr>
          <p:cNvPr id="33" name="Straight Arrow Connector 32"/>
          <p:cNvCxnSpPr/>
          <p:nvPr/>
        </p:nvCxnSpPr>
        <p:spPr>
          <a:xfrm>
            <a:off x="7741253" y="3013316"/>
            <a:ext cx="228241" cy="20261"/>
          </a:xfrm>
          <a:prstGeom prst="straightConnector1">
            <a:avLst/>
          </a:prstGeom>
          <a:ln w="38100">
            <a:solidFill>
              <a:srgbClr val="FF000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p:cNvSpPr txBox="1"/>
              <p:nvPr/>
            </p:nvSpPr>
            <p:spPr>
              <a:xfrm>
                <a:off x="7913013" y="2544927"/>
                <a:ext cx="422371" cy="36899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smtClean="0">
                              <a:solidFill>
                                <a:srgbClr val="FFFFFF"/>
                              </a:solidFill>
                              <a:latin typeface="Cambria Math" panose="02040503050406030204" pitchFamily="18" charset="0"/>
                              <a:ea typeface="Avenir Book" charset="0"/>
                              <a:cs typeface="Avenir Book" charset="0"/>
                            </a:rPr>
                          </m:ctrlPr>
                        </m:sSubPr>
                        <m:e>
                          <m:r>
                            <a:rPr lang="en-US" sz="2398" i="1" kern="1200">
                              <a:solidFill>
                                <a:srgbClr val="FFFFFF"/>
                              </a:solidFill>
                              <a:latin typeface="Cambria Math" charset="0"/>
                              <a:ea typeface="Cambria Math" charset="0"/>
                              <a:cs typeface="Cambria Math" charset="0"/>
                            </a:rPr>
                            <m:t>𝜔</m:t>
                          </m:r>
                        </m:e>
                        <m:sub>
                          <m:r>
                            <a:rPr lang="en-US" sz="2398" i="1" kern="1200" smtClean="0">
                              <a:solidFill>
                                <a:srgbClr val="FFFFFF"/>
                              </a:solidFill>
                              <a:latin typeface="Cambria Math" charset="0"/>
                              <a:ea typeface="Avenir Book" charset="0"/>
                              <a:cs typeface="Avenir Book" charset="0"/>
                            </a:rPr>
                            <m:t>4</m:t>
                          </m:r>
                        </m:sub>
                      </m:sSub>
                    </m:oMath>
                  </m:oMathPara>
                </a14:m>
                <a:endParaRPr lang="en-US" sz="2398" kern="1200" dirty="0">
                  <a:solidFill>
                    <a:srgbClr val="FFFFFF"/>
                  </a:solidFill>
                  <a:latin typeface="Avenir Book" charset="0"/>
                  <a:ea typeface="Avenir Book" charset="0"/>
                  <a:cs typeface="Avenir Book" charset="0"/>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7913013" y="2544927"/>
                <a:ext cx="422371" cy="368990"/>
              </a:xfrm>
              <a:prstGeom prst="rect">
                <a:avLst/>
              </a:prstGeom>
              <a:blipFill rotWithShape="0">
                <a:blip r:embed="rId12"/>
                <a:stretch>
                  <a:fillRect l="-8696" r="-5797" b="-9836"/>
                </a:stretch>
              </a:blipFill>
            </p:spPr>
            <p:txBody>
              <a:bodyPr/>
              <a:lstStyle/>
              <a:p>
                <a:r>
                  <a:rPr lang="en-US">
                    <a:noFill/>
                  </a:rPr>
                  <a:t> </a:t>
                </a:r>
              </a:p>
            </p:txBody>
          </p:sp>
        </mc:Fallback>
      </mc:AlternateContent>
      <p:sp>
        <p:nvSpPr>
          <p:cNvPr id="27" name="object 2"/>
          <p:cNvSpPr txBox="1"/>
          <p:nvPr/>
        </p:nvSpPr>
        <p:spPr>
          <a:xfrm>
            <a:off x="531332" y="1168548"/>
            <a:ext cx="4892276" cy="3536546"/>
          </a:xfrm>
          <a:prstGeom prst="rect">
            <a:avLst/>
          </a:prstGeom>
        </p:spPr>
        <p:txBody>
          <a:bodyPr vert="horz" wrap="square" lIns="0" tIns="0" rIns="0" bIns="0" rtlCol="0">
            <a:spAutoFit/>
          </a:bodyPr>
          <a:lstStyle/>
          <a:p>
            <a:pPr marL="352108" marR="3807" lvl="0" indent="-342591">
              <a:spcAft>
                <a:spcPts val="1199"/>
              </a:spcAft>
              <a:buFont typeface="Arial" charset="0"/>
              <a:buChar char="•"/>
            </a:pPr>
            <a:r>
              <a:rPr lang="en-US" sz="1998" kern="1200" spc="-15" dirty="0" smtClean="0">
                <a:solidFill>
                  <a:srgbClr val="212121">
                    <a:lumMod val="50000"/>
                  </a:srgbClr>
                </a:solidFill>
                <a:latin typeface="Avenir Book" charset="0"/>
                <a:ea typeface="Avenir Book" charset="0"/>
                <a:cs typeface="Avenir Book" charset="0"/>
              </a:rPr>
              <a:t>Use a single data point to determine the gradient and cost function instead of all the data</a:t>
            </a:r>
          </a:p>
          <a:p>
            <a:pPr marL="352108" marR="3807" lvl="0" indent="-342591">
              <a:spcAft>
                <a:spcPts val="1199"/>
              </a:spcAft>
              <a:buFont typeface="Arial" charset="0"/>
              <a:buChar char="•"/>
            </a:pPr>
            <a:endParaRPr lang="en-US" sz="1998" kern="1200" spc="-15" dirty="0">
              <a:solidFill>
                <a:srgbClr val="212121">
                  <a:lumMod val="50000"/>
                </a:srgbClr>
              </a:solidFill>
              <a:latin typeface="Avenir Book" charset="0"/>
              <a:ea typeface="Avenir Book" charset="0"/>
              <a:cs typeface="Avenir Book" charset="0"/>
            </a:endParaRPr>
          </a:p>
          <a:p>
            <a:pPr marL="352108" marR="3807" lvl="0" indent="-342591">
              <a:spcAft>
                <a:spcPts val="1199"/>
              </a:spcAft>
              <a:buFont typeface="Arial" charset="0"/>
              <a:buChar char="•"/>
            </a:pPr>
            <a:endParaRPr lang="en-US" sz="1998" kern="1200" spc="-15" dirty="0" smtClean="0">
              <a:solidFill>
                <a:srgbClr val="212121">
                  <a:lumMod val="50000"/>
                </a:srgbClr>
              </a:solidFill>
              <a:latin typeface="Avenir Book" charset="0"/>
              <a:ea typeface="Avenir Book" charset="0"/>
              <a:cs typeface="Avenir Book" charset="0"/>
            </a:endParaRPr>
          </a:p>
          <a:p>
            <a:pPr marL="352108" marR="3807" lvl="0" indent="-342591">
              <a:spcAft>
                <a:spcPts val="1199"/>
              </a:spcAft>
              <a:buFont typeface="Arial" charset="0"/>
              <a:buChar char="•"/>
            </a:pPr>
            <a:endParaRPr lang="en-US" sz="1998" kern="1200" spc="-15" dirty="0">
              <a:solidFill>
                <a:srgbClr val="212121">
                  <a:lumMod val="50000"/>
                </a:srgbClr>
              </a:solidFill>
              <a:latin typeface="Avenir Book" charset="0"/>
              <a:ea typeface="Avenir Book" charset="0"/>
              <a:cs typeface="Avenir Book" charset="0"/>
            </a:endParaRPr>
          </a:p>
          <a:p>
            <a:pPr marL="352108" marR="3807" lvl="0" indent="-342591">
              <a:spcAft>
                <a:spcPts val="1199"/>
              </a:spcAft>
              <a:buFont typeface="Arial" charset="0"/>
              <a:buChar char="•"/>
            </a:pPr>
            <a:endParaRPr lang="en-US" sz="1998" kern="1200" spc="-15" dirty="0" smtClean="0">
              <a:solidFill>
                <a:srgbClr val="212121">
                  <a:lumMod val="50000"/>
                </a:srgbClr>
              </a:solidFill>
              <a:latin typeface="Avenir Book" charset="0"/>
              <a:ea typeface="Avenir Book" charset="0"/>
              <a:cs typeface="Avenir Book" charset="0"/>
            </a:endParaRPr>
          </a:p>
          <a:p>
            <a:pPr marL="352108" marR="3807" lvl="0" indent="-342591">
              <a:spcAft>
                <a:spcPts val="1199"/>
              </a:spcAft>
              <a:buFont typeface="Arial" charset="0"/>
              <a:buChar char="•"/>
            </a:pPr>
            <a:r>
              <a:rPr lang="en-US" sz="1998" kern="1200" spc="-15" dirty="0" smtClean="0">
                <a:solidFill>
                  <a:srgbClr val="212121">
                    <a:lumMod val="50000"/>
                  </a:srgbClr>
                </a:solidFill>
                <a:latin typeface="Avenir Book" charset="0"/>
                <a:ea typeface="Avenir Book" charset="0"/>
                <a:cs typeface="Avenir Book" charset="0"/>
              </a:rPr>
              <a:t>Path is less direct due to noise in single data point—"stochastic"</a:t>
            </a:r>
          </a:p>
        </p:txBody>
      </p:sp>
      <mc:AlternateContent xmlns:mc="http://schemas.openxmlformats.org/markup-compatibility/2006" xmlns:a14="http://schemas.microsoft.com/office/drawing/2010/main">
        <mc:Choice Requires="a14">
          <p:sp>
            <p:nvSpPr>
              <p:cNvPr id="34" name="TextBox 33"/>
              <p:cNvSpPr txBox="1"/>
              <p:nvPr/>
            </p:nvSpPr>
            <p:spPr>
              <a:xfrm>
                <a:off x="339214" y="2173510"/>
                <a:ext cx="4948418" cy="5438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798" i="1" kern="1200" smtClean="0">
                              <a:latin typeface="Cambria Math" panose="02040503050406030204" pitchFamily="18" charset="0"/>
                              <a:ea typeface="Avenir Book" charset="0"/>
                              <a:cs typeface="Avenir Book" charset="0"/>
                            </a:rPr>
                          </m:ctrlPr>
                        </m:sSubPr>
                        <m:e>
                          <m:r>
                            <a:rPr lang="en-US" sz="1798" i="1" kern="1200">
                              <a:latin typeface="Cambria Math" charset="0"/>
                              <a:ea typeface="Cambria Math" charset="0"/>
                              <a:cs typeface="Cambria Math" charset="0"/>
                            </a:rPr>
                            <m:t>𝜔</m:t>
                          </m:r>
                        </m:e>
                        <m:sub>
                          <m:r>
                            <a:rPr lang="en-US" sz="1798" i="1" kern="1200">
                              <a:latin typeface="Cambria Math" charset="0"/>
                              <a:ea typeface="Avenir Book" charset="0"/>
                              <a:cs typeface="Avenir Book" charset="0"/>
                            </a:rPr>
                            <m:t>1</m:t>
                          </m:r>
                        </m:sub>
                      </m:sSub>
                      <m:r>
                        <a:rPr lang="en-US" sz="1798" i="1" kern="1200">
                          <a:latin typeface="Cambria Math" charset="0"/>
                          <a:ea typeface="Avenir Book" charset="0"/>
                          <a:cs typeface="Avenir Book" charset="0"/>
                        </a:rPr>
                        <m:t>=</m:t>
                      </m:r>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Cambria Math" charset="0"/>
                              <a:cs typeface="Cambria Math" charset="0"/>
                            </a:rPr>
                            <m:t>𝜔</m:t>
                          </m:r>
                        </m:e>
                        <m:sub>
                          <m:r>
                            <a:rPr lang="en-US" sz="1798" i="1" kern="1200">
                              <a:latin typeface="Cambria Math" charset="0"/>
                              <a:ea typeface="Avenir Book" charset="0"/>
                              <a:cs typeface="Avenir Book" charset="0"/>
                            </a:rPr>
                            <m:t>0</m:t>
                          </m:r>
                        </m:sub>
                      </m:sSub>
                      <m:r>
                        <a:rPr lang="en-US" sz="1798" i="1" kern="1200">
                          <a:latin typeface="Cambria Math" charset="0"/>
                          <a:ea typeface="Avenir Book" charset="0"/>
                          <a:cs typeface="Avenir Book" charset="0"/>
                        </a:rPr>
                        <m:t>−</m:t>
                      </m:r>
                      <m:r>
                        <a:rPr lang="en-US" sz="1798" i="1" kern="1200">
                          <a:latin typeface="Cambria Math" charset="0"/>
                          <a:ea typeface="Cambria Math" charset="0"/>
                          <a:cs typeface="Cambria Math" charset="0"/>
                        </a:rPr>
                        <m:t>𝛼𝛻</m:t>
                      </m:r>
                      <m:f>
                        <m:fPr>
                          <m:ctrlPr>
                            <a:rPr lang="mr-IN" sz="1798" i="1" kern="1200">
                              <a:latin typeface="Cambria Math" panose="02040503050406030204" pitchFamily="18" charset="0"/>
                              <a:ea typeface="Avenir Book" charset="0"/>
                              <a:cs typeface="Avenir Book" charset="0"/>
                            </a:rPr>
                          </m:ctrlPr>
                        </m:fPr>
                        <m:num>
                          <m:r>
                            <a:rPr lang="en-US" sz="1798" i="1" kern="1200">
                              <a:latin typeface="Cambria Math" charset="0"/>
                              <a:ea typeface="Avenir Book" charset="0"/>
                              <a:cs typeface="Avenir Book" charset="0"/>
                            </a:rPr>
                            <m:t>1</m:t>
                          </m:r>
                        </m:num>
                        <m:den>
                          <m:r>
                            <a:rPr lang="en-US" sz="1798" i="1" kern="1200">
                              <a:latin typeface="Cambria Math" charset="0"/>
                              <a:ea typeface="Avenir Book" charset="0"/>
                              <a:cs typeface="Avenir Book" charset="0"/>
                            </a:rPr>
                            <m:t>2</m:t>
                          </m:r>
                        </m:den>
                      </m:f>
                      <m:sSup>
                        <m:sSupPr>
                          <m:ctrlPr>
                            <a:rPr lang="mr-IN" sz="1798" i="1" kern="1200">
                              <a:latin typeface="Cambria Math" panose="02040503050406030204" pitchFamily="18" charset="0"/>
                              <a:ea typeface="Avenir Book" charset="0"/>
                              <a:cs typeface="Avenir Book" charset="0"/>
                            </a:rPr>
                          </m:ctrlPr>
                        </m:sSupPr>
                        <m:e>
                          <m:d>
                            <m:dPr>
                              <m:ctrlPr>
                                <a:rPr lang="mr-IN" sz="1798" i="1" kern="1200">
                                  <a:latin typeface="Cambria Math" panose="02040503050406030204" pitchFamily="18" charset="0"/>
                                  <a:ea typeface="Avenir Book" charset="0"/>
                                  <a:cs typeface="Avenir Book" charset="0"/>
                                </a:rPr>
                              </m:ctrlPr>
                            </m:dPr>
                            <m:e>
                              <m:d>
                                <m:dPr>
                                  <m:ctrlPr>
                                    <a:rPr lang="en-US" sz="1798" i="1" kern="1200">
                                      <a:latin typeface="Cambria Math" panose="02040503050406030204" pitchFamily="18" charset="0"/>
                                      <a:ea typeface="Avenir Book" charset="0"/>
                                      <a:cs typeface="Avenir Book" charset="0"/>
                                    </a:rPr>
                                  </m:ctrlPr>
                                </m:dPr>
                                <m:e>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Avenir Book" charset="0"/>
                                          <a:cs typeface="Avenir Book" charset="0"/>
                                        </a:rPr>
                                        <m:t>𝛽</m:t>
                                      </m:r>
                                    </m:e>
                                    <m:sub>
                                      <m:r>
                                        <a:rPr lang="en-US" sz="1798" i="1" kern="1200">
                                          <a:latin typeface="Cambria Math" charset="0"/>
                                          <a:ea typeface="Avenir Book" charset="0"/>
                                          <a:cs typeface="Avenir Book" charset="0"/>
                                        </a:rPr>
                                        <m:t>0</m:t>
                                      </m:r>
                                    </m:sub>
                                  </m:sSub>
                                  <m:r>
                                    <m:rPr>
                                      <m:nor/>
                                    </m:rPr>
                                    <a:rPr lang="en-US" sz="1798" kern="1200" dirty="0">
                                      <a:latin typeface="Avenir Book" charset="0"/>
                                      <a:ea typeface="Avenir Book" charset="0"/>
                                      <a:cs typeface="Avenir Book" charset="0"/>
                                    </a:rPr>
                                    <m:t> + </m:t>
                                  </m:r>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Avenir Book" charset="0"/>
                                          <a:cs typeface="Avenir Book" charset="0"/>
                                        </a:rPr>
                                        <m:t>𝛽</m:t>
                                      </m:r>
                                    </m:e>
                                    <m:sub>
                                      <m:r>
                                        <a:rPr lang="en-US" sz="1798" i="1" kern="1200">
                                          <a:latin typeface="Cambria Math" charset="0"/>
                                          <a:ea typeface="Avenir Book" charset="0"/>
                                          <a:cs typeface="Avenir Book" charset="0"/>
                                        </a:rPr>
                                        <m:t>1</m:t>
                                      </m:r>
                                    </m:sub>
                                  </m:sSub>
                                  <m:sSubSup>
                                    <m:sSubSupPr>
                                      <m:ctrlPr>
                                        <a:rPr lang="en-US" sz="1798" i="1" kern="1200">
                                          <a:latin typeface="Cambria Math" panose="02040503050406030204" pitchFamily="18" charset="0"/>
                                          <a:ea typeface="Avenir Book" charset="0"/>
                                          <a:cs typeface="Avenir Book" charset="0"/>
                                        </a:rPr>
                                      </m:ctrlPr>
                                    </m:sSubSupPr>
                                    <m:e>
                                      <m:r>
                                        <a:rPr lang="en-US" sz="1798" i="1" kern="1200">
                                          <a:latin typeface="Cambria Math" charset="0"/>
                                          <a:ea typeface="Avenir Book" charset="0"/>
                                          <a:cs typeface="Avenir Book" charset="0"/>
                                        </a:rPr>
                                        <m:t>𝑥</m:t>
                                      </m:r>
                                    </m:e>
                                    <m:sub>
                                      <m:r>
                                        <a:rPr lang="en-US" sz="1798" i="1" kern="1200">
                                          <a:latin typeface="Cambria Math" charset="0"/>
                                          <a:ea typeface="Avenir Book" charset="0"/>
                                          <a:cs typeface="Avenir Book" charset="0"/>
                                        </a:rPr>
                                        <m:t>𝑜𝑏𝑠</m:t>
                                      </m:r>
                                    </m:sub>
                                    <m:sup>
                                      <m:r>
                                        <a:rPr lang="en-US" sz="1798" i="1" kern="1200">
                                          <a:latin typeface="Cambria Math" charset="0"/>
                                          <a:ea typeface="Avenir Book" charset="0"/>
                                          <a:cs typeface="Avenir Book" charset="0"/>
                                        </a:rPr>
                                        <m:t>(</m:t>
                                      </m:r>
                                      <m:r>
                                        <a:rPr lang="en-US" sz="1798" i="1" kern="1200" smtClean="0">
                                          <a:latin typeface="Cambria Math" charset="0"/>
                                          <a:ea typeface="Avenir Book" charset="0"/>
                                          <a:cs typeface="Avenir Book" charset="0"/>
                                        </a:rPr>
                                        <m:t>0</m:t>
                                      </m:r>
                                      <m:r>
                                        <a:rPr lang="en-US" sz="1798" i="1" kern="1200">
                                          <a:latin typeface="Cambria Math" charset="0"/>
                                          <a:ea typeface="Avenir Book" charset="0"/>
                                          <a:cs typeface="Avenir Book" charset="0"/>
                                        </a:rPr>
                                        <m:t>)</m:t>
                                      </m:r>
                                    </m:sup>
                                  </m:sSubSup>
                                </m:e>
                              </m:d>
                              <m:r>
                                <a:rPr lang="en-US" sz="1798" i="1" kern="1200">
                                  <a:latin typeface="Cambria Math" charset="0"/>
                                  <a:ea typeface="Avenir Book" charset="0"/>
                                  <a:cs typeface="Avenir Book" charset="0"/>
                                </a:rPr>
                                <m:t>−</m:t>
                              </m:r>
                              <m:sSubSup>
                                <m:sSubSupPr>
                                  <m:ctrlPr>
                                    <a:rPr lang="en-US" sz="1798" i="1" kern="1200">
                                      <a:latin typeface="Cambria Math" panose="02040503050406030204" pitchFamily="18" charset="0"/>
                                      <a:ea typeface="Avenir Book" charset="0"/>
                                      <a:cs typeface="Avenir Book" charset="0"/>
                                    </a:rPr>
                                  </m:ctrlPr>
                                </m:sSubSupPr>
                                <m:e>
                                  <m:r>
                                    <a:rPr lang="en-US" sz="1798" i="1" kern="1200">
                                      <a:latin typeface="Cambria Math" charset="0"/>
                                      <a:ea typeface="Avenir Book" charset="0"/>
                                      <a:cs typeface="Avenir Book" charset="0"/>
                                    </a:rPr>
                                    <m:t>𝑦</m:t>
                                  </m:r>
                                </m:e>
                                <m:sub>
                                  <m:r>
                                    <a:rPr lang="en-US" sz="1798" i="1" kern="1200">
                                      <a:latin typeface="Cambria Math" charset="0"/>
                                      <a:ea typeface="Avenir Book" charset="0"/>
                                      <a:cs typeface="Avenir Book" charset="0"/>
                                    </a:rPr>
                                    <m:t>𝑜𝑏𝑠</m:t>
                                  </m:r>
                                </m:sub>
                                <m:sup>
                                  <m:r>
                                    <a:rPr lang="en-US" sz="1798" i="1" kern="1200">
                                      <a:latin typeface="Cambria Math" charset="0"/>
                                      <a:ea typeface="Avenir Book" charset="0"/>
                                      <a:cs typeface="Avenir Book" charset="0"/>
                                    </a:rPr>
                                    <m:t>(</m:t>
                                  </m:r>
                                  <m:r>
                                    <a:rPr lang="en-US" sz="1798" i="1" kern="1200" smtClean="0">
                                      <a:latin typeface="Cambria Math" charset="0"/>
                                      <a:ea typeface="Avenir Book" charset="0"/>
                                      <a:cs typeface="Avenir Book" charset="0"/>
                                    </a:rPr>
                                    <m:t>0</m:t>
                                  </m:r>
                                  <m:r>
                                    <a:rPr lang="en-US" sz="1798" i="1" kern="1200">
                                      <a:latin typeface="Cambria Math" charset="0"/>
                                      <a:ea typeface="Avenir Book" charset="0"/>
                                      <a:cs typeface="Avenir Book" charset="0"/>
                                    </a:rPr>
                                    <m:t>)</m:t>
                                  </m:r>
                                </m:sup>
                              </m:sSubSup>
                            </m:e>
                          </m:d>
                        </m:e>
                        <m:sup>
                          <m:r>
                            <a:rPr lang="en-US" sz="1798" i="1" kern="1200">
                              <a:latin typeface="Cambria Math" charset="0"/>
                              <a:ea typeface="Avenir Book" charset="0"/>
                              <a:cs typeface="Avenir Book" charset="0"/>
                            </a:rPr>
                            <m:t>2</m:t>
                          </m:r>
                        </m:sup>
                      </m:sSup>
                    </m:oMath>
                  </m:oMathPara>
                </a14:m>
                <a:endParaRPr lang="en-US" sz="1798" kern="1200" dirty="0">
                  <a:latin typeface="Avenir Book" charset="0"/>
                  <a:ea typeface="Avenir Book" charset="0"/>
                  <a:cs typeface="Avenir Book" charset="0"/>
                </a:endParaRPr>
              </a:p>
            </p:txBody>
          </p:sp>
        </mc:Choice>
        <mc:Fallback xmlns="">
          <p:sp>
            <p:nvSpPr>
              <p:cNvPr id="34" name="TextBox 33"/>
              <p:cNvSpPr txBox="1">
                <a:spLocks noRot="1" noChangeAspect="1" noMove="1" noResize="1" noEditPoints="1" noAdjustHandles="1" noChangeArrowheads="1" noChangeShapeType="1" noTextEdit="1"/>
              </p:cNvSpPr>
              <p:nvPr/>
            </p:nvSpPr>
            <p:spPr>
              <a:xfrm>
                <a:off x="339214" y="2173510"/>
                <a:ext cx="4948418" cy="543867"/>
              </a:xfrm>
              <a:prstGeom prst="rect">
                <a:avLst/>
              </a:prstGeom>
              <a:blipFill rotWithShape="0">
                <a:blip r:embed="rId13"/>
                <a:stretch>
                  <a:fillRect/>
                </a:stretch>
              </a:blipFill>
            </p:spPr>
            <p:txBody>
              <a:bodyPr/>
              <a:lstStyle/>
              <a:p>
                <a:r>
                  <a:rPr lang="en-US">
                    <a:noFill/>
                  </a:rPr>
                  <a:t> </a:t>
                </a:r>
              </a:p>
            </p:txBody>
          </p:sp>
        </mc:Fallback>
      </mc:AlternateContent>
      <p:sp>
        <p:nvSpPr>
          <p:cNvPr id="38" name="object 2"/>
          <p:cNvSpPr txBox="1"/>
          <p:nvPr/>
        </p:nvSpPr>
        <p:spPr>
          <a:xfrm>
            <a:off x="2412770" y="2782927"/>
            <a:ext cx="400653" cy="307456"/>
          </a:xfrm>
          <a:prstGeom prst="rect">
            <a:avLst/>
          </a:prstGeom>
        </p:spPr>
        <p:txBody>
          <a:bodyPr vert="horz" wrap="square" lIns="0" tIns="0" rIns="0" bIns="0" rtlCol="0">
            <a:spAutoFit/>
          </a:bodyPr>
          <a:lstStyle/>
          <a:p>
            <a:pPr marL="9517" marR="3807" lvl="0">
              <a:spcAft>
                <a:spcPts val="1199"/>
              </a:spcAft>
            </a:pPr>
            <a:r>
              <a:rPr lang="mr-IN" sz="1998" kern="1200" spc="-15" smtClean="0">
                <a:solidFill>
                  <a:srgbClr val="212121">
                    <a:lumMod val="50000"/>
                  </a:srgbClr>
                </a:solidFill>
                <a:latin typeface="Avenir Book" charset="0"/>
                <a:ea typeface="Avenir Book" charset="0"/>
                <a:cs typeface="Avenir Book" charset="0"/>
              </a:rPr>
              <a:t>…</a:t>
            </a:r>
            <a:endParaRPr lang="en-US" sz="1998" kern="1200" spc="-15" dirty="0" smtClean="0">
              <a:solidFill>
                <a:srgbClr val="212121">
                  <a:lumMod val="50000"/>
                </a:srgbClr>
              </a:solidFill>
              <a:latin typeface="Avenir Book" charset="0"/>
              <a:ea typeface="Avenir Book" charset="0"/>
              <a:cs typeface="Avenir Book" charset="0"/>
            </a:endParaRPr>
          </a:p>
        </p:txBody>
      </p:sp>
    </p:spTree>
    <p:extLst>
      <p:ext uri="{BB962C8B-B14F-4D97-AF65-F5344CB8AC3E}">
        <p14:creationId xmlns:p14="http://schemas.microsoft.com/office/powerpoint/2010/main" val="91147710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object 2"/>
              <p:cNvSpPr txBox="1"/>
              <p:nvPr/>
            </p:nvSpPr>
            <p:spPr>
              <a:xfrm>
                <a:off x="654424" y="1100362"/>
                <a:ext cx="4892276" cy="3536546"/>
              </a:xfrm>
              <a:prstGeom prst="rect">
                <a:avLst/>
              </a:prstGeom>
            </p:spPr>
            <p:txBody>
              <a:bodyPr vert="horz" wrap="square" lIns="0" tIns="0" rIns="0" bIns="0" rtlCol="0">
                <a:spAutoFit/>
              </a:bodyPr>
              <a:lstStyle/>
              <a:p>
                <a:pPr marL="352417" marR="3807" indent="-342900">
                  <a:spcAft>
                    <a:spcPts val="1199"/>
                  </a:spcAft>
                  <a:buFont typeface="Arial" charset="0"/>
                  <a:buChar char="•"/>
                </a:pPr>
                <a:r>
                  <a:rPr lang="en-US" sz="1998" kern="1200" spc="-15" dirty="0" smtClean="0">
                    <a:solidFill>
                      <a:srgbClr val="212121">
                        <a:lumMod val="50000"/>
                      </a:srgbClr>
                    </a:solidFill>
                    <a:latin typeface="Avenir Book" charset="0"/>
                    <a:ea typeface="Avenir Book" charset="0"/>
                    <a:cs typeface="Avenir Book" charset="0"/>
                  </a:rPr>
                  <a:t>Perform </a:t>
                </a:r>
                <a:r>
                  <a:rPr lang="en-US" sz="1998" kern="1200" spc="-15" dirty="0">
                    <a:solidFill>
                      <a:srgbClr val="212121">
                        <a:lumMod val="50000"/>
                      </a:srgbClr>
                    </a:solidFill>
                    <a:latin typeface="Avenir Book" charset="0"/>
                    <a:ea typeface="Avenir Book" charset="0"/>
                    <a:cs typeface="Avenir Book" charset="0"/>
                  </a:rPr>
                  <a:t>an update for every </a:t>
                </a:r>
                <a14:m>
                  <m:oMath xmlns:m="http://schemas.openxmlformats.org/officeDocument/2006/math">
                    <m:r>
                      <a:rPr lang="en-US" sz="2000" i="1" kern="1200">
                        <a:latin typeface="Cambria Math" charset="0"/>
                        <a:ea typeface="Avenir Book" charset="0"/>
                        <a:cs typeface="Avenir Book" charset="0"/>
                      </a:rPr>
                      <m:t>𝑛</m:t>
                    </m:r>
                  </m:oMath>
                </a14:m>
                <a:r>
                  <a:rPr lang="en-US" sz="1998" kern="1200" spc="-15" dirty="0">
                    <a:solidFill>
                      <a:srgbClr val="212121">
                        <a:lumMod val="50000"/>
                      </a:srgbClr>
                    </a:solidFill>
                    <a:latin typeface="Avenir Book" charset="0"/>
                    <a:ea typeface="Avenir Book" charset="0"/>
                    <a:cs typeface="Avenir Book" charset="0"/>
                  </a:rPr>
                  <a:t> training examples </a:t>
                </a:r>
                <a:endParaRPr lang="en-US" sz="1998" kern="1200" spc="-15" dirty="0" smtClean="0">
                  <a:solidFill>
                    <a:srgbClr val="212121">
                      <a:lumMod val="50000"/>
                    </a:srgbClr>
                  </a:solidFill>
                  <a:latin typeface="Avenir Book" charset="0"/>
                  <a:ea typeface="Avenir Book" charset="0"/>
                  <a:cs typeface="Avenir Book" charset="0"/>
                </a:endParaRPr>
              </a:p>
              <a:p>
                <a:pPr marL="352417" marR="3807" indent="-342900">
                  <a:spcAft>
                    <a:spcPts val="1199"/>
                  </a:spcAft>
                  <a:buFont typeface="Arial" charset="0"/>
                  <a:buChar char="•"/>
                </a:pPr>
                <a:endParaRPr lang="en-US" sz="1998" kern="1200" spc="-15" dirty="0">
                  <a:solidFill>
                    <a:srgbClr val="212121">
                      <a:lumMod val="50000"/>
                    </a:srgbClr>
                  </a:solidFill>
                  <a:latin typeface="Avenir Book" charset="0"/>
                  <a:ea typeface="Avenir Book" charset="0"/>
                  <a:cs typeface="Avenir Book" charset="0"/>
                </a:endParaRPr>
              </a:p>
              <a:p>
                <a:pPr marL="352417" marR="3807" indent="-342900">
                  <a:spcAft>
                    <a:spcPts val="1199"/>
                  </a:spcAft>
                  <a:buFont typeface="Arial" charset="0"/>
                  <a:buChar char="•"/>
                </a:pPr>
                <a:endParaRPr lang="en-US" sz="1998" kern="1200" spc="-15" dirty="0" smtClean="0">
                  <a:solidFill>
                    <a:srgbClr val="212121">
                      <a:lumMod val="50000"/>
                    </a:srgbClr>
                  </a:solidFill>
                  <a:latin typeface="Avenir Book" charset="0"/>
                  <a:ea typeface="Avenir Book" charset="0"/>
                  <a:cs typeface="Avenir Book" charset="0"/>
                </a:endParaRPr>
              </a:p>
              <a:p>
                <a:pPr marL="9517" marR="3807">
                  <a:spcAft>
                    <a:spcPts val="1199"/>
                  </a:spcAft>
                </a:pPr>
                <a:r>
                  <a:rPr lang="en-US" sz="1998" kern="1200" spc="-15" dirty="0" smtClean="0">
                    <a:solidFill>
                      <a:srgbClr val="212121">
                        <a:lumMod val="50000"/>
                      </a:srgbClr>
                    </a:solidFill>
                    <a:latin typeface="Avenir Book" charset="0"/>
                    <a:ea typeface="Avenir Book" charset="0"/>
                    <a:cs typeface="Avenir Book" charset="0"/>
                  </a:rPr>
                  <a:t>Best </a:t>
                </a:r>
                <a:r>
                  <a:rPr lang="en-US" sz="1998" kern="1200" spc="-15" dirty="0">
                    <a:solidFill>
                      <a:srgbClr val="212121">
                        <a:lumMod val="50000"/>
                      </a:srgbClr>
                    </a:solidFill>
                    <a:latin typeface="Avenir Book" charset="0"/>
                    <a:ea typeface="Avenir Book" charset="0"/>
                    <a:cs typeface="Avenir Book" charset="0"/>
                  </a:rPr>
                  <a:t>of both </a:t>
                </a:r>
                <a:r>
                  <a:rPr lang="en-US" sz="1998" kern="1200" spc="-15" dirty="0" smtClean="0">
                    <a:solidFill>
                      <a:srgbClr val="212121">
                        <a:lumMod val="50000"/>
                      </a:srgbClr>
                    </a:solidFill>
                    <a:latin typeface="Avenir Book" charset="0"/>
                    <a:ea typeface="Avenir Book" charset="0"/>
                    <a:cs typeface="Avenir Book" charset="0"/>
                  </a:rPr>
                  <a:t>worlds:</a:t>
                </a:r>
              </a:p>
              <a:p>
                <a:pPr marL="352417" marR="3807" lvl="1" indent="-342900">
                  <a:spcAft>
                    <a:spcPts val="1199"/>
                  </a:spcAft>
                  <a:buFont typeface="Arial" charset="0"/>
                  <a:buChar char="•"/>
                </a:pPr>
                <a:r>
                  <a:rPr lang="en-US" sz="1998" kern="1200" spc="-15" dirty="0" smtClean="0">
                    <a:solidFill>
                      <a:srgbClr val="212121">
                        <a:lumMod val="50000"/>
                      </a:srgbClr>
                    </a:solidFill>
                    <a:latin typeface="Avenir Book" charset="0"/>
                    <a:ea typeface="Avenir Book" charset="0"/>
                    <a:cs typeface="Avenir Book" charset="0"/>
                  </a:rPr>
                  <a:t>Reduced memory relative to "vanilla" gradient descent</a:t>
                </a:r>
              </a:p>
              <a:p>
                <a:pPr marL="352417" marR="3807" lvl="1" indent="-342900">
                  <a:spcAft>
                    <a:spcPts val="1199"/>
                  </a:spcAft>
                  <a:buFont typeface="Arial" charset="0"/>
                  <a:buChar char="•"/>
                </a:pPr>
                <a:r>
                  <a:rPr lang="en-US" sz="1998" kern="1200" spc="-15" dirty="0" smtClean="0">
                    <a:solidFill>
                      <a:srgbClr val="212121">
                        <a:lumMod val="50000"/>
                      </a:srgbClr>
                    </a:solidFill>
                    <a:latin typeface="Avenir Book" charset="0"/>
                    <a:ea typeface="Avenir Book" charset="0"/>
                    <a:cs typeface="Avenir Book" charset="0"/>
                  </a:rPr>
                  <a:t>Less noisy than stochastic gradient descent</a:t>
                </a:r>
              </a:p>
            </p:txBody>
          </p:sp>
        </mc:Choice>
        <mc:Fallback xmlns="">
          <p:sp>
            <p:nvSpPr>
              <p:cNvPr id="13" name="object 2"/>
              <p:cNvSpPr txBox="1">
                <a:spLocks noRot="1" noChangeAspect="1" noMove="1" noResize="1" noEditPoints="1" noAdjustHandles="1" noChangeArrowheads="1" noChangeShapeType="1" noTextEdit="1"/>
              </p:cNvSpPr>
              <p:nvPr/>
            </p:nvSpPr>
            <p:spPr>
              <a:xfrm>
                <a:off x="654424" y="1100362"/>
                <a:ext cx="4892276" cy="3536546"/>
              </a:xfrm>
              <a:prstGeom prst="rect">
                <a:avLst/>
              </a:prstGeom>
              <a:blipFill rotWithShape="0">
                <a:blip r:embed="rId3"/>
                <a:stretch>
                  <a:fillRect l="-2864" t="-2414" b="-3276"/>
                </a:stretch>
              </a:blipFill>
            </p:spPr>
            <p:txBody>
              <a:bodyPr/>
              <a:lstStyle/>
              <a:p>
                <a:r>
                  <a:rPr lang="en-US">
                    <a:noFill/>
                  </a:rPr>
                  <a:t> </a:t>
                </a:r>
              </a:p>
            </p:txBody>
          </p:sp>
        </mc:Fallback>
      </mc:AlternateContent>
      <p:pic>
        <p:nvPicPr>
          <p:cNvPr id="21" name="Picture 20"/>
          <p:cNvPicPr>
            <a:picLocks noChangeAspect="1"/>
          </p:cNvPicPr>
          <p:nvPr/>
        </p:nvPicPr>
        <p:blipFill rotWithShape="1">
          <a:blip r:embed="rId4" cstate="print"/>
          <a:srcRect l="4481" t="7254" r="7208" b="4857"/>
          <a:stretch/>
        </p:blipFill>
        <p:spPr>
          <a:xfrm>
            <a:off x="5833063" y="1258221"/>
            <a:ext cx="3324834" cy="2479948"/>
          </a:xfrm>
          <a:prstGeom prst="rect">
            <a:avLst/>
          </a:prstGeom>
        </p:spPr>
      </p:pic>
      <mc:AlternateContent xmlns:mc="http://schemas.openxmlformats.org/markup-compatibility/2006" xmlns:a14="http://schemas.microsoft.com/office/drawing/2010/main">
        <mc:Choice Requires="a14">
          <p:sp>
            <p:nvSpPr>
              <p:cNvPr id="29" name="TextBox 28"/>
              <p:cNvSpPr txBox="1"/>
              <p:nvPr/>
            </p:nvSpPr>
            <p:spPr>
              <a:xfrm>
                <a:off x="6089490" y="988756"/>
                <a:ext cx="1274625"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398" i="1" kern="1200">
                          <a:latin typeface="Cambria Math" charset="0"/>
                          <a:ea typeface="Avenir Book" charset="0"/>
                          <a:cs typeface="Avenir Book" charset="0"/>
                        </a:rPr>
                        <m:t>𝐽</m:t>
                      </m:r>
                      <m:d>
                        <m:dPr>
                          <m:ctrlPr>
                            <a:rPr lang="en-US" sz="2398" i="1" kern="1200">
                              <a:latin typeface="Cambria Math" panose="02040503050406030204" pitchFamily="18" charset="0"/>
                              <a:ea typeface="Avenir Book" charset="0"/>
                              <a:cs typeface="Avenir Book" charset="0"/>
                            </a:rPr>
                          </m:ctrlPr>
                        </m:dPr>
                        <m:e>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0</m:t>
                              </m:r>
                            </m:sub>
                          </m:sSub>
                          <m:r>
                            <a:rPr lang="en-US" sz="2398" i="1" kern="1200">
                              <a:latin typeface="Cambria Math" charset="0"/>
                              <a:ea typeface="Avenir Book" charset="0"/>
                              <a:cs typeface="Avenir Book" charset="0"/>
                            </a:rPr>
                            <m:t>,</m:t>
                          </m:r>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1</m:t>
                              </m:r>
                            </m:sub>
                          </m:sSub>
                        </m:e>
                      </m:d>
                    </m:oMath>
                  </m:oMathPara>
                </a14:m>
                <a:endParaRPr lang="en-US" sz="2398" kern="1200" dirty="0">
                  <a:latin typeface="Avenir Book" charset="0"/>
                  <a:ea typeface="Avenir Book" charset="0"/>
                  <a:cs typeface="Avenir Book" charset="0"/>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6090895" y="989671"/>
                <a:ext cx="1275805" cy="369332"/>
              </a:xfrm>
              <a:prstGeom prst="rect">
                <a:avLst/>
              </a:prstGeom>
              <a:blipFill rotWithShape="0">
                <a:blip r:embed="rId5"/>
                <a:stretch>
                  <a:fillRect l="-3349" t="-1639" b="-278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6129008" y="3226594"/>
                <a:ext cx="414757"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1</m:t>
                          </m:r>
                        </m:sub>
                      </m:sSub>
                    </m:oMath>
                  </m:oMathPara>
                </a14:m>
                <a:endParaRPr lang="en-US" sz="2398" kern="1200" dirty="0">
                  <a:latin typeface="Avenir Book" charset="0"/>
                  <a:ea typeface="Avenir Book" charset="0"/>
                  <a:cs typeface="Avenir Book" charset="0"/>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6130449" y="3229581"/>
                <a:ext cx="415141" cy="369332"/>
              </a:xfrm>
              <a:prstGeom prst="rect">
                <a:avLst/>
              </a:prstGeom>
              <a:blipFill rotWithShape="0">
                <a:blip r:embed="rId6"/>
                <a:stretch>
                  <a:fillRect l="-20588" t="-3333" b="-3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8298387" y="3378686"/>
                <a:ext cx="422371" cy="368990"/>
              </a:xfrm>
              <a:prstGeom prst="rect">
                <a:avLst/>
              </a:prstGeom>
              <a:solidFill>
                <a:srgbClr val="FFFFFF"/>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latin typeface="Cambria Math" panose="02040503050406030204" pitchFamily="18" charset="0"/>
                              <a:ea typeface="Avenir Book" charset="0"/>
                              <a:cs typeface="Avenir Book" charset="0"/>
                            </a:rPr>
                          </m:ctrlPr>
                        </m:sSubPr>
                        <m:e>
                          <m:r>
                            <a:rPr lang="en-US" sz="2398" i="1" kern="1200">
                              <a:latin typeface="Cambria Math" charset="0"/>
                              <a:ea typeface="Avenir Book" charset="0"/>
                              <a:cs typeface="Avenir Book" charset="0"/>
                            </a:rPr>
                            <m:t>𝛽</m:t>
                          </m:r>
                        </m:e>
                        <m:sub>
                          <m:r>
                            <a:rPr lang="en-US" sz="2398" i="1" kern="1200">
                              <a:latin typeface="Cambria Math" charset="0"/>
                              <a:ea typeface="Avenir Book" charset="0"/>
                              <a:cs typeface="Avenir Book" charset="0"/>
                            </a:rPr>
                            <m:t>0</m:t>
                          </m:r>
                        </m:sub>
                      </m:sSub>
                    </m:oMath>
                  </m:oMathPara>
                </a14:m>
                <a:endParaRPr lang="en-US" sz="2398" kern="1200" dirty="0">
                  <a:latin typeface="Avenir Book" charset="0"/>
                  <a:ea typeface="Avenir Book" charset="0"/>
                  <a:cs typeface="Avenir Book" charset="0"/>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8301837" y="3381814"/>
                <a:ext cx="422762" cy="369332"/>
              </a:xfrm>
              <a:prstGeom prst="rect">
                <a:avLst/>
              </a:prstGeom>
              <a:blipFill rotWithShape="0">
                <a:blip r:embed="rId7"/>
                <a:stretch>
                  <a:fillRect l="-18841" t="-3333" r="-1449" b="-30000"/>
                </a:stretch>
              </a:blipFill>
            </p:spPr>
            <p:txBody>
              <a:bodyPr/>
              <a:lstStyle/>
              <a:p>
                <a:r>
                  <a:rPr lang="en-US">
                    <a:noFill/>
                  </a:rPr>
                  <a:t> </a:t>
                </a:r>
              </a:p>
            </p:txBody>
          </p:sp>
        </mc:Fallback>
      </mc:AlternateContent>
      <p:sp>
        <p:nvSpPr>
          <p:cNvPr id="32" name="object 2"/>
          <p:cNvSpPr txBox="1"/>
          <p:nvPr/>
        </p:nvSpPr>
        <p:spPr>
          <a:xfrm>
            <a:off x="305235" y="268944"/>
            <a:ext cx="8430023" cy="461238"/>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sz="2997" kern="1200" dirty="0" smtClean="0">
                <a:solidFill>
                  <a:srgbClr val="212121"/>
                </a:solidFill>
                <a:latin typeface="Avenir Book" charset="0"/>
                <a:ea typeface="Avenir Book" charset="0"/>
                <a:cs typeface="Avenir Book" charset="0"/>
              </a:rPr>
              <a:t>Mini Batch Gradient Descent</a:t>
            </a:r>
            <a:endParaRPr lang="en-US" sz="2997" kern="1200" dirty="0">
              <a:solidFill>
                <a:srgbClr val="212121"/>
              </a:solidFill>
              <a:latin typeface="Avenir Book" charset="0"/>
              <a:ea typeface="Avenir Book" charset="0"/>
              <a:cs typeface="Avenir Book" charset="0"/>
            </a:endParaRPr>
          </a:p>
        </p:txBody>
      </p:sp>
      <p:sp>
        <p:nvSpPr>
          <p:cNvPr id="5" name="Multiply 4"/>
          <p:cNvSpPr/>
          <p:nvPr/>
        </p:nvSpPr>
        <p:spPr>
          <a:xfrm>
            <a:off x="7364115" y="1836227"/>
            <a:ext cx="312131" cy="283706"/>
          </a:xfrm>
          <a:prstGeom prst="mathMultiply">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350" kern="1200" dirty="0">
              <a:solidFill>
                <a:srgbClr val="000000"/>
              </a:solidFill>
            </a:endParaRPr>
          </a:p>
        </p:txBody>
      </p:sp>
      <p:cxnSp>
        <p:nvCxnSpPr>
          <p:cNvPr id="17" name="Straight Arrow Connector 16"/>
          <p:cNvCxnSpPr/>
          <p:nvPr/>
        </p:nvCxnSpPr>
        <p:spPr>
          <a:xfrm flipH="1">
            <a:off x="7407265" y="2090916"/>
            <a:ext cx="85725" cy="228600"/>
          </a:xfrm>
          <a:prstGeom prst="straightConnector1">
            <a:avLst/>
          </a:prstGeom>
          <a:ln w="38100">
            <a:solidFill>
              <a:srgbClr val="FF000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0" name="Multiply 19"/>
          <p:cNvSpPr/>
          <p:nvPr/>
        </p:nvSpPr>
        <p:spPr>
          <a:xfrm>
            <a:off x="7246399" y="2271702"/>
            <a:ext cx="312131" cy="283706"/>
          </a:xfrm>
          <a:prstGeom prst="mathMultiply">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350" kern="1200" dirty="0">
              <a:solidFill>
                <a:srgbClr val="000000"/>
              </a:solidFill>
            </a:endParaRPr>
          </a:p>
        </p:txBody>
      </p:sp>
      <mc:AlternateContent xmlns:mc="http://schemas.openxmlformats.org/markup-compatibility/2006" xmlns:a14="http://schemas.microsoft.com/office/drawing/2010/main">
        <mc:Choice Requires="a14">
          <p:sp>
            <p:nvSpPr>
              <p:cNvPr id="34" name="TextBox 33"/>
              <p:cNvSpPr txBox="1"/>
              <p:nvPr/>
            </p:nvSpPr>
            <p:spPr>
              <a:xfrm>
                <a:off x="7031965" y="1814966"/>
                <a:ext cx="422371" cy="36899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solidFill>
                                <a:srgbClr val="FFFFFF"/>
                              </a:solidFill>
                              <a:latin typeface="Cambria Math" panose="02040503050406030204" pitchFamily="18" charset="0"/>
                              <a:ea typeface="Avenir Book" charset="0"/>
                              <a:cs typeface="Avenir Book" charset="0"/>
                            </a:rPr>
                          </m:ctrlPr>
                        </m:sSubPr>
                        <m:e>
                          <m:r>
                            <a:rPr lang="en-US" sz="2398" i="1" kern="1200">
                              <a:solidFill>
                                <a:srgbClr val="FFFFFF"/>
                              </a:solidFill>
                              <a:latin typeface="Cambria Math" charset="0"/>
                              <a:ea typeface="Cambria Math" charset="0"/>
                              <a:cs typeface="Cambria Math" charset="0"/>
                            </a:rPr>
                            <m:t>𝜔</m:t>
                          </m:r>
                        </m:e>
                        <m:sub>
                          <m:r>
                            <a:rPr lang="en-US" sz="2398" i="1" kern="1200">
                              <a:solidFill>
                                <a:srgbClr val="FFFFFF"/>
                              </a:solidFill>
                              <a:latin typeface="Cambria Math" charset="0"/>
                              <a:ea typeface="Avenir Book" charset="0"/>
                              <a:cs typeface="Avenir Book" charset="0"/>
                            </a:rPr>
                            <m:t>0</m:t>
                          </m:r>
                        </m:sub>
                      </m:sSub>
                    </m:oMath>
                  </m:oMathPara>
                </a14:m>
                <a:endParaRPr lang="en-US" sz="2398" kern="1200" dirty="0">
                  <a:solidFill>
                    <a:srgbClr val="FFFFFF"/>
                  </a:solidFill>
                  <a:latin typeface="Avenir Book" charset="0"/>
                  <a:ea typeface="Avenir Book" charset="0"/>
                  <a:cs typeface="Avenir Book" charset="0"/>
                </a:endParaRPr>
              </a:p>
            </p:txBody>
          </p:sp>
        </mc:Choice>
        <mc:Fallback xmlns="">
          <p:sp>
            <p:nvSpPr>
              <p:cNvPr id="34" name="TextBox 33"/>
              <p:cNvSpPr txBox="1">
                <a:spLocks noRot="1" noChangeAspect="1" noMove="1" noResize="1" noEditPoints="1" noAdjustHandles="1" noChangeArrowheads="1" noChangeShapeType="1" noTextEdit="1"/>
              </p:cNvSpPr>
              <p:nvPr/>
            </p:nvSpPr>
            <p:spPr>
              <a:xfrm>
                <a:off x="7031965" y="1814966"/>
                <a:ext cx="422371" cy="368990"/>
              </a:xfrm>
              <a:prstGeom prst="rect">
                <a:avLst/>
              </a:prstGeom>
              <a:blipFill rotWithShape="0">
                <a:blip r:embed="rId8"/>
                <a:stretch>
                  <a:fillRect l="-11594" r="-7246"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6878761" y="2159974"/>
                <a:ext cx="422371" cy="36899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398" i="1" kern="1200">
                              <a:solidFill>
                                <a:srgbClr val="FFFFFF"/>
                              </a:solidFill>
                              <a:latin typeface="Cambria Math" panose="02040503050406030204" pitchFamily="18" charset="0"/>
                              <a:ea typeface="Avenir Book" charset="0"/>
                              <a:cs typeface="Avenir Book" charset="0"/>
                            </a:rPr>
                          </m:ctrlPr>
                        </m:sSubPr>
                        <m:e>
                          <m:r>
                            <a:rPr lang="en-US" sz="2398" i="1" kern="1200">
                              <a:solidFill>
                                <a:srgbClr val="FFFFFF"/>
                              </a:solidFill>
                              <a:latin typeface="Cambria Math" charset="0"/>
                              <a:ea typeface="Cambria Math" charset="0"/>
                              <a:cs typeface="Cambria Math" charset="0"/>
                            </a:rPr>
                            <m:t>𝜔</m:t>
                          </m:r>
                        </m:e>
                        <m:sub>
                          <m:r>
                            <a:rPr lang="en-US" sz="2398" i="1" kern="1200">
                              <a:solidFill>
                                <a:srgbClr val="FFFFFF"/>
                              </a:solidFill>
                              <a:latin typeface="Cambria Math" charset="0"/>
                              <a:ea typeface="Avenir Book" charset="0"/>
                              <a:cs typeface="Avenir Book" charset="0"/>
                            </a:rPr>
                            <m:t>1</m:t>
                          </m:r>
                        </m:sub>
                      </m:sSub>
                    </m:oMath>
                  </m:oMathPara>
                </a14:m>
                <a:endParaRPr lang="en-US" sz="2398" kern="1200" dirty="0">
                  <a:solidFill>
                    <a:srgbClr val="FFFFFF"/>
                  </a:solidFill>
                  <a:latin typeface="Avenir Book" charset="0"/>
                  <a:ea typeface="Avenir Book" charset="0"/>
                  <a:cs typeface="Avenir Book" charset="0"/>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6878761" y="2159974"/>
                <a:ext cx="422371" cy="368990"/>
              </a:xfrm>
              <a:prstGeom prst="rect">
                <a:avLst/>
              </a:prstGeom>
              <a:blipFill rotWithShape="0">
                <a:blip r:embed="rId9"/>
                <a:stretch>
                  <a:fillRect l="-8571" r="-5714" b="-98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700826" y="1799875"/>
                <a:ext cx="4948418" cy="7555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798" i="1" kern="1200" smtClean="0">
                              <a:latin typeface="Cambria Math" panose="02040503050406030204" pitchFamily="18" charset="0"/>
                              <a:ea typeface="Avenir Book" charset="0"/>
                              <a:cs typeface="Avenir Book" charset="0"/>
                            </a:rPr>
                          </m:ctrlPr>
                        </m:sSubPr>
                        <m:e>
                          <m:r>
                            <a:rPr lang="en-US" sz="1798" i="1" kern="1200">
                              <a:latin typeface="Cambria Math" charset="0"/>
                              <a:ea typeface="Cambria Math" charset="0"/>
                              <a:cs typeface="Cambria Math" charset="0"/>
                            </a:rPr>
                            <m:t>𝜔</m:t>
                          </m:r>
                        </m:e>
                        <m:sub>
                          <m:r>
                            <a:rPr lang="en-US" sz="1798" i="1" kern="1200">
                              <a:latin typeface="Cambria Math" charset="0"/>
                              <a:ea typeface="Avenir Book" charset="0"/>
                              <a:cs typeface="Avenir Book" charset="0"/>
                            </a:rPr>
                            <m:t>1</m:t>
                          </m:r>
                        </m:sub>
                      </m:sSub>
                      <m:r>
                        <a:rPr lang="en-US" sz="1798" i="1" kern="1200">
                          <a:latin typeface="Cambria Math" charset="0"/>
                          <a:ea typeface="Avenir Book" charset="0"/>
                          <a:cs typeface="Avenir Book" charset="0"/>
                        </a:rPr>
                        <m:t>=</m:t>
                      </m:r>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Cambria Math" charset="0"/>
                              <a:cs typeface="Cambria Math" charset="0"/>
                            </a:rPr>
                            <m:t>𝜔</m:t>
                          </m:r>
                        </m:e>
                        <m:sub>
                          <m:r>
                            <a:rPr lang="en-US" sz="1798" i="1" kern="1200">
                              <a:latin typeface="Cambria Math" charset="0"/>
                              <a:ea typeface="Avenir Book" charset="0"/>
                              <a:cs typeface="Avenir Book" charset="0"/>
                            </a:rPr>
                            <m:t>0</m:t>
                          </m:r>
                        </m:sub>
                      </m:sSub>
                      <m:r>
                        <a:rPr lang="en-US" sz="1798" i="1" kern="1200">
                          <a:latin typeface="Cambria Math" charset="0"/>
                          <a:ea typeface="Avenir Book" charset="0"/>
                          <a:cs typeface="Avenir Book" charset="0"/>
                        </a:rPr>
                        <m:t>−</m:t>
                      </m:r>
                      <m:r>
                        <a:rPr lang="en-US" sz="1798" i="1" kern="1200">
                          <a:latin typeface="Cambria Math" charset="0"/>
                          <a:ea typeface="Cambria Math" charset="0"/>
                          <a:cs typeface="Cambria Math" charset="0"/>
                        </a:rPr>
                        <m:t>𝛼𝛻</m:t>
                      </m:r>
                      <m:f>
                        <m:fPr>
                          <m:ctrlPr>
                            <a:rPr lang="mr-IN" sz="1798" i="1" kern="1200">
                              <a:latin typeface="Cambria Math" panose="02040503050406030204" pitchFamily="18" charset="0"/>
                              <a:ea typeface="Avenir Book" charset="0"/>
                              <a:cs typeface="Avenir Book" charset="0"/>
                            </a:rPr>
                          </m:ctrlPr>
                        </m:fPr>
                        <m:num>
                          <m:r>
                            <a:rPr lang="en-US" sz="1798" i="1" kern="1200">
                              <a:latin typeface="Cambria Math" charset="0"/>
                              <a:ea typeface="Avenir Book" charset="0"/>
                              <a:cs typeface="Avenir Book" charset="0"/>
                            </a:rPr>
                            <m:t>1</m:t>
                          </m:r>
                        </m:num>
                        <m:den>
                          <m:r>
                            <a:rPr lang="en-US" sz="1798" i="1" kern="1200">
                              <a:latin typeface="Cambria Math" charset="0"/>
                              <a:ea typeface="Avenir Book" charset="0"/>
                              <a:cs typeface="Avenir Book" charset="0"/>
                            </a:rPr>
                            <m:t>2</m:t>
                          </m:r>
                        </m:den>
                      </m:f>
                      <m:nary>
                        <m:naryPr>
                          <m:chr m:val="∑"/>
                          <m:ctrlPr>
                            <a:rPr lang="is-IS" sz="1798" i="1" kern="1200">
                              <a:latin typeface="Cambria Math" panose="02040503050406030204" pitchFamily="18" charset="0"/>
                              <a:ea typeface="Avenir Book" charset="0"/>
                              <a:cs typeface="Avenir Book" charset="0"/>
                            </a:rPr>
                          </m:ctrlPr>
                        </m:naryPr>
                        <m:sub>
                          <m:r>
                            <m:rPr>
                              <m:brk m:alnAt="23"/>
                            </m:rPr>
                            <a:rPr lang="en-US" sz="1798" i="1" kern="1200">
                              <a:latin typeface="Cambria Math" charset="0"/>
                              <a:ea typeface="Avenir Book" charset="0"/>
                              <a:cs typeface="Avenir Book" charset="0"/>
                            </a:rPr>
                            <m:t>𝑖</m:t>
                          </m:r>
                          <m:r>
                            <a:rPr lang="en-US" sz="1798" i="1" kern="1200">
                              <a:latin typeface="Cambria Math" charset="0"/>
                              <a:ea typeface="Avenir Book" charset="0"/>
                              <a:cs typeface="Avenir Book" charset="0"/>
                            </a:rPr>
                            <m:t>=1</m:t>
                          </m:r>
                        </m:sub>
                        <m:sup>
                          <m:r>
                            <a:rPr lang="en-US" sz="1798" i="1" kern="1200" smtClean="0">
                              <a:latin typeface="Cambria Math" charset="0"/>
                              <a:ea typeface="Avenir Book" charset="0"/>
                              <a:cs typeface="Avenir Book" charset="0"/>
                            </a:rPr>
                            <m:t>𝑛</m:t>
                          </m:r>
                        </m:sup>
                        <m:e>
                          <m:sSup>
                            <m:sSupPr>
                              <m:ctrlPr>
                                <a:rPr lang="mr-IN" sz="1798" i="1" kern="1200">
                                  <a:latin typeface="Cambria Math" panose="02040503050406030204" pitchFamily="18" charset="0"/>
                                  <a:ea typeface="Avenir Book" charset="0"/>
                                  <a:cs typeface="Avenir Book" charset="0"/>
                                </a:rPr>
                              </m:ctrlPr>
                            </m:sSupPr>
                            <m:e>
                              <m:d>
                                <m:dPr>
                                  <m:ctrlPr>
                                    <a:rPr lang="mr-IN" sz="1798" i="1" kern="1200">
                                      <a:latin typeface="Cambria Math" panose="02040503050406030204" pitchFamily="18" charset="0"/>
                                      <a:ea typeface="Avenir Book" charset="0"/>
                                      <a:cs typeface="Avenir Book" charset="0"/>
                                    </a:rPr>
                                  </m:ctrlPr>
                                </m:dPr>
                                <m:e>
                                  <m:d>
                                    <m:dPr>
                                      <m:ctrlPr>
                                        <a:rPr lang="en-US" sz="1798" i="1" kern="1200">
                                          <a:latin typeface="Cambria Math" panose="02040503050406030204" pitchFamily="18" charset="0"/>
                                          <a:ea typeface="Avenir Book" charset="0"/>
                                          <a:cs typeface="Avenir Book" charset="0"/>
                                        </a:rPr>
                                      </m:ctrlPr>
                                    </m:dPr>
                                    <m:e>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Avenir Book" charset="0"/>
                                              <a:cs typeface="Avenir Book" charset="0"/>
                                            </a:rPr>
                                            <m:t>𝛽</m:t>
                                          </m:r>
                                        </m:e>
                                        <m:sub>
                                          <m:r>
                                            <a:rPr lang="en-US" sz="1798" i="1" kern="1200">
                                              <a:latin typeface="Cambria Math" charset="0"/>
                                              <a:ea typeface="Avenir Book" charset="0"/>
                                              <a:cs typeface="Avenir Book" charset="0"/>
                                            </a:rPr>
                                            <m:t>0</m:t>
                                          </m:r>
                                        </m:sub>
                                      </m:sSub>
                                      <m:r>
                                        <m:rPr>
                                          <m:nor/>
                                        </m:rPr>
                                        <a:rPr lang="en-US" sz="1798" kern="1200" dirty="0">
                                          <a:latin typeface="Avenir Book" charset="0"/>
                                          <a:ea typeface="Avenir Book" charset="0"/>
                                          <a:cs typeface="Avenir Book" charset="0"/>
                                        </a:rPr>
                                        <m:t> + </m:t>
                                      </m:r>
                                      <m:sSub>
                                        <m:sSubPr>
                                          <m:ctrlPr>
                                            <a:rPr lang="en-US" sz="1798" i="1" kern="1200">
                                              <a:latin typeface="Cambria Math" panose="02040503050406030204" pitchFamily="18" charset="0"/>
                                              <a:ea typeface="Avenir Book" charset="0"/>
                                              <a:cs typeface="Avenir Book" charset="0"/>
                                            </a:rPr>
                                          </m:ctrlPr>
                                        </m:sSubPr>
                                        <m:e>
                                          <m:r>
                                            <a:rPr lang="en-US" sz="1798" i="1" kern="1200">
                                              <a:latin typeface="Cambria Math" charset="0"/>
                                              <a:ea typeface="Avenir Book" charset="0"/>
                                              <a:cs typeface="Avenir Book" charset="0"/>
                                            </a:rPr>
                                            <m:t>𝛽</m:t>
                                          </m:r>
                                        </m:e>
                                        <m:sub>
                                          <m:r>
                                            <a:rPr lang="en-US" sz="1798" i="1" kern="1200">
                                              <a:latin typeface="Cambria Math" charset="0"/>
                                              <a:ea typeface="Avenir Book" charset="0"/>
                                              <a:cs typeface="Avenir Book" charset="0"/>
                                            </a:rPr>
                                            <m:t>1</m:t>
                                          </m:r>
                                        </m:sub>
                                      </m:sSub>
                                      <m:sSubSup>
                                        <m:sSubSupPr>
                                          <m:ctrlPr>
                                            <a:rPr lang="en-US" sz="1798" i="1" kern="1200">
                                              <a:latin typeface="Cambria Math" panose="02040503050406030204" pitchFamily="18" charset="0"/>
                                              <a:ea typeface="Avenir Book" charset="0"/>
                                              <a:cs typeface="Avenir Book" charset="0"/>
                                            </a:rPr>
                                          </m:ctrlPr>
                                        </m:sSubSupPr>
                                        <m:e>
                                          <m:r>
                                            <a:rPr lang="en-US" sz="1798" i="1" kern="1200">
                                              <a:latin typeface="Cambria Math" charset="0"/>
                                              <a:ea typeface="Avenir Book" charset="0"/>
                                              <a:cs typeface="Avenir Book" charset="0"/>
                                            </a:rPr>
                                            <m:t>𝑥</m:t>
                                          </m:r>
                                        </m:e>
                                        <m:sub>
                                          <m:r>
                                            <a:rPr lang="en-US" sz="1798" i="1" kern="1200">
                                              <a:latin typeface="Cambria Math" charset="0"/>
                                              <a:ea typeface="Avenir Book" charset="0"/>
                                              <a:cs typeface="Avenir Book" charset="0"/>
                                            </a:rPr>
                                            <m:t>𝑜𝑏𝑠</m:t>
                                          </m:r>
                                        </m:sub>
                                        <m:sup>
                                          <m:r>
                                            <a:rPr lang="en-US" sz="1798" i="1" kern="1200">
                                              <a:latin typeface="Cambria Math" charset="0"/>
                                              <a:ea typeface="Avenir Book" charset="0"/>
                                              <a:cs typeface="Avenir Book" charset="0"/>
                                            </a:rPr>
                                            <m:t>(</m:t>
                                          </m:r>
                                          <m:r>
                                            <a:rPr lang="en-US" sz="1798" i="1" kern="1200">
                                              <a:latin typeface="Cambria Math" charset="0"/>
                                              <a:ea typeface="Avenir Book" charset="0"/>
                                              <a:cs typeface="Avenir Book" charset="0"/>
                                            </a:rPr>
                                            <m:t>𝑖</m:t>
                                          </m:r>
                                          <m:r>
                                            <a:rPr lang="en-US" sz="1798" i="1" kern="1200">
                                              <a:latin typeface="Cambria Math" charset="0"/>
                                              <a:ea typeface="Avenir Book" charset="0"/>
                                              <a:cs typeface="Avenir Book" charset="0"/>
                                            </a:rPr>
                                            <m:t>)</m:t>
                                          </m:r>
                                        </m:sup>
                                      </m:sSubSup>
                                    </m:e>
                                  </m:d>
                                  <m:r>
                                    <a:rPr lang="en-US" sz="1798" i="1" kern="1200">
                                      <a:latin typeface="Cambria Math" charset="0"/>
                                      <a:ea typeface="Avenir Book" charset="0"/>
                                      <a:cs typeface="Avenir Book" charset="0"/>
                                    </a:rPr>
                                    <m:t>−</m:t>
                                  </m:r>
                                  <m:sSubSup>
                                    <m:sSubSupPr>
                                      <m:ctrlPr>
                                        <a:rPr lang="en-US" sz="1798" i="1" kern="1200">
                                          <a:latin typeface="Cambria Math" panose="02040503050406030204" pitchFamily="18" charset="0"/>
                                          <a:ea typeface="Avenir Book" charset="0"/>
                                          <a:cs typeface="Avenir Book" charset="0"/>
                                        </a:rPr>
                                      </m:ctrlPr>
                                    </m:sSubSupPr>
                                    <m:e>
                                      <m:r>
                                        <a:rPr lang="en-US" sz="1798" i="1" kern="1200">
                                          <a:latin typeface="Cambria Math" charset="0"/>
                                          <a:ea typeface="Avenir Book" charset="0"/>
                                          <a:cs typeface="Avenir Book" charset="0"/>
                                        </a:rPr>
                                        <m:t>𝑦</m:t>
                                      </m:r>
                                    </m:e>
                                    <m:sub>
                                      <m:r>
                                        <a:rPr lang="en-US" sz="1798" i="1" kern="1200">
                                          <a:latin typeface="Cambria Math" charset="0"/>
                                          <a:ea typeface="Avenir Book" charset="0"/>
                                          <a:cs typeface="Avenir Book" charset="0"/>
                                        </a:rPr>
                                        <m:t>𝑜𝑏𝑠</m:t>
                                      </m:r>
                                    </m:sub>
                                    <m:sup>
                                      <m:r>
                                        <a:rPr lang="en-US" sz="1798" i="1" kern="1200">
                                          <a:latin typeface="Cambria Math" charset="0"/>
                                          <a:ea typeface="Avenir Book" charset="0"/>
                                          <a:cs typeface="Avenir Book" charset="0"/>
                                        </a:rPr>
                                        <m:t>(</m:t>
                                      </m:r>
                                      <m:r>
                                        <a:rPr lang="en-US" sz="1798" i="1" kern="1200">
                                          <a:latin typeface="Cambria Math" charset="0"/>
                                          <a:ea typeface="Avenir Book" charset="0"/>
                                          <a:cs typeface="Avenir Book" charset="0"/>
                                        </a:rPr>
                                        <m:t>𝑖</m:t>
                                      </m:r>
                                      <m:r>
                                        <a:rPr lang="en-US" sz="1798" i="1" kern="1200">
                                          <a:latin typeface="Cambria Math" charset="0"/>
                                          <a:ea typeface="Avenir Book" charset="0"/>
                                          <a:cs typeface="Avenir Book" charset="0"/>
                                        </a:rPr>
                                        <m:t>)</m:t>
                                      </m:r>
                                    </m:sup>
                                  </m:sSubSup>
                                </m:e>
                              </m:d>
                            </m:e>
                            <m:sup>
                              <m:r>
                                <a:rPr lang="en-US" sz="1798" i="1" kern="1200">
                                  <a:latin typeface="Cambria Math" charset="0"/>
                                  <a:ea typeface="Avenir Book" charset="0"/>
                                  <a:cs typeface="Avenir Book" charset="0"/>
                                </a:rPr>
                                <m:t>2</m:t>
                              </m:r>
                            </m:sup>
                          </m:sSup>
                          <m:r>
                            <m:rPr>
                              <m:nor/>
                            </m:rPr>
                            <a:rPr lang="en-US" sz="1798" kern="1200" dirty="0">
                              <a:latin typeface="Avenir Book" charset="0"/>
                              <a:ea typeface="Avenir Book" charset="0"/>
                              <a:cs typeface="Avenir Book" charset="0"/>
                            </a:rPr>
                            <m:t> </m:t>
                          </m:r>
                        </m:e>
                      </m:nary>
                    </m:oMath>
                  </m:oMathPara>
                </a14:m>
                <a:endParaRPr lang="en-US" sz="1798" kern="1200" dirty="0">
                  <a:latin typeface="Avenir Book" charset="0"/>
                  <a:ea typeface="Avenir Book" charset="0"/>
                  <a:cs typeface="Avenir Book" charset="0"/>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700826" y="1799875"/>
                <a:ext cx="4948418" cy="755533"/>
              </a:xfrm>
              <a:prstGeom prst="rect">
                <a:avLst/>
              </a:prstGeom>
              <a:blipFill rotWithShape="0">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4462743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gradFill>
        <a:effectLst/>
      </p:bgPr>
    </p:bg>
    <p:spTree>
      <p:nvGrpSpPr>
        <p:cNvPr id="1" name="Shape 261"/>
        <p:cNvGrpSpPr/>
        <p:nvPr/>
      </p:nvGrpSpPr>
      <p:grpSpPr>
        <a:xfrm>
          <a:off x="0" y="0"/>
          <a:ext cx="0" cy="0"/>
          <a:chOff x="0" y="0"/>
          <a:chExt cx="0" cy="0"/>
        </a:xfrm>
      </p:grpSpPr>
      <p:sp>
        <p:nvSpPr>
          <p:cNvPr id="2" name="Slide Number Placeholder 1"/>
          <p:cNvSpPr>
            <a:spLocks noGrp="1"/>
          </p:cNvSpPr>
          <p:nvPr>
            <p:ph type="sldNum" sz="quarter" idx="4294967295"/>
          </p:nvPr>
        </p:nvSpPr>
        <p:spPr>
          <a:xfrm>
            <a:off x="7086600" y="4767263"/>
            <a:ext cx="2057400" cy="274637"/>
          </a:xfrm>
        </p:spPr>
        <p:txBody>
          <a:bodyPr/>
          <a:lstStyle/>
          <a:p>
            <a:fld id="{BDF01D69-A501-704B-80CB-1B3152437FD0}" type="slidenum">
              <a:rPr lang="en-US" smtClean="0"/>
              <a:t>33</a:t>
            </a:fld>
            <a:endParaRPr lang="en-US" dirty="0"/>
          </a:p>
        </p:txBody>
      </p:sp>
    </p:spTree>
    <p:extLst>
      <p:ext uri="{BB962C8B-B14F-4D97-AF65-F5344CB8AC3E}">
        <p14:creationId xmlns:p14="http://schemas.microsoft.com/office/powerpoint/2010/main" val="1171853815"/>
      </p:ext>
    </p:extLst>
  </p:cSld>
  <p:clrMapOvr>
    <a:masterClrMapping/>
  </p:clrMapOvr>
  <p:timing>
    <p:tnLst>
      <p:par>
        <p:cTn id="1" dur="indefinite" restart="never" nodeType="tmRoot"/>
      </p:par>
    </p:tnLst>
  </p:timing>
</p:sld>
</file>

<file path=ppt/theme/theme1.xml><?xml version="1.0" encoding="utf-8"?>
<a:theme xmlns:a="http://schemas.openxmlformats.org/drawingml/2006/main" name="1_simple-dark-2">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tel_theme">
  <a:themeElements>
    <a:clrScheme name="Custom 6">
      <a:dk1>
        <a:srgbClr val="FEFFFF"/>
      </a:dk1>
      <a:lt1>
        <a:srgbClr val="000000"/>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ntel_theme" id="{7CD40ED6-13F2-774E-8C9C-E2A351ABAE7C}" vid="{A60F4A55-6349-6E4D-A6AA-B84EBE13CF51}"/>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32572</TotalTime>
  <Words>1291</Words>
  <Application>Microsoft Office PowerPoint</Application>
  <PresentationFormat>On-screen Show (16:9)</PresentationFormat>
  <Paragraphs>365</Paragraphs>
  <Slides>33</Slides>
  <Notes>32</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33</vt:i4>
      </vt:variant>
    </vt:vector>
  </HeadingPairs>
  <TitlesOfParts>
    <vt:vector size="48" baseType="lpstr">
      <vt:lpstr>Arial</vt:lpstr>
      <vt:lpstr>Avenir Book</vt:lpstr>
      <vt:lpstr>Calibri</vt:lpstr>
      <vt:lpstr>Calibri Light</vt:lpstr>
      <vt:lpstr>Cambria Math</vt:lpstr>
      <vt:lpstr>Intel Clear</vt:lpstr>
      <vt:lpstr>Intel Clear Light</vt:lpstr>
      <vt:lpstr>Intel Clear Pro</vt:lpstr>
      <vt:lpstr>Lucida Grande</vt:lpstr>
      <vt:lpstr>Neo Sans Intel</vt:lpstr>
      <vt:lpstr>Source Code Pro</vt:lpstr>
      <vt:lpstr>Wingdings</vt:lpstr>
      <vt:lpstr>1_simple-dark-2</vt:lpstr>
      <vt:lpstr>Custom Design</vt:lpstr>
      <vt:lpstr>intel_theme</vt:lpstr>
      <vt:lpstr>Review of Machine Learning</vt:lpstr>
      <vt:lpstr>Legal Notices and Disclaimers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&lt;Title&gt;</dc:title>
  <cp:lastModifiedBy>Oberoi, Daman</cp:lastModifiedBy>
  <cp:revision>417</cp:revision>
  <cp:lastPrinted>2017-03-21T10:33:11Z</cp:lastPrinted>
  <dcterms:modified xsi:type="dcterms:W3CDTF">2017-08-25T19:36:02Z</dcterms:modified>
</cp:coreProperties>
</file>
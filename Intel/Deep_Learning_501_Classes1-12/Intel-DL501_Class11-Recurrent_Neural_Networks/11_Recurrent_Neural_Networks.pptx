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07" r:id="rId3"/>
  </p:sldMasterIdLst>
  <p:notesMasterIdLst>
    <p:notesMasterId r:id="rId27"/>
  </p:notesMasterIdLst>
  <p:handoutMasterIdLst>
    <p:handoutMasterId r:id="rId28"/>
  </p:handoutMasterIdLst>
  <p:sldIdLst>
    <p:sldId id="389" r:id="rId4"/>
    <p:sldId id="676" r:id="rId5"/>
    <p:sldId id="616" r:id="rId6"/>
    <p:sldId id="674" r:id="rId7"/>
    <p:sldId id="651" r:id="rId8"/>
    <p:sldId id="652" r:id="rId9"/>
    <p:sldId id="655" r:id="rId10"/>
    <p:sldId id="653" r:id="rId11"/>
    <p:sldId id="654" r:id="rId12"/>
    <p:sldId id="656" r:id="rId13"/>
    <p:sldId id="660" r:id="rId14"/>
    <p:sldId id="657" r:id="rId15"/>
    <p:sldId id="668" r:id="rId16"/>
    <p:sldId id="669" r:id="rId17"/>
    <p:sldId id="672" r:id="rId18"/>
    <p:sldId id="673" r:id="rId19"/>
    <p:sldId id="666" r:id="rId20"/>
    <p:sldId id="671" r:id="rId21"/>
    <p:sldId id="665" r:id="rId22"/>
    <p:sldId id="658" r:id="rId23"/>
    <p:sldId id="664" r:id="rId24"/>
    <p:sldId id="667" r:id="rId25"/>
    <p:sldId id="675" r:id="rId2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84"/>
    <p:restoredTop sz="80851"/>
  </p:normalViewPr>
  <p:slideViewPr>
    <p:cSldViewPr snapToGrid="0" snapToObjects="1">
      <p:cViewPr varScale="1">
        <p:scale>
          <a:sx n="141" d="100"/>
          <a:sy n="141" d="100"/>
        </p:scale>
        <p:origin x="604" y="72"/>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napToObjects="1">
      <p:cViewPr varScale="1">
        <p:scale>
          <a:sx n="85" d="100"/>
          <a:sy n="85" d="100"/>
        </p:scale>
        <p:origin x="369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3660781664"/>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38732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120391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9795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798822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Key takeaway from this and following slides is that one input leads to two outputs: a prediction and a state.</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304791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Shows state output.</a:t>
            </a:r>
          </a:p>
        </p:txBody>
      </p:sp>
    </p:spTree>
    <p:extLst>
      <p:ext uri="{BB962C8B-B14F-4D97-AF65-F5344CB8AC3E}">
        <p14:creationId xmlns:p14="http://schemas.microsoft.com/office/powerpoint/2010/main" val="161085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Shows prediction output.</a:t>
            </a:r>
          </a:p>
        </p:txBody>
      </p:sp>
    </p:spTree>
    <p:extLst>
      <p:ext uri="{BB962C8B-B14F-4D97-AF65-F5344CB8AC3E}">
        <p14:creationId xmlns:p14="http://schemas.microsoft.com/office/powerpoint/2010/main" val="1295509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Back to original architecture. Setup for “unrolling” RNN.</a:t>
            </a:r>
          </a:p>
        </p:txBody>
      </p:sp>
    </p:spTree>
    <p:extLst>
      <p:ext uri="{BB962C8B-B14F-4D97-AF65-F5344CB8AC3E}">
        <p14:creationId xmlns:p14="http://schemas.microsoft.com/office/powerpoint/2010/main" val="1067356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Sequential process.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Output at (t-1) becomes input for (t) which leads to a chain like shown in picture.</a:t>
            </a:r>
          </a:p>
        </p:txBody>
      </p:sp>
    </p:spTree>
    <p:extLst>
      <p:ext uri="{BB962C8B-B14F-4D97-AF65-F5344CB8AC3E}">
        <p14:creationId xmlns:p14="http://schemas.microsoft.com/office/powerpoint/2010/main" val="1321467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Note: in </a:t>
            </a:r>
            <a:r>
              <a:rPr lang="en-US" sz="2400" baseline="0" dirty="0" err="1" smtClean="0">
                <a:latin typeface="Arial" charset="0"/>
                <a:ea typeface="Arial" charset="0"/>
                <a:cs typeface="Arial" charset="0"/>
              </a:rPr>
              <a:t>Keras</a:t>
            </a:r>
            <a:r>
              <a:rPr lang="en-US" sz="2400" baseline="0" dirty="0" smtClean="0">
                <a:latin typeface="Arial" charset="0"/>
                <a:ea typeface="Arial" charset="0"/>
                <a:cs typeface="Arial" charset="0"/>
              </a:rPr>
              <a:t> (and other treatments of RNN) the state that is passed through W is the same as the output of the RNN.</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then the V matrix would be part of a separate “Dense” layer</a:t>
            </a:r>
          </a:p>
        </p:txBody>
      </p:sp>
    </p:spTree>
    <p:extLst>
      <p:ext uri="{BB962C8B-B14F-4D97-AF65-F5344CB8AC3E}">
        <p14:creationId xmlns:p14="http://schemas.microsoft.com/office/powerpoint/2010/main" val="322478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Example: first two words have unknown sentiment while last two words have positive and very positive sentiments.</a:t>
            </a:r>
          </a:p>
        </p:txBody>
      </p:sp>
    </p:spTree>
    <p:extLst>
      <p:ext uri="{BB962C8B-B14F-4D97-AF65-F5344CB8AC3E}">
        <p14:creationId xmlns:p14="http://schemas.microsoft.com/office/powerpoint/2010/main" val="1282195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681332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481834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52670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088433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8513984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It’s worth spending some time on this.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U encodes the input.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W modifies the information from the previous state.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They get added together and passed through the activation function.</a:t>
            </a:r>
          </a:p>
        </p:txBody>
      </p:sp>
    </p:spTree>
    <p:extLst>
      <p:ext uri="{BB962C8B-B14F-4D97-AF65-F5344CB8AC3E}">
        <p14:creationId xmlns:p14="http://schemas.microsoft.com/office/powerpoint/2010/main" val="1478066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6268977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3167387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3288198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goes back to the </a:t>
                </a:r>
                <a14:m>
                  <m:oMath xmlns:m="http://schemas.openxmlformats.org/officeDocument/2006/math">
                    <m:sSub>
                      <m:sSubPr>
                        <m:ctrlPr>
                          <a:rPr lang="en-US" sz="2400" i="1" smtClean="0">
                            <a:latin typeface="Cambria Math" panose="02040503050406030204" pitchFamily="18" charset="0"/>
                            <a:ea typeface="Avenir Book" charset="0"/>
                            <a:cs typeface="Avenir Book" charset="0"/>
                          </a:rPr>
                        </m:ctrlPr>
                      </m:sSubPr>
                      <m:e>
                        <m:r>
                          <a:rPr lang="en-US" sz="2400" b="0" i="1" smtClean="0">
                            <a:latin typeface="Cambria Math" charset="0"/>
                            <a:ea typeface="Avenir Book" charset="0"/>
                            <a:cs typeface="Avenir Book" charset="0"/>
                          </a:rPr>
                          <m:t>𝑠</m:t>
                        </m:r>
                      </m:e>
                      <m:sub>
                        <m:r>
                          <a:rPr lang="en-US" sz="2400" b="0" i="1" smtClean="0">
                            <a:latin typeface="Cambria Math" charset="0"/>
                            <a:ea typeface="Avenir Book" charset="0"/>
                            <a:cs typeface="Avenir Book" charset="0"/>
                          </a:rPr>
                          <m:t>𝑖</m:t>
                        </m:r>
                      </m:sub>
                    </m:sSub>
                    <m:r>
                      <a:rPr lang="en-US" sz="2400" b="0" i="1" smtClean="0">
                        <a:latin typeface="Cambria Math" charset="0"/>
                        <a:ea typeface="Avenir Book" charset="0"/>
                        <a:cs typeface="Avenir Book" charset="0"/>
                      </a:rPr>
                      <m:t>=</m:t>
                    </m:r>
                    <m:r>
                      <a:rPr lang="en-US" sz="2400" b="0" i="1" smtClean="0">
                        <a:latin typeface="Cambria Math" charset="0"/>
                        <a:ea typeface="Avenir Book" charset="0"/>
                        <a:cs typeface="Avenir Book" charset="0"/>
                      </a:rPr>
                      <m:t>𝑓</m:t>
                    </m:r>
                    <m:r>
                      <a:rPr lang="en-US" sz="2400" b="0" i="1" smtClean="0">
                        <a:latin typeface="Cambria Math" charset="0"/>
                        <a:ea typeface="Avenir Book" charset="0"/>
                        <a:cs typeface="Avenir Book" charset="0"/>
                      </a:rPr>
                      <m:t>(</m:t>
                    </m:r>
                    <m:r>
                      <a:rPr lang="en-US" sz="2400" b="0" i="1" smtClean="0">
                        <a:latin typeface="Cambria Math" charset="0"/>
                        <a:ea typeface="Avenir Book" charset="0"/>
                        <a:cs typeface="Avenir Book" charset="0"/>
                      </a:rPr>
                      <m:t>𝑈</m:t>
                    </m:r>
                    <m:sSub>
                      <m:sSubPr>
                        <m:ctrlPr>
                          <a:rPr lang="en-US" sz="2400" b="0" i="1" smtClean="0">
                            <a:latin typeface="Cambria Math" panose="02040503050406030204" pitchFamily="18" charset="0"/>
                            <a:ea typeface="Avenir Book" charset="0"/>
                            <a:cs typeface="Avenir Book" charset="0"/>
                          </a:rPr>
                        </m:ctrlPr>
                      </m:sSubPr>
                      <m:e>
                        <m:r>
                          <a:rPr lang="en-US" sz="2400" b="0" i="1" smtClean="0">
                            <a:latin typeface="Cambria Math" charset="0"/>
                            <a:ea typeface="Avenir Book" charset="0"/>
                            <a:cs typeface="Avenir Book" charset="0"/>
                          </a:rPr>
                          <m:t>𝑤</m:t>
                        </m:r>
                      </m:e>
                      <m:sub>
                        <m:r>
                          <a:rPr lang="en-US" sz="2400" b="0" i="1" smtClean="0">
                            <a:latin typeface="Cambria Math" charset="0"/>
                            <a:ea typeface="Avenir Book" charset="0"/>
                            <a:cs typeface="Avenir Book" charset="0"/>
                          </a:rPr>
                          <m:t>𝑖</m:t>
                        </m:r>
                      </m:sub>
                    </m:sSub>
                    <m:r>
                      <a:rPr lang="en-US" sz="2400" b="0" i="1" smtClean="0">
                        <a:latin typeface="Cambria Math" charset="0"/>
                        <a:ea typeface="Avenir Book" charset="0"/>
                        <a:cs typeface="Avenir Book" charset="0"/>
                      </a:rPr>
                      <m:t>+</m:t>
                    </m:r>
                    <m:r>
                      <a:rPr lang="en-US" sz="2400" b="0" i="1" smtClean="0">
                        <a:latin typeface="Cambria Math" charset="0"/>
                        <a:ea typeface="Avenir Book" charset="0"/>
                        <a:cs typeface="Avenir Book" charset="0"/>
                      </a:rPr>
                      <m:t>𝑊</m:t>
                    </m:r>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𝑠</m:t>
                        </m:r>
                      </m:e>
                      <m:sub>
                        <m:r>
                          <a:rPr lang="en-US" sz="2400" i="1">
                            <a:latin typeface="Cambria Math" charset="0"/>
                            <a:ea typeface="Avenir Book" charset="0"/>
                            <a:cs typeface="Avenir Book" charset="0"/>
                          </a:rPr>
                          <m:t>𝑖</m:t>
                        </m:r>
                        <m:r>
                          <a:rPr lang="en-US" sz="2400" b="0" i="1" smtClean="0">
                            <a:latin typeface="Cambria Math" charset="0"/>
                            <a:ea typeface="Avenir Book" charset="0"/>
                            <a:cs typeface="Avenir Book" charset="0"/>
                          </a:rPr>
                          <m:t>−1</m:t>
                        </m:r>
                      </m:sub>
                    </m:sSub>
                  </m:oMath>
                </a14:m>
                <a:r>
                  <a:rPr lang="en-US" sz="2400" dirty="0" smtClean="0">
                    <a:latin typeface="Avenir Book" charset="0"/>
                    <a:ea typeface="Avenir Book" charset="0"/>
                    <a:cs typeface="Avenir Book" charset="0"/>
                  </a:rPr>
                  <a:t>) equation.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dirty="0" smtClean="0">
                    <a:latin typeface="Avenir Book" charset="0"/>
                    <a:ea typeface="Avenir Book" charset="0"/>
                    <a:cs typeface="Avenir Book" charset="0"/>
                  </a:rPr>
                  <a:t>Since</a:t>
                </a:r>
                <a:r>
                  <a:rPr lang="en-US" sz="2400" baseline="0" dirty="0" smtClean="0">
                    <a:latin typeface="Avenir Book" charset="0"/>
                    <a:ea typeface="Avenir Book" charset="0"/>
                    <a:cs typeface="Avenir Book" charset="0"/>
                  </a:rPr>
                  <a:t> we add them together, the information from the previous state necessarily gets diluted.</a:t>
                </a:r>
                <a:endParaRPr lang="en-US" sz="2400" baseline="0" dirty="0" smtClean="0">
                  <a:latin typeface="Arial" charset="0"/>
                  <a:ea typeface="Arial" charset="0"/>
                  <a:cs typeface="Arial" charset="0"/>
                </a:endParaRPr>
              </a:p>
            </p:txBody>
          </p:sp>
        </mc:Choice>
        <mc:Fallback xmlns="">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goes back to the </a:t>
                </a:r>
                <a:r>
                  <a:rPr lang="en-US" sz="2400" b="0" i="0" smtClean="0">
                    <a:latin typeface="Cambria Math" charset="0"/>
                    <a:ea typeface="Avenir Book" charset="0"/>
                    <a:cs typeface="Avenir Book" charset="0"/>
                  </a:rPr>
                  <a:t>𝑠</a:t>
                </a:r>
                <a:r>
                  <a:rPr lang="en-US" sz="2400" b="0" i="0" smtClean="0">
                    <a:latin typeface="Cambria Math" charset="0"/>
                    <a:ea typeface="Avenir Book" charset="0"/>
                    <a:cs typeface="Avenir Book" charset="0"/>
                  </a:rPr>
                  <a:t>_</a:t>
                </a:r>
                <a:r>
                  <a:rPr lang="en-US" sz="2400" b="0" i="0" smtClean="0">
                    <a:latin typeface="Cambria Math" charset="0"/>
                    <a:ea typeface="Avenir Book" charset="0"/>
                    <a:cs typeface="Avenir Book" charset="0"/>
                  </a:rPr>
                  <a:t>𝑖=𝑓(𝑈𝑤_𝑖+𝑊</a:t>
                </a:r>
                <a:r>
                  <a:rPr lang="en-US" sz="2400" i="0">
                    <a:latin typeface="Cambria Math" charset="0"/>
                    <a:ea typeface="Avenir Book" charset="0"/>
                    <a:cs typeface="Avenir Book" charset="0"/>
                  </a:rPr>
                  <a:t>𝑠_(𝑖</a:t>
                </a:r>
                <a:r>
                  <a:rPr lang="en-US" sz="2400" b="0" i="0" smtClean="0">
                    <a:latin typeface="Cambria Math" charset="0"/>
                    <a:ea typeface="Avenir Book" charset="0"/>
                    <a:cs typeface="Avenir Book" charset="0"/>
                  </a:rPr>
                  <a:t>−1</a:t>
                </a:r>
                <a:r>
                  <a:rPr lang="en-US" sz="2400" b="0" i="0">
                    <a:latin typeface="Cambria Math" charset="0"/>
                    <a:ea typeface="Avenir Book" charset="0"/>
                    <a:cs typeface="Avenir Book" charset="0"/>
                  </a:rPr>
                  <a:t>)</a:t>
                </a:r>
                <a:r>
                  <a:rPr lang="en-US" sz="2400" dirty="0" smtClean="0">
                    <a:latin typeface="Avenir Book" charset="0"/>
                    <a:ea typeface="Avenir Book" charset="0"/>
                    <a:cs typeface="Avenir Book" charset="0"/>
                  </a:rPr>
                  <a:t>)</a:t>
                </a:r>
                <a:r>
                  <a:rPr lang="en-US" sz="2400" dirty="0" smtClean="0">
                    <a:latin typeface="Avenir Book" charset="0"/>
                    <a:ea typeface="Avenir Book" charset="0"/>
                    <a:cs typeface="Avenir Book" charset="0"/>
                  </a:rPr>
                  <a:t> equation.  Since</a:t>
                </a:r>
                <a:r>
                  <a:rPr lang="en-US" sz="2400" baseline="0" dirty="0" smtClean="0">
                    <a:latin typeface="Avenir Book" charset="0"/>
                    <a:ea typeface="Avenir Book" charset="0"/>
                    <a:cs typeface="Avenir Book" charset="0"/>
                  </a:rPr>
                  <a:t> we add them together, the information from the previous </a:t>
                </a:r>
                <a:r>
                  <a:rPr lang="en-US" sz="2400" baseline="0" smtClean="0">
                    <a:latin typeface="Avenir Book" charset="0"/>
                    <a:ea typeface="Avenir Book" charset="0"/>
                    <a:cs typeface="Avenir Book" charset="0"/>
                  </a:rPr>
                  <a:t>state necessarily gets diluted.</a:t>
                </a:r>
                <a:endParaRPr lang="en-US" sz="2400" baseline="0" dirty="0" smtClean="0">
                  <a:latin typeface="Arial" charset="0"/>
                  <a:ea typeface="Arial" charset="0"/>
                  <a:cs typeface="Arial" charset="0"/>
                </a:endParaRPr>
              </a:p>
            </p:txBody>
          </p:sp>
        </mc:Fallback>
      </mc:AlternateContent>
    </p:spTree>
    <p:extLst>
      <p:ext uri="{BB962C8B-B14F-4D97-AF65-F5344CB8AC3E}">
        <p14:creationId xmlns:p14="http://schemas.microsoft.com/office/powerpoint/2010/main" val="13316092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extLst>
      <p:ext uri="{BB962C8B-B14F-4D97-AF65-F5344CB8AC3E}">
        <p14:creationId xmlns:p14="http://schemas.microsoft.com/office/powerpoint/2010/main" val="20653548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dirty="0"/>
          </a:p>
        </p:txBody>
      </p:sp>
      <p:sp>
        <p:nvSpPr>
          <p:cNvPr id="4" name="Slide Number Placeholder 3"/>
          <p:cNvSpPr>
            <a:spLocks noGrp="1"/>
          </p:cNvSpPr>
          <p:nvPr>
            <p:ph type="sldNum" sz="quarter" idx="12"/>
          </p:nvPr>
        </p:nvSpPr>
        <p:spPr>
          <a:xfrm>
            <a:off x="8743950" y="4779605"/>
            <a:ext cx="262001" cy="247085"/>
          </a:xfrm>
        </p:spPr>
        <p:txBody>
          <a:bodyPr/>
          <a:lstStyle/>
          <a:p>
            <a:fld id="{EE2556C5-CE8C-6547-B838-EA80C61A4AF7}" type="slidenum">
              <a:rPr lang="en-US" smtClean="0"/>
              <a:pPr/>
              <a:t>‹#›</a:t>
            </a:fld>
            <a:endParaRPr lang="en-US" dirty="0"/>
          </a:p>
        </p:txBody>
      </p:sp>
      <p:sp>
        <p:nvSpPr>
          <p:cNvPr id="5"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8"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9"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10"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695EFAE-97D9-482A-8603-BDA4FE5A83E6}" type="datetimeFigureOut">
              <a:rPr lang="en-US" smtClean="0"/>
              <a:t>8/25/2017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E00A-457A-4DC3-AA03-374ABBD35A5E}" type="slidenum">
              <a:rPr lang="en-US" smtClean="0"/>
              <a:t>‹#›</a:t>
            </a:fld>
            <a:endParaRPr lang="en-US"/>
          </a:p>
        </p:txBody>
      </p:sp>
    </p:spTree>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39230485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image" Target="../media/image4.png"/><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1"/>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248304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US" sz="4000" b="0" i="0" u="none" strike="noStrike" cap="none" dirty="0" smtClean="0">
                <a:solidFill>
                  <a:srgbClr val="FFFFFF"/>
                </a:solidFill>
                <a:latin typeface="Avenir Book" charset="0"/>
                <a:ea typeface="Avenir Book" charset="0"/>
                <a:cs typeface="Avenir Book" charset="0"/>
                <a:sym typeface="Source Code Pro"/>
              </a:rPr>
              <a:t>Recurrent </a:t>
            </a:r>
            <a:r>
              <a:rPr lang="en-US" sz="4000" b="0" i="0" u="none" strike="noStrike" cap="none" smtClean="0">
                <a:solidFill>
                  <a:srgbClr val="FFFFFF"/>
                </a:solidFill>
                <a:latin typeface="Avenir Book" charset="0"/>
                <a:ea typeface="Avenir Book" charset="0"/>
                <a:cs typeface="Avenir Book" charset="0"/>
                <a:sym typeface="Source Code Pro"/>
              </a:rPr>
              <a:t>Neural Networks (RNNs)</a:t>
            </a:r>
            <a:endParaRPr lang="en" sz="4000" b="0" i="0" u="none" strike="noStrike" cap="none" dirty="0">
              <a:solidFill>
                <a:srgbClr val="FFFFFF"/>
              </a:solidFill>
              <a:latin typeface="Avenir Book" charset="0"/>
              <a:ea typeface="Avenir Book" charset="0"/>
              <a:cs typeface="Avenir Book" charset="0"/>
              <a:sym typeface="Source Code Pro"/>
            </a:endParaRPr>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4535023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220352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Issue: Variable length sequences of words</a:t>
            </a:r>
            <a:endParaRPr lang="en-US" dirty="0">
              <a:latin typeface="Avenir Book" charset="0"/>
              <a:ea typeface="Avenir Book" charset="0"/>
              <a:cs typeface="Avenir Book" charset="0"/>
            </a:endParaRPr>
          </a:p>
        </p:txBody>
      </p:sp>
      <p:sp>
        <p:nvSpPr>
          <p:cNvPr id="75" name="Rectangle 74"/>
          <p:cNvSpPr/>
          <p:nvPr/>
        </p:nvSpPr>
        <p:spPr>
          <a:xfrm>
            <a:off x="398352" y="1227244"/>
            <a:ext cx="8192764" cy="1785104"/>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With images, we forced them into a specific input dimension</a:t>
            </a:r>
          </a:p>
          <a:p>
            <a:pPr marL="457200" lvl="0" indent="-457200">
              <a:buFont typeface="Arial" charset="0"/>
              <a:buChar char="•"/>
            </a:pPr>
            <a:r>
              <a:rPr lang="en-US" sz="2200" dirty="0" smtClean="0">
                <a:latin typeface="Avenir Book" charset="0"/>
                <a:ea typeface="Avenir Book" charset="0"/>
                <a:cs typeface="Avenir Book" charset="0"/>
              </a:rPr>
              <a:t>Not obvious how to do this with text.</a:t>
            </a:r>
          </a:p>
          <a:p>
            <a:pPr marL="457200" lvl="0" indent="-457200">
              <a:buFont typeface="Arial" charset="0"/>
              <a:buChar char="•"/>
            </a:pPr>
            <a:r>
              <a:rPr lang="en-US" sz="2200" dirty="0" smtClean="0">
                <a:latin typeface="Avenir Book" charset="0"/>
                <a:ea typeface="Avenir Book" charset="0"/>
                <a:cs typeface="Avenir Book" charset="0"/>
              </a:rPr>
              <a:t>For example, classify tweets as positive, negative, or neutral.</a:t>
            </a:r>
          </a:p>
          <a:p>
            <a:pPr marL="457200" lvl="0" indent="-457200">
              <a:buFont typeface="Arial" charset="0"/>
              <a:buChar char="•"/>
            </a:pPr>
            <a:r>
              <a:rPr lang="en-US" sz="2200" dirty="0" smtClean="0">
                <a:latin typeface="Avenir Book" charset="0"/>
                <a:ea typeface="Avenir Book" charset="0"/>
                <a:cs typeface="Avenir Book" charset="0"/>
              </a:rPr>
              <a:t>Tweets can have a variable number of words.</a:t>
            </a:r>
          </a:p>
          <a:p>
            <a:pPr marL="457200" lvl="0" indent="-457200">
              <a:buFont typeface="Arial" charset="0"/>
              <a:buChar char="•"/>
            </a:pPr>
            <a:r>
              <a:rPr lang="en-US" sz="2200" dirty="0" smtClean="0">
                <a:latin typeface="Avenir Book" charset="0"/>
                <a:ea typeface="Avenir Book" charset="0"/>
                <a:cs typeface="Avenir Book" charset="0"/>
              </a:rPr>
              <a:t>What to do?</a:t>
            </a:r>
            <a:endParaRPr lang="en-US" sz="1800" dirty="0" smtClean="0">
              <a:latin typeface="Avenir Book" charset="0"/>
              <a:ea typeface="Avenir Book" charset="0"/>
              <a:cs typeface="Avenir Book" charset="0"/>
            </a:endParaRPr>
          </a:p>
        </p:txBody>
      </p:sp>
    </p:spTree>
    <p:extLst>
      <p:ext uri="{BB962C8B-B14F-4D97-AF65-F5344CB8AC3E}">
        <p14:creationId xmlns:p14="http://schemas.microsoft.com/office/powerpoint/2010/main" val="19808063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Issue: Ordering of words is important</a:t>
            </a:r>
            <a:endParaRPr lang="en-US" dirty="0">
              <a:latin typeface="Avenir Book" charset="0"/>
              <a:ea typeface="Avenir Book" charset="0"/>
              <a:cs typeface="Avenir Book" charset="0"/>
            </a:endParaRPr>
          </a:p>
        </p:txBody>
      </p:sp>
      <p:sp>
        <p:nvSpPr>
          <p:cNvPr id="75" name="Rectangle 74"/>
          <p:cNvSpPr/>
          <p:nvPr/>
        </p:nvSpPr>
        <p:spPr>
          <a:xfrm>
            <a:off x="398352" y="1227244"/>
            <a:ext cx="8192764" cy="2739211"/>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Want to do better than “bag of words” implementations</a:t>
            </a:r>
          </a:p>
          <a:p>
            <a:pPr marL="457200" lvl="0" indent="-457200">
              <a:buFont typeface="Arial" charset="0"/>
              <a:buChar char="•"/>
            </a:pPr>
            <a:r>
              <a:rPr lang="en-US" sz="2200" dirty="0" smtClean="0">
                <a:latin typeface="Avenir Book" charset="0"/>
                <a:ea typeface="Avenir Book" charset="0"/>
                <a:cs typeface="Avenir Book" charset="0"/>
              </a:rPr>
              <a:t>Ideally, each word is processed or understood in the appropriate context.</a:t>
            </a:r>
          </a:p>
          <a:p>
            <a:pPr marL="457200" lvl="0" indent="-457200">
              <a:buFont typeface="Arial" charset="0"/>
              <a:buChar char="•"/>
            </a:pPr>
            <a:r>
              <a:rPr lang="en-US" sz="2200" dirty="0" smtClean="0">
                <a:latin typeface="Avenir Book" charset="0"/>
                <a:ea typeface="Avenir Book" charset="0"/>
                <a:cs typeface="Avenir Book" charset="0"/>
              </a:rPr>
              <a:t>Need to have some notion of “context”.</a:t>
            </a:r>
          </a:p>
          <a:p>
            <a:pPr marL="457200" lvl="0" indent="-457200">
              <a:buFont typeface="Arial" charset="0"/>
              <a:buChar char="•"/>
            </a:pPr>
            <a:r>
              <a:rPr lang="en-US" sz="2200" dirty="0" smtClean="0">
                <a:latin typeface="Avenir Book" charset="0"/>
                <a:ea typeface="Avenir Book" charset="0"/>
                <a:cs typeface="Avenir Book" charset="0"/>
              </a:rPr>
              <a:t>Words should be handled differently depending on “context”</a:t>
            </a:r>
          </a:p>
          <a:p>
            <a:pPr marL="457200" lvl="0" indent="-457200">
              <a:buFont typeface="Arial" charset="0"/>
              <a:buChar char="•"/>
            </a:pPr>
            <a:r>
              <a:rPr lang="en-US" sz="2200" dirty="0" smtClean="0">
                <a:latin typeface="Avenir Book" charset="0"/>
                <a:ea typeface="Avenir Book" charset="0"/>
                <a:cs typeface="Avenir Book" charset="0"/>
              </a:rPr>
              <a:t>Also, each word should update the context.</a:t>
            </a:r>
          </a:p>
          <a:p>
            <a:pPr marL="457200" lvl="0" indent="-457200">
              <a:buFont typeface="Arial" charset="0"/>
              <a:buChar char="•"/>
            </a:pPr>
            <a:endParaRPr lang="en-US" sz="1800" dirty="0" smtClean="0">
              <a:latin typeface="Avenir Book" charset="0"/>
              <a:ea typeface="Avenir Book" charset="0"/>
              <a:cs typeface="Avenir Book" charset="0"/>
            </a:endParaRPr>
          </a:p>
        </p:txBody>
      </p:sp>
    </p:spTree>
    <p:extLst>
      <p:ext uri="{BB962C8B-B14F-4D97-AF65-F5344CB8AC3E}">
        <p14:creationId xmlns:p14="http://schemas.microsoft.com/office/powerpoint/2010/main" val="12579304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Idea: Use the notion of “recurrence”</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Input words one by one</a:t>
            </a:r>
          </a:p>
          <a:p>
            <a:pPr marL="457200" lvl="0" indent="-457200">
              <a:buFont typeface="Arial" charset="0"/>
              <a:buChar char="•"/>
            </a:pPr>
            <a:r>
              <a:rPr lang="en-US" sz="2200" dirty="0" smtClean="0">
                <a:latin typeface="Avenir Book" charset="0"/>
                <a:ea typeface="Avenir Book" charset="0"/>
                <a:cs typeface="Avenir Book" charset="0"/>
              </a:rPr>
              <a:t>Network outputs two things:</a:t>
            </a:r>
          </a:p>
          <a:p>
            <a:pPr marL="800100" lvl="0" indent="-342900">
              <a:buFont typeface="Courier New" charset="0"/>
              <a:buChar char="o"/>
            </a:pPr>
            <a:r>
              <a:rPr lang="en-US" sz="2200" dirty="0" smtClean="0">
                <a:latin typeface="Avenir Book" charset="0"/>
                <a:ea typeface="Avenir Book" charset="0"/>
                <a:cs typeface="Avenir Book" charset="0"/>
              </a:rPr>
              <a:t>Prediction: What would be the prediction if the sequence ended with that word</a:t>
            </a:r>
          </a:p>
          <a:p>
            <a:pPr marL="800100" lvl="0" indent="-342900">
              <a:buFont typeface="Courier New" charset="0"/>
              <a:buChar char="o"/>
            </a:pPr>
            <a:r>
              <a:rPr lang="en-US" sz="2200" dirty="0" smtClean="0">
                <a:latin typeface="Avenir Book" charset="0"/>
                <a:ea typeface="Avenir Book" charset="0"/>
                <a:cs typeface="Avenir Book" charset="0"/>
              </a:rPr>
              <a:t>State: Summary of everything that happened in the past</a:t>
            </a:r>
          </a:p>
          <a:p>
            <a:pPr marL="457200" lvl="0" indent="-457200">
              <a:buFont typeface="Arial" charset="0"/>
              <a:buChar char="•"/>
            </a:pPr>
            <a:r>
              <a:rPr lang="en-US" sz="2200" dirty="0" smtClean="0">
                <a:latin typeface="Avenir Book" charset="0"/>
                <a:ea typeface="Avenir Book" charset="0"/>
                <a:cs typeface="Avenir Book" charset="0"/>
              </a:rPr>
              <a:t>This way, can handle variable lengths of text</a:t>
            </a:r>
          </a:p>
          <a:p>
            <a:pPr marL="457200" lvl="0" indent="-457200">
              <a:buFont typeface="Arial" charset="0"/>
              <a:buChar char="•"/>
            </a:pPr>
            <a:r>
              <a:rPr lang="en-US" sz="2200" dirty="0" smtClean="0">
                <a:latin typeface="Avenir Book" charset="0"/>
                <a:ea typeface="Avenir Book" charset="0"/>
                <a:cs typeface="Avenir Book" charset="0"/>
              </a:rPr>
              <a:t>The response to a word depends on the words that preceded it.</a:t>
            </a:r>
            <a:endParaRPr lang="en-US" sz="1800" dirty="0" smtClean="0">
              <a:latin typeface="Avenir Book" charset="0"/>
              <a:ea typeface="Avenir Book" charset="0"/>
              <a:cs typeface="Avenir Book" charset="0"/>
            </a:endParaRPr>
          </a:p>
        </p:txBody>
      </p:sp>
    </p:spTree>
    <p:extLst>
      <p:ext uri="{BB962C8B-B14F-4D97-AF65-F5344CB8AC3E}">
        <p14:creationId xmlns:p14="http://schemas.microsoft.com/office/powerpoint/2010/main" val="20860722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Idea: Use the notion of “recurrence”</a:t>
            </a:r>
            <a:endParaRPr lang="en-US" dirty="0">
              <a:latin typeface="Avenir Book" charset="0"/>
              <a:ea typeface="Avenir Book" charset="0"/>
              <a:cs typeface="Avenir Book" charset="0"/>
            </a:endParaRPr>
          </a:p>
        </p:txBody>
      </p:sp>
      <p:sp>
        <p:nvSpPr>
          <p:cNvPr id="4" name="Oval 3"/>
          <p:cNvSpPr/>
          <p:nvPr/>
        </p:nvSpPr>
        <p:spPr>
          <a:xfrm>
            <a:off x="3431931" y="2085242"/>
            <a:ext cx="1828800" cy="18288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latin typeface="Avenir Book" charset="0"/>
                <a:ea typeface="Avenir Book" charset="0"/>
                <a:cs typeface="Avenir Book" charset="0"/>
              </a:rPr>
              <a:t>STATE</a:t>
            </a:r>
          </a:p>
        </p:txBody>
      </p:sp>
      <p:cxnSp>
        <p:nvCxnSpPr>
          <p:cNvPr id="5" name="Elbow Connector 4"/>
          <p:cNvCxnSpPr>
            <a:stCxn id="6" idx="2"/>
            <a:endCxn id="6" idx="6"/>
          </p:cNvCxnSpPr>
          <p:nvPr/>
        </p:nvCxnSpPr>
        <p:spPr>
          <a:xfrm rot="10800000" flipH="1">
            <a:off x="3431931" y="2999642"/>
            <a:ext cx="1828800" cy="9525"/>
          </a:xfrm>
          <a:prstGeom prst="bentConnector5">
            <a:avLst>
              <a:gd name="adj1" fmla="val -34046"/>
              <a:gd name="adj2" fmla="val 11400000"/>
              <a:gd name="adj3" fmla="val 133059"/>
            </a:avLst>
          </a:prstGeom>
          <a:ln w="1270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a:endCxn id="6" idx="4"/>
          </p:cNvCxnSpPr>
          <p:nvPr/>
        </p:nvCxnSpPr>
        <p:spPr>
          <a:xfrm flipV="1">
            <a:off x="4346331" y="3914042"/>
            <a:ext cx="1" cy="85725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4346331" y="1227992"/>
            <a:ext cx="1" cy="85725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68916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Idea: Use the notion of “recurrence”</a:t>
            </a:r>
            <a:endParaRPr lang="en-US" dirty="0">
              <a:latin typeface="Avenir Book" charset="0"/>
              <a:ea typeface="Avenir Book" charset="0"/>
              <a:cs typeface="Avenir Book" charset="0"/>
            </a:endParaRPr>
          </a:p>
        </p:txBody>
      </p:sp>
      <p:sp>
        <p:nvSpPr>
          <p:cNvPr id="4" name="Oval 3"/>
          <p:cNvSpPr/>
          <p:nvPr/>
        </p:nvSpPr>
        <p:spPr>
          <a:xfrm>
            <a:off x="3431931" y="2085242"/>
            <a:ext cx="1828800" cy="18288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latin typeface="Avenir Book" charset="0"/>
                <a:ea typeface="Avenir Book" charset="0"/>
                <a:cs typeface="Avenir Book" charset="0"/>
              </a:rPr>
              <a:t>STATE</a:t>
            </a:r>
          </a:p>
        </p:txBody>
      </p:sp>
      <p:cxnSp>
        <p:nvCxnSpPr>
          <p:cNvPr id="5" name="Elbow Connector 4"/>
          <p:cNvCxnSpPr>
            <a:stCxn id="6" idx="2"/>
            <a:endCxn id="6" idx="6"/>
          </p:cNvCxnSpPr>
          <p:nvPr/>
        </p:nvCxnSpPr>
        <p:spPr>
          <a:xfrm rot="10800000" flipH="1">
            <a:off x="3431931" y="2999642"/>
            <a:ext cx="1828800" cy="9525"/>
          </a:xfrm>
          <a:prstGeom prst="bentConnector5">
            <a:avLst>
              <a:gd name="adj1" fmla="val -34046"/>
              <a:gd name="adj2" fmla="val 11400000"/>
              <a:gd name="adj3" fmla="val 133059"/>
            </a:avLst>
          </a:prstGeom>
          <a:ln w="1270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a:endCxn id="6" idx="4"/>
          </p:cNvCxnSpPr>
          <p:nvPr/>
        </p:nvCxnSpPr>
        <p:spPr>
          <a:xfrm flipV="1">
            <a:off x="4346331" y="3914042"/>
            <a:ext cx="1" cy="85725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4346331" y="1227992"/>
            <a:ext cx="1" cy="85725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56912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Idea: Use the notion of “recurrence”</a:t>
            </a:r>
            <a:endParaRPr lang="en-US" dirty="0">
              <a:latin typeface="Avenir Book" charset="0"/>
              <a:ea typeface="Avenir Book" charset="0"/>
              <a:cs typeface="Avenir Book" charset="0"/>
            </a:endParaRPr>
          </a:p>
        </p:txBody>
      </p:sp>
      <p:sp>
        <p:nvSpPr>
          <p:cNvPr id="4" name="Oval 3"/>
          <p:cNvSpPr/>
          <p:nvPr/>
        </p:nvSpPr>
        <p:spPr>
          <a:xfrm>
            <a:off x="3431931" y="2085242"/>
            <a:ext cx="1828800" cy="18288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latin typeface="Avenir Book" charset="0"/>
                <a:ea typeface="Avenir Book" charset="0"/>
                <a:cs typeface="Avenir Book" charset="0"/>
              </a:rPr>
              <a:t>STATE</a:t>
            </a:r>
          </a:p>
        </p:txBody>
      </p:sp>
      <p:cxnSp>
        <p:nvCxnSpPr>
          <p:cNvPr id="5" name="Elbow Connector 4"/>
          <p:cNvCxnSpPr>
            <a:stCxn id="6" idx="2"/>
            <a:endCxn id="6" idx="6"/>
          </p:cNvCxnSpPr>
          <p:nvPr/>
        </p:nvCxnSpPr>
        <p:spPr>
          <a:xfrm rot="10800000" flipH="1">
            <a:off x="3431931" y="2999642"/>
            <a:ext cx="1828800" cy="9525"/>
          </a:xfrm>
          <a:prstGeom prst="bentConnector5">
            <a:avLst>
              <a:gd name="adj1" fmla="val -34046"/>
              <a:gd name="adj2" fmla="val 11400000"/>
              <a:gd name="adj3" fmla="val 133059"/>
            </a:avLst>
          </a:prstGeom>
          <a:ln w="1270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a:endCxn id="6" idx="4"/>
          </p:cNvCxnSpPr>
          <p:nvPr/>
        </p:nvCxnSpPr>
        <p:spPr>
          <a:xfrm flipV="1">
            <a:off x="4346331" y="3914042"/>
            <a:ext cx="1" cy="85725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4346331" y="1227992"/>
            <a:ext cx="1" cy="857250"/>
          </a:xfrm>
          <a:prstGeom prst="straightConnector1">
            <a:avLst/>
          </a:prstGeom>
          <a:ln w="1270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5337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Idea: Use the notion of “recurrence”</a:t>
            </a:r>
            <a:endParaRPr lang="en-US" dirty="0">
              <a:latin typeface="Avenir Book" charset="0"/>
              <a:ea typeface="Avenir Book" charset="0"/>
              <a:cs typeface="Avenir Book" charset="0"/>
            </a:endParaRPr>
          </a:p>
        </p:txBody>
      </p:sp>
      <p:sp>
        <p:nvSpPr>
          <p:cNvPr id="4" name="Oval 3"/>
          <p:cNvSpPr/>
          <p:nvPr/>
        </p:nvSpPr>
        <p:spPr>
          <a:xfrm>
            <a:off x="3431931" y="2085242"/>
            <a:ext cx="1828800" cy="18288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latin typeface="Avenir Book" charset="0"/>
                <a:ea typeface="Avenir Book" charset="0"/>
                <a:cs typeface="Avenir Book" charset="0"/>
              </a:rPr>
              <a:t>STATE</a:t>
            </a:r>
          </a:p>
        </p:txBody>
      </p:sp>
      <p:cxnSp>
        <p:nvCxnSpPr>
          <p:cNvPr id="5" name="Elbow Connector 4"/>
          <p:cNvCxnSpPr>
            <a:stCxn id="6" idx="2"/>
            <a:endCxn id="6" idx="6"/>
          </p:cNvCxnSpPr>
          <p:nvPr/>
        </p:nvCxnSpPr>
        <p:spPr>
          <a:xfrm rot="10800000" flipH="1">
            <a:off x="3431931" y="2999642"/>
            <a:ext cx="1828800" cy="9525"/>
          </a:xfrm>
          <a:prstGeom prst="bentConnector5">
            <a:avLst>
              <a:gd name="adj1" fmla="val -34046"/>
              <a:gd name="adj2" fmla="val 11400000"/>
              <a:gd name="adj3" fmla="val 133059"/>
            </a:avLst>
          </a:prstGeom>
          <a:ln w="1270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a:endCxn id="6" idx="4"/>
          </p:cNvCxnSpPr>
          <p:nvPr/>
        </p:nvCxnSpPr>
        <p:spPr>
          <a:xfrm flipV="1">
            <a:off x="4346331" y="3914042"/>
            <a:ext cx="1" cy="85725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4346331" y="1227992"/>
            <a:ext cx="1" cy="85725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8308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“Unrolling” the RNN</a:t>
            </a:r>
            <a:endParaRPr lang="en-US" dirty="0">
              <a:latin typeface="Avenir Book" charset="0"/>
              <a:ea typeface="Avenir Book" charset="0"/>
              <a:cs typeface="Avenir Book" charset="0"/>
            </a:endParaRPr>
          </a:p>
        </p:txBody>
      </p:sp>
      <p:grpSp>
        <p:nvGrpSpPr>
          <p:cNvPr id="8" name="Group 7"/>
          <p:cNvGrpSpPr/>
          <p:nvPr/>
        </p:nvGrpSpPr>
        <p:grpSpPr>
          <a:xfrm>
            <a:off x="1213124" y="1853803"/>
            <a:ext cx="1314450" cy="2546747"/>
            <a:chOff x="2055812" y="1981200"/>
            <a:chExt cx="2438400" cy="4724400"/>
          </a:xfrm>
        </p:grpSpPr>
        <p:sp>
          <p:nvSpPr>
            <p:cNvPr id="9" name="Oval 8"/>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0" name="Straight Arrow Connector 9"/>
            <p:cNvCxnSpPr>
              <a:endCxn id="12"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3028950" y="1853803"/>
            <a:ext cx="1314450" cy="2546747"/>
            <a:chOff x="2055812" y="1981200"/>
            <a:chExt cx="2438400" cy="4724400"/>
          </a:xfrm>
        </p:grpSpPr>
        <p:sp>
          <p:nvSpPr>
            <p:cNvPr id="13" name="Oval 12"/>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4" name="Straight Arrow Connector 13"/>
            <p:cNvCxnSpPr>
              <a:endCxn id="26"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4857750" y="1853803"/>
            <a:ext cx="1314450" cy="2546747"/>
            <a:chOff x="2055812" y="1981200"/>
            <a:chExt cx="2438400" cy="4724400"/>
          </a:xfrm>
        </p:grpSpPr>
        <p:sp>
          <p:nvSpPr>
            <p:cNvPr id="17" name="Oval 16"/>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8" name="Straight Arrow Connector 17"/>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6686550" y="1853803"/>
            <a:ext cx="1314450" cy="2546747"/>
            <a:chOff x="2055812" y="1981200"/>
            <a:chExt cx="2438400" cy="4724400"/>
          </a:xfrm>
        </p:grpSpPr>
        <p:sp>
          <p:nvSpPr>
            <p:cNvPr id="21" name="Oval 20"/>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22" name="Straight Arrow Connector 21"/>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cxnSp>
        <p:nvCxnSpPr>
          <p:cNvPr id="24" name="Straight Arrow Connector 23"/>
          <p:cNvCxnSpPr>
            <a:stCxn id="10" idx="6"/>
            <a:endCxn id="24" idx="2"/>
          </p:cNvCxnSpPr>
          <p:nvPr/>
        </p:nvCxnSpPr>
        <p:spPr>
          <a:xfrm>
            <a:off x="25275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3563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1722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80010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56622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“Unrolling” the RNN</a:t>
            </a:r>
            <a:endParaRPr lang="en-US" dirty="0">
              <a:latin typeface="Avenir Book" charset="0"/>
              <a:ea typeface="Avenir Book" charset="0"/>
              <a:cs typeface="Avenir Book" charset="0"/>
            </a:endParaRPr>
          </a:p>
        </p:txBody>
      </p:sp>
      <p:grpSp>
        <p:nvGrpSpPr>
          <p:cNvPr id="8" name="Group 7"/>
          <p:cNvGrpSpPr/>
          <p:nvPr/>
        </p:nvGrpSpPr>
        <p:grpSpPr>
          <a:xfrm>
            <a:off x="1213124" y="1853803"/>
            <a:ext cx="1314450" cy="2546747"/>
            <a:chOff x="2055812" y="1981200"/>
            <a:chExt cx="2438400" cy="4724400"/>
          </a:xfrm>
        </p:grpSpPr>
        <p:sp>
          <p:nvSpPr>
            <p:cNvPr id="9" name="Oval 8"/>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0" name="Straight Arrow Connector 9"/>
            <p:cNvCxnSpPr>
              <a:endCxn id="12" idx="4"/>
            </p:cNvCxnSpPr>
            <p:nvPr/>
          </p:nvCxnSpPr>
          <p:spPr>
            <a:xfrm flipV="1">
              <a:off x="3275010" y="5562601"/>
              <a:ext cx="2" cy="1142999"/>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3028950" y="1853803"/>
            <a:ext cx="1314450" cy="2546747"/>
            <a:chOff x="2055812" y="1981200"/>
            <a:chExt cx="2438400" cy="4724400"/>
          </a:xfrm>
        </p:grpSpPr>
        <p:sp>
          <p:nvSpPr>
            <p:cNvPr id="13" name="Oval 12"/>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4" name="Straight Arrow Connector 13"/>
            <p:cNvCxnSpPr>
              <a:endCxn id="26" idx="4"/>
            </p:cNvCxnSpPr>
            <p:nvPr/>
          </p:nvCxnSpPr>
          <p:spPr>
            <a:xfrm flipV="1">
              <a:off x="3275010" y="5562601"/>
              <a:ext cx="2" cy="1142999"/>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4857750" y="1853803"/>
            <a:ext cx="1314450" cy="2546747"/>
            <a:chOff x="2055812" y="1981200"/>
            <a:chExt cx="2438400" cy="4724400"/>
          </a:xfrm>
        </p:grpSpPr>
        <p:sp>
          <p:nvSpPr>
            <p:cNvPr id="17" name="Oval 16"/>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8" name="Straight Arrow Connector 17"/>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6686550" y="1853803"/>
            <a:ext cx="1314450" cy="2546747"/>
            <a:chOff x="2055812" y="1981200"/>
            <a:chExt cx="2438400" cy="4724400"/>
          </a:xfrm>
        </p:grpSpPr>
        <p:sp>
          <p:nvSpPr>
            <p:cNvPr id="21" name="Oval 20"/>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22" name="Straight Arrow Connector 21"/>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cxnSp>
        <p:nvCxnSpPr>
          <p:cNvPr id="24" name="Straight Arrow Connector 23"/>
          <p:cNvCxnSpPr>
            <a:stCxn id="10" idx="6"/>
            <a:endCxn id="24" idx="2"/>
          </p:cNvCxnSpPr>
          <p:nvPr/>
        </p:nvCxnSpPr>
        <p:spPr>
          <a:xfrm>
            <a:off x="25275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3563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1722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80010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626356" y="4351650"/>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36" name="TextBox 35"/>
          <p:cNvSpPr txBox="1"/>
          <p:nvPr/>
        </p:nvSpPr>
        <p:spPr>
          <a:xfrm>
            <a:off x="5264657" y="4347897"/>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37" name="TextBox 36"/>
          <p:cNvSpPr txBox="1"/>
          <p:nvPr/>
        </p:nvSpPr>
        <p:spPr>
          <a:xfrm>
            <a:off x="3400145" y="4347896"/>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38" name="TextBox 37"/>
          <p:cNvSpPr txBox="1"/>
          <p:nvPr/>
        </p:nvSpPr>
        <p:spPr>
          <a:xfrm>
            <a:off x="7099782" y="4347896"/>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
        <p:nvSpPr>
          <p:cNvPr id="40" name="TextBox 39"/>
          <p:cNvSpPr txBox="1"/>
          <p:nvPr/>
        </p:nvSpPr>
        <p:spPr>
          <a:xfrm>
            <a:off x="1271228"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1" name="TextBox 40"/>
          <p:cNvSpPr txBox="1"/>
          <p:nvPr/>
        </p:nvSpPr>
        <p:spPr>
          <a:xfrm>
            <a:off x="3047312"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2" name="TextBox 41"/>
          <p:cNvSpPr txBox="1"/>
          <p:nvPr/>
        </p:nvSpPr>
        <p:spPr>
          <a:xfrm>
            <a:off x="4961456"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3" name="TextBox 42"/>
          <p:cNvSpPr txBox="1"/>
          <p:nvPr/>
        </p:nvSpPr>
        <p:spPr>
          <a:xfrm>
            <a:off x="6751785"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4" name="TextBox 43"/>
          <p:cNvSpPr txBox="1"/>
          <p:nvPr/>
        </p:nvSpPr>
        <p:spPr>
          <a:xfrm>
            <a:off x="1271228"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5" name="TextBox 44"/>
          <p:cNvSpPr txBox="1"/>
          <p:nvPr/>
        </p:nvSpPr>
        <p:spPr>
          <a:xfrm>
            <a:off x="3047312"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6" name="TextBox 45"/>
          <p:cNvSpPr txBox="1"/>
          <p:nvPr/>
        </p:nvSpPr>
        <p:spPr>
          <a:xfrm>
            <a:off x="4961456"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7" name="TextBox 46"/>
          <p:cNvSpPr txBox="1"/>
          <p:nvPr/>
        </p:nvSpPr>
        <p:spPr>
          <a:xfrm>
            <a:off x="6751785"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8" name="TextBox 47"/>
          <p:cNvSpPr txBox="1"/>
          <p:nvPr/>
        </p:nvSpPr>
        <p:spPr>
          <a:xfrm>
            <a:off x="2536362"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49" name="TextBox 48"/>
          <p:cNvSpPr txBox="1"/>
          <p:nvPr/>
        </p:nvSpPr>
        <p:spPr>
          <a:xfrm>
            <a:off x="4312446"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50" name="TextBox 49"/>
          <p:cNvSpPr txBox="1"/>
          <p:nvPr/>
        </p:nvSpPr>
        <p:spPr>
          <a:xfrm>
            <a:off x="6226590"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51" name="TextBox 50"/>
          <p:cNvSpPr txBox="1"/>
          <p:nvPr/>
        </p:nvSpPr>
        <p:spPr>
          <a:xfrm>
            <a:off x="8016919" y="2579193"/>
            <a:ext cx="444352" cy="430887"/>
          </a:xfrm>
          <a:prstGeom prst="rect">
            <a:avLst/>
          </a:prstGeom>
          <a:noFill/>
        </p:spPr>
        <p:txBody>
          <a:bodyPr wrap="none" rtlCol="0">
            <a:spAutoFit/>
          </a:bodyPr>
          <a:lstStyle/>
          <a:p>
            <a:r>
              <a:rPr lang="en-US" sz="2200" dirty="0">
                <a:latin typeface="Cambria Math" charset="0"/>
                <a:ea typeface="Cambria Math" charset="0"/>
                <a:cs typeface="Cambria Math" charset="0"/>
              </a:rPr>
              <a:t>W</a:t>
            </a:r>
          </a:p>
        </p:txBody>
      </p:sp>
      <p:sp>
        <p:nvSpPr>
          <p:cNvPr id="52" name="TextBox 51"/>
          <p:cNvSpPr txBox="1"/>
          <p:nvPr/>
        </p:nvSpPr>
        <p:spPr>
          <a:xfrm>
            <a:off x="1663101" y="1361652"/>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53" name="TextBox 52"/>
          <p:cNvSpPr txBox="1"/>
          <p:nvPr/>
        </p:nvSpPr>
        <p:spPr>
          <a:xfrm>
            <a:off x="5335867" y="1361261"/>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54" name="TextBox 53"/>
          <p:cNvSpPr txBox="1"/>
          <p:nvPr/>
        </p:nvSpPr>
        <p:spPr>
          <a:xfrm>
            <a:off x="3496539" y="1361652"/>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55" name="TextBox 54"/>
          <p:cNvSpPr txBox="1"/>
          <p:nvPr/>
        </p:nvSpPr>
        <p:spPr>
          <a:xfrm>
            <a:off x="7195093" y="1365950"/>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
        <p:nvSpPr>
          <p:cNvPr id="56" name="TextBox 55"/>
          <p:cNvSpPr txBox="1"/>
          <p:nvPr/>
        </p:nvSpPr>
        <p:spPr>
          <a:xfrm>
            <a:off x="994154" y="2260655"/>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57" name="TextBox 56"/>
          <p:cNvSpPr txBox="1"/>
          <p:nvPr/>
        </p:nvSpPr>
        <p:spPr>
          <a:xfrm>
            <a:off x="4666920" y="2260264"/>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58" name="TextBox 57"/>
          <p:cNvSpPr txBox="1"/>
          <p:nvPr/>
        </p:nvSpPr>
        <p:spPr>
          <a:xfrm>
            <a:off x="2827592" y="2260655"/>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59" name="TextBox 58"/>
          <p:cNvSpPr txBox="1"/>
          <p:nvPr/>
        </p:nvSpPr>
        <p:spPr>
          <a:xfrm>
            <a:off x="6526146" y="2264953"/>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Tree>
    <p:extLst>
      <p:ext uri="{BB962C8B-B14F-4D97-AF65-F5344CB8AC3E}">
        <p14:creationId xmlns:p14="http://schemas.microsoft.com/office/powerpoint/2010/main" val="2016407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6" grpId="0"/>
      <p:bldP spid="37" grpId="0"/>
      <p:bldP spid="38"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“Unrolling” the RNN</a:t>
            </a:r>
            <a:endParaRPr lang="en-US" dirty="0">
              <a:latin typeface="Avenir Book" charset="0"/>
              <a:ea typeface="Avenir Book" charset="0"/>
              <a:cs typeface="Avenir Book" charset="0"/>
            </a:endParaRPr>
          </a:p>
        </p:txBody>
      </p:sp>
      <p:grpSp>
        <p:nvGrpSpPr>
          <p:cNvPr id="8" name="Group 7"/>
          <p:cNvGrpSpPr/>
          <p:nvPr/>
        </p:nvGrpSpPr>
        <p:grpSpPr>
          <a:xfrm>
            <a:off x="1213124" y="1853803"/>
            <a:ext cx="1314450" cy="2546747"/>
            <a:chOff x="2055812" y="1981200"/>
            <a:chExt cx="2438400" cy="4724400"/>
          </a:xfrm>
        </p:grpSpPr>
        <p:sp>
          <p:nvSpPr>
            <p:cNvPr id="9" name="Oval 8"/>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0" name="Straight Arrow Connector 9"/>
            <p:cNvCxnSpPr>
              <a:endCxn id="12"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3028950" y="1853803"/>
            <a:ext cx="1314450" cy="2546747"/>
            <a:chOff x="2055812" y="1981200"/>
            <a:chExt cx="2438400" cy="4724400"/>
          </a:xfrm>
        </p:grpSpPr>
        <p:sp>
          <p:nvSpPr>
            <p:cNvPr id="13" name="Oval 12"/>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4" name="Straight Arrow Connector 13"/>
            <p:cNvCxnSpPr>
              <a:endCxn id="26" idx="4"/>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4857750" y="1853803"/>
            <a:ext cx="1314450" cy="2546747"/>
            <a:chOff x="2055812" y="1981200"/>
            <a:chExt cx="2438400" cy="4724400"/>
          </a:xfrm>
        </p:grpSpPr>
        <p:sp>
          <p:nvSpPr>
            <p:cNvPr id="17" name="Oval 16"/>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8" name="Straight Arrow Connector 17"/>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6686550" y="1853803"/>
            <a:ext cx="1314450" cy="2546747"/>
            <a:chOff x="2055812" y="1981200"/>
            <a:chExt cx="2438400" cy="4724400"/>
          </a:xfrm>
        </p:grpSpPr>
        <p:sp>
          <p:nvSpPr>
            <p:cNvPr id="21" name="Oval 20"/>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22" name="Straight Arrow Connector 21"/>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cxnSp>
        <p:nvCxnSpPr>
          <p:cNvPr id="24" name="Straight Arrow Connector 23"/>
          <p:cNvCxnSpPr>
            <a:stCxn id="10" idx="6"/>
            <a:endCxn id="24" idx="2"/>
          </p:cNvCxnSpPr>
          <p:nvPr/>
        </p:nvCxnSpPr>
        <p:spPr>
          <a:xfrm>
            <a:off x="25275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3563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1722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80010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410606" y="4392793"/>
            <a:ext cx="982961" cy="430887"/>
          </a:xfrm>
          <a:prstGeom prst="rect">
            <a:avLst/>
          </a:prstGeom>
          <a:noFill/>
        </p:spPr>
        <p:txBody>
          <a:bodyPr wrap="none" rtlCol="0">
            <a:spAutoFit/>
          </a:bodyPr>
          <a:lstStyle/>
          <a:p>
            <a:r>
              <a:rPr lang="en-US" sz="2200" dirty="0">
                <a:latin typeface="Avenir Book" charset="0"/>
                <a:ea typeface="Avenir Book" charset="0"/>
                <a:cs typeface="Avenir Book" charset="0"/>
              </a:rPr>
              <a:t>“This”</a:t>
            </a:r>
          </a:p>
        </p:txBody>
      </p:sp>
      <p:sp>
        <p:nvSpPr>
          <p:cNvPr id="29" name="TextBox 28"/>
          <p:cNvSpPr txBox="1"/>
          <p:nvPr/>
        </p:nvSpPr>
        <p:spPr>
          <a:xfrm>
            <a:off x="3354192" y="4392793"/>
            <a:ext cx="663964" cy="430887"/>
          </a:xfrm>
          <a:prstGeom prst="rect">
            <a:avLst/>
          </a:prstGeom>
          <a:noFill/>
        </p:spPr>
        <p:txBody>
          <a:bodyPr wrap="none" rtlCol="0">
            <a:spAutoFit/>
          </a:bodyPr>
          <a:lstStyle/>
          <a:p>
            <a:r>
              <a:rPr lang="en-US" sz="2200" smtClean="0">
                <a:latin typeface="Avenir Book" charset="0"/>
                <a:ea typeface="Avenir Book" charset="0"/>
                <a:cs typeface="Avenir Book" charset="0"/>
              </a:rPr>
              <a:t>“is</a:t>
            </a:r>
            <a:r>
              <a:rPr lang="en-US" sz="2200" dirty="0">
                <a:latin typeface="Avenir Book" charset="0"/>
                <a:ea typeface="Avenir Book" charset="0"/>
                <a:cs typeface="Avenir Book" charset="0"/>
              </a:rPr>
              <a:t>”</a:t>
            </a:r>
          </a:p>
        </p:txBody>
      </p:sp>
      <p:sp>
        <p:nvSpPr>
          <p:cNvPr id="30" name="TextBox 29"/>
          <p:cNvSpPr txBox="1"/>
          <p:nvPr/>
        </p:nvSpPr>
        <p:spPr>
          <a:xfrm>
            <a:off x="4945747" y="4392793"/>
            <a:ext cx="1138453" cy="430887"/>
          </a:xfrm>
          <a:prstGeom prst="rect">
            <a:avLst/>
          </a:prstGeom>
          <a:noFill/>
        </p:spPr>
        <p:txBody>
          <a:bodyPr wrap="none" rtlCol="0">
            <a:spAutoFit/>
          </a:bodyPr>
          <a:lstStyle/>
          <a:p>
            <a:r>
              <a:rPr lang="en-US" sz="2200" smtClean="0">
                <a:latin typeface="Avenir Book" charset="0"/>
                <a:ea typeface="Avenir Book" charset="0"/>
                <a:cs typeface="Avenir Book" charset="0"/>
              </a:rPr>
              <a:t>“great”</a:t>
            </a:r>
            <a:endParaRPr lang="en-US" sz="2200" dirty="0">
              <a:latin typeface="Avenir Book" charset="0"/>
              <a:ea typeface="Avenir Book" charset="0"/>
              <a:cs typeface="Avenir Book" charset="0"/>
            </a:endParaRPr>
          </a:p>
        </p:txBody>
      </p:sp>
      <p:sp>
        <p:nvSpPr>
          <p:cNvPr id="31" name="TextBox 30"/>
          <p:cNvSpPr txBox="1"/>
          <p:nvPr/>
        </p:nvSpPr>
        <p:spPr>
          <a:xfrm>
            <a:off x="7066294" y="4412877"/>
            <a:ext cx="554960" cy="430887"/>
          </a:xfrm>
          <a:prstGeom prst="rect">
            <a:avLst/>
          </a:prstGeom>
          <a:noFill/>
        </p:spPr>
        <p:txBody>
          <a:bodyPr wrap="none" rtlCol="0">
            <a:spAutoFit/>
          </a:bodyPr>
          <a:lstStyle/>
          <a:p>
            <a:r>
              <a:rPr lang="en-US" sz="2200" dirty="0" smtClean="0">
                <a:latin typeface="Avenir Book" charset="0"/>
                <a:ea typeface="Avenir Book" charset="0"/>
                <a:cs typeface="Avenir Book" charset="0"/>
              </a:rPr>
              <a:t>“!”</a:t>
            </a:r>
            <a:endParaRPr lang="en-US" sz="2200" dirty="0">
              <a:latin typeface="Avenir Book" charset="0"/>
              <a:ea typeface="Avenir Book" charset="0"/>
              <a:cs typeface="Avenir Book" charset="0"/>
            </a:endParaRPr>
          </a:p>
        </p:txBody>
      </p:sp>
      <p:sp>
        <p:nvSpPr>
          <p:cNvPr id="32" name="TextBox 31"/>
          <p:cNvSpPr txBox="1"/>
          <p:nvPr/>
        </p:nvSpPr>
        <p:spPr>
          <a:xfrm>
            <a:off x="1711583" y="1373985"/>
            <a:ext cx="320922" cy="430887"/>
          </a:xfrm>
          <a:prstGeom prst="rect">
            <a:avLst/>
          </a:prstGeom>
          <a:noFill/>
        </p:spPr>
        <p:txBody>
          <a:bodyPr wrap="none" rtlCol="0">
            <a:spAutoFit/>
          </a:bodyPr>
          <a:lstStyle/>
          <a:p>
            <a:r>
              <a:rPr lang="en-US" sz="2200" dirty="0" smtClean="0">
                <a:latin typeface="Avenir Book" charset="0"/>
                <a:ea typeface="Avenir Book" charset="0"/>
                <a:cs typeface="Avenir Book" charset="0"/>
              </a:rPr>
              <a:t>?</a:t>
            </a:r>
            <a:endParaRPr lang="en-US" sz="2200" dirty="0">
              <a:latin typeface="Avenir Book" charset="0"/>
              <a:ea typeface="Avenir Book" charset="0"/>
              <a:cs typeface="Avenir Book" charset="0"/>
            </a:endParaRPr>
          </a:p>
        </p:txBody>
      </p:sp>
      <p:sp>
        <p:nvSpPr>
          <p:cNvPr id="33" name="TextBox 32"/>
          <p:cNvSpPr txBox="1"/>
          <p:nvPr/>
        </p:nvSpPr>
        <p:spPr>
          <a:xfrm>
            <a:off x="3525711" y="1373984"/>
            <a:ext cx="320922" cy="430887"/>
          </a:xfrm>
          <a:prstGeom prst="rect">
            <a:avLst/>
          </a:prstGeom>
          <a:noFill/>
        </p:spPr>
        <p:txBody>
          <a:bodyPr wrap="none" rtlCol="0">
            <a:spAutoFit/>
          </a:bodyPr>
          <a:lstStyle/>
          <a:p>
            <a:r>
              <a:rPr lang="en-US" sz="2200" smtClean="0">
                <a:latin typeface="Avenir Book" charset="0"/>
                <a:ea typeface="Avenir Book" charset="0"/>
                <a:cs typeface="Avenir Book" charset="0"/>
              </a:rPr>
              <a:t>?</a:t>
            </a:r>
            <a:endParaRPr lang="en-US" sz="2200" dirty="0">
              <a:latin typeface="Avenir Book" charset="0"/>
              <a:ea typeface="Avenir Book" charset="0"/>
              <a:cs typeface="Avenir Book" charset="0"/>
            </a:endParaRPr>
          </a:p>
        </p:txBody>
      </p:sp>
      <p:sp>
        <p:nvSpPr>
          <p:cNvPr id="34" name="TextBox 33"/>
          <p:cNvSpPr txBox="1"/>
          <p:nvPr/>
        </p:nvSpPr>
        <p:spPr>
          <a:xfrm>
            <a:off x="5328864" y="1356456"/>
            <a:ext cx="372218" cy="430887"/>
          </a:xfrm>
          <a:prstGeom prst="rect">
            <a:avLst/>
          </a:prstGeom>
          <a:noFill/>
        </p:spPr>
        <p:txBody>
          <a:bodyPr wrap="none" rtlCol="0">
            <a:spAutoFit/>
          </a:bodyPr>
          <a:lstStyle/>
          <a:p>
            <a:r>
              <a:rPr lang="en-US" sz="2200" dirty="0" smtClean="0">
                <a:latin typeface="Avenir Book" charset="0"/>
                <a:ea typeface="Avenir Book" charset="0"/>
                <a:cs typeface="Avenir Book" charset="0"/>
              </a:rPr>
              <a:t>+</a:t>
            </a:r>
            <a:endParaRPr lang="en-US" sz="2200" dirty="0">
              <a:latin typeface="Avenir Book" charset="0"/>
              <a:ea typeface="Avenir Book" charset="0"/>
              <a:cs typeface="Avenir Book" charset="0"/>
            </a:endParaRPr>
          </a:p>
        </p:txBody>
      </p:sp>
      <p:sp>
        <p:nvSpPr>
          <p:cNvPr id="35" name="TextBox 34"/>
          <p:cNvSpPr txBox="1"/>
          <p:nvPr/>
        </p:nvSpPr>
        <p:spPr>
          <a:xfrm>
            <a:off x="7066294" y="1330286"/>
            <a:ext cx="559769" cy="430887"/>
          </a:xfrm>
          <a:prstGeom prst="rect">
            <a:avLst/>
          </a:prstGeom>
          <a:noFill/>
        </p:spPr>
        <p:txBody>
          <a:bodyPr wrap="none" rtlCol="0">
            <a:spAutoFit/>
          </a:bodyPr>
          <a:lstStyle/>
          <a:p>
            <a:r>
              <a:rPr lang="en-US" sz="2200" dirty="0" smtClean="0">
                <a:latin typeface="Avenir Book" charset="0"/>
                <a:ea typeface="Avenir Book" charset="0"/>
                <a:cs typeface="Avenir Book" charset="0"/>
              </a:rPr>
              <a:t>++</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97161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2" grpId="0"/>
      <p:bldP spid="33" grpId="0"/>
      <p:bldP spid="34" grpId="0"/>
      <p:bldP spid="3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“Unrolling” the RNN</a:t>
            </a:r>
            <a:endParaRPr lang="en-US" dirty="0">
              <a:latin typeface="Avenir Book" charset="0"/>
              <a:ea typeface="Avenir Book" charset="0"/>
              <a:cs typeface="Avenir Book" charset="0"/>
            </a:endParaRPr>
          </a:p>
        </p:txBody>
      </p:sp>
      <p:grpSp>
        <p:nvGrpSpPr>
          <p:cNvPr id="8" name="Group 7"/>
          <p:cNvGrpSpPr/>
          <p:nvPr/>
        </p:nvGrpSpPr>
        <p:grpSpPr>
          <a:xfrm>
            <a:off x="1213124" y="1853803"/>
            <a:ext cx="1314450" cy="2546747"/>
            <a:chOff x="2055812" y="1981200"/>
            <a:chExt cx="2438400" cy="4724400"/>
          </a:xfrm>
        </p:grpSpPr>
        <p:sp>
          <p:nvSpPr>
            <p:cNvPr id="9" name="Oval 8"/>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0" name="Straight Arrow Connector 9"/>
            <p:cNvCxnSpPr>
              <a:endCxn id="12" idx="4"/>
            </p:cNvCxnSpPr>
            <p:nvPr/>
          </p:nvCxnSpPr>
          <p:spPr>
            <a:xfrm flipV="1">
              <a:off x="3275010" y="5562601"/>
              <a:ext cx="2" cy="1142999"/>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3028950" y="1853803"/>
            <a:ext cx="1314450" cy="2546747"/>
            <a:chOff x="2055812" y="1981200"/>
            <a:chExt cx="2438400" cy="4724400"/>
          </a:xfrm>
        </p:grpSpPr>
        <p:sp>
          <p:nvSpPr>
            <p:cNvPr id="13" name="Oval 12"/>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4" name="Straight Arrow Connector 13"/>
            <p:cNvCxnSpPr>
              <a:endCxn id="26" idx="4"/>
            </p:cNvCxnSpPr>
            <p:nvPr/>
          </p:nvCxnSpPr>
          <p:spPr>
            <a:xfrm flipV="1">
              <a:off x="3275010" y="5562601"/>
              <a:ext cx="2" cy="1142999"/>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4857750" y="1853803"/>
            <a:ext cx="1314450" cy="2546747"/>
            <a:chOff x="2055812" y="1981200"/>
            <a:chExt cx="2438400" cy="4724400"/>
          </a:xfrm>
        </p:grpSpPr>
        <p:sp>
          <p:nvSpPr>
            <p:cNvPr id="17" name="Oval 16"/>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8" name="Straight Arrow Connector 17"/>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6686550" y="1853803"/>
            <a:ext cx="1314450" cy="2546747"/>
            <a:chOff x="2055812" y="1981200"/>
            <a:chExt cx="2438400" cy="4724400"/>
          </a:xfrm>
        </p:grpSpPr>
        <p:sp>
          <p:nvSpPr>
            <p:cNvPr id="21" name="Oval 20"/>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22" name="Straight Arrow Connector 21"/>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cxnSp>
        <p:nvCxnSpPr>
          <p:cNvPr id="24" name="Straight Arrow Connector 23"/>
          <p:cNvCxnSpPr>
            <a:stCxn id="10" idx="6"/>
            <a:endCxn id="24" idx="2"/>
          </p:cNvCxnSpPr>
          <p:nvPr/>
        </p:nvCxnSpPr>
        <p:spPr>
          <a:xfrm>
            <a:off x="25275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3563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1722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80010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271228"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1" name="TextBox 40"/>
          <p:cNvSpPr txBox="1"/>
          <p:nvPr/>
        </p:nvSpPr>
        <p:spPr>
          <a:xfrm>
            <a:off x="3047312"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2" name="TextBox 41"/>
          <p:cNvSpPr txBox="1"/>
          <p:nvPr/>
        </p:nvSpPr>
        <p:spPr>
          <a:xfrm>
            <a:off x="4961456"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3" name="TextBox 42"/>
          <p:cNvSpPr txBox="1"/>
          <p:nvPr/>
        </p:nvSpPr>
        <p:spPr>
          <a:xfrm>
            <a:off x="6751785"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4" name="TextBox 43"/>
          <p:cNvSpPr txBox="1"/>
          <p:nvPr/>
        </p:nvSpPr>
        <p:spPr>
          <a:xfrm>
            <a:off x="1271228"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5" name="TextBox 44"/>
          <p:cNvSpPr txBox="1"/>
          <p:nvPr/>
        </p:nvSpPr>
        <p:spPr>
          <a:xfrm>
            <a:off x="3047312"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6" name="TextBox 45"/>
          <p:cNvSpPr txBox="1"/>
          <p:nvPr/>
        </p:nvSpPr>
        <p:spPr>
          <a:xfrm>
            <a:off x="4961456"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7" name="TextBox 46"/>
          <p:cNvSpPr txBox="1"/>
          <p:nvPr/>
        </p:nvSpPr>
        <p:spPr>
          <a:xfrm>
            <a:off x="6751785"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8" name="TextBox 47"/>
          <p:cNvSpPr txBox="1"/>
          <p:nvPr/>
        </p:nvSpPr>
        <p:spPr>
          <a:xfrm>
            <a:off x="2536362"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49" name="TextBox 48"/>
          <p:cNvSpPr txBox="1"/>
          <p:nvPr/>
        </p:nvSpPr>
        <p:spPr>
          <a:xfrm>
            <a:off x="4312446"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50" name="TextBox 49"/>
          <p:cNvSpPr txBox="1"/>
          <p:nvPr/>
        </p:nvSpPr>
        <p:spPr>
          <a:xfrm>
            <a:off x="6226590"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51" name="TextBox 50"/>
          <p:cNvSpPr txBox="1"/>
          <p:nvPr/>
        </p:nvSpPr>
        <p:spPr>
          <a:xfrm>
            <a:off x="8016919" y="2579193"/>
            <a:ext cx="444352" cy="430887"/>
          </a:xfrm>
          <a:prstGeom prst="rect">
            <a:avLst/>
          </a:prstGeom>
          <a:noFill/>
        </p:spPr>
        <p:txBody>
          <a:bodyPr wrap="none" rtlCol="0">
            <a:spAutoFit/>
          </a:bodyPr>
          <a:lstStyle/>
          <a:p>
            <a:r>
              <a:rPr lang="en-US" sz="2200" dirty="0">
                <a:latin typeface="Cambria Math" charset="0"/>
                <a:ea typeface="Cambria Math" charset="0"/>
                <a:cs typeface="Cambria Math" charset="0"/>
              </a:rPr>
              <a:t>W</a:t>
            </a:r>
          </a:p>
        </p:txBody>
      </p:sp>
      <p:sp>
        <p:nvSpPr>
          <p:cNvPr id="52" name="TextBox 51"/>
          <p:cNvSpPr txBox="1"/>
          <p:nvPr/>
        </p:nvSpPr>
        <p:spPr>
          <a:xfrm>
            <a:off x="1663101" y="1361652"/>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53" name="TextBox 52"/>
          <p:cNvSpPr txBox="1"/>
          <p:nvPr/>
        </p:nvSpPr>
        <p:spPr>
          <a:xfrm>
            <a:off x="5335867" y="1361261"/>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54" name="TextBox 53"/>
          <p:cNvSpPr txBox="1"/>
          <p:nvPr/>
        </p:nvSpPr>
        <p:spPr>
          <a:xfrm>
            <a:off x="3496539" y="1361652"/>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55" name="TextBox 54"/>
          <p:cNvSpPr txBox="1"/>
          <p:nvPr/>
        </p:nvSpPr>
        <p:spPr>
          <a:xfrm>
            <a:off x="7195093" y="1365950"/>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
        <p:nvSpPr>
          <p:cNvPr id="56" name="TextBox 55"/>
          <p:cNvSpPr txBox="1"/>
          <p:nvPr/>
        </p:nvSpPr>
        <p:spPr>
          <a:xfrm>
            <a:off x="994154" y="2260655"/>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57" name="TextBox 56"/>
          <p:cNvSpPr txBox="1"/>
          <p:nvPr/>
        </p:nvSpPr>
        <p:spPr>
          <a:xfrm>
            <a:off x="4666920" y="2260264"/>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58" name="TextBox 57"/>
          <p:cNvSpPr txBox="1"/>
          <p:nvPr/>
        </p:nvSpPr>
        <p:spPr>
          <a:xfrm>
            <a:off x="2827592" y="2260655"/>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59" name="TextBox 58"/>
          <p:cNvSpPr txBox="1"/>
          <p:nvPr/>
        </p:nvSpPr>
        <p:spPr>
          <a:xfrm>
            <a:off x="6526146" y="2264953"/>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
        <p:nvSpPr>
          <p:cNvPr id="60" name="Rectangle 59"/>
          <p:cNvSpPr/>
          <p:nvPr/>
        </p:nvSpPr>
        <p:spPr>
          <a:xfrm>
            <a:off x="606909" y="1361261"/>
            <a:ext cx="7493737" cy="9295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1" name="TextBox 60"/>
          <p:cNvSpPr txBox="1"/>
          <p:nvPr/>
        </p:nvSpPr>
        <p:spPr>
          <a:xfrm>
            <a:off x="606910" y="835432"/>
            <a:ext cx="7493736" cy="400110"/>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In </a:t>
            </a:r>
            <a:r>
              <a:rPr lang="en-US" sz="2000" dirty="0" err="1" smtClean="0">
                <a:solidFill>
                  <a:srgbClr val="FF0000"/>
                </a:solidFill>
                <a:latin typeface="Avenir Book" charset="0"/>
                <a:ea typeface="Avenir Book" charset="0"/>
                <a:cs typeface="Avenir Book" charset="0"/>
              </a:rPr>
              <a:t>Keras</a:t>
            </a:r>
            <a:r>
              <a:rPr lang="en-US" sz="2000" dirty="0" smtClean="0">
                <a:solidFill>
                  <a:srgbClr val="FF0000"/>
                </a:solidFill>
                <a:latin typeface="Avenir Book" charset="0"/>
                <a:ea typeface="Avenir Book" charset="0"/>
                <a:cs typeface="Avenir Book" charset="0"/>
              </a:rPr>
              <a:t>, this part is accomplished by a subsequent Dense layer</a:t>
            </a:r>
            <a:endParaRPr lang="en-US" sz="2000" dirty="0">
              <a:solidFill>
                <a:srgbClr val="FF0000"/>
              </a:solidFill>
              <a:latin typeface="Avenir Book" charset="0"/>
              <a:ea typeface="Avenir Book" charset="0"/>
              <a:cs typeface="Avenir Book" charset="0"/>
            </a:endParaRPr>
          </a:p>
        </p:txBody>
      </p:sp>
      <p:sp>
        <p:nvSpPr>
          <p:cNvPr id="62" name="TextBox 61"/>
          <p:cNvSpPr txBox="1"/>
          <p:nvPr/>
        </p:nvSpPr>
        <p:spPr>
          <a:xfrm>
            <a:off x="1626356" y="4351650"/>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63" name="TextBox 62"/>
          <p:cNvSpPr txBox="1"/>
          <p:nvPr/>
        </p:nvSpPr>
        <p:spPr>
          <a:xfrm>
            <a:off x="5264657" y="4347897"/>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64" name="TextBox 63"/>
          <p:cNvSpPr txBox="1"/>
          <p:nvPr/>
        </p:nvSpPr>
        <p:spPr>
          <a:xfrm>
            <a:off x="3400145" y="4347896"/>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65" name="TextBox 64"/>
          <p:cNvSpPr txBox="1"/>
          <p:nvPr/>
        </p:nvSpPr>
        <p:spPr>
          <a:xfrm>
            <a:off x="7099782" y="4347896"/>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Tree>
    <p:extLst>
      <p:ext uri="{BB962C8B-B14F-4D97-AF65-F5344CB8AC3E}">
        <p14:creationId xmlns:p14="http://schemas.microsoft.com/office/powerpoint/2010/main" val="51451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6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animBg="1"/>
      <p:bldP spid="61" grpId="0"/>
      <p:bldP spid="62" grpId="0"/>
      <p:bldP spid="63" grpId="0"/>
      <p:bldP spid="64" grpId="0"/>
      <p:bldP spid="6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“Unrolling” the RNN</a:t>
            </a:r>
            <a:endParaRPr lang="en-US" dirty="0">
              <a:latin typeface="Avenir Book" charset="0"/>
              <a:ea typeface="Avenir Book" charset="0"/>
              <a:cs typeface="Avenir Book" charset="0"/>
            </a:endParaRPr>
          </a:p>
        </p:txBody>
      </p:sp>
      <p:grpSp>
        <p:nvGrpSpPr>
          <p:cNvPr id="8" name="Group 7"/>
          <p:cNvGrpSpPr/>
          <p:nvPr/>
        </p:nvGrpSpPr>
        <p:grpSpPr>
          <a:xfrm>
            <a:off x="1213124" y="1853803"/>
            <a:ext cx="1314450" cy="2546747"/>
            <a:chOff x="2055812" y="1981200"/>
            <a:chExt cx="2438400" cy="4724400"/>
          </a:xfrm>
        </p:grpSpPr>
        <p:sp>
          <p:nvSpPr>
            <p:cNvPr id="9" name="Oval 8"/>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0" name="Straight Arrow Connector 9"/>
            <p:cNvCxnSpPr>
              <a:endCxn id="12" idx="4"/>
            </p:cNvCxnSpPr>
            <p:nvPr/>
          </p:nvCxnSpPr>
          <p:spPr>
            <a:xfrm flipV="1">
              <a:off x="3275010" y="5562601"/>
              <a:ext cx="2" cy="1142999"/>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3028950" y="1853803"/>
            <a:ext cx="1314450" cy="2546747"/>
            <a:chOff x="2055812" y="1981200"/>
            <a:chExt cx="2438400" cy="4724400"/>
          </a:xfrm>
        </p:grpSpPr>
        <p:sp>
          <p:nvSpPr>
            <p:cNvPr id="13" name="Oval 12"/>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4" name="Straight Arrow Connector 13"/>
            <p:cNvCxnSpPr>
              <a:endCxn id="26" idx="4"/>
            </p:cNvCxnSpPr>
            <p:nvPr/>
          </p:nvCxnSpPr>
          <p:spPr>
            <a:xfrm flipV="1">
              <a:off x="3275010" y="5562601"/>
              <a:ext cx="2" cy="1142999"/>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4857750" y="1853803"/>
            <a:ext cx="1314450" cy="2546747"/>
            <a:chOff x="2055812" y="1981200"/>
            <a:chExt cx="2438400" cy="4724400"/>
          </a:xfrm>
        </p:grpSpPr>
        <p:sp>
          <p:nvSpPr>
            <p:cNvPr id="17" name="Oval 16"/>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8" name="Straight Arrow Connector 17"/>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6686550" y="1853803"/>
            <a:ext cx="1314450" cy="2546747"/>
            <a:chOff x="2055812" y="1981200"/>
            <a:chExt cx="2438400" cy="4724400"/>
          </a:xfrm>
        </p:grpSpPr>
        <p:sp>
          <p:nvSpPr>
            <p:cNvPr id="21" name="Oval 20"/>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22" name="Straight Arrow Connector 21"/>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cxnSp>
        <p:nvCxnSpPr>
          <p:cNvPr id="24" name="Straight Arrow Connector 23"/>
          <p:cNvCxnSpPr>
            <a:stCxn id="10" idx="6"/>
            <a:endCxn id="24" idx="2"/>
          </p:cNvCxnSpPr>
          <p:nvPr/>
        </p:nvCxnSpPr>
        <p:spPr>
          <a:xfrm>
            <a:off x="25275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3563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1722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80010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271228"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1" name="TextBox 40"/>
          <p:cNvSpPr txBox="1"/>
          <p:nvPr/>
        </p:nvSpPr>
        <p:spPr>
          <a:xfrm>
            <a:off x="3047312"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2" name="TextBox 41"/>
          <p:cNvSpPr txBox="1"/>
          <p:nvPr/>
        </p:nvSpPr>
        <p:spPr>
          <a:xfrm>
            <a:off x="4961456"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3" name="TextBox 42"/>
          <p:cNvSpPr txBox="1"/>
          <p:nvPr/>
        </p:nvSpPr>
        <p:spPr>
          <a:xfrm>
            <a:off x="6751785"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4" name="TextBox 43"/>
          <p:cNvSpPr txBox="1"/>
          <p:nvPr/>
        </p:nvSpPr>
        <p:spPr>
          <a:xfrm>
            <a:off x="1271228"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5" name="TextBox 44"/>
          <p:cNvSpPr txBox="1"/>
          <p:nvPr/>
        </p:nvSpPr>
        <p:spPr>
          <a:xfrm>
            <a:off x="3047312"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6" name="TextBox 45"/>
          <p:cNvSpPr txBox="1"/>
          <p:nvPr/>
        </p:nvSpPr>
        <p:spPr>
          <a:xfrm>
            <a:off x="4961456"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7" name="TextBox 46"/>
          <p:cNvSpPr txBox="1"/>
          <p:nvPr/>
        </p:nvSpPr>
        <p:spPr>
          <a:xfrm>
            <a:off x="6751785"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8" name="TextBox 47"/>
          <p:cNvSpPr txBox="1"/>
          <p:nvPr/>
        </p:nvSpPr>
        <p:spPr>
          <a:xfrm>
            <a:off x="2536362"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49" name="TextBox 48"/>
          <p:cNvSpPr txBox="1"/>
          <p:nvPr/>
        </p:nvSpPr>
        <p:spPr>
          <a:xfrm>
            <a:off x="4312446"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50" name="TextBox 49"/>
          <p:cNvSpPr txBox="1"/>
          <p:nvPr/>
        </p:nvSpPr>
        <p:spPr>
          <a:xfrm>
            <a:off x="6226590"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51" name="TextBox 50"/>
          <p:cNvSpPr txBox="1"/>
          <p:nvPr/>
        </p:nvSpPr>
        <p:spPr>
          <a:xfrm>
            <a:off x="8016919" y="2579193"/>
            <a:ext cx="444352" cy="430887"/>
          </a:xfrm>
          <a:prstGeom prst="rect">
            <a:avLst/>
          </a:prstGeom>
          <a:noFill/>
        </p:spPr>
        <p:txBody>
          <a:bodyPr wrap="none" rtlCol="0">
            <a:spAutoFit/>
          </a:bodyPr>
          <a:lstStyle/>
          <a:p>
            <a:r>
              <a:rPr lang="en-US" sz="2200" dirty="0">
                <a:latin typeface="Cambria Math" charset="0"/>
                <a:ea typeface="Cambria Math" charset="0"/>
                <a:cs typeface="Cambria Math" charset="0"/>
              </a:rPr>
              <a:t>W</a:t>
            </a:r>
          </a:p>
        </p:txBody>
      </p:sp>
      <p:sp>
        <p:nvSpPr>
          <p:cNvPr id="52" name="TextBox 51"/>
          <p:cNvSpPr txBox="1"/>
          <p:nvPr/>
        </p:nvSpPr>
        <p:spPr>
          <a:xfrm>
            <a:off x="1663101" y="1361652"/>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53" name="TextBox 52"/>
          <p:cNvSpPr txBox="1"/>
          <p:nvPr/>
        </p:nvSpPr>
        <p:spPr>
          <a:xfrm>
            <a:off x="5335867" y="1361261"/>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54" name="TextBox 53"/>
          <p:cNvSpPr txBox="1"/>
          <p:nvPr/>
        </p:nvSpPr>
        <p:spPr>
          <a:xfrm>
            <a:off x="3496539" y="1361652"/>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55" name="TextBox 54"/>
          <p:cNvSpPr txBox="1"/>
          <p:nvPr/>
        </p:nvSpPr>
        <p:spPr>
          <a:xfrm>
            <a:off x="7195093" y="1365950"/>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
        <p:nvSpPr>
          <p:cNvPr id="56" name="TextBox 55"/>
          <p:cNvSpPr txBox="1"/>
          <p:nvPr/>
        </p:nvSpPr>
        <p:spPr>
          <a:xfrm>
            <a:off x="994154" y="2260655"/>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57" name="TextBox 56"/>
          <p:cNvSpPr txBox="1"/>
          <p:nvPr/>
        </p:nvSpPr>
        <p:spPr>
          <a:xfrm>
            <a:off x="4666920" y="2260264"/>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58" name="TextBox 57"/>
          <p:cNvSpPr txBox="1"/>
          <p:nvPr/>
        </p:nvSpPr>
        <p:spPr>
          <a:xfrm>
            <a:off x="2827592" y="2260655"/>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59" name="TextBox 58"/>
          <p:cNvSpPr txBox="1"/>
          <p:nvPr/>
        </p:nvSpPr>
        <p:spPr>
          <a:xfrm>
            <a:off x="6526146" y="2264953"/>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
        <p:nvSpPr>
          <p:cNvPr id="60" name="Rectangle 59"/>
          <p:cNvSpPr/>
          <p:nvPr/>
        </p:nvSpPr>
        <p:spPr>
          <a:xfrm>
            <a:off x="606910" y="2321098"/>
            <a:ext cx="8068167" cy="24576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1" name="TextBox 60"/>
          <p:cNvSpPr txBox="1"/>
          <p:nvPr/>
        </p:nvSpPr>
        <p:spPr>
          <a:xfrm>
            <a:off x="606910" y="835432"/>
            <a:ext cx="7493736" cy="400110"/>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This part is the core RNN</a:t>
            </a:r>
            <a:endParaRPr lang="en-US" sz="2000" dirty="0">
              <a:solidFill>
                <a:srgbClr val="FF0000"/>
              </a:solidFill>
              <a:latin typeface="Avenir Book" charset="0"/>
              <a:ea typeface="Avenir Book" charset="0"/>
              <a:cs typeface="Avenir Book" charset="0"/>
            </a:endParaRPr>
          </a:p>
        </p:txBody>
      </p:sp>
      <p:sp>
        <p:nvSpPr>
          <p:cNvPr id="62" name="TextBox 61"/>
          <p:cNvSpPr txBox="1"/>
          <p:nvPr/>
        </p:nvSpPr>
        <p:spPr>
          <a:xfrm>
            <a:off x="1626356" y="4351650"/>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63" name="TextBox 62"/>
          <p:cNvSpPr txBox="1"/>
          <p:nvPr/>
        </p:nvSpPr>
        <p:spPr>
          <a:xfrm>
            <a:off x="5264657" y="4347897"/>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64" name="TextBox 63"/>
          <p:cNvSpPr txBox="1"/>
          <p:nvPr/>
        </p:nvSpPr>
        <p:spPr>
          <a:xfrm>
            <a:off x="3400145" y="4347896"/>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65" name="TextBox 64"/>
          <p:cNvSpPr txBox="1"/>
          <p:nvPr/>
        </p:nvSpPr>
        <p:spPr>
          <a:xfrm>
            <a:off x="7099782" y="4347896"/>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Tree>
    <p:extLst>
      <p:ext uri="{BB962C8B-B14F-4D97-AF65-F5344CB8AC3E}">
        <p14:creationId xmlns:p14="http://schemas.microsoft.com/office/powerpoint/2010/main" val="2105406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6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animBg="1"/>
      <p:bldP spid="61" grpId="0"/>
      <p:bldP spid="62" grpId="0"/>
      <p:bldP spid="63" grpId="0"/>
      <p:bldP spid="64" grpId="0"/>
      <p:bldP spid="6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“Unrolling” the RNN</a:t>
            </a:r>
            <a:endParaRPr lang="en-US" dirty="0">
              <a:latin typeface="Avenir Book" charset="0"/>
              <a:ea typeface="Avenir Book" charset="0"/>
              <a:cs typeface="Avenir Book" charset="0"/>
            </a:endParaRPr>
          </a:p>
        </p:txBody>
      </p:sp>
      <p:grpSp>
        <p:nvGrpSpPr>
          <p:cNvPr id="8" name="Group 7"/>
          <p:cNvGrpSpPr/>
          <p:nvPr/>
        </p:nvGrpSpPr>
        <p:grpSpPr>
          <a:xfrm>
            <a:off x="1213124" y="1853803"/>
            <a:ext cx="1314450" cy="2546747"/>
            <a:chOff x="2055812" y="1981200"/>
            <a:chExt cx="2438400" cy="4724400"/>
          </a:xfrm>
        </p:grpSpPr>
        <p:sp>
          <p:nvSpPr>
            <p:cNvPr id="9" name="Oval 8"/>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0" name="Straight Arrow Connector 9"/>
            <p:cNvCxnSpPr>
              <a:endCxn id="12" idx="4"/>
            </p:cNvCxnSpPr>
            <p:nvPr/>
          </p:nvCxnSpPr>
          <p:spPr>
            <a:xfrm flipV="1">
              <a:off x="3275010" y="5562601"/>
              <a:ext cx="2" cy="1142999"/>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3028950" y="1853803"/>
            <a:ext cx="1314450" cy="2546747"/>
            <a:chOff x="2055812" y="1981200"/>
            <a:chExt cx="2438400" cy="4724400"/>
          </a:xfrm>
        </p:grpSpPr>
        <p:sp>
          <p:nvSpPr>
            <p:cNvPr id="13" name="Oval 12"/>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4" name="Straight Arrow Connector 13"/>
            <p:cNvCxnSpPr>
              <a:endCxn id="26" idx="4"/>
            </p:cNvCxnSpPr>
            <p:nvPr/>
          </p:nvCxnSpPr>
          <p:spPr>
            <a:xfrm flipV="1">
              <a:off x="3275010" y="5562601"/>
              <a:ext cx="2" cy="1142999"/>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4857750" y="1853803"/>
            <a:ext cx="1314450" cy="2546747"/>
            <a:chOff x="2055812" y="1981200"/>
            <a:chExt cx="2438400" cy="4724400"/>
          </a:xfrm>
        </p:grpSpPr>
        <p:sp>
          <p:nvSpPr>
            <p:cNvPr id="17" name="Oval 16"/>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8" name="Straight Arrow Connector 17"/>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6686550" y="1853803"/>
            <a:ext cx="1314450" cy="2546747"/>
            <a:chOff x="2055812" y="1981200"/>
            <a:chExt cx="2438400" cy="4724400"/>
          </a:xfrm>
        </p:grpSpPr>
        <p:sp>
          <p:nvSpPr>
            <p:cNvPr id="21" name="Oval 20"/>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22" name="Straight Arrow Connector 21"/>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cxnSp>
        <p:nvCxnSpPr>
          <p:cNvPr id="24" name="Straight Arrow Connector 23"/>
          <p:cNvCxnSpPr>
            <a:stCxn id="10" idx="6"/>
            <a:endCxn id="24" idx="2"/>
          </p:cNvCxnSpPr>
          <p:nvPr/>
        </p:nvCxnSpPr>
        <p:spPr>
          <a:xfrm>
            <a:off x="25275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3563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1722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80010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271228"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1" name="TextBox 40"/>
          <p:cNvSpPr txBox="1"/>
          <p:nvPr/>
        </p:nvSpPr>
        <p:spPr>
          <a:xfrm>
            <a:off x="3047312"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2" name="TextBox 41"/>
          <p:cNvSpPr txBox="1"/>
          <p:nvPr/>
        </p:nvSpPr>
        <p:spPr>
          <a:xfrm>
            <a:off x="4961456"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3" name="TextBox 42"/>
          <p:cNvSpPr txBox="1"/>
          <p:nvPr/>
        </p:nvSpPr>
        <p:spPr>
          <a:xfrm>
            <a:off x="6751785"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4" name="TextBox 43"/>
          <p:cNvSpPr txBox="1"/>
          <p:nvPr/>
        </p:nvSpPr>
        <p:spPr>
          <a:xfrm>
            <a:off x="1271228"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5" name="TextBox 44"/>
          <p:cNvSpPr txBox="1"/>
          <p:nvPr/>
        </p:nvSpPr>
        <p:spPr>
          <a:xfrm>
            <a:off x="3047312"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6" name="TextBox 45"/>
          <p:cNvSpPr txBox="1"/>
          <p:nvPr/>
        </p:nvSpPr>
        <p:spPr>
          <a:xfrm>
            <a:off x="4961456"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7" name="TextBox 46"/>
          <p:cNvSpPr txBox="1"/>
          <p:nvPr/>
        </p:nvSpPr>
        <p:spPr>
          <a:xfrm>
            <a:off x="6751785"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8" name="TextBox 47"/>
          <p:cNvSpPr txBox="1"/>
          <p:nvPr/>
        </p:nvSpPr>
        <p:spPr>
          <a:xfrm>
            <a:off x="2536362"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49" name="TextBox 48"/>
          <p:cNvSpPr txBox="1"/>
          <p:nvPr/>
        </p:nvSpPr>
        <p:spPr>
          <a:xfrm>
            <a:off x="4312446"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50" name="TextBox 49"/>
          <p:cNvSpPr txBox="1"/>
          <p:nvPr/>
        </p:nvSpPr>
        <p:spPr>
          <a:xfrm>
            <a:off x="6226590"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51" name="TextBox 50"/>
          <p:cNvSpPr txBox="1"/>
          <p:nvPr/>
        </p:nvSpPr>
        <p:spPr>
          <a:xfrm>
            <a:off x="8016919" y="2579193"/>
            <a:ext cx="444352" cy="430887"/>
          </a:xfrm>
          <a:prstGeom prst="rect">
            <a:avLst/>
          </a:prstGeom>
          <a:noFill/>
        </p:spPr>
        <p:txBody>
          <a:bodyPr wrap="none" rtlCol="0">
            <a:spAutoFit/>
          </a:bodyPr>
          <a:lstStyle/>
          <a:p>
            <a:r>
              <a:rPr lang="en-US" sz="2200" dirty="0">
                <a:latin typeface="Cambria Math" charset="0"/>
                <a:ea typeface="Cambria Math" charset="0"/>
                <a:cs typeface="Cambria Math" charset="0"/>
              </a:rPr>
              <a:t>W</a:t>
            </a:r>
          </a:p>
        </p:txBody>
      </p:sp>
      <p:sp>
        <p:nvSpPr>
          <p:cNvPr id="52" name="TextBox 51"/>
          <p:cNvSpPr txBox="1"/>
          <p:nvPr/>
        </p:nvSpPr>
        <p:spPr>
          <a:xfrm>
            <a:off x="1663101" y="1361652"/>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53" name="TextBox 52"/>
          <p:cNvSpPr txBox="1"/>
          <p:nvPr/>
        </p:nvSpPr>
        <p:spPr>
          <a:xfrm>
            <a:off x="5335867" y="1361261"/>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54" name="TextBox 53"/>
          <p:cNvSpPr txBox="1"/>
          <p:nvPr/>
        </p:nvSpPr>
        <p:spPr>
          <a:xfrm>
            <a:off x="3496539" y="1361652"/>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55" name="TextBox 54"/>
          <p:cNvSpPr txBox="1"/>
          <p:nvPr/>
        </p:nvSpPr>
        <p:spPr>
          <a:xfrm>
            <a:off x="7195093" y="1365950"/>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
        <p:nvSpPr>
          <p:cNvPr id="56" name="TextBox 55"/>
          <p:cNvSpPr txBox="1"/>
          <p:nvPr/>
        </p:nvSpPr>
        <p:spPr>
          <a:xfrm>
            <a:off x="994154" y="2260655"/>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57" name="TextBox 56"/>
          <p:cNvSpPr txBox="1"/>
          <p:nvPr/>
        </p:nvSpPr>
        <p:spPr>
          <a:xfrm>
            <a:off x="4666920" y="2260264"/>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58" name="TextBox 57"/>
          <p:cNvSpPr txBox="1"/>
          <p:nvPr/>
        </p:nvSpPr>
        <p:spPr>
          <a:xfrm>
            <a:off x="2827592" y="2260655"/>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59" name="TextBox 58"/>
          <p:cNvSpPr txBox="1"/>
          <p:nvPr/>
        </p:nvSpPr>
        <p:spPr>
          <a:xfrm>
            <a:off x="6526146" y="2264953"/>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
        <p:nvSpPr>
          <p:cNvPr id="60" name="Rectangle 59"/>
          <p:cNvSpPr/>
          <p:nvPr/>
        </p:nvSpPr>
        <p:spPr>
          <a:xfrm>
            <a:off x="606910" y="3558514"/>
            <a:ext cx="8068167" cy="12202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1" name="TextBox 60"/>
          <p:cNvSpPr txBox="1"/>
          <p:nvPr/>
        </p:nvSpPr>
        <p:spPr>
          <a:xfrm>
            <a:off x="606909" y="835432"/>
            <a:ext cx="8068168" cy="400110"/>
          </a:xfrm>
          <a:prstGeom prst="rect">
            <a:avLst/>
          </a:prstGeom>
          <a:noFill/>
        </p:spPr>
        <p:txBody>
          <a:bodyPr wrap="square" rtlCol="0">
            <a:spAutoFit/>
          </a:bodyPr>
          <a:lstStyle/>
          <a:p>
            <a:r>
              <a:rPr lang="en-US" sz="2000" dirty="0" err="1" smtClean="0">
                <a:solidFill>
                  <a:srgbClr val="FF0000"/>
                </a:solidFill>
                <a:latin typeface="Avenir Book" charset="0"/>
                <a:ea typeface="Avenir Book" charset="0"/>
                <a:cs typeface="Avenir Book" charset="0"/>
              </a:rPr>
              <a:t>Keras</a:t>
            </a:r>
            <a:r>
              <a:rPr lang="en-US" sz="2000" dirty="0" smtClean="0">
                <a:solidFill>
                  <a:srgbClr val="FF0000"/>
                </a:solidFill>
                <a:latin typeface="Avenir Book" charset="0"/>
                <a:ea typeface="Avenir Book" charset="0"/>
                <a:cs typeface="Avenir Book" charset="0"/>
              </a:rPr>
              <a:t> calls this part the “kernel” (e.g. </a:t>
            </a:r>
            <a:r>
              <a:rPr lang="en-US" sz="2000" dirty="0" err="1" smtClean="0">
                <a:solidFill>
                  <a:srgbClr val="FF0000"/>
                </a:solidFill>
                <a:latin typeface="Consolas" charset="0"/>
                <a:ea typeface="Consolas" charset="0"/>
                <a:cs typeface="Consolas" charset="0"/>
              </a:rPr>
              <a:t>kernel_initializer</a:t>
            </a:r>
            <a:r>
              <a:rPr lang="en-US" sz="2000" dirty="0" smtClean="0">
                <a:solidFill>
                  <a:srgbClr val="FF0000"/>
                </a:solidFill>
                <a:latin typeface="Avenir Book" charset="0"/>
                <a:ea typeface="Avenir Book" charset="0"/>
                <a:cs typeface="Avenir Book" charset="0"/>
              </a:rPr>
              <a:t>,</a:t>
            </a:r>
            <a:r>
              <a:rPr lang="is-IS" sz="2000" dirty="0" smtClean="0">
                <a:solidFill>
                  <a:srgbClr val="FF0000"/>
                </a:solidFill>
                <a:latin typeface="Avenir Book" charset="0"/>
                <a:ea typeface="Avenir Book" charset="0"/>
                <a:cs typeface="Avenir Book" charset="0"/>
              </a:rPr>
              <a:t>…</a:t>
            </a:r>
            <a:r>
              <a:rPr lang="en-US" sz="2000" dirty="0" smtClean="0">
                <a:solidFill>
                  <a:srgbClr val="FF0000"/>
                </a:solidFill>
                <a:latin typeface="Avenir Book" charset="0"/>
                <a:ea typeface="Avenir Book" charset="0"/>
                <a:cs typeface="Avenir Book" charset="0"/>
              </a:rPr>
              <a:t>)</a:t>
            </a:r>
            <a:endParaRPr lang="en-US" sz="2000" dirty="0">
              <a:solidFill>
                <a:srgbClr val="FF0000"/>
              </a:solidFill>
              <a:latin typeface="Avenir Book" charset="0"/>
              <a:ea typeface="Avenir Book" charset="0"/>
              <a:cs typeface="Avenir Book" charset="0"/>
            </a:endParaRPr>
          </a:p>
        </p:txBody>
      </p:sp>
      <p:sp>
        <p:nvSpPr>
          <p:cNvPr id="62" name="TextBox 61"/>
          <p:cNvSpPr txBox="1"/>
          <p:nvPr/>
        </p:nvSpPr>
        <p:spPr>
          <a:xfrm>
            <a:off x="1626356" y="4351650"/>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63" name="TextBox 62"/>
          <p:cNvSpPr txBox="1"/>
          <p:nvPr/>
        </p:nvSpPr>
        <p:spPr>
          <a:xfrm>
            <a:off x="5264657" y="4347897"/>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64" name="TextBox 63"/>
          <p:cNvSpPr txBox="1"/>
          <p:nvPr/>
        </p:nvSpPr>
        <p:spPr>
          <a:xfrm>
            <a:off x="3400145" y="4347896"/>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65" name="TextBox 64"/>
          <p:cNvSpPr txBox="1"/>
          <p:nvPr/>
        </p:nvSpPr>
        <p:spPr>
          <a:xfrm>
            <a:off x="7099782" y="4347896"/>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Tree>
    <p:extLst>
      <p:ext uri="{BB962C8B-B14F-4D97-AF65-F5344CB8AC3E}">
        <p14:creationId xmlns:p14="http://schemas.microsoft.com/office/powerpoint/2010/main" val="1580842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6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animBg="1"/>
      <p:bldP spid="61" grpId="0"/>
      <p:bldP spid="62" grpId="0"/>
      <p:bldP spid="63" grpId="0"/>
      <p:bldP spid="64" grpId="0"/>
      <p:bldP spid="6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“Unrolling” the RNN</a:t>
            </a:r>
            <a:endParaRPr lang="en-US" dirty="0">
              <a:latin typeface="Avenir Book" charset="0"/>
              <a:ea typeface="Avenir Book" charset="0"/>
              <a:cs typeface="Avenir Book" charset="0"/>
            </a:endParaRPr>
          </a:p>
        </p:txBody>
      </p:sp>
      <p:grpSp>
        <p:nvGrpSpPr>
          <p:cNvPr id="8" name="Group 7"/>
          <p:cNvGrpSpPr/>
          <p:nvPr/>
        </p:nvGrpSpPr>
        <p:grpSpPr>
          <a:xfrm>
            <a:off x="1213124" y="1853803"/>
            <a:ext cx="1314450" cy="2546747"/>
            <a:chOff x="2055812" y="1981200"/>
            <a:chExt cx="2438400" cy="4724400"/>
          </a:xfrm>
        </p:grpSpPr>
        <p:sp>
          <p:nvSpPr>
            <p:cNvPr id="9" name="Oval 8"/>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0" name="Straight Arrow Connector 9"/>
            <p:cNvCxnSpPr>
              <a:endCxn id="12" idx="4"/>
            </p:cNvCxnSpPr>
            <p:nvPr/>
          </p:nvCxnSpPr>
          <p:spPr>
            <a:xfrm flipV="1">
              <a:off x="3275010" y="5562601"/>
              <a:ext cx="2" cy="1142999"/>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3028950" y="1853803"/>
            <a:ext cx="1314450" cy="2546747"/>
            <a:chOff x="2055812" y="1981200"/>
            <a:chExt cx="2438400" cy="4724400"/>
          </a:xfrm>
        </p:grpSpPr>
        <p:sp>
          <p:nvSpPr>
            <p:cNvPr id="13" name="Oval 12"/>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4" name="Straight Arrow Connector 13"/>
            <p:cNvCxnSpPr>
              <a:endCxn id="26" idx="4"/>
            </p:cNvCxnSpPr>
            <p:nvPr/>
          </p:nvCxnSpPr>
          <p:spPr>
            <a:xfrm flipV="1">
              <a:off x="3275010" y="5562601"/>
              <a:ext cx="2" cy="1142999"/>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4857750" y="1853803"/>
            <a:ext cx="1314450" cy="2546747"/>
            <a:chOff x="2055812" y="1981200"/>
            <a:chExt cx="2438400" cy="4724400"/>
          </a:xfrm>
        </p:grpSpPr>
        <p:sp>
          <p:nvSpPr>
            <p:cNvPr id="17" name="Oval 16"/>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18" name="Straight Arrow Connector 17"/>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6686550" y="1853803"/>
            <a:ext cx="1314450" cy="2546747"/>
            <a:chOff x="2055812" y="1981200"/>
            <a:chExt cx="2438400" cy="4724400"/>
          </a:xfrm>
        </p:grpSpPr>
        <p:sp>
          <p:nvSpPr>
            <p:cNvPr id="21" name="Oval 20"/>
            <p:cNvSpPr/>
            <p:nvPr/>
          </p:nvSpPr>
          <p:spPr>
            <a:xfrm>
              <a:off x="2055812" y="3124200"/>
              <a:ext cx="2438400" cy="2438400"/>
            </a:xfrm>
            <a:prstGeom prst="ellipse">
              <a:avLst/>
            </a:prstGeom>
            <a:noFill/>
            <a:ln w="476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ysClr val="windowText" lastClr="000000"/>
                  </a:solidFill>
                  <a:latin typeface="Avenir Book" charset="0"/>
                  <a:ea typeface="Avenir Book" charset="0"/>
                  <a:cs typeface="Avenir Book" charset="0"/>
                </a:rPr>
                <a:t>STATE</a:t>
              </a:r>
            </a:p>
          </p:txBody>
        </p:sp>
        <p:cxnSp>
          <p:nvCxnSpPr>
            <p:cNvPr id="22" name="Straight Arrow Connector 21"/>
            <p:cNvCxnSpPr/>
            <p:nvPr/>
          </p:nvCxnSpPr>
          <p:spPr>
            <a:xfrm flipV="1">
              <a:off x="3275011" y="55626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3275011" y="1981200"/>
              <a:ext cx="1" cy="1143000"/>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grpSp>
      <p:cxnSp>
        <p:nvCxnSpPr>
          <p:cNvPr id="24" name="Straight Arrow Connector 23"/>
          <p:cNvCxnSpPr>
            <a:stCxn id="10" idx="6"/>
            <a:endCxn id="24" idx="2"/>
          </p:cNvCxnSpPr>
          <p:nvPr/>
        </p:nvCxnSpPr>
        <p:spPr>
          <a:xfrm>
            <a:off x="25275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356375"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1722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8001000" y="3127176"/>
            <a:ext cx="501376" cy="0"/>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271228"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1" name="TextBox 40"/>
          <p:cNvSpPr txBox="1"/>
          <p:nvPr/>
        </p:nvSpPr>
        <p:spPr>
          <a:xfrm>
            <a:off x="3047312"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2" name="TextBox 41"/>
          <p:cNvSpPr txBox="1"/>
          <p:nvPr/>
        </p:nvSpPr>
        <p:spPr>
          <a:xfrm>
            <a:off x="4961456"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3" name="TextBox 42"/>
          <p:cNvSpPr txBox="1"/>
          <p:nvPr/>
        </p:nvSpPr>
        <p:spPr>
          <a:xfrm>
            <a:off x="6751785" y="3940376"/>
            <a:ext cx="367408" cy="430887"/>
          </a:xfrm>
          <a:prstGeom prst="rect">
            <a:avLst/>
          </a:prstGeom>
          <a:noFill/>
        </p:spPr>
        <p:txBody>
          <a:bodyPr wrap="none" rtlCol="0">
            <a:spAutoFit/>
          </a:bodyPr>
          <a:lstStyle/>
          <a:p>
            <a:r>
              <a:rPr lang="en-US" sz="2200" smtClean="0">
                <a:latin typeface="Cambria Math" charset="0"/>
                <a:ea typeface="Cambria Math" charset="0"/>
                <a:cs typeface="Cambria Math" charset="0"/>
              </a:rPr>
              <a:t>U</a:t>
            </a:r>
            <a:endParaRPr lang="en-US" sz="2200" dirty="0">
              <a:latin typeface="Cambria Math" charset="0"/>
              <a:ea typeface="Cambria Math" charset="0"/>
              <a:cs typeface="Cambria Math" charset="0"/>
            </a:endParaRPr>
          </a:p>
        </p:txBody>
      </p:sp>
      <p:sp>
        <p:nvSpPr>
          <p:cNvPr id="44" name="TextBox 43"/>
          <p:cNvSpPr txBox="1"/>
          <p:nvPr/>
        </p:nvSpPr>
        <p:spPr>
          <a:xfrm>
            <a:off x="1271228"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5" name="TextBox 44"/>
          <p:cNvSpPr txBox="1"/>
          <p:nvPr/>
        </p:nvSpPr>
        <p:spPr>
          <a:xfrm>
            <a:off x="3047312"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6" name="TextBox 45"/>
          <p:cNvSpPr txBox="1"/>
          <p:nvPr/>
        </p:nvSpPr>
        <p:spPr>
          <a:xfrm>
            <a:off x="4961456"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7" name="TextBox 46"/>
          <p:cNvSpPr txBox="1"/>
          <p:nvPr/>
        </p:nvSpPr>
        <p:spPr>
          <a:xfrm>
            <a:off x="6751785" y="1828946"/>
            <a:ext cx="367408"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V</a:t>
            </a:r>
            <a:endParaRPr lang="en-US" sz="2200" dirty="0">
              <a:latin typeface="Cambria Math" charset="0"/>
              <a:ea typeface="Cambria Math" charset="0"/>
              <a:cs typeface="Cambria Math" charset="0"/>
            </a:endParaRPr>
          </a:p>
        </p:txBody>
      </p:sp>
      <p:sp>
        <p:nvSpPr>
          <p:cNvPr id="48" name="TextBox 47"/>
          <p:cNvSpPr txBox="1"/>
          <p:nvPr/>
        </p:nvSpPr>
        <p:spPr>
          <a:xfrm>
            <a:off x="2536362"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49" name="TextBox 48"/>
          <p:cNvSpPr txBox="1"/>
          <p:nvPr/>
        </p:nvSpPr>
        <p:spPr>
          <a:xfrm>
            <a:off x="4312446"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50" name="TextBox 49"/>
          <p:cNvSpPr txBox="1"/>
          <p:nvPr/>
        </p:nvSpPr>
        <p:spPr>
          <a:xfrm>
            <a:off x="6226590" y="2579193"/>
            <a:ext cx="444352"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endParaRPr lang="en-US" sz="2200" dirty="0">
              <a:latin typeface="Cambria Math" charset="0"/>
              <a:ea typeface="Cambria Math" charset="0"/>
              <a:cs typeface="Cambria Math" charset="0"/>
            </a:endParaRPr>
          </a:p>
        </p:txBody>
      </p:sp>
      <p:sp>
        <p:nvSpPr>
          <p:cNvPr id="51" name="TextBox 50"/>
          <p:cNvSpPr txBox="1"/>
          <p:nvPr/>
        </p:nvSpPr>
        <p:spPr>
          <a:xfrm>
            <a:off x="8016919" y="2579193"/>
            <a:ext cx="444352" cy="430887"/>
          </a:xfrm>
          <a:prstGeom prst="rect">
            <a:avLst/>
          </a:prstGeom>
          <a:noFill/>
        </p:spPr>
        <p:txBody>
          <a:bodyPr wrap="none" rtlCol="0">
            <a:spAutoFit/>
          </a:bodyPr>
          <a:lstStyle/>
          <a:p>
            <a:r>
              <a:rPr lang="en-US" sz="2200" dirty="0">
                <a:latin typeface="Cambria Math" charset="0"/>
                <a:ea typeface="Cambria Math" charset="0"/>
                <a:cs typeface="Cambria Math" charset="0"/>
              </a:rPr>
              <a:t>W</a:t>
            </a:r>
          </a:p>
        </p:txBody>
      </p:sp>
      <p:sp>
        <p:nvSpPr>
          <p:cNvPr id="52" name="TextBox 51"/>
          <p:cNvSpPr txBox="1"/>
          <p:nvPr/>
        </p:nvSpPr>
        <p:spPr>
          <a:xfrm>
            <a:off x="1663101" y="1361652"/>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53" name="TextBox 52"/>
          <p:cNvSpPr txBox="1"/>
          <p:nvPr/>
        </p:nvSpPr>
        <p:spPr>
          <a:xfrm>
            <a:off x="5335867" y="1361261"/>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54" name="TextBox 53"/>
          <p:cNvSpPr txBox="1"/>
          <p:nvPr/>
        </p:nvSpPr>
        <p:spPr>
          <a:xfrm>
            <a:off x="3496539" y="1361652"/>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55" name="TextBox 54"/>
          <p:cNvSpPr txBox="1"/>
          <p:nvPr/>
        </p:nvSpPr>
        <p:spPr>
          <a:xfrm>
            <a:off x="7195093" y="1365950"/>
            <a:ext cx="43794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
        <p:nvSpPr>
          <p:cNvPr id="56" name="TextBox 55"/>
          <p:cNvSpPr txBox="1"/>
          <p:nvPr/>
        </p:nvSpPr>
        <p:spPr>
          <a:xfrm>
            <a:off x="994154" y="2260655"/>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57" name="TextBox 56"/>
          <p:cNvSpPr txBox="1"/>
          <p:nvPr/>
        </p:nvSpPr>
        <p:spPr>
          <a:xfrm>
            <a:off x="4666920" y="2260264"/>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58" name="TextBox 57"/>
          <p:cNvSpPr txBox="1"/>
          <p:nvPr/>
        </p:nvSpPr>
        <p:spPr>
          <a:xfrm>
            <a:off x="2827592" y="2260655"/>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59" name="TextBox 58"/>
          <p:cNvSpPr txBox="1"/>
          <p:nvPr/>
        </p:nvSpPr>
        <p:spPr>
          <a:xfrm>
            <a:off x="6526146" y="2264953"/>
            <a:ext cx="410690" cy="430887"/>
          </a:xfrm>
          <a:prstGeom prst="rect">
            <a:avLst/>
          </a:prstGeom>
          <a:noFill/>
        </p:spPr>
        <p:txBody>
          <a:bodyPr wrap="none" rtlCol="0">
            <a:spAutoFit/>
          </a:bodyPr>
          <a:lstStyle/>
          <a:p>
            <a:r>
              <a:rPr lang="en-US" sz="2200" dirty="0">
                <a:latin typeface="Cambria Math" charset="0"/>
                <a:ea typeface="Cambria Math" charset="0"/>
                <a:cs typeface="Cambria Math" charset="0"/>
              </a:rPr>
              <a:t>s</a:t>
            </a:r>
            <a:r>
              <a:rPr lang="en-US" sz="2200" baseline="-25000" dirty="0" smtClean="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
        <p:nvSpPr>
          <p:cNvPr id="60" name="Rectangle 59"/>
          <p:cNvSpPr/>
          <p:nvPr/>
        </p:nvSpPr>
        <p:spPr>
          <a:xfrm>
            <a:off x="606910" y="2313976"/>
            <a:ext cx="8068167" cy="15873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1" name="TextBox 60"/>
          <p:cNvSpPr txBox="1"/>
          <p:nvPr/>
        </p:nvSpPr>
        <p:spPr>
          <a:xfrm>
            <a:off x="606909" y="835432"/>
            <a:ext cx="8068168" cy="400110"/>
          </a:xfrm>
          <a:prstGeom prst="rect">
            <a:avLst/>
          </a:prstGeom>
          <a:noFill/>
        </p:spPr>
        <p:txBody>
          <a:bodyPr wrap="square" rtlCol="0">
            <a:spAutoFit/>
          </a:bodyPr>
          <a:lstStyle/>
          <a:p>
            <a:r>
              <a:rPr lang="en-US" sz="2000" dirty="0" err="1" smtClean="0">
                <a:solidFill>
                  <a:srgbClr val="FF0000"/>
                </a:solidFill>
                <a:latin typeface="Avenir Book" charset="0"/>
                <a:ea typeface="Avenir Book" charset="0"/>
                <a:cs typeface="Avenir Book" charset="0"/>
              </a:rPr>
              <a:t>Keras</a:t>
            </a:r>
            <a:r>
              <a:rPr lang="en-US" sz="2000" dirty="0" smtClean="0">
                <a:solidFill>
                  <a:srgbClr val="FF0000"/>
                </a:solidFill>
                <a:latin typeface="Avenir Book" charset="0"/>
                <a:ea typeface="Avenir Book" charset="0"/>
                <a:cs typeface="Avenir Book" charset="0"/>
              </a:rPr>
              <a:t> calls this part “recurrent” (</a:t>
            </a:r>
            <a:r>
              <a:rPr lang="en-US" sz="2000" dirty="0" err="1" smtClean="0">
                <a:solidFill>
                  <a:srgbClr val="FF0000"/>
                </a:solidFill>
                <a:latin typeface="Consolas" charset="0"/>
                <a:ea typeface="Consolas" charset="0"/>
                <a:cs typeface="Consolas" charset="0"/>
              </a:rPr>
              <a:t>recurrent_initializer</a:t>
            </a:r>
            <a:r>
              <a:rPr lang="en-US" sz="2000" dirty="0" smtClean="0">
                <a:solidFill>
                  <a:srgbClr val="FF0000"/>
                </a:solidFill>
                <a:latin typeface="Avenir Book" charset="0"/>
                <a:ea typeface="Avenir Book" charset="0"/>
                <a:cs typeface="Avenir Book" charset="0"/>
              </a:rPr>
              <a:t>,</a:t>
            </a:r>
            <a:r>
              <a:rPr lang="is-IS" sz="2000" dirty="0" smtClean="0">
                <a:solidFill>
                  <a:srgbClr val="FF0000"/>
                </a:solidFill>
                <a:latin typeface="Avenir Book" charset="0"/>
                <a:ea typeface="Avenir Book" charset="0"/>
                <a:cs typeface="Avenir Book" charset="0"/>
              </a:rPr>
              <a:t>…</a:t>
            </a:r>
            <a:r>
              <a:rPr lang="en-US" sz="2000" dirty="0" smtClean="0">
                <a:solidFill>
                  <a:srgbClr val="FF0000"/>
                </a:solidFill>
                <a:latin typeface="Avenir Book" charset="0"/>
                <a:ea typeface="Avenir Book" charset="0"/>
                <a:cs typeface="Avenir Book" charset="0"/>
              </a:rPr>
              <a:t>)</a:t>
            </a:r>
            <a:endParaRPr lang="en-US" sz="2000" dirty="0">
              <a:solidFill>
                <a:srgbClr val="FF0000"/>
              </a:solidFill>
              <a:latin typeface="Avenir Book" charset="0"/>
              <a:ea typeface="Avenir Book" charset="0"/>
              <a:cs typeface="Avenir Book" charset="0"/>
            </a:endParaRPr>
          </a:p>
        </p:txBody>
      </p:sp>
      <p:sp>
        <p:nvSpPr>
          <p:cNvPr id="62" name="TextBox 61"/>
          <p:cNvSpPr txBox="1"/>
          <p:nvPr/>
        </p:nvSpPr>
        <p:spPr>
          <a:xfrm>
            <a:off x="1626356" y="4351650"/>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smtClean="0">
                <a:latin typeface="Cambria Math" charset="0"/>
                <a:ea typeface="Cambria Math" charset="0"/>
                <a:cs typeface="Cambria Math" charset="0"/>
              </a:rPr>
              <a:t>1</a:t>
            </a:r>
            <a:endParaRPr lang="en-US" sz="2200" dirty="0">
              <a:latin typeface="Cambria Math" charset="0"/>
              <a:ea typeface="Cambria Math" charset="0"/>
              <a:cs typeface="Cambria Math" charset="0"/>
            </a:endParaRPr>
          </a:p>
        </p:txBody>
      </p:sp>
      <p:sp>
        <p:nvSpPr>
          <p:cNvPr id="63" name="TextBox 62"/>
          <p:cNvSpPr txBox="1"/>
          <p:nvPr/>
        </p:nvSpPr>
        <p:spPr>
          <a:xfrm>
            <a:off x="5264657" y="4347897"/>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3</a:t>
            </a:r>
            <a:endParaRPr lang="en-US" sz="2200" dirty="0">
              <a:latin typeface="Cambria Math" charset="0"/>
              <a:ea typeface="Cambria Math" charset="0"/>
              <a:cs typeface="Cambria Math" charset="0"/>
            </a:endParaRPr>
          </a:p>
        </p:txBody>
      </p:sp>
      <p:sp>
        <p:nvSpPr>
          <p:cNvPr id="64" name="TextBox 63"/>
          <p:cNvSpPr txBox="1"/>
          <p:nvPr/>
        </p:nvSpPr>
        <p:spPr>
          <a:xfrm>
            <a:off x="3400145" y="4347896"/>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2</a:t>
            </a:r>
            <a:endParaRPr lang="en-US" sz="2200" dirty="0">
              <a:latin typeface="Cambria Math" charset="0"/>
              <a:ea typeface="Cambria Math" charset="0"/>
              <a:cs typeface="Cambria Math" charset="0"/>
            </a:endParaRPr>
          </a:p>
        </p:txBody>
      </p:sp>
      <p:sp>
        <p:nvSpPr>
          <p:cNvPr id="65" name="TextBox 64"/>
          <p:cNvSpPr txBox="1"/>
          <p:nvPr/>
        </p:nvSpPr>
        <p:spPr>
          <a:xfrm>
            <a:off x="7099782" y="4347896"/>
            <a:ext cx="506870" cy="430887"/>
          </a:xfrm>
          <a:prstGeom prst="rect">
            <a:avLst/>
          </a:prstGeom>
          <a:noFill/>
        </p:spPr>
        <p:txBody>
          <a:bodyPr wrap="none" rtlCol="0">
            <a:spAutoFit/>
          </a:bodyPr>
          <a:lstStyle/>
          <a:p>
            <a:r>
              <a:rPr lang="en-US" sz="2200" dirty="0" smtClean="0">
                <a:latin typeface="Cambria Math" charset="0"/>
                <a:ea typeface="Cambria Math" charset="0"/>
                <a:cs typeface="Cambria Math" charset="0"/>
              </a:rPr>
              <a:t>w</a:t>
            </a:r>
            <a:r>
              <a:rPr lang="en-US" sz="2200" baseline="-25000" dirty="0">
                <a:latin typeface="Cambria Math" charset="0"/>
                <a:ea typeface="Cambria Math" charset="0"/>
                <a:cs typeface="Cambria Math" charset="0"/>
              </a:rPr>
              <a:t>4</a:t>
            </a:r>
            <a:endParaRPr lang="en-US" sz="2200" dirty="0">
              <a:latin typeface="Cambria Math" charset="0"/>
              <a:ea typeface="Cambria Math" charset="0"/>
              <a:cs typeface="Cambria Math" charset="0"/>
            </a:endParaRPr>
          </a:p>
        </p:txBody>
      </p:sp>
    </p:spTree>
    <p:extLst>
      <p:ext uri="{BB962C8B-B14F-4D97-AF65-F5344CB8AC3E}">
        <p14:creationId xmlns:p14="http://schemas.microsoft.com/office/powerpoint/2010/main" val="1701747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64"/>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animBg="1"/>
      <p:bldP spid="61" grpId="0"/>
      <p:bldP spid="62" grpId="0"/>
      <p:bldP spid="63" grpId="0"/>
      <p:bldP spid="64" grpId="0"/>
      <p:bldP spid="6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Mathematical Details</a:t>
            </a:r>
            <a:endParaRPr lang="en-US" dirty="0">
              <a:latin typeface="Avenir Book" charset="0"/>
              <a:ea typeface="Avenir Book" charset="0"/>
              <a:cs typeface="Avenir Book" charset="0"/>
            </a:endParaRPr>
          </a:p>
        </p:txBody>
      </p:sp>
      <p:sp>
        <p:nvSpPr>
          <p:cNvPr id="4" name="Rectangle 3"/>
          <p:cNvSpPr/>
          <p:nvPr/>
        </p:nvSpPr>
        <p:spPr>
          <a:xfrm>
            <a:off x="398352" y="1227244"/>
            <a:ext cx="8192764" cy="1046440"/>
          </a:xfrm>
          <a:prstGeom prst="rect">
            <a:avLst/>
          </a:prstGeom>
        </p:spPr>
        <p:txBody>
          <a:bodyPr wrap="square">
            <a:spAutoFit/>
          </a:bodyPr>
          <a:lstStyle/>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1800" dirty="0" smtClean="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5" name="Rectangle 4"/>
              <p:cNvSpPr/>
              <p:nvPr/>
            </p:nvSpPr>
            <p:spPr>
              <a:xfrm>
                <a:off x="398352" y="1027952"/>
                <a:ext cx="8192764" cy="2123658"/>
              </a:xfrm>
              <a:prstGeom prst="rect">
                <a:avLst/>
              </a:prstGeom>
            </p:spPr>
            <p:txBody>
              <a:bodyPr wrap="square">
                <a:spAutoFit/>
              </a:bodyPr>
              <a:lstStyle/>
              <a:p>
                <a:pPr marL="457200" indent="-457200">
                  <a:buFont typeface="Arial" charset="0"/>
                  <a:buChar char="•"/>
                </a:pPr>
                <a:r>
                  <a:rPr lang="en-US" sz="2200" dirty="0" err="1" smtClean="0">
                    <a:latin typeface="Cambria Math" charset="0"/>
                    <a:ea typeface="Cambria Math" charset="0"/>
                    <a:cs typeface="Cambria Math" charset="0"/>
                  </a:rPr>
                  <a:t>w</a:t>
                </a:r>
                <a:r>
                  <a:rPr lang="en-US" sz="2200" baseline="-25000" dirty="0" err="1">
                    <a:latin typeface="Cambria Math" charset="0"/>
                    <a:ea typeface="Cambria Math" charset="0"/>
                    <a:cs typeface="Cambria Math" charset="0"/>
                  </a:rPr>
                  <a:t>i</a:t>
                </a:r>
                <a:r>
                  <a:rPr lang="en-US" sz="2200" dirty="0" smtClean="0">
                    <a:latin typeface="Avenir Book" charset="0"/>
                    <a:ea typeface="Avenir Book" charset="0"/>
                    <a:cs typeface="Avenir Book" charset="0"/>
                  </a:rPr>
                  <a:t>  is the word at position </a:t>
                </a:r>
                <a:r>
                  <a:rPr lang="en-US" sz="2200" dirty="0" err="1" smtClean="0">
                    <a:latin typeface="Avenir Book" charset="0"/>
                    <a:ea typeface="Avenir Book" charset="0"/>
                    <a:cs typeface="Avenir Book" charset="0"/>
                  </a:rPr>
                  <a:t>i</a:t>
                </a:r>
                <a:endParaRPr lang="en-US" sz="2200" dirty="0" smtClean="0">
                  <a:latin typeface="Avenir Book" charset="0"/>
                  <a:ea typeface="Avenir Book" charset="0"/>
                  <a:cs typeface="Avenir Book" charset="0"/>
                </a:endParaRPr>
              </a:p>
              <a:p>
                <a:pPr marL="457200" indent="-457200">
                  <a:buFont typeface="Arial" charset="0"/>
                  <a:buChar char="•"/>
                </a:pPr>
                <a:r>
                  <a:rPr lang="en-US" sz="2200" dirty="0" err="1">
                    <a:latin typeface="Cambria Math" charset="0"/>
                    <a:ea typeface="Cambria Math" charset="0"/>
                    <a:cs typeface="Cambria Math" charset="0"/>
                  </a:rPr>
                  <a:t>s</a:t>
                </a:r>
                <a:r>
                  <a:rPr lang="en-US" sz="2200" baseline="-25000" dirty="0" err="1" smtClean="0">
                    <a:latin typeface="Cambria Math" charset="0"/>
                    <a:ea typeface="Cambria Math" charset="0"/>
                    <a:cs typeface="Cambria Math" charset="0"/>
                  </a:rPr>
                  <a:t>i</a:t>
                </a:r>
                <a:r>
                  <a:rPr lang="en-US" sz="2200" dirty="0" smtClean="0">
                    <a:latin typeface="Avenir Book" charset="0"/>
                    <a:ea typeface="Avenir Book" charset="0"/>
                    <a:cs typeface="Avenir Book" charset="0"/>
                  </a:rPr>
                  <a:t>  </a:t>
                </a:r>
                <a:r>
                  <a:rPr lang="en-US" sz="2200" dirty="0">
                    <a:latin typeface="Avenir Book" charset="0"/>
                    <a:ea typeface="Avenir Book" charset="0"/>
                    <a:cs typeface="Avenir Book" charset="0"/>
                  </a:rPr>
                  <a:t>is the </a:t>
                </a:r>
                <a:r>
                  <a:rPr lang="en-US" sz="2200" dirty="0" smtClean="0">
                    <a:latin typeface="Avenir Book" charset="0"/>
                    <a:ea typeface="Avenir Book" charset="0"/>
                    <a:cs typeface="Avenir Book" charset="0"/>
                  </a:rPr>
                  <a:t>state at </a:t>
                </a:r>
                <a:r>
                  <a:rPr lang="en-US" sz="2200" dirty="0">
                    <a:latin typeface="Avenir Book" charset="0"/>
                    <a:ea typeface="Avenir Book" charset="0"/>
                    <a:cs typeface="Avenir Book" charset="0"/>
                  </a:rPr>
                  <a:t>position </a:t>
                </a:r>
                <a:r>
                  <a:rPr lang="en-US" sz="2200" dirty="0" err="1" smtClean="0">
                    <a:latin typeface="Avenir Book" charset="0"/>
                    <a:ea typeface="Avenir Book" charset="0"/>
                    <a:cs typeface="Avenir Book" charset="0"/>
                  </a:rPr>
                  <a:t>i</a:t>
                </a:r>
                <a:endParaRPr lang="en-US" sz="2200" dirty="0" smtClean="0">
                  <a:latin typeface="Avenir Book" charset="0"/>
                  <a:ea typeface="Avenir Book" charset="0"/>
                  <a:cs typeface="Avenir Book" charset="0"/>
                </a:endParaRPr>
              </a:p>
              <a:p>
                <a:pPr marL="457200" indent="-457200">
                  <a:buFont typeface="Arial" charset="0"/>
                  <a:buChar char="•"/>
                </a:pPr>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i</a:t>
                </a:r>
                <a:r>
                  <a:rPr lang="en-US" sz="2200" dirty="0" smtClean="0">
                    <a:latin typeface="Avenir Book" charset="0"/>
                    <a:ea typeface="Avenir Book" charset="0"/>
                    <a:cs typeface="Avenir Book" charset="0"/>
                  </a:rPr>
                  <a:t>  </a:t>
                </a:r>
                <a:r>
                  <a:rPr lang="en-US" sz="2200" dirty="0">
                    <a:latin typeface="Avenir Book" charset="0"/>
                    <a:ea typeface="Avenir Book" charset="0"/>
                    <a:cs typeface="Avenir Book" charset="0"/>
                  </a:rPr>
                  <a:t>is the </a:t>
                </a:r>
                <a:r>
                  <a:rPr lang="en-US" sz="2200" dirty="0" smtClean="0">
                    <a:latin typeface="Avenir Book" charset="0"/>
                    <a:ea typeface="Avenir Book" charset="0"/>
                    <a:cs typeface="Avenir Book" charset="0"/>
                  </a:rPr>
                  <a:t>output at </a:t>
                </a:r>
                <a:r>
                  <a:rPr lang="en-US" sz="2200" dirty="0">
                    <a:latin typeface="Avenir Book" charset="0"/>
                    <a:ea typeface="Avenir Book" charset="0"/>
                    <a:cs typeface="Avenir Book" charset="0"/>
                  </a:rPr>
                  <a:t>position </a:t>
                </a:r>
                <a:r>
                  <a:rPr lang="en-US" sz="2200" dirty="0" err="1" smtClean="0">
                    <a:latin typeface="Avenir Book" charset="0"/>
                    <a:ea typeface="Avenir Book" charset="0"/>
                    <a:cs typeface="Avenir Book" charset="0"/>
                  </a:rPr>
                  <a:t>i</a:t>
                </a:r>
                <a:endParaRPr lang="en-US" sz="2200" dirty="0">
                  <a:latin typeface="Avenir Book" charset="0"/>
                  <a:ea typeface="Avenir Book" charset="0"/>
                  <a:cs typeface="Avenir Book" charset="0"/>
                </a:endParaRPr>
              </a:p>
              <a:p>
                <a:pPr marL="45720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14:m>
                  <m:oMath xmlns:m="http://schemas.openxmlformats.org/officeDocument/2006/math">
                    <m:sSub>
                      <m:sSubPr>
                        <m:ctrlPr>
                          <a:rPr lang="en-US" sz="2200" i="1" smtClean="0">
                            <a:latin typeface="Cambria Math" panose="02040503050406030204" pitchFamily="18" charset="0"/>
                            <a:ea typeface="Avenir Book" charset="0"/>
                            <a:cs typeface="Avenir Book" charset="0"/>
                          </a:rPr>
                        </m:ctrlPr>
                      </m:sSubPr>
                      <m:e>
                        <m:r>
                          <a:rPr lang="en-US" sz="2200" b="0" i="1" smtClean="0">
                            <a:latin typeface="Cambria Math" charset="0"/>
                            <a:ea typeface="Avenir Book" charset="0"/>
                            <a:cs typeface="Avenir Book" charset="0"/>
                          </a:rPr>
                          <m:t>𝑠</m:t>
                        </m:r>
                      </m:e>
                      <m:sub>
                        <m:r>
                          <a:rPr lang="en-US" sz="2200" b="0" i="1" smtClean="0">
                            <a:latin typeface="Cambria Math" charset="0"/>
                            <a:ea typeface="Avenir Book" charset="0"/>
                            <a:cs typeface="Avenir Book" charset="0"/>
                          </a:rPr>
                          <m:t>𝑖</m:t>
                        </m:r>
                      </m:sub>
                    </m:sSub>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𝑓</m:t>
                    </m:r>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𝑈</m:t>
                    </m:r>
                    <m:sSub>
                      <m:sSubPr>
                        <m:ctrlPr>
                          <a:rPr lang="en-US" sz="2200" b="0" i="1" smtClean="0">
                            <a:latin typeface="Cambria Math" panose="02040503050406030204" pitchFamily="18" charset="0"/>
                            <a:ea typeface="Avenir Book" charset="0"/>
                            <a:cs typeface="Avenir Book" charset="0"/>
                          </a:rPr>
                        </m:ctrlPr>
                      </m:sSubPr>
                      <m:e>
                        <m:r>
                          <a:rPr lang="en-US" sz="2200" b="0" i="1" smtClean="0">
                            <a:latin typeface="Cambria Math" charset="0"/>
                            <a:ea typeface="Avenir Book" charset="0"/>
                            <a:cs typeface="Avenir Book" charset="0"/>
                          </a:rPr>
                          <m:t>𝑤</m:t>
                        </m:r>
                      </m:e>
                      <m:sub>
                        <m:r>
                          <a:rPr lang="en-US" sz="2200" b="0" i="1" smtClean="0">
                            <a:latin typeface="Cambria Math" charset="0"/>
                            <a:ea typeface="Avenir Book" charset="0"/>
                            <a:cs typeface="Avenir Book" charset="0"/>
                          </a:rPr>
                          <m:t>𝑖</m:t>
                        </m:r>
                      </m:sub>
                    </m:sSub>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𝑊</m:t>
                    </m:r>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𝑠</m:t>
                        </m:r>
                      </m:e>
                      <m:sub>
                        <m:r>
                          <a:rPr lang="en-US" sz="2200" i="1">
                            <a:latin typeface="Cambria Math" charset="0"/>
                            <a:ea typeface="Avenir Book" charset="0"/>
                            <a:cs typeface="Avenir Book" charset="0"/>
                          </a:rPr>
                          <m:t>𝑖</m:t>
                        </m:r>
                        <m:r>
                          <a:rPr lang="en-US" sz="2200" b="0" i="1" smtClean="0">
                            <a:latin typeface="Cambria Math" charset="0"/>
                            <a:ea typeface="Avenir Book" charset="0"/>
                            <a:cs typeface="Avenir Book" charset="0"/>
                          </a:rPr>
                          <m:t>−1</m:t>
                        </m:r>
                      </m:sub>
                    </m:sSub>
                  </m:oMath>
                </a14:m>
                <a:r>
                  <a:rPr lang="en-US" sz="2200" dirty="0" smtClean="0">
                    <a:latin typeface="Avenir Book" charset="0"/>
                    <a:ea typeface="Avenir Book" charset="0"/>
                    <a:cs typeface="Avenir Book" charset="0"/>
                  </a:rPr>
                  <a:t>)	(Core RNN)</a:t>
                </a:r>
              </a:p>
              <a:p>
                <a:pPr marL="457200" indent="-457200">
                  <a:buFont typeface="Arial" charset="0"/>
                  <a:buChar char="•"/>
                </a:pPr>
                <a14:m>
                  <m:oMath xmlns:m="http://schemas.openxmlformats.org/officeDocument/2006/math">
                    <m:sSub>
                      <m:sSubPr>
                        <m:ctrlPr>
                          <a:rPr lang="en-US" sz="2200" i="1">
                            <a:latin typeface="Cambria Math" panose="02040503050406030204" pitchFamily="18" charset="0"/>
                            <a:ea typeface="Avenir Book" charset="0"/>
                            <a:cs typeface="Avenir Book" charset="0"/>
                          </a:rPr>
                        </m:ctrlPr>
                      </m:sSubPr>
                      <m:e>
                        <m:r>
                          <a:rPr lang="en-US" sz="2200" b="0" i="1" smtClean="0">
                            <a:latin typeface="Cambria Math" charset="0"/>
                            <a:ea typeface="Avenir Book" charset="0"/>
                            <a:cs typeface="Avenir Book" charset="0"/>
                          </a:rPr>
                          <m:t>𝑜</m:t>
                        </m:r>
                      </m:e>
                      <m:sub>
                        <m:r>
                          <a:rPr lang="en-US" sz="2200" i="1">
                            <a:latin typeface="Cambria Math" charset="0"/>
                            <a:ea typeface="Avenir Book" charset="0"/>
                            <a:cs typeface="Avenir Book" charset="0"/>
                          </a:rPr>
                          <m:t>𝑖</m:t>
                        </m:r>
                      </m:sub>
                    </m:sSub>
                    <m:r>
                      <a:rPr lang="en-US" sz="2200" i="1">
                        <a:latin typeface="Cambria Math" charset="0"/>
                        <a:ea typeface="Avenir Book" charset="0"/>
                        <a:cs typeface="Avenir Book" charset="0"/>
                      </a:rPr>
                      <m:t>=</m:t>
                    </m:r>
                    <m:r>
                      <a:rPr lang="en-US" sz="2200" b="0" i="1" smtClean="0">
                        <a:latin typeface="Cambria Math" charset="0"/>
                        <a:ea typeface="Avenir Book" charset="0"/>
                        <a:cs typeface="Avenir Book" charset="0"/>
                      </a:rPr>
                      <m:t>𝑠𝑜𝑓𝑡𝑚𝑎𝑥</m:t>
                    </m:r>
                    <m:r>
                      <a:rPr lang="en-US" sz="2200" i="1">
                        <a:latin typeface="Cambria Math" charset="0"/>
                        <a:ea typeface="Avenir Book" charset="0"/>
                        <a:cs typeface="Avenir Book" charset="0"/>
                      </a:rPr>
                      <m:t>(</m:t>
                    </m:r>
                    <m:r>
                      <a:rPr lang="en-US" sz="2200" b="0" i="1" smtClean="0">
                        <a:latin typeface="Cambria Math" charset="0"/>
                        <a:ea typeface="Avenir Book" charset="0"/>
                        <a:cs typeface="Avenir Book" charset="0"/>
                      </a:rPr>
                      <m:t>𝑉</m:t>
                    </m:r>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𝑠</m:t>
                        </m:r>
                      </m:e>
                      <m:sub>
                        <m:r>
                          <a:rPr lang="en-US" sz="2200" i="1">
                            <a:latin typeface="Cambria Math" charset="0"/>
                            <a:ea typeface="Avenir Book" charset="0"/>
                            <a:cs typeface="Avenir Book" charset="0"/>
                          </a:rPr>
                          <m:t>𝑖</m:t>
                        </m:r>
                      </m:sub>
                    </m:sSub>
                  </m:oMath>
                </a14:m>
                <a:r>
                  <a:rPr lang="en-US" sz="2200" dirty="0">
                    <a:latin typeface="Avenir Book" charset="0"/>
                    <a:ea typeface="Avenir Book" charset="0"/>
                    <a:cs typeface="Avenir Book" charset="0"/>
                  </a:rPr>
                  <a:t>)</a:t>
                </a:r>
                <a:r>
                  <a:rPr lang="en-US" sz="2200" dirty="0" smtClean="0">
                    <a:latin typeface="Avenir Book" charset="0"/>
                    <a:ea typeface="Avenir Book" charset="0"/>
                    <a:cs typeface="Avenir Book" charset="0"/>
                  </a:rPr>
                  <a:t>		(subsequent dense layer)</a:t>
                </a:r>
              </a:p>
            </p:txBody>
          </p:sp>
        </mc:Choice>
        <mc:Fallback xmlns="">
          <p:sp>
            <p:nvSpPr>
              <p:cNvPr id="5" name="Rectangle 4"/>
              <p:cNvSpPr>
                <a:spLocks noRot="1" noChangeAspect="1" noMove="1" noResize="1" noEditPoints="1" noAdjustHandles="1" noChangeArrowheads="1" noChangeShapeType="1" noTextEdit="1"/>
              </p:cNvSpPr>
              <p:nvPr/>
            </p:nvSpPr>
            <p:spPr>
              <a:xfrm>
                <a:off x="398352" y="1027952"/>
                <a:ext cx="8192764" cy="2123658"/>
              </a:xfrm>
              <a:prstGeom prst="rect">
                <a:avLst/>
              </a:prstGeom>
              <a:blipFill rotWithShape="0">
                <a:blip r:embed="rId3"/>
                <a:stretch>
                  <a:fillRect l="-818" t="-3161" b="-5172"/>
                </a:stretch>
              </a:blipFill>
            </p:spPr>
            <p:txBody>
              <a:bodyPr/>
              <a:lstStyle/>
              <a:p>
                <a:r>
                  <a:rPr lang="en-US">
                    <a:noFill/>
                  </a:rPr>
                  <a:t> </a:t>
                </a:r>
              </a:p>
            </p:txBody>
          </p:sp>
        </mc:Fallback>
      </mc:AlternateContent>
    </p:spTree>
    <p:extLst>
      <p:ext uri="{BB962C8B-B14F-4D97-AF65-F5344CB8AC3E}">
        <p14:creationId xmlns:p14="http://schemas.microsoft.com/office/powerpoint/2010/main" val="14044650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Mathematical Details</a:t>
            </a:r>
            <a:endParaRPr lang="en-US" dirty="0">
              <a:latin typeface="Avenir Book" charset="0"/>
              <a:ea typeface="Avenir Book" charset="0"/>
              <a:cs typeface="Avenir Book" charset="0"/>
            </a:endParaRPr>
          </a:p>
        </p:txBody>
      </p:sp>
      <p:sp>
        <p:nvSpPr>
          <p:cNvPr id="4" name="Rectangle 3"/>
          <p:cNvSpPr/>
          <p:nvPr/>
        </p:nvSpPr>
        <p:spPr>
          <a:xfrm>
            <a:off x="398352" y="1227244"/>
            <a:ext cx="8192764" cy="1046440"/>
          </a:xfrm>
          <a:prstGeom prst="rect">
            <a:avLst/>
          </a:prstGeom>
        </p:spPr>
        <p:txBody>
          <a:bodyPr wrap="square">
            <a:spAutoFit/>
          </a:bodyPr>
          <a:lstStyle/>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1800" dirty="0" smtClean="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5" name="Rectangle 4"/>
              <p:cNvSpPr/>
              <p:nvPr/>
            </p:nvSpPr>
            <p:spPr>
              <a:xfrm>
                <a:off x="398352" y="1027952"/>
                <a:ext cx="8192764" cy="3816429"/>
              </a:xfrm>
              <a:prstGeom prst="rect">
                <a:avLst/>
              </a:prstGeom>
            </p:spPr>
            <p:txBody>
              <a:bodyPr wrap="square">
                <a:spAutoFit/>
              </a:bodyPr>
              <a:lstStyle/>
              <a:p>
                <a:pPr marL="457200" indent="-457200">
                  <a:buFont typeface="Arial" charset="0"/>
                  <a:buChar char="•"/>
                </a:pPr>
                <a:r>
                  <a:rPr lang="en-US" sz="2200" dirty="0" err="1" smtClean="0">
                    <a:latin typeface="Cambria Math" charset="0"/>
                    <a:ea typeface="Cambria Math" charset="0"/>
                    <a:cs typeface="Cambria Math" charset="0"/>
                  </a:rPr>
                  <a:t>w</a:t>
                </a:r>
                <a:r>
                  <a:rPr lang="en-US" sz="2200" baseline="-25000" dirty="0" err="1">
                    <a:latin typeface="Cambria Math" charset="0"/>
                    <a:ea typeface="Cambria Math" charset="0"/>
                    <a:cs typeface="Cambria Math" charset="0"/>
                  </a:rPr>
                  <a:t>i</a:t>
                </a:r>
                <a:r>
                  <a:rPr lang="en-US" sz="2200" dirty="0" smtClean="0">
                    <a:latin typeface="Avenir Book" charset="0"/>
                    <a:ea typeface="Avenir Book" charset="0"/>
                    <a:cs typeface="Avenir Book" charset="0"/>
                  </a:rPr>
                  <a:t>  is the word at position </a:t>
                </a:r>
                <a:r>
                  <a:rPr lang="en-US" sz="2200" dirty="0" err="1" smtClean="0">
                    <a:latin typeface="Avenir Book" charset="0"/>
                    <a:ea typeface="Avenir Book" charset="0"/>
                    <a:cs typeface="Avenir Book" charset="0"/>
                  </a:rPr>
                  <a:t>i</a:t>
                </a:r>
                <a:endParaRPr lang="en-US" sz="2200" dirty="0" smtClean="0">
                  <a:latin typeface="Avenir Book" charset="0"/>
                  <a:ea typeface="Avenir Book" charset="0"/>
                  <a:cs typeface="Avenir Book" charset="0"/>
                </a:endParaRPr>
              </a:p>
              <a:p>
                <a:pPr marL="457200" indent="-457200">
                  <a:buFont typeface="Arial" charset="0"/>
                  <a:buChar char="•"/>
                </a:pPr>
                <a:r>
                  <a:rPr lang="en-US" sz="2200" dirty="0" err="1">
                    <a:latin typeface="Cambria Math" charset="0"/>
                    <a:ea typeface="Cambria Math" charset="0"/>
                    <a:cs typeface="Cambria Math" charset="0"/>
                  </a:rPr>
                  <a:t>s</a:t>
                </a:r>
                <a:r>
                  <a:rPr lang="en-US" sz="2200" baseline="-25000" dirty="0" err="1" smtClean="0">
                    <a:latin typeface="Cambria Math" charset="0"/>
                    <a:ea typeface="Cambria Math" charset="0"/>
                    <a:cs typeface="Cambria Math" charset="0"/>
                  </a:rPr>
                  <a:t>i</a:t>
                </a:r>
                <a:r>
                  <a:rPr lang="en-US" sz="2200" dirty="0" smtClean="0">
                    <a:latin typeface="Avenir Book" charset="0"/>
                    <a:ea typeface="Avenir Book" charset="0"/>
                    <a:cs typeface="Avenir Book" charset="0"/>
                  </a:rPr>
                  <a:t>  </a:t>
                </a:r>
                <a:r>
                  <a:rPr lang="en-US" sz="2200" dirty="0">
                    <a:latin typeface="Avenir Book" charset="0"/>
                    <a:ea typeface="Avenir Book" charset="0"/>
                    <a:cs typeface="Avenir Book" charset="0"/>
                  </a:rPr>
                  <a:t>is the </a:t>
                </a:r>
                <a:r>
                  <a:rPr lang="en-US" sz="2200" dirty="0" smtClean="0">
                    <a:latin typeface="Avenir Book" charset="0"/>
                    <a:ea typeface="Avenir Book" charset="0"/>
                    <a:cs typeface="Avenir Book" charset="0"/>
                  </a:rPr>
                  <a:t>state at </a:t>
                </a:r>
                <a:r>
                  <a:rPr lang="en-US" sz="2200" dirty="0">
                    <a:latin typeface="Avenir Book" charset="0"/>
                    <a:ea typeface="Avenir Book" charset="0"/>
                    <a:cs typeface="Avenir Book" charset="0"/>
                  </a:rPr>
                  <a:t>position </a:t>
                </a:r>
                <a:r>
                  <a:rPr lang="en-US" sz="2200" dirty="0" err="1" smtClean="0">
                    <a:latin typeface="Avenir Book" charset="0"/>
                    <a:ea typeface="Avenir Book" charset="0"/>
                    <a:cs typeface="Avenir Book" charset="0"/>
                  </a:rPr>
                  <a:t>i</a:t>
                </a:r>
                <a:endParaRPr lang="en-US" sz="2200" dirty="0" smtClean="0">
                  <a:latin typeface="Avenir Book" charset="0"/>
                  <a:ea typeface="Avenir Book" charset="0"/>
                  <a:cs typeface="Avenir Book" charset="0"/>
                </a:endParaRPr>
              </a:p>
              <a:p>
                <a:pPr marL="457200" indent="-457200">
                  <a:buFont typeface="Arial" charset="0"/>
                  <a:buChar char="•"/>
                </a:pPr>
                <a:r>
                  <a:rPr lang="en-US" sz="2200" dirty="0" smtClean="0">
                    <a:latin typeface="Cambria Math" charset="0"/>
                    <a:ea typeface="Cambria Math" charset="0"/>
                    <a:cs typeface="Cambria Math" charset="0"/>
                  </a:rPr>
                  <a:t>o</a:t>
                </a:r>
                <a:r>
                  <a:rPr lang="en-US" sz="2200" baseline="-25000" dirty="0" smtClean="0">
                    <a:latin typeface="Cambria Math" charset="0"/>
                    <a:ea typeface="Cambria Math" charset="0"/>
                    <a:cs typeface="Cambria Math" charset="0"/>
                  </a:rPr>
                  <a:t>i</a:t>
                </a:r>
                <a:r>
                  <a:rPr lang="en-US" sz="2200" dirty="0" smtClean="0">
                    <a:latin typeface="Avenir Book" charset="0"/>
                    <a:ea typeface="Avenir Book" charset="0"/>
                    <a:cs typeface="Avenir Book" charset="0"/>
                  </a:rPr>
                  <a:t>  </a:t>
                </a:r>
                <a:r>
                  <a:rPr lang="en-US" sz="2200" dirty="0">
                    <a:latin typeface="Avenir Book" charset="0"/>
                    <a:ea typeface="Avenir Book" charset="0"/>
                    <a:cs typeface="Avenir Book" charset="0"/>
                  </a:rPr>
                  <a:t>is the </a:t>
                </a:r>
                <a:r>
                  <a:rPr lang="en-US" sz="2200" dirty="0" smtClean="0">
                    <a:latin typeface="Avenir Book" charset="0"/>
                    <a:ea typeface="Avenir Book" charset="0"/>
                    <a:cs typeface="Avenir Book" charset="0"/>
                  </a:rPr>
                  <a:t>output at </a:t>
                </a:r>
                <a:r>
                  <a:rPr lang="en-US" sz="2200" dirty="0">
                    <a:latin typeface="Avenir Book" charset="0"/>
                    <a:ea typeface="Avenir Book" charset="0"/>
                    <a:cs typeface="Avenir Book" charset="0"/>
                  </a:rPr>
                  <a:t>position </a:t>
                </a:r>
                <a:r>
                  <a:rPr lang="en-US" sz="2200" dirty="0" err="1" smtClean="0">
                    <a:latin typeface="Avenir Book" charset="0"/>
                    <a:ea typeface="Avenir Book" charset="0"/>
                    <a:cs typeface="Avenir Book" charset="0"/>
                  </a:rPr>
                  <a:t>i</a:t>
                </a:r>
                <a:endParaRPr lang="en-US" sz="2200" dirty="0">
                  <a:latin typeface="Avenir Book" charset="0"/>
                  <a:ea typeface="Avenir Book" charset="0"/>
                  <a:cs typeface="Avenir Book" charset="0"/>
                </a:endParaRPr>
              </a:p>
              <a:p>
                <a:pPr marL="45720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14:m>
                  <m:oMath xmlns:m="http://schemas.openxmlformats.org/officeDocument/2006/math">
                    <m:sSub>
                      <m:sSubPr>
                        <m:ctrlPr>
                          <a:rPr lang="en-US" sz="2200" i="1" smtClean="0">
                            <a:latin typeface="Cambria Math" panose="02040503050406030204" pitchFamily="18" charset="0"/>
                            <a:ea typeface="Avenir Book" charset="0"/>
                            <a:cs typeface="Avenir Book" charset="0"/>
                          </a:rPr>
                        </m:ctrlPr>
                      </m:sSubPr>
                      <m:e>
                        <m:r>
                          <a:rPr lang="en-US" sz="2200" b="0" i="1" smtClean="0">
                            <a:latin typeface="Cambria Math" charset="0"/>
                            <a:ea typeface="Avenir Book" charset="0"/>
                            <a:cs typeface="Avenir Book" charset="0"/>
                          </a:rPr>
                          <m:t>𝑠</m:t>
                        </m:r>
                      </m:e>
                      <m:sub>
                        <m:r>
                          <a:rPr lang="en-US" sz="2200" b="0" i="1" smtClean="0">
                            <a:latin typeface="Cambria Math" charset="0"/>
                            <a:ea typeface="Avenir Book" charset="0"/>
                            <a:cs typeface="Avenir Book" charset="0"/>
                          </a:rPr>
                          <m:t>𝑖</m:t>
                        </m:r>
                      </m:sub>
                    </m:sSub>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𝑓</m:t>
                    </m:r>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𝑈</m:t>
                    </m:r>
                    <m:sSub>
                      <m:sSubPr>
                        <m:ctrlPr>
                          <a:rPr lang="en-US" sz="2200" b="0" i="1" smtClean="0">
                            <a:latin typeface="Cambria Math" panose="02040503050406030204" pitchFamily="18" charset="0"/>
                            <a:ea typeface="Avenir Book" charset="0"/>
                            <a:cs typeface="Avenir Book" charset="0"/>
                          </a:rPr>
                        </m:ctrlPr>
                      </m:sSubPr>
                      <m:e>
                        <m:r>
                          <a:rPr lang="en-US" sz="2200" b="0" i="1" smtClean="0">
                            <a:latin typeface="Cambria Math" charset="0"/>
                            <a:ea typeface="Avenir Book" charset="0"/>
                            <a:cs typeface="Avenir Book" charset="0"/>
                          </a:rPr>
                          <m:t>𝑤</m:t>
                        </m:r>
                      </m:e>
                      <m:sub>
                        <m:r>
                          <a:rPr lang="en-US" sz="2200" b="0" i="1" smtClean="0">
                            <a:latin typeface="Cambria Math" charset="0"/>
                            <a:ea typeface="Avenir Book" charset="0"/>
                            <a:cs typeface="Avenir Book" charset="0"/>
                          </a:rPr>
                          <m:t>𝑖</m:t>
                        </m:r>
                      </m:sub>
                    </m:sSub>
                    <m:r>
                      <a:rPr lang="en-US" sz="2200" b="0" i="1" smtClean="0">
                        <a:latin typeface="Cambria Math" charset="0"/>
                        <a:ea typeface="Avenir Book" charset="0"/>
                        <a:cs typeface="Avenir Book" charset="0"/>
                      </a:rPr>
                      <m:t>+</m:t>
                    </m:r>
                    <m:r>
                      <a:rPr lang="en-US" sz="2200" b="0" i="1" smtClean="0">
                        <a:latin typeface="Cambria Math" charset="0"/>
                        <a:ea typeface="Avenir Book" charset="0"/>
                        <a:cs typeface="Avenir Book" charset="0"/>
                      </a:rPr>
                      <m:t>𝑊</m:t>
                    </m:r>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𝑠</m:t>
                        </m:r>
                      </m:e>
                      <m:sub>
                        <m:r>
                          <a:rPr lang="en-US" sz="2200" i="1">
                            <a:latin typeface="Cambria Math" charset="0"/>
                            <a:ea typeface="Avenir Book" charset="0"/>
                            <a:cs typeface="Avenir Book" charset="0"/>
                          </a:rPr>
                          <m:t>𝑖</m:t>
                        </m:r>
                        <m:r>
                          <a:rPr lang="en-US" sz="2200" b="0" i="1" smtClean="0">
                            <a:latin typeface="Cambria Math" charset="0"/>
                            <a:ea typeface="Avenir Book" charset="0"/>
                            <a:cs typeface="Avenir Book" charset="0"/>
                          </a:rPr>
                          <m:t>−1</m:t>
                        </m:r>
                      </m:sub>
                    </m:sSub>
                  </m:oMath>
                </a14:m>
                <a:r>
                  <a:rPr lang="en-US" sz="2200" dirty="0" smtClean="0">
                    <a:latin typeface="Avenir Book" charset="0"/>
                    <a:ea typeface="Avenir Book" charset="0"/>
                    <a:cs typeface="Avenir Book" charset="0"/>
                  </a:rPr>
                  <a:t>)	(Core RNN)</a:t>
                </a:r>
              </a:p>
              <a:p>
                <a:pPr marL="457200" indent="-457200">
                  <a:buFont typeface="Arial" charset="0"/>
                  <a:buChar char="•"/>
                </a:pPr>
                <a14:m>
                  <m:oMath xmlns:m="http://schemas.openxmlformats.org/officeDocument/2006/math">
                    <m:sSub>
                      <m:sSubPr>
                        <m:ctrlPr>
                          <a:rPr lang="en-US" sz="2200" i="1">
                            <a:latin typeface="Cambria Math" panose="02040503050406030204" pitchFamily="18" charset="0"/>
                            <a:ea typeface="Avenir Book" charset="0"/>
                            <a:cs typeface="Avenir Book" charset="0"/>
                          </a:rPr>
                        </m:ctrlPr>
                      </m:sSubPr>
                      <m:e>
                        <m:r>
                          <a:rPr lang="en-US" sz="2200" b="0" i="1" smtClean="0">
                            <a:latin typeface="Cambria Math" charset="0"/>
                            <a:ea typeface="Avenir Book" charset="0"/>
                            <a:cs typeface="Avenir Book" charset="0"/>
                          </a:rPr>
                          <m:t>𝑜</m:t>
                        </m:r>
                      </m:e>
                      <m:sub>
                        <m:r>
                          <a:rPr lang="en-US" sz="2200" i="1">
                            <a:latin typeface="Cambria Math" charset="0"/>
                            <a:ea typeface="Avenir Book" charset="0"/>
                            <a:cs typeface="Avenir Book" charset="0"/>
                          </a:rPr>
                          <m:t>𝑖</m:t>
                        </m:r>
                      </m:sub>
                    </m:sSub>
                    <m:r>
                      <a:rPr lang="en-US" sz="2200" i="1">
                        <a:latin typeface="Cambria Math" charset="0"/>
                        <a:ea typeface="Avenir Book" charset="0"/>
                        <a:cs typeface="Avenir Book" charset="0"/>
                      </a:rPr>
                      <m:t>=</m:t>
                    </m:r>
                    <m:r>
                      <a:rPr lang="en-US" sz="2200" b="0" i="1" smtClean="0">
                        <a:latin typeface="Cambria Math" charset="0"/>
                        <a:ea typeface="Avenir Book" charset="0"/>
                        <a:cs typeface="Avenir Book" charset="0"/>
                      </a:rPr>
                      <m:t>𝑠𝑜𝑓𝑡𝑚𝑎𝑥</m:t>
                    </m:r>
                    <m:r>
                      <a:rPr lang="en-US" sz="2200" i="1">
                        <a:latin typeface="Cambria Math" charset="0"/>
                        <a:ea typeface="Avenir Book" charset="0"/>
                        <a:cs typeface="Avenir Book" charset="0"/>
                      </a:rPr>
                      <m:t>(</m:t>
                    </m:r>
                    <m:r>
                      <a:rPr lang="en-US" sz="2200" b="0" i="1" smtClean="0">
                        <a:latin typeface="Cambria Math" charset="0"/>
                        <a:ea typeface="Avenir Book" charset="0"/>
                        <a:cs typeface="Avenir Book" charset="0"/>
                      </a:rPr>
                      <m:t>𝑉</m:t>
                    </m:r>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𝑠</m:t>
                        </m:r>
                      </m:e>
                      <m:sub>
                        <m:r>
                          <a:rPr lang="en-US" sz="2200" i="1">
                            <a:latin typeface="Cambria Math" charset="0"/>
                            <a:ea typeface="Avenir Book" charset="0"/>
                            <a:cs typeface="Avenir Book" charset="0"/>
                          </a:rPr>
                          <m:t>𝑖</m:t>
                        </m:r>
                      </m:sub>
                    </m:sSub>
                  </m:oMath>
                </a14:m>
                <a:r>
                  <a:rPr lang="en-US" sz="2200" dirty="0">
                    <a:latin typeface="Avenir Book" charset="0"/>
                    <a:ea typeface="Avenir Book" charset="0"/>
                    <a:cs typeface="Avenir Book" charset="0"/>
                  </a:rPr>
                  <a:t>)</a:t>
                </a:r>
                <a:r>
                  <a:rPr lang="en-US" sz="2200" dirty="0" smtClean="0">
                    <a:latin typeface="Avenir Book" charset="0"/>
                    <a:ea typeface="Avenir Book" charset="0"/>
                    <a:cs typeface="Avenir Book" charset="0"/>
                  </a:rPr>
                  <a:t>		(subsequent dense layer)</a:t>
                </a:r>
              </a:p>
              <a:p>
                <a:pPr marL="45720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In other words:</a:t>
                </a:r>
              </a:p>
              <a:p>
                <a:pPr marL="457200" lvl="0" indent="-457200">
                  <a:buFont typeface="Arial" charset="0"/>
                  <a:buChar char="•"/>
                </a:pPr>
                <a:r>
                  <a:rPr lang="en-US" sz="2200" dirty="0" smtClean="0">
                    <a:latin typeface="Avenir Book" charset="0"/>
                    <a:ea typeface="Avenir Book" charset="0"/>
                    <a:cs typeface="Avenir Book" charset="0"/>
                  </a:rPr>
                  <a:t>current state = function1(old state, current input)</a:t>
                </a:r>
              </a:p>
              <a:p>
                <a:pPr marL="457200" lvl="0" indent="-457200">
                  <a:buFont typeface="Arial" charset="0"/>
                  <a:buChar char="•"/>
                </a:pPr>
                <a:r>
                  <a:rPr lang="en-US" sz="2200" dirty="0" smtClean="0">
                    <a:latin typeface="Avenir Book" charset="0"/>
                    <a:ea typeface="Avenir Book" charset="0"/>
                    <a:cs typeface="Avenir Book" charset="0"/>
                  </a:rPr>
                  <a:t>current output = function2(current state)</a:t>
                </a:r>
              </a:p>
              <a:p>
                <a:pPr marL="457200" lvl="0" indent="-457200">
                  <a:buFont typeface="Arial" charset="0"/>
                  <a:buChar char="•"/>
                </a:pPr>
                <a:r>
                  <a:rPr lang="en-US" sz="2200" dirty="0" smtClean="0">
                    <a:latin typeface="Avenir Book" charset="0"/>
                    <a:ea typeface="Avenir Book" charset="0"/>
                    <a:cs typeface="Avenir Book" charset="0"/>
                  </a:rPr>
                  <a:t>We learn function1 and function2 by training our network!</a:t>
                </a:r>
                <a:endParaRPr lang="en-US" sz="1800" dirty="0" smtClean="0">
                  <a:latin typeface="Avenir Book" charset="0"/>
                  <a:ea typeface="Avenir Book" charset="0"/>
                  <a:cs typeface="Avenir Book"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398352" y="1027952"/>
                <a:ext cx="8192764" cy="3816429"/>
              </a:xfrm>
              <a:prstGeom prst="rect">
                <a:avLst/>
              </a:prstGeom>
              <a:blipFill rotWithShape="0">
                <a:blip r:embed="rId3"/>
                <a:stretch>
                  <a:fillRect l="-818" t="-1757" b="-2236"/>
                </a:stretch>
              </a:blipFill>
            </p:spPr>
            <p:txBody>
              <a:bodyPr/>
              <a:lstStyle/>
              <a:p>
                <a:r>
                  <a:rPr lang="en-US">
                    <a:noFill/>
                  </a:rPr>
                  <a:t> </a:t>
                </a:r>
              </a:p>
            </p:txBody>
          </p:sp>
        </mc:Fallback>
      </mc:AlternateContent>
    </p:spTree>
    <p:extLst>
      <p:ext uri="{BB962C8B-B14F-4D97-AF65-F5344CB8AC3E}">
        <p14:creationId xmlns:p14="http://schemas.microsoft.com/office/powerpoint/2010/main" val="15807698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More Mathematical Details</a:t>
            </a:r>
            <a:endParaRPr lang="en-US" dirty="0">
              <a:latin typeface="Avenir Book" charset="0"/>
              <a:ea typeface="Avenir Book" charset="0"/>
              <a:cs typeface="Avenir Book" charset="0"/>
            </a:endParaRPr>
          </a:p>
        </p:txBody>
      </p:sp>
      <p:sp>
        <p:nvSpPr>
          <p:cNvPr id="4" name="Rectangle 3"/>
          <p:cNvSpPr/>
          <p:nvPr/>
        </p:nvSpPr>
        <p:spPr>
          <a:xfrm>
            <a:off x="398352" y="1227244"/>
            <a:ext cx="8192764" cy="1046440"/>
          </a:xfrm>
          <a:prstGeom prst="rect">
            <a:avLst/>
          </a:prstGeom>
        </p:spPr>
        <p:txBody>
          <a:bodyPr wrap="square">
            <a:spAutoFit/>
          </a:bodyPr>
          <a:lstStyle/>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a:p>
            <a:pPr marL="457200" lvl="0" indent="-457200">
              <a:buFont typeface="Arial" charset="0"/>
              <a:buChar char="•"/>
            </a:pPr>
            <a:endParaRPr lang="en-US" sz="1800" dirty="0" smtClean="0">
              <a:latin typeface="Avenir Book" charset="0"/>
              <a:ea typeface="Avenir Book" charset="0"/>
              <a:cs typeface="Avenir Book" charset="0"/>
            </a:endParaRPr>
          </a:p>
        </p:txBody>
      </p:sp>
      <p:sp>
        <p:nvSpPr>
          <p:cNvPr id="5" name="Rectangle 4"/>
          <p:cNvSpPr/>
          <p:nvPr/>
        </p:nvSpPr>
        <p:spPr>
          <a:xfrm>
            <a:off x="398352" y="1227244"/>
            <a:ext cx="8192764" cy="3477875"/>
          </a:xfrm>
          <a:prstGeom prst="rect">
            <a:avLst/>
          </a:prstGeom>
        </p:spPr>
        <p:txBody>
          <a:bodyPr wrap="square">
            <a:spAutoFit/>
          </a:bodyPr>
          <a:lstStyle/>
          <a:p>
            <a:pPr marL="457200" indent="-457200">
              <a:buFont typeface="Arial" charset="0"/>
              <a:buChar char="•"/>
            </a:pPr>
            <a:r>
              <a:rPr lang="en-US" sz="2200" dirty="0" smtClean="0">
                <a:latin typeface="Cambria Math" charset="0"/>
                <a:ea typeface="Cambria Math" charset="0"/>
                <a:cs typeface="Cambria Math" charset="0"/>
              </a:rPr>
              <a:t>r</a:t>
            </a:r>
            <a:r>
              <a:rPr lang="en-US" sz="2200" dirty="0" smtClean="0">
                <a:latin typeface="Avenir Book" charset="0"/>
                <a:ea typeface="Avenir Book" charset="0"/>
                <a:cs typeface="Avenir Book" charset="0"/>
              </a:rPr>
              <a:t> = dimension of input vector</a:t>
            </a:r>
          </a:p>
          <a:p>
            <a:pPr marL="457200" indent="-457200">
              <a:buFont typeface="Arial" charset="0"/>
              <a:buChar char="•"/>
            </a:pPr>
            <a:r>
              <a:rPr lang="en-US" sz="2200" dirty="0" smtClean="0">
                <a:latin typeface="Cambria Math" charset="0"/>
                <a:ea typeface="Cambria Math" charset="0"/>
                <a:cs typeface="Cambria Math" charset="0"/>
              </a:rPr>
              <a:t>s</a:t>
            </a:r>
            <a:r>
              <a:rPr lang="en-US" sz="2200" dirty="0" smtClean="0">
                <a:latin typeface="Avenir Book" charset="0"/>
                <a:ea typeface="Avenir Book" charset="0"/>
                <a:cs typeface="Avenir Book" charset="0"/>
              </a:rPr>
              <a:t> </a:t>
            </a:r>
            <a:r>
              <a:rPr lang="en-US" sz="2200" dirty="0">
                <a:latin typeface="Avenir Book" charset="0"/>
                <a:ea typeface="Avenir Book" charset="0"/>
                <a:cs typeface="Avenir Book" charset="0"/>
              </a:rPr>
              <a:t>= dimension of </a:t>
            </a:r>
            <a:r>
              <a:rPr lang="en-US" sz="2200" dirty="0" smtClean="0">
                <a:latin typeface="Avenir Book" charset="0"/>
                <a:ea typeface="Avenir Book" charset="0"/>
                <a:cs typeface="Avenir Book" charset="0"/>
              </a:rPr>
              <a:t>hidden state</a:t>
            </a:r>
          </a:p>
          <a:p>
            <a:pPr marL="457200" indent="-457200">
              <a:buFont typeface="Arial" charset="0"/>
              <a:buChar char="•"/>
            </a:pPr>
            <a:r>
              <a:rPr lang="en-US" sz="2200" dirty="0" smtClean="0">
                <a:latin typeface="Avenir Book" charset="0"/>
                <a:ea typeface="Avenir Book" charset="0"/>
                <a:cs typeface="Avenir Book" charset="0"/>
              </a:rPr>
              <a:t>t = dimension of output vector (after dense layer)</a:t>
            </a:r>
          </a:p>
          <a:p>
            <a:pPr marL="457200" indent="-457200">
              <a:buFont typeface="Arial" charset="0"/>
              <a:buChar char="•"/>
            </a:pPr>
            <a:endParaRPr lang="en-US" sz="2200" dirty="0" smtClean="0">
              <a:latin typeface="Cambria Math" charset="0"/>
              <a:ea typeface="Cambria Math" charset="0"/>
              <a:cs typeface="Cambria Math" charset="0"/>
            </a:endParaRPr>
          </a:p>
          <a:p>
            <a:pPr marL="457200" indent="-457200">
              <a:buFont typeface="Arial" charset="0"/>
              <a:buChar char="•"/>
            </a:pPr>
            <a:r>
              <a:rPr lang="en-US" sz="2200" dirty="0" smtClean="0">
                <a:latin typeface="Cambria Math" charset="0"/>
                <a:ea typeface="Cambria Math" charset="0"/>
                <a:cs typeface="Cambria Math" charset="0"/>
              </a:rPr>
              <a:t>U</a:t>
            </a:r>
            <a:r>
              <a:rPr lang="en-US" sz="2200" dirty="0" smtClean="0">
                <a:latin typeface="Avenir Book" charset="0"/>
                <a:ea typeface="Avenir Book" charset="0"/>
                <a:cs typeface="Avenir Book" charset="0"/>
              </a:rPr>
              <a:t> is a </a:t>
            </a:r>
            <a:r>
              <a:rPr lang="en-US" sz="2200" dirty="0" smtClean="0">
                <a:latin typeface="Cambria Math" charset="0"/>
                <a:ea typeface="Cambria Math" charset="0"/>
                <a:cs typeface="Cambria Math" charset="0"/>
              </a:rPr>
              <a:t>s x r </a:t>
            </a:r>
            <a:r>
              <a:rPr lang="en-US" sz="2200" dirty="0" smtClean="0">
                <a:latin typeface="Avenir Book" charset="0"/>
                <a:ea typeface="Avenir Book" charset="0"/>
                <a:cs typeface="Avenir Book" charset="0"/>
              </a:rPr>
              <a:t>matrix</a:t>
            </a:r>
          </a:p>
          <a:p>
            <a:pPr marL="457200" indent="-457200">
              <a:buFont typeface="Arial" charset="0"/>
              <a:buChar char="•"/>
            </a:pPr>
            <a:r>
              <a:rPr lang="en-US" sz="2200" dirty="0" smtClean="0">
                <a:latin typeface="Cambria Math" charset="0"/>
                <a:ea typeface="Cambria Math" charset="0"/>
                <a:cs typeface="Cambria Math" charset="0"/>
              </a:rPr>
              <a:t>W</a:t>
            </a:r>
            <a:r>
              <a:rPr lang="en-US" sz="2200" dirty="0" smtClean="0">
                <a:latin typeface="Avenir Book" charset="0"/>
                <a:ea typeface="Avenir Book" charset="0"/>
                <a:cs typeface="Avenir Book" charset="0"/>
              </a:rPr>
              <a:t> </a:t>
            </a:r>
            <a:r>
              <a:rPr lang="en-US" sz="2200" dirty="0">
                <a:latin typeface="Avenir Book" charset="0"/>
                <a:ea typeface="Avenir Book" charset="0"/>
                <a:cs typeface="Avenir Book" charset="0"/>
              </a:rPr>
              <a:t>is a </a:t>
            </a:r>
            <a:r>
              <a:rPr lang="en-US" sz="2200" dirty="0">
                <a:latin typeface="Cambria Math" charset="0"/>
                <a:ea typeface="Cambria Math" charset="0"/>
                <a:cs typeface="Cambria Math" charset="0"/>
              </a:rPr>
              <a:t>s x </a:t>
            </a:r>
            <a:r>
              <a:rPr lang="en-US" sz="2200" dirty="0" smtClean="0">
                <a:latin typeface="Cambria Math" charset="0"/>
                <a:ea typeface="Cambria Math" charset="0"/>
                <a:cs typeface="Cambria Math" charset="0"/>
              </a:rPr>
              <a:t>s </a:t>
            </a:r>
            <a:r>
              <a:rPr lang="en-US" sz="2200" dirty="0">
                <a:latin typeface="Avenir Book" charset="0"/>
                <a:ea typeface="Avenir Book" charset="0"/>
                <a:cs typeface="Avenir Book" charset="0"/>
              </a:rPr>
              <a:t>matrix</a:t>
            </a:r>
          </a:p>
          <a:p>
            <a:pPr marL="457200" indent="-457200">
              <a:buFont typeface="Arial" charset="0"/>
              <a:buChar char="•"/>
            </a:pPr>
            <a:r>
              <a:rPr lang="en-US" sz="2200" dirty="0" smtClean="0">
                <a:latin typeface="Cambria Math" charset="0"/>
                <a:ea typeface="Cambria Math" charset="0"/>
                <a:cs typeface="Cambria Math" charset="0"/>
              </a:rPr>
              <a:t>V</a:t>
            </a:r>
            <a:r>
              <a:rPr lang="en-US" sz="2200" dirty="0" smtClean="0">
                <a:latin typeface="Avenir Book" charset="0"/>
                <a:ea typeface="Avenir Book" charset="0"/>
                <a:cs typeface="Avenir Book" charset="0"/>
              </a:rPr>
              <a:t> </a:t>
            </a:r>
            <a:r>
              <a:rPr lang="en-US" sz="2200" dirty="0">
                <a:latin typeface="Avenir Book" charset="0"/>
                <a:ea typeface="Avenir Book" charset="0"/>
                <a:cs typeface="Avenir Book" charset="0"/>
              </a:rPr>
              <a:t>is a </a:t>
            </a:r>
            <a:r>
              <a:rPr lang="en-US" sz="2200" dirty="0" smtClean="0">
                <a:latin typeface="Cambria Math" charset="0"/>
                <a:ea typeface="Cambria Math" charset="0"/>
                <a:cs typeface="Cambria Math" charset="0"/>
              </a:rPr>
              <a:t>t </a:t>
            </a:r>
            <a:r>
              <a:rPr lang="en-US" sz="2200" dirty="0">
                <a:latin typeface="Cambria Math" charset="0"/>
                <a:ea typeface="Cambria Math" charset="0"/>
                <a:cs typeface="Cambria Math" charset="0"/>
              </a:rPr>
              <a:t>x </a:t>
            </a:r>
            <a:r>
              <a:rPr lang="en-US" sz="2200" dirty="0" smtClean="0">
                <a:latin typeface="Cambria Math" charset="0"/>
                <a:ea typeface="Cambria Math" charset="0"/>
                <a:cs typeface="Cambria Math" charset="0"/>
              </a:rPr>
              <a:t>s </a:t>
            </a:r>
            <a:r>
              <a:rPr lang="en-US" sz="2200" dirty="0" smtClean="0">
                <a:latin typeface="Avenir Book" charset="0"/>
                <a:ea typeface="Avenir Book" charset="0"/>
                <a:cs typeface="Avenir Book" charset="0"/>
              </a:rPr>
              <a:t>matrix</a:t>
            </a:r>
          </a:p>
          <a:p>
            <a:pPr marL="45720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Note: The weight matrices U,V,W are the same across all positions</a:t>
            </a:r>
            <a:endParaRPr lang="en-US" sz="1800" dirty="0" smtClean="0">
              <a:latin typeface="Avenir Book" charset="0"/>
              <a:ea typeface="Avenir Book" charset="0"/>
              <a:cs typeface="Avenir Book" charset="0"/>
            </a:endParaRPr>
          </a:p>
        </p:txBody>
      </p:sp>
    </p:spTree>
    <p:extLst>
      <p:ext uri="{BB962C8B-B14F-4D97-AF65-F5344CB8AC3E}">
        <p14:creationId xmlns:p14="http://schemas.microsoft.com/office/powerpoint/2010/main" val="18402859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Practical Details</a:t>
            </a:r>
            <a:endParaRPr lang="en-US" dirty="0">
              <a:latin typeface="Avenir Book" charset="0"/>
              <a:ea typeface="Avenir Book" charset="0"/>
              <a:cs typeface="Avenir Book" charset="0"/>
            </a:endParaRPr>
          </a:p>
        </p:txBody>
      </p:sp>
      <p:sp>
        <p:nvSpPr>
          <p:cNvPr id="75" name="Rectangle 74"/>
          <p:cNvSpPr/>
          <p:nvPr/>
        </p:nvSpPr>
        <p:spPr>
          <a:xfrm>
            <a:off x="398352" y="1227244"/>
            <a:ext cx="8192764" cy="3139321"/>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Often, we train on just the ”final” output and ignore the intermediate outputs.</a:t>
            </a:r>
          </a:p>
          <a:p>
            <a:pPr marL="457200" lvl="0" indent="-457200">
              <a:buFont typeface="Arial" charset="0"/>
              <a:buChar char="•"/>
            </a:pPr>
            <a:r>
              <a:rPr lang="en-US" sz="2200" dirty="0" smtClean="0">
                <a:latin typeface="Avenir Book" charset="0"/>
                <a:ea typeface="Avenir Book" charset="0"/>
                <a:cs typeface="Avenir Book" charset="0"/>
              </a:rPr>
              <a:t>Slight variation called Backpropagation Through Time (BPTT) is used to train RNNs</a:t>
            </a:r>
          </a:p>
          <a:p>
            <a:pPr marL="457200" lvl="0" indent="-457200">
              <a:buFont typeface="Arial" charset="0"/>
              <a:buChar char="•"/>
            </a:pPr>
            <a:r>
              <a:rPr lang="en-US" sz="2200" dirty="0" smtClean="0">
                <a:latin typeface="Avenir Book" charset="0"/>
                <a:ea typeface="Avenir Book" charset="0"/>
                <a:cs typeface="Avenir Book" charset="0"/>
              </a:rPr>
              <a:t>Sensitive to length of sequence (due to “vanishing/exploding gradient” problem)</a:t>
            </a:r>
          </a:p>
          <a:p>
            <a:pPr marL="457200" lvl="0" indent="-457200">
              <a:buFont typeface="Arial" charset="0"/>
              <a:buChar char="•"/>
            </a:pPr>
            <a:r>
              <a:rPr lang="en-US" sz="2200" dirty="0" smtClean="0">
                <a:latin typeface="Avenir Book" charset="0"/>
                <a:ea typeface="Avenir Book" charset="0"/>
                <a:cs typeface="Avenir Book" charset="0"/>
              </a:rPr>
              <a:t>In practice, we still set a maximum length to our sequences.</a:t>
            </a:r>
          </a:p>
          <a:p>
            <a:pPr marL="800100" lvl="0" indent="-342900">
              <a:buFont typeface="Courier New" charset="0"/>
              <a:buChar char="o"/>
            </a:pPr>
            <a:r>
              <a:rPr lang="en-US" sz="2200" dirty="0" smtClean="0">
                <a:latin typeface="Avenir Book" charset="0"/>
                <a:ea typeface="Avenir Book" charset="0"/>
                <a:cs typeface="Avenir Book" charset="0"/>
              </a:rPr>
              <a:t>If input is shorter than maximum, we “pad” it.</a:t>
            </a:r>
          </a:p>
          <a:p>
            <a:pPr marL="800100" lvl="0" indent="-342900">
              <a:buFont typeface="Courier New" charset="0"/>
              <a:buChar char="o"/>
            </a:pPr>
            <a:r>
              <a:rPr lang="en-US" sz="2200" dirty="0" smtClean="0">
                <a:latin typeface="Avenir Book" charset="0"/>
                <a:ea typeface="Avenir Book" charset="0"/>
                <a:cs typeface="Avenir Book" charset="0"/>
              </a:rPr>
              <a:t>If input is longer than maximum, we truncate.</a:t>
            </a:r>
          </a:p>
        </p:txBody>
      </p:sp>
    </p:spTree>
    <p:extLst>
      <p:ext uri="{BB962C8B-B14F-4D97-AF65-F5344CB8AC3E}">
        <p14:creationId xmlns:p14="http://schemas.microsoft.com/office/powerpoint/2010/main" val="10596417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Other Uses of RNNs</a:t>
            </a:r>
            <a:endParaRPr lang="en-US" dirty="0">
              <a:latin typeface="Avenir Book" charset="0"/>
              <a:ea typeface="Avenir Book" charset="0"/>
              <a:cs typeface="Avenir Book" charset="0"/>
            </a:endParaRPr>
          </a:p>
        </p:txBody>
      </p:sp>
      <p:sp>
        <p:nvSpPr>
          <p:cNvPr id="75" name="Rectangle 74"/>
          <p:cNvSpPr/>
          <p:nvPr/>
        </p:nvSpPr>
        <p:spPr>
          <a:xfrm>
            <a:off x="398352" y="1227244"/>
            <a:ext cx="8192764" cy="2123658"/>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We have focused on text/words as application.</a:t>
            </a:r>
          </a:p>
          <a:p>
            <a:pPr marL="457200" lvl="0" indent="-457200">
              <a:buFont typeface="Arial" charset="0"/>
              <a:buChar char="•"/>
            </a:pPr>
            <a:r>
              <a:rPr lang="en-US" sz="2200" dirty="0" smtClean="0">
                <a:latin typeface="Avenir Book" charset="0"/>
                <a:ea typeface="Avenir Book" charset="0"/>
                <a:cs typeface="Avenir Book" charset="0"/>
              </a:rPr>
              <a:t>But, RNNs can be used for other sequential data</a:t>
            </a:r>
          </a:p>
          <a:p>
            <a:pPr marL="803275" lvl="0" indent="-338138">
              <a:buFont typeface="Courier New" charset="0"/>
              <a:buChar char="o"/>
            </a:pPr>
            <a:r>
              <a:rPr lang="en-US" sz="2200" dirty="0" smtClean="0">
                <a:latin typeface="Avenir Book" charset="0"/>
                <a:ea typeface="Avenir Book" charset="0"/>
                <a:cs typeface="Avenir Book" charset="0"/>
              </a:rPr>
              <a:t>Time-Series </a:t>
            </a:r>
            <a:r>
              <a:rPr lang="en-US" sz="2200" dirty="0">
                <a:latin typeface="Avenir Book" charset="0"/>
                <a:ea typeface="Avenir Book" charset="0"/>
                <a:cs typeface="Avenir Book" charset="0"/>
              </a:rPr>
              <a:t>D</a:t>
            </a:r>
            <a:r>
              <a:rPr lang="en-US" sz="2200" dirty="0" smtClean="0">
                <a:latin typeface="Avenir Book" charset="0"/>
                <a:ea typeface="Avenir Book" charset="0"/>
                <a:cs typeface="Avenir Book" charset="0"/>
              </a:rPr>
              <a:t>ata</a:t>
            </a:r>
          </a:p>
          <a:p>
            <a:pPr marL="803275" lvl="0" indent="-338138">
              <a:buFont typeface="Courier New" charset="0"/>
              <a:buChar char="o"/>
            </a:pPr>
            <a:r>
              <a:rPr lang="en-US" sz="2200" dirty="0" smtClean="0">
                <a:latin typeface="Avenir Book" charset="0"/>
                <a:ea typeface="Avenir Book" charset="0"/>
                <a:cs typeface="Avenir Book" charset="0"/>
              </a:rPr>
              <a:t>Speech </a:t>
            </a:r>
            <a:r>
              <a:rPr lang="en-US" sz="2200" dirty="0">
                <a:latin typeface="Avenir Book" charset="0"/>
                <a:ea typeface="Avenir Book" charset="0"/>
                <a:cs typeface="Avenir Book" charset="0"/>
              </a:rPr>
              <a:t>Recognition</a:t>
            </a:r>
          </a:p>
          <a:p>
            <a:pPr marL="803275" lvl="0" indent="-338138">
              <a:buFont typeface="Courier New" charset="0"/>
              <a:buChar char="o"/>
            </a:pPr>
            <a:r>
              <a:rPr lang="en-US" sz="2200" dirty="0" smtClean="0">
                <a:latin typeface="Avenir Book" charset="0"/>
                <a:ea typeface="Avenir Book" charset="0"/>
                <a:cs typeface="Avenir Book" charset="0"/>
              </a:rPr>
              <a:t>Sensor </a:t>
            </a:r>
            <a:r>
              <a:rPr lang="en-US" sz="2200" dirty="0">
                <a:latin typeface="Avenir Book" charset="0"/>
                <a:ea typeface="Avenir Book" charset="0"/>
                <a:cs typeface="Avenir Book" charset="0"/>
              </a:rPr>
              <a:t>Data</a:t>
            </a:r>
          </a:p>
          <a:p>
            <a:pPr marL="803275" lvl="0" indent="-338138">
              <a:buFont typeface="Courier New" charset="0"/>
              <a:buChar char="o"/>
            </a:pPr>
            <a:r>
              <a:rPr lang="en-US" sz="2200" dirty="0" smtClean="0">
                <a:latin typeface="Avenir Book" charset="0"/>
                <a:ea typeface="Avenir Book" charset="0"/>
                <a:cs typeface="Avenir Book" charset="0"/>
              </a:rPr>
              <a:t>Genome </a:t>
            </a:r>
            <a:r>
              <a:rPr lang="en-US" sz="2200" dirty="0">
                <a:latin typeface="Avenir Book" charset="0"/>
                <a:ea typeface="Avenir Book" charset="0"/>
                <a:cs typeface="Avenir Book" charset="0"/>
              </a:rPr>
              <a:t>Sequences</a:t>
            </a:r>
          </a:p>
        </p:txBody>
      </p:sp>
    </p:spTree>
    <p:extLst>
      <p:ext uri="{BB962C8B-B14F-4D97-AF65-F5344CB8AC3E}">
        <p14:creationId xmlns:p14="http://schemas.microsoft.com/office/powerpoint/2010/main" val="13271311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Weaknesses of RNNs</a:t>
            </a:r>
            <a:endParaRPr lang="en-US" dirty="0">
              <a:latin typeface="Avenir Book" charset="0"/>
              <a:ea typeface="Avenir Book" charset="0"/>
              <a:cs typeface="Avenir Book" charset="0"/>
            </a:endParaRPr>
          </a:p>
        </p:txBody>
      </p:sp>
      <p:sp>
        <p:nvSpPr>
          <p:cNvPr id="75" name="Rectangle 74"/>
          <p:cNvSpPr/>
          <p:nvPr/>
        </p:nvSpPr>
        <p:spPr>
          <a:xfrm>
            <a:off x="398352" y="1227244"/>
            <a:ext cx="8192764" cy="2123658"/>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Nature of state transition means it is hard to keep information from distant past in current memory without reinforcement.</a:t>
            </a:r>
          </a:p>
          <a:p>
            <a:pPr marL="457200" lvl="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In the next lecture, we will introduce LSTMs, which have a more complex mechanism for updated the state.</a:t>
            </a:r>
          </a:p>
        </p:txBody>
      </p:sp>
    </p:spTree>
    <p:extLst>
      <p:ext uri="{BB962C8B-B14F-4D97-AF65-F5344CB8AC3E}">
        <p14:creationId xmlns:p14="http://schemas.microsoft.com/office/powerpoint/2010/main" val="19147601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7086600" y="4767263"/>
            <a:ext cx="2057400" cy="274637"/>
          </a:xfrm>
        </p:spPr>
        <p:txBody>
          <a:bodyPr/>
          <a:lstStyle/>
          <a:p>
            <a:fld id="{BDF01D69-A501-704B-80CB-1B3152437FD0}" type="slidenum">
              <a:rPr lang="en-US" smtClean="0"/>
              <a:t>23</a:t>
            </a:fld>
            <a:endParaRPr lang="en-US"/>
          </a:p>
        </p:txBody>
      </p:sp>
    </p:spTree>
    <p:extLst>
      <p:ext uri="{BB962C8B-B14F-4D97-AF65-F5344CB8AC3E}">
        <p14:creationId xmlns:p14="http://schemas.microsoft.com/office/powerpoint/2010/main" val="364659737"/>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31099</TotalTime>
  <Words>1021</Words>
  <Application>Microsoft Office PowerPoint</Application>
  <PresentationFormat>On-screen Show (16:9)</PresentationFormat>
  <Paragraphs>269</Paragraphs>
  <Slides>23</Slides>
  <Notes>22</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23</vt:i4>
      </vt:variant>
    </vt:vector>
  </HeadingPairs>
  <TitlesOfParts>
    <vt:vector size="40" baseType="lpstr">
      <vt:lpstr>Arial</vt:lpstr>
      <vt:lpstr>Avenir Book</vt:lpstr>
      <vt:lpstr>Calibri</vt:lpstr>
      <vt:lpstr>Calibri Light</vt:lpstr>
      <vt:lpstr>Cambria Math</vt:lpstr>
      <vt:lpstr>Consolas</vt:lpstr>
      <vt:lpstr>Courier New</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Recurrent Neural Networks (RNNs)</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501</cp:revision>
  <cp:lastPrinted>2017-03-21T10:33:11Z</cp:lastPrinted>
  <dcterms:modified xsi:type="dcterms:W3CDTF">2017-08-25T19:42:37Z</dcterms:modified>
</cp:coreProperties>
</file>
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94" r:id="rId2"/>
    <p:sldMasterId id="2147483707" r:id="rId3"/>
  </p:sldMasterIdLst>
  <p:notesMasterIdLst>
    <p:notesMasterId r:id="rId38"/>
  </p:notesMasterIdLst>
  <p:handoutMasterIdLst>
    <p:handoutMasterId r:id="rId39"/>
  </p:handoutMasterIdLst>
  <p:sldIdLst>
    <p:sldId id="389" r:id="rId4"/>
    <p:sldId id="579" r:id="rId5"/>
    <p:sldId id="533" r:id="rId6"/>
    <p:sldId id="565" r:id="rId7"/>
    <p:sldId id="545" r:id="rId8"/>
    <p:sldId id="578" r:id="rId9"/>
    <p:sldId id="577" r:id="rId10"/>
    <p:sldId id="576" r:id="rId11"/>
    <p:sldId id="575" r:id="rId12"/>
    <p:sldId id="574" r:id="rId13"/>
    <p:sldId id="573" r:id="rId14"/>
    <p:sldId id="512" r:id="rId15"/>
    <p:sldId id="546" r:id="rId16"/>
    <p:sldId id="547" r:id="rId17"/>
    <p:sldId id="548" r:id="rId18"/>
    <p:sldId id="549" r:id="rId19"/>
    <p:sldId id="550" r:id="rId20"/>
    <p:sldId id="551" r:id="rId21"/>
    <p:sldId id="552" r:id="rId22"/>
    <p:sldId id="553" r:id="rId23"/>
    <p:sldId id="572" r:id="rId24"/>
    <p:sldId id="554" r:id="rId25"/>
    <p:sldId id="555" r:id="rId26"/>
    <p:sldId id="556" r:id="rId27"/>
    <p:sldId id="557" r:id="rId28"/>
    <p:sldId id="558" r:id="rId29"/>
    <p:sldId id="559" r:id="rId30"/>
    <p:sldId id="566" r:id="rId31"/>
    <p:sldId id="567" r:id="rId32"/>
    <p:sldId id="568" r:id="rId33"/>
    <p:sldId id="563" r:id="rId34"/>
    <p:sldId id="571" r:id="rId35"/>
    <p:sldId id="564" r:id="rId36"/>
    <p:sldId id="394" r:id="rId3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Gill" initials="MG" lastIdx="2" clrIdx="0">
    <p:extLst/>
  </p:cmAuthor>
  <p:cmAuthor id="2" name="Michelle Gill" initials="MG [2]" lastIdx="1" clrIdx="1">
    <p:extLst/>
  </p:cmAuthor>
  <p:cmAuthor id="3" name="Michelle Gill" initials="MG [3]"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83FF"/>
    <a:srgbClr val="235F83"/>
    <a:srgbClr val="8EFA00"/>
    <a:srgbClr val="76D6FF"/>
    <a:srgbClr val="2B73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57"/>
    <p:restoredTop sz="82933"/>
  </p:normalViewPr>
  <p:slideViewPr>
    <p:cSldViewPr snapToGrid="0" snapToObjects="1">
      <p:cViewPr varScale="1">
        <p:scale>
          <a:sx n="144" d="100"/>
          <a:sy n="144" d="100"/>
        </p:scale>
        <p:origin x="1008" y="88"/>
      </p:cViewPr>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120" d="100"/>
        <a:sy n="120" d="100"/>
      </p:scale>
      <p:origin x="0" y="0"/>
    </p:cViewPr>
  </p:sorterViewPr>
  <p:notesViewPr>
    <p:cSldViewPr snapToGrid="0" snapToObjects="1">
      <p:cViewPr varScale="1">
        <p:scale>
          <a:sx n="85" d="100"/>
          <a:sy n="85" d="100"/>
        </p:scale>
        <p:origin x="3696"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18DF2D-D537-FE4F-BE4D-E5BCACB16283}" type="datetimeFigureOut">
              <a:rPr lang="en-US" smtClean="0"/>
              <a:t>8/25/2017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7B0C4D-3AAF-FB40-9304-EA5AE39FC038}" type="slidenum">
              <a:rPr lang="en-US" smtClean="0"/>
              <a:t>‹#›</a:t>
            </a:fld>
            <a:endParaRPr lang="en-US"/>
          </a:p>
        </p:txBody>
      </p:sp>
    </p:spTree>
    <p:extLst>
      <p:ext uri="{BB962C8B-B14F-4D97-AF65-F5344CB8AC3E}">
        <p14:creationId xmlns:p14="http://schemas.microsoft.com/office/powerpoint/2010/main" val="1276518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lvl1pPr>
            <a:lvl2pPr marL="457200" marR="0" lvl="1" indent="0" algn="l" rtl="0">
              <a:spcBef>
                <a:spcPts val="0"/>
              </a:spcBef>
              <a:buNone/>
              <a:defRPr sz="1100" b="0" i="0" u="none" strike="noStrike" cap="none"/>
            </a:lvl2pPr>
            <a:lvl3pPr marL="914400" marR="0" lvl="2" indent="0" algn="l" rtl="0">
              <a:spcBef>
                <a:spcPts val="0"/>
              </a:spcBef>
              <a:buNone/>
              <a:defRPr sz="1100" b="0" i="0" u="none" strike="noStrike" cap="none"/>
            </a:lvl3pPr>
            <a:lvl4pPr marL="1371600" marR="0" lvl="3" indent="0" algn="l" rtl="0">
              <a:spcBef>
                <a:spcPts val="0"/>
              </a:spcBef>
              <a:buNone/>
              <a:defRPr sz="1100" b="0" i="0" u="none" strike="noStrike" cap="none"/>
            </a:lvl4pPr>
            <a:lvl5pPr marL="1828800" marR="0" lvl="4" indent="0" algn="l" rtl="0">
              <a:spcBef>
                <a:spcPts val="0"/>
              </a:spcBef>
              <a:buNone/>
              <a:defRPr sz="1100" b="0" i="0" u="none" strike="noStrike" cap="none"/>
            </a:lvl5pPr>
            <a:lvl6pPr marL="2286000" marR="0" lvl="5" indent="0" algn="l" rtl="0">
              <a:spcBef>
                <a:spcPts val="0"/>
              </a:spcBef>
              <a:buNone/>
              <a:defRPr sz="1100" b="0" i="0" u="none" strike="noStrike" cap="none"/>
            </a:lvl6pPr>
            <a:lvl7pPr marL="2743200" marR="0" lvl="6" indent="0" algn="l" rtl="0">
              <a:spcBef>
                <a:spcPts val="0"/>
              </a:spcBef>
              <a:buNone/>
              <a:defRPr sz="1100" b="0" i="0" u="none" strike="noStrike" cap="none"/>
            </a:lvl7pPr>
            <a:lvl8pPr marL="3200400" marR="0" lvl="7" indent="0" algn="l" rtl="0">
              <a:spcBef>
                <a:spcPts val="0"/>
              </a:spcBef>
              <a:buNone/>
              <a:defRPr sz="1100" b="0" i="0" u="none" strike="noStrike" cap="none"/>
            </a:lvl8pPr>
            <a:lvl9pPr marL="3657600" marR="0" lvl="8" indent="0" algn="l" rtl="0">
              <a:spcBef>
                <a:spcPts val="0"/>
              </a:spcBef>
              <a:buNone/>
              <a:defRPr sz="1100" b="0" i="0" u="none" strike="noStrike" cap="none"/>
            </a:lvl9pPr>
          </a:lstStyle>
          <a:p>
            <a:endParaRPr dirty="0"/>
          </a:p>
        </p:txBody>
      </p:sp>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151805803"/>
      </p:ext>
    </p:extLst>
  </p:cSld>
  <p:clrMap bg1="lt1" tx1="dk1" bg2="dk2" tx2="lt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dirty="0"/>
          </a:p>
        </p:txBody>
      </p:sp>
    </p:spTree>
    <p:extLst>
      <p:ext uri="{BB962C8B-B14F-4D97-AF65-F5344CB8AC3E}">
        <p14:creationId xmlns:p14="http://schemas.microsoft.com/office/powerpoint/2010/main" val="1387326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Inspiration for NNs come from biology, specifically neurons.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We model neurons as a node, with input connections, and output connections.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By having many neurons, layers, we can capture a lot of hidden value in the dataset</a:t>
            </a:r>
          </a:p>
        </p:txBody>
      </p:sp>
    </p:spTree>
    <p:extLst>
      <p:ext uri="{BB962C8B-B14F-4D97-AF65-F5344CB8AC3E}">
        <p14:creationId xmlns:p14="http://schemas.microsoft.com/office/powerpoint/2010/main" val="1358470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indent="-171450">
              <a:buFont typeface="Arial" charset="0"/>
              <a:buChar char="•"/>
            </a:pPr>
            <a:r>
              <a:rPr lang="en-US" sz="2400" baseline="0" dirty="0" smtClean="0">
                <a:latin typeface="Arial" charset="0"/>
                <a:ea typeface="Arial" charset="0"/>
                <a:cs typeface="Arial" charset="0"/>
              </a:rPr>
              <a:t>In neural nets, we don</a:t>
            </a:r>
            <a:r>
              <a:rPr lang="mr-IN" sz="2400" baseline="0" dirty="0" smtClean="0">
                <a:latin typeface="Arial" charset="0"/>
                <a:ea typeface="Arial" charset="0"/>
                <a:cs typeface="Arial" charset="0"/>
              </a:rPr>
              <a:t>’</a:t>
            </a:r>
            <a:r>
              <a:rPr lang="en-US" sz="2400" baseline="0" dirty="0" smtClean="0">
                <a:latin typeface="Arial" charset="0"/>
                <a:ea typeface="Arial" charset="0"/>
                <a:cs typeface="Arial" charset="0"/>
              </a:rPr>
              <a:t>t’ just think in terms of networks, but also layers.</a:t>
            </a:r>
          </a:p>
          <a:p>
            <a:pPr marL="171450" indent="-171450">
              <a:buFont typeface="Arial" charset="0"/>
              <a:buChar char="•"/>
            </a:pPr>
            <a:r>
              <a:rPr lang="en-US" sz="2400" baseline="0" dirty="0" smtClean="0">
                <a:latin typeface="Arial" charset="0"/>
                <a:ea typeface="Arial" charset="0"/>
                <a:cs typeface="Arial" charset="0"/>
              </a:rPr>
              <a:t>Can make the point here that there are a lot of parameters, can capture non-</a:t>
            </a:r>
            <a:r>
              <a:rPr lang="en-US" sz="2400" baseline="0" dirty="0" err="1" smtClean="0">
                <a:latin typeface="Arial" charset="0"/>
                <a:ea typeface="Arial" charset="0"/>
                <a:cs typeface="Arial" charset="0"/>
              </a:rPr>
              <a:t>linearities</a:t>
            </a:r>
            <a:r>
              <a:rPr lang="en-US" sz="2400" baseline="0" dirty="0" smtClean="0">
                <a:latin typeface="Arial" charset="0"/>
                <a:ea typeface="Arial" charset="0"/>
                <a:cs typeface="Arial" charset="0"/>
              </a:rPr>
              <a:t>, </a:t>
            </a:r>
            <a:r>
              <a:rPr lang="en-US" sz="2400" baseline="0" dirty="0" err="1" smtClean="0">
                <a:latin typeface="Arial" charset="0"/>
                <a:ea typeface="Arial" charset="0"/>
                <a:cs typeface="Arial" charset="0"/>
              </a:rPr>
              <a:t>etc</a:t>
            </a:r>
            <a:r>
              <a:rPr lang="en-US" sz="2400" baseline="0" dirty="0" smtClean="0">
                <a:latin typeface="Arial" charset="0"/>
                <a:ea typeface="Arial" charset="0"/>
                <a:cs typeface="Arial" charset="0"/>
              </a:rPr>
              <a:t> that could not be realized without hidden layers</a:t>
            </a:r>
          </a:p>
        </p:txBody>
      </p:sp>
    </p:spTree>
    <p:extLst>
      <p:ext uri="{BB962C8B-B14F-4D97-AF65-F5344CB8AC3E}">
        <p14:creationId xmlns:p14="http://schemas.microsoft.com/office/powerpoint/2010/main" val="199343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indent="-171450">
              <a:buFont typeface="Arial" charset="0"/>
              <a:buChar char="•"/>
            </a:pPr>
            <a:r>
              <a:rPr lang="en-US" sz="2400" baseline="0" dirty="0" smtClean="0">
                <a:latin typeface="Arial" charset="0"/>
                <a:ea typeface="Arial" charset="0"/>
                <a:cs typeface="Arial" charset="0"/>
              </a:rPr>
              <a:t>Let’s walk through the basic computation of a single neuron</a:t>
            </a:r>
          </a:p>
        </p:txBody>
      </p:sp>
    </p:spTree>
    <p:extLst>
      <p:ext uri="{BB962C8B-B14F-4D97-AF65-F5344CB8AC3E}">
        <p14:creationId xmlns:p14="http://schemas.microsoft.com/office/powerpoint/2010/main" val="411340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indent="-171450">
              <a:buFont typeface="Arial" charset="0"/>
              <a:buChar char="•"/>
            </a:pPr>
            <a:r>
              <a:rPr lang="en-US" sz="2400" baseline="0" dirty="0" smtClean="0">
                <a:latin typeface="Arial" charset="0"/>
                <a:ea typeface="Arial" charset="0"/>
                <a:cs typeface="Arial" charset="0"/>
              </a:rPr>
              <a:t>Input connections</a:t>
            </a:r>
          </a:p>
        </p:txBody>
      </p:sp>
    </p:spTree>
    <p:extLst>
      <p:ext uri="{BB962C8B-B14F-4D97-AF65-F5344CB8AC3E}">
        <p14:creationId xmlns:p14="http://schemas.microsoft.com/office/powerpoint/2010/main" val="949476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indent="-171450">
              <a:buFont typeface="Arial" charset="0"/>
              <a:buChar char="•"/>
            </a:pPr>
            <a:r>
              <a:rPr lang="en-US" sz="2400" baseline="0" dirty="0" smtClean="0">
                <a:latin typeface="Arial" charset="0"/>
                <a:ea typeface="Arial" charset="0"/>
                <a:cs typeface="Arial" charset="0"/>
              </a:rPr>
              <a:t>Once input arrives, we do some computation</a:t>
            </a:r>
          </a:p>
        </p:txBody>
      </p:sp>
    </p:spTree>
    <p:extLst>
      <p:ext uri="{BB962C8B-B14F-4D97-AF65-F5344CB8AC3E}">
        <p14:creationId xmlns:p14="http://schemas.microsoft.com/office/powerpoint/2010/main" val="1291629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indent="-171450">
              <a:buFont typeface="Arial" charset="0"/>
              <a:buChar char="•"/>
            </a:pPr>
            <a:r>
              <a:rPr lang="en-US" sz="2400" baseline="0" dirty="0" smtClean="0">
                <a:latin typeface="Arial" charset="0"/>
                <a:ea typeface="Arial" charset="0"/>
                <a:cs typeface="Arial" charset="0"/>
              </a:rPr>
              <a:t>And output the result(s) to the next layer.</a:t>
            </a:r>
          </a:p>
          <a:p>
            <a:pPr marL="171450" indent="-171450">
              <a:buFont typeface="Arial" charset="0"/>
              <a:buChar char="•"/>
            </a:pPr>
            <a:r>
              <a:rPr lang="en-US" sz="2400" baseline="0" dirty="0" smtClean="0">
                <a:latin typeface="Arial" charset="0"/>
                <a:ea typeface="Arial" charset="0"/>
                <a:cs typeface="Arial" charset="0"/>
              </a:rPr>
              <a:t>Note that there can be more than one connection being output to the next layer</a:t>
            </a:r>
          </a:p>
          <a:p>
            <a:pPr marL="171450" indent="-171450">
              <a:buFont typeface="Arial" charset="0"/>
              <a:buChar char="•"/>
            </a:pPr>
            <a:r>
              <a:rPr lang="en-US" sz="2400" baseline="0" dirty="0" smtClean="0">
                <a:latin typeface="Arial" charset="0"/>
                <a:ea typeface="Arial" charset="0"/>
                <a:cs typeface="Arial" charset="0"/>
              </a:rPr>
              <a:t>The activation function is the same for all of that.</a:t>
            </a:r>
          </a:p>
          <a:p>
            <a:pPr marL="171450" indent="-171450">
              <a:buFont typeface="Arial" charset="0"/>
              <a:buChar char="•"/>
            </a:pPr>
            <a:r>
              <a:rPr lang="en-US" sz="2400" baseline="0" dirty="0" smtClean="0">
                <a:latin typeface="Arial" charset="0"/>
                <a:ea typeface="Arial" charset="0"/>
                <a:cs typeface="Arial" charset="0"/>
              </a:rPr>
              <a:t>The parameters of computation is different.</a:t>
            </a:r>
          </a:p>
        </p:txBody>
      </p:sp>
    </p:spTree>
    <p:extLst>
      <p:ext uri="{BB962C8B-B14F-4D97-AF65-F5344CB8AC3E}">
        <p14:creationId xmlns:p14="http://schemas.microsoft.com/office/powerpoint/2010/main" val="1843684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indent="-171450">
              <a:buFont typeface="Arial" charset="0"/>
              <a:buChar char="•"/>
            </a:pPr>
            <a:r>
              <a:rPr lang="en-US" sz="2400" baseline="0" dirty="0" smtClean="0">
                <a:latin typeface="Arial" charset="0"/>
                <a:ea typeface="Arial" charset="0"/>
                <a:cs typeface="Arial" charset="0"/>
              </a:rPr>
              <a:t>More concretely, x1, x2, x3 are the inputs. They are real numbers</a:t>
            </a:r>
          </a:p>
          <a:p>
            <a:pPr marL="171450" indent="-171450">
              <a:buFont typeface="Arial" charset="0"/>
              <a:buChar char="•"/>
            </a:pPr>
            <a:r>
              <a:rPr lang="en-US" sz="2400" baseline="0" dirty="0" smtClean="0">
                <a:latin typeface="Arial" charset="0"/>
                <a:ea typeface="Arial" charset="0"/>
                <a:cs typeface="Arial" charset="0"/>
              </a:rPr>
              <a:t>We have coefficients w1, w2, and w3. they are real numbers as well. They form 1 row vector [w1, w2, w3]</a:t>
            </a:r>
          </a:p>
          <a:p>
            <a:pPr marL="171450" indent="-171450">
              <a:buFont typeface="Arial" charset="0"/>
              <a:buChar cha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814085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indent="-171450">
              <a:buFont typeface="Arial" charset="0"/>
              <a:buChar char="•"/>
            </a:pPr>
            <a:r>
              <a:rPr lang="en-US" sz="2400" baseline="0" dirty="0" smtClean="0">
                <a:latin typeface="Arial" charset="0"/>
                <a:ea typeface="Arial" charset="0"/>
                <a:cs typeface="Arial" charset="0"/>
              </a:rPr>
              <a:t>And classically, we add another special input, called “bias term”.</a:t>
            </a:r>
          </a:p>
          <a:p>
            <a:pPr marL="171450" indent="-171450">
              <a:buFont typeface="Arial" charset="0"/>
              <a:buChar char="•"/>
            </a:pPr>
            <a:r>
              <a:rPr lang="en-US" sz="2400" baseline="0" dirty="0" smtClean="0">
                <a:latin typeface="Arial" charset="0"/>
                <a:ea typeface="Arial" charset="0"/>
                <a:cs typeface="Arial" charset="0"/>
              </a:rPr>
              <a:t>This is the analogue of intercept in Linear regression</a:t>
            </a:r>
          </a:p>
          <a:p>
            <a:pPr marL="171450" indent="-171450">
              <a:buFont typeface="Arial" charset="0"/>
              <a:buChar char="•"/>
            </a:pPr>
            <a:r>
              <a:rPr lang="en-US" sz="2400" baseline="0" dirty="0" smtClean="0">
                <a:latin typeface="Arial" charset="0"/>
                <a:ea typeface="Arial" charset="0"/>
                <a:cs typeface="Arial" charset="0"/>
              </a:rPr>
              <a:t>So our row vector of parameters is [w1, w2, w3, b]</a:t>
            </a:r>
          </a:p>
        </p:txBody>
      </p:sp>
    </p:spTree>
    <p:extLst>
      <p:ext uri="{BB962C8B-B14F-4D97-AF65-F5344CB8AC3E}">
        <p14:creationId xmlns:p14="http://schemas.microsoft.com/office/powerpoint/2010/main" val="554017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lnSpcReduction="10000"/>
          </a:bodyPr>
          <a:lstStyle/>
          <a:p>
            <a:pPr marL="171450" indent="-171450">
              <a:buFont typeface="Arial" charset="0"/>
              <a:buChar char="•"/>
            </a:pPr>
            <a:r>
              <a:rPr lang="en-US" sz="2400" baseline="0" dirty="0" smtClean="0">
                <a:latin typeface="Arial" charset="0"/>
                <a:ea typeface="Arial" charset="0"/>
                <a:cs typeface="Arial" charset="0"/>
              </a:rPr>
              <a:t>And we perform this linear algebra operation (dot product), and get a value z</a:t>
            </a:r>
          </a:p>
          <a:p>
            <a:pPr marL="171450" indent="-171450">
              <a:buFont typeface="Arial" charset="0"/>
              <a:buChar char="•"/>
            </a:pPr>
            <a:r>
              <a:rPr lang="en-US" sz="2400" baseline="0" dirty="0" smtClean="0">
                <a:latin typeface="Arial" charset="0"/>
                <a:ea typeface="Arial" charset="0"/>
                <a:cs typeface="Arial" charset="0"/>
              </a:rPr>
              <a:t>Finally, the neuron outputs f(z), where f is the activation function.</a:t>
            </a:r>
          </a:p>
          <a:p>
            <a:pPr marL="171450" indent="-171450">
              <a:buFont typeface="Arial" charset="0"/>
              <a:buChar char="•"/>
            </a:pPr>
            <a:r>
              <a:rPr lang="en-US" sz="2400" baseline="0" dirty="0" smtClean="0">
                <a:latin typeface="Arial" charset="0"/>
                <a:ea typeface="Arial" charset="0"/>
                <a:cs typeface="Arial" charset="0"/>
              </a:rPr>
              <a:t>If there were more than 1 output connections, we would have</a:t>
            </a:r>
          </a:p>
          <a:p>
            <a:pPr marL="628650" lvl="1" indent="-171450">
              <a:buFont typeface="Arial" charset="0"/>
              <a:buChar char="•"/>
            </a:pPr>
            <a:r>
              <a:rPr lang="en-US" sz="2400" baseline="0" dirty="0" smtClean="0">
                <a:latin typeface="Arial" charset="0"/>
                <a:ea typeface="Arial" charset="0"/>
                <a:cs typeface="Arial" charset="0"/>
              </a:rPr>
              <a:t>X1, x2, x3 the same</a:t>
            </a:r>
          </a:p>
          <a:p>
            <a:pPr marL="628650" lvl="1" indent="-171450">
              <a:buFont typeface="Arial" charset="0"/>
              <a:buChar char="•"/>
            </a:pPr>
            <a:r>
              <a:rPr lang="en-US" sz="2400" baseline="0" dirty="0" smtClean="0">
                <a:latin typeface="Arial" charset="0"/>
                <a:ea typeface="Arial" charset="0"/>
                <a:cs typeface="Arial" charset="0"/>
              </a:rPr>
              <a:t>New weights, say, [v1, v2, v3, d]</a:t>
            </a:r>
          </a:p>
          <a:p>
            <a:pPr marL="628650" lvl="1" indent="-171450">
              <a:buFont typeface="Arial" charset="0"/>
              <a:buChar char="•"/>
            </a:pPr>
            <a:r>
              <a:rPr lang="en-US" sz="2400" baseline="0" dirty="0" smtClean="0">
                <a:latin typeface="Arial" charset="0"/>
                <a:ea typeface="Arial" charset="0"/>
                <a:cs typeface="Arial" charset="0"/>
              </a:rPr>
              <a:t>And the process would be the same.</a:t>
            </a:r>
          </a:p>
        </p:txBody>
      </p:sp>
    </p:spTree>
    <p:extLst>
      <p:ext uri="{BB962C8B-B14F-4D97-AF65-F5344CB8AC3E}">
        <p14:creationId xmlns:p14="http://schemas.microsoft.com/office/powerpoint/2010/main" val="10085428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1600" dirty="0" smtClean="0">
                <a:latin typeface="Arial" charset="0"/>
                <a:ea typeface="Arial" charset="0"/>
                <a:cs typeface="Arial" charset="0"/>
              </a:rPr>
              <a:t>So we see that</a:t>
            </a:r>
            <a:r>
              <a:rPr lang="en-US" sz="1600" baseline="0" dirty="0" smtClean="0">
                <a:latin typeface="Arial" charset="0"/>
                <a:ea typeface="Arial" charset="0"/>
                <a:cs typeface="Arial" charset="0"/>
              </a:rPr>
              <a:t> vectors, matrices, dot products, i.e. linear algebra plays a crucial role in NNs.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1600" baseline="0" dirty="0" smtClean="0">
                <a:latin typeface="Arial" charset="0"/>
                <a:ea typeface="Arial" charset="0"/>
                <a:cs typeface="Arial" charset="0"/>
              </a:rPr>
              <a:t>most of the operations are matrix multiplication, or element-wise operations on matrices / vectors</a:t>
            </a:r>
          </a:p>
        </p:txBody>
      </p:sp>
    </p:spTree>
    <p:extLst>
      <p:ext uri="{BB962C8B-B14F-4D97-AF65-F5344CB8AC3E}">
        <p14:creationId xmlns:p14="http://schemas.microsoft.com/office/powerpoint/2010/main" val="1738509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1600" dirty="0" smtClean="0">
                <a:latin typeface="Arial" charset="0"/>
                <a:ea typeface="Arial" charset="0"/>
                <a:cs typeface="Arial" charset="0"/>
              </a:rPr>
              <a:t>Let’s talk about activation functions a little bit. If we chose</a:t>
            </a:r>
            <a:r>
              <a:rPr lang="en-US" sz="1600" baseline="0" dirty="0" smtClean="0">
                <a:latin typeface="Arial" charset="0"/>
                <a:ea typeface="Arial" charset="0"/>
                <a:cs typeface="Arial" charset="0"/>
              </a:rPr>
              <a:t> the sigmoid function (recall from </a:t>
            </a:r>
            <a:r>
              <a:rPr lang="en-US" sz="1600" baseline="0" dirty="0" err="1" smtClean="0">
                <a:latin typeface="Arial" charset="0"/>
                <a:ea typeface="Arial" charset="0"/>
                <a:cs typeface="Arial" charset="0"/>
              </a:rPr>
              <a:t>logreg</a:t>
            </a:r>
            <a:r>
              <a:rPr lang="en-US" sz="1600" baseline="0" dirty="0" smtClean="0">
                <a:latin typeface="Arial" charset="0"/>
                <a:ea typeface="Arial" charset="0"/>
                <a:cs typeface="Arial" charset="0"/>
              </a:rPr>
              <a: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1600" baseline="0" dirty="0" smtClean="0">
                <a:latin typeface="Arial" charset="0"/>
                <a:ea typeface="Arial" charset="0"/>
                <a:cs typeface="Arial" charset="0"/>
              </a:rPr>
              <a:t>We recover the prediction equation for </a:t>
            </a:r>
            <a:r>
              <a:rPr lang="en-US" sz="1600" baseline="0" dirty="0" err="1" smtClean="0">
                <a:latin typeface="Arial" charset="0"/>
                <a:ea typeface="Arial" charset="0"/>
                <a:cs typeface="Arial" charset="0"/>
              </a:rPr>
              <a:t>logreg</a:t>
            </a:r>
            <a:r>
              <a:rPr lang="en-US" sz="1600" baseline="0" dirty="0" smtClean="0">
                <a:latin typeface="Arial" charset="0"/>
                <a:ea typeface="Arial" charset="0"/>
                <a:cs typeface="Arial" charset="0"/>
              </a:rPr>
              <a: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1600" baseline="0" dirty="0" smtClean="0">
                <a:latin typeface="Arial" charset="0"/>
                <a:ea typeface="Arial" charset="0"/>
                <a:cs typeface="Arial" charset="0"/>
              </a:rPr>
              <a:t>So this neuron is just doing </a:t>
            </a:r>
            <a:r>
              <a:rPr lang="en-US" sz="1600" baseline="0" dirty="0" err="1" smtClean="0">
                <a:latin typeface="Arial" charset="0"/>
                <a:ea typeface="Arial" charset="0"/>
                <a:cs typeface="Arial" charset="0"/>
              </a:rPr>
              <a:t>logreg</a:t>
            </a:r>
            <a:r>
              <a:rPr lang="en-US" sz="1600" baseline="0" dirty="0" smtClean="0">
                <a:latin typeface="Arial" charset="0"/>
                <a:ea typeface="Arial" charset="0"/>
                <a:cs typeface="Arial" charset="0"/>
              </a:rPr>
              <a:t> on the inputs.</a:t>
            </a:r>
            <a:endParaRPr sz="1600" dirty="0">
              <a:latin typeface="Arial" charset="0"/>
              <a:ea typeface="Arial" charset="0"/>
              <a:cs typeface="Arial" charset="0"/>
            </a:endParaRPr>
          </a:p>
        </p:txBody>
      </p:sp>
    </p:spTree>
    <p:extLst>
      <p:ext uri="{BB962C8B-B14F-4D97-AF65-F5344CB8AC3E}">
        <p14:creationId xmlns:p14="http://schemas.microsoft.com/office/powerpoint/2010/main" val="1991108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1600" dirty="0" smtClean="0">
                <a:latin typeface="Arial" charset="0"/>
                <a:ea typeface="Arial" charset="0"/>
                <a:cs typeface="Arial" charset="0"/>
              </a:rPr>
              <a:t>This</a:t>
            </a:r>
            <a:r>
              <a:rPr lang="en-US" sz="1600" baseline="0" dirty="0" smtClean="0">
                <a:latin typeface="Arial" charset="0"/>
                <a:ea typeface="Arial" charset="0"/>
                <a:cs typeface="Arial" charset="0"/>
              </a:rPr>
              <a:t> is what the sigmoid function looks like.</a:t>
            </a:r>
            <a:endParaRPr sz="1600" dirty="0">
              <a:latin typeface="Arial" charset="0"/>
              <a:ea typeface="Arial" charset="0"/>
              <a:cs typeface="Arial" charset="0"/>
            </a:endParaRPr>
          </a:p>
        </p:txBody>
      </p:sp>
    </p:spTree>
    <p:extLst>
      <p:ext uri="{BB962C8B-B14F-4D97-AF65-F5344CB8AC3E}">
        <p14:creationId xmlns:p14="http://schemas.microsoft.com/office/powerpoint/2010/main" val="1172641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1600" dirty="0" smtClean="0">
                <a:latin typeface="Arial" charset="0"/>
                <a:ea typeface="Arial" charset="0"/>
                <a:cs typeface="Arial" charset="0"/>
              </a:rPr>
              <a:t>Here</a:t>
            </a:r>
            <a:r>
              <a:rPr lang="en-US" sz="1600" baseline="0" dirty="0" smtClean="0">
                <a:latin typeface="Arial" charset="0"/>
                <a:ea typeface="Arial" charset="0"/>
                <a:cs typeface="Arial" charset="0"/>
              </a:rPr>
              <a:t> is a mathematical / algebraic fact, which is tremendously useful in the fitting of the NNs.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1600" baseline="0" dirty="0" smtClean="0">
                <a:latin typeface="Arial" charset="0"/>
                <a:ea typeface="Arial" charset="0"/>
                <a:cs typeface="Arial" charset="0"/>
              </a:rPr>
              <a:t>We won’t need to use it unless you’re interested in the math behind NNs</a:t>
            </a:r>
            <a:endParaRPr sz="1600" dirty="0">
              <a:latin typeface="Arial" charset="0"/>
              <a:ea typeface="Arial" charset="0"/>
              <a:cs typeface="Arial" charset="0"/>
            </a:endParaRPr>
          </a:p>
        </p:txBody>
      </p:sp>
    </p:spTree>
    <p:extLst>
      <p:ext uri="{BB962C8B-B14F-4D97-AF65-F5344CB8AC3E}">
        <p14:creationId xmlns:p14="http://schemas.microsoft.com/office/powerpoint/2010/main" val="19275118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To really hit it home, let’s do an actual computation step by step.</a:t>
            </a:r>
          </a:p>
        </p:txBody>
      </p:sp>
    </p:spTree>
    <p:extLst>
      <p:ext uri="{BB962C8B-B14F-4D97-AF65-F5344CB8AC3E}">
        <p14:creationId xmlns:p14="http://schemas.microsoft.com/office/powerpoint/2010/main" val="585742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Let’s say our weights were [2, 3, -1, .5], .5 being the bias term.</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And let’s say our inputs are [.9, .2, .3], and for the bias term, input is always 1.</a:t>
            </a:r>
          </a:p>
        </p:txBody>
      </p:sp>
    </p:spTree>
    <p:extLst>
      <p:ext uri="{BB962C8B-B14F-4D97-AF65-F5344CB8AC3E}">
        <p14:creationId xmlns:p14="http://schemas.microsoft.com/office/powerpoint/2010/main" val="18458973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So what will our z be?</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Dot product, we get 2.6</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1909836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Finally, f(z) is sigmoid function applied to 2.6, which is 0.93</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9151528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So we output 0.93</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9715513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indent="-171450">
              <a:buFont typeface="Arial" charset="0"/>
              <a:buChar char="•"/>
            </a:pPr>
            <a:r>
              <a:rPr lang="en-US" sz="2400" baseline="0" dirty="0" smtClean="0">
                <a:latin typeface="Arial" charset="0"/>
                <a:ea typeface="Arial" charset="0"/>
                <a:cs typeface="Arial" charset="0"/>
              </a:rPr>
              <a:t>deeper structures allow the buildup of more “intermediate” results that are then used to make the final prediction</a:t>
            </a:r>
          </a:p>
          <a:p>
            <a:pPr marL="171450" indent="-171450">
              <a:buFont typeface="Arial" charset="0"/>
              <a:buChar char="•"/>
            </a:pPr>
            <a:r>
              <a:rPr lang="en-US" sz="2400" baseline="0" dirty="0" smtClean="0">
                <a:latin typeface="Arial" charset="0"/>
                <a:ea typeface="Arial" charset="0"/>
                <a:cs typeface="Arial" charset="0"/>
              </a:rPr>
              <a:t>The layers in between act like “feature generation” for the final layer, which predicts the output.</a:t>
            </a:r>
          </a:p>
        </p:txBody>
      </p:sp>
    </p:spTree>
    <p:extLst>
      <p:ext uri="{BB962C8B-B14F-4D97-AF65-F5344CB8AC3E}">
        <p14:creationId xmlns:p14="http://schemas.microsoft.com/office/powerpoint/2010/main" val="2072688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Let’s revisit the structure of the NN.</a:t>
            </a:r>
          </a:p>
        </p:txBody>
      </p:sp>
    </p:spTree>
    <p:extLst>
      <p:ext uri="{BB962C8B-B14F-4D97-AF65-F5344CB8AC3E}">
        <p14:creationId xmlns:p14="http://schemas.microsoft.com/office/powerpoint/2010/main" val="11392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connections in between the layers are “weights”.</a:t>
            </a:r>
          </a:p>
        </p:txBody>
      </p:sp>
    </p:spTree>
    <p:extLst>
      <p:ext uri="{BB962C8B-B14F-4D97-AF65-F5344CB8AC3E}">
        <p14:creationId xmlns:p14="http://schemas.microsoft.com/office/powerpoint/2010/main" val="11042218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first layer is called the input layer.</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In some sense, every layer is the next layer’s input layer, but terminology-wise, the first one is the input layer.</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219766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These are hidden layers.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3776290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Just get the student familiar with the terminology</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5920146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Weights between layers can be represented as a matrix, by putting every incoming weight to a given node as a row vector, and stacking those rows on top.</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So, between the input layer and the first hidden layer, we have a 4 x 3 matrix.</a:t>
            </a:r>
          </a:p>
        </p:txBody>
      </p:sp>
    </p:spTree>
    <p:extLst>
      <p:ext uri="{BB962C8B-B14F-4D97-AF65-F5344CB8AC3E}">
        <p14:creationId xmlns:p14="http://schemas.microsoft.com/office/powerpoint/2010/main" val="11417725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Once we have the weights, then we can compute the net inputs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It just corresponds to a matrix multiplication.</a:t>
            </a:r>
          </a:p>
        </p:txBody>
      </p:sp>
    </p:spTree>
    <p:extLst>
      <p:ext uri="{BB962C8B-B14F-4D97-AF65-F5344CB8AC3E}">
        <p14:creationId xmlns:p14="http://schemas.microsoft.com/office/powerpoint/2010/main" val="14851293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Once the net input is prepared, it is fed into the activation function, and passed as input to the next layer.</a:t>
            </a:r>
          </a:p>
        </p:txBody>
      </p:sp>
    </p:spTree>
    <p:extLst>
      <p:ext uri="{BB962C8B-B14F-4D97-AF65-F5344CB8AC3E}">
        <p14:creationId xmlns:p14="http://schemas.microsoft.com/office/powerpoint/2010/main" val="6032519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We will see this in action in the exercises</a:t>
            </a:r>
          </a:p>
        </p:txBody>
      </p:sp>
    </p:spTree>
    <p:extLst>
      <p:ext uri="{BB962C8B-B14F-4D97-AF65-F5344CB8AC3E}">
        <p14:creationId xmlns:p14="http://schemas.microsoft.com/office/powerpoint/2010/main" val="5352689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493820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is a useful practical detail to emphasize, or at least expose the student to.  We can do all the operations on the pervious slide for a single </a:t>
            </a:r>
            <a:r>
              <a:rPr lang="en-US" sz="2400" baseline="0" dirty="0" err="1" smtClean="0">
                <a:latin typeface="Arial" charset="0"/>
                <a:ea typeface="Arial" charset="0"/>
                <a:cs typeface="Arial" charset="0"/>
              </a:rPr>
              <a:t>datapoint</a:t>
            </a:r>
            <a:r>
              <a:rPr lang="en-US" sz="2400" baseline="0" dirty="0" smtClean="0">
                <a:latin typeface="Arial" charset="0"/>
                <a:ea typeface="Arial" charset="0"/>
                <a:cs typeface="Arial" charset="0"/>
              </a:rPr>
              <a:t> (row)</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So then just stack the rows into a matrix, and everything still works nicely.</a:t>
            </a:r>
          </a:p>
        </p:txBody>
      </p:sp>
    </p:spTree>
    <p:extLst>
      <p:ext uri="{BB962C8B-B14F-4D97-AF65-F5344CB8AC3E}">
        <p14:creationId xmlns:p14="http://schemas.microsoft.com/office/powerpoint/2010/main" val="7846418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So far we only talked about one forward pass.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That process does not involve learning / fitting.</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smtClean="0">
                <a:latin typeface="Arial" charset="0"/>
                <a:ea typeface="Arial" charset="0"/>
                <a:cs typeface="Arial" charset="0"/>
              </a:rPr>
              <a:t>We will talk about that next.</a:t>
            </a: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7319444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Shape 2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extLst>
      <p:ext uri="{BB962C8B-B14F-4D97-AF65-F5344CB8AC3E}">
        <p14:creationId xmlns:p14="http://schemas.microsoft.com/office/powerpoint/2010/main" val="7745420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body">
    <p:spTree>
      <p:nvGrpSpPr>
        <p:cNvPr id="1" name="Shape 13"/>
        <p:cNvGrpSpPr/>
        <p:nvPr/>
      </p:nvGrpSpPr>
      <p:grpSpPr>
        <a:xfrm>
          <a:off x="0" y="0"/>
          <a:ext cx="0" cy="0"/>
          <a:chOff x="0" y="0"/>
          <a:chExt cx="0" cy="0"/>
        </a:xfrm>
      </p:grpSpPr>
      <p:sp>
        <p:nvSpPr>
          <p:cNvPr id="2"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4"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ody">
    <p:spTree>
      <p:nvGrpSpPr>
        <p:cNvPr id="1" name="Shape 13"/>
        <p:cNvGrpSpPr/>
        <p:nvPr/>
      </p:nvGrpSpPr>
      <p:grpSpPr>
        <a:xfrm>
          <a:off x="0" y="0"/>
          <a:ext cx="0" cy="0"/>
          <a:chOff x="0" y="0"/>
          <a:chExt cx="0" cy="0"/>
        </a:xfrm>
      </p:grpSpPr>
      <p:sp>
        <p:nvSpPr>
          <p:cNvPr id="7"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6" name="Shape 98"/>
          <p:cNvCxnSpPr/>
          <p:nvPr userDrawn="1"/>
        </p:nvCxnSpPr>
        <p:spPr>
          <a:xfrm>
            <a:off x="0" y="1024800"/>
            <a:ext cx="4178099" cy="0"/>
          </a:xfrm>
          <a:prstGeom prst="straightConnector1">
            <a:avLst/>
          </a:prstGeom>
          <a:noFill/>
          <a:ln w="19050" cap="flat" cmpd="sng">
            <a:solidFill>
              <a:srgbClr val="3A9ED9"/>
            </a:solidFill>
            <a:prstDash val="solid"/>
            <a:round/>
            <a:headEnd type="none" w="med" len="med"/>
            <a:tailEnd type="none" w="med" len="med"/>
          </a:ln>
        </p:spPr>
      </p:cxnSp>
      <p:pic>
        <p:nvPicPr>
          <p:cNvPr id="9"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 name="Title 1"/>
          <p:cNvSpPr>
            <a:spLocks noGrp="1"/>
          </p:cNvSpPr>
          <p:nvPr>
            <p:ph type="title" hasCustomPrompt="1"/>
          </p:nvPr>
        </p:nvSpPr>
        <p:spPr>
          <a:xfrm>
            <a:off x="311700" y="192126"/>
            <a:ext cx="7766550" cy="690525"/>
          </a:xfrm>
          <a:prstGeom prst="rect">
            <a:avLst/>
          </a:prstGeom>
        </p:spPr>
        <p:txBody>
          <a:bodyPr/>
          <a:lstStyle>
            <a:lvl1pPr>
              <a:buSzPct val="25000"/>
              <a:buFont typeface="Source Code Pro"/>
              <a:buNone/>
              <a:defRPr sz="2800" baseline="0"/>
            </a:lvl1pPr>
          </a:lstStyle>
          <a:p>
            <a:pPr>
              <a:buSzPct val="25000"/>
              <a:buFont typeface="Source Code Pro"/>
              <a:buNone/>
            </a:pPr>
            <a:r>
              <a:rPr lang="en-US" b="1" dirty="0" smtClean="0">
                <a:solidFill>
                  <a:srgbClr val="3A9ED9"/>
                </a:solidFill>
                <a:latin typeface="Source Code Pro"/>
                <a:ea typeface="Source Code Pro"/>
                <a:cs typeface="Source Code Pro"/>
                <a:sym typeface="Source Code Pro"/>
              </a:rPr>
              <a:t>Title</a:t>
            </a:r>
            <a:endParaRPr lang="en" b="1" dirty="0">
              <a:solidFill>
                <a:srgbClr val="3A9ED9"/>
              </a:solidFill>
              <a:latin typeface="Source Code Pro"/>
              <a:ea typeface="Source Code Pro"/>
              <a:cs typeface="Source Code Pro"/>
              <a:sym typeface="Source Code Pro"/>
            </a:endParaRPr>
          </a:p>
        </p:txBody>
      </p:sp>
      <p:sp>
        <p:nvSpPr>
          <p:cNvPr id="4" name="Text Placeholder 3"/>
          <p:cNvSpPr>
            <a:spLocks noGrp="1"/>
          </p:cNvSpPr>
          <p:nvPr>
            <p:ph type="body" sz="quarter" idx="10" hasCustomPrompt="1"/>
          </p:nvPr>
        </p:nvSpPr>
        <p:spPr>
          <a:xfrm>
            <a:off x="311700" y="1295930"/>
            <a:ext cx="8527498" cy="3542769"/>
          </a:xfrm>
          <a:prstGeom prst="rect">
            <a:avLst/>
          </a:prstGeom>
        </p:spPr>
        <p:txBody>
          <a:bodyPr/>
          <a:lstStyle>
            <a:lvl1pPr marL="457200" marR="0" indent="-381000" algn="l" rtl="0">
              <a:lnSpc>
                <a:spcPct val="115000"/>
              </a:lnSpc>
              <a:spcBef>
                <a:spcPts val="0"/>
              </a:spcBef>
              <a:spcAft>
                <a:spcPts val="0"/>
              </a:spcAft>
              <a:buClr>
                <a:srgbClr val="434343"/>
              </a:buClr>
              <a:buSzPct val="100000"/>
              <a:buFont typeface="Calibri"/>
              <a:buChar char="●"/>
              <a:defRPr sz="1400"/>
            </a:lvl1pPr>
          </a:lstStyle>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20"/>
        <p:cNvGrpSpPr/>
        <p:nvPr/>
      </p:nvGrpSpPr>
      <p:grpSpPr>
        <a:xfrm>
          <a:off x="0" y="0"/>
          <a:ext cx="0" cy="0"/>
          <a:chOff x="0" y="0"/>
          <a:chExt cx="0" cy="0"/>
        </a:xfrm>
      </p:grpSpPr>
      <p:sp>
        <p:nvSpPr>
          <p:cNvPr id="6" name="Shape 113"/>
          <p:cNvSpPr txBox="1">
            <a:spLocks noGrp="1"/>
          </p:cNvSpPr>
          <p:nvPr>
            <p:ph type="title"/>
          </p:nvPr>
        </p:nvSpPr>
        <p:spPr>
          <a:xfrm>
            <a:off x="1028550" y="1135100"/>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dirty="0">
                <a:solidFill>
                  <a:srgbClr val="3A9ED9"/>
                </a:solidFill>
                <a:latin typeface="Source Code Pro"/>
                <a:ea typeface="Source Code Pro"/>
                <a:cs typeface="Source Code Pro"/>
                <a:sym typeface="Source Code Pro"/>
              </a:rPr>
              <a:t>Heading</a:t>
            </a:r>
          </a:p>
        </p:txBody>
      </p:sp>
      <p:sp>
        <p:nvSpPr>
          <p:cNvPr id="7" name="Shape 114"/>
          <p:cNvSpPr txBox="1">
            <a:spLocks noGrp="1"/>
          </p:cNvSpPr>
          <p:nvPr>
            <p:ph type="body" idx="1"/>
          </p:nvPr>
        </p:nvSpPr>
        <p:spPr>
          <a:xfrm>
            <a:off x="9121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8" name="Shape 11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9" name="Shape 116"/>
          <p:cNvCxnSpPr/>
          <p:nvPr userDrawn="1"/>
        </p:nvCxnSpPr>
        <p:spPr>
          <a:xfrm>
            <a:off x="959550" y="1701550"/>
            <a:ext cx="1951199" cy="0"/>
          </a:xfrm>
          <a:prstGeom prst="straightConnector1">
            <a:avLst/>
          </a:prstGeom>
          <a:noFill/>
          <a:ln w="19050" cap="flat" cmpd="sng">
            <a:solidFill>
              <a:srgbClr val="3A9ED9"/>
            </a:solidFill>
            <a:prstDash val="solid"/>
            <a:round/>
            <a:headEnd type="none" w="med" len="med"/>
            <a:tailEnd type="none" w="med" len="med"/>
          </a:ln>
        </p:spPr>
      </p:cxnSp>
      <p:sp>
        <p:nvSpPr>
          <p:cNvPr id="10" name="Shape 117"/>
          <p:cNvSpPr txBox="1">
            <a:spLocks/>
          </p:cNvSpPr>
          <p:nvPr userDrawn="1"/>
        </p:nvSpPr>
        <p:spPr>
          <a:xfrm>
            <a:off x="360720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dirty="0" smtClean="0">
                <a:solidFill>
                  <a:srgbClr val="ED0096"/>
                </a:solidFill>
                <a:latin typeface="Source Code Pro"/>
                <a:ea typeface="Source Code Pro"/>
                <a:cs typeface="Source Code Pro"/>
                <a:sym typeface="Source Code Pro"/>
              </a:rPr>
              <a:t>Heading</a:t>
            </a:r>
            <a:endParaRPr lang="en" sz="1800" b="1" dirty="0">
              <a:solidFill>
                <a:srgbClr val="ED0096"/>
              </a:solidFill>
              <a:latin typeface="Source Code Pro"/>
              <a:ea typeface="Source Code Pro"/>
              <a:cs typeface="Source Code Pro"/>
              <a:sym typeface="Source Code Pro"/>
            </a:endParaRPr>
          </a:p>
        </p:txBody>
      </p:sp>
      <p:sp>
        <p:nvSpPr>
          <p:cNvPr id="11" name="Shape 118"/>
          <p:cNvSpPr txBox="1">
            <a:spLocks noGrp="1"/>
          </p:cNvSpPr>
          <p:nvPr>
            <p:ph type="body" idx="10"/>
          </p:nvPr>
        </p:nvSpPr>
        <p:spPr>
          <a:xfrm>
            <a:off x="349080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2" name="Shape 119"/>
          <p:cNvCxnSpPr/>
          <p:nvPr userDrawn="1"/>
        </p:nvCxnSpPr>
        <p:spPr>
          <a:xfrm>
            <a:off x="3538200" y="1701550"/>
            <a:ext cx="1951199" cy="0"/>
          </a:xfrm>
          <a:prstGeom prst="straightConnector1">
            <a:avLst/>
          </a:prstGeom>
          <a:noFill/>
          <a:ln w="19050" cap="flat" cmpd="sng">
            <a:solidFill>
              <a:srgbClr val="ED0096"/>
            </a:solidFill>
            <a:prstDash val="solid"/>
            <a:round/>
            <a:headEnd type="none" w="med" len="med"/>
            <a:tailEnd type="none" w="med" len="med"/>
          </a:ln>
        </p:spPr>
      </p:cxnSp>
      <p:sp>
        <p:nvSpPr>
          <p:cNvPr id="13" name="Shape 120"/>
          <p:cNvSpPr txBox="1">
            <a:spLocks/>
          </p:cNvSpPr>
          <p:nvPr userDrawn="1"/>
        </p:nvSpPr>
        <p:spPr>
          <a:xfrm>
            <a:off x="630225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4" name="Shape 121"/>
          <p:cNvSpPr txBox="1">
            <a:spLocks noGrp="1"/>
          </p:cNvSpPr>
          <p:nvPr>
            <p:ph type="body" idx="11"/>
          </p:nvPr>
        </p:nvSpPr>
        <p:spPr>
          <a:xfrm>
            <a:off x="61858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5" name="Shape 122"/>
          <p:cNvCxnSpPr/>
          <p:nvPr userDrawn="1"/>
        </p:nvCxnSpPr>
        <p:spPr>
          <a:xfrm>
            <a:off x="6233250" y="1701550"/>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6" name="Shape 123"/>
          <p:cNvCxnSpPr/>
          <p:nvPr userDrawn="1"/>
        </p:nvCxnSpPr>
        <p:spPr>
          <a:xfrm>
            <a:off x="959550" y="3763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7" name="Shape 124"/>
          <p:cNvCxnSpPr/>
          <p:nvPr userDrawn="1"/>
        </p:nvCxnSpPr>
        <p:spPr>
          <a:xfrm>
            <a:off x="3538200" y="3763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8" name="Shape 125"/>
          <p:cNvCxnSpPr/>
          <p:nvPr userDrawn="1"/>
        </p:nvCxnSpPr>
        <p:spPr>
          <a:xfrm>
            <a:off x="6233250" y="3763075"/>
            <a:ext cx="1951199" cy="0"/>
          </a:xfrm>
          <a:prstGeom prst="straightConnector1">
            <a:avLst/>
          </a:prstGeom>
          <a:noFill/>
          <a:ln w="19050" cap="flat" cmpd="sng">
            <a:solidFill>
              <a:srgbClr val="EF3969"/>
            </a:solidFill>
            <a:prstDash val="solid"/>
            <a:round/>
            <a:headEnd type="none" w="med" len="med"/>
            <a:tailEnd type="none" w="med" len="med"/>
          </a:ln>
        </p:spPr>
      </p:cxnSp>
      <p:sp>
        <p:nvSpPr>
          <p:cNvPr id="19" name="Shape 12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25"/>
        <p:cNvGrpSpPr/>
        <p:nvPr/>
      </p:nvGrpSpPr>
      <p:grpSpPr>
        <a:xfrm>
          <a:off x="0" y="0"/>
          <a:ext cx="0" cy="0"/>
          <a:chOff x="0" y="0"/>
          <a:chExt cx="0" cy="0"/>
        </a:xfrm>
      </p:grpSpPr>
      <p:sp>
        <p:nvSpPr>
          <p:cNvPr id="4" name="Shape 131"/>
          <p:cNvSpPr txBox="1">
            <a:spLocks noGrp="1"/>
          </p:cNvSpPr>
          <p:nvPr>
            <p:ph type="title"/>
          </p:nvPr>
        </p:nvSpPr>
        <p:spPr>
          <a:xfrm>
            <a:off x="1028550" y="1917783"/>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a:solidFill>
                  <a:srgbClr val="3A9ED9"/>
                </a:solidFill>
                <a:latin typeface="Source Code Pro"/>
                <a:ea typeface="Source Code Pro"/>
                <a:cs typeface="Source Code Pro"/>
                <a:sym typeface="Source Code Pro"/>
              </a:rPr>
              <a:t>Heading</a:t>
            </a:r>
          </a:p>
        </p:txBody>
      </p:sp>
      <p:sp>
        <p:nvSpPr>
          <p:cNvPr id="5" name="Shape 132"/>
          <p:cNvSpPr txBox="1">
            <a:spLocks noGrp="1"/>
          </p:cNvSpPr>
          <p:nvPr>
            <p:ph type="body" idx="1"/>
          </p:nvPr>
        </p:nvSpPr>
        <p:spPr>
          <a:xfrm>
            <a:off x="9121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6" name="Shape 13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7" name="Shape 134"/>
          <p:cNvSpPr txBox="1">
            <a:spLocks/>
          </p:cNvSpPr>
          <p:nvPr userDrawn="1"/>
        </p:nvSpPr>
        <p:spPr>
          <a:xfrm>
            <a:off x="360720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D0096"/>
                </a:solidFill>
                <a:latin typeface="Source Code Pro"/>
                <a:ea typeface="Source Code Pro"/>
                <a:cs typeface="Source Code Pro"/>
                <a:sym typeface="Source Code Pro"/>
              </a:rPr>
              <a:t>Heading</a:t>
            </a:r>
            <a:endParaRPr lang="en" sz="1800" b="1">
              <a:solidFill>
                <a:srgbClr val="ED0096"/>
              </a:solidFill>
              <a:latin typeface="Source Code Pro"/>
              <a:ea typeface="Source Code Pro"/>
              <a:cs typeface="Source Code Pro"/>
              <a:sym typeface="Source Code Pro"/>
            </a:endParaRPr>
          </a:p>
        </p:txBody>
      </p:sp>
      <p:sp>
        <p:nvSpPr>
          <p:cNvPr id="8" name="Shape 135"/>
          <p:cNvSpPr txBox="1">
            <a:spLocks noGrp="1"/>
          </p:cNvSpPr>
          <p:nvPr>
            <p:ph type="body" idx="10"/>
          </p:nvPr>
        </p:nvSpPr>
        <p:spPr>
          <a:xfrm>
            <a:off x="349080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sp>
        <p:nvSpPr>
          <p:cNvPr id="9" name="Shape 136"/>
          <p:cNvSpPr txBox="1">
            <a:spLocks/>
          </p:cNvSpPr>
          <p:nvPr userDrawn="1"/>
        </p:nvSpPr>
        <p:spPr>
          <a:xfrm>
            <a:off x="630225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0" name="Shape 137"/>
          <p:cNvSpPr txBox="1">
            <a:spLocks noGrp="1"/>
          </p:cNvSpPr>
          <p:nvPr>
            <p:ph type="body" idx="11"/>
          </p:nvPr>
        </p:nvSpPr>
        <p:spPr>
          <a:xfrm>
            <a:off x="61858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1" name="Shape 138"/>
          <p:cNvCxnSpPr/>
          <p:nvPr userDrawn="1"/>
        </p:nvCxnSpPr>
        <p:spPr>
          <a:xfrm>
            <a:off x="959550" y="4144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2" name="Shape 139"/>
          <p:cNvCxnSpPr/>
          <p:nvPr userDrawn="1"/>
        </p:nvCxnSpPr>
        <p:spPr>
          <a:xfrm>
            <a:off x="3538200" y="4144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3" name="Shape 140"/>
          <p:cNvCxnSpPr/>
          <p:nvPr userDrawn="1"/>
        </p:nvCxnSpPr>
        <p:spPr>
          <a:xfrm>
            <a:off x="6233250" y="4144075"/>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4" name="Shape 141"/>
          <p:cNvCxnSpPr/>
          <p:nvPr userDrawn="1"/>
        </p:nvCxnSpPr>
        <p:spPr>
          <a:xfrm>
            <a:off x="959550" y="1316850"/>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5" name="Shape 142"/>
          <p:cNvCxnSpPr/>
          <p:nvPr userDrawn="1"/>
        </p:nvCxnSpPr>
        <p:spPr>
          <a:xfrm>
            <a:off x="3538200" y="1316850"/>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6" name="Shape 143"/>
          <p:cNvCxnSpPr/>
          <p:nvPr userDrawn="1"/>
        </p:nvCxnSpPr>
        <p:spPr>
          <a:xfrm>
            <a:off x="6233250" y="1316850"/>
            <a:ext cx="1951199" cy="0"/>
          </a:xfrm>
          <a:prstGeom prst="straightConnector1">
            <a:avLst/>
          </a:prstGeom>
          <a:noFill/>
          <a:ln w="19050" cap="flat" cmpd="sng">
            <a:solidFill>
              <a:srgbClr val="EF3969"/>
            </a:solidFill>
            <a:prstDash val="solid"/>
            <a:round/>
            <a:headEnd type="none" w="med" len="med"/>
            <a:tailEnd type="none" w="med" len="med"/>
          </a:ln>
        </p:spPr>
      </p:cxnSp>
      <p:sp>
        <p:nvSpPr>
          <p:cNvPr id="17" name="Shape 144"/>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145"/>
          <p:cNvSpPr/>
          <p:nvPr userDrawn="1"/>
        </p:nvSpPr>
        <p:spPr>
          <a:xfrm>
            <a:off x="1500750" y="882450"/>
            <a:ext cx="868800" cy="868800"/>
          </a:xfrm>
          <a:prstGeom prst="ellipse">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146"/>
          <p:cNvSpPr/>
          <p:nvPr userDrawn="1"/>
        </p:nvSpPr>
        <p:spPr>
          <a:xfrm>
            <a:off x="4079400" y="882450"/>
            <a:ext cx="868800" cy="868800"/>
          </a:xfrm>
          <a:prstGeom prst="ellipse">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0" name="Shape 147"/>
          <p:cNvSpPr/>
          <p:nvPr userDrawn="1"/>
        </p:nvSpPr>
        <p:spPr>
          <a:xfrm>
            <a:off x="6774450" y="882450"/>
            <a:ext cx="868800" cy="868800"/>
          </a:xfrm>
          <a:prstGeom prst="ellipse">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5"/>
        <p:cNvGrpSpPr/>
        <p:nvPr/>
      </p:nvGrpSpPr>
      <p:grpSpPr>
        <a:xfrm>
          <a:off x="0" y="0"/>
          <a:ext cx="0" cy="0"/>
          <a:chOff x="0" y="0"/>
          <a:chExt cx="0" cy="0"/>
        </a:xfrm>
      </p:grpSpPr>
      <p:sp>
        <p:nvSpPr>
          <p:cNvPr id="21" name="Shape 152"/>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3A9ED9"/>
                </a:solidFill>
                <a:latin typeface="Source Code Pro"/>
                <a:ea typeface="Source Code Pro"/>
                <a:cs typeface="Source Code Pro"/>
                <a:sym typeface="Source Code Pro"/>
              </a:rPr>
              <a:t>/ Heading goes here /</a:t>
            </a:r>
          </a:p>
        </p:txBody>
      </p:sp>
      <p:pic>
        <p:nvPicPr>
          <p:cNvPr id="22" name="Shape 15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54"/>
          <p:cNvCxnSpPr/>
          <p:nvPr userDrawn="1"/>
        </p:nvCxnSpPr>
        <p:spPr>
          <a:xfrm>
            <a:off x="3596400" y="43726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24" name="Shape 155"/>
          <p:cNvCxnSpPr/>
          <p:nvPr userDrawn="1"/>
        </p:nvCxnSpPr>
        <p:spPr>
          <a:xfrm>
            <a:off x="3596400" y="935850"/>
            <a:ext cx="1951199" cy="0"/>
          </a:xfrm>
          <a:prstGeom prst="straightConnector1">
            <a:avLst/>
          </a:prstGeom>
          <a:noFill/>
          <a:ln w="19050" cap="flat" cmpd="sng">
            <a:solidFill>
              <a:srgbClr val="3A9ED9"/>
            </a:solidFill>
            <a:prstDash val="solid"/>
            <a:round/>
            <a:headEnd type="none" w="med" len="med"/>
            <a:tailEnd type="none" w="med" len="med"/>
          </a:ln>
        </p:spPr>
      </p:cxnSp>
      <p:sp>
        <p:nvSpPr>
          <p:cNvPr id="25" name="Shape 15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57"/>
          <p:cNvSpPr/>
          <p:nvPr userDrawn="1"/>
        </p:nvSpPr>
        <p:spPr>
          <a:xfrm>
            <a:off x="4137600" y="501450"/>
            <a:ext cx="868800" cy="868800"/>
          </a:xfrm>
          <a:prstGeom prst="ellipse">
            <a:avLst/>
          </a:prstGeom>
          <a:solidFill>
            <a:srgbClr val="3A9ED9"/>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1</a:t>
            </a:r>
          </a:p>
        </p:txBody>
      </p:sp>
      <p:sp>
        <p:nvSpPr>
          <p:cNvPr id="27" name="Shape 158"/>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25"/>
        <p:cNvGrpSpPr/>
        <p:nvPr/>
      </p:nvGrpSpPr>
      <p:grpSpPr>
        <a:xfrm>
          <a:off x="0" y="0"/>
          <a:ext cx="0" cy="0"/>
          <a:chOff x="0" y="0"/>
          <a:chExt cx="0" cy="0"/>
        </a:xfrm>
      </p:grpSpPr>
      <p:sp>
        <p:nvSpPr>
          <p:cNvPr id="21" name="Shape 163"/>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ED0096"/>
                </a:solidFill>
                <a:latin typeface="Source Code Pro"/>
                <a:ea typeface="Source Code Pro"/>
                <a:cs typeface="Source Code Pro"/>
                <a:sym typeface="Source Code Pro"/>
              </a:rPr>
              <a:t>/ Heading goes here /</a:t>
            </a:r>
          </a:p>
        </p:txBody>
      </p:sp>
      <p:pic>
        <p:nvPicPr>
          <p:cNvPr id="22" name="Shape 16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65"/>
          <p:cNvCxnSpPr/>
          <p:nvPr userDrawn="1"/>
        </p:nvCxnSpPr>
        <p:spPr>
          <a:xfrm>
            <a:off x="3596400" y="43726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24" name="Shape 166"/>
          <p:cNvCxnSpPr/>
          <p:nvPr userDrawn="1"/>
        </p:nvCxnSpPr>
        <p:spPr>
          <a:xfrm>
            <a:off x="3596400" y="935850"/>
            <a:ext cx="1951199" cy="0"/>
          </a:xfrm>
          <a:prstGeom prst="straightConnector1">
            <a:avLst/>
          </a:prstGeom>
          <a:noFill/>
          <a:ln w="19050" cap="flat" cmpd="sng">
            <a:solidFill>
              <a:srgbClr val="ED0096"/>
            </a:solidFill>
            <a:prstDash val="solid"/>
            <a:round/>
            <a:headEnd type="none" w="med" len="med"/>
            <a:tailEnd type="none" w="med" len="med"/>
          </a:ln>
        </p:spPr>
      </p:cxnSp>
      <p:sp>
        <p:nvSpPr>
          <p:cNvPr id="25" name="Shape 16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68"/>
          <p:cNvSpPr/>
          <p:nvPr userDrawn="1"/>
        </p:nvSpPr>
        <p:spPr>
          <a:xfrm>
            <a:off x="4137600" y="501450"/>
            <a:ext cx="868800" cy="868800"/>
          </a:xfrm>
          <a:prstGeom prst="ellipse">
            <a:avLst/>
          </a:prstGeom>
          <a:solidFill>
            <a:srgbClr val="ED0096"/>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2</a:t>
            </a:r>
          </a:p>
        </p:txBody>
      </p:sp>
      <p:sp>
        <p:nvSpPr>
          <p:cNvPr id="27" name="Shape 169"/>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and description">
    <p:spTree>
      <p:nvGrpSpPr>
        <p:cNvPr id="1" name="Shape 35"/>
        <p:cNvGrpSpPr/>
        <p:nvPr/>
      </p:nvGrpSpPr>
      <p:grpSpPr>
        <a:xfrm>
          <a:off x="0" y="0"/>
          <a:ext cx="0" cy="0"/>
          <a:chOff x="0" y="0"/>
          <a:chExt cx="0" cy="0"/>
        </a:xfrm>
      </p:grpSpPr>
      <p:sp>
        <p:nvSpPr>
          <p:cNvPr id="7" name="Shape 174"/>
          <p:cNvSpPr/>
          <p:nvPr userDrawn="1"/>
        </p:nvSpPr>
        <p:spPr>
          <a:xfrm>
            <a:off x="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8" name="Shape 176"/>
          <p:cNvSpPr txBox="1">
            <a:spLocks noGrp="1"/>
          </p:cNvSpPr>
          <p:nvPr>
            <p:ph type="title"/>
          </p:nvPr>
        </p:nvSpPr>
        <p:spPr>
          <a:xfrm>
            <a:off x="525200" y="590275"/>
            <a:ext cx="3390900" cy="228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9" name="Shape 177"/>
          <p:cNvSpPr/>
          <p:nvPr userDrawn="1"/>
        </p:nvSpPr>
        <p:spPr>
          <a:xfrm>
            <a:off x="3592175"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0" name="Shape 178"/>
          <p:cNvSpPr txBox="1">
            <a:spLocks noGrp="1"/>
          </p:cNvSpPr>
          <p:nvPr>
            <p:ph type="body" idx="1"/>
          </p:nvPr>
        </p:nvSpPr>
        <p:spPr>
          <a:xfrm>
            <a:off x="5365125"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11" name="Shape 17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tion">
    <p:spTree>
      <p:nvGrpSpPr>
        <p:cNvPr id="1" name="Shape 41"/>
        <p:cNvGrpSpPr/>
        <p:nvPr/>
      </p:nvGrpSpPr>
      <p:grpSpPr>
        <a:xfrm>
          <a:off x="0" y="0"/>
          <a:ext cx="0" cy="0"/>
          <a:chOff x="0" y="0"/>
          <a:chExt cx="0" cy="0"/>
        </a:xfrm>
      </p:grpSpPr>
      <p:sp>
        <p:nvSpPr>
          <p:cNvPr id="4" name="Shape 184"/>
          <p:cNvSpPr/>
          <p:nvPr userDrawn="1"/>
        </p:nvSpPr>
        <p:spPr>
          <a:xfrm>
            <a:off x="435020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186"/>
          <p:cNvSpPr txBox="1">
            <a:spLocks noGrp="1"/>
          </p:cNvSpPr>
          <p:nvPr>
            <p:ph type="title"/>
          </p:nvPr>
        </p:nvSpPr>
        <p:spPr>
          <a:xfrm>
            <a:off x="5310889" y="590275"/>
            <a:ext cx="3390900" cy="22848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6" name="Shape 187"/>
          <p:cNvSpPr/>
          <p:nvPr userDrawn="1"/>
        </p:nvSpPr>
        <p:spPr>
          <a:xfrm>
            <a:off x="3150900"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188"/>
          <p:cNvSpPr txBox="1">
            <a:spLocks noGrp="1"/>
          </p:cNvSpPr>
          <p:nvPr>
            <p:ph type="body" idx="1"/>
          </p:nvPr>
        </p:nvSpPr>
        <p:spPr>
          <a:xfrm>
            <a:off x="677600"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8" name="Shape 18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g number">
    <p:spTree>
      <p:nvGrpSpPr>
        <p:cNvPr id="1" name="Shape 44"/>
        <p:cNvGrpSpPr/>
        <p:nvPr/>
      </p:nvGrpSpPr>
      <p:grpSpPr>
        <a:xfrm>
          <a:off x="0" y="0"/>
          <a:ext cx="0" cy="0"/>
          <a:chOff x="0" y="0"/>
          <a:chExt cx="0" cy="0"/>
        </a:xfrm>
      </p:grpSpPr>
      <p:sp>
        <p:nvSpPr>
          <p:cNvPr id="5" name="Shape 68"/>
          <p:cNvSpPr/>
          <p:nvPr userDrawn="1"/>
        </p:nvSpPr>
        <p:spPr>
          <a:xfrm>
            <a:off x="0" y="2206325"/>
            <a:ext cx="9144000" cy="2936999"/>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69"/>
          <p:cNvSpPr txBox="1">
            <a:spLocks noGrp="1"/>
          </p:cNvSpPr>
          <p:nvPr>
            <p:ph type="title"/>
          </p:nvPr>
        </p:nvSpPr>
        <p:spPr>
          <a:xfrm>
            <a:off x="720000" y="308200"/>
            <a:ext cx="7704000" cy="5726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2800" b="0" i="0" u="none" strike="noStrike" cap="none">
                <a:solidFill>
                  <a:srgbClr val="3A9ED9"/>
                </a:solidFill>
                <a:latin typeface="Source Code Pro"/>
                <a:ea typeface="Source Code Pro"/>
                <a:cs typeface="Source Code Pro"/>
                <a:sym typeface="Source Code Pro"/>
              </a:rPr>
              <a:t>/ meet your team /</a:t>
            </a:r>
          </a:p>
        </p:txBody>
      </p:sp>
      <p:pic>
        <p:nvPicPr>
          <p:cNvPr id="7" name="Shape 70" descr="megan.png"/>
          <p:cNvPicPr preferRelativeResize="0"/>
          <p:nvPr userDrawn="1"/>
        </p:nvPicPr>
        <p:blipFill rotWithShape="1">
          <a:blip r:embed="rId2">
            <a:alphaModFix/>
          </a:blip>
          <a:srcRect/>
          <a:stretch/>
        </p:blipFill>
        <p:spPr>
          <a:xfrm>
            <a:off x="1520895" y="1427375"/>
            <a:ext cx="1544624" cy="1544624"/>
          </a:xfrm>
          <a:prstGeom prst="rect">
            <a:avLst/>
          </a:prstGeom>
          <a:noFill/>
          <a:ln>
            <a:noFill/>
          </a:ln>
        </p:spPr>
      </p:pic>
      <p:pic>
        <p:nvPicPr>
          <p:cNvPr id="8" name="Shape 71" descr="jennifer.png"/>
          <p:cNvPicPr preferRelativeResize="0"/>
          <p:nvPr userDrawn="1"/>
        </p:nvPicPr>
        <p:blipFill rotWithShape="1">
          <a:blip r:embed="rId3">
            <a:alphaModFix/>
          </a:blip>
          <a:srcRect/>
          <a:stretch/>
        </p:blipFill>
        <p:spPr>
          <a:xfrm>
            <a:off x="3799691" y="1427374"/>
            <a:ext cx="1544624" cy="1544624"/>
          </a:xfrm>
          <a:prstGeom prst="rect">
            <a:avLst/>
          </a:prstGeom>
          <a:noFill/>
          <a:ln>
            <a:noFill/>
          </a:ln>
        </p:spPr>
      </p:pic>
      <p:sp>
        <p:nvSpPr>
          <p:cNvPr id="9" name="Shape 72"/>
          <p:cNvSpPr txBox="1"/>
          <p:nvPr userDrawn="1"/>
        </p:nvSpPr>
        <p:spPr>
          <a:xfrm>
            <a:off x="133456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rgbClr val="FFFFFF"/>
              </a:buClr>
              <a:buSzPct val="25000"/>
              <a:buFont typeface="Arial"/>
              <a:buNone/>
            </a:pPr>
            <a:r>
              <a:rPr lang="en" sz="1200" b="0" i="0" u="none" strike="noStrike" cap="none">
                <a:solidFill>
                  <a:srgbClr val="FFFFFF"/>
                </a:solidFill>
                <a:latin typeface="Calibri"/>
                <a:ea typeface="Calibri"/>
                <a:cs typeface="Calibri"/>
                <a:sym typeface="Calibri"/>
              </a:rPr>
              <a:t>Title Here</a:t>
            </a:r>
          </a:p>
        </p:txBody>
      </p:sp>
      <p:sp>
        <p:nvSpPr>
          <p:cNvPr id="10" name="Shape 73"/>
          <p:cNvSpPr txBox="1"/>
          <p:nvPr userDrawn="1"/>
        </p:nvSpPr>
        <p:spPr>
          <a:xfrm>
            <a:off x="3455689" y="3288050"/>
            <a:ext cx="2232599"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3F3F3"/>
              </a:buClr>
              <a:buSzPct val="25000"/>
              <a:buFont typeface="Arial"/>
              <a:buNone/>
            </a:pPr>
            <a:r>
              <a:rPr lang="en" sz="1600" b="1" i="0" u="none" strike="noStrike" cap="none">
                <a:solidFill>
                  <a:srgbClr val="F3F3F3"/>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1" name="Shape 74" descr="megan.png"/>
          <p:cNvPicPr preferRelativeResize="0"/>
          <p:nvPr userDrawn="1"/>
        </p:nvPicPr>
        <p:blipFill rotWithShape="1">
          <a:blip r:embed="rId2">
            <a:alphaModFix/>
          </a:blip>
          <a:srcRect/>
          <a:stretch/>
        </p:blipFill>
        <p:spPr>
          <a:xfrm>
            <a:off x="6078496" y="1427375"/>
            <a:ext cx="1544624" cy="1544624"/>
          </a:xfrm>
          <a:prstGeom prst="rect">
            <a:avLst/>
          </a:prstGeom>
          <a:noFill/>
          <a:ln>
            <a:noFill/>
          </a:ln>
        </p:spPr>
      </p:pic>
      <p:sp>
        <p:nvSpPr>
          <p:cNvPr id="12" name="Shape 75"/>
          <p:cNvSpPr txBox="1"/>
          <p:nvPr userDrawn="1"/>
        </p:nvSpPr>
        <p:spPr>
          <a:xfrm>
            <a:off x="589211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3" name="Shape 76" descr="metis-mini.png"/>
          <p:cNvPicPr preferRelativeResize="0"/>
          <p:nvPr userDrawn="1"/>
        </p:nvPicPr>
        <p:blipFill rotWithShape="1">
          <a:blip r:embed="rId4">
            <a:alphaModFix amt="25000"/>
          </a:blip>
          <a:srcRect/>
          <a:stretch/>
        </p:blipFill>
        <p:spPr>
          <a:xfrm>
            <a:off x="4408787" y="4444075"/>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48"/>
        <p:cNvGrpSpPr/>
        <p:nvPr/>
      </p:nvGrpSpPr>
      <p:grpSpPr>
        <a:xfrm>
          <a:off x="0" y="0"/>
          <a:ext cx="0" cy="0"/>
          <a:chOff x="0" y="0"/>
          <a:chExt cx="0" cy="0"/>
        </a:xfrm>
      </p:grpSpPr>
      <p:sp>
        <p:nvSpPr>
          <p:cNvPr id="3"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7"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8"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9"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48"/>
        <p:cNvGrpSpPr/>
        <p:nvPr/>
      </p:nvGrpSpPr>
      <p:grpSpPr>
        <a:xfrm>
          <a:off x="0" y="0"/>
          <a:ext cx="0" cy="0"/>
          <a:chOff x="0" y="0"/>
          <a:chExt cx="0" cy="0"/>
        </a:xfrm>
      </p:grpSpPr>
      <p:sp>
        <p:nvSpPr>
          <p:cNvPr id="10" name="Shape 221"/>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 name="Shape 223"/>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3" name="Shape 224"/>
          <p:cNvSpPr/>
          <p:nvPr userDrawn="1"/>
        </p:nvSpPr>
        <p:spPr>
          <a:xfrm>
            <a:off x="0" y="0"/>
            <a:ext cx="3048000" cy="13239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14" name="Shape 22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15" name="Shape 22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
        <p:nvSpPr>
          <p:cNvPr id="16" name="Shape 227"/>
          <p:cNvSpPr txBox="1">
            <a:spLocks/>
          </p:cNvSpPr>
          <p:nvPr userDrawn="1"/>
        </p:nvSpPr>
        <p:spPr>
          <a:xfrm>
            <a:off x="2666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001</a:t>
            </a:r>
            <a:endParaRPr lang="en" sz="2400">
              <a:solidFill>
                <a:srgbClr val="FFFFFF"/>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48"/>
        <p:cNvGrpSpPr/>
        <p:nvPr/>
      </p:nvGrpSpPr>
      <p:grpSpPr>
        <a:xfrm>
          <a:off x="0" y="0"/>
          <a:ext cx="0" cy="0"/>
          <a:chOff x="0" y="0"/>
          <a:chExt cx="0" cy="0"/>
        </a:xfrm>
      </p:grpSpPr>
      <p:sp>
        <p:nvSpPr>
          <p:cNvPr id="9" name="Shape 232"/>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34"/>
          <p:cNvSpPr/>
          <p:nvPr userDrawn="1"/>
        </p:nvSpPr>
        <p:spPr>
          <a:xfrm>
            <a:off x="3048000" y="0"/>
            <a:ext cx="3048000" cy="13239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35"/>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3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37"/>
          <p:cNvSpPr txBox="1">
            <a:spLocks/>
          </p:cNvSpPr>
          <p:nvPr userDrawn="1"/>
        </p:nvSpPr>
        <p:spPr>
          <a:xfrm>
            <a:off x="33210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002</a:t>
            </a:r>
            <a:endParaRPr lang="en" sz="2400">
              <a:solidFill>
                <a:srgbClr val="FFFFFF"/>
              </a:solidFill>
              <a:latin typeface="Source Code Pro"/>
              <a:ea typeface="Source Code Pro"/>
              <a:cs typeface="Source Code Pro"/>
              <a:sym typeface="Source Code Pro"/>
            </a:endParaRPr>
          </a:p>
        </p:txBody>
      </p:sp>
      <p:sp>
        <p:nvSpPr>
          <p:cNvPr id="22" name="Shape 238"/>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48"/>
        <p:cNvGrpSpPr/>
        <p:nvPr/>
      </p:nvGrpSpPr>
      <p:grpSpPr>
        <a:xfrm>
          <a:off x="0" y="0"/>
          <a:ext cx="0" cy="0"/>
          <a:chOff x="0" y="0"/>
          <a:chExt cx="0" cy="0"/>
        </a:xfrm>
      </p:grpSpPr>
      <p:sp>
        <p:nvSpPr>
          <p:cNvPr id="9" name="Shape 243"/>
          <p:cNvSpPr/>
          <p:nvPr userDrawn="1"/>
        </p:nvSpPr>
        <p:spPr>
          <a:xfrm>
            <a:off x="6096000" y="0"/>
            <a:ext cx="3048000" cy="13239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45"/>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46"/>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47"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48"/>
          <p:cNvSpPr txBox="1">
            <a:spLocks/>
          </p:cNvSpPr>
          <p:nvPr userDrawn="1"/>
        </p:nvSpPr>
        <p:spPr>
          <a:xfrm>
            <a:off x="631990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003</a:t>
            </a:r>
            <a:endParaRPr lang="en" sz="2400">
              <a:solidFill>
                <a:srgbClr val="FFFFFF"/>
              </a:solidFill>
              <a:latin typeface="Source Code Pro"/>
              <a:ea typeface="Source Code Pro"/>
              <a:cs typeface="Source Code Pro"/>
              <a:sym typeface="Source Code Pro"/>
            </a:endParaRPr>
          </a:p>
        </p:txBody>
      </p:sp>
      <p:sp>
        <p:nvSpPr>
          <p:cNvPr id="22" name="Shape 249"/>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Shape 48"/>
        <p:cNvGrpSpPr/>
        <p:nvPr/>
      </p:nvGrpSpPr>
      <p:grpSpPr>
        <a:xfrm>
          <a:off x="0" y="0"/>
          <a:ext cx="0" cy="0"/>
          <a:chOff x="0" y="0"/>
          <a:chExt cx="0" cy="0"/>
        </a:xfrm>
      </p:grpSpPr>
      <p:sp>
        <p:nvSpPr>
          <p:cNvPr id="8" name="Shape 254"/>
          <p:cNvSpPr txBox="1">
            <a:spLocks noGrp="1"/>
          </p:cNvSpPr>
          <p:nvPr>
            <p:ph type="title"/>
          </p:nvPr>
        </p:nvSpPr>
        <p:spPr>
          <a:xfrm>
            <a:off x="464100" y="1644150"/>
            <a:ext cx="4900499" cy="12792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6000" b="1" i="0" u="none" strike="noStrike" cap="none">
                <a:solidFill>
                  <a:srgbClr val="ED0096"/>
                </a:solidFill>
                <a:latin typeface="Source Code Pro"/>
                <a:ea typeface="Source Code Pro"/>
                <a:cs typeface="Source Code Pro"/>
                <a:sym typeface="Source Code Pro"/>
              </a:rPr>
              <a:t>Questions?</a:t>
            </a:r>
          </a:p>
        </p:txBody>
      </p:sp>
      <p:pic>
        <p:nvPicPr>
          <p:cNvPr id="10" name="Shape 25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11" name="Shape 256"/>
          <p:cNvCxnSpPr/>
          <p:nvPr userDrawn="1"/>
        </p:nvCxnSpPr>
        <p:spPr>
          <a:xfrm>
            <a:off x="0" y="3082200"/>
            <a:ext cx="5322899" cy="0"/>
          </a:xfrm>
          <a:prstGeom prst="straightConnector1">
            <a:avLst/>
          </a:prstGeom>
          <a:noFill/>
          <a:ln w="19050" cap="flat" cmpd="sng">
            <a:solidFill>
              <a:srgbClr val="ED0096"/>
            </a:solidFill>
            <a:prstDash val="solid"/>
            <a:round/>
            <a:headEnd type="none" w="med" len="med"/>
            <a:tailEnd type="none" w="med" len="med"/>
          </a:ln>
        </p:spPr>
      </p:cxnSp>
      <p:sp>
        <p:nvSpPr>
          <p:cNvPr id="12" name="Shape 25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599" cy="2052599"/>
          </a:xfrm>
          <a:prstGeom prst="rect">
            <a:avLst/>
          </a:prstGeom>
          <a:noFill/>
          <a:ln>
            <a:noFill/>
          </a:ln>
        </p:spPr>
        <p:txBody>
          <a:bodyPr lIns="91425" tIns="91425" rIns="91425" bIns="91425" anchor="b" anchorCtr="0"/>
          <a:lstStyle>
            <a:lvl1pPr marL="0" marR="0" lvl="0" indent="0" algn="ctr" rtl="0">
              <a:lnSpc>
                <a:spcPct val="100000"/>
              </a:lnSpc>
              <a:spcBef>
                <a:spcPts val="0"/>
              </a:spcBef>
              <a:spcAft>
                <a:spcPts val="0"/>
              </a:spcAft>
              <a:buClr>
                <a:schemeClr val="dk1"/>
              </a:buClr>
              <a:buFont typeface="Arial"/>
              <a:buNone/>
              <a:defRPr sz="5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5200">
                <a:solidFill>
                  <a:schemeClr val="dk1"/>
                </a:solidFill>
              </a:defRPr>
            </a:lvl2pPr>
            <a:lvl3pPr lvl="2" indent="0" algn="ctr">
              <a:spcBef>
                <a:spcPts val="0"/>
              </a:spcBef>
              <a:buClr>
                <a:schemeClr val="dk1"/>
              </a:buClr>
              <a:buFont typeface="Arial"/>
              <a:buNone/>
              <a:defRPr sz="5200">
                <a:solidFill>
                  <a:schemeClr val="dk1"/>
                </a:solidFill>
              </a:defRPr>
            </a:lvl3pPr>
            <a:lvl4pPr lvl="3" indent="0" algn="ctr">
              <a:spcBef>
                <a:spcPts val="0"/>
              </a:spcBef>
              <a:buClr>
                <a:schemeClr val="dk1"/>
              </a:buClr>
              <a:buFont typeface="Arial"/>
              <a:buNone/>
              <a:defRPr sz="5200">
                <a:solidFill>
                  <a:schemeClr val="dk1"/>
                </a:solidFill>
              </a:defRPr>
            </a:lvl4pPr>
            <a:lvl5pPr lvl="4" indent="0" algn="ctr">
              <a:spcBef>
                <a:spcPts val="0"/>
              </a:spcBef>
              <a:buClr>
                <a:schemeClr val="dk1"/>
              </a:buClr>
              <a:buFont typeface="Arial"/>
              <a:buNone/>
              <a:defRPr sz="5200">
                <a:solidFill>
                  <a:schemeClr val="dk1"/>
                </a:solidFill>
              </a:defRPr>
            </a:lvl5pPr>
            <a:lvl6pPr lvl="5" indent="0" algn="ctr">
              <a:spcBef>
                <a:spcPts val="0"/>
              </a:spcBef>
              <a:buClr>
                <a:schemeClr val="dk1"/>
              </a:buClr>
              <a:buFont typeface="Arial"/>
              <a:buNone/>
              <a:defRPr sz="5200">
                <a:solidFill>
                  <a:schemeClr val="dk1"/>
                </a:solidFill>
              </a:defRPr>
            </a:lvl6pPr>
            <a:lvl7pPr lvl="6" indent="0" algn="ctr">
              <a:spcBef>
                <a:spcPts val="0"/>
              </a:spcBef>
              <a:buClr>
                <a:schemeClr val="dk1"/>
              </a:buClr>
              <a:buFont typeface="Arial"/>
              <a:buNone/>
              <a:defRPr sz="5200">
                <a:solidFill>
                  <a:schemeClr val="dk1"/>
                </a:solidFill>
              </a:defRPr>
            </a:lvl7pPr>
            <a:lvl8pPr lvl="7" indent="0" algn="ctr">
              <a:spcBef>
                <a:spcPts val="0"/>
              </a:spcBef>
              <a:buClr>
                <a:schemeClr val="dk1"/>
              </a:buClr>
              <a:buFont typeface="Arial"/>
              <a:buNone/>
              <a:defRPr sz="5200">
                <a:solidFill>
                  <a:schemeClr val="dk1"/>
                </a:solidFill>
              </a:defRPr>
            </a:lvl8pPr>
            <a:lvl9pPr lvl="8" indent="0" algn="ctr">
              <a:spcBef>
                <a:spcPts val="0"/>
              </a:spcBef>
              <a:buClr>
                <a:schemeClr val="dk1"/>
              </a:buClr>
              <a:buFont typeface="Arial"/>
              <a:buNone/>
              <a:defRPr sz="5200">
                <a:solidFill>
                  <a:schemeClr val="dk1"/>
                </a:solidFill>
              </a:defRPr>
            </a:lvl9pPr>
          </a:lstStyle>
          <a:p>
            <a:endParaRPr/>
          </a:p>
        </p:txBody>
      </p:sp>
      <p:sp>
        <p:nvSpPr>
          <p:cNvPr id="11" name="Shape 11"/>
          <p:cNvSpPr txBox="1">
            <a:spLocks noGrp="1"/>
          </p:cNvSpPr>
          <p:nvPr>
            <p:ph type="subTitle" idx="1"/>
          </p:nvPr>
        </p:nvSpPr>
        <p:spPr>
          <a:xfrm>
            <a:off x="311700" y="2834125"/>
            <a:ext cx="8520599" cy="792600"/>
          </a:xfrm>
          <a:prstGeom prst="rect">
            <a:avLst/>
          </a:prstGeom>
          <a:noFill/>
          <a:ln>
            <a:noFill/>
          </a:ln>
        </p:spPr>
        <p:txBody>
          <a:bodyPr lIns="91425" tIns="91425" rIns="91425" bIns="91425" anchor="t" anchorCtr="0"/>
          <a:lstStyle>
            <a:lvl1pPr marL="0" marR="0" lvl="0"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1pPr>
            <a:lvl2pPr marL="457200" marR="0" lvl="1"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2pPr>
            <a:lvl3pPr marL="914400" marR="0" lvl="2"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3pPr>
            <a:lvl4pPr marL="1371600" marR="0" lvl="3"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4pPr>
            <a:lvl5pPr marL="1828800" marR="0" lvl="4"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5pPr>
            <a:lvl6pPr marL="2286000" marR="0" lvl="5"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6pPr>
            <a:lvl7pPr marL="2743200" marR="0" lvl="6"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7pPr>
            <a:lvl8pPr marL="3200400" marR="0" lvl="7"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8pPr>
            <a:lvl9pPr marL="3657600" marR="0" lvl="8"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9pPr>
          </a:lstStyle>
          <a:p>
            <a:endParaRPr/>
          </a:p>
        </p:txBody>
      </p:sp>
      <p:sp>
        <p:nvSpPr>
          <p:cNvPr id="12" name="Shape 12"/>
          <p:cNvSpPr txBox="1">
            <a:spLocks noGrp="1"/>
          </p:cNvSpPr>
          <p:nvPr>
            <p:ph type="sldNum" idx="12"/>
          </p:nvPr>
        </p:nvSpPr>
        <p:spPr>
          <a:xfrm>
            <a:off x="8472457" y="4663216"/>
            <a:ext cx="548699" cy="3936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2587228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146199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248531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009230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318278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723929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94733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2094171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627027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4023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9541841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7118605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462619" y="399798"/>
            <a:ext cx="1230751" cy="1157248"/>
          </a:xfrm>
          <a:prstGeom prst="rect">
            <a:avLst/>
          </a:prstGeom>
        </p:spPr>
      </p:pic>
    </p:spTree>
    <p:extLst/>
  </p:cSld>
  <p:clrMapOvr>
    <a:masterClrMapping/>
  </p:clrMapOvr>
  <p:timing>
    <p:tnLst>
      <p:par>
        <p:cTn id="1" dur="indefinite" restart="never" nodeType="tmRoot"/>
      </p:par>
    </p:tnLst>
  </p:timing>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19394" y="225843"/>
            <a:ext cx="1406758" cy="1153858"/>
          </a:xfrm>
          <a:prstGeom prst="rect">
            <a:avLst/>
          </a:prstGeom>
          <a:noFill/>
          <a:extLst>
            <a:ext uri="{909E8E84-426E-40dd-AFC4-6F175D3DCCD1}">
              <a14:hiddenFill xmlns:a14="http://schemas.microsoft.com/office/drawing/2010/main" xmlns="">
                <a:solidFill>
                  <a:srgbClr val="FFFFFF"/>
                </a:solidFill>
              </a14:hiddenFill>
            </a:ext>
          </a:extLst>
        </p:spPr>
      </p:pic>
      <p:sp>
        <p:nvSpPr>
          <p:cNvPr id="30" name="Rectangle 29"/>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3"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58" name="Picture 57" descr="StackedISWhite.png"/>
          <p:cNvPicPr>
            <a:picLocks noChangeAspect="1"/>
          </p:cNvPicPr>
          <p:nvPr/>
        </p:nvPicPr>
        <p:blipFill>
          <a:blip r:embed="rId3"/>
          <a:stretch>
            <a:fillRect/>
          </a:stretch>
        </p:blipFill>
        <p:spPr>
          <a:xfrm>
            <a:off x="8294375" y="4805888"/>
            <a:ext cx="314741" cy="295944"/>
          </a:xfrm>
          <a:prstGeom prst="rect">
            <a:avLst/>
          </a:prstGeom>
        </p:spPr>
      </p:pic>
      <p:cxnSp>
        <p:nvCxnSpPr>
          <p:cNvPr id="74" name="Straight Connector 73"/>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203325"/>
            <a:ext cx="8228012" cy="3425825"/>
          </a:xfrm>
        </p:spPr>
        <p:txBody>
          <a:bodyPr/>
          <a:lstStyle>
            <a:lvl1pPr>
              <a:defRPr>
                <a:solidFill>
                  <a:srgbClr val="0071C5"/>
                </a:solidFill>
              </a:defRPr>
            </a:lvl1pPr>
            <a:lvl2pPr>
              <a:defRPr sz="1800"/>
            </a:lvl2pPr>
            <a:lvl3pPr>
              <a:defRPr sz="1800"/>
            </a:lvl3pPr>
            <a:lvl4pPr>
              <a:defRPr sz="1600"/>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4830763" y="943430"/>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
        <p:nvSpPr>
          <p:cNvPr id="10" name="Picture Placeholder 8"/>
          <p:cNvSpPr>
            <a:spLocks noGrp="1"/>
          </p:cNvSpPr>
          <p:nvPr>
            <p:ph type="pic" sz="quarter" idx="14"/>
          </p:nvPr>
        </p:nvSpPr>
        <p:spPr>
          <a:xfrm>
            <a:off x="4830763" y="2843897"/>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Tree>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4678363" y="1203324"/>
            <a:ext cx="4005264"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5613" y="1203325"/>
            <a:ext cx="8228013" cy="3425825"/>
          </a:xfrm>
        </p:spPr>
        <p:txBody>
          <a:bodyPr anchor="ctr" anchorCtr="0"/>
          <a:lstStyle>
            <a:lvl1pPr marL="190500" indent="-190500">
              <a:defRPr sz="3600" b="1" baseline="0">
                <a:solidFill>
                  <a:schemeClr val="accent2"/>
                </a:solidFill>
                <a:latin typeface="+mn-lt"/>
                <a:cs typeface="Intel Clear Light" panose="020B0404020203020204" pitchFamily="34" charset="0"/>
              </a:defRPr>
            </a:lvl1pPr>
            <a:lvl2pPr marL="417513" indent="-225425">
              <a:buFont typeface="Lucida Grande"/>
              <a:buChar char="−"/>
              <a:defRPr sz="1200" baseline="0">
                <a:latin typeface="+mn-lt"/>
                <a:cs typeface="Intel Clear" panose="020B0604020203020204" pitchFamily="34" charset="0"/>
              </a:defRPr>
            </a:lvl2pPr>
            <a:lvl3pPr marL="685800" indent="-228600">
              <a:defRPr sz="1200">
                <a:latin typeface="+mn-lt"/>
              </a:defRPr>
            </a:lvl3pPr>
            <a:lvl4pPr>
              <a:defRPr sz="1100">
                <a:latin typeface="+mn-lt"/>
              </a:defRPr>
            </a:lvl4pPr>
            <a:lvl5pPr>
              <a:defRPr sz="105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9144000" cy="4762834"/>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2574131"/>
            <a:ext cx="9144000" cy="2188703"/>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18" name="Content Placeholder 2"/>
          <p:cNvSpPr>
            <a:spLocks noGrp="1"/>
          </p:cNvSpPr>
          <p:nvPr>
            <p:ph sz="half" idx="1" hasCustomPrompt="1"/>
          </p:nvPr>
        </p:nvSpPr>
        <p:spPr>
          <a:xfrm>
            <a:off x="455613" y="1203325"/>
            <a:ext cx="4006851"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4678363" y="1203325"/>
            <a:ext cx="4005264"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009487" y="4975795"/>
            <a:ext cx="184666" cy="246221"/>
          </a:xfrm>
          <a:prstGeom prst="rect">
            <a:avLst/>
          </a:prstGeom>
          <a:noFill/>
        </p:spPr>
        <p:txBody>
          <a:bodyPr wrap="none" rtlCol="0">
            <a:spAutoFit/>
          </a:bodyPr>
          <a:lstStyle/>
          <a:p>
            <a:endParaRPr lang="en-US" sz="1000" dirty="0" smtClean="0">
              <a:solidFill>
                <a:schemeClr val="tx2"/>
              </a:solidFill>
              <a:cs typeface="Neo Sans Intel"/>
            </a:endParaRPr>
          </a:p>
        </p:txBody>
      </p:sp>
      <p:sp>
        <p:nvSpPr>
          <p:cNvPr id="10"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678363" y="2"/>
            <a:ext cx="4465637" cy="4755616"/>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455613" y="308848"/>
            <a:ext cx="4006850" cy="868680"/>
          </a:xfrm>
        </p:spPr>
        <p:txBody>
          <a:bodyPr>
            <a:noAutofit/>
          </a:bodyPr>
          <a:lstStyle>
            <a:lvl1pPr>
              <a:defRPr sz="2800"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8725556" y="4795523"/>
            <a:ext cx="280395" cy="273844"/>
          </a:xfrm>
        </p:spPr>
        <p:txBody>
          <a:bodyPr/>
          <a:lstStyle/>
          <a:p>
            <a:fld id="{EE2556C5-CE8C-6547-B838-EA80C61A4AF7}" type="slidenum">
              <a:rPr lang="en-US" smtClean="0"/>
              <a:pPr/>
              <a:t>‹#›</a:t>
            </a:fld>
            <a:endParaRPr lang="en-US" dirty="0"/>
          </a:p>
        </p:txBody>
      </p:sp>
      <p:sp>
        <p:nvSpPr>
          <p:cNvPr id="17" name="Content Placeholder 2"/>
          <p:cNvSpPr>
            <a:spLocks noGrp="1"/>
          </p:cNvSpPr>
          <p:nvPr>
            <p:ph sz="half" idx="1" hasCustomPrompt="1"/>
          </p:nvPr>
        </p:nvSpPr>
        <p:spPr>
          <a:xfrm>
            <a:off x="455614" y="1325244"/>
            <a:ext cx="4006850"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Intel Clear"/>
                <a:cs typeface="Intel Clear"/>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5613" y="2234882"/>
            <a:ext cx="7772400" cy="1125140"/>
          </a:xfrm>
        </p:spPr>
        <p:txBody>
          <a:bodyPr anchor="t" anchorCtr="0">
            <a:noAutofit/>
          </a:bodyPr>
          <a:lstStyle>
            <a:lvl1pPr marL="0" indent="0">
              <a:buNone/>
              <a:defRPr sz="4000"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7" name="Title 1"/>
          <p:cNvSpPr>
            <a:spLocks noGrp="1"/>
          </p:cNvSpPr>
          <p:nvPr>
            <p:ph type="title" hasCustomPrompt="1"/>
          </p:nvPr>
        </p:nvSpPr>
        <p:spPr>
          <a:xfrm>
            <a:off x="455613" y="1101794"/>
            <a:ext cx="7772400" cy="1021556"/>
          </a:xfrm>
        </p:spPr>
        <p:txBody>
          <a:bodyPr anchor="b" anchorCtr="0">
            <a:noAutofit/>
          </a:bodyPr>
          <a:lstStyle>
            <a:lvl1pPr algn="l">
              <a:lnSpc>
                <a:spcPct val="80000"/>
              </a:lnSpc>
              <a:defRPr sz="4000"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260088"/>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455613" y="3348787"/>
            <a:ext cx="7772400" cy="1125140"/>
          </a:xfrm>
        </p:spPr>
        <p:txBody>
          <a:bodyPr anchor="t" anchorCtr="0">
            <a:noAutofit/>
          </a:bodyPr>
          <a:lstStyle>
            <a:lvl1pPr marL="0" indent="0">
              <a:buNone/>
              <a:defRPr sz="1600" b="0" baseline="0">
                <a:solidFill>
                  <a:srgbClr val="F3D54E"/>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1"/>
            <a:ext cx="9144000" cy="2574131"/>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cSld>
  <p:clrMapOvr>
    <a:masterClrMapping/>
  </p:clrMapOvr>
  <p:timing>
    <p:tnLst>
      <p:par>
        <p:cTn id="1" dur="indefinite" restart="never" nodeType="tmRoot"/>
      </p:par>
    </p:tnLst>
  </p:timing>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24200" y="4842365"/>
            <a:ext cx="2895600" cy="250826"/>
          </a:xfrm>
        </p:spPr>
        <p:txBody>
          <a:bodyPr/>
          <a:lstStyle/>
          <a:p>
            <a:endParaRPr lang="en-US" dirty="0"/>
          </a:p>
        </p:txBody>
      </p:sp>
      <p:sp>
        <p:nvSpPr>
          <p:cNvPr id="4" name="Slide Number Placeholder 3"/>
          <p:cNvSpPr>
            <a:spLocks noGrp="1"/>
          </p:cNvSpPr>
          <p:nvPr>
            <p:ph type="sldNum" sz="quarter" idx="12"/>
          </p:nvPr>
        </p:nvSpPr>
        <p:spPr>
          <a:xfrm>
            <a:off x="8743950" y="4779605"/>
            <a:ext cx="262001" cy="247085"/>
          </a:xfrm>
        </p:spPr>
        <p:txBody>
          <a:bodyPr/>
          <a:lstStyle/>
          <a:p>
            <a:fld id="{EE2556C5-CE8C-6547-B838-EA80C61A4AF7}" type="slidenum">
              <a:rPr lang="en-US" smtClean="0"/>
              <a:pPr/>
              <a:t>‹#›</a:t>
            </a:fld>
            <a:endParaRPr lang="en-US" dirty="0"/>
          </a:p>
        </p:txBody>
      </p:sp>
      <p:sp>
        <p:nvSpPr>
          <p:cNvPr id="5"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8"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9"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10"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9144000" cy="4768850"/>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71C5"/>
              </a:solidFill>
            </a:endParaRPr>
          </a:p>
        </p:txBody>
      </p:sp>
      <p:pic>
        <p:nvPicPr>
          <p:cNvPr id="5" name="Picture 4" descr="StackedISWhite.png"/>
          <p:cNvPicPr>
            <a:picLocks noChangeAspect="1"/>
          </p:cNvPicPr>
          <p:nvPr/>
        </p:nvPicPr>
        <p:blipFill>
          <a:blip r:embed="rId2"/>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5695EFAE-97D9-482A-8603-BDA4FE5A83E6}" type="datetimeFigureOut">
              <a:rPr lang="en-US" smtClean="0"/>
              <a:t>8/25/2017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E00A-457A-4DC3-AA03-374ABBD35A5E}" type="slidenum">
              <a:rPr lang="en-US" smtClean="0"/>
              <a:t>‹#›</a:t>
            </a:fld>
            <a:endParaRPr lang="en-US"/>
          </a:p>
        </p:txBody>
      </p:sp>
    </p:spTree>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134630031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image" Target="../media/image4.png"/><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562381577"/>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706" r:id="rId15"/>
  </p:sldLayoutIdLst>
  <p:timing>
    <p:tnLst>
      <p:par>
        <p:cTn id="1" dur="indefinite" restart="never" nodeType="tmRoot"/>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DF01D69-A501-704B-80CB-1B3152437FD0}" type="slidenum">
              <a:rPr lang="en-US" smtClean="0"/>
              <a:t>‹#›</a:t>
            </a:fld>
            <a:endParaRPr lang="en-US"/>
          </a:p>
        </p:txBody>
      </p:sp>
    </p:spTree>
    <p:extLst>
      <p:ext uri="{BB962C8B-B14F-4D97-AF65-F5344CB8AC3E}">
        <p14:creationId xmlns:p14="http://schemas.microsoft.com/office/powerpoint/2010/main" val="135114168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455613" y="1203325"/>
            <a:ext cx="8228012" cy="3425825"/>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16" name="Picture 15" descr="StackedISWhite.png"/>
          <p:cNvPicPr>
            <a:picLocks noChangeAspect="1"/>
          </p:cNvPicPr>
          <p:nvPr/>
        </p:nvPicPr>
        <p:blipFill>
          <a:blip r:embed="rId21"/>
          <a:stretch>
            <a:fillRect/>
          </a:stretch>
        </p:blipFill>
        <p:spPr>
          <a:xfrm>
            <a:off x="8294375" y="4805888"/>
            <a:ext cx="314741" cy="295944"/>
          </a:xfrm>
          <a:prstGeom prst="rect">
            <a:avLst/>
          </a:prstGeom>
        </p:spPr>
      </p:pic>
      <p:cxnSp>
        <p:nvCxnSpPr>
          <p:cNvPr id="37" name="Straight Connector 36"/>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7897575"/>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4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2.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5.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5.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21.xml"/><Relationship Id="rId16" Type="http://schemas.openxmlformats.org/officeDocument/2006/relationships/image" Target="../media/image31.png"/><Relationship Id="rId1" Type="http://schemas.openxmlformats.org/officeDocument/2006/relationships/slideLayout" Target="../slideLayouts/slideLayout45.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2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22.xml"/><Relationship Id="rId16" Type="http://schemas.openxmlformats.org/officeDocument/2006/relationships/image" Target="../media/image31.png"/><Relationship Id="rId1" Type="http://schemas.openxmlformats.org/officeDocument/2006/relationships/slideLayout" Target="../slideLayouts/slideLayout45.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2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23.xml"/><Relationship Id="rId16" Type="http://schemas.openxmlformats.org/officeDocument/2006/relationships/image" Target="../media/image31.png"/><Relationship Id="rId1" Type="http://schemas.openxmlformats.org/officeDocument/2006/relationships/slideLayout" Target="../slideLayouts/slideLayout45.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2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24.xml"/><Relationship Id="rId16" Type="http://schemas.openxmlformats.org/officeDocument/2006/relationships/image" Target="../media/image31.png"/><Relationship Id="rId1" Type="http://schemas.openxmlformats.org/officeDocument/2006/relationships/slideLayout" Target="../slideLayouts/slideLayout45.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2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25.xml"/><Relationship Id="rId16" Type="http://schemas.openxmlformats.org/officeDocument/2006/relationships/image" Target="../media/image31.png"/><Relationship Id="rId1" Type="http://schemas.openxmlformats.org/officeDocument/2006/relationships/slideLayout" Target="../slideLayouts/slideLayout45.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2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26.xml"/><Relationship Id="rId16" Type="http://schemas.openxmlformats.org/officeDocument/2006/relationships/image" Target="../media/image31.png"/><Relationship Id="rId1" Type="http://schemas.openxmlformats.org/officeDocument/2006/relationships/slideLayout" Target="../slideLayouts/slideLayout45.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19" Type="http://schemas.openxmlformats.org/officeDocument/2006/relationships/image" Target="../media/image34.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2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6.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5.png"/><Relationship Id="rId2" Type="http://schemas.openxmlformats.org/officeDocument/2006/relationships/notesSlide" Target="../notesSlides/notesSlide27.xml"/><Relationship Id="rId16" Type="http://schemas.openxmlformats.org/officeDocument/2006/relationships/image" Target="../media/image31.png"/><Relationship Id="rId1" Type="http://schemas.openxmlformats.org/officeDocument/2006/relationships/slideLayout" Target="../slideLayouts/slideLayout45.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19" Type="http://schemas.openxmlformats.org/officeDocument/2006/relationships/image" Target="../media/image37.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29.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9.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8.png"/><Relationship Id="rId2" Type="http://schemas.openxmlformats.org/officeDocument/2006/relationships/notesSlide" Target="../notesSlides/notesSlide28.xml"/><Relationship Id="rId16" Type="http://schemas.openxmlformats.org/officeDocument/2006/relationships/image" Target="../media/image31.png"/><Relationship Id="rId20" Type="http://schemas.openxmlformats.org/officeDocument/2006/relationships/image" Target="../media/image41.png"/><Relationship Id="rId1" Type="http://schemas.openxmlformats.org/officeDocument/2006/relationships/slideLayout" Target="../slideLayouts/slideLayout45.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19" Type="http://schemas.openxmlformats.org/officeDocument/2006/relationships/image" Target="../media/image40.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30.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45.png"/><Relationship Id="rId18" Type="http://schemas.openxmlformats.org/officeDocument/2006/relationships/image" Target="../media/image4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44.png"/><Relationship Id="rId17" Type="http://schemas.openxmlformats.org/officeDocument/2006/relationships/image" Target="../media/image470.png"/><Relationship Id="rId2" Type="http://schemas.openxmlformats.org/officeDocument/2006/relationships/notesSlide" Target="../notesSlides/notesSlide29.xml"/><Relationship Id="rId16" Type="http://schemas.openxmlformats.org/officeDocument/2006/relationships/image" Target="../media/image39.png"/><Relationship Id="rId1" Type="http://schemas.openxmlformats.org/officeDocument/2006/relationships/slideLayout" Target="../slideLayouts/slideLayout45.xml"/><Relationship Id="rId6" Type="http://schemas.openxmlformats.org/officeDocument/2006/relationships/image" Target="../media/image21.png"/><Relationship Id="rId11" Type="http://schemas.openxmlformats.org/officeDocument/2006/relationships/image" Target="../media/image43.png"/><Relationship Id="rId5" Type="http://schemas.openxmlformats.org/officeDocument/2006/relationships/image" Target="../media/image20.png"/><Relationship Id="rId15" Type="http://schemas.openxmlformats.org/officeDocument/2006/relationships/image" Target="../media/image47.png"/><Relationship Id="rId10" Type="http://schemas.openxmlformats.org/officeDocument/2006/relationships/image" Target="../media/image42.png"/><Relationship Id="rId19" Type="http://schemas.openxmlformats.org/officeDocument/2006/relationships/image" Target="../media/image49.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46.png"/></Relationships>
</file>

<file path=ppt/slides/_rels/slide3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30.xml"/><Relationship Id="rId1" Type="http://schemas.openxmlformats.org/officeDocument/2006/relationships/slideLayout" Target="../slideLayouts/slideLayout45.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image" Target="../media/image56.png"/></Relationships>
</file>

<file path=ppt/slides/_rels/slide3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31.xml"/><Relationship Id="rId1" Type="http://schemas.openxmlformats.org/officeDocument/2006/relationships/slideLayout" Target="../slideLayouts/slideLayout45.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6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gradFill>
        <a:effectLst/>
      </p:bgPr>
    </p:bg>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US" sz="5000" b="0" i="0" u="none" strike="noStrike" cap="none" dirty="0" smtClean="0">
                <a:solidFill>
                  <a:srgbClr val="FFFFFF"/>
                </a:solidFill>
                <a:latin typeface="Avenir Book" charset="0"/>
                <a:ea typeface="Avenir Book" charset="0"/>
                <a:cs typeface="Avenir Book" charset="0"/>
                <a:sym typeface="Source Code Pro"/>
              </a:rPr>
              <a:t>Introduction to Neural Nets</a:t>
            </a:r>
            <a:endParaRPr lang="en" sz="5000" b="0" i="0" u="none" strike="noStrike" cap="none" dirty="0">
              <a:solidFill>
                <a:srgbClr val="FFFFFF"/>
              </a:solidFill>
              <a:latin typeface="Avenir Book" charset="0"/>
              <a:ea typeface="Avenir Book" charset="0"/>
              <a:cs typeface="Avenir Book" charset="0"/>
              <a:sym typeface="Source Code Pro"/>
            </a:endParaRPr>
          </a:p>
        </p:txBody>
      </p:sp>
      <p:sp>
        <p:nvSpPr>
          <p:cNvPr id="2" name="Subtitle 1"/>
          <p:cNvSpPr>
            <a:spLocks noGrp="1"/>
          </p:cNvSpPr>
          <p:nvPr>
            <p:ph type="subTitle" idx="1"/>
          </p:nvPr>
        </p:nvSpPr>
        <p:spPr/>
        <p:txBody>
          <a:bodyPr/>
          <a:lstStyle/>
          <a:p>
            <a:endParaRPr lang="en-US"/>
          </a:p>
        </p:txBody>
      </p:sp>
      <p:cxnSp>
        <p:nvCxnSpPr>
          <p:cNvPr id="56" name="Shape 56"/>
          <p:cNvCxnSpPr/>
          <p:nvPr/>
        </p:nvCxnSpPr>
        <p:spPr>
          <a:xfrm>
            <a:off x="609600" y="2679200"/>
            <a:ext cx="6264600" cy="0"/>
          </a:xfrm>
          <a:prstGeom prst="straightConnector1">
            <a:avLst/>
          </a:prstGeom>
          <a:noFill/>
          <a:ln w="19050" cap="flat" cmpd="sng">
            <a:solidFill>
              <a:srgbClr val="3A9ED9"/>
            </a:solidFill>
            <a:prstDash val="solid"/>
            <a:round/>
            <a:headEnd type="none" w="med" len="med"/>
            <a:tailEnd type="none" w="med" len="med"/>
          </a:ln>
        </p:spPr>
      </p:cxnSp>
    </p:spTree>
    <p:extLst>
      <p:ext uri="{BB962C8B-B14F-4D97-AF65-F5344CB8AC3E}">
        <p14:creationId xmlns:p14="http://schemas.microsoft.com/office/powerpoint/2010/main" val="14535023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1500" dirty="0" smtClean="0"/>
              <a:t>This presentation is for informational purposes only. INTEL MAKES NO WARRANTIES, EXPRESS OR IMPLIED, IN THIS SUMMARY. </a:t>
            </a:r>
          </a:p>
          <a:p>
            <a:r>
              <a:rPr lang="en-US" sz="1500" dirty="0" smtClean="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1500" dirty="0" smtClean="0">
                <a:hlinkClick r:id="rId2"/>
              </a:rPr>
              <a:t>intel.com</a:t>
            </a:r>
            <a:r>
              <a:rPr lang="en-US" sz="1500" dirty="0" smtClean="0"/>
              <a:t>. </a:t>
            </a:r>
          </a:p>
          <a:p>
            <a:r>
              <a:rPr lang="en-US" sz="1500" dirty="0" smtClean="0"/>
              <a:t>This sample source code is released under the </a:t>
            </a:r>
            <a:r>
              <a:rPr lang="en-US" sz="1500" dirty="0" smtClean="0">
                <a:hlinkClick r:id="rId3"/>
              </a:rPr>
              <a:t>Intel Sample Source Code License Agreement</a:t>
            </a:r>
            <a:r>
              <a:rPr lang="en-US" sz="1500" dirty="0" smtClean="0"/>
              <a:t>. </a:t>
            </a:r>
          </a:p>
          <a:p>
            <a:r>
              <a:rPr lang="en-US" sz="1500" dirty="0" smtClean="0"/>
              <a:t>Intel and the Intel logo are trademarks of Intel Corporation in the U.S. and/or other countries. </a:t>
            </a:r>
          </a:p>
          <a:p>
            <a:r>
              <a:rPr lang="en-US" sz="1500" dirty="0" smtClean="0"/>
              <a:t>*Other names and brands may be claimed as the property of others. </a:t>
            </a:r>
          </a:p>
          <a:p>
            <a:r>
              <a:rPr lang="en-US" sz="1500" dirty="0" smtClean="0"/>
              <a:t>Copyright © 2017, Intel Corporation. All rights reserved. </a:t>
            </a:r>
            <a:endParaRPr lang="en-US" sz="1500" dirty="0"/>
          </a:p>
        </p:txBody>
      </p:sp>
    </p:spTree>
    <p:extLst>
      <p:ext uri="{BB962C8B-B14F-4D97-AF65-F5344CB8AC3E}">
        <p14:creationId xmlns:p14="http://schemas.microsoft.com/office/powerpoint/2010/main" val="364649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Motivation for Neural Nets</a:t>
            </a:r>
            <a:endParaRPr lang="en-US" dirty="0">
              <a:latin typeface="Avenir Book" charset="0"/>
              <a:ea typeface="Avenir Book" charset="0"/>
              <a:cs typeface="Avenir Book" charset="0"/>
            </a:endParaRPr>
          </a:p>
        </p:txBody>
      </p:sp>
      <p:grpSp>
        <p:nvGrpSpPr>
          <p:cNvPr id="10" name="Group 9"/>
          <p:cNvGrpSpPr/>
          <p:nvPr/>
        </p:nvGrpSpPr>
        <p:grpSpPr>
          <a:xfrm>
            <a:off x="2801575" y="3123242"/>
            <a:ext cx="2741721" cy="1609725"/>
            <a:chOff x="3292616" y="4559300"/>
            <a:chExt cx="3655628" cy="2146300"/>
          </a:xfrm>
        </p:grpSpPr>
        <p:sp>
          <p:nvSpPr>
            <p:cNvPr id="12" name="Oval 11"/>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050"/>
            </a:p>
          </p:txBody>
        </p:sp>
        <p:sp>
          <p:nvSpPr>
            <p:cNvPr id="13" name="Oval 12"/>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050"/>
            </a:p>
          </p:txBody>
        </p:sp>
        <p:sp>
          <p:nvSpPr>
            <p:cNvPr id="14" name="Oval 13"/>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050"/>
            </a:p>
          </p:txBody>
        </p:sp>
        <p:sp>
          <p:nvSpPr>
            <p:cNvPr id="15" name="Oval 14"/>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6" name="Oval 15"/>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7" name="Oval 16"/>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8" name="Oval 17"/>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9" name="Oval 18"/>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0" name="Oval 19"/>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1" name="Oval 20"/>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2" name="Oval 21"/>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3" name="Oval 22"/>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050"/>
            </a:p>
          </p:txBody>
        </p:sp>
        <p:sp>
          <p:nvSpPr>
            <p:cNvPr id="24" name="Oval 23"/>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050"/>
            </a:p>
          </p:txBody>
        </p:sp>
        <p:sp>
          <p:nvSpPr>
            <p:cNvPr id="25" name="Oval 24"/>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050"/>
            </a:p>
          </p:txBody>
        </p:sp>
        <p:cxnSp>
          <p:nvCxnSpPr>
            <p:cNvPr id="26" name="Straight Arrow Connector 25"/>
            <p:cNvCxnSpPr>
              <a:stCxn id="13" idx="6"/>
              <a:endCxn id="19"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3" idx="6"/>
              <a:endCxn id="18"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3" idx="6"/>
              <a:endCxn id="17"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3" idx="6"/>
              <a:endCxn id="16"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4" idx="6"/>
              <a:endCxn id="19"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4" idx="6"/>
              <a:endCxn id="18"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4" idx="6"/>
              <a:endCxn id="17"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4" idx="6"/>
              <a:endCxn id="16"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5" idx="6"/>
              <a:endCxn id="19"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5" idx="6"/>
              <a:endCxn id="18"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5" idx="6"/>
              <a:endCxn id="17"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5" idx="6"/>
              <a:endCxn id="16"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9" idx="6"/>
              <a:endCxn id="23"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9" idx="6"/>
              <a:endCxn id="22"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9" idx="6"/>
              <a:endCxn id="21"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9" idx="6"/>
              <a:endCxn id="20"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8" idx="6"/>
              <a:endCxn id="23"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8" idx="6"/>
              <a:endCxn id="22"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18" idx="6"/>
              <a:endCxn id="21"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18" idx="6"/>
              <a:endCxn id="20"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7" idx="6"/>
              <a:endCxn id="23"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7" idx="6"/>
              <a:endCxn id="22"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7" idx="6"/>
              <a:endCxn id="21"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7" idx="6"/>
              <a:endCxn id="20"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6" idx="6"/>
              <a:endCxn id="23"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6" idx="6"/>
              <a:endCxn id="22"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6" idx="7"/>
              <a:endCxn id="21"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6" idx="6"/>
              <a:endCxn id="20"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23" idx="6"/>
              <a:endCxn id="28"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23" idx="6"/>
              <a:endCxn id="29"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23" idx="6"/>
              <a:endCxn id="30"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22" idx="6"/>
              <a:endCxn id="28"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22" idx="6"/>
              <a:endCxn id="29"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2" idx="6"/>
              <a:endCxn id="30"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1" idx="6"/>
              <a:endCxn id="30"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1" idx="6"/>
              <a:endCxn id="28"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21" idx="6"/>
              <a:endCxn id="29"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20" idx="6"/>
              <a:endCxn id="28"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20" idx="6"/>
              <a:endCxn id="29"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20" idx="6"/>
              <a:endCxn id="30"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28"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29"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0"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3"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4"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endCxn id="15"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2" name="Rectangle 71"/>
          <p:cNvSpPr/>
          <p:nvPr/>
        </p:nvSpPr>
        <p:spPr>
          <a:xfrm>
            <a:off x="442299" y="773104"/>
            <a:ext cx="7460274" cy="2362185"/>
          </a:xfrm>
          <a:prstGeom prst="rect">
            <a:avLst/>
          </a:prstGeom>
        </p:spPr>
        <p:txBody>
          <a:bodyPr wrap="square">
            <a:spAutoFit/>
          </a:bodyPr>
          <a:lstStyle/>
          <a:p>
            <a:pPr marL="457200" lvl="0" indent="-457200">
              <a:lnSpc>
                <a:spcPct val="150000"/>
              </a:lnSpc>
              <a:buFont typeface="Arial" charset="0"/>
              <a:buChar char="•"/>
            </a:pPr>
            <a:r>
              <a:rPr lang="en-US" sz="2000" dirty="0" smtClean="0">
                <a:latin typeface="Avenir Book" charset="0"/>
                <a:ea typeface="Avenir Book" charset="0"/>
                <a:cs typeface="Avenir Book" charset="0"/>
              </a:rPr>
              <a:t>Use biology as inspiration for mathematical model</a:t>
            </a:r>
          </a:p>
          <a:p>
            <a:pPr marL="457200" lvl="0" indent="-457200">
              <a:lnSpc>
                <a:spcPct val="150000"/>
              </a:lnSpc>
              <a:buFont typeface="Arial" charset="0"/>
              <a:buChar char="•"/>
            </a:pPr>
            <a:r>
              <a:rPr lang="en-US" sz="2000" dirty="0" smtClean="0">
                <a:latin typeface="Avenir Book" charset="0"/>
                <a:ea typeface="Avenir Book" charset="0"/>
                <a:cs typeface="Avenir Book" charset="0"/>
              </a:rPr>
              <a:t>Get signals from previous neurons</a:t>
            </a:r>
          </a:p>
          <a:p>
            <a:pPr marL="457200" lvl="0" indent="-457200">
              <a:lnSpc>
                <a:spcPct val="150000"/>
              </a:lnSpc>
              <a:buFont typeface="Arial" charset="0"/>
              <a:buChar char="•"/>
            </a:pPr>
            <a:r>
              <a:rPr lang="en-US" sz="2000" dirty="0" smtClean="0">
                <a:latin typeface="Avenir Book" charset="0"/>
                <a:ea typeface="Avenir Book" charset="0"/>
                <a:cs typeface="Avenir Book" charset="0"/>
              </a:rPr>
              <a:t>Generate signals (or not) according to inputs</a:t>
            </a:r>
          </a:p>
          <a:p>
            <a:pPr marL="457200" lvl="0" indent="-457200">
              <a:lnSpc>
                <a:spcPct val="150000"/>
              </a:lnSpc>
              <a:buFont typeface="Arial" charset="0"/>
              <a:buChar char="•"/>
            </a:pPr>
            <a:r>
              <a:rPr lang="en-US" sz="2000" dirty="0" smtClean="0">
                <a:latin typeface="Avenir Book" charset="0"/>
                <a:ea typeface="Avenir Book" charset="0"/>
                <a:cs typeface="Avenir Book" charset="0"/>
              </a:rPr>
              <a:t>Pass signals on to next neurons</a:t>
            </a:r>
          </a:p>
          <a:p>
            <a:pPr marL="457200" lvl="0" indent="-457200">
              <a:lnSpc>
                <a:spcPct val="150000"/>
              </a:lnSpc>
              <a:buFont typeface="Arial" charset="0"/>
              <a:buChar char="•"/>
            </a:pPr>
            <a:r>
              <a:rPr lang="en-US" sz="2000" dirty="0" smtClean="0">
                <a:latin typeface="Avenir Book" charset="0"/>
                <a:ea typeface="Avenir Book" charset="0"/>
                <a:cs typeface="Avenir Book" charset="0"/>
              </a:rPr>
              <a:t>By layering many neurons, can create complex model</a:t>
            </a:r>
          </a:p>
        </p:txBody>
      </p:sp>
      <p:sp>
        <p:nvSpPr>
          <p:cNvPr id="3" name="TextBox 2"/>
          <p:cNvSpPr txBox="1"/>
          <p:nvPr/>
        </p:nvSpPr>
        <p:spPr>
          <a:xfrm>
            <a:off x="4736123" y="-1875692"/>
            <a:ext cx="914400" cy="914400"/>
          </a:xfrm>
          <a:prstGeom prst="rect">
            <a:avLst/>
          </a:prstGeom>
          <a:solidFill>
            <a:schemeClr val="bg2">
              <a:lumMod val="20000"/>
              <a:lumOff val="80000"/>
            </a:schemeClr>
          </a:solidFill>
        </p:spPr>
        <p:txBody>
          <a:bodyPr vert="horz" wrap="none" lIns="0" tIns="0" rIns="0" bIns="0" rtlCol="0">
            <a:noAutofit/>
          </a:bodyPr>
          <a:lstStyle/>
          <a:p>
            <a:endParaRPr lang="en-US" sz="1100" dirty="0" smtClean="0">
              <a:solidFill>
                <a:srgbClr val="003C71"/>
              </a:solidFill>
            </a:endParaRPr>
          </a:p>
        </p:txBody>
      </p:sp>
    </p:spTree>
    <p:extLst>
      <p:ext uri="{BB962C8B-B14F-4D97-AF65-F5344CB8AC3E}">
        <p14:creationId xmlns:p14="http://schemas.microsoft.com/office/powerpoint/2010/main" val="1930477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Neural Net Structure</a:t>
            </a:r>
            <a:endParaRPr lang="en-US" dirty="0">
              <a:latin typeface="Avenir Book" charset="0"/>
              <a:ea typeface="Avenir Book" charset="0"/>
              <a:cs typeface="Avenir Book" charset="0"/>
            </a:endParaRPr>
          </a:p>
        </p:txBody>
      </p:sp>
      <p:grpSp>
        <p:nvGrpSpPr>
          <p:cNvPr id="10" name="Group 9"/>
          <p:cNvGrpSpPr/>
          <p:nvPr/>
        </p:nvGrpSpPr>
        <p:grpSpPr>
          <a:xfrm>
            <a:off x="2297483" y="1111617"/>
            <a:ext cx="4138487" cy="2316268"/>
            <a:chOff x="3292616" y="4559300"/>
            <a:chExt cx="3655628" cy="2146300"/>
          </a:xfrm>
        </p:grpSpPr>
        <p:sp>
          <p:nvSpPr>
            <p:cNvPr id="12" name="Oval 11"/>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050"/>
            </a:p>
          </p:txBody>
        </p:sp>
        <p:sp>
          <p:nvSpPr>
            <p:cNvPr id="13" name="Oval 12"/>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050"/>
            </a:p>
          </p:txBody>
        </p:sp>
        <p:sp>
          <p:nvSpPr>
            <p:cNvPr id="14" name="Oval 13"/>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050"/>
            </a:p>
          </p:txBody>
        </p:sp>
        <p:sp>
          <p:nvSpPr>
            <p:cNvPr id="15" name="Oval 14"/>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6" name="Oval 15"/>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7" name="Oval 16"/>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8" name="Oval 17"/>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9" name="Oval 18"/>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0" name="Oval 19"/>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1" name="Oval 20"/>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2" name="Oval 21"/>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3" name="Oval 22"/>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050"/>
            </a:p>
          </p:txBody>
        </p:sp>
        <p:sp>
          <p:nvSpPr>
            <p:cNvPr id="24" name="Oval 23"/>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050"/>
            </a:p>
          </p:txBody>
        </p:sp>
        <p:sp>
          <p:nvSpPr>
            <p:cNvPr id="25" name="Oval 24"/>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050"/>
            </a:p>
          </p:txBody>
        </p:sp>
        <p:cxnSp>
          <p:nvCxnSpPr>
            <p:cNvPr id="26" name="Straight Arrow Connector 25"/>
            <p:cNvCxnSpPr>
              <a:stCxn id="13" idx="6"/>
              <a:endCxn id="19"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3" idx="6"/>
              <a:endCxn id="18"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3" idx="6"/>
              <a:endCxn id="17"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3" idx="6"/>
              <a:endCxn id="16"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4" idx="6"/>
              <a:endCxn id="19"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4" idx="6"/>
              <a:endCxn id="18"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4" idx="6"/>
              <a:endCxn id="17"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4" idx="6"/>
              <a:endCxn id="16"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5" idx="6"/>
              <a:endCxn id="19"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5" idx="6"/>
              <a:endCxn id="18"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5" idx="6"/>
              <a:endCxn id="17"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5" idx="6"/>
              <a:endCxn id="16"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9" idx="6"/>
              <a:endCxn id="23"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9" idx="6"/>
              <a:endCxn id="22"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9" idx="6"/>
              <a:endCxn id="21"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9" idx="6"/>
              <a:endCxn id="20"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8" idx="6"/>
              <a:endCxn id="23"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8" idx="6"/>
              <a:endCxn id="22"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18" idx="6"/>
              <a:endCxn id="21"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18" idx="6"/>
              <a:endCxn id="20"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7" idx="6"/>
              <a:endCxn id="23"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7" idx="6"/>
              <a:endCxn id="22"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7" idx="6"/>
              <a:endCxn id="21"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7" idx="6"/>
              <a:endCxn id="20"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6" idx="6"/>
              <a:endCxn id="23"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6" idx="6"/>
              <a:endCxn id="22"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6" idx="7"/>
              <a:endCxn id="21"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6" idx="6"/>
              <a:endCxn id="20"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23" idx="6"/>
              <a:endCxn id="28"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23" idx="6"/>
              <a:endCxn id="29"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23" idx="6"/>
              <a:endCxn id="30"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22" idx="6"/>
              <a:endCxn id="28"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22" idx="6"/>
              <a:endCxn id="29"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2" idx="6"/>
              <a:endCxn id="30"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1" idx="6"/>
              <a:endCxn id="30"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1" idx="6"/>
              <a:endCxn id="28"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21" idx="6"/>
              <a:endCxn id="29"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20" idx="6"/>
              <a:endCxn id="28"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20" idx="6"/>
              <a:endCxn id="29"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20" idx="6"/>
              <a:endCxn id="30"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28"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29"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0"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3"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4"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endCxn id="15"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2" name="Rectangle 71"/>
          <p:cNvSpPr/>
          <p:nvPr/>
        </p:nvSpPr>
        <p:spPr>
          <a:xfrm>
            <a:off x="118299" y="1946586"/>
            <a:ext cx="1877901" cy="738664"/>
          </a:xfrm>
          <a:prstGeom prst="rect">
            <a:avLst/>
          </a:prstGeom>
        </p:spPr>
        <p:txBody>
          <a:bodyPr wrap="square">
            <a:spAutoFit/>
          </a:bodyPr>
          <a:lstStyle/>
          <a:p>
            <a:pPr marL="457200" marR="0" lvl="0" indent="-457200" defTabSz="914400" eaLnBrk="1" fontAlgn="auto" latinLnBrk="0" hangingPunct="1">
              <a:spcBef>
                <a:spcPts val="0"/>
              </a:spcBef>
              <a:spcAft>
                <a:spcPts val="0"/>
              </a:spcAft>
              <a:buClrTx/>
              <a:buSzTx/>
              <a:buFont typeface="Arial" charset="0"/>
              <a:buNone/>
              <a:tabLst/>
              <a:defRPr/>
            </a:pPr>
            <a:r>
              <a:rPr lang="en-US" sz="2400" dirty="0" smtClean="0">
                <a:latin typeface="Avenir Book" charset="0"/>
                <a:ea typeface="Avenir Book" charset="0"/>
                <a:cs typeface="Avenir Book" charset="0"/>
              </a:rPr>
              <a:t>Input</a:t>
            </a:r>
          </a:p>
          <a:p>
            <a:pPr marL="457200" marR="0" lvl="0" indent="-457200" defTabSz="914400" eaLnBrk="1" fontAlgn="auto" latinLnBrk="0" hangingPunct="1">
              <a:spcBef>
                <a:spcPts val="0"/>
              </a:spcBef>
              <a:spcAft>
                <a:spcPts val="0"/>
              </a:spcAft>
              <a:buClrTx/>
              <a:buSzTx/>
              <a:buFont typeface="Arial" charset="0"/>
              <a:buNone/>
              <a:tabLst/>
              <a:defRPr/>
            </a:pPr>
            <a:r>
              <a:rPr lang="en-US" sz="1800" dirty="0" smtClean="0">
                <a:latin typeface="Avenir Book" charset="0"/>
                <a:ea typeface="Avenir Book" charset="0"/>
                <a:cs typeface="Avenir Book" charset="0"/>
              </a:rPr>
              <a:t>(Feature Vector)</a:t>
            </a:r>
          </a:p>
        </p:txBody>
      </p:sp>
      <p:sp>
        <p:nvSpPr>
          <p:cNvPr id="73" name="Rectangle 72"/>
          <p:cNvSpPr/>
          <p:nvPr/>
        </p:nvSpPr>
        <p:spPr>
          <a:xfrm>
            <a:off x="6717323" y="1953888"/>
            <a:ext cx="2118858" cy="677108"/>
          </a:xfrm>
          <a:prstGeom prst="rect">
            <a:avLst/>
          </a:prstGeom>
        </p:spPr>
        <p:txBody>
          <a:bodyPr wrap="square">
            <a:spAutoFit/>
          </a:bodyPr>
          <a:lstStyle/>
          <a:p>
            <a:pPr marL="457200" marR="0" lvl="0" indent="-457200" defTabSz="914400" eaLnBrk="1" fontAlgn="auto" latinLnBrk="0" hangingPunct="1">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Output</a:t>
            </a:r>
          </a:p>
          <a:p>
            <a:pPr marL="457200" marR="0" lvl="0" indent="-457200" defTabSz="914400" eaLnBrk="1" fontAlgn="auto" latinLnBrk="0" hangingPunct="1">
              <a:spcBef>
                <a:spcPts val="0"/>
              </a:spcBef>
              <a:spcAft>
                <a:spcPts val="0"/>
              </a:spcAft>
              <a:buClrTx/>
              <a:buSzTx/>
              <a:buFont typeface="Arial" charset="0"/>
              <a:buNone/>
              <a:tabLst/>
              <a:defRPr/>
            </a:pPr>
            <a:r>
              <a:rPr lang="en-US" sz="1600" dirty="0" smtClean="0">
                <a:latin typeface="Avenir Book" charset="0"/>
                <a:ea typeface="Avenir Book" charset="0"/>
                <a:cs typeface="Avenir Book" charset="0"/>
              </a:rPr>
              <a:t>(Label)</a:t>
            </a:r>
          </a:p>
        </p:txBody>
      </p:sp>
      <p:sp>
        <p:nvSpPr>
          <p:cNvPr id="75" name="Rectangle 74"/>
          <p:cNvSpPr/>
          <p:nvPr/>
        </p:nvSpPr>
        <p:spPr>
          <a:xfrm>
            <a:off x="318190" y="3548413"/>
            <a:ext cx="7983648" cy="1107996"/>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Can think of it as a complicated computation engine</a:t>
            </a:r>
          </a:p>
          <a:p>
            <a:pPr marL="457200" lvl="0" indent="-457200">
              <a:buFont typeface="Arial" charset="0"/>
              <a:buChar char="•"/>
            </a:pPr>
            <a:r>
              <a:rPr lang="en-US" sz="2200" dirty="0" smtClean="0">
                <a:latin typeface="Avenir Book" charset="0"/>
                <a:ea typeface="Avenir Book" charset="0"/>
                <a:cs typeface="Avenir Book" charset="0"/>
              </a:rPr>
              <a:t>We will ”train it” using our training data</a:t>
            </a:r>
          </a:p>
          <a:p>
            <a:pPr marL="457200" lvl="0" indent="-457200">
              <a:buFont typeface="Arial" charset="0"/>
              <a:buChar char="•"/>
            </a:pPr>
            <a:r>
              <a:rPr lang="en-US" sz="2200" dirty="0" smtClean="0">
                <a:latin typeface="Avenir Book" charset="0"/>
                <a:ea typeface="Avenir Book" charset="0"/>
                <a:cs typeface="Avenir Book" charset="0"/>
              </a:rPr>
              <a:t>Then (hopefully) it will give good answers on new data</a:t>
            </a:r>
          </a:p>
        </p:txBody>
      </p:sp>
    </p:spTree>
    <p:extLst>
      <p:ext uri="{BB962C8B-B14F-4D97-AF65-F5344CB8AC3E}">
        <p14:creationId xmlns:p14="http://schemas.microsoft.com/office/powerpoint/2010/main" val="581763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Basic Neuron Visualization</a:t>
            </a:r>
            <a:endParaRPr lang="en-US" dirty="0">
              <a:latin typeface="Avenir Book" charset="0"/>
              <a:ea typeface="Avenir Book" charset="0"/>
              <a:cs typeface="Avenir Book" charset="0"/>
            </a:endParaRPr>
          </a:p>
        </p:txBody>
      </p:sp>
      <p:cxnSp>
        <p:nvCxnSpPr>
          <p:cNvPr id="73" name="Straight Arrow Connector 72"/>
          <p:cNvCxnSpPr>
            <a:stCxn id="75" idx="6"/>
          </p:cNvCxnSpPr>
          <p:nvPr/>
        </p:nvCxnSpPr>
        <p:spPr>
          <a:xfrm>
            <a:off x="5980235" y="2647218"/>
            <a:ext cx="18288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3579935" y="1447068"/>
            <a:ext cx="2400300" cy="24003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bg1"/>
                </a:solidFill>
              </a:rPr>
              <a:t>activation</a:t>
            </a:r>
          </a:p>
          <a:p>
            <a:pPr algn="ctr"/>
            <a:r>
              <a:rPr lang="en-US" sz="2700" dirty="0">
                <a:solidFill>
                  <a:schemeClr val="bg1"/>
                </a:solidFill>
              </a:rPr>
              <a:t>function</a:t>
            </a:r>
          </a:p>
        </p:txBody>
      </p:sp>
      <p:cxnSp>
        <p:nvCxnSpPr>
          <p:cNvPr id="76" name="Straight Arrow Connector 75"/>
          <p:cNvCxnSpPr>
            <a:endCxn id="75" idx="3"/>
          </p:cNvCxnSpPr>
          <p:nvPr/>
        </p:nvCxnSpPr>
        <p:spPr>
          <a:xfrm flipV="1">
            <a:off x="2722685" y="3495852"/>
            <a:ext cx="1208766" cy="9801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75" idx="2"/>
          </p:cNvCxnSpPr>
          <p:nvPr/>
        </p:nvCxnSpPr>
        <p:spPr>
          <a:xfrm>
            <a:off x="2094035" y="2647218"/>
            <a:ext cx="14859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75" idx="1"/>
          </p:cNvCxnSpPr>
          <p:nvPr/>
        </p:nvCxnSpPr>
        <p:spPr>
          <a:xfrm>
            <a:off x="2665535" y="932718"/>
            <a:ext cx="1265916" cy="8658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9155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Basic Neuron Visualization</a:t>
            </a:r>
            <a:endParaRPr lang="en-US" dirty="0">
              <a:latin typeface="Avenir Book" charset="0"/>
              <a:ea typeface="Avenir Book" charset="0"/>
              <a:cs typeface="Avenir Book" charset="0"/>
            </a:endParaRPr>
          </a:p>
        </p:txBody>
      </p:sp>
      <p:cxnSp>
        <p:nvCxnSpPr>
          <p:cNvPr id="73" name="Straight Arrow Connector 72"/>
          <p:cNvCxnSpPr>
            <a:stCxn id="75" idx="6"/>
          </p:cNvCxnSpPr>
          <p:nvPr/>
        </p:nvCxnSpPr>
        <p:spPr>
          <a:xfrm>
            <a:off x="5980235" y="2647218"/>
            <a:ext cx="18288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3579935" y="1447068"/>
            <a:ext cx="2400300" cy="24003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bg1"/>
                </a:solidFill>
              </a:rPr>
              <a:t>activation</a:t>
            </a:r>
          </a:p>
          <a:p>
            <a:pPr algn="ctr"/>
            <a:r>
              <a:rPr lang="en-US" sz="2700" dirty="0">
                <a:solidFill>
                  <a:schemeClr val="bg1"/>
                </a:solidFill>
              </a:rPr>
              <a:t>function</a:t>
            </a:r>
          </a:p>
        </p:txBody>
      </p:sp>
      <p:cxnSp>
        <p:nvCxnSpPr>
          <p:cNvPr id="76" name="Straight Arrow Connector 75"/>
          <p:cNvCxnSpPr>
            <a:endCxn id="75" idx="3"/>
          </p:cNvCxnSpPr>
          <p:nvPr/>
        </p:nvCxnSpPr>
        <p:spPr>
          <a:xfrm flipV="1">
            <a:off x="2722685" y="3495852"/>
            <a:ext cx="1208766" cy="9801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75" idx="2"/>
          </p:cNvCxnSpPr>
          <p:nvPr/>
        </p:nvCxnSpPr>
        <p:spPr>
          <a:xfrm>
            <a:off x="2094035" y="2647218"/>
            <a:ext cx="14859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75" idx="1"/>
          </p:cNvCxnSpPr>
          <p:nvPr/>
        </p:nvCxnSpPr>
        <p:spPr>
          <a:xfrm>
            <a:off x="2665535" y="932718"/>
            <a:ext cx="1265916" cy="8658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2148280" y="1790298"/>
            <a:ext cx="676982" cy="770464"/>
          </a:xfrm>
          <a:prstGeom prst="straightConnector1">
            <a:avLst/>
          </a:prstGeom>
          <a:ln w="1143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2096233" y="1336432"/>
            <a:ext cx="928321" cy="432933"/>
          </a:xfrm>
          <a:prstGeom prst="straightConnector1">
            <a:avLst/>
          </a:prstGeom>
          <a:ln w="1143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90600" y="1033767"/>
            <a:ext cx="1718064" cy="1200329"/>
          </a:xfrm>
          <a:prstGeom prst="rect">
            <a:avLst/>
          </a:prstGeom>
          <a:solidFill>
            <a:srgbClr val="FFFFFF">
              <a:alpha val="74902"/>
            </a:srgbClr>
          </a:solidFill>
        </p:spPr>
        <p:txBody>
          <a:bodyPr wrap="square" rtlCol="0">
            <a:spAutoFit/>
          </a:bodyPr>
          <a:lstStyle/>
          <a:p>
            <a:r>
              <a:rPr lang="en-US" sz="2400" dirty="0" smtClean="0">
                <a:solidFill>
                  <a:srgbClr val="FF0000"/>
                </a:solidFill>
              </a:rPr>
              <a:t>Data from </a:t>
            </a:r>
          </a:p>
          <a:p>
            <a:r>
              <a:rPr lang="en-US" sz="2400" dirty="0" smtClean="0">
                <a:solidFill>
                  <a:srgbClr val="FF0000"/>
                </a:solidFill>
              </a:rPr>
              <a:t>previous layer</a:t>
            </a:r>
            <a:endParaRPr lang="en-US" sz="2400" dirty="0">
              <a:solidFill>
                <a:srgbClr val="FF0000"/>
              </a:solidFill>
            </a:endParaRPr>
          </a:p>
        </p:txBody>
      </p:sp>
      <p:cxnSp>
        <p:nvCxnSpPr>
          <p:cNvPr id="31" name="Straight Arrow Connector 30"/>
          <p:cNvCxnSpPr/>
          <p:nvPr/>
        </p:nvCxnSpPr>
        <p:spPr>
          <a:xfrm>
            <a:off x="2096233" y="1822030"/>
            <a:ext cx="916598" cy="2222433"/>
          </a:xfrm>
          <a:prstGeom prst="straightConnector1">
            <a:avLst/>
          </a:prstGeom>
          <a:ln w="1143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58466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Basic Neuron Visualization</a:t>
            </a:r>
            <a:endParaRPr lang="en-US" dirty="0">
              <a:latin typeface="Avenir Book" charset="0"/>
              <a:ea typeface="Avenir Book" charset="0"/>
              <a:cs typeface="Avenir Book" charset="0"/>
            </a:endParaRPr>
          </a:p>
        </p:txBody>
      </p:sp>
      <p:cxnSp>
        <p:nvCxnSpPr>
          <p:cNvPr id="73" name="Straight Arrow Connector 72"/>
          <p:cNvCxnSpPr>
            <a:stCxn id="75" idx="6"/>
          </p:cNvCxnSpPr>
          <p:nvPr/>
        </p:nvCxnSpPr>
        <p:spPr>
          <a:xfrm>
            <a:off x="5980235" y="2647218"/>
            <a:ext cx="18288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3579935" y="1447068"/>
            <a:ext cx="2400300" cy="24003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bg1"/>
                </a:solidFill>
              </a:rPr>
              <a:t>activation</a:t>
            </a:r>
          </a:p>
          <a:p>
            <a:pPr algn="ctr"/>
            <a:r>
              <a:rPr lang="en-US" sz="2700" dirty="0">
                <a:solidFill>
                  <a:schemeClr val="bg1"/>
                </a:solidFill>
              </a:rPr>
              <a:t>function</a:t>
            </a:r>
          </a:p>
        </p:txBody>
      </p:sp>
      <p:cxnSp>
        <p:nvCxnSpPr>
          <p:cNvPr id="76" name="Straight Arrow Connector 75"/>
          <p:cNvCxnSpPr>
            <a:endCxn id="75" idx="3"/>
          </p:cNvCxnSpPr>
          <p:nvPr/>
        </p:nvCxnSpPr>
        <p:spPr>
          <a:xfrm flipV="1">
            <a:off x="2722685" y="3495852"/>
            <a:ext cx="1208766" cy="9801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75" idx="2"/>
          </p:cNvCxnSpPr>
          <p:nvPr/>
        </p:nvCxnSpPr>
        <p:spPr>
          <a:xfrm>
            <a:off x="2094035" y="2647218"/>
            <a:ext cx="14859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75" idx="1"/>
          </p:cNvCxnSpPr>
          <p:nvPr/>
        </p:nvCxnSpPr>
        <p:spPr>
          <a:xfrm>
            <a:off x="2665535" y="932718"/>
            <a:ext cx="1265916" cy="8658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5980235" y="1352244"/>
            <a:ext cx="1274600" cy="842169"/>
          </a:xfrm>
          <a:prstGeom prst="straightConnector1">
            <a:avLst/>
          </a:prstGeom>
          <a:ln w="1143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929026" y="552388"/>
            <a:ext cx="4045788" cy="830997"/>
          </a:xfrm>
          <a:prstGeom prst="rect">
            <a:avLst/>
          </a:prstGeom>
          <a:noFill/>
        </p:spPr>
        <p:txBody>
          <a:bodyPr wrap="square" rtlCol="0">
            <a:spAutoFit/>
          </a:bodyPr>
          <a:lstStyle/>
          <a:p>
            <a:r>
              <a:rPr lang="en-US" sz="2400" dirty="0" smtClean="0">
                <a:solidFill>
                  <a:srgbClr val="FF0000"/>
                </a:solidFill>
              </a:rPr>
              <a:t>Some form of computation </a:t>
            </a:r>
          </a:p>
          <a:p>
            <a:r>
              <a:rPr lang="en-US" sz="2400" dirty="0" smtClean="0">
                <a:solidFill>
                  <a:srgbClr val="FF0000"/>
                </a:solidFill>
              </a:rPr>
              <a:t>transforms the inputs</a:t>
            </a:r>
            <a:endParaRPr lang="en-US" sz="2400" dirty="0">
              <a:solidFill>
                <a:srgbClr val="FF0000"/>
              </a:solidFill>
            </a:endParaRPr>
          </a:p>
        </p:txBody>
      </p:sp>
    </p:spTree>
    <p:extLst>
      <p:ext uri="{BB962C8B-B14F-4D97-AF65-F5344CB8AC3E}">
        <p14:creationId xmlns:p14="http://schemas.microsoft.com/office/powerpoint/2010/main" val="2547287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Basic Neuron Visualization</a:t>
            </a:r>
            <a:endParaRPr lang="en-US" dirty="0">
              <a:latin typeface="Avenir Book" charset="0"/>
              <a:ea typeface="Avenir Book" charset="0"/>
              <a:cs typeface="Avenir Book" charset="0"/>
            </a:endParaRPr>
          </a:p>
        </p:txBody>
      </p:sp>
      <p:cxnSp>
        <p:nvCxnSpPr>
          <p:cNvPr id="73" name="Straight Arrow Connector 72"/>
          <p:cNvCxnSpPr>
            <a:stCxn id="75" idx="6"/>
          </p:cNvCxnSpPr>
          <p:nvPr/>
        </p:nvCxnSpPr>
        <p:spPr>
          <a:xfrm>
            <a:off x="5980235" y="2647218"/>
            <a:ext cx="18288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3579935" y="1447068"/>
            <a:ext cx="2400300" cy="24003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bg1"/>
                </a:solidFill>
              </a:rPr>
              <a:t>activation</a:t>
            </a:r>
          </a:p>
          <a:p>
            <a:pPr algn="ctr"/>
            <a:r>
              <a:rPr lang="en-US" sz="2700" dirty="0">
                <a:solidFill>
                  <a:schemeClr val="bg1"/>
                </a:solidFill>
              </a:rPr>
              <a:t>function</a:t>
            </a:r>
          </a:p>
        </p:txBody>
      </p:sp>
      <p:cxnSp>
        <p:nvCxnSpPr>
          <p:cNvPr id="76" name="Straight Arrow Connector 75"/>
          <p:cNvCxnSpPr>
            <a:endCxn id="75" idx="3"/>
          </p:cNvCxnSpPr>
          <p:nvPr/>
        </p:nvCxnSpPr>
        <p:spPr>
          <a:xfrm flipV="1">
            <a:off x="2722685" y="3495852"/>
            <a:ext cx="1208766" cy="9801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75" idx="2"/>
          </p:cNvCxnSpPr>
          <p:nvPr/>
        </p:nvCxnSpPr>
        <p:spPr>
          <a:xfrm>
            <a:off x="2094035" y="2647218"/>
            <a:ext cx="14859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75" idx="1"/>
          </p:cNvCxnSpPr>
          <p:nvPr/>
        </p:nvCxnSpPr>
        <p:spPr>
          <a:xfrm>
            <a:off x="2665535" y="932718"/>
            <a:ext cx="1265916" cy="8658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6512964" y="1697631"/>
            <a:ext cx="341312" cy="899168"/>
          </a:xfrm>
          <a:prstGeom prst="straightConnector1">
            <a:avLst/>
          </a:prstGeom>
          <a:ln w="1143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256547" y="790922"/>
            <a:ext cx="3579634" cy="830997"/>
          </a:xfrm>
          <a:prstGeom prst="rect">
            <a:avLst/>
          </a:prstGeom>
          <a:noFill/>
        </p:spPr>
        <p:txBody>
          <a:bodyPr wrap="none" rtlCol="0">
            <a:spAutoFit/>
          </a:bodyPr>
          <a:lstStyle/>
          <a:p>
            <a:r>
              <a:rPr lang="en-US" sz="2400" dirty="0" smtClean="0">
                <a:solidFill>
                  <a:srgbClr val="FF0000"/>
                </a:solidFill>
              </a:rPr>
              <a:t>The neuron outputs the </a:t>
            </a:r>
          </a:p>
          <a:p>
            <a:r>
              <a:rPr lang="en-US" sz="2400" dirty="0">
                <a:solidFill>
                  <a:srgbClr val="FF0000"/>
                </a:solidFill>
              </a:rPr>
              <a:t>t</a:t>
            </a:r>
            <a:r>
              <a:rPr lang="en-US" sz="2400" dirty="0" smtClean="0">
                <a:solidFill>
                  <a:srgbClr val="FF0000"/>
                </a:solidFill>
              </a:rPr>
              <a:t>ransformed data</a:t>
            </a:r>
          </a:p>
        </p:txBody>
      </p:sp>
    </p:spTree>
    <p:extLst>
      <p:ext uri="{BB962C8B-B14F-4D97-AF65-F5344CB8AC3E}">
        <p14:creationId xmlns:p14="http://schemas.microsoft.com/office/powerpoint/2010/main" val="11159527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2722685" y="3495852"/>
            <a:ext cx="521297" cy="461665"/>
          </a:xfrm>
          <a:prstGeom prst="rect">
            <a:avLst/>
          </a:prstGeom>
          <a:solidFill>
            <a:srgbClr val="FFFFFF">
              <a:alpha val="74902"/>
            </a:srgbClr>
          </a:solidFill>
        </p:spPr>
        <p:txBody>
          <a:bodyPr wrap="none" rtlCol="0">
            <a:spAutoFit/>
          </a:bodyPr>
          <a:lstStyle/>
          <a:p>
            <a:r>
              <a:rPr lang="en-US" sz="2400" dirty="0" smtClean="0">
                <a:solidFill>
                  <a:srgbClr val="FF0000"/>
                </a:solidFill>
              </a:rPr>
              <a:t>w</a:t>
            </a:r>
            <a:r>
              <a:rPr lang="en-US" sz="2400" baseline="-25000" dirty="0" smtClean="0">
                <a:solidFill>
                  <a:srgbClr val="FF0000"/>
                </a:solidFill>
              </a:rPr>
              <a:t>3</a:t>
            </a:r>
            <a:endParaRPr lang="en-US" sz="2400" dirty="0">
              <a:solidFill>
                <a:srgbClr val="FF0000"/>
              </a:solidFill>
            </a:endParaRPr>
          </a:p>
        </p:txBody>
      </p:sp>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Basic Neuron Visualization</a:t>
            </a:r>
            <a:endParaRPr lang="en-US" dirty="0">
              <a:latin typeface="Avenir Book" charset="0"/>
              <a:ea typeface="Avenir Book" charset="0"/>
              <a:cs typeface="Avenir Book" charset="0"/>
            </a:endParaRPr>
          </a:p>
        </p:txBody>
      </p:sp>
      <p:cxnSp>
        <p:nvCxnSpPr>
          <p:cNvPr id="73" name="Straight Arrow Connector 72"/>
          <p:cNvCxnSpPr>
            <a:stCxn id="75" idx="6"/>
          </p:cNvCxnSpPr>
          <p:nvPr/>
        </p:nvCxnSpPr>
        <p:spPr>
          <a:xfrm>
            <a:off x="5980235" y="2647218"/>
            <a:ext cx="18288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3579935" y="1447068"/>
            <a:ext cx="2400300" cy="24003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bg1"/>
                </a:solidFill>
              </a:rPr>
              <a:t>activation</a:t>
            </a:r>
          </a:p>
          <a:p>
            <a:pPr algn="ctr"/>
            <a:r>
              <a:rPr lang="en-US" sz="2700" dirty="0">
                <a:solidFill>
                  <a:schemeClr val="bg1"/>
                </a:solidFill>
              </a:rPr>
              <a:t>function</a:t>
            </a:r>
          </a:p>
        </p:txBody>
      </p:sp>
      <p:cxnSp>
        <p:nvCxnSpPr>
          <p:cNvPr id="76" name="Straight Arrow Connector 75"/>
          <p:cNvCxnSpPr>
            <a:endCxn id="75" idx="3"/>
          </p:cNvCxnSpPr>
          <p:nvPr/>
        </p:nvCxnSpPr>
        <p:spPr>
          <a:xfrm flipV="1">
            <a:off x="2722685" y="3495852"/>
            <a:ext cx="1208766" cy="9801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75" idx="2"/>
          </p:cNvCxnSpPr>
          <p:nvPr/>
        </p:nvCxnSpPr>
        <p:spPr>
          <a:xfrm>
            <a:off x="2094035" y="2647218"/>
            <a:ext cx="14859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75" idx="1"/>
          </p:cNvCxnSpPr>
          <p:nvPr/>
        </p:nvCxnSpPr>
        <p:spPr>
          <a:xfrm>
            <a:off x="2665535" y="932718"/>
            <a:ext cx="1265916" cy="8658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67851" y="701885"/>
            <a:ext cx="452368" cy="461665"/>
          </a:xfrm>
          <a:prstGeom prst="rect">
            <a:avLst/>
          </a:prstGeom>
          <a:solidFill>
            <a:srgbClr val="FFFFFF">
              <a:alpha val="74902"/>
            </a:srgbClr>
          </a:solidFill>
        </p:spPr>
        <p:txBody>
          <a:bodyPr wrap="none" rtlCol="0">
            <a:spAutoFit/>
          </a:bodyPr>
          <a:lstStyle/>
          <a:p>
            <a:r>
              <a:rPr lang="en-US" sz="2400" dirty="0" smtClean="0">
                <a:solidFill>
                  <a:srgbClr val="FF0000"/>
                </a:solidFill>
              </a:rPr>
              <a:t>x</a:t>
            </a:r>
            <a:r>
              <a:rPr lang="en-US" sz="2400" baseline="-25000" dirty="0" smtClean="0">
                <a:solidFill>
                  <a:srgbClr val="FF0000"/>
                </a:solidFill>
              </a:rPr>
              <a:t>1</a:t>
            </a:r>
            <a:endParaRPr lang="en-US" sz="2400" dirty="0">
              <a:solidFill>
                <a:srgbClr val="FF0000"/>
              </a:solidFill>
            </a:endParaRPr>
          </a:p>
        </p:txBody>
      </p:sp>
      <p:sp>
        <p:nvSpPr>
          <p:cNvPr id="11" name="TextBox 10"/>
          <p:cNvSpPr txBox="1"/>
          <p:nvPr/>
        </p:nvSpPr>
        <p:spPr>
          <a:xfrm>
            <a:off x="1524951" y="2245499"/>
            <a:ext cx="452368" cy="461665"/>
          </a:xfrm>
          <a:prstGeom prst="rect">
            <a:avLst/>
          </a:prstGeom>
          <a:solidFill>
            <a:srgbClr val="FFFFFF">
              <a:alpha val="74902"/>
            </a:srgbClr>
          </a:solidFill>
        </p:spPr>
        <p:txBody>
          <a:bodyPr wrap="none" rtlCol="0">
            <a:spAutoFit/>
          </a:bodyPr>
          <a:lstStyle/>
          <a:p>
            <a:r>
              <a:rPr lang="en-US" sz="2400" dirty="0" smtClean="0">
                <a:solidFill>
                  <a:srgbClr val="FF0000"/>
                </a:solidFill>
              </a:rPr>
              <a:t>x</a:t>
            </a:r>
            <a:r>
              <a:rPr lang="en-US" sz="2400" baseline="-25000" dirty="0" smtClean="0">
                <a:solidFill>
                  <a:srgbClr val="FF0000"/>
                </a:solidFill>
              </a:rPr>
              <a:t>2</a:t>
            </a:r>
            <a:endParaRPr lang="en-US" sz="2400" dirty="0">
              <a:solidFill>
                <a:srgbClr val="FF0000"/>
              </a:solidFill>
            </a:endParaRPr>
          </a:p>
        </p:txBody>
      </p:sp>
      <p:sp>
        <p:nvSpPr>
          <p:cNvPr id="14" name="TextBox 13"/>
          <p:cNvSpPr txBox="1"/>
          <p:nvPr/>
        </p:nvSpPr>
        <p:spPr>
          <a:xfrm>
            <a:off x="2094035" y="4250780"/>
            <a:ext cx="452368" cy="461665"/>
          </a:xfrm>
          <a:prstGeom prst="rect">
            <a:avLst/>
          </a:prstGeom>
          <a:solidFill>
            <a:srgbClr val="FFFFFF">
              <a:alpha val="74902"/>
            </a:srgbClr>
          </a:solidFill>
        </p:spPr>
        <p:txBody>
          <a:bodyPr wrap="none" rtlCol="0">
            <a:spAutoFit/>
          </a:bodyPr>
          <a:lstStyle/>
          <a:p>
            <a:r>
              <a:rPr lang="en-US" sz="2400" dirty="0" smtClean="0">
                <a:solidFill>
                  <a:srgbClr val="FF0000"/>
                </a:solidFill>
              </a:rPr>
              <a:t>x</a:t>
            </a:r>
            <a:r>
              <a:rPr lang="en-US" sz="2400" baseline="-25000" dirty="0" smtClean="0">
                <a:solidFill>
                  <a:srgbClr val="FF0000"/>
                </a:solidFill>
              </a:rPr>
              <a:t>3</a:t>
            </a:r>
            <a:endParaRPr lang="en-US" sz="2400" dirty="0">
              <a:solidFill>
                <a:srgbClr val="FF0000"/>
              </a:solidFill>
            </a:endParaRPr>
          </a:p>
        </p:txBody>
      </p:sp>
      <p:sp>
        <p:nvSpPr>
          <p:cNvPr id="15" name="TextBox 14"/>
          <p:cNvSpPr txBox="1"/>
          <p:nvPr/>
        </p:nvSpPr>
        <p:spPr>
          <a:xfrm>
            <a:off x="3127567" y="691275"/>
            <a:ext cx="521297" cy="461665"/>
          </a:xfrm>
          <a:prstGeom prst="rect">
            <a:avLst/>
          </a:prstGeom>
          <a:solidFill>
            <a:srgbClr val="FFFFFF">
              <a:alpha val="74902"/>
            </a:srgbClr>
          </a:solidFill>
        </p:spPr>
        <p:txBody>
          <a:bodyPr wrap="none" rtlCol="0">
            <a:spAutoFit/>
          </a:bodyPr>
          <a:lstStyle/>
          <a:p>
            <a:r>
              <a:rPr lang="en-US" sz="2400" dirty="0" smtClean="0">
                <a:solidFill>
                  <a:srgbClr val="FF0000"/>
                </a:solidFill>
              </a:rPr>
              <a:t>w</a:t>
            </a:r>
            <a:r>
              <a:rPr lang="en-US" sz="2400" baseline="-25000" dirty="0" smtClean="0">
                <a:solidFill>
                  <a:srgbClr val="FF0000"/>
                </a:solidFill>
              </a:rPr>
              <a:t>1</a:t>
            </a:r>
            <a:endParaRPr lang="en-US" sz="2400" dirty="0">
              <a:solidFill>
                <a:srgbClr val="FF0000"/>
              </a:solidFill>
            </a:endParaRPr>
          </a:p>
        </p:txBody>
      </p:sp>
      <p:sp>
        <p:nvSpPr>
          <p:cNvPr id="16" name="TextBox 15"/>
          <p:cNvSpPr txBox="1"/>
          <p:nvPr/>
        </p:nvSpPr>
        <p:spPr>
          <a:xfrm>
            <a:off x="2472758" y="2090867"/>
            <a:ext cx="521297" cy="461665"/>
          </a:xfrm>
          <a:prstGeom prst="rect">
            <a:avLst/>
          </a:prstGeom>
          <a:solidFill>
            <a:srgbClr val="FFFFFF">
              <a:alpha val="74902"/>
            </a:srgbClr>
          </a:solidFill>
        </p:spPr>
        <p:txBody>
          <a:bodyPr wrap="none" rtlCol="0">
            <a:spAutoFit/>
          </a:bodyPr>
          <a:lstStyle/>
          <a:p>
            <a:r>
              <a:rPr lang="en-US" sz="2400" dirty="0" smtClean="0">
                <a:solidFill>
                  <a:srgbClr val="FF0000"/>
                </a:solidFill>
              </a:rPr>
              <a:t>w</a:t>
            </a:r>
            <a:r>
              <a:rPr lang="en-US" sz="2400" baseline="-25000" dirty="0" smtClean="0">
                <a:solidFill>
                  <a:srgbClr val="FF0000"/>
                </a:solidFill>
              </a:rPr>
              <a:t>2</a:t>
            </a:r>
            <a:endParaRPr lang="en-US" sz="2400" dirty="0">
              <a:solidFill>
                <a:srgbClr val="FF0000"/>
              </a:solidFill>
            </a:endParaRPr>
          </a:p>
        </p:txBody>
      </p:sp>
    </p:spTree>
    <p:extLst>
      <p:ext uri="{BB962C8B-B14F-4D97-AF65-F5344CB8AC3E}">
        <p14:creationId xmlns:p14="http://schemas.microsoft.com/office/powerpoint/2010/main" val="11008737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3806386" y="3822086"/>
            <a:ext cx="406623" cy="461665"/>
          </a:xfrm>
          <a:prstGeom prst="rect">
            <a:avLst/>
          </a:prstGeom>
          <a:solidFill>
            <a:srgbClr val="FFFFFF">
              <a:alpha val="74902"/>
            </a:srgbClr>
          </a:solidFill>
        </p:spPr>
        <p:txBody>
          <a:bodyPr wrap="square" rtlCol="0">
            <a:spAutoFit/>
          </a:bodyPr>
          <a:lstStyle/>
          <a:p>
            <a:r>
              <a:rPr lang="en-US" sz="2400" dirty="0">
                <a:solidFill>
                  <a:srgbClr val="FF0000"/>
                </a:solidFill>
              </a:rPr>
              <a:t>b</a:t>
            </a:r>
          </a:p>
        </p:txBody>
      </p:sp>
      <p:sp>
        <p:nvSpPr>
          <p:cNvPr id="17" name="TextBox 16"/>
          <p:cNvSpPr txBox="1"/>
          <p:nvPr/>
        </p:nvSpPr>
        <p:spPr>
          <a:xfrm>
            <a:off x="2722685" y="3495852"/>
            <a:ext cx="521297" cy="461665"/>
          </a:xfrm>
          <a:prstGeom prst="rect">
            <a:avLst/>
          </a:prstGeom>
          <a:solidFill>
            <a:srgbClr val="FFFFFF">
              <a:alpha val="74902"/>
            </a:srgbClr>
          </a:solidFill>
        </p:spPr>
        <p:txBody>
          <a:bodyPr wrap="none" rtlCol="0">
            <a:spAutoFit/>
          </a:bodyPr>
          <a:lstStyle/>
          <a:p>
            <a:r>
              <a:rPr lang="en-US" sz="2400" dirty="0" smtClean="0">
                <a:solidFill>
                  <a:srgbClr val="FF0000"/>
                </a:solidFill>
              </a:rPr>
              <a:t>w</a:t>
            </a:r>
            <a:r>
              <a:rPr lang="en-US" sz="2400" baseline="-25000" dirty="0" smtClean="0">
                <a:solidFill>
                  <a:srgbClr val="FF0000"/>
                </a:solidFill>
              </a:rPr>
              <a:t>3</a:t>
            </a:r>
            <a:endParaRPr lang="en-US" sz="2400" dirty="0">
              <a:solidFill>
                <a:srgbClr val="FF0000"/>
              </a:solidFill>
            </a:endParaRPr>
          </a:p>
        </p:txBody>
      </p:sp>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Basic Neuron Visualization</a:t>
            </a:r>
            <a:endParaRPr lang="en-US" dirty="0">
              <a:latin typeface="Avenir Book" charset="0"/>
              <a:ea typeface="Avenir Book" charset="0"/>
              <a:cs typeface="Avenir Book" charset="0"/>
            </a:endParaRPr>
          </a:p>
        </p:txBody>
      </p:sp>
      <p:cxnSp>
        <p:nvCxnSpPr>
          <p:cNvPr id="73" name="Straight Arrow Connector 72"/>
          <p:cNvCxnSpPr>
            <a:stCxn id="75" idx="6"/>
          </p:cNvCxnSpPr>
          <p:nvPr/>
        </p:nvCxnSpPr>
        <p:spPr>
          <a:xfrm>
            <a:off x="5980235" y="2647218"/>
            <a:ext cx="18288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3579935" y="1447068"/>
            <a:ext cx="2400300" cy="24003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bg1"/>
                </a:solidFill>
              </a:rPr>
              <a:t>activation</a:t>
            </a:r>
          </a:p>
          <a:p>
            <a:pPr algn="ctr"/>
            <a:r>
              <a:rPr lang="en-US" sz="2700" dirty="0">
                <a:solidFill>
                  <a:schemeClr val="bg1"/>
                </a:solidFill>
              </a:rPr>
              <a:t>function</a:t>
            </a:r>
          </a:p>
        </p:txBody>
      </p:sp>
      <p:cxnSp>
        <p:nvCxnSpPr>
          <p:cNvPr id="76" name="Straight Arrow Connector 75"/>
          <p:cNvCxnSpPr>
            <a:endCxn id="75" idx="3"/>
          </p:cNvCxnSpPr>
          <p:nvPr/>
        </p:nvCxnSpPr>
        <p:spPr>
          <a:xfrm flipV="1">
            <a:off x="2722685" y="3495852"/>
            <a:ext cx="1208766" cy="9801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75" idx="2"/>
          </p:cNvCxnSpPr>
          <p:nvPr/>
        </p:nvCxnSpPr>
        <p:spPr>
          <a:xfrm>
            <a:off x="2094035" y="2647218"/>
            <a:ext cx="14859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75" idx="1"/>
          </p:cNvCxnSpPr>
          <p:nvPr/>
        </p:nvCxnSpPr>
        <p:spPr>
          <a:xfrm>
            <a:off x="2665535" y="932718"/>
            <a:ext cx="1265916" cy="8658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67851" y="701885"/>
            <a:ext cx="452368" cy="461665"/>
          </a:xfrm>
          <a:prstGeom prst="rect">
            <a:avLst/>
          </a:prstGeom>
          <a:solidFill>
            <a:srgbClr val="FFFFFF">
              <a:alpha val="74902"/>
            </a:srgbClr>
          </a:solidFill>
        </p:spPr>
        <p:txBody>
          <a:bodyPr wrap="none" rtlCol="0">
            <a:spAutoFit/>
          </a:bodyPr>
          <a:lstStyle/>
          <a:p>
            <a:r>
              <a:rPr lang="en-US" sz="2400" dirty="0" smtClean="0">
                <a:solidFill>
                  <a:srgbClr val="FF0000"/>
                </a:solidFill>
              </a:rPr>
              <a:t>x</a:t>
            </a:r>
            <a:r>
              <a:rPr lang="en-US" sz="2400" baseline="-25000" dirty="0" smtClean="0">
                <a:solidFill>
                  <a:srgbClr val="FF0000"/>
                </a:solidFill>
              </a:rPr>
              <a:t>1</a:t>
            </a:r>
            <a:endParaRPr lang="en-US" sz="2400" dirty="0">
              <a:solidFill>
                <a:srgbClr val="FF0000"/>
              </a:solidFill>
            </a:endParaRPr>
          </a:p>
        </p:txBody>
      </p:sp>
      <p:sp>
        <p:nvSpPr>
          <p:cNvPr id="11" name="TextBox 10"/>
          <p:cNvSpPr txBox="1"/>
          <p:nvPr/>
        </p:nvSpPr>
        <p:spPr>
          <a:xfrm>
            <a:off x="1524951" y="2245499"/>
            <a:ext cx="452368" cy="461665"/>
          </a:xfrm>
          <a:prstGeom prst="rect">
            <a:avLst/>
          </a:prstGeom>
          <a:solidFill>
            <a:srgbClr val="FFFFFF">
              <a:alpha val="74902"/>
            </a:srgbClr>
          </a:solidFill>
        </p:spPr>
        <p:txBody>
          <a:bodyPr wrap="none" rtlCol="0">
            <a:spAutoFit/>
          </a:bodyPr>
          <a:lstStyle/>
          <a:p>
            <a:r>
              <a:rPr lang="en-US" sz="2400" dirty="0" smtClean="0">
                <a:solidFill>
                  <a:srgbClr val="FF0000"/>
                </a:solidFill>
              </a:rPr>
              <a:t>x</a:t>
            </a:r>
            <a:r>
              <a:rPr lang="en-US" sz="2400" baseline="-25000" dirty="0" smtClean="0">
                <a:solidFill>
                  <a:srgbClr val="FF0000"/>
                </a:solidFill>
              </a:rPr>
              <a:t>2</a:t>
            </a:r>
            <a:endParaRPr lang="en-US" sz="2400" dirty="0">
              <a:solidFill>
                <a:srgbClr val="FF0000"/>
              </a:solidFill>
            </a:endParaRPr>
          </a:p>
        </p:txBody>
      </p:sp>
      <p:sp>
        <p:nvSpPr>
          <p:cNvPr id="14" name="TextBox 13"/>
          <p:cNvSpPr txBox="1"/>
          <p:nvPr/>
        </p:nvSpPr>
        <p:spPr>
          <a:xfrm>
            <a:off x="2094035" y="4250780"/>
            <a:ext cx="452368" cy="461665"/>
          </a:xfrm>
          <a:prstGeom prst="rect">
            <a:avLst/>
          </a:prstGeom>
          <a:solidFill>
            <a:srgbClr val="FFFFFF">
              <a:alpha val="74902"/>
            </a:srgbClr>
          </a:solidFill>
        </p:spPr>
        <p:txBody>
          <a:bodyPr wrap="none" rtlCol="0">
            <a:spAutoFit/>
          </a:bodyPr>
          <a:lstStyle/>
          <a:p>
            <a:r>
              <a:rPr lang="en-US" sz="2400" dirty="0" smtClean="0">
                <a:solidFill>
                  <a:srgbClr val="FF0000"/>
                </a:solidFill>
              </a:rPr>
              <a:t>x</a:t>
            </a:r>
            <a:r>
              <a:rPr lang="en-US" sz="2400" baseline="-25000" dirty="0" smtClean="0">
                <a:solidFill>
                  <a:srgbClr val="FF0000"/>
                </a:solidFill>
              </a:rPr>
              <a:t>3</a:t>
            </a:r>
            <a:endParaRPr lang="en-US" sz="2400" dirty="0">
              <a:solidFill>
                <a:srgbClr val="FF0000"/>
              </a:solidFill>
            </a:endParaRPr>
          </a:p>
        </p:txBody>
      </p:sp>
      <p:sp>
        <p:nvSpPr>
          <p:cNvPr id="15" name="TextBox 14"/>
          <p:cNvSpPr txBox="1"/>
          <p:nvPr/>
        </p:nvSpPr>
        <p:spPr>
          <a:xfrm>
            <a:off x="3127567" y="691275"/>
            <a:ext cx="521297" cy="461665"/>
          </a:xfrm>
          <a:prstGeom prst="rect">
            <a:avLst/>
          </a:prstGeom>
          <a:solidFill>
            <a:srgbClr val="FFFFFF">
              <a:alpha val="74902"/>
            </a:srgbClr>
          </a:solidFill>
        </p:spPr>
        <p:txBody>
          <a:bodyPr wrap="none" rtlCol="0">
            <a:spAutoFit/>
          </a:bodyPr>
          <a:lstStyle/>
          <a:p>
            <a:r>
              <a:rPr lang="en-US" sz="2400" dirty="0" smtClean="0">
                <a:solidFill>
                  <a:srgbClr val="FF0000"/>
                </a:solidFill>
              </a:rPr>
              <a:t>w</a:t>
            </a:r>
            <a:r>
              <a:rPr lang="en-US" sz="2400" baseline="-25000" dirty="0" smtClean="0">
                <a:solidFill>
                  <a:srgbClr val="FF0000"/>
                </a:solidFill>
              </a:rPr>
              <a:t>1</a:t>
            </a:r>
            <a:endParaRPr lang="en-US" sz="2400" dirty="0">
              <a:solidFill>
                <a:srgbClr val="FF0000"/>
              </a:solidFill>
            </a:endParaRPr>
          </a:p>
        </p:txBody>
      </p:sp>
      <p:sp>
        <p:nvSpPr>
          <p:cNvPr id="16" name="TextBox 15"/>
          <p:cNvSpPr txBox="1"/>
          <p:nvPr/>
        </p:nvSpPr>
        <p:spPr>
          <a:xfrm>
            <a:off x="2472758" y="2090867"/>
            <a:ext cx="521297" cy="461665"/>
          </a:xfrm>
          <a:prstGeom prst="rect">
            <a:avLst/>
          </a:prstGeom>
          <a:solidFill>
            <a:srgbClr val="FFFFFF">
              <a:alpha val="74902"/>
            </a:srgbClr>
          </a:solidFill>
        </p:spPr>
        <p:txBody>
          <a:bodyPr wrap="none" rtlCol="0">
            <a:spAutoFit/>
          </a:bodyPr>
          <a:lstStyle/>
          <a:p>
            <a:r>
              <a:rPr lang="en-US" sz="2400" dirty="0" smtClean="0">
                <a:solidFill>
                  <a:srgbClr val="FF0000"/>
                </a:solidFill>
              </a:rPr>
              <a:t>w</a:t>
            </a:r>
            <a:r>
              <a:rPr lang="en-US" sz="2400" baseline="-25000" dirty="0" smtClean="0">
                <a:solidFill>
                  <a:srgbClr val="FF0000"/>
                </a:solidFill>
              </a:rPr>
              <a:t>2</a:t>
            </a:r>
            <a:endParaRPr lang="en-US" sz="2400" dirty="0">
              <a:solidFill>
                <a:srgbClr val="FF0000"/>
              </a:solidFill>
            </a:endParaRPr>
          </a:p>
        </p:txBody>
      </p:sp>
      <p:cxnSp>
        <p:nvCxnSpPr>
          <p:cNvPr id="18" name="Straight Arrow Connector 17"/>
          <p:cNvCxnSpPr/>
          <p:nvPr/>
        </p:nvCxnSpPr>
        <p:spPr>
          <a:xfrm flipV="1">
            <a:off x="4107733" y="3871636"/>
            <a:ext cx="428101" cy="490082"/>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634929" y="4308815"/>
            <a:ext cx="402466" cy="461665"/>
          </a:xfrm>
          <a:prstGeom prst="rect">
            <a:avLst/>
          </a:prstGeom>
          <a:solidFill>
            <a:srgbClr val="FFFFFF">
              <a:alpha val="74902"/>
            </a:srgbClr>
          </a:solidFill>
        </p:spPr>
        <p:txBody>
          <a:bodyPr wrap="square" rtlCol="0">
            <a:spAutoFit/>
          </a:bodyPr>
          <a:lstStyle/>
          <a:p>
            <a:r>
              <a:rPr lang="en-US" sz="2400" dirty="0">
                <a:solidFill>
                  <a:srgbClr val="FF0000"/>
                </a:solidFill>
              </a:rPr>
              <a:t>1</a:t>
            </a:r>
          </a:p>
        </p:txBody>
      </p:sp>
    </p:spTree>
    <p:extLst>
      <p:ext uri="{BB962C8B-B14F-4D97-AF65-F5344CB8AC3E}">
        <p14:creationId xmlns:p14="http://schemas.microsoft.com/office/powerpoint/2010/main" val="17253540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3806386" y="3822086"/>
            <a:ext cx="406623" cy="461665"/>
          </a:xfrm>
          <a:prstGeom prst="rect">
            <a:avLst/>
          </a:prstGeom>
          <a:solidFill>
            <a:srgbClr val="FFFFFF">
              <a:alpha val="74902"/>
            </a:srgbClr>
          </a:solidFill>
        </p:spPr>
        <p:txBody>
          <a:bodyPr wrap="square" rtlCol="0">
            <a:spAutoFit/>
          </a:bodyPr>
          <a:lstStyle/>
          <a:p>
            <a:r>
              <a:rPr lang="en-US" sz="2400" dirty="0">
                <a:solidFill>
                  <a:srgbClr val="FF0000"/>
                </a:solidFill>
              </a:rPr>
              <a:t>b</a:t>
            </a:r>
          </a:p>
        </p:txBody>
      </p:sp>
      <p:sp>
        <p:nvSpPr>
          <p:cNvPr id="17" name="TextBox 16"/>
          <p:cNvSpPr txBox="1"/>
          <p:nvPr/>
        </p:nvSpPr>
        <p:spPr>
          <a:xfrm>
            <a:off x="2722685" y="3495852"/>
            <a:ext cx="521297" cy="461665"/>
          </a:xfrm>
          <a:prstGeom prst="rect">
            <a:avLst/>
          </a:prstGeom>
          <a:solidFill>
            <a:srgbClr val="FFFFFF">
              <a:alpha val="74902"/>
            </a:srgbClr>
          </a:solidFill>
        </p:spPr>
        <p:txBody>
          <a:bodyPr wrap="none" rtlCol="0">
            <a:spAutoFit/>
          </a:bodyPr>
          <a:lstStyle/>
          <a:p>
            <a:r>
              <a:rPr lang="en-US" sz="2400" dirty="0" smtClean="0">
                <a:solidFill>
                  <a:srgbClr val="FF0000"/>
                </a:solidFill>
              </a:rPr>
              <a:t>w</a:t>
            </a:r>
            <a:r>
              <a:rPr lang="en-US" sz="2400" baseline="-25000" dirty="0" smtClean="0">
                <a:solidFill>
                  <a:srgbClr val="FF0000"/>
                </a:solidFill>
              </a:rPr>
              <a:t>3</a:t>
            </a:r>
            <a:endParaRPr lang="en-US" sz="2400" dirty="0">
              <a:solidFill>
                <a:srgbClr val="FF0000"/>
              </a:solidFill>
            </a:endParaRPr>
          </a:p>
        </p:txBody>
      </p:sp>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Basic Neuron Visualization</a:t>
            </a:r>
            <a:endParaRPr lang="en-US" dirty="0">
              <a:latin typeface="Avenir Book" charset="0"/>
              <a:ea typeface="Avenir Book" charset="0"/>
              <a:cs typeface="Avenir Book" charset="0"/>
            </a:endParaRPr>
          </a:p>
        </p:txBody>
      </p:sp>
      <p:cxnSp>
        <p:nvCxnSpPr>
          <p:cNvPr id="73" name="Straight Arrow Connector 72"/>
          <p:cNvCxnSpPr>
            <a:stCxn id="75" idx="6"/>
          </p:cNvCxnSpPr>
          <p:nvPr/>
        </p:nvCxnSpPr>
        <p:spPr>
          <a:xfrm>
            <a:off x="5980235" y="2647218"/>
            <a:ext cx="18288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3579935" y="1447068"/>
            <a:ext cx="2400300" cy="24003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bg1"/>
                </a:solidFill>
              </a:rPr>
              <a:t>activation</a:t>
            </a:r>
          </a:p>
          <a:p>
            <a:pPr algn="ctr"/>
            <a:r>
              <a:rPr lang="en-US" sz="2700" dirty="0">
                <a:solidFill>
                  <a:schemeClr val="bg1"/>
                </a:solidFill>
              </a:rPr>
              <a:t>function</a:t>
            </a:r>
          </a:p>
        </p:txBody>
      </p:sp>
      <p:cxnSp>
        <p:nvCxnSpPr>
          <p:cNvPr id="76" name="Straight Arrow Connector 75"/>
          <p:cNvCxnSpPr>
            <a:endCxn id="75" idx="3"/>
          </p:cNvCxnSpPr>
          <p:nvPr/>
        </p:nvCxnSpPr>
        <p:spPr>
          <a:xfrm flipV="1">
            <a:off x="2722685" y="3495852"/>
            <a:ext cx="1208766" cy="9801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75" idx="2"/>
          </p:cNvCxnSpPr>
          <p:nvPr/>
        </p:nvCxnSpPr>
        <p:spPr>
          <a:xfrm>
            <a:off x="2094035" y="2647218"/>
            <a:ext cx="14859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75" idx="1"/>
          </p:cNvCxnSpPr>
          <p:nvPr/>
        </p:nvCxnSpPr>
        <p:spPr>
          <a:xfrm>
            <a:off x="2665535" y="932718"/>
            <a:ext cx="1265916" cy="8658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67851" y="701885"/>
            <a:ext cx="452368" cy="461665"/>
          </a:xfrm>
          <a:prstGeom prst="rect">
            <a:avLst/>
          </a:prstGeom>
          <a:solidFill>
            <a:srgbClr val="FFFFFF">
              <a:alpha val="74902"/>
            </a:srgbClr>
          </a:solidFill>
        </p:spPr>
        <p:txBody>
          <a:bodyPr wrap="none" rtlCol="0">
            <a:spAutoFit/>
          </a:bodyPr>
          <a:lstStyle/>
          <a:p>
            <a:r>
              <a:rPr lang="en-US" sz="2400" dirty="0" smtClean="0">
                <a:solidFill>
                  <a:srgbClr val="FF0000"/>
                </a:solidFill>
              </a:rPr>
              <a:t>x</a:t>
            </a:r>
            <a:r>
              <a:rPr lang="en-US" sz="2400" baseline="-25000" dirty="0" smtClean="0">
                <a:solidFill>
                  <a:srgbClr val="FF0000"/>
                </a:solidFill>
              </a:rPr>
              <a:t>1</a:t>
            </a:r>
            <a:endParaRPr lang="en-US" sz="2400" dirty="0">
              <a:solidFill>
                <a:srgbClr val="FF0000"/>
              </a:solidFill>
            </a:endParaRPr>
          </a:p>
        </p:txBody>
      </p:sp>
      <p:sp>
        <p:nvSpPr>
          <p:cNvPr id="11" name="TextBox 10"/>
          <p:cNvSpPr txBox="1"/>
          <p:nvPr/>
        </p:nvSpPr>
        <p:spPr>
          <a:xfrm>
            <a:off x="1524951" y="2245499"/>
            <a:ext cx="452368" cy="461665"/>
          </a:xfrm>
          <a:prstGeom prst="rect">
            <a:avLst/>
          </a:prstGeom>
          <a:solidFill>
            <a:srgbClr val="FFFFFF">
              <a:alpha val="74902"/>
            </a:srgbClr>
          </a:solidFill>
        </p:spPr>
        <p:txBody>
          <a:bodyPr wrap="none" rtlCol="0">
            <a:spAutoFit/>
          </a:bodyPr>
          <a:lstStyle/>
          <a:p>
            <a:r>
              <a:rPr lang="en-US" sz="2400" dirty="0" smtClean="0">
                <a:solidFill>
                  <a:srgbClr val="FF0000"/>
                </a:solidFill>
              </a:rPr>
              <a:t>x</a:t>
            </a:r>
            <a:r>
              <a:rPr lang="en-US" sz="2400" baseline="-25000" dirty="0" smtClean="0">
                <a:solidFill>
                  <a:srgbClr val="FF0000"/>
                </a:solidFill>
              </a:rPr>
              <a:t>2</a:t>
            </a:r>
            <a:endParaRPr lang="en-US" sz="2400" dirty="0">
              <a:solidFill>
                <a:srgbClr val="FF0000"/>
              </a:solidFill>
            </a:endParaRPr>
          </a:p>
        </p:txBody>
      </p:sp>
      <p:sp>
        <p:nvSpPr>
          <p:cNvPr id="14" name="TextBox 13"/>
          <p:cNvSpPr txBox="1"/>
          <p:nvPr/>
        </p:nvSpPr>
        <p:spPr>
          <a:xfrm>
            <a:off x="2094035" y="4250780"/>
            <a:ext cx="452368" cy="461665"/>
          </a:xfrm>
          <a:prstGeom prst="rect">
            <a:avLst/>
          </a:prstGeom>
          <a:solidFill>
            <a:srgbClr val="FFFFFF">
              <a:alpha val="74902"/>
            </a:srgbClr>
          </a:solidFill>
        </p:spPr>
        <p:txBody>
          <a:bodyPr wrap="none" rtlCol="0">
            <a:spAutoFit/>
          </a:bodyPr>
          <a:lstStyle/>
          <a:p>
            <a:r>
              <a:rPr lang="en-US" sz="2400" dirty="0" smtClean="0">
                <a:solidFill>
                  <a:srgbClr val="FF0000"/>
                </a:solidFill>
              </a:rPr>
              <a:t>x</a:t>
            </a:r>
            <a:r>
              <a:rPr lang="en-US" sz="2400" baseline="-25000" dirty="0" smtClean="0">
                <a:solidFill>
                  <a:srgbClr val="FF0000"/>
                </a:solidFill>
              </a:rPr>
              <a:t>3</a:t>
            </a:r>
            <a:endParaRPr lang="en-US" sz="2400" dirty="0">
              <a:solidFill>
                <a:srgbClr val="FF0000"/>
              </a:solidFill>
            </a:endParaRPr>
          </a:p>
        </p:txBody>
      </p:sp>
      <p:sp>
        <p:nvSpPr>
          <p:cNvPr id="15" name="TextBox 14"/>
          <p:cNvSpPr txBox="1"/>
          <p:nvPr/>
        </p:nvSpPr>
        <p:spPr>
          <a:xfrm>
            <a:off x="3127567" y="691275"/>
            <a:ext cx="521297" cy="461665"/>
          </a:xfrm>
          <a:prstGeom prst="rect">
            <a:avLst/>
          </a:prstGeom>
          <a:solidFill>
            <a:srgbClr val="FFFFFF">
              <a:alpha val="74902"/>
            </a:srgbClr>
          </a:solidFill>
        </p:spPr>
        <p:txBody>
          <a:bodyPr wrap="none" rtlCol="0">
            <a:spAutoFit/>
          </a:bodyPr>
          <a:lstStyle/>
          <a:p>
            <a:r>
              <a:rPr lang="en-US" sz="2400" dirty="0" smtClean="0">
                <a:solidFill>
                  <a:srgbClr val="FF0000"/>
                </a:solidFill>
              </a:rPr>
              <a:t>w</a:t>
            </a:r>
            <a:r>
              <a:rPr lang="en-US" sz="2400" baseline="-25000" dirty="0" smtClean="0">
                <a:solidFill>
                  <a:srgbClr val="FF0000"/>
                </a:solidFill>
              </a:rPr>
              <a:t>1</a:t>
            </a:r>
            <a:endParaRPr lang="en-US" sz="2400" dirty="0">
              <a:solidFill>
                <a:srgbClr val="FF0000"/>
              </a:solidFill>
            </a:endParaRPr>
          </a:p>
        </p:txBody>
      </p:sp>
      <p:sp>
        <p:nvSpPr>
          <p:cNvPr id="16" name="TextBox 15"/>
          <p:cNvSpPr txBox="1"/>
          <p:nvPr/>
        </p:nvSpPr>
        <p:spPr>
          <a:xfrm>
            <a:off x="2472758" y="2090867"/>
            <a:ext cx="521297" cy="461665"/>
          </a:xfrm>
          <a:prstGeom prst="rect">
            <a:avLst/>
          </a:prstGeom>
          <a:solidFill>
            <a:srgbClr val="FFFFFF">
              <a:alpha val="74902"/>
            </a:srgbClr>
          </a:solidFill>
        </p:spPr>
        <p:txBody>
          <a:bodyPr wrap="none" rtlCol="0">
            <a:spAutoFit/>
          </a:bodyPr>
          <a:lstStyle/>
          <a:p>
            <a:r>
              <a:rPr lang="en-US" sz="2400" dirty="0" smtClean="0">
                <a:solidFill>
                  <a:srgbClr val="FF0000"/>
                </a:solidFill>
              </a:rPr>
              <a:t>w</a:t>
            </a:r>
            <a:r>
              <a:rPr lang="en-US" sz="2400" baseline="-25000" dirty="0" smtClean="0">
                <a:solidFill>
                  <a:srgbClr val="FF0000"/>
                </a:solidFill>
              </a:rPr>
              <a:t>2</a:t>
            </a:r>
            <a:endParaRPr lang="en-US" sz="2400" dirty="0">
              <a:solidFill>
                <a:srgbClr val="FF0000"/>
              </a:solidFill>
            </a:endParaRPr>
          </a:p>
        </p:txBody>
      </p:sp>
      <p:cxnSp>
        <p:nvCxnSpPr>
          <p:cNvPr id="18" name="Straight Arrow Connector 17"/>
          <p:cNvCxnSpPr/>
          <p:nvPr/>
        </p:nvCxnSpPr>
        <p:spPr>
          <a:xfrm flipV="1">
            <a:off x="4107733" y="3871636"/>
            <a:ext cx="428101" cy="490082"/>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061455" y="818418"/>
            <a:ext cx="3417953" cy="461665"/>
          </a:xfrm>
          <a:prstGeom prst="rect">
            <a:avLst/>
          </a:prstGeom>
          <a:solidFill>
            <a:srgbClr val="FFFFFF">
              <a:alpha val="74902"/>
            </a:srgbClr>
          </a:solidFill>
        </p:spPr>
        <p:txBody>
          <a:bodyPr wrap="square" rtlCol="0">
            <a:spAutoFit/>
          </a:bodyPr>
          <a:lstStyle/>
          <a:p>
            <a:r>
              <a:rPr lang="en-US" sz="2400" dirty="0" smtClean="0">
                <a:solidFill>
                  <a:srgbClr val="FF0000"/>
                </a:solidFill>
              </a:rPr>
              <a:t>z = x</a:t>
            </a:r>
            <a:r>
              <a:rPr lang="en-US" sz="2400" baseline="-25000" dirty="0" smtClean="0">
                <a:solidFill>
                  <a:srgbClr val="FF0000"/>
                </a:solidFill>
              </a:rPr>
              <a:t>1</a:t>
            </a:r>
            <a:r>
              <a:rPr lang="en-US" sz="2400" dirty="0" smtClean="0">
                <a:solidFill>
                  <a:srgbClr val="FF0000"/>
                </a:solidFill>
              </a:rPr>
              <a:t>w</a:t>
            </a:r>
            <a:r>
              <a:rPr lang="en-US" sz="2400" baseline="-25000" dirty="0" smtClean="0">
                <a:solidFill>
                  <a:srgbClr val="FF0000"/>
                </a:solidFill>
              </a:rPr>
              <a:t>1</a:t>
            </a:r>
            <a:r>
              <a:rPr lang="en-US" sz="2400" smtClean="0">
                <a:solidFill>
                  <a:srgbClr val="FF0000"/>
                </a:solidFill>
              </a:rPr>
              <a:t>+</a:t>
            </a:r>
            <a:r>
              <a:rPr lang="en-US" sz="2400">
                <a:solidFill>
                  <a:srgbClr val="FF0000"/>
                </a:solidFill>
              </a:rPr>
              <a:t> </a:t>
            </a:r>
            <a:r>
              <a:rPr lang="en-US" sz="2400" smtClean="0">
                <a:solidFill>
                  <a:srgbClr val="FF0000"/>
                </a:solidFill>
              </a:rPr>
              <a:t>x</a:t>
            </a:r>
            <a:r>
              <a:rPr lang="en-US" sz="2400" baseline="-25000" smtClean="0">
                <a:solidFill>
                  <a:srgbClr val="FF0000"/>
                </a:solidFill>
              </a:rPr>
              <a:t>2</a:t>
            </a:r>
            <a:r>
              <a:rPr lang="en-US" sz="2400" smtClean="0">
                <a:solidFill>
                  <a:srgbClr val="FF0000"/>
                </a:solidFill>
              </a:rPr>
              <a:t>w</a:t>
            </a:r>
            <a:r>
              <a:rPr lang="en-US" sz="2400" baseline="-25000" smtClean="0">
                <a:solidFill>
                  <a:srgbClr val="FF0000"/>
                </a:solidFill>
              </a:rPr>
              <a:t>2</a:t>
            </a:r>
            <a:r>
              <a:rPr lang="en-US" sz="2400" smtClean="0">
                <a:solidFill>
                  <a:srgbClr val="FF0000"/>
                </a:solidFill>
              </a:rPr>
              <a:t>+ x</a:t>
            </a:r>
            <a:r>
              <a:rPr lang="en-US" sz="2400" baseline="-25000" smtClean="0">
                <a:solidFill>
                  <a:srgbClr val="FF0000"/>
                </a:solidFill>
              </a:rPr>
              <a:t>3</a:t>
            </a:r>
            <a:r>
              <a:rPr lang="en-US" sz="2400" smtClean="0">
                <a:solidFill>
                  <a:srgbClr val="FF0000"/>
                </a:solidFill>
              </a:rPr>
              <a:t>w</a:t>
            </a:r>
            <a:r>
              <a:rPr lang="en-US" sz="2400" baseline="-25000" smtClean="0">
                <a:solidFill>
                  <a:srgbClr val="FF0000"/>
                </a:solidFill>
              </a:rPr>
              <a:t>3</a:t>
            </a:r>
            <a:r>
              <a:rPr lang="en-US" sz="2400" smtClean="0">
                <a:solidFill>
                  <a:srgbClr val="FF0000"/>
                </a:solidFill>
              </a:rPr>
              <a:t>+b</a:t>
            </a:r>
            <a:endParaRPr lang="en-US" sz="2400" dirty="0">
              <a:solidFill>
                <a:srgbClr val="FF0000"/>
              </a:solidFill>
            </a:endParaRPr>
          </a:p>
        </p:txBody>
      </p:sp>
      <p:sp>
        <p:nvSpPr>
          <p:cNvPr id="22" name="TextBox 21"/>
          <p:cNvSpPr txBox="1"/>
          <p:nvPr/>
        </p:nvSpPr>
        <p:spPr>
          <a:xfrm>
            <a:off x="6316188" y="1944856"/>
            <a:ext cx="628698" cy="461665"/>
          </a:xfrm>
          <a:prstGeom prst="rect">
            <a:avLst/>
          </a:prstGeom>
          <a:solidFill>
            <a:srgbClr val="FFFFFF">
              <a:alpha val="74902"/>
            </a:srgbClr>
          </a:solidFill>
        </p:spPr>
        <p:txBody>
          <a:bodyPr wrap="none" rtlCol="0">
            <a:spAutoFit/>
          </a:bodyPr>
          <a:lstStyle/>
          <a:p>
            <a:r>
              <a:rPr lang="en-US" sz="2400" dirty="0" smtClean="0">
                <a:solidFill>
                  <a:srgbClr val="FF0000"/>
                </a:solidFill>
              </a:rPr>
              <a:t>f(z)</a:t>
            </a:r>
            <a:endParaRPr lang="en-US" sz="2400" dirty="0">
              <a:solidFill>
                <a:srgbClr val="FF0000"/>
              </a:solidFill>
            </a:endParaRPr>
          </a:p>
        </p:txBody>
      </p:sp>
      <p:sp>
        <p:nvSpPr>
          <p:cNvPr id="23" name="TextBox 22"/>
          <p:cNvSpPr txBox="1"/>
          <p:nvPr/>
        </p:nvSpPr>
        <p:spPr>
          <a:xfrm>
            <a:off x="3634929" y="4308815"/>
            <a:ext cx="402466" cy="461665"/>
          </a:xfrm>
          <a:prstGeom prst="rect">
            <a:avLst/>
          </a:prstGeom>
          <a:solidFill>
            <a:srgbClr val="FFFFFF">
              <a:alpha val="74902"/>
            </a:srgbClr>
          </a:solidFill>
        </p:spPr>
        <p:txBody>
          <a:bodyPr wrap="square" rtlCol="0">
            <a:spAutoFit/>
          </a:bodyPr>
          <a:lstStyle/>
          <a:p>
            <a:r>
              <a:rPr lang="en-US" sz="2400" dirty="0">
                <a:solidFill>
                  <a:srgbClr val="FF0000"/>
                </a:solidFill>
              </a:rPr>
              <a:t>1</a:t>
            </a:r>
          </a:p>
        </p:txBody>
      </p:sp>
    </p:spTree>
    <p:extLst>
      <p:ext uri="{BB962C8B-B14F-4D97-AF65-F5344CB8AC3E}">
        <p14:creationId xmlns:p14="http://schemas.microsoft.com/office/powerpoint/2010/main" val="9365095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In Vector Notation</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6" name="Rectangle 5"/>
              <p:cNvSpPr/>
              <p:nvPr/>
            </p:nvSpPr>
            <p:spPr>
              <a:xfrm>
                <a:off x="1683726" y="1129320"/>
                <a:ext cx="7460274" cy="2494273"/>
              </a:xfrm>
              <a:prstGeom prst="rect">
                <a:avLst/>
              </a:prstGeom>
            </p:spPr>
            <p:txBody>
              <a:bodyPr wrap="square">
                <a:spAutoFit/>
              </a:bodyPr>
              <a:lstStyle/>
              <a:p>
                <a:pPr marL="457200" marR="0" lvl="0" indent="-457200" defTabSz="914400" eaLnBrk="1" fontAlgn="auto" latinLnBrk="0" hangingPunct="1">
                  <a:lnSpc>
                    <a:spcPct val="150000"/>
                  </a:lnSpc>
                  <a:spcBef>
                    <a:spcPts val="0"/>
                  </a:spcBef>
                  <a:spcAft>
                    <a:spcPts val="0"/>
                  </a:spcAft>
                  <a:buClrTx/>
                  <a:buSzTx/>
                  <a:buFont typeface="Arial" charset="0"/>
                  <a:buNone/>
                  <a:tabLst/>
                  <a:defRPr/>
                </a:pPr>
                <a14:m>
                  <m:oMathPara xmlns:m="http://schemas.openxmlformats.org/officeDocument/2006/math">
                    <m:oMathParaPr>
                      <m:jc m:val="center"/>
                    </m:oMathParaPr>
                    <m:oMath xmlns:m="http://schemas.openxmlformats.org/officeDocument/2006/math">
                      <m:r>
                        <a:rPr lang="en-US" sz="2200" b="0" i="1" smtClean="0">
                          <a:latin typeface="Cambria Math" charset="0"/>
                          <a:ea typeface="Avenir Book" charset="0"/>
                          <a:cs typeface="Avenir Book" charset="0"/>
                        </a:rPr>
                        <m:t>𝑧</m:t>
                      </m:r>
                      <m:r>
                        <a:rPr lang="en-US" sz="2200" b="0" i="1" smtClean="0">
                          <a:latin typeface="Cambria Math" charset="0"/>
                          <a:ea typeface="Avenir Book" charset="0"/>
                          <a:cs typeface="Avenir Book" charset="0"/>
                        </a:rPr>
                        <m:t>=</m:t>
                      </m:r>
                      <m:r>
                        <a:rPr lang="en-US" sz="2200" b="0" i="1" smtClean="0">
                          <a:latin typeface="Cambria Math" charset="0"/>
                          <a:ea typeface="Avenir Book" charset="0"/>
                          <a:cs typeface="Avenir Book" charset="0"/>
                        </a:rPr>
                        <m:t>𝑏</m:t>
                      </m:r>
                      <m:r>
                        <a:rPr lang="en-US" sz="2200" b="0" i="1" smtClean="0">
                          <a:latin typeface="Cambria Math" charset="0"/>
                          <a:ea typeface="Avenir Book" charset="0"/>
                          <a:cs typeface="Avenir Book" charset="0"/>
                        </a:rPr>
                        <m:t>+</m:t>
                      </m:r>
                      <m:nary>
                        <m:naryPr>
                          <m:chr m:val="∑"/>
                          <m:ctrlPr>
                            <a:rPr lang="is-IS" sz="2200" b="0" i="1" smtClean="0">
                              <a:latin typeface="Cambria Math" panose="02040503050406030204" pitchFamily="18" charset="0"/>
                              <a:ea typeface="Avenir Book" charset="0"/>
                              <a:cs typeface="Avenir Book" charset="0"/>
                            </a:rPr>
                          </m:ctrlPr>
                        </m:naryPr>
                        <m:sub>
                          <m:r>
                            <m:rPr>
                              <m:brk m:alnAt="23"/>
                            </m:rPr>
                            <a:rPr lang="en-US" sz="2200" b="0" i="1" smtClean="0">
                              <a:latin typeface="Cambria Math" charset="0"/>
                              <a:ea typeface="Avenir Book" charset="0"/>
                              <a:cs typeface="Avenir Book" charset="0"/>
                            </a:rPr>
                            <m:t>𝑖</m:t>
                          </m:r>
                          <m:r>
                            <a:rPr lang="en-US" sz="2200" b="0" i="1" smtClean="0">
                              <a:latin typeface="Cambria Math" charset="0"/>
                              <a:ea typeface="Avenir Book" charset="0"/>
                              <a:cs typeface="Avenir Book" charset="0"/>
                            </a:rPr>
                            <m:t>=1</m:t>
                          </m:r>
                        </m:sub>
                        <m:sup>
                          <m:r>
                            <a:rPr lang="en-US" sz="2200" b="0" i="1" smtClean="0">
                              <a:latin typeface="Cambria Math" charset="0"/>
                              <a:ea typeface="Avenir Book" charset="0"/>
                              <a:cs typeface="Avenir Book" charset="0"/>
                            </a:rPr>
                            <m:t>𝑚</m:t>
                          </m:r>
                        </m:sup>
                        <m:e>
                          <m:sSub>
                            <m:sSubPr>
                              <m:ctrlPr>
                                <a:rPr lang="en-US" sz="2200" b="0" i="1" smtClean="0">
                                  <a:latin typeface="Cambria Math" panose="02040503050406030204" pitchFamily="18" charset="0"/>
                                  <a:ea typeface="Avenir Book" charset="0"/>
                                  <a:cs typeface="Avenir Book" charset="0"/>
                                </a:rPr>
                              </m:ctrlPr>
                            </m:sSubPr>
                            <m:e>
                              <m:r>
                                <a:rPr lang="en-US" sz="2200" b="0" i="1" smtClean="0">
                                  <a:latin typeface="Cambria Math" charset="0"/>
                                  <a:ea typeface="Avenir Book" charset="0"/>
                                  <a:cs typeface="Avenir Book" charset="0"/>
                                </a:rPr>
                                <m:t>𝑥</m:t>
                              </m:r>
                            </m:e>
                            <m:sub>
                              <m:r>
                                <a:rPr lang="en-US" sz="2200" b="0" i="1" smtClean="0">
                                  <a:latin typeface="Cambria Math" charset="0"/>
                                  <a:ea typeface="Avenir Book" charset="0"/>
                                  <a:cs typeface="Avenir Book" charset="0"/>
                                </a:rPr>
                                <m:t>𝑖</m:t>
                              </m:r>
                            </m:sub>
                          </m:sSub>
                          <m:sSub>
                            <m:sSubPr>
                              <m:ctrlPr>
                                <a:rPr lang="en-US" sz="2200" b="0" i="1" smtClean="0">
                                  <a:latin typeface="Cambria Math" panose="02040503050406030204" pitchFamily="18" charset="0"/>
                                  <a:ea typeface="Avenir Book" charset="0"/>
                                  <a:cs typeface="Avenir Book" charset="0"/>
                                </a:rPr>
                              </m:ctrlPr>
                            </m:sSubPr>
                            <m:e>
                              <m:r>
                                <a:rPr lang="en-US" sz="2200" b="0" i="1" smtClean="0">
                                  <a:latin typeface="Cambria Math" charset="0"/>
                                  <a:ea typeface="Avenir Book" charset="0"/>
                                  <a:cs typeface="Avenir Book" charset="0"/>
                                </a:rPr>
                                <m:t>𝑤</m:t>
                              </m:r>
                            </m:e>
                            <m:sub>
                              <m:r>
                                <a:rPr lang="en-US" sz="2200" b="0" i="1" smtClean="0">
                                  <a:latin typeface="Cambria Math" charset="0"/>
                                  <a:ea typeface="Avenir Book" charset="0"/>
                                  <a:cs typeface="Avenir Book" charset="0"/>
                                </a:rPr>
                                <m:t>𝑖</m:t>
                              </m:r>
                            </m:sub>
                          </m:sSub>
                        </m:e>
                      </m:nary>
                    </m:oMath>
                  </m:oMathPara>
                </a14:m>
                <a:endParaRPr lang="en-US" sz="2200" dirty="0" smtClean="0">
                  <a:latin typeface="Avenir Book" charset="0"/>
                  <a:ea typeface="Avenir Book" charset="0"/>
                  <a:cs typeface="Avenir Book" charset="0"/>
                </a:endParaRPr>
              </a:p>
              <a:p>
                <a:pPr marL="457200" marR="0" lvl="0" indent="-457200" algn="ctr" defTabSz="914400" eaLnBrk="1" fontAlgn="auto" latinLnBrk="0" hangingPunct="1">
                  <a:lnSpc>
                    <a:spcPct val="150000"/>
                  </a:lnSpc>
                  <a:spcBef>
                    <a:spcPts val="0"/>
                  </a:spcBef>
                  <a:spcAft>
                    <a:spcPts val="0"/>
                  </a:spcAft>
                  <a:buClrTx/>
                  <a:buSzTx/>
                  <a:buFont typeface="Arial" charset="0"/>
                  <a:buNone/>
                  <a:tabLst/>
                  <a:defRPr/>
                </a:pPr>
                <a14:m>
                  <m:oMathPara xmlns:m="http://schemas.openxmlformats.org/officeDocument/2006/math">
                    <m:oMathParaPr>
                      <m:jc m:val="center"/>
                    </m:oMathParaPr>
                    <m:oMath xmlns:m="http://schemas.openxmlformats.org/officeDocument/2006/math">
                      <m:r>
                        <a:rPr lang="en-US" sz="2200" b="0" i="1" smtClean="0">
                          <a:latin typeface="Cambria Math" charset="0"/>
                          <a:ea typeface="Avenir Book" charset="0"/>
                          <a:cs typeface="Avenir Book" charset="0"/>
                        </a:rPr>
                        <m:t>𝑧</m:t>
                      </m:r>
                      <m:r>
                        <a:rPr lang="en-US" sz="2200" b="0" i="1" smtClean="0">
                          <a:latin typeface="Cambria Math" charset="0"/>
                          <a:ea typeface="Avenir Book" charset="0"/>
                          <a:cs typeface="Avenir Book" charset="0"/>
                        </a:rPr>
                        <m:t>=</m:t>
                      </m:r>
                      <m:r>
                        <a:rPr lang="en-US" sz="2200" b="0" i="1" smtClean="0">
                          <a:latin typeface="Cambria Math" charset="0"/>
                          <a:ea typeface="Avenir Book" charset="0"/>
                          <a:cs typeface="Avenir Book" charset="0"/>
                        </a:rPr>
                        <m:t>𝑏</m:t>
                      </m:r>
                      <m:r>
                        <a:rPr lang="en-US" sz="2200" b="0" i="1" smtClean="0">
                          <a:latin typeface="Cambria Math" charset="0"/>
                          <a:ea typeface="Avenir Book" charset="0"/>
                          <a:cs typeface="Avenir Book" charset="0"/>
                        </a:rPr>
                        <m:t>+</m:t>
                      </m:r>
                      <m:sSup>
                        <m:sSupPr>
                          <m:ctrlPr>
                            <a:rPr lang="en-US" sz="2200" b="0" i="1" smtClean="0">
                              <a:latin typeface="Cambria Math" panose="02040503050406030204" pitchFamily="18" charset="0"/>
                              <a:ea typeface="Avenir Book" charset="0"/>
                              <a:cs typeface="Avenir Book" charset="0"/>
                            </a:rPr>
                          </m:ctrlPr>
                        </m:sSupPr>
                        <m:e>
                          <m:r>
                            <a:rPr lang="en-US" sz="2200" b="0" i="1" smtClean="0">
                              <a:latin typeface="Cambria Math" charset="0"/>
                              <a:ea typeface="Avenir Book" charset="0"/>
                              <a:cs typeface="Avenir Book" charset="0"/>
                            </a:rPr>
                            <m:t>𝑥</m:t>
                          </m:r>
                        </m:e>
                        <m:sup>
                          <m:r>
                            <a:rPr lang="en-US" sz="2200" b="0" i="1" smtClean="0">
                              <a:latin typeface="Cambria Math" charset="0"/>
                              <a:ea typeface="Avenir Book" charset="0"/>
                              <a:cs typeface="Avenir Book" charset="0"/>
                            </a:rPr>
                            <m:t>𝑇</m:t>
                          </m:r>
                        </m:sup>
                      </m:sSup>
                      <m:r>
                        <a:rPr lang="en-US" sz="2200" b="0" i="1" smtClean="0">
                          <a:latin typeface="Cambria Math" charset="0"/>
                          <a:ea typeface="Avenir Book" charset="0"/>
                          <a:cs typeface="Avenir Book" charset="0"/>
                        </a:rPr>
                        <m:t>𝑤</m:t>
                      </m:r>
                    </m:oMath>
                  </m:oMathPara>
                </a14:m>
                <a:endParaRPr lang="en-US" sz="2200" b="0" dirty="0" smtClean="0">
                  <a:latin typeface="Avenir Book" charset="0"/>
                  <a:ea typeface="Avenir Book" charset="0"/>
                  <a:cs typeface="Avenir Book" charset="0"/>
                </a:endParaRPr>
              </a:p>
              <a:p>
                <a:pPr marL="457200" marR="0" lvl="0" indent="-457200" algn="ctr" defTabSz="914400" eaLnBrk="1" fontAlgn="auto" latinLnBrk="0" hangingPunct="1">
                  <a:lnSpc>
                    <a:spcPct val="150000"/>
                  </a:lnSpc>
                  <a:spcBef>
                    <a:spcPts val="0"/>
                  </a:spcBef>
                  <a:spcAft>
                    <a:spcPts val="0"/>
                  </a:spcAft>
                  <a:buClrTx/>
                  <a:buSzTx/>
                  <a:buFont typeface="Arial" charset="0"/>
                  <a:buNone/>
                  <a:tabLst/>
                  <a:defRPr/>
                </a:pPr>
                <a14:m>
                  <m:oMathPara xmlns:m="http://schemas.openxmlformats.org/officeDocument/2006/math">
                    <m:oMathParaPr>
                      <m:jc m:val="center"/>
                    </m:oMathParaPr>
                    <m:oMath xmlns:m="http://schemas.openxmlformats.org/officeDocument/2006/math">
                      <m:r>
                        <a:rPr lang="en-US" sz="2200" b="0" i="1" smtClean="0">
                          <a:latin typeface="Cambria Math" charset="0"/>
                          <a:ea typeface="Avenir Book" charset="0"/>
                          <a:cs typeface="Avenir Book" charset="0"/>
                        </a:rPr>
                        <m:t>𝑎</m:t>
                      </m:r>
                      <m:r>
                        <a:rPr lang="en-US" sz="2200" b="0" i="1" smtClean="0">
                          <a:latin typeface="Cambria Math" charset="0"/>
                          <a:ea typeface="Avenir Book" charset="0"/>
                          <a:cs typeface="Avenir Book" charset="0"/>
                        </a:rPr>
                        <m:t>=</m:t>
                      </m:r>
                      <m:r>
                        <a:rPr lang="en-US" sz="2200" b="0" i="1" smtClean="0">
                          <a:latin typeface="Cambria Math" charset="0"/>
                          <a:ea typeface="Avenir Book" charset="0"/>
                          <a:cs typeface="Avenir Book" charset="0"/>
                        </a:rPr>
                        <m:t>𝑓</m:t>
                      </m:r>
                      <m:r>
                        <a:rPr lang="en-US" sz="2200" b="0" i="1" smtClean="0">
                          <a:latin typeface="Cambria Math" charset="0"/>
                          <a:ea typeface="Avenir Book" charset="0"/>
                          <a:cs typeface="Avenir Book" charset="0"/>
                        </a:rPr>
                        <m:t>(</m:t>
                      </m:r>
                      <m:r>
                        <a:rPr lang="en-US" sz="2200" b="0" i="1" smtClean="0">
                          <a:latin typeface="Cambria Math" charset="0"/>
                          <a:ea typeface="Avenir Book" charset="0"/>
                          <a:cs typeface="Avenir Book" charset="0"/>
                        </a:rPr>
                        <m:t>𝑧</m:t>
                      </m:r>
                      <m:r>
                        <a:rPr lang="en-US" sz="2200" b="0" i="1" smtClean="0">
                          <a:latin typeface="Cambria Math" charset="0"/>
                          <a:ea typeface="Avenir Book" charset="0"/>
                          <a:cs typeface="Avenir Book" charset="0"/>
                        </a:rPr>
                        <m:t>)</m:t>
                      </m:r>
                    </m:oMath>
                  </m:oMathPara>
                </a14:m>
                <a:endParaRPr lang="en-US" sz="2200" dirty="0" smtClean="0">
                  <a:latin typeface="Avenir Book" charset="0"/>
                  <a:ea typeface="Avenir Book" charset="0"/>
                  <a:cs typeface="Avenir Book"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1683726" y="1129320"/>
                <a:ext cx="7460274" cy="2494273"/>
              </a:xfrm>
              <a:prstGeom prst="rect">
                <a:avLst/>
              </a:prstGeom>
              <a:blipFill rotWithShape="0">
                <a:blip r:embed="rId3"/>
                <a:stretch>
                  <a:fillRect/>
                </a:stretch>
              </a:blipFill>
            </p:spPr>
            <p:txBody>
              <a:bodyPr/>
              <a:lstStyle/>
              <a:p>
                <a:r>
                  <a:rPr lang="en-US">
                    <a:noFill/>
                  </a:rPr>
                  <a:t> </a:t>
                </a:r>
              </a:p>
            </p:txBody>
          </p:sp>
        </mc:Fallback>
      </mc:AlternateContent>
      <p:sp>
        <p:nvSpPr>
          <p:cNvPr id="8" name="Rectangle 7"/>
          <p:cNvSpPr/>
          <p:nvPr/>
        </p:nvSpPr>
        <p:spPr>
          <a:xfrm>
            <a:off x="594699" y="1499935"/>
            <a:ext cx="7460274" cy="2123658"/>
          </a:xfrm>
          <a:prstGeom prst="rect">
            <a:avLst/>
          </a:prstGeom>
        </p:spPr>
        <p:txBody>
          <a:bodyPr wrap="square">
            <a:spAutoFit/>
          </a:bodyPr>
          <a:lstStyle/>
          <a:p>
            <a:pPr marL="457200" marR="0" lvl="0" indent="-457200" defTabSz="914400" eaLnBrk="1" fontAlgn="auto" latinLnBrk="0" hangingPunct="1">
              <a:lnSpc>
                <a:spcPct val="150000"/>
              </a:lnSpc>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z = “net input”</a:t>
            </a:r>
          </a:p>
          <a:p>
            <a:pPr marL="457200" marR="0" lvl="0" indent="-457200" defTabSz="914400" eaLnBrk="1" fontAlgn="auto" latinLnBrk="0" hangingPunct="1">
              <a:lnSpc>
                <a:spcPct val="150000"/>
              </a:lnSpc>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b = “bias term”</a:t>
            </a:r>
          </a:p>
          <a:p>
            <a:pPr marL="457200" marR="0" lvl="0" indent="-457200" defTabSz="914400" eaLnBrk="1" fontAlgn="auto" latinLnBrk="0" hangingPunct="1">
              <a:lnSpc>
                <a:spcPct val="150000"/>
              </a:lnSpc>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f = activation function</a:t>
            </a:r>
          </a:p>
          <a:p>
            <a:pPr marL="457200" marR="0" lvl="0" indent="-457200" defTabSz="914400" eaLnBrk="1" fontAlgn="auto" latinLnBrk="0" hangingPunct="1">
              <a:lnSpc>
                <a:spcPct val="150000"/>
              </a:lnSpc>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a = output to next layer</a:t>
            </a:r>
          </a:p>
        </p:txBody>
      </p:sp>
    </p:spTree>
    <p:extLst>
      <p:ext uri="{BB962C8B-B14F-4D97-AF65-F5344CB8AC3E}">
        <p14:creationId xmlns:p14="http://schemas.microsoft.com/office/powerpoint/2010/main" val="15648136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Relation to Logistic Regression</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8" name="Rectangle 7"/>
              <p:cNvSpPr/>
              <p:nvPr/>
            </p:nvSpPr>
            <p:spPr>
              <a:xfrm>
                <a:off x="582976" y="855165"/>
                <a:ext cx="7460274" cy="3722045"/>
              </a:xfrm>
              <a:prstGeom prst="rect">
                <a:avLst/>
              </a:prstGeom>
            </p:spPr>
            <p:txBody>
              <a:bodyPr wrap="square">
                <a:spAutoFit/>
              </a:bodyPr>
              <a:lstStyle/>
              <a:p>
                <a:pPr marL="457200" marR="0" lvl="0" indent="-457200" defTabSz="914400" eaLnBrk="1" fontAlgn="auto" latinLnBrk="0" hangingPunct="1">
                  <a:lnSpc>
                    <a:spcPct val="150000"/>
                  </a:lnSpc>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When we choose:	   </a:t>
                </a:r>
                <a14:m>
                  <m:oMath xmlns:m="http://schemas.openxmlformats.org/officeDocument/2006/math">
                    <m:r>
                      <a:rPr lang="en-US" sz="2200" b="0" i="1" smtClean="0">
                        <a:latin typeface="Cambria Math" charset="0"/>
                        <a:ea typeface="Avenir Book" charset="0"/>
                        <a:cs typeface="Avenir Book" charset="0"/>
                      </a:rPr>
                      <m:t>𝑓</m:t>
                    </m:r>
                    <m:d>
                      <m:dPr>
                        <m:ctrlPr>
                          <a:rPr lang="en-US" sz="2200" b="0" i="1" smtClean="0">
                            <a:latin typeface="Cambria Math" panose="02040503050406030204" pitchFamily="18" charset="0"/>
                            <a:ea typeface="Avenir Book" charset="0"/>
                            <a:cs typeface="Avenir Book" charset="0"/>
                          </a:rPr>
                        </m:ctrlPr>
                      </m:dPr>
                      <m:e>
                        <m:r>
                          <a:rPr lang="en-US" sz="2200" b="0" i="1" smtClean="0">
                            <a:latin typeface="Cambria Math" charset="0"/>
                            <a:ea typeface="Avenir Book" charset="0"/>
                            <a:cs typeface="Avenir Book" charset="0"/>
                          </a:rPr>
                          <m:t>𝑧</m:t>
                        </m:r>
                      </m:e>
                    </m:d>
                    <m:r>
                      <a:rPr lang="en-US" sz="2200" b="0" i="1" smtClean="0">
                        <a:latin typeface="Cambria Math" charset="0"/>
                        <a:ea typeface="Avenir Book" charset="0"/>
                        <a:cs typeface="Avenir Book" charset="0"/>
                      </a:rPr>
                      <m:t>= </m:t>
                    </m:r>
                    <m:f>
                      <m:fPr>
                        <m:ctrlPr>
                          <a:rPr lang="bg-BG" sz="2200" b="0" i="1" smtClean="0">
                            <a:latin typeface="Cambria Math" panose="02040503050406030204" pitchFamily="18" charset="0"/>
                            <a:ea typeface="Avenir Book" charset="0"/>
                            <a:cs typeface="Avenir Book" charset="0"/>
                          </a:rPr>
                        </m:ctrlPr>
                      </m:fPr>
                      <m:num>
                        <m:r>
                          <a:rPr lang="en-US" sz="2200" b="0" i="1" smtClean="0">
                            <a:latin typeface="Cambria Math" charset="0"/>
                            <a:ea typeface="Avenir Book" charset="0"/>
                            <a:cs typeface="Avenir Book" charset="0"/>
                          </a:rPr>
                          <m:t>1</m:t>
                        </m:r>
                      </m:num>
                      <m:den>
                        <m:r>
                          <a:rPr lang="en-US" sz="2200" b="0" i="1" smtClean="0">
                            <a:latin typeface="Cambria Math" charset="0"/>
                            <a:ea typeface="Avenir Book" charset="0"/>
                            <a:cs typeface="Avenir Book" charset="0"/>
                          </a:rPr>
                          <m:t>1+</m:t>
                        </m:r>
                        <m:sSup>
                          <m:sSupPr>
                            <m:ctrlPr>
                              <a:rPr lang="en-US" sz="2200" b="0" i="1" smtClean="0">
                                <a:latin typeface="Cambria Math" panose="02040503050406030204" pitchFamily="18" charset="0"/>
                                <a:ea typeface="Avenir Book" charset="0"/>
                                <a:cs typeface="Avenir Book" charset="0"/>
                              </a:rPr>
                            </m:ctrlPr>
                          </m:sSupPr>
                          <m:e>
                            <m:r>
                              <a:rPr lang="en-US" sz="2200" b="0" i="1" smtClean="0">
                                <a:latin typeface="Cambria Math" charset="0"/>
                                <a:ea typeface="Avenir Book" charset="0"/>
                                <a:cs typeface="Avenir Book" charset="0"/>
                              </a:rPr>
                              <m:t>𝑒</m:t>
                            </m:r>
                          </m:e>
                          <m:sup>
                            <m:r>
                              <a:rPr lang="en-US" sz="2200" b="0" i="1" smtClean="0">
                                <a:latin typeface="Cambria Math" charset="0"/>
                                <a:ea typeface="Avenir Book" charset="0"/>
                                <a:cs typeface="Avenir Book" charset="0"/>
                              </a:rPr>
                              <m:t>−</m:t>
                            </m:r>
                            <m:r>
                              <a:rPr lang="en-US" sz="2200" b="0" i="1" smtClean="0">
                                <a:latin typeface="Cambria Math" charset="0"/>
                                <a:ea typeface="Avenir Book" charset="0"/>
                                <a:cs typeface="Avenir Book" charset="0"/>
                              </a:rPr>
                              <m:t>𝑧</m:t>
                            </m:r>
                          </m:sup>
                        </m:sSup>
                      </m:den>
                    </m:f>
                  </m:oMath>
                </a14:m>
                <a:r>
                  <a:rPr lang="en-US" sz="2200" dirty="0" smtClean="0">
                    <a:latin typeface="Avenir Book" charset="0"/>
                    <a:ea typeface="Avenir Book" charset="0"/>
                    <a:cs typeface="Avenir Book" charset="0"/>
                  </a:rPr>
                  <a:t>		</a:t>
                </a:r>
              </a:p>
              <a:p>
                <a:pPr marL="457200" lvl="0" indent="-457200">
                  <a:lnSpc>
                    <a:spcPct val="150000"/>
                  </a:lnSpc>
                </a:pPr>
                <a14:m>
                  <m:oMathPara xmlns:m="http://schemas.openxmlformats.org/officeDocument/2006/math">
                    <m:oMathParaPr>
                      <m:jc m:val="centerGroup"/>
                    </m:oMathParaPr>
                    <m:oMath xmlns:m="http://schemas.openxmlformats.org/officeDocument/2006/math">
                      <m:r>
                        <a:rPr lang="en-US" sz="2200" i="1">
                          <a:latin typeface="Cambria Math" charset="0"/>
                          <a:ea typeface="Avenir Book" charset="0"/>
                          <a:cs typeface="Avenir Book" charset="0"/>
                        </a:rPr>
                        <m:t>𝑧</m:t>
                      </m:r>
                      <m:r>
                        <a:rPr lang="en-US" sz="2200" i="1">
                          <a:latin typeface="Cambria Math" charset="0"/>
                          <a:ea typeface="Avenir Book" charset="0"/>
                          <a:cs typeface="Avenir Book" charset="0"/>
                        </a:rPr>
                        <m:t>=</m:t>
                      </m:r>
                      <m:r>
                        <a:rPr lang="en-US" sz="2200" i="1">
                          <a:latin typeface="Cambria Math" charset="0"/>
                          <a:ea typeface="Avenir Book" charset="0"/>
                          <a:cs typeface="Avenir Book" charset="0"/>
                        </a:rPr>
                        <m:t>𝑏</m:t>
                      </m:r>
                      <m:r>
                        <a:rPr lang="en-US" sz="2200" i="1">
                          <a:latin typeface="Cambria Math" charset="0"/>
                          <a:ea typeface="Avenir Book" charset="0"/>
                          <a:cs typeface="Avenir Book" charset="0"/>
                        </a:rPr>
                        <m:t>+</m:t>
                      </m:r>
                      <m:nary>
                        <m:naryPr>
                          <m:chr m:val="∑"/>
                          <m:ctrlPr>
                            <a:rPr lang="is-IS" sz="2200" i="1">
                              <a:latin typeface="Cambria Math" panose="02040503050406030204" pitchFamily="18" charset="0"/>
                              <a:ea typeface="Avenir Book" charset="0"/>
                              <a:cs typeface="Avenir Book" charset="0"/>
                            </a:rPr>
                          </m:ctrlPr>
                        </m:naryPr>
                        <m:sub>
                          <m:r>
                            <m:rPr>
                              <m:brk m:alnAt="23"/>
                            </m:rPr>
                            <a:rPr lang="en-US" sz="2200" i="1">
                              <a:latin typeface="Cambria Math" charset="0"/>
                              <a:ea typeface="Avenir Book" charset="0"/>
                              <a:cs typeface="Avenir Book" charset="0"/>
                            </a:rPr>
                            <m:t>𝑖</m:t>
                          </m:r>
                          <m:r>
                            <a:rPr lang="en-US" sz="2200" i="1">
                              <a:latin typeface="Cambria Math" charset="0"/>
                              <a:ea typeface="Avenir Book" charset="0"/>
                              <a:cs typeface="Avenir Book" charset="0"/>
                            </a:rPr>
                            <m:t>=1</m:t>
                          </m:r>
                        </m:sub>
                        <m:sup>
                          <m:r>
                            <a:rPr lang="en-US" sz="2200" i="1">
                              <a:latin typeface="Cambria Math" charset="0"/>
                              <a:ea typeface="Avenir Book" charset="0"/>
                              <a:cs typeface="Avenir Book" charset="0"/>
                            </a:rPr>
                            <m:t>𝑚</m:t>
                          </m:r>
                        </m:sup>
                        <m:e>
                          <m:sSub>
                            <m:sSubPr>
                              <m:ctrlPr>
                                <a:rPr lang="en-US" sz="2200" i="1">
                                  <a:latin typeface="Cambria Math" panose="02040503050406030204" pitchFamily="18" charset="0"/>
                                  <a:ea typeface="Avenir Book" charset="0"/>
                                  <a:cs typeface="Avenir Book" charset="0"/>
                                </a:rPr>
                              </m:ctrlPr>
                            </m:sSubPr>
                            <m:e>
                              <m:r>
                                <a:rPr lang="en-US" sz="2200" i="1" smtClean="0">
                                  <a:latin typeface="Cambria Math" charset="0"/>
                                  <a:ea typeface="Avenir Book" charset="0"/>
                                  <a:cs typeface="Avenir Book" charset="0"/>
                                </a:rPr>
                                <m:t>𝑥</m:t>
                              </m:r>
                            </m:e>
                            <m:sub>
                              <m:r>
                                <a:rPr lang="en-US" sz="2200" i="1">
                                  <a:latin typeface="Cambria Math" charset="0"/>
                                  <a:ea typeface="Avenir Book" charset="0"/>
                                  <a:cs typeface="Avenir Book" charset="0"/>
                                </a:rPr>
                                <m:t>𝑖</m:t>
                              </m:r>
                            </m:sub>
                          </m:sSub>
                          <m:sSub>
                            <m:sSubPr>
                              <m:ctrlPr>
                                <a:rPr lang="en-US" sz="2200" i="1">
                                  <a:latin typeface="Cambria Math" panose="02040503050406030204" pitchFamily="18" charset="0"/>
                                  <a:ea typeface="Avenir Book" charset="0"/>
                                  <a:cs typeface="Avenir Book" charset="0"/>
                                </a:rPr>
                              </m:ctrlPr>
                            </m:sSubPr>
                            <m:e>
                              <m:r>
                                <a:rPr lang="en-US" sz="2200" i="1">
                                  <a:latin typeface="Cambria Math" charset="0"/>
                                  <a:ea typeface="Avenir Book" charset="0"/>
                                  <a:cs typeface="Avenir Book" charset="0"/>
                                </a:rPr>
                                <m:t>𝑤</m:t>
                              </m:r>
                            </m:e>
                            <m:sub>
                              <m:r>
                                <a:rPr lang="en-US" sz="2200" i="1">
                                  <a:latin typeface="Cambria Math" charset="0"/>
                                  <a:ea typeface="Avenir Book" charset="0"/>
                                  <a:cs typeface="Avenir Book" charset="0"/>
                                </a:rPr>
                                <m:t>𝑖</m:t>
                              </m:r>
                            </m:sub>
                          </m:sSub>
                          <m:r>
                            <a:rPr lang="en-US" sz="2200" b="0" i="1" smtClean="0">
                              <a:latin typeface="Cambria Math" charset="0"/>
                              <a:ea typeface="Avenir Book" charset="0"/>
                              <a:cs typeface="Avenir Book" charset="0"/>
                            </a:rPr>
                            <m:t>=</m:t>
                          </m:r>
                          <m:sSub>
                            <m:sSubPr>
                              <m:ctrlPr>
                                <a:rPr lang="en-US" sz="2200" i="1">
                                  <a:latin typeface="Cambria Math" panose="02040503050406030204" pitchFamily="18" charset="0"/>
                                  <a:ea typeface="Avenir Book" charset="0"/>
                                  <a:cs typeface="Avenir Book" charset="0"/>
                                </a:rPr>
                              </m:ctrlPr>
                            </m:sSubPr>
                            <m:e>
                              <m:r>
                                <a:rPr lang="en-US" sz="2200" i="1">
                                  <a:latin typeface="Cambria Math" charset="0"/>
                                  <a:ea typeface="Avenir Book" charset="0"/>
                                  <a:cs typeface="Avenir Book" charset="0"/>
                                </a:rPr>
                                <m:t>𝑥</m:t>
                              </m:r>
                            </m:e>
                            <m:sub>
                              <m:r>
                                <a:rPr lang="en-US" sz="2200" b="0" i="1" smtClean="0">
                                  <a:latin typeface="Cambria Math" charset="0"/>
                                  <a:ea typeface="Avenir Book" charset="0"/>
                                  <a:cs typeface="Avenir Book" charset="0"/>
                                </a:rPr>
                                <m:t>1</m:t>
                              </m:r>
                            </m:sub>
                          </m:sSub>
                          <m:sSub>
                            <m:sSubPr>
                              <m:ctrlPr>
                                <a:rPr lang="en-US" sz="2200" i="1" smtClean="0">
                                  <a:latin typeface="Cambria Math" panose="02040503050406030204" pitchFamily="18" charset="0"/>
                                  <a:ea typeface="Avenir Book" charset="0"/>
                                  <a:cs typeface="Avenir Book" charset="0"/>
                                </a:rPr>
                              </m:ctrlPr>
                            </m:sSubPr>
                            <m:e>
                              <m:r>
                                <a:rPr lang="en-US" sz="2200" i="1">
                                  <a:latin typeface="Cambria Math" charset="0"/>
                                  <a:ea typeface="Avenir Book" charset="0"/>
                                  <a:cs typeface="Avenir Book" charset="0"/>
                                </a:rPr>
                                <m:t>𝑤</m:t>
                              </m:r>
                            </m:e>
                            <m:sub>
                              <m:r>
                                <a:rPr lang="en-US" sz="2200" b="0" i="1" smtClean="0">
                                  <a:latin typeface="Cambria Math" charset="0"/>
                                  <a:ea typeface="Avenir Book" charset="0"/>
                                  <a:cs typeface="Avenir Book" charset="0"/>
                                </a:rPr>
                                <m:t>1</m:t>
                              </m:r>
                            </m:sub>
                          </m:sSub>
                          <m:r>
                            <a:rPr lang="en-US" sz="2200" b="0" i="1" smtClean="0">
                              <a:latin typeface="Cambria Math" charset="0"/>
                              <a:ea typeface="Avenir Book" charset="0"/>
                              <a:cs typeface="Avenir Book" charset="0"/>
                            </a:rPr>
                            <m:t>+</m:t>
                          </m:r>
                          <m:sSub>
                            <m:sSubPr>
                              <m:ctrlPr>
                                <a:rPr lang="en-US" sz="2200" i="1">
                                  <a:latin typeface="Cambria Math" panose="02040503050406030204" pitchFamily="18" charset="0"/>
                                  <a:ea typeface="Avenir Book" charset="0"/>
                                  <a:cs typeface="Avenir Book" charset="0"/>
                                </a:rPr>
                              </m:ctrlPr>
                            </m:sSubPr>
                            <m:e>
                              <m:r>
                                <a:rPr lang="en-US" sz="2200" i="1">
                                  <a:latin typeface="Cambria Math" charset="0"/>
                                  <a:ea typeface="Avenir Book" charset="0"/>
                                  <a:cs typeface="Avenir Book" charset="0"/>
                                </a:rPr>
                                <m:t>𝑥</m:t>
                              </m:r>
                            </m:e>
                            <m:sub>
                              <m:r>
                                <a:rPr lang="en-US" sz="2200" b="0" i="1" smtClean="0">
                                  <a:latin typeface="Cambria Math" charset="0"/>
                                  <a:ea typeface="Avenir Book" charset="0"/>
                                  <a:cs typeface="Avenir Book" charset="0"/>
                                </a:rPr>
                                <m:t>2</m:t>
                              </m:r>
                            </m:sub>
                          </m:sSub>
                          <m:sSub>
                            <m:sSubPr>
                              <m:ctrlPr>
                                <a:rPr lang="en-US" sz="2200" i="1">
                                  <a:latin typeface="Cambria Math" panose="02040503050406030204" pitchFamily="18" charset="0"/>
                                  <a:ea typeface="Avenir Book" charset="0"/>
                                  <a:cs typeface="Avenir Book" charset="0"/>
                                </a:rPr>
                              </m:ctrlPr>
                            </m:sSubPr>
                            <m:e>
                              <m:r>
                                <a:rPr lang="en-US" sz="2200" i="1">
                                  <a:latin typeface="Cambria Math" charset="0"/>
                                  <a:ea typeface="Avenir Book" charset="0"/>
                                  <a:cs typeface="Avenir Book" charset="0"/>
                                </a:rPr>
                                <m:t>𝑤</m:t>
                              </m:r>
                            </m:e>
                            <m:sub>
                              <m:r>
                                <a:rPr lang="en-US" sz="2200" b="0" i="1" smtClean="0">
                                  <a:latin typeface="Cambria Math" charset="0"/>
                                  <a:ea typeface="Avenir Book" charset="0"/>
                                  <a:cs typeface="Avenir Book" charset="0"/>
                                </a:rPr>
                                <m:t>2</m:t>
                              </m:r>
                            </m:sub>
                          </m:sSub>
                          <m:r>
                            <a:rPr lang="en-US" sz="2200" b="0" i="1" smtClean="0">
                              <a:latin typeface="Cambria Math" charset="0"/>
                              <a:ea typeface="Avenir Book" charset="0"/>
                              <a:cs typeface="Avenir Book" charset="0"/>
                            </a:rPr>
                            <m:t>+…+</m:t>
                          </m:r>
                          <m:sSub>
                            <m:sSubPr>
                              <m:ctrlPr>
                                <a:rPr lang="en-US" sz="2200" i="1">
                                  <a:latin typeface="Cambria Math" panose="02040503050406030204" pitchFamily="18" charset="0"/>
                                  <a:ea typeface="Avenir Book" charset="0"/>
                                  <a:cs typeface="Avenir Book" charset="0"/>
                                </a:rPr>
                              </m:ctrlPr>
                            </m:sSubPr>
                            <m:e>
                              <m:r>
                                <a:rPr lang="en-US" sz="2200" i="1">
                                  <a:latin typeface="Cambria Math" charset="0"/>
                                  <a:ea typeface="Avenir Book" charset="0"/>
                                  <a:cs typeface="Avenir Book" charset="0"/>
                                </a:rPr>
                                <m:t>𝑥</m:t>
                              </m:r>
                            </m:e>
                            <m:sub>
                              <m:r>
                                <a:rPr lang="en-US" sz="2200" b="0" i="1" smtClean="0">
                                  <a:latin typeface="Cambria Math" charset="0"/>
                                  <a:ea typeface="Avenir Book" charset="0"/>
                                  <a:cs typeface="Avenir Book" charset="0"/>
                                </a:rPr>
                                <m:t>𝑚</m:t>
                              </m:r>
                            </m:sub>
                          </m:sSub>
                          <m:sSub>
                            <m:sSubPr>
                              <m:ctrlPr>
                                <a:rPr lang="en-US" sz="2200" i="1">
                                  <a:latin typeface="Cambria Math" panose="02040503050406030204" pitchFamily="18" charset="0"/>
                                  <a:ea typeface="Avenir Book" charset="0"/>
                                  <a:cs typeface="Avenir Book" charset="0"/>
                                </a:rPr>
                              </m:ctrlPr>
                            </m:sSubPr>
                            <m:e>
                              <m:r>
                                <a:rPr lang="en-US" sz="2200" i="1">
                                  <a:latin typeface="Cambria Math" charset="0"/>
                                  <a:ea typeface="Avenir Book" charset="0"/>
                                  <a:cs typeface="Avenir Book" charset="0"/>
                                </a:rPr>
                                <m:t>𝑤</m:t>
                              </m:r>
                            </m:e>
                            <m:sub>
                              <m:r>
                                <a:rPr lang="en-US" sz="2200" b="0" i="1" smtClean="0">
                                  <a:latin typeface="Cambria Math" charset="0"/>
                                  <a:ea typeface="Avenir Book" charset="0"/>
                                  <a:cs typeface="Avenir Book" charset="0"/>
                                </a:rPr>
                                <m:t>𝑚</m:t>
                              </m:r>
                            </m:sub>
                          </m:sSub>
                          <m:r>
                            <a:rPr lang="en-US" sz="2200" b="0" i="1" smtClean="0">
                              <a:latin typeface="Cambria Math" charset="0"/>
                              <a:ea typeface="Avenir Book" charset="0"/>
                              <a:cs typeface="Avenir Book" charset="0"/>
                            </a:rPr>
                            <m:t>+</m:t>
                          </m:r>
                          <m:r>
                            <a:rPr lang="en-US" sz="2200" b="0" i="1" smtClean="0">
                              <a:latin typeface="Cambria Math" charset="0"/>
                              <a:ea typeface="Avenir Book" charset="0"/>
                              <a:cs typeface="Avenir Book" charset="0"/>
                            </a:rPr>
                            <m:t>𝑏</m:t>
                          </m:r>
                        </m:e>
                      </m:nary>
                    </m:oMath>
                  </m:oMathPara>
                </a14:m>
                <a:endParaRPr lang="en-US" sz="2200" dirty="0" smtClean="0">
                  <a:latin typeface="Avenir Book" charset="0"/>
                  <a:ea typeface="Avenir Book" charset="0"/>
                  <a:cs typeface="Avenir Book" charset="0"/>
                </a:endParaRPr>
              </a:p>
              <a:p>
                <a:pPr marL="457200" marR="0" lvl="0" indent="-457200" defTabSz="914400" eaLnBrk="1" fontAlgn="auto" latinLnBrk="0" hangingPunct="1">
                  <a:lnSpc>
                    <a:spcPct val="150000"/>
                  </a:lnSpc>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Then a neuron is simply a ”unit” of logistic regression!</a:t>
                </a:r>
              </a:p>
              <a:p>
                <a:pPr marL="457200" marR="0" lvl="0" indent="-457200" defTabSz="914400" eaLnBrk="1" fontAlgn="auto" latinLnBrk="0" hangingPunct="1">
                  <a:lnSpc>
                    <a:spcPct val="150000"/>
                  </a:lnSpc>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weights </a:t>
                </a:r>
                <a:r>
                  <a:rPr lang="en-US" sz="2200" dirty="0" smtClean="0">
                    <a:latin typeface="Avenir Book" charset="0"/>
                    <a:ea typeface="Avenir Book" charset="0"/>
                    <a:cs typeface="Avenir Book" charset="0"/>
                    <a:sym typeface="Wingdings"/>
                  </a:rPr>
                  <a:t> coefficients	inputs  variables</a:t>
                </a:r>
              </a:p>
              <a:p>
                <a:pPr marL="457200" marR="0" lvl="0" indent="-457200" defTabSz="914400" eaLnBrk="1" fontAlgn="auto" latinLnBrk="0" hangingPunct="1">
                  <a:lnSpc>
                    <a:spcPct val="150000"/>
                  </a:lnSpc>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sym typeface="Wingdings"/>
                  </a:rPr>
                  <a:t>bias term  constant term	</a:t>
                </a:r>
                <a:endParaRPr lang="en-US" sz="2200" dirty="0" smtClean="0">
                  <a:latin typeface="Avenir Book" charset="0"/>
                  <a:ea typeface="Avenir Book" charset="0"/>
                  <a:cs typeface="Avenir Book"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582976" y="855165"/>
                <a:ext cx="7460274" cy="3722045"/>
              </a:xfrm>
              <a:prstGeom prst="rect">
                <a:avLst/>
              </a:prstGeom>
              <a:blipFill rotWithShape="0">
                <a:blip r:embed="rId3"/>
                <a:stretch>
                  <a:fillRect l="-1063" b="-1473"/>
                </a:stretch>
              </a:blipFill>
            </p:spPr>
            <p:txBody>
              <a:bodyPr/>
              <a:lstStyle/>
              <a:p>
                <a:r>
                  <a:rPr lang="en-US">
                    <a:noFill/>
                  </a:rPr>
                  <a:t> </a:t>
                </a:r>
              </a:p>
            </p:txBody>
          </p:sp>
        </mc:Fallback>
      </mc:AlternateContent>
    </p:spTree>
    <p:extLst>
      <p:ext uri="{BB962C8B-B14F-4D97-AF65-F5344CB8AC3E}">
        <p14:creationId xmlns:p14="http://schemas.microsoft.com/office/powerpoint/2010/main" val="12548509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Relation to Logistic Regression</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8" name="Rectangle 7"/>
              <p:cNvSpPr/>
              <p:nvPr/>
            </p:nvSpPr>
            <p:spPr>
              <a:xfrm>
                <a:off x="582976" y="757837"/>
                <a:ext cx="7460274" cy="746679"/>
              </a:xfrm>
              <a:prstGeom prst="rect">
                <a:avLst/>
              </a:prstGeom>
            </p:spPr>
            <p:txBody>
              <a:bodyPr wrap="square">
                <a:spAutoFit/>
              </a:bodyPr>
              <a:lstStyle/>
              <a:p>
                <a:pPr marL="457200" lvl="0" indent="-457200">
                  <a:lnSpc>
                    <a:spcPct val="150000"/>
                  </a:lnSpc>
                </a:pPr>
                <a:r>
                  <a:rPr lang="en-US" sz="2200" dirty="0" smtClean="0">
                    <a:latin typeface="Avenir Book" charset="0"/>
                    <a:ea typeface="Avenir Book" charset="0"/>
                    <a:cs typeface="Avenir Book" charset="0"/>
                  </a:rPr>
                  <a:t>This is called the “sigmoid” function:   </a:t>
                </a:r>
                <a14:m>
                  <m:oMath xmlns:m="http://schemas.openxmlformats.org/officeDocument/2006/math">
                    <m:r>
                      <a:rPr lang="en-US" sz="2000" i="1">
                        <a:latin typeface="Cambria Math" charset="0"/>
                        <a:ea typeface="Cambria Math" charset="0"/>
                        <a:cs typeface="Cambria Math" charset="0"/>
                      </a:rPr>
                      <m:t>𝜎</m:t>
                    </m:r>
                    <m:d>
                      <m:dPr>
                        <m:ctrlPr>
                          <a:rPr lang="en-US" sz="2000" b="0" i="1" smtClean="0">
                            <a:latin typeface="Cambria Math" panose="02040503050406030204" pitchFamily="18" charset="0"/>
                            <a:ea typeface="Avenir Book" charset="0"/>
                            <a:cs typeface="Avenir Book" charset="0"/>
                          </a:rPr>
                        </m:ctrlPr>
                      </m:dPr>
                      <m:e>
                        <m:r>
                          <a:rPr lang="en-US" sz="2000" b="0" i="1" smtClean="0">
                            <a:latin typeface="Cambria Math" charset="0"/>
                            <a:ea typeface="Avenir Book" charset="0"/>
                            <a:cs typeface="Avenir Book" charset="0"/>
                          </a:rPr>
                          <m:t>𝑧</m:t>
                        </m:r>
                      </m:e>
                    </m:d>
                    <m:r>
                      <a:rPr lang="en-US" sz="2000" b="0" i="1" smtClean="0">
                        <a:latin typeface="Cambria Math" charset="0"/>
                        <a:ea typeface="Avenir Book" charset="0"/>
                        <a:cs typeface="Avenir Book" charset="0"/>
                      </a:rPr>
                      <m:t>= </m:t>
                    </m:r>
                    <m:f>
                      <m:fPr>
                        <m:ctrlPr>
                          <a:rPr lang="bg-BG" sz="2000" b="0" i="1" smtClean="0">
                            <a:latin typeface="Cambria Math" panose="02040503050406030204" pitchFamily="18" charset="0"/>
                            <a:ea typeface="Avenir Book" charset="0"/>
                            <a:cs typeface="Avenir Book" charset="0"/>
                          </a:rPr>
                        </m:ctrlPr>
                      </m:fPr>
                      <m:num>
                        <m:r>
                          <a:rPr lang="en-US" sz="2000" b="0" i="1" smtClean="0">
                            <a:latin typeface="Cambria Math" charset="0"/>
                            <a:ea typeface="Avenir Book" charset="0"/>
                            <a:cs typeface="Avenir Book" charset="0"/>
                          </a:rPr>
                          <m:t>1</m:t>
                        </m:r>
                      </m:num>
                      <m:den>
                        <m:r>
                          <a:rPr lang="en-US" sz="2000" b="0" i="1" smtClean="0">
                            <a:latin typeface="Cambria Math" charset="0"/>
                            <a:ea typeface="Avenir Book" charset="0"/>
                            <a:cs typeface="Avenir Book" charset="0"/>
                          </a:rPr>
                          <m:t>1+</m:t>
                        </m:r>
                        <m:sSup>
                          <m:sSupPr>
                            <m:ctrlPr>
                              <a:rPr lang="en-US" sz="2000" b="0" i="1" smtClean="0">
                                <a:latin typeface="Cambria Math" panose="02040503050406030204" pitchFamily="18" charset="0"/>
                                <a:ea typeface="Avenir Book" charset="0"/>
                                <a:cs typeface="Avenir Book" charset="0"/>
                              </a:rPr>
                            </m:ctrlPr>
                          </m:sSupPr>
                          <m:e>
                            <m:r>
                              <a:rPr lang="en-US" sz="2000" b="0" i="1" smtClean="0">
                                <a:latin typeface="Cambria Math" charset="0"/>
                                <a:ea typeface="Avenir Book" charset="0"/>
                                <a:cs typeface="Avenir Book" charset="0"/>
                              </a:rPr>
                              <m:t>𝑒</m:t>
                            </m:r>
                          </m:e>
                          <m:sup>
                            <m:r>
                              <a:rPr lang="en-US" sz="2000" b="0" i="1" smtClean="0">
                                <a:latin typeface="Cambria Math" charset="0"/>
                                <a:ea typeface="Avenir Book" charset="0"/>
                                <a:cs typeface="Avenir Book" charset="0"/>
                              </a:rPr>
                              <m:t>−</m:t>
                            </m:r>
                            <m:r>
                              <a:rPr lang="en-US" sz="2000" b="0" i="1" smtClean="0">
                                <a:latin typeface="Cambria Math" charset="0"/>
                                <a:ea typeface="Avenir Book" charset="0"/>
                                <a:cs typeface="Avenir Book" charset="0"/>
                              </a:rPr>
                              <m:t>𝑧</m:t>
                            </m:r>
                          </m:sup>
                        </m:sSup>
                      </m:den>
                    </m:f>
                  </m:oMath>
                </a14:m>
                <a:endParaRPr lang="en-US" sz="2200" dirty="0" smtClean="0">
                  <a:latin typeface="Avenir Book" charset="0"/>
                  <a:ea typeface="Avenir Book" charset="0"/>
                  <a:cs typeface="Avenir Book"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582976" y="757837"/>
                <a:ext cx="7460274" cy="746679"/>
              </a:xfrm>
              <a:prstGeom prst="rect">
                <a:avLst/>
              </a:prstGeom>
              <a:blipFill rotWithShape="0">
                <a:blip r:embed="rId3"/>
                <a:stretch>
                  <a:fillRect l="-1063" t="-22764" b="-50407"/>
                </a:stretch>
              </a:blipFill>
            </p:spPr>
            <p:txBody>
              <a:bodyPr/>
              <a:lstStyle/>
              <a:p>
                <a:r>
                  <a:rPr lang="en-US">
                    <a:noFill/>
                  </a:rPr>
                  <a:t> </a:t>
                </a:r>
              </a:p>
            </p:txBody>
          </p:sp>
        </mc:Fallback>
      </mc:AlternateContent>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608" y="1510159"/>
            <a:ext cx="5325332" cy="2706920"/>
          </a:xfrm>
          <a:prstGeom prst="rect">
            <a:avLst/>
          </a:prstGeom>
        </p:spPr>
      </p:pic>
    </p:spTree>
    <p:extLst>
      <p:ext uri="{BB962C8B-B14F-4D97-AF65-F5344CB8AC3E}">
        <p14:creationId xmlns:p14="http://schemas.microsoft.com/office/powerpoint/2010/main" val="19930756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Nice Property of Sigmoid Function</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5" name="Rectangle 4"/>
              <p:cNvSpPr/>
              <p:nvPr/>
            </p:nvSpPr>
            <p:spPr>
              <a:xfrm>
                <a:off x="725682" y="834530"/>
                <a:ext cx="1927514" cy="6756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charset="0"/>
                          <a:ea typeface="Cambria Math" charset="0"/>
                          <a:cs typeface="Cambria Math" charset="0"/>
                        </a:rPr>
                        <m:t>𝜎</m:t>
                      </m:r>
                      <m:d>
                        <m:dPr>
                          <m:ctrlPr>
                            <a:rPr lang="en-US" sz="2000" i="1">
                              <a:latin typeface="Cambria Math" panose="02040503050406030204" pitchFamily="18" charset="0"/>
                              <a:ea typeface="Cambria Math" charset="0"/>
                              <a:cs typeface="Cambria Math" charset="0"/>
                            </a:rPr>
                          </m:ctrlPr>
                        </m:dPr>
                        <m:e>
                          <m:r>
                            <a:rPr lang="en-US" sz="2000" i="1">
                              <a:latin typeface="Cambria Math" charset="0"/>
                              <a:ea typeface="Cambria Math" charset="0"/>
                              <a:cs typeface="Cambria Math" charset="0"/>
                            </a:rPr>
                            <m:t>𝑧</m:t>
                          </m:r>
                        </m:e>
                      </m:d>
                      <m:r>
                        <a:rPr lang="en-US" sz="2000" i="1">
                          <a:latin typeface="Cambria Math" charset="0"/>
                          <a:ea typeface="Cambria Math" charset="0"/>
                          <a:cs typeface="Cambria Math" charset="0"/>
                        </a:rPr>
                        <m:t>=</m:t>
                      </m:r>
                      <m:f>
                        <m:fPr>
                          <m:ctrlPr>
                            <a:rPr lang="mr-IN" sz="2000" i="1">
                              <a:latin typeface="Cambria Math" panose="02040503050406030204" pitchFamily="18" charset="0"/>
                              <a:ea typeface="Cambria Math" charset="0"/>
                              <a:cs typeface="Cambria Math" charset="0"/>
                            </a:rPr>
                          </m:ctrlPr>
                        </m:fPr>
                        <m:num>
                          <m:r>
                            <a:rPr lang="en-US" sz="2000" i="1">
                              <a:latin typeface="Cambria Math" charset="0"/>
                              <a:ea typeface="Cambria Math" charset="0"/>
                              <a:cs typeface="Cambria Math" charset="0"/>
                            </a:rPr>
                            <m:t>1</m:t>
                          </m:r>
                        </m:num>
                        <m:den>
                          <m:r>
                            <a:rPr lang="en-US" sz="2000" i="1">
                              <a:latin typeface="Cambria Math" charset="0"/>
                              <a:ea typeface="Cambria Math" charset="0"/>
                              <a:cs typeface="Cambria Math" charset="0"/>
                            </a:rPr>
                            <m:t>1+</m:t>
                          </m:r>
                          <m:sSup>
                            <m:sSupPr>
                              <m:ctrlPr>
                                <a:rPr lang="en-US" sz="2000" i="1">
                                  <a:latin typeface="Cambria Math" panose="02040503050406030204" pitchFamily="18" charset="0"/>
                                  <a:ea typeface="Cambria Math" charset="0"/>
                                  <a:cs typeface="Cambria Math" charset="0"/>
                                </a:rPr>
                              </m:ctrlPr>
                            </m:sSupPr>
                            <m:e>
                              <m:r>
                                <a:rPr lang="en-US" sz="2000" i="1">
                                  <a:latin typeface="Cambria Math" charset="0"/>
                                  <a:ea typeface="Cambria Math" charset="0"/>
                                  <a:cs typeface="Cambria Math" charset="0"/>
                                </a:rPr>
                                <m:t>𝑒</m:t>
                              </m:r>
                            </m:e>
                            <m:sup>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𝑧</m:t>
                              </m:r>
                            </m:sup>
                          </m:sSup>
                        </m:den>
                      </m:f>
                    </m:oMath>
                  </m:oMathPara>
                </a14:m>
                <a:endParaRPr lang="en-US" sz="2000" dirty="0"/>
              </a:p>
            </p:txBody>
          </p:sp>
        </mc:Choice>
        <mc:Fallback xmlns="">
          <p:sp>
            <p:nvSpPr>
              <p:cNvPr id="5" name="Rectangle 4"/>
              <p:cNvSpPr>
                <a:spLocks noRot="1" noChangeAspect="1" noMove="1" noResize="1" noEditPoints="1" noAdjustHandles="1" noChangeArrowheads="1" noChangeShapeType="1" noTextEdit="1"/>
              </p:cNvSpPr>
              <p:nvPr/>
            </p:nvSpPr>
            <p:spPr>
              <a:xfrm>
                <a:off x="725682" y="834530"/>
                <a:ext cx="1927514" cy="675698"/>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5044107" y="1356816"/>
                <a:ext cx="3753912" cy="6829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ea typeface="Cambria Math" charset="0"/>
                              <a:cs typeface="Cambria Math" charset="0"/>
                            </a:rPr>
                          </m:ctrlPr>
                        </m:fPr>
                        <m:num>
                          <m:r>
                            <a:rPr lang="en-US" i="1" smtClean="0">
                              <a:latin typeface="Cambria Math" charset="0"/>
                              <a:ea typeface="Cambria Math" charset="0"/>
                              <a:cs typeface="Cambria Math" charset="0"/>
                            </a:rPr>
                            <m:t>𝑑</m:t>
                          </m:r>
                        </m:num>
                        <m:den>
                          <m:r>
                            <a:rPr lang="en-US" i="1" smtClean="0">
                              <a:latin typeface="Cambria Math" charset="0"/>
                              <a:ea typeface="Cambria Math" charset="0"/>
                              <a:cs typeface="Cambria Math" charset="0"/>
                            </a:rPr>
                            <m:t>𝑑𝑥</m:t>
                          </m:r>
                        </m:den>
                      </m:f>
                      <m:r>
                        <a:rPr lang="en-US" b="0" i="1" smtClean="0">
                          <a:latin typeface="Cambria Math" charset="0"/>
                          <a:ea typeface="Cambria Math" charset="0"/>
                          <a:cs typeface="Cambria Math" charset="0"/>
                        </a:rPr>
                        <m:t>⋅</m:t>
                      </m:r>
                      <m:f>
                        <m:fPr>
                          <m:ctrlPr>
                            <a:rPr lang="mr-IN" i="1" smtClean="0">
                              <a:latin typeface="Cambria Math" panose="02040503050406030204" pitchFamily="18" charset="0"/>
                              <a:ea typeface="Cambria Math" charset="0"/>
                              <a:cs typeface="Cambria Math" charset="0"/>
                            </a:rPr>
                          </m:ctrlPr>
                        </m:fPr>
                        <m:num>
                          <m:r>
                            <a:rPr lang="en-US" b="0" i="1" smtClean="0">
                              <a:latin typeface="Cambria Math" charset="0"/>
                              <a:ea typeface="Cambria Math" charset="0"/>
                              <a:cs typeface="Cambria Math" charset="0"/>
                            </a:rPr>
                            <m:t>𝑓</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𝑥</m:t>
                          </m:r>
                          <m:r>
                            <a:rPr lang="en-US" b="0" i="1" smtClean="0">
                              <a:latin typeface="Cambria Math" charset="0"/>
                              <a:ea typeface="Cambria Math" charset="0"/>
                              <a:cs typeface="Cambria Math" charset="0"/>
                            </a:rPr>
                            <m:t>)</m:t>
                          </m:r>
                        </m:num>
                        <m:den>
                          <m:r>
                            <a:rPr lang="en-US" b="0" i="1" smtClean="0">
                              <a:latin typeface="Cambria Math" charset="0"/>
                              <a:ea typeface="Cambria Math" charset="0"/>
                              <a:cs typeface="Cambria Math" charset="0"/>
                            </a:rPr>
                            <m:t>𝑔</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𝑥</m:t>
                          </m:r>
                          <m:r>
                            <a:rPr lang="en-US" b="0" i="1" smtClean="0">
                              <a:latin typeface="Cambria Math" charset="0"/>
                              <a:ea typeface="Cambria Math" charset="0"/>
                              <a:cs typeface="Cambria Math" charset="0"/>
                            </a:rPr>
                            <m:t>)</m:t>
                          </m:r>
                        </m:den>
                      </m:f>
                      <m:r>
                        <a:rPr lang="en-US" b="0" i="1" smtClean="0">
                          <a:latin typeface="Cambria Math" charset="0"/>
                          <a:ea typeface="Cambria Math" charset="0"/>
                          <a:cs typeface="Cambria Math" charset="0"/>
                        </a:rPr>
                        <m:t>=</m:t>
                      </m:r>
                      <m:f>
                        <m:fPr>
                          <m:ctrlPr>
                            <a:rPr lang="mr-IN" b="0" i="1" smtClean="0">
                              <a:latin typeface="Cambria Math" panose="02040503050406030204" pitchFamily="18" charset="0"/>
                              <a:ea typeface="Cambria Math" charset="0"/>
                              <a:cs typeface="Cambria Math" charset="0"/>
                            </a:rPr>
                          </m:ctrlPr>
                        </m:fPr>
                        <m:num>
                          <m:sSup>
                            <m:sSupPr>
                              <m:ctrlPr>
                                <a:rPr lang="en-US" b="0" i="1" smtClean="0">
                                  <a:latin typeface="Cambria Math" panose="02040503050406030204" pitchFamily="18" charset="0"/>
                                  <a:ea typeface="Cambria Math" charset="0"/>
                                  <a:cs typeface="Cambria Math" charset="0"/>
                                </a:rPr>
                              </m:ctrlPr>
                            </m:sSupPr>
                            <m:e>
                              <m:r>
                                <a:rPr lang="en-US" b="0" i="1" smtClean="0">
                                  <a:latin typeface="Cambria Math" charset="0"/>
                                  <a:ea typeface="Cambria Math" charset="0"/>
                                  <a:cs typeface="Cambria Math" charset="0"/>
                                </a:rPr>
                                <m:t>𝑓</m:t>
                              </m:r>
                            </m:e>
                            <m:sup>
                              <m:r>
                                <a:rPr lang="en-US" b="0" i="1" smtClean="0">
                                  <a:latin typeface="Cambria Math" charset="0"/>
                                  <a:ea typeface="Cambria Math" charset="0"/>
                                  <a:cs typeface="Cambria Math" charset="0"/>
                                </a:rPr>
                                <m:t>′</m:t>
                              </m:r>
                            </m:sup>
                          </m:sSup>
                          <m:d>
                            <m:dPr>
                              <m:ctrlPr>
                                <a:rPr lang="en-US" b="0" i="1" smtClean="0">
                                  <a:latin typeface="Cambria Math" panose="02040503050406030204" pitchFamily="18" charset="0"/>
                                  <a:ea typeface="Cambria Math" charset="0"/>
                                  <a:cs typeface="Cambria Math" charset="0"/>
                                </a:rPr>
                              </m:ctrlPr>
                            </m:dPr>
                            <m:e>
                              <m:r>
                                <a:rPr lang="en-US" b="0" i="1" smtClean="0">
                                  <a:latin typeface="Cambria Math" charset="0"/>
                                  <a:ea typeface="Cambria Math" charset="0"/>
                                  <a:cs typeface="Cambria Math" charset="0"/>
                                </a:rPr>
                                <m:t>𝑥</m:t>
                              </m:r>
                            </m:e>
                          </m:d>
                          <m:r>
                            <a:rPr lang="en-US" b="0" i="1" smtClean="0">
                              <a:latin typeface="Cambria Math" charset="0"/>
                              <a:ea typeface="Cambria Math" charset="0"/>
                              <a:cs typeface="Cambria Math" charset="0"/>
                            </a:rPr>
                            <m:t>𝑔</m:t>
                          </m:r>
                          <m:d>
                            <m:dPr>
                              <m:ctrlPr>
                                <a:rPr lang="en-US" b="0" i="1" smtClean="0">
                                  <a:latin typeface="Cambria Math" panose="02040503050406030204" pitchFamily="18" charset="0"/>
                                  <a:ea typeface="Cambria Math" charset="0"/>
                                  <a:cs typeface="Cambria Math" charset="0"/>
                                </a:rPr>
                              </m:ctrlPr>
                            </m:dPr>
                            <m:e>
                              <m:r>
                                <a:rPr lang="en-US" b="0" i="1" smtClean="0">
                                  <a:latin typeface="Cambria Math" charset="0"/>
                                  <a:ea typeface="Cambria Math" charset="0"/>
                                  <a:cs typeface="Cambria Math" charset="0"/>
                                </a:rPr>
                                <m:t>𝑥</m:t>
                              </m:r>
                            </m:e>
                          </m:d>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𝑓</m:t>
                          </m:r>
                          <m:d>
                            <m:dPr>
                              <m:ctrlPr>
                                <a:rPr lang="en-US" b="0" i="1" smtClean="0">
                                  <a:latin typeface="Cambria Math" panose="02040503050406030204" pitchFamily="18" charset="0"/>
                                  <a:ea typeface="Cambria Math" charset="0"/>
                                  <a:cs typeface="Cambria Math" charset="0"/>
                                </a:rPr>
                              </m:ctrlPr>
                            </m:dPr>
                            <m:e>
                              <m:r>
                                <a:rPr lang="en-US" b="0" i="1" smtClean="0">
                                  <a:latin typeface="Cambria Math" charset="0"/>
                                  <a:ea typeface="Cambria Math" charset="0"/>
                                  <a:cs typeface="Cambria Math" charset="0"/>
                                </a:rPr>
                                <m:t>𝑥</m:t>
                              </m:r>
                            </m:e>
                          </m:d>
                          <m:r>
                            <a:rPr lang="en-US" b="0" i="1" smtClean="0">
                              <a:latin typeface="Cambria Math" charset="0"/>
                              <a:ea typeface="Cambria Math" charset="0"/>
                              <a:cs typeface="Cambria Math" charset="0"/>
                            </a:rPr>
                            <m:t>𝑔</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𝑥</m:t>
                          </m:r>
                          <m:r>
                            <a:rPr lang="en-US" b="0" i="1" smtClean="0">
                              <a:latin typeface="Cambria Math" charset="0"/>
                              <a:ea typeface="Cambria Math" charset="0"/>
                              <a:cs typeface="Cambria Math" charset="0"/>
                            </a:rPr>
                            <m:t>)</m:t>
                          </m:r>
                        </m:num>
                        <m:den>
                          <m:r>
                            <a:rPr lang="en-US" b="0" i="1" smtClean="0">
                              <a:latin typeface="Cambria Math" charset="0"/>
                              <a:ea typeface="Cambria Math" charset="0"/>
                              <a:cs typeface="Cambria Math" charset="0"/>
                            </a:rPr>
                            <m:t>𝑔</m:t>
                          </m:r>
                          <m:sSup>
                            <m:sSupPr>
                              <m:ctrlPr>
                                <a:rPr lang="en-US" b="0" i="1" smtClean="0">
                                  <a:latin typeface="Cambria Math" panose="02040503050406030204" pitchFamily="18" charset="0"/>
                                  <a:ea typeface="Cambria Math" charset="0"/>
                                  <a:cs typeface="Cambria Math" charset="0"/>
                                </a:rPr>
                              </m:ctrlPr>
                            </m:sSupPr>
                            <m:e>
                              <m:d>
                                <m:dPr>
                                  <m:ctrlPr>
                                    <a:rPr lang="en-US" b="0" i="1" smtClean="0">
                                      <a:latin typeface="Cambria Math" panose="02040503050406030204" pitchFamily="18" charset="0"/>
                                      <a:ea typeface="Cambria Math" charset="0"/>
                                      <a:cs typeface="Cambria Math" charset="0"/>
                                    </a:rPr>
                                  </m:ctrlPr>
                                </m:dPr>
                                <m:e>
                                  <m:r>
                                    <a:rPr lang="en-US" b="0" i="1" smtClean="0">
                                      <a:latin typeface="Cambria Math" charset="0"/>
                                      <a:ea typeface="Cambria Math" charset="0"/>
                                      <a:cs typeface="Cambria Math" charset="0"/>
                                    </a:rPr>
                                    <m:t>𝑥</m:t>
                                  </m:r>
                                </m:e>
                              </m:d>
                            </m:e>
                            <m:sup>
                              <m:r>
                                <a:rPr lang="en-US" b="0" i="1" smtClean="0">
                                  <a:latin typeface="Cambria Math" charset="0"/>
                                  <a:ea typeface="Cambria Math" charset="0"/>
                                  <a:cs typeface="Cambria Math" charset="0"/>
                                </a:rPr>
                                <m:t>2</m:t>
                              </m:r>
                            </m:sup>
                          </m:sSup>
                        </m:den>
                      </m:f>
                    </m:oMath>
                  </m:oMathPara>
                </a14:m>
                <a:endParaRPr 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5044107" y="1356816"/>
                <a:ext cx="3753912" cy="682944"/>
              </a:xfrm>
              <a:prstGeom prst="rect">
                <a:avLst/>
              </a:prstGeom>
              <a:blipFill rotWithShape="0">
                <a:blip r:embed="rId4"/>
                <a:stretch>
                  <a:fillRect/>
                </a:stretch>
              </a:blipFill>
            </p:spPr>
            <p:txBody>
              <a:bodyPr/>
              <a:lstStyle/>
              <a:p>
                <a:r>
                  <a:rPr lang="en-US">
                    <a:noFill/>
                  </a:rPr>
                  <a:t> </a:t>
                </a:r>
              </a:p>
            </p:txBody>
          </p:sp>
        </mc:Fallback>
      </mc:AlternateContent>
      <p:sp>
        <p:nvSpPr>
          <p:cNvPr id="7" name="TextBox 6"/>
          <p:cNvSpPr txBox="1"/>
          <p:nvPr/>
        </p:nvSpPr>
        <p:spPr>
          <a:xfrm>
            <a:off x="5891847" y="908052"/>
            <a:ext cx="1584601" cy="369332"/>
          </a:xfrm>
          <a:prstGeom prst="rect">
            <a:avLst/>
          </a:prstGeom>
          <a:noFill/>
        </p:spPr>
        <p:txBody>
          <a:bodyPr wrap="none" rtlCol="0">
            <a:spAutoFit/>
          </a:bodyPr>
          <a:lstStyle/>
          <a:p>
            <a:r>
              <a:rPr lang="en-US" smtClean="0"/>
              <a:t>Quotient rule</a:t>
            </a:r>
            <a:endParaRPr lang="en-US"/>
          </a:p>
        </p:txBody>
      </p:sp>
      <mc:AlternateContent xmlns:mc="http://schemas.openxmlformats.org/markup-compatibility/2006" xmlns:a14="http://schemas.microsoft.com/office/drawing/2010/main">
        <mc:Choice Requires="a14">
          <p:sp>
            <p:nvSpPr>
              <p:cNvPr id="9" name="Rectangle 8"/>
              <p:cNvSpPr/>
              <p:nvPr/>
            </p:nvSpPr>
            <p:spPr>
              <a:xfrm>
                <a:off x="713181" y="1558242"/>
                <a:ext cx="2390911" cy="7264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charset="0"/>
                          <a:ea typeface="Cambria Math" charset="0"/>
                          <a:cs typeface="Cambria Math" charset="0"/>
                        </a:rPr>
                        <m:t>𝜎</m:t>
                      </m:r>
                      <m:r>
                        <a:rPr lang="en-US" sz="2000" b="0" i="1" smtClean="0">
                          <a:latin typeface="Cambria Math" charset="0"/>
                          <a:ea typeface="Cambria Math" charset="0"/>
                          <a:cs typeface="Cambria Math" charset="0"/>
                        </a:rPr>
                        <m:t>′</m:t>
                      </m:r>
                      <m:d>
                        <m:dPr>
                          <m:ctrlPr>
                            <a:rPr lang="en-US" sz="2000" i="1">
                              <a:latin typeface="Cambria Math" panose="02040503050406030204" pitchFamily="18" charset="0"/>
                              <a:ea typeface="Cambria Math" charset="0"/>
                              <a:cs typeface="Cambria Math" charset="0"/>
                            </a:rPr>
                          </m:ctrlPr>
                        </m:dPr>
                        <m:e>
                          <m:r>
                            <a:rPr lang="en-US" sz="2000" i="1">
                              <a:latin typeface="Cambria Math" charset="0"/>
                              <a:ea typeface="Cambria Math" charset="0"/>
                              <a:cs typeface="Cambria Math" charset="0"/>
                            </a:rPr>
                            <m:t>𝑧</m:t>
                          </m:r>
                        </m:e>
                      </m:d>
                      <m:r>
                        <a:rPr lang="en-US" sz="2000" i="1">
                          <a:latin typeface="Cambria Math" charset="0"/>
                          <a:ea typeface="Cambria Math" charset="0"/>
                          <a:cs typeface="Cambria Math" charset="0"/>
                        </a:rPr>
                        <m:t>=</m:t>
                      </m:r>
                      <m:f>
                        <m:fPr>
                          <m:ctrlPr>
                            <a:rPr lang="mr-IN" sz="2000" i="1" smtClean="0">
                              <a:latin typeface="Cambria Math" panose="02040503050406030204" pitchFamily="18" charset="0"/>
                              <a:ea typeface="Cambria Math" charset="0"/>
                              <a:cs typeface="Cambria Math" charset="0"/>
                            </a:rPr>
                          </m:ctrlPr>
                        </m:fPr>
                        <m:num>
                          <m:r>
                            <a:rPr lang="en-US" sz="2000" b="0" i="1" smtClean="0">
                              <a:latin typeface="Cambria Math" charset="0"/>
                              <a:ea typeface="Cambria Math" charset="0"/>
                              <a:cs typeface="Cambria Math" charset="0"/>
                            </a:rPr>
                            <m:t>0−(−</m:t>
                          </m:r>
                          <m:sSup>
                            <m:sSupPr>
                              <m:ctrlPr>
                                <a:rPr lang="en-US" sz="2000" b="0" i="1" smtClean="0">
                                  <a:latin typeface="Cambria Math" panose="02040503050406030204" pitchFamily="18" charset="0"/>
                                  <a:ea typeface="Cambria Math" charset="0"/>
                                  <a:cs typeface="Cambria Math" charset="0"/>
                                </a:rPr>
                              </m:ctrlPr>
                            </m:sSupPr>
                            <m:e>
                              <m:r>
                                <a:rPr lang="en-US" sz="2000" b="0" i="1" smtClean="0">
                                  <a:latin typeface="Cambria Math" charset="0"/>
                                  <a:ea typeface="Cambria Math" charset="0"/>
                                  <a:cs typeface="Cambria Math" charset="0"/>
                                </a:rPr>
                                <m:t>𝑒</m:t>
                              </m:r>
                            </m:e>
                            <m:sup>
                              <m:r>
                                <a:rPr lang="en-US" sz="2000" b="0" i="1" smtClean="0">
                                  <a:latin typeface="Cambria Math" charset="0"/>
                                  <a:ea typeface="Cambria Math" charset="0"/>
                                  <a:cs typeface="Cambria Math" charset="0"/>
                                </a:rPr>
                                <m:t>−</m:t>
                              </m:r>
                              <m:r>
                                <a:rPr lang="en-US" sz="2000" b="0" i="1" smtClean="0">
                                  <a:latin typeface="Cambria Math" charset="0"/>
                                  <a:ea typeface="Cambria Math" charset="0"/>
                                  <a:cs typeface="Cambria Math" charset="0"/>
                                </a:rPr>
                                <m:t>𝑧</m:t>
                              </m:r>
                            </m:sup>
                          </m:sSup>
                          <m:r>
                            <a:rPr lang="en-US" sz="2000" b="0" i="1" smtClean="0">
                              <a:latin typeface="Cambria Math" charset="0"/>
                              <a:ea typeface="Cambria Math" charset="0"/>
                              <a:cs typeface="Cambria Math" charset="0"/>
                            </a:rPr>
                            <m:t>)</m:t>
                          </m:r>
                        </m:num>
                        <m:den>
                          <m:sSup>
                            <m:sSupPr>
                              <m:ctrlPr>
                                <a:rPr lang="en-US" sz="2000" b="0" i="1" smtClean="0">
                                  <a:latin typeface="Cambria Math" panose="02040503050406030204" pitchFamily="18" charset="0"/>
                                  <a:ea typeface="Cambria Math" charset="0"/>
                                  <a:cs typeface="Cambria Math" charset="0"/>
                                </a:rPr>
                              </m:ctrlPr>
                            </m:sSupPr>
                            <m:e>
                              <m:d>
                                <m:dPr>
                                  <m:ctrlPr>
                                    <a:rPr lang="en-US" sz="2000" b="0" i="1" smtClean="0">
                                      <a:latin typeface="Cambria Math" panose="02040503050406030204" pitchFamily="18" charset="0"/>
                                      <a:ea typeface="Cambria Math" charset="0"/>
                                      <a:cs typeface="Cambria Math" charset="0"/>
                                    </a:rPr>
                                  </m:ctrlPr>
                                </m:dPr>
                                <m:e>
                                  <m:r>
                                    <a:rPr lang="en-US" sz="2000" i="1">
                                      <a:latin typeface="Cambria Math" charset="0"/>
                                      <a:ea typeface="Cambria Math" charset="0"/>
                                      <a:cs typeface="Cambria Math" charset="0"/>
                                    </a:rPr>
                                    <m:t>1+</m:t>
                                  </m:r>
                                  <m:sSup>
                                    <m:sSupPr>
                                      <m:ctrlPr>
                                        <a:rPr lang="en-US" sz="2000" i="1">
                                          <a:latin typeface="Cambria Math" panose="02040503050406030204" pitchFamily="18" charset="0"/>
                                          <a:ea typeface="Cambria Math" charset="0"/>
                                          <a:cs typeface="Cambria Math" charset="0"/>
                                        </a:rPr>
                                      </m:ctrlPr>
                                    </m:sSupPr>
                                    <m:e>
                                      <m:r>
                                        <a:rPr lang="en-US" sz="2000" i="1">
                                          <a:latin typeface="Cambria Math" charset="0"/>
                                          <a:ea typeface="Cambria Math" charset="0"/>
                                          <a:cs typeface="Cambria Math" charset="0"/>
                                        </a:rPr>
                                        <m:t>𝑒</m:t>
                                      </m:r>
                                    </m:e>
                                    <m:sup>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𝑧</m:t>
                                      </m:r>
                                    </m:sup>
                                  </m:sSup>
                                </m:e>
                              </m:d>
                            </m:e>
                            <m:sup>
                              <m:r>
                                <a:rPr lang="en-US" sz="2000" b="0" i="1" smtClean="0">
                                  <a:latin typeface="Cambria Math" charset="0"/>
                                  <a:ea typeface="Cambria Math" charset="0"/>
                                  <a:cs typeface="Cambria Math" charset="0"/>
                                </a:rPr>
                                <m:t>2</m:t>
                              </m:r>
                            </m:sup>
                          </m:sSup>
                        </m:den>
                      </m:f>
                    </m:oMath>
                  </m:oMathPara>
                </a14:m>
                <a:endParaRPr lang="en-US" sz="2000" dirty="0"/>
              </a:p>
            </p:txBody>
          </p:sp>
        </mc:Choice>
        <mc:Fallback xmlns="">
          <p:sp>
            <p:nvSpPr>
              <p:cNvPr id="9" name="Rectangle 8"/>
              <p:cNvSpPr>
                <a:spLocks noRot="1" noChangeAspect="1" noMove="1" noResize="1" noEditPoints="1" noAdjustHandles="1" noChangeArrowheads="1" noChangeShapeType="1" noTextEdit="1"/>
              </p:cNvSpPr>
              <p:nvPr/>
            </p:nvSpPr>
            <p:spPr>
              <a:xfrm>
                <a:off x="713181" y="1558242"/>
                <a:ext cx="2390911" cy="726481"/>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3104092" y="1558241"/>
                <a:ext cx="1691169" cy="7264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charset="0"/>
                          <a:ea typeface="Cambria Math" charset="0"/>
                          <a:cs typeface="Cambria Math" charset="0"/>
                        </a:rPr>
                        <m:t>=</m:t>
                      </m:r>
                      <m:f>
                        <m:fPr>
                          <m:ctrlPr>
                            <a:rPr lang="mr-IN" sz="2000" i="1" smtClean="0">
                              <a:latin typeface="Cambria Math" panose="02040503050406030204" pitchFamily="18" charset="0"/>
                              <a:ea typeface="Cambria Math" charset="0"/>
                              <a:cs typeface="Cambria Math" charset="0"/>
                            </a:rPr>
                          </m:ctrlPr>
                        </m:fPr>
                        <m:num>
                          <m:sSup>
                            <m:sSupPr>
                              <m:ctrlPr>
                                <a:rPr lang="en-US" sz="2000" b="0" i="1" smtClean="0">
                                  <a:latin typeface="Cambria Math" panose="02040503050406030204" pitchFamily="18" charset="0"/>
                                  <a:ea typeface="Cambria Math" charset="0"/>
                                  <a:cs typeface="Cambria Math" charset="0"/>
                                </a:rPr>
                              </m:ctrlPr>
                            </m:sSupPr>
                            <m:e>
                              <m:r>
                                <a:rPr lang="en-US" sz="2000" b="0" i="1" smtClean="0">
                                  <a:latin typeface="Cambria Math" charset="0"/>
                                  <a:ea typeface="Cambria Math" charset="0"/>
                                  <a:cs typeface="Cambria Math" charset="0"/>
                                </a:rPr>
                                <m:t>𝑒</m:t>
                              </m:r>
                            </m:e>
                            <m:sup>
                              <m:r>
                                <a:rPr lang="en-US" sz="2000" b="0" i="1" smtClean="0">
                                  <a:latin typeface="Cambria Math" charset="0"/>
                                  <a:ea typeface="Cambria Math" charset="0"/>
                                  <a:cs typeface="Cambria Math" charset="0"/>
                                </a:rPr>
                                <m:t>−</m:t>
                              </m:r>
                              <m:r>
                                <a:rPr lang="en-US" sz="2000" b="0" i="1" smtClean="0">
                                  <a:latin typeface="Cambria Math" charset="0"/>
                                  <a:ea typeface="Cambria Math" charset="0"/>
                                  <a:cs typeface="Cambria Math" charset="0"/>
                                </a:rPr>
                                <m:t>𝑧</m:t>
                              </m:r>
                            </m:sup>
                          </m:sSup>
                        </m:num>
                        <m:den>
                          <m:sSup>
                            <m:sSupPr>
                              <m:ctrlPr>
                                <a:rPr lang="en-US" sz="2000" b="0" i="1" smtClean="0">
                                  <a:latin typeface="Cambria Math" panose="02040503050406030204" pitchFamily="18" charset="0"/>
                                  <a:ea typeface="Cambria Math" charset="0"/>
                                  <a:cs typeface="Cambria Math" charset="0"/>
                                </a:rPr>
                              </m:ctrlPr>
                            </m:sSupPr>
                            <m:e>
                              <m:d>
                                <m:dPr>
                                  <m:ctrlPr>
                                    <a:rPr lang="en-US" sz="2000" b="0" i="1" smtClean="0">
                                      <a:latin typeface="Cambria Math" panose="02040503050406030204" pitchFamily="18" charset="0"/>
                                      <a:ea typeface="Cambria Math" charset="0"/>
                                      <a:cs typeface="Cambria Math" charset="0"/>
                                    </a:rPr>
                                  </m:ctrlPr>
                                </m:dPr>
                                <m:e>
                                  <m:r>
                                    <a:rPr lang="en-US" sz="2000" i="1">
                                      <a:latin typeface="Cambria Math" charset="0"/>
                                      <a:ea typeface="Cambria Math" charset="0"/>
                                      <a:cs typeface="Cambria Math" charset="0"/>
                                    </a:rPr>
                                    <m:t>1+</m:t>
                                  </m:r>
                                  <m:sSup>
                                    <m:sSupPr>
                                      <m:ctrlPr>
                                        <a:rPr lang="en-US" sz="2000" i="1">
                                          <a:latin typeface="Cambria Math" panose="02040503050406030204" pitchFamily="18" charset="0"/>
                                          <a:ea typeface="Cambria Math" charset="0"/>
                                          <a:cs typeface="Cambria Math" charset="0"/>
                                        </a:rPr>
                                      </m:ctrlPr>
                                    </m:sSupPr>
                                    <m:e>
                                      <m:r>
                                        <a:rPr lang="en-US" sz="2000" i="1">
                                          <a:latin typeface="Cambria Math" charset="0"/>
                                          <a:ea typeface="Cambria Math" charset="0"/>
                                          <a:cs typeface="Cambria Math" charset="0"/>
                                        </a:rPr>
                                        <m:t>𝑒</m:t>
                                      </m:r>
                                    </m:e>
                                    <m:sup>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𝑧</m:t>
                                      </m:r>
                                    </m:sup>
                                  </m:sSup>
                                </m:e>
                              </m:d>
                            </m:e>
                            <m:sup>
                              <m:r>
                                <a:rPr lang="en-US" sz="2000" b="0" i="1" smtClean="0">
                                  <a:latin typeface="Cambria Math" charset="0"/>
                                  <a:ea typeface="Cambria Math" charset="0"/>
                                  <a:cs typeface="Cambria Math" charset="0"/>
                                </a:rPr>
                                <m:t>2</m:t>
                              </m:r>
                            </m:sup>
                          </m:sSup>
                        </m:den>
                      </m:f>
                    </m:oMath>
                  </m:oMathPara>
                </a14:m>
                <a:endParaRPr lang="en-US" sz="2000" dirty="0"/>
              </a:p>
            </p:txBody>
          </p:sp>
        </mc:Choice>
        <mc:Fallback xmlns="">
          <p:sp>
            <p:nvSpPr>
              <p:cNvPr id="10" name="Rectangle 9"/>
              <p:cNvSpPr>
                <a:spLocks noRot="1" noChangeAspect="1" noMove="1" noResize="1" noEditPoints="1" noAdjustHandles="1" noChangeArrowheads="1" noChangeShapeType="1" noTextEdit="1"/>
              </p:cNvSpPr>
              <p:nvPr/>
            </p:nvSpPr>
            <p:spPr>
              <a:xfrm>
                <a:off x="3104092" y="1558241"/>
                <a:ext cx="1691169" cy="726481"/>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411212" y="2362985"/>
                <a:ext cx="1807674" cy="7264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charset="0"/>
                          <a:ea typeface="Cambria Math" charset="0"/>
                          <a:cs typeface="Cambria Math" charset="0"/>
                        </a:rPr>
                        <m:t>=</m:t>
                      </m:r>
                      <m:f>
                        <m:fPr>
                          <m:ctrlPr>
                            <a:rPr lang="mr-IN" sz="2000" i="1">
                              <a:latin typeface="Cambria Math" panose="02040503050406030204" pitchFamily="18" charset="0"/>
                              <a:ea typeface="Cambria Math" charset="0"/>
                              <a:cs typeface="Cambria Math" charset="0"/>
                            </a:rPr>
                          </m:ctrlPr>
                        </m:fPr>
                        <m:num>
                          <m:sSup>
                            <m:sSupPr>
                              <m:ctrlPr>
                                <a:rPr lang="en-US" sz="2000" i="1">
                                  <a:latin typeface="Cambria Math" panose="02040503050406030204" pitchFamily="18" charset="0"/>
                                  <a:ea typeface="Cambria Math" charset="0"/>
                                  <a:cs typeface="Cambria Math" charset="0"/>
                                </a:rPr>
                              </m:ctrlPr>
                            </m:sSupPr>
                            <m:e>
                              <m:r>
                                <a:rPr lang="en-US" sz="2000" i="1">
                                  <a:latin typeface="Cambria Math" charset="0"/>
                                  <a:ea typeface="Cambria Math" charset="0"/>
                                  <a:cs typeface="Cambria Math" charset="0"/>
                                </a:rPr>
                                <m:t>1+</m:t>
                              </m:r>
                              <m:r>
                                <a:rPr lang="en-US" sz="2000" i="1">
                                  <a:latin typeface="Cambria Math" charset="0"/>
                                  <a:ea typeface="Cambria Math" charset="0"/>
                                  <a:cs typeface="Cambria Math" charset="0"/>
                                </a:rPr>
                                <m:t>𝑒</m:t>
                              </m:r>
                            </m:e>
                            <m:sup>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𝑧</m:t>
                              </m:r>
                            </m:sup>
                          </m:sSup>
                          <m:r>
                            <a:rPr lang="en-US" sz="2000" i="1">
                              <a:latin typeface="Cambria Math" charset="0"/>
                              <a:ea typeface="Cambria Math" charset="0"/>
                              <a:cs typeface="Cambria Math" charset="0"/>
                            </a:rPr>
                            <m:t>−1</m:t>
                          </m:r>
                        </m:num>
                        <m:den>
                          <m:sSup>
                            <m:sSupPr>
                              <m:ctrlPr>
                                <a:rPr lang="en-US" sz="2000" i="1">
                                  <a:latin typeface="Cambria Math" panose="02040503050406030204" pitchFamily="18" charset="0"/>
                                  <a:ea typeface="Cambria Math" charset="0"/>
                                  <a:cs typeface="Cambria Math" charset="0"/>
                                </a:rPr>
                              </m:ctrlPr>
                            </m:sSupPr>
                            <m:e>
                              <m:d>
                                <m:dPr>
                                  <m:ctrlPr>
                                    <a:rPr lang="en-US" sz="2000" i="1">
                                      <a:latin typeface="Cambria Math" panose="02040503050406030204" pitchFamily="18" charset="0"/>
                                      <a:ea typeface="Cambria Math" charset="0"/>
                                      <a:cs typeface="Cambria Math" charset="0"/>
                                    </a:rPr>
                                  </m:ctrlPr>
                                </m:dPr>
                                <m:e>
                                  <m:r>
                                    <a:rPr lang="en-US" sz="2000" i="1">
                                      <a:latin typeface="Cambria Math" charset="0"/>
                                      <a:ea typeface="Cambria Math" charset="0"/>
                                      <a:cs typeface="Cambria Math" charset="0"/>
                                    </a:rPr>
                                    <m:t>1+</m:t>
                                  </m:r>
                                  <m:sSup>
                                    <m:sSupPr>
                                      <m:ctrlPr>
                                        <a:rPr lang="en-US" sz="2000" i="1">
                                          <a:latin typeface="Cambria Math" panose="02040503050406030204" pitchFamily="18" charset="0"/>
                                          <a:ea typeface="Cambria Math" charset="0"/>
                                          <a:cs typeface="Cambria Math" charset="0"/>
                                        </a:rPr>
                                      </m:ctrlPr>
                                    </m:sSupPr>
                                    <m:e>
                                      <m:r>
                                        <a:rPr lang="en-US" sz="2000" i="1">
                                          <a:latin typeface="Cambria Math" charset="0"/>
                                          <a:ea typeface="Cambria Math" charset="0"/>
                                          <a:cs typeface="Cambria Math" charset="0"/>
                                        </a:rPr>
                                        <m:t>𝑒</m:t>
                                      </m:r>
                                    </m:e>
                                    <m:sup>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𝑧</m:t>
                                      </m:r>
                                    </m:sup>
                                  </m:sSup>
                                </m:e>
                              </m:d>
                            </m:e>
                            <m:sup>
                              <m:r>
                                <a:rPr lang="en-US" sz="2000" i="1">
                                  <a:latin typeface="Cambria Math" charset="0"/>
                                  <a:ea typeface="Cambria Math" charset="0"/>
                                  <a:cs typeface="Cambria Math" charset="0"/>
                                </a:rPr>
                                <m:t>2</m:t>
                              </m:r>
                            </m:sup>
                          </m:sSup>
                        </m:den>
                      </m:f>
                    </m:oMath>
                  </m:oMathPara>
                </a14:m>
                <a:endParaRPr lang="en-US" sz="2000" dirty="0"/>
              </a:p>
            </p:txBody>
          </p:sp>
        </mc:Choice>
        <mc:Fallback xmlns="">
          <p:sp>
            <p:nvSpPr>
              <p:cNvPr id="11" name="Rectangle 10"/>
              <p:cNvSpPr>
                <a:spLocks noRot="1" noChangeAspect="1" noMove="1" noResize="1" noEditPoints="1" noAdjustHandles="1" noChangeArrowheads="1" noChangeShapeType="1" noTextEdit="1"/>
              </p:cNvSpPr>
              <p:nvPr/>
            </p:nvSpPr>
            <p:spPr>
              <a:xfrm>
                <a:off x="1411212" y="2362985"/>
                <a:ext cx="1807674" cy="726481"/>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3110733" y="2385170"/>
                <a:ext cx="3169907" cy="7264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charset="0"/>
                          <a:ea typeface="Cambria Math" charset="0"/>
                          <a:cs typeface="Cambria Math" charset="0"/>
                        </a:rPr>
                        <m:t>=</m:t>
                      </m:r>
                      <m:f>
                        <m:fPr>
                          <m:ctrlPr>
                            <a:rPr lang="mr-IN" sz="2000" i="1">
                              <a:latin typeface="Cambria Math" panose="02040503050406030204" pitchFamily="18" charset="0"/>
                              <a:ea typeface="Cambria Math" charset="0"/>
                              <a:cs typeface="Cambria Math" charset="0"/>
                            </a:rPr>
                          </m:ctrlPr>
                        </m:fPr>
                        <m:num>
                          <m:sSup>
                            <m:sSupPr>
                              <m:ctrlPr>
                                <a:rPr lang="en-US" sz="2000" i="1">
                                  <a:latin typeface="Cambria Math" panose="02040503050406030204" pitchFamily="18" charset="0"/>
                                  <a:ea typeface="Cambria Math" charset="0"/>
                                  <a:cs typeface="Cambria Math" charset="0"/>
                                </a:rPr>
                              </m:ctrlPr>
                            </m:sSupPr>
                            <m:e>
                              <m:r>
                                <a:rPr lang="en-US" sz="2000" i="1">
                                  <a:latin typeface="Cambria Math" charset="0"/>
                                  <a:ea typeface="Cambria Math" charset="0"/>
                                  <a:cs typeface="Cambria Math" charset="0"/>
                                </a:rPr>
                                <m:t>1+</m:t>
                              </m:r>
                              <m:r>
                                <a:rPr lang="en-US" sz="2000" i="1">
                                  <a:latin typeface="Cambria Math" charset="0"/>
                                  <a:ea typeface="Cambria Math" charset="0"/>
                                  <a:cs typeface="Cambria Math" charset="0"/>
                                </a:rPr>
                                <m:t>𝑒</m:t>
                              </m:r>
                            </m:e>
                            <m:sup>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𝑧</m:t>
                              </m:r>
                            </m:sup>
                          </m:sSup>
                        </m:num>
                        <m:den>
                          <m:sSup>
                            <m:sSupPr>
                              <m:ctrlPr>
                                <a:rPr lang="en-US" sz="2000" i="1">
                                  <a:latin typeface="Cambria Math" panose="02040503050406030204" pitchFamily="18" charset="0"/>
                                  <a:ea typeface="Cambria Math" charset="0"/>
                                  <a:cs typeface="Cambria Math" charset="0"/>
                                </a:rPr>
                              </m:ctrlPr>
                            </m:sSupPr>
                            <m:e>
                              <m:d>
                                <m:dPr>
                                  <m:ctrlPr>
                                    <a:rPr lang="en-US" sz="2000" i="1">
                                      <a:latin typeface="Cambria Math" panose="02040503050406030204" pitchFamily="18" charset="0"/>
                                      <a:ea typeface="Cambria Math" charset="0"/>
                                      <a:cs typeface="Cambria Math" charset="0"/>
                                    </a:rPr>
                                  </m:ctrlPr>
                                </m:dPr>
                                <m:e>
                                  <m:r>
                                    <a:rPr lang="en-US" sz="2000" i="1">
                                      <a:latin typeface="Cambria Math" charset="0"/>
                                      <a:ea typeface="Cambria Math" charset="0"/>
                                      <a:cs typeface="Cambria Math" charset="0"/>
                                    </a:rPr>
                                    <m:t>1+</m:t>
                                  </m:r>
                                  <m:sSup>
                                    <m:sSupPr>
                                      <m:ctrlPr>
                                        <a:rPr lang="en-US" sz="2000" i="1">
                                          <a:latin typeface="Cambria Math" panose="02040503050406030204" pitchFamily="18" charset="0"/>
                                          <a:ea typeface="Cambria Math" charset="0"/>
                                          <a:cs typeface="Cambria Math" charset="0"/>
                                        </a:rPr>
                                      </m:ctrlPr>
                                    </m:sSupPr>
                                    <m:e>
                                      <m:r>
                                        <a:rPr lang="en-US" sz="2000" i="1">
                                          <a:latin typeface="Cambria Math" charset="0"/>
                                          <a:ea typeface="Cambria Math" charset="0"/>
                                          <a:cs typeface="Cambria Math" charset="0"/>
                                        </a:rPr>
                                        <m:t>𝑒</m:t>
                                      </m:r>
                                    </m:e>
                                    <m:sup>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𝑧</m:t>
                                      </m:r>
                                    </m:sup>
                                  </m:sSup>
                                </m:e>
                              </m:d>
                            </m:e>
                            <m:sup>
                              <m:r>
                                <a:rPr lang="en-US" sz="2000" i="1">
                                  <a:latin typeface="Cambria Math" charset="0"/>
                                  <a:ea typeface="Cambria Math" charset="0"/>
                                  <a:cs typeface="Cambria Math" charset="0"/>
                                </a:rPr>
                                <m:t>2</m:t>
                              </m:r>
                            </m:sup>
                          </m:sSup>
                        </m:den>
                      </m:f>
                      <m:r>
                        <a:rPr lang="en-US" sz="2000" i="1">
                          <a:latin typeface="Cambria Math" charset="0"/>
                          <a:ea typeface="Cambria Math" charset="0"/>
                          <a:cs typeface="Cambria Math" charset="0"/>
                        </a:rPr>
                        <m:t>−</m:t>
                      </m:r>
                      <m:f>
                        <m:fPr>
                          <m:ctrlPr>
                            <a:rPr lang="mr-IN" sz="2000" i="1">
                              <a:latin typeface="Cambria Math" panose="02040503050406030204" pitchFamily="18" charset="0"/>
                              <a:ea typeface="Cambria Math" charset="0"/>
                              <a:cs typeface="Cambria Math" charset="0"/>
                            </a:rPr>
                          </m:ctrlPr>
                        </m:fPr>
                        <m:num>
                          <m:r>
                            <a:rPr lang="en-US" sz="2000" i="1">
                              <a:latin typeface="Cambria Math" charset="0"/>
                              <a:ea typeface="Cambria Math" charset="0"/>
                              <a:cs typeface="Cambria Math" charset="0"/>
                            </a:rPr>
                            <m:t>1</m:t>
                          </m:r>
                        </m:num>
                        <m:den>
                          <m:sSup>
                            <m:sSupPr>
                              <m:ctrlPr>
                                <a:rPr lang="en-US" sz="2000" i="1">
                                  <a:latin typeface="Cambria Math" panose="02040503050406030204" pitchFamily="18" charset="0"/>
                                  <a:ea typeface="Cambria Math" charset="0"/>
                                  <a:cs typeface="Cambria Math" charset="0"/>
                                </a:rPr>
                              </m:ctrlPr>
                            </m:sSupPr>
                            <m:e>
                              <m:d>
                                <m:dPr>
                                  <m:ctrlPr>
                                    <a:rPr lang="en-US" sz="2000" i="1">
                                      <a:latin typeface="Cambria Math" panose="02040503050406030204" pitchFamily="18" charset="0"/>
                                      <a:ea typeface="Cambria Math" charset="0"/>
                                      <a:cs typeface="Cambria Math" charset="0"/>
                                    </a:rPr>
                                  </m:ctrlPr>
                                </m:dPr>
                                <m:e>
                                  <m:r>
                                    <a:rPr lang="en-US" sz="2000" i="1">
                                      <a:latin typeface="Cambria Math" charset="0"/>
                                      <a:ea typeface="Cambria Math" charset="0"/>
                                      <a:cs typeface="Cambria Math" charset="0"/>
                                    </a:rPr>
                                    <m:t>1+</m:t>
                                  </m:r>
                                  <m:sSup>
                                    <m:sSupPr>
                                      <m:ctrlPr>
                                        <a:rPr lang="en-US" sz="2000" i="1">
                                          <a:latin typeface="Cambria Math" panose="02040503050406030204" pitchFamily="18" charset="0"/>
                                          <a:ea typeface="Cambria Math" charset="0"/>
                                          <a:cs typeface="Cambria Math" charset="0"/>
                                        </a:rPr>
                                      </m:ctrlPr>
                                    </m:sSupPr>
                                    <m:e>
                                      <m:r>
                                        <a:rPr lang="en-US" sz="2000" i="1">
                                          <a:latin typeface="Cambria Math" charset="0"/>
                                          <a:ea typeface="Cambria Math" charset="0"/>
                                          <a:cs typeface="Cambria Math" charset="0"/>
                                        </a:rPr>
                                        <m:t>𝑒</m:t>
                                      </m:r>
                                    </m:e>
                                    <m:sup>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𝑧</m:t>
                                      </m:r>
                                    </m:sup>
                                  </m:sSup>
                                </m:e>
                              </m:d>
                            </m:e>
                            <m:sup>
                              <m:r>
                                <a:rPr lang="en-US" sz="2000" i="1">
                                  <a:latin typeface="Cambria Math" charset="0"/>
                                  <a:ea typeface="Cambria Math" charset="0"/>
                                  <a:cs typeface="Cambria Math" charset="0"/>
                                </a:rPr>
                                <m:t>2</m:t>
                              </m:r>
                            </m:sup>
                          </m:sSup>
                        </m:den>
                      </m:f>
                    </m:oMath>
                  </m:oMathPara>
                </a14:m>
                <a:endParaRPr lang="en-US" sz="2000" dirty="0"/>
              </a:p>
            </p:txBody>
          </p:sp>
        </mc:Choice>
        <mc:Fallback xmlns="">
          <p:sp>
            <p:nvSpPr>
              <p:cNvPr id="12" name="Rectangle 11"/>
              <p:cNvSpPr>
                <a:spLocks noRot="1" noChangeAspect="1" noMove="1" noResize="1" noEditPoints="1" noAdjustHandles="1" noChangeArrowheads="1" noChangeShapeType="1" noTextEdit="1"/>
              </p:cNvSpPr>
              <p:nvPr/>
            </p:nvSpPr>
            <p:spPr>
              <a:xfrm>
                <a:off x="3110733" y="2385170"/>
                <a:ext cx="3169907" cy="726481"/>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411212" y="3081361"/>
                <a:ext cx="2837380" cy="7140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charset="0"/>
                          <a:ea typeface="Cambria Math" charset="0"/>
                          <a:cs typeface="Cambria Math" charset="0"/>
                        </a:rPr>
                        <m:t>=</m:t>
                      </m:r>
                      <m:f>
                        <m:fPr>
                          <m:ctrlPr>
                            <a:rPr lang="mr-IN" sz="2000" i="1">
                              <a:latin typeface="Cambria Math" panose="02040503050406030204" pitchFamily="18" charset="0"/>
                              <a:ea typeface="Cambria Math" charset="0"/>
                              <a:cs typeface="Cambria Math" charset="0"/>
                            </a:rPr>
                          </m:ctrlPr>
                        </m:fPr>
                        <m:num>
                          <m:r>
                            <a:rPr lang="en-US" sz="2000" b="0" i="1" smtClean="0">
                              <a:latin typeface="Cambria Math" charset="0"/>
                              <a:ea typeface="Cambria Math" charset="0"/>
                              <a:cs typeface="Cambria Math" charset="0"/>
                            </a:rPr>
                            <m:t>1</m:t>
                          </m:r>
                        </m:num>
                        <m:den>
                          <m:r>
                            <a:rPr lang="en-US" sz="2000" b="0" i="1" smtClean="0">
                              <a:latin typeface="Cambria Math" charset="0"/>
                              <a:ea typeface="Cambria Math" charset="0"/>
                              <a:cs typeface="Cambria Math" charset="0"/>
                            </a:rPr>
                            <m:t>1+</m:t>
                          </m:r>
                          <m:sSup>
                            <m:sSupPr>
                              <m:ctrlPr>
                                <a:rPr lang="en-US" sz="2000" b="0" i="1" smtClean="0">
                                  <a:latin typeface="Cambria Math" panose="02040503050406030204" pitchFamily="18" charset="0"/>
                                  <a:ea typeface="Cambria Math" charset="0"/>
                                  <a:cs typeface="Cambria Math" charset="0"/>
                                </a:rPr>
                              </m:ctrlPr>
                            </m:sSupPr>
                            <m:e>
                              <m:r>
                                <a:rPr lang="en-US" sz="2000" b="0" i="1" smtClean="0">
                                  <a:latin typeface="Cambria Math" charset="0"/>
                                  <a:ea typeface="Cambria Math" charset="0"/>
                                  <a:cs typeface="Cambria Math" charset="0"/>
                                </a:rPr>
                                <m:t>𝑒</m:t>
                              </m:r>
                            </m:e>
                            <m:sup>
                              <m:r>
                                <a:rPr lang="en-US" sz="2000" b="0" i="1" smtClean="0">
                                  <a:latin typeface="Cambria Math" charset="0"/>
                                  <a:ea typeface="Cambria Math" charset="0"/>
                                  <a:cs typeface="Cambria Math" charset="0"/>
                                </a:rPr>
                                <m:t>−</m:t>
                              </m:r>
                              <m:r>
                                <a:rPr lang="en-US" sz="2000" b="0" i="1" smtClean="0">
                                  <a:latin typeface="Cambria Math" charset="0"/>
                                  <a:ea typeface="Cambria Math" charset="0"/>
                                  <a:cs typeface="Cambria Math" charset="0"/>
                                </a:rPr>
                                <m:t>𝑧</m:t>
                              </m:r>
                            </m:sup>
                          </m:sSup>
                        </m:den>
                      </m:f>
                      <m:r>
                        <a:rPr lang="en-US" sz="2000" i="1">
                          <a:latin typeface="Cambria Math" charset="0"/>
                          <a:ea typeface="Cambria Math" charset="0"/>
                          <a:cs typeface="Cambria Math" charset="0"/>
                        </a:rPr>
                        <m:t>−</m:t>
                      </m:r>
                      <m:f>
                        <m:fPr>
                          <m:ctrlPr>
                            <a:rPr lang="mr-IN" sz="2000" i="1">
                              <a:latin typeface="Cambria Math" panose="02040503050406030204" pitchFamily="18" charset="0"/>
                              <a:ea typeface="Cambria Math" charset="0"/>
                              <a:cs typeface="Cambria Math" charset="0"/>
                            </a:rPr>
                          </m:ctrlPr>
                        </m:fPr>
                        <m:num>
                          <m:r>
                            <a:rPr lang="en-US" sz="2000" i="1">
                              <a:latin typeface="Cambria Math" charset="0"/>
                              <a:ea typeface="Cambria Math" charset="0"/>
                              <a:cs typeface="Cambria Math" charset="0"/>
                            </a:rPr>
                            <m:t>1</m:t>
                          </m:r>
                        </m:num>
                        <m:den>
                          <m:sSup>
                            <m:sSupPr>
                              <m:ctrlPr>
                                <a:rPr lang="en-US" sz="2000" i="1">
                                  <a:latin typeface="Cambria Math" panose="02040503050406030204" pitchFamily="18" charset="0"/>
                                  <a:ea typeface="Cambria Math" charset="0"/>
                                  <a:cs typeface="Cambria Math" charset="0"/>
                                </a:rPr>
                              </m:ctrlPr>
                            </m:sSupPr>
                            <m:e>
                              <m:d>
                                <m:dPr>
                                  <m:ctrlPr>
                                    <a:rPr lang="en-US" sz="2000" i="1">
                                      <a:latin typeface="Cambria Math" panose="02040503050406030204" pitchFamily="18" charset="0"/>
                                      <a:ea typeface="Cambria Math" charset="0"/>
                                      <a:cs typeface="Cambria Math" charset="0"/>
                                    </a:rPr>
                                  </m:ctrlPr>
                                </m:dPr>
                                <m:e>
                                  <m:r>
                                    <a:rPr lang="en-US" sz="2000" i="1">
                                      <a:latin typeface="Cambria Math" charset="0"/>
                                      <a:ea typeface="Cambria Math" charset="0"/>
                                      <a:cs typeface="Cambria Math" charset="0"/>
                                    </a:rPr>
                                    <m:t>1+</m:t>
                                  </m:r>
                                  <m:sSup>
                                    <m:sSupPr>
                                      <m:ctrlPr>
                                        <a:rPr lang="en-US" sz="2000" i="1">
                                          <a:latin typeface="Cambria Math" panose="02040503050406030204" pitchFamily="18" charset="0"/>
                                          <a:ea typeface="Cambria Math" charset="0"/>
                                          <a:cs typeface="Cambria Math" charset="0"/>
                                        </a:rPr>
                                      </m:ctrlPr>
                                    </m:sSupPr>
                                    <m:e>
                                      <m:r>
                                        <a:rPr lang="en-US" sz="2000" i="1">
                                          <a:latin typeface="Cambria Math" charset="0"/>
                                          <a:ea typeface="Cambria Math" charset="0"/>
                                          <a:cs typeface="Cambria Math" charset="0"/>
                                        </a:rPr>
                                        <m:t>𝑒</m:t>
                                      </m:r>
                                    </m:e>
                                    <m:sup>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𝑧</m:t>
                                      </m:r>
                                    </m:sup>
                                  </m:sSup>
                                </m:e>
                              </m:d>
                            </m:e>
                            <m:sup>
                              <m:r>
                                <a:rPr lang="en-US" sz="2000" i="1">
                                  <a:latin typeface="Cambria Math" charset="0"/>
                                  <a:ea typeface="Cambria Math" charset="0"/>
                                  <a:cs typeface="Cambria Math" charset="0"/>
                                </a:rPr>
                                <m:t>2</m:t>
                              </m:r>
                            </m:sup>
                          </m:sSup>
                        </m:den>
                      </m:f>
                    </m:oMath>
                  </m:oMathPara>
                </a14:m>
                <a:endParaRPr lang="en-US" sz="2000" dirty="0"/>
              </a:p>
            </p:txBody>
          </p:sp>
        </mc:Choice>
        <mc:Fallback xmlns="">
          <p:sp>
            <p:nvSpPr>
              <p:cNvPr id="13" name="Rectangle 12"/>
              <p:cNvSpPr>
                <a:spLocks noRot="1" noChangeAspect="1" noMove="1" noResize="1" noEditPoints="1" noAdjustHandles="1" noChangeArrowheads="1" noChangeShapeType="1" noTextEdit="1"/>
              </p:cNvSpPr>
              <p:nvPr/>
            </p:nvSpPr>
            <p:spPr>
              <a:xfrm>
                <a:off x="1411212" y="3081361"/>
                <a:ext cx="2837380" cy="714042"/>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4248592" y="3128296"/>
                <a:ext cx="2943819" cy="67698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charset="0"/>
                          <a:ea typeface="Cambria Math" charset="0"/>
                          <a:cs typeface="Cambria Math" charset="0"/>
                        </a:rPr>
                        <m:t>=</m:t>
                      </m:r>
                      <m:f>
                        <m:fPr>
                          <m:ctrlPr>
                            <a:rPr lang="mr-IN" sz="2000" i="1">
                              <a:latin typeface="Cambria Math" panose="02040503050406030204" pitchFamily="18" charset="0"/>
                              <a:ea typeface="Cambria Math" charset="0"/>
                              <a:cs typeface="Cambria Math" charset="0"/>
                            </a:rPr>
                          </m:ctrlPr>
                        </m:fPr>
                        <m:num>
                          <m:r>
                            <a:rPr lang="en-US" sz="2000" b="0" i="1" smtClean="0">
                              <a:latin typeface="Cambria Math" charset="0"/>
                              <a:ea typeface="Cambria Math" charset="0"/>
                              <a:cs typeface="Cambria Math" charset="0"/>
                            </a:rPr>
                            <m:t>1</m:t>
                          </m:r>
                        </m:num>
                        <m:den>
                          <m:r>
                            <a:rPr lang="en-US" sz="2000" b="0" i="1" smtClean="0">
                              <a:latin typeface="Cambria Math" charset="0"/>
                              <a:ea typeface="Cambria Math" charset="0"/>
                              <a:cs typeface="Cambria Math" charset="0"/>
                            </a:rPr>
                            <m:t>1+</m:t>
                          </m:r>
                          <m:sSup>
                            <m:sSupPr>
                              <m:ctrlPr>
                                <a:rPr lang="en-US" sz="2000" b="0" i="1" smtClean="0">
                                  <a:latin typeface="Cambria Math" panose="02040503050406030204" pitchFamily="18" charset="0"/>
                                  <a:ea typeface="Cambria Math" charset="0"/>
                                  <a:cs typeface="Cambria Math" charset="0"/>
                                </a:rPr>
                              </m:ctrlPr>
                            </m:sSupPr>
                            <m:e>
                              <m:r>
                                <a:rPr lang="en-US" sz="2000" b="0" i="1" smtClean="0">
                                  <a:latin typeface="Cambria Math" charset="0"/>
                                  <a:ea typeface="Cambria Math" charset="0"/>
                                  <a:cs typeface="Cambria Math" charset="0"/>
                                </a:rPr>
                                <m:t>𝑒</m:t>
                              </m:r>
                            </m:e>
                            <m:sup>
                              <m:r>
                                <a:rPr lang="en-US" sz="2000" b="0" i="1" smtClean="0">
                                  <a:latin typeface="Cambria Math" charset="0"/>
                                  <a:ea typeface="Cambria Math" charset="0"/>
                                  <a:cs typeface="Cambria Math" charset="0"/>
                                </a:rPr>
                                <m:t>−</m:t>
                              </m:r>
                              <m:r>
                                <a:rPr lang="en-US" sz="2000" b="0" i="1" smtClean="0">
                                  <a:latin typeface="Cambria Math" charset="0"/>
                                  <a:ea typeface="Cambria Math" charset="0"/>
                                  <a:cs typeface="Cambria Math" charset="0"/>
                                </a:rPr>
                                <m:t>𝑧</m:t>
                              </m:r>
                            </m:sup>
                          </m:sSup>
                        </m:den>
                      </m:f>
                      <m:d>
                        <m:dPr>
                          <m:ctrlPr>
                            <a:rPr lang="mr-IN" sz="2000" i="1" smtClean="0">
                              <a:latin typeface="Cambria Math" panose="02040503050406030204" pitchFamily="18" charset="0"/>
                              <a:ea typeface="Cambria Math" charset="0"/>
                              <a:cs typeface="Cambria Math" charset="0"/>
                            </a:rPr>
                          </m:ctrlPr>
                        </m:dPr>
                        <m:e>
                          <m:r>
                            <a:rPr lang="en-US" sz="2000" b="0" i="1" smtClean="0">
                              <a:latin typeface="Cambria Math" charset="0"/>
                              <a:ea typeface="Cambria Math" charset="0"/>
                              <a:cs typeface="Cambria Math" charset="0"/>
                            </a:rPr>
                            <m:t>1−</m:t>
                          </m:r>
                          <m:f>
                            <m:fPr>
                              <m:ctrlPr>
                                <a:rPr lang="mr-IN" sz="2000" i="1">
                                  <a:latin typeface="Cambria Math" panose="02040503050406030204" pitchFamily="18" charset="0"/>
                                  <a:ea typeface="Cambria Math" charset="0"/>
                                  <a:cs typeface="Cambria Math" charset="0"/>
                                </a:rPr>
                              </m:ctrlPr>
                            </m:fPr>
                            <m:num>
                              <m:r>
                                <a:rPr lang="en-US" sz="2000" i="1">
                                  <a:latin typeface="Cambria Math" charset="0"/>
                                  <a:ea typeface="Cambria Math" charset="0"/>
                                  <a:cs typeface="Cambria Math" charset="0"/>
                                </a:rPr>
                                <m:t>1</m:t>
                              </m:r>
                            </m:num>
                            <m:den>
                              <m:r>
                                <a:rPr lang="en-US" sz="2000" i="1">
                                  <a:latin typeface="Cambria Math" charset="0"/>
                                  <a:ea typeface="Cambria Math" charset="0"/>
                                  <a:cs typeface="Cambria Math" charset="0"/>
                                </a:rPr>
                                <m:t>1+</m:t>
                              </m:r>
                              <m:sSup>
                                <m:sSupPr>
                                  <m:ctrlPr>
                                    <a:rPr lang="en-US" sz="2000" i="1">
                                      <a:latin typeface="Cambria Math" panose="02040503050406030204" pitchFamily="18" charset="0"/>
                                      <a:ea typeface="Cambria Math" charset="0"/>
                                      <a:cs typeface="Cambria Math" charset="0"/>
                                    </a:rPr>
                                  </m:ctrlPr>
                                </m:sSupPr>
                                <m:e>
                                  <m:r>
                                    <a:rPr lang="en-US" sz="2000" i="1">
                                      <a:latin typeface="Cambria Math" charset="0"/>
                                      <a:ea typeface="Cambria Math" charset="0"/>
                                      <a:cs typeface="Cambria Math" charset="0"/>
                                    </a:rPr>
                                    <m:t>𝑒</m:t>
                                  </m:r>
                                </m:e>
                                <m:sup>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𝑧</m:t>
                                  </m:r>
                                </m:sup>
                              </m:sSup>
                            </m:den>
                          </m:f>
                        </m:e>
                      </m:d>
                    </m:oMath>
                  </m:oMathPara>
                </a14:m>
                <a:endParaRPr lang="en-US" sz="2000" dirty="0"/>
              </a:p>
            </p:txBody>
          </p:sp>
        </mc:Choice>
        <mc:Fallback xmlns="">
          <p:sp>
            <p:nvSpPr>
              <p:cNvPr id="14" name="Rectangle 13"/>
              <p:cNvSpPr>
                <a:spLocks noRot="1" noChangeAspect="1" noMove="1" noResize="1" noEditPoints="1" noAdjustHandles="1" noChangeArrowheads="1" noChangeShapeType="1" noTextEdit="1"/>
              </p:cNvSpPr>
              <p:nvPr/>
            </p:nvSpPr>
            <p:spPr>
              <a:xfrm>
                <a:off x="4248592" y="3128296"/>
                <a:ext cx="2943819" cy="676980"/>
              </a:xfrm>
              <a:prstGeom prst="rect">
                <a:avLst/>
              </a:prstGeom>
              <a:blipFill rotWithShape="0">
                <a:blip r:embed="rId10"/>
                <a:stretch>
                  <a:fillRect/>
                </a:stretch>
              </a:blipFill>
            </p:spPr>
            <p:txBody>
              <a:bodyPr/>
              <a:lstStyle/>
              <a:p>
                <a:r>
                  <a:rPr lang="en-US">
                    <a:noFill/>
                  </a:rPr>
                  <a:t> </a:t>
                </a:r>
              </a:p>
            </p:txBody>
          </p:sp>
        </mc:Fallback>
      </mc:AlternateContent>
      <p:cxnSp>
        <p:nvCxnSpPr>
          <p:cNvPr id="15" name="Straight Connector 14"/>
          <p:cNvCxnSpPr/>
          <p:nvPr/>
        </p:nvCxnSpPr>
        <p:spPr>
          <a:xfrm>
            <a:off x="3502917" y="2443609"/>
            <a:ext cx="975001" cy="30480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443991" y="2815868"/>
            <a:ext cx="251695" cy="11820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Rectangle 16"/>
              <p:cNvSpPr/>
              <p:nvPr/>
            </p:nvSpPr>
            <p:spPr>
              <a:xfrm>
                <a:off x="659404" y="3990559"/>
                <a:ext cx="3661452" cy="523220"/>
              </a:xfrm>
              <a:prstGeom prst="rect">
                <a:avLst/>
              </a:prstGeom>
            </p:spPr>
            <p:txBody>
              <a:bodyPr wrap="none">
                <a:spAutoFit/>
              </a:bodyPr>
              <a:lstStyle/>
              <a:p>
                <a14:m>
                  <m:oMath xmlns:m="http://schemas.openxmlformats.org/officeDocument/2006/math">
                    <m:r>
                      <a:rPr lang="en-US" sz="2800" i="1" smtClean="0">
                        <a:latin typeface="Cambria Math" charset="0"/>
                        <a:ea typeface="Cambria Math" charset="0"/>
                        <a:cs typeface="Cambria Math" charset="0"/>
                      </a:rPr>
                      <m:t>𝜎</m:t>
                    </m:r>
                    <m:r>
                      <a:rPr lang="en-US" sz="2800" i="1" smtClean="0">
                        <a:latin typeface="Cambria Math" charset="0"/>
                        <a:ea typeface="Cambria Math" charset="0"/>
                        <a:cs typeface="Cambria Math" charset="0"/>
                      </a:rPr>
                      <m:t>′</m:t>
                    </m:r>
                    <m:d>
                      <m:dPr>
                        <m:ctrlPr>
                          <a:rPr lang="en-US" sz="2800" i="1">
                            <a:latin typeface="Cambria Math" panose="02040503050406030204" pitchFamily="18" charset="0"/>
                            <a:ea typeface="Cambria Math" charset="0"/>
                            <a:cs typeface="Cambria Math" charset="0"/>
                          </a:rPr>
                        </m:ctrlPr>
                      </m:dPr>
                      <m:e>
                        <m:r>
                          <a:rPr lang="en-US" sz="2800" i="1">
                            <a:latin typeface="Cambria Math" charset="0"/>
                            <a:ea typeface="Cambria Math" charset="0"/>
                            <a:cs typeface="Cambria Math" charset="0"/>
                          </a:rPr>
                          <m:t>𝑧</m:t>
                        </m:r>
                      </m:e>
                    </m:d>
                  </m:oMath>
                </a14:m>
                <a:r>
                  <a:rPr lang="en-US" sz="2800" dirty="0" smtClean="0">
                    <a:ea typeface="Cambria Math" charset="0"/>
                    <a:cs typeface="Cambria Math" charset="0"/>
                  </a:rPr>
                  <a:t> = </a:t>
                </a:r>
                <a14:m>
                  <m:oMath xmlns:m="http://schemas.openxmlformats.org/officeDocument/2006/math">
                    <m:r>
                      <a:rPr lang="en-US" sz="2800" i="1">
                        <a:latin typeface="Cambria Math" charset="0"/>
                        <a:ea typeface="Cambria Math" charset="0"/>
                        <a:cs typeface="Cambria Math" charset="0"/>
                      </a:rPr>
                      <m:t>𝜎</m:t>
                    </m:r>
                    <m:r>
                      <a:rPr lang="en-US" sz="2800" b="0" i="1" smtClean="0">
                        <a:latin typeface="Cambria Math" charset="0"/>
                        <a:ea typeface="Cambria Math" charset="0"/>
                        <a:cs typeface="Cambria Math" charset="0"/>
                      </a:rPr>
                      <m:t>(</m:t>
                    </m:r>
                    <m:r>
                      <a:rPr lang="en-US" sz="2800" b="0" i="1" smtClean="0">
                        <a:latin typeface="Cambria Math" charset="0"/>
                        <a:ea typeface="Cambria Math" charset="0"/>
                        <a:cs typeface="Cambria Math" charset="0"/>
                      </a:rPr>
                      <m:t>𝑧</m:t>
                    </m:r>
                    <m:r>
                      <a:rPr lang="en-US" sz="2800" b="0" i="1" smtClean="0">
                        <a:latin typeface="Cambria Math" charset="0"/>
                        <a:ea typeface="Cambria Math" charset="0"/>
                        <a:cs typeface="Cambria Math" charset="0"/>
                      </a:rPr>
                      <m:t>)(1−</m:t>
                    </m:r>
                    <m:r>
                      <a:rPr lang="en-US" sz="2800" i="1">
                        <a:latin typeface="Cambria Math" charset="0"/>
                        <a:ea typeface="Cambria Math" charset="0"/>
                        <a:cs typeface="Cambria Math" charset="0"/>
                      </a:rPr>
                      <m:t>𝜎</m:t>
                    </m:r>
                    <m:r>
                      <a:rPr lang="en-US" sz="2800" b="0" i="1" smtClean="0">
                        <a:latin typeface="Cambria Math" charset="0"/>
                        <a:ea typeface="Cambria Math" charset="0"/>
                        <a:cs typeface="Cambria Math" charset="0"/>
                      </a:rPr>
                      <m:t>(</m:t>
                    </m:r>
                    <m:r>
                      <a:rPr lang="en-US" sz="2800" b="0" i="1" smtClean="0">
                        <a:latin typeface="Cambria Math" charset="0"/>
                        <a:ea typeface="Cambria Math" charset="0"/>
                        <a:cs typeface="Cambria Math" charset="0"/>
                      </a:rPr>
                      <m:t>𝑧</m:t>
                    </m:r>
                    <m:r>
                      <a:rPr lang="en-US" sz="2800" b="0" i="1" smtClean="0">
                        <a:latin typeface="Cambria Math" charset="0"/>
                        <a:ea typeface="Cambria Math" charset="0"/>
                        <a:cs typeface="Cambria Math" charset="0"/>
                      </a:rPr>
                      <m:t>)</m:t>
                    </m:r>
                  </m:oMath>
                </a14:m>
                <a:r>
                  <a:rPr lang="en-US" sz="2800" dirty="0" smtClean="0"/>
                  <a:t>)</a:t>
                </a:r>
                <a:endParaRPr lang="en-US" sz="2800" dirty="0"/>
              </a:p>
            </p:txBody>
          </p:sp>
        </mc:Choice>
        <mc:Fallback xmlns="">
          <p:sp>
            <p:nvSpPr>
              <p:cNvPr id="17" name="Rectangle 16"/>
              <p:cNvSpPr>
                <a:spLocks noRot="1" noChangeAspect="1" noMove="1" noResize="1" noEditPoints="1" noAdjustHandles="1" noChangeArrowheads="1" noChangeShapeType="1" noTextEdit="1"/>
              </p:cNvSpPr>
              <p:nvPr/>
            </p:nvSpPr>
            <p:spPr>
              <a:xfrm>
                <a:off x="659404" y="3990559"/>
                <a:ext cx="3661452" cy="523220"/>
              </a:xfrm>
              <a:prstGeom prst="rect">
                <a:avLst/>
              </a:prstGeom>
              <a:blipFill rotWithShape="0">
                <a:blip r:embed="rId11"/>
                <a:stretch>
                  <a:fillRect t="-12941" r="-2329" b="-32941"/>
                </a:stretch>
              </a:blipFill>
            </p:spPr>
            <p:txBody>
              <a:bodyPr/>
              <a:lstStyle/>
              <a:p>
                <a:r>
                  <a:rPr lang="en-US">
                    <a:noFill/>
                  </a:rPr>
                  <a:t> </a:t>
                </a:r>
              </a:p>
            </p:txBody>
          </p:sp>
        </mc:Fallback>
      </mc:AlternateContent>
      <p:sp>
        <p:nvSpPr>
          <p:cNvPr id="18" name="Rectangle 17"/>
          <p:cNvSpPr/>
          <p:nvPr/>
        </p:nvSpPr>
        <p:spPr>
          <a:xfrm>
            <a:off x="4735046" y="4052114"/>
            <a:ext cx="3091187" cy="461665"/>
          </a:xfrm>
          <a:prstGeom prst="rect">
            <a:avLst/>
          </a:prstGeom>
        </p:spPr>
        <p:txBody>
          <a:bodyPr wrap="square">
            <a:spAutoFit/>
          </a:bodyPr>
          <a:lstStyle/>
          <a:p>
            <a:r>
              <a:rPr lang="en-US" sz="2400" dirty="0">
                <a:latin typeface="Avenir Book" charset="0"/>
                <a:ea typeface="Avenir Book" charset="0"/>
                <a:cs typeface="Avenir Book" charset="0"/>
              </a:rPr>
              <a:t>This will be helpful!</a:t>
            </a:r>
            <a:endParaRPr lang="en-US" sz="2400" dirty="0"/>
          </a:p>
        </p:txBody>
      </p:sp>
    </p:spTree>
    <p:extLst>
      <p:ext uri="{BB962C8B-B14F-4D97-AF65-F5344CB8AC3E}">
        <p14:creationId xmlns:p14="http://schemas.microsoft.com/office/powerpoint/2010/main" val="1784083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1" grpId="0"/>
      <p:bldP spid="12" grpId="0"/>
      <p:bldP spid="13" grpId="0"/>
      <p:bldP spid="14"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3806386" y="3997931"/>
            <a:ext cx="406623" cy="461665"/>
          </a:xfrm>
          <a:prstGeom prst="rect">
            <a:avLst/>
          </a:prstGeom>
          <a:solidFill>
            <a:srgbClr val="FFFFFF">
              <a:alpha val="74902"/>
            </a:srgbClr>
          </a:solidFill>
        </p:spPr>
        <p:txBody>
          <a:bodyPr wrap="square" rtlCol="0">
            <a:spAutoFit/>
          </a:bodyPr>
          <a:lstStyle/>
          <a:p>
            <a:r>
              <a:rPr lang="en-US" sz="2400" dirty="0">
                <a:solidFill>
                  <a:srgbClr val="FF0000"/>
                </a:solidFill>
              </a:rPr>
              <a:t>b</a:t>
            </a:r>
          </a:p>
        </p:txBody>
      </p:sp>
      <p:sp>
        <p:nvSpPr>
          <p:cNvPr id="17" name="TextBox 16"/>
          <p:cNvSpPr txBox="1"/>
          <p:nvPr/>
        </p:nvSpPr>
        <p:spPr>
          <a:xfrm>
            <a:off x="2722685" y="3671697"/>
            <a:ext cx="521297" cy="461665"/>
          </a:xfrm>
          <a:prstGeom prst="rect">
            <a:avLst/>
          </a:prstGeom>
          <a:solidFill>
            <a:srgbClr val="FFFFFF">
              <a:alpha val="74902"/>
            </a:srgbClr>
          </a:solidFill>
        </p:spPr>
        <p:txBody>
          <a:bodyPr wrap="none" rtlCol="0">
            <a:spAutoFit/>
          </a:bodyPr>
          <a:lstStyle/>
          <a:p>
            <a:r>
              <a:rPr lang="en-US" sz="2400" dirty="0" smtClean="0">
                <a:solidFill>
                  <a:srgbClr val="FF0000"/>
                </a:solidFill>
              </a:rPr>
              <a:t>w</a:t>
            </a:r>
            <a:r>
              <a:rPr lang="en-US" sz="2400" baseline="-25000" dirty="0" smtClean="0">
                <a:solidFill>
                  <a:srgbClr val="FF0000"/>
                </a:solidFill>
              </a:rPr>
              <a:t>3</a:t>
            </a:r>
            <a:endParaRPr lang="en-US" sz="2400" dirty="0">
              <a:solidFill>
                <a:srgbClr val="FF0000"/>
              </a:solidFill>
            </a:endParaRPr>
          </a:p>
        </p:txBody>
      </p:sp>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Example Neuron Computation</a:t>
            </a:r>
            <a:endParaRPr lang="en-US" dirty="0">
              <a:latin typeface="Avenir Book" charset="0"/>
              <a:ea typeface="Avenir Book" charset="0"/>
              <a:cs typeface="Avenir Book" charset="0"/>
            </a:endParaRPr>
          </a:p>
        </p:txBody>
      </p:sp>
      <p:cxnSp>
        <p:nvCxnSpPr>
          <p:cNvPr id="73" name="Straight Arrow Connector 72"/>
          <p:cNvCxnSpPr>
            <a:stCxn id="75" idx="6"/>
          </p:cNvCxnSpPr>
          <p:nvPr/>
        </p:nvCxnSpPr>
        <p:spPr>
          <a:xfrm>
            <a:off x="5980235" y="2823063"/>
            <a:ext cx="18288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3579935" y="1622913"/>
            <a:ext cx="2400300" cy="24003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smtClean="0">
                <a:solidFill>
                  <a:schemeClr val="bg1"/>
                </a:solidFill>
              </a:rPr>
              <a:t>(sigmoid)activation</a:t>
            </a:r>
            <a:endParaRPr lang="en-US" sz="2700" dirty="0">
              <a:solidFill>
                <a:schemeClr val="bg1"/>
              </a:solidFill>
            </a:endParaRPr>
          </a:p>
          <a:p>
            <a:pPr algn="ctr"/>
            <a:r>
              <a:rPr lang="en-US" sz="2700" dirty="0">
                <a:solidFill>
                  <a:schemeClr val="bg1"/>
                </a:solidFill>
              </a:rPr>
              <a:t>function</a:t>
            </a:r>
          </a:p>
        </p:txBody>
      </p:sp>
      <p:cxnSp>
        <p:nvCxnSpPr>
          <p:cNvPr id="76" name="Straight Arrow Connector 75"/>
          <p:cNvCxnSpPr>
            <a:endCxn id="75" idx="3"/>
          </p:cNvCxnSpPr>
          <p:nvPr/>
        </p:nvCxnSpPr>
        <p:spPr>
          <a:xfrm flipV="1">
            <a:off x="2722685" y="3671697"/>
            <a:ext cx="1208766" cy="9801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75" idx="2"/>
          </p:cNvCxnSpPr>
          <p:nvPr/>
        </p:nvCxnSpPr>
        <p:spPr>
          <a:xfrm>
            <a:off x="2094035" y="2823063"/>
            <a:ext cx="14859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75" idx="1"/>
          </p:cNvCxnSpPr>
          <p:nvPr/>
        </p:nvCxnSpPr>
        <p:spPr>
          <a:xfrm>
            <a:off x="2665535" y="1108563"/>
            <a:ext cx="1265916" cy="8658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67851" y="877730"/>
            <a:ext cx="452368" cy="461665"/>
          </a:xfrm>
          <a:prstGeom prst="rect">
            <a:avLst/>
          </a:prstGeom>
          <a:solidFill>
            <a:srgbClr val="FFFFFF">
              <a:alpha val="74902"/>
            </a:srgbClr>
          </a:solidFill>
        </p:spPr>
        <p:txBody>
          <a:bodyPr wrap="none" rtlCol="0">
            <a:spAutoFit/>
          </a:bodyPr>
          <a:lstStyle/>
          <a:p>
            <a:r>
              <a:rPr lang="en-US" sz="2400" dirty="0" smtClean="0">
                <a:solidFill>
                  <a:srgbClr val="FF0000"/>
                </a:solidFill>
              </a:rPr>
              <a:t>x</a:t>
            </a:r>
            <a:r>
              <a:rPr lang="en-US" sz="2400" baseline="-25000" dirty="0" smtClean="0">
                <a:solidFill>
                  <a:srgbClr val="FF0000"/>
                </a:solidFill>
              </a:rPr>
              <a:t>1</a:t>
            </a:r>
            <a:endParaRPr lang="en-US" sz="2400" dirty="0">
              <a:solidFill>
                <a:srgbClr val="FF0000"/>
              </a:solidFill>
            </a:endParaRPr>
          </a:p>
        </p:txBody>
      </p:sp>
      <p:sp>
        <p:nvSpPr>
          <p:cNvPr id="11" name="TextBox 10"/>
          <p:cNvSpPr txBox="1"/>
          <p:nvPr/>
        </p:nvSpPr>
        <p:spPr>
          <a:xfrm>
            <a:off x="1524951" y="2421344"/>
            <a:ext cx="452368" cy="461665"/>
          </a:xfrm>
          <a:prstGeom prst="rect">
            <a:avLst/>
          </a:prstGeom>
          <a:solidFill>
            <a:srgbClr val="FFFFFF">
              <a:alpha val="74902"/>
            </a:srgbClr>
          </a:solidFill>
        </p:spPr>
        <p:txBody>
          <a:bodyPr wrap="none" rtlCol="0">
            <a:spAutoFit/>
          </a:bodyPr>
          <a:lstStyle/>
          <a:p>
            <a:r>
              <a:rPr lang="en-US" sz="2400" dirty="0" smtClean="0">
                <a:solidFill>
                  <a:srgbClr val="FF0000"/>
                </a:solidFill>
              </a:rPr>
              <a:t>x</a:t>
            </a:r>
            <a:r>
              <a:rPr lang="en-US" sz="2400" baseline="-25000" dirty="0" smtClean="0">
                <a:solidFill>
                  <a:srgbClr val="FF0000"/>
                </a:solidFill>
              </a:rPr>
              <a:t>2</a:t>
            </a:r>
            <a:endParaRPr lang="en-US" sz="2400" dirty="0">
              <a:solidFill>
                <a:srgbClr val="FF0000"/>
              </a:solidFill>
            </a:endParaRPr>
          </a:p>
        </p:txBody>
      </p:sp>
      <p:sp>
        <p:nvSpPr>
          <p:cNvPr id="14" name="TextBox 13"/>
          <p:cNvSpPr txBox="1"/>
          <p:nvPr/>
        </p:nvSpPr>
        <p:spPr>
          <a:xfrm>
            <a:off x="2094035" y="4426625"/>
            <a:ext cx="452368" cy="461665"/>
          </a:xfrm>
          <a:prstGeom prst="rect">
            <a:avLst/>
          </a:prstGeom>
          <a:solidFill>
            <a:srgbClr val="FFFFFF">
              <a:alpha val="74902"/>
            </a:srgbClr>
          </a:solidFill>
        </p:spPr>
        <p:txBody>
          <a:bodyPr wrap="none" rtlCol="0">
            <a:spAutoFit/>
          </a:bodyPr>
          <a:lstStyle/>
          <a:p>
            <a:r>
              <a:rPr lang="en-US" sz="2400" dirty="0" smtClean="0">
                <a:solidFill>
                  <a:srgbClr val="FF0000"/>
                </a:solidFill>
              </a:rPr>
              <a:t>x</a:t>
            </a:r>
            <a:r>
              <a:rPr lang="en-US" sz="2400" baseline="-25000" dirty="0" smtClean="0">
                <a:solidFill>
                  <a:srgbClr val="FF0000"/>
                </a:solidFill>
              </a:rPr>
              <a:t>3</a:t>
            </a:r>
            <a:endParaRPr lang="en-US" sz="2400" dirty="0">
              <a:solidFill>
                <a:srgbClr val="FF0000"/>
              </a:solidFill>
            </a:endParaRPr>
          </a:p>
        </p:txBody>
      </p:sp>
      <p:sp>
        <p:nvSpPr>
          <p:cNvPr id="15" name="TextBox 14"/>
          <p:cNvSpPr txBox="1"/>
          <p:nvPr/>
        </p:nvSpPr>
        <p:spPr>
          <a:xfrm>
            <a:off x="3127567" y="867120"/>
            <a:ext cx="521297" cy="461665"/>
          </a:xfrm>
          <a:prstGeom prst="rect">
            <a:avLst/>
          </a:prstGeom>
          <a:solidFill>
            <a:srgbClr val="FFFFFF">
              <a:alpha val="74902"/>
            </a:srgbClr>
          </a:solidFill>
        </p:spPr>
        <p:txBody>
          <a:bodyPr wrap="none" rtlCol="0">
            <a:spAutoFit/>
          </a:bodyPr>
          <a:lstStyle/>
          <a:p>
            <a:r>
              <a:rPr lang="en-US" sz="2400" dirty="0" smtClean="0">
                <a:solidFill>
                  <a:srgbClr val="FF0000"/>
                </a:solidFill>
              </a:rPr>
              <a:t>w</a:t>
            </a:r>
            <a:r>
              <a:rPr lang="en-US" sz="2400" baseline="-25000" dirty="0" smtClean="0">
                <a:solidFill>
                  <a:srgbClr val="FF0000"/>
                </a:solidFill>
              </a:rPr>
              <a:t>1</a:t>
            </a:r>
            <a:endParaRPr lang="en-US" sz="2400" dirty="0">
              <a:solidFill>
                <a:srgbClr val="FF0000"/>
              </a:solidFill>
            </a:endParaRPr>
          </a:p>
        </p:txBody>
      </p:sp>
      <p:sp>
        <p:nvSpPr>
          <p:cNvPr id="16" name="TextBox 15"/>
          <p:cNvSpPr txBox="1"/>
          <p:nvPr/>
        </p:nvSpPr>
        <p:spPr>
          <a:xfrm>
            <a:off x="2472758" y="2266712"/>
            <a:ext cx="521297" cy="461665"/>
          </a:xfrm>
          <a:prstGeom prst="rect">
            <a:avLst/>
          </a:prstGeom>
          <a:solidFill>
            <a:srgbClr val="FFFFFF">
              <a:alpha val="74902"/>
            </a:srgbClr>
          </a:solidFill>
        </p:spPr>
        <p:txBody>
          <a:bodyPr wrap="none" rtlCol="0">
            <a:spAutoFit/>
          </a:bodyPr>
          <a:lstStyle/>
          <a:p>
            <a:r>
              <a:rPr lang="en-US" sz="2400" dirty="0" smtClean="0">
                <a:solidFill>
                  <a:srgbClr val="FF0000"/>
                </a:solidFill>
              </a:rPr>
              <a:t>w</a:t>
            </a:r>
            <a:r>
              <a:rPr lang="en-US" sz="2400" baseline="-25000" dirty="0" smtClean="0">
                <a:solidFill>
                  <a:srgbClr val="FF0000"/>
                </a:solidFill>
              </a:rPr>
              <a:t>2</a:t>
            </a:r>
            <a:endParaRPr lang="en-US" sz="2400" dirty="0">
              <a:solidFill>
                <a:srgbClr val="FF0000"/>
              </a:solidFill>
            </a:endParaRPr>
          </a:p>
        </p:txBody>
      </p:sp>
      <p:cxnSp>
        <p:nvCxnSpPr>
          <p:cNvPr id="18" name="Straight Arrow Connector 17"/>
          <p:cNvCxnSpPr/>
          <p:nvPr/>
        </p:nvCxnSpPr>
        <p:spPr>
          <a:xfrm flipV="1">
            <a:off x="4107733" y="4047481"/>
            <a:ext cx="428101" cy="490082"/>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705267" y="4554997"/>
            <a:ext cx="356188" cy="461665"/>
          </a:xfrm>
          <a:prstGeom prst="rect">
            <a:avLst/>
          </a:prstGeom>
          <a:solidFill>
            <a:srgbClr val="FFFFFF">
              <a:alpha val="74902"/>
            </a:srgbClr>
          </a:solidFill>
        </p:spPr>
        <p:txBody>
          <a:bodyPr wrap="none" rtlCol="0">
            <a:spAutoFit/>
          </a:bodyPr>
          <a:lstStyle/>
          <a:p>
            <a:r>
              <a:rPr lang="en-US" sz="2400" dirty="0">
                <a:solidFill>
                  <a:srgbClr val="FF0000"/>
                </a:solidFill>
              </a:rPr>
              <a:t>1</a:t>
            </a:r>
          </a:p>
        </p:txBody>
      </p:sp>
      <p:sp>
        <p:nvSpPr>
          <p:cNvPr id="21" name="TextBox 20"/>
          <p:cNvSpPr txBox="1"/>
          <p:nvPr/>
        </p:nvSpPr>
        <p:spPr>
          <a:xfrm>
            <a:off x="4061455" y="994263"/>
            <a:ext cx="3417953" cy="461665"/>
          </a:xfrm>
          <a:prstGeom prst="rect">
            <a:avLst/>
          </a:prstGeom>
          <a:solidFill>
            <a:srgbClr val="FFFFFF">
              <a:alpha val="74902"/>
            </a:srgbClr>
          </a:solidFill>
        </p:spPr>
        <p:txBody>
          <a:bodyPr wrap="square" rtlCol="0">
            <a:spAutoFit/>
          </a:bodyPr>
          <a:lstStyle/>
          <a:p>
            <a:r>
              <a:rPr lang="en-US" sz="2400" dirty="0" smtClean="0">
                <a:solidFill>
                  <a:srgbClr val="FF0000"/>
                </a:solidFill>
              </a:rPr>
              <a:t>z = x</a:t>
            </a:r>
            <a:r>
              <a:rPr lang="en-US" sz="2400" baseline="-25000" dirty="0" smtClean="0">
                <a:solidFill>
                  <a:srgbClr val="FF0000"/>
                </a:solidFill>
              </a:rPr>
              <a:t>1</a:t>
            </a:r>
            <a:r>
              <a:rPr lang="en-US" sz="2400" dirty="0" smtClean="0">
                <a:solidFill>
                  <a:srgbClr val="FF0000"/>
                </a:solidFill>
              </a:rPr>
              <a:t>w</a:t>
            </a:r>
            <a:r>
              <a:rPr lang="en-US" sz="2400" baseline="-25000" dirty="0" smtClean="0">
                <a:solidFill>
                  <a:srgbClr val="FF0000"/>
                </a:solidFill>
              </a:rPr>
              <a:t>1</a:t>
            </a:r>
            <a:r>
              <a:rPr lang="en-US" sz="2400" dirty="0" smtClean="0">
                <a:solidFill>
                  <a:srgbClr val="FF0000"/>
                </a:solidFill>
              </a:rPr>
              <a:t>+</a:t>
            </a:r>
            <a:r>
              <a:rPr lang="en-US" sz="2400" dirty="0">
                <a:solidFill>
                  <a:srgbClr val="FF0000"/>
                </a:solidFill>
              </a:rPr>
              <a:t> </a:t>
            </a:r>
            <a:r>
              <a:rPr lang="en-US" sz="2400" dirty="0" smtClean="0">
                <a:solidFill>
                  <a:srgbClr val="FF0000"/>
                </a:solidFill>
              </a:rPr>
              <a:t>x</a:t>
            </a:r>
            <a:r>
              <a:rPr lang="en-US" sz="2400" baseline="-25000" dirty="0" smtClean="0">
                <a:solidFill>
                  <a:srgbClr val="FF0000"/>
                </a:solidFill>
              </a:rPr>
              <a:t>2</a:t>
            </a:r>
            <a:r>
              <a:rPr lang="en-US" sz="2400" dirty="0" smtClean="0">
                <a:solidFill>
                  <a:srgbClr val="FF0000"/>
                </a:solidFill>
              </a:rPr>
              <a:t>w</a:t>
            </a:r>
            <a:r>
              <a:rPr lang="en-US" sz="2400" baseline="-25000" dirty="0" smtClean="0">
                <a:solidFill>
                  <a:srgbClr val="FF0000"/>
                </a:solidFill>
              </a:rPr>
              <a:t>2</a:t>
            </a:r>
            <a:r>
              <a:rPr lang="en-US" sz="2400" dirty="0" smtClean="0">
                <a:solidFill>
                  <a:srgbClr val="FF0000"/>
                </a:solidFill>
              </a:rPr>
              <a:t>+ x</a:t>
            </a:r>
            <a:r>
              <a:rPr lang="en-US" sz="2400" baseline="-25000" dirty="0" smtClean="0">
                <a:solidFill>
                  <a:srgbClr val="FF0000"/>
                </a:solidFill>
              </a:rPr>
              <a:t>3</a:t>
            </a:r>
            <a:r>
              <a:rPr lang="en-US" sz="2400" dirty="0" smtClean="0">
                <a:solidFill>
                  <a:srgbClr val="FF0000"/>
                </a:solidFill>
              </a:rPr>
              <a:t>w</a:t>
            </a:r>
            <a:r>
              <a:rPr lang="en-US" sz="2400" baseline="-25000" dirty="0" smtClean="0">
                <a:solidFill>
                  <a:srgbClr val="FF0000"/>
                </a:solidFill>
              </a:rPr>
              <a:t>3</a:t>
            </a:r>
            <a:r>
              <a:rPr lang="en-US" sz="2400" dirty="0" smtClean="0">
                <a:solidFill>
                  <a:srgbClr val="FF0000"/>
                </a:solidFill>
              </a:rPr>
              <a:t>+b</a:t>
            </a:r>
            <a:endParaRPr lang="en-US" sz="2400" dirty="0">
              <a:solidFill>
                <a:srgbClr val="FF0000"/>
              </a:solidFill>
            </a:endParaRPr>
          </a:p>
        </p:txBody>
      </p:sp>
      <p:sp>
        <p:nvSpPr>
          <p:cNvPr id="22" name="TextBox 21"/>
          <p:cNvSpPr txBox="1"/>
          <p:nvPr/>
        </p:nvSpPr>
        <p:spPr>
          <a:xfrm>
            <a:off x="6316188" y="2120701"/>
            <a:ext cx="628698" cy="461665"/>
          </a:xfrm>
          <a:prstGeom prst="rect">
            <a:avLst/>
          </a:prstGeom>
          <a:solidFill>
            <a:srgbClr val="FFFFFF">
              <a:alpha val="74902"/>
            </a:srgbClr>
          </a:solidFill>
        </p:spPr>
        <p:txBody>
          <a:bodyPr wrap="none" rtlCol="0">
            <a:spAutoFit/>
          </a:bodyPr>
          <a:lstStyle/>
          <a:p>
            <a:r>
              <a:rPr lang="en-US" sz="2400" dirty="0" smtClean="0">
                <a:solidFill>
                  <a:srgbClr val="FF0000"/>
                </a:solidFill>
              </a:rPr>
              <a:t>f(z)</a:t>
            </a:r>
            <a:endParaRPr lang="en-US" sz="2400" dirty="0">
              <a:solidFill>
                <a:srgbClr val="FF0000"/>
              </a:solidFill>
            </a:endParaRPr>
          </a:p>
        </p:txBody>
      </p:sp>
    </p:spTree>
    <p:extLst>
      <p:ext uri="{BB962C8B-B14F-4D97-AF65-F5344CB8AC3E}">
        <p14:creationId xmlns:p14="http://schemas.microsoft.com/office/powerpoint/2010/main" val="4542684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3705268" y="3997931"/>
            <a:ext cx="507742" cy="461665"/>
          </a:xfrm>
          <a:prstGeom prst="rect">
            <a:avLst/>
          </a:prstGeom>
          <a:solidFill>
            <a:srgbClr val="FFFFFF">
              <a:alpha val="74902"/>
            </a:srgbClr>
          </a:solidFill>
        </p:spPr>
        <p:txBody>
          <a:bodyPr wrap="square" rtlCol="0">
            <a:spAutoFit/>
          </a:bodyPr>
          <a:lstStyle/>
          <a:p>
            <a:r>
              <a:rPr lang="en-US" sz="2400" dirty="0" smtClean="0">
                <a:solidFill>
                  <a:srgbClr val="FF0000"/>
                </a:solidFill>
              </a:rPr>
              <a:t>.5</a:t>
            </a:r>
            <a:endParaRPr lang="en-US" sz="2400" dirty="0">
              <a:solidFill>
                <a:srgbClr val="FF0000"/>
              </a:solidFill>
            </a:endParaRPr>
          </a:p>
        </p:txBody>
      </p:sp>
      <p:sp>
        <p:nvSpPr>
          <p:cNvPr id="17" name="TextBox 16"/>
          <p:cNvSpPr txBox="1"/>
          <p:nvPr/>
        </p:nvSpPr>
        <p:spPr>
          <a:xfrm>
            <a:off x="2722685" y="3671697"/>
            <a:ext cx="458780" cy="461665"/>
          </a:xfrm>
          <a:prstGeom prst="rect">
            <a:avLst/>
          </a:prstGeom>
          <a:solidFill>
            <a:srgbClr val="FFFFFF">
              <a:alpha val="74902"/>
            </a:srgbClr>
          </a:solidFill>
        </p:spPr>
        <p:txBody>
          <a:bodyPr wrap="none" rtlCol="0">
            <a:spAutoFit/>
          </a:bodyPr>
          <a:lstStyle/>
          <a:p>
            <a:r>
              <a:rPr lang="en-US" sz="2400" dirty="0" smtClean="0">
                <a:solidFill>
                  <a:srgbClr val="FF0000"/>
                </a:solidFill>
              </a:rPr>
              <a:t>-1</a:t>
            </a:r>
            <a:endParaRPr lang="en-US" sz="2400" dirty="0">
              <a:solidFill>
                <a:srgbClr val="FF0000"/>
              </a:solidFill>
            </a:endParaRPr>
          </a:p>
        </p:txBody>
      </p:sp>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Example Neuron Computation</a:t>
            </a:r>
            <a:endParaRPr lang="en-US" dirty="0">
              <a:latin typeface="Avenir Book" charset="0"/>
              <a:ea typeface="Avenir Book" charset="0"/>
              <a:cs typeface="Avenir Book" charset="0"/>
            </a:endParaRPr>
          </a:p>
        </p:txBody>
      </p:sp>
      <p:cxnSp>
        <p:nvCxnSpPr>
          <p:cNvPr id="73" name="Straight Arrow Connector 72"/>
          <p:cNvCxnSpPr>
            <a:stCxn id="75" idx="6"/>
          </p:cNvCxnSpPr>
          <p:nvPr/>
        </p:nvCxnSpPr>
        <p:spPr>
          <a:xfrm>
            <a:off x="5980235" y="2823063"/>
            <a:ext cx="18288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3579935" y="1622913"/>
            <a:ext cx="2400300" cy="24003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bg1"/>
                </a:solidFill>
              </a:rPr>
              <a:t>(sigmoid)activation</a:t>
            </a:r>
          </a:p>
          <a:p>
            <a:pPr algn="ctr"/>
            <a:r>
              <a:rPr lang="en-US" sz="2700" dirty="0">
                <a:solidFill>
                  <a:schemeClr val="bg1"/>
                </a:solidFill>
              </a:rPr>
              <a:t>function</a:t>
            </a:r>
          </a:p>
        </p:txBody>
      </p:sp>
      <p:cxnSp>
        <p:nvCxnSpPr>
          <p:cNvPr id="76" name="Straight Arrow Connector 75"/>
          <p:cNvCxnSpPr>
            <a:endCxn id="75" idx="3"/>
          </p:cNvCxnSpPr>
          <p:nvPr/>
        </p:nvCxnSpPr>
        <p:spPr>
          <a:xfrm flipV="1">
            <a:off x="2722685" y="3671697"/>
            <a:ext cx="1208766" cy="9801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75" idx="2"/>
          </p:cNvCxnSpPr>
          <p:nvPr/>
        </p:nvCxnSpPr>
        <p:spPr>
          <a:xfrm>
            <a:off x="2094035" y="2823063"/>
            <a:ext cx="14859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75" idx="1"/>
          </p:cNvCxnSpPr>
          <p:nvPr/>
        </p:nvCxnSpPr>
        <p:spPr>
          <a:xfrm>
            <a:off x="2665535" y="1108563"/>
            <a:ext cx="1265916" cy="8658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67851" y="877730"/>
            <a:ext cx="441146" cy="461665"/>
          </a:xfrm>
          <a:prstGeom prst="rect">
            <a:avLst/>
          </a:prstGeom>
          <a:solidFill>
            <a:srgbClr val="FFFFFF">
              <a:alpha val="74902"/>
            </a:srgbClr>
          </a:solidFill>
        </p:spPr>
        <p:txBody>
          <a:bodyPr wrap="none" rtlCol="0">
            <a:spAutoFit/>
          </a:bodyPr>
          <a:lstStyle/>
          <a:p>
            <a:r>
              <a:rPr lang="en-US" sz="2400" dirty="0" smtClean="0">
                <a:solidFill>
                  <a:srgbClr val="FF0000"/>
                </a:solidFill>
              </a:rPr>
              <a:t>.9</a:t>
            </a:r>
            <a:endParaRPr lang="en-US" sz="2400" dirty="0">
              <a:solidFill>
                <a:srgbClr val="FF0000"/>
              </a:solidFill>
            </a:endParaRPr>
          </a:p>
        </p:txBody>
      </p:sp>
      <p:sp>
        <p:nvSpPr>
          <p:cNvPr id="11" name="TextBox 10"/>
          <p:cNvSpPr txBox="1"/>
          <p:nvPr/>
        </p:nvSpPr>
        <p:spPr>
          <a:xfrm>
            <a:off x="1524951" y="2421344"/>
            <a:ext cx="441146" cy="461665"/>
          </a:xfrm>
          <a:prstGeom prst="rect">
            <a:avLst/>
          </a:prstGeom>
          <a:solidFill>
            <a:srgbClr val="FFFFFF">
              <a:alpha val="74902"/>
            </a:srgbClr>
          </a:solidFill>
        </p:spPr>
        <p:txBody>
          <a:bodyPr wrap="none" rtlCol="0">
            <a:spAutoFit/>
          </a:bodyPr>
          <a:lstStyle/>
          <a:p>
            <a:r>
              <a:rPr lang="en-US" sz="2400" dirty="0" smtClean="0">
                <a:solidFill>
                  <a:srgbClr val="FF0000"/>
                </a:solidFill>
              </a:rPr>
              <a:t>.2</a:t>
            </a:r>
            <a:endParaRPr lang="en-US" sz="2400" dirty="0">
              <a:solidFill>
                <a:srgbClr val="FF0000"/>
              </a:solidFill>
            </a:endParaRPr>
          </a:p>
        </p:txBody>
      </p:sp>
      <p:sp>
        <p:nvSpPr>
          <p:cNvPr id="14" name="TextBox 13"/>
          <p:cNvSpPr txBox="1"/>
          <p:nvPr/>
        </p:nvSpPr>
        <p:spPr>
          <a:xfrm>
            <a:off x="2094035" y="4426625"/>
            <a:ext cx="441146" cy="461665"/>
          </a:xfrm>
          <a:prstGeom prst="rect">
            <a:avLst/>
          </a:prstGeom>
          <a:solidFill>
            <a:srgbClr val="FFFFFF">
              <a:alpha val="74902"/>
            </a:srgbClr>
          </a:solidFill>
        </p:spPr>
        <p:txBody>
          <a:bodyPr wrap="none" rtlCol="0">
            <a:spAutoFit/>
          </a:bodyPr>
          <a:lstStyle/>
          <a:p>
            <a:r>
              <a:rPr lang="en-US" sz="2400" dirty="0" smtClean="0">
                <a:solidFill>
                  <a:srgbClr val="FF0000"/>
                </a:solidFill>
              </a:rPr>
              <a:t>.3</a:t>
            </a:r>
            <a:endParaRPr lang="en-US" sz="2400" dirty="0">
              <a:solidFill>
                <a:srgbClr val="FF0000"/>
              </a:solidFill>
            </a:endParaRPr>
          </a:p>
        </p:txBody>
      </p:sp>
      <p:sp>
        <p:nvSpPr>
          <p:cNvPr id="15" name="TextBox 14"/>
          <p:cNvSpPr txBox="1"/>
          <p:nvPr/>
        </p:nvSpPr>
        <p:spPr>
          <a:xfrm>
            <a:off x="3127567" y="867120"/>
            <a:ext cx="356188" cy="461665"/>
          </a:xfrm>
          <a:prstGeom prst="rect">
            <a:avLst/>
          </a:prstGeom>
          <a:solidFill>
            <a:srgbClr val="FFFFFF">
              <a:alpha val="74902"/>
            </a:srgbClr>
          </a:solidFill>
        </p:spPr>
        <p:txBody>
          <a:bodyPr wrap="none" rtlCol="0">
            <a:spAutoFit/>
          </a:bodyPr>
          <a:lstStyle/>
          <a:p>
            <a:r>
              <a:rPr lang="en-US" sz="2400" dirty="0">
                <a:solidFill>
                  <a:srgbClr val="FF0000"/>
                </a:solidFill>
              </a:rPr>
              <a:t>2</a:t>
            </a:r>
          </a:p>
        </p:txBody>
      </p:sp>
      <p:sp>
        <p:nvSpPr>
          <p:cNvPr id="16" name="TextBox 15"/>
          <p:cNvSpPr txBox="1"/>
          <p:nvPr/>
        </p:nvSpPr>
        <p:spPr>
          <a:xfrm>
            <a:off x="2472758" y="2266712"/>
            <a:ext cx="356188" cy="461665"/>
          </a:xfrm>
          <a:prstGeom prst="rect">
            <a:avLst/>
          </a:prstGeom>
          <a:solidFill>
            <a:srgbClr val="FFFFFF">
              <a:alpha val="74902"/>
            </a:srgbClr>
          </a:solidFill>
        </p:spPr>
        <p:txBody>
          <a:bodyPr wrap="none" rtlCol="0">
            <a:spAutoFit/>
          </a:bodyPr>
          <a:lstStyle/>
          <a:p>
            <a:r>
              <a:rPr lang="en-US" sz="2400" dirty="0" smtClean="0">
                <a:solidFill>
                  <a:srgbClr val="FF0000"/>
                </a:solidFill>
              </a:rPr>
              <a:t>3</a:t>
            </a:r>
            <a:endParaRPr lang="en-US" sz="2400" dirty="0">
              <a:solidFill>
                <a:srgbClr val="FF0000"/>
              </a:solidFill>
            </a:endParaRPr>
          </a:p>
        </p:txBody>
      </p:sp>
      <p:cxnSp>
        <p:nvCxnSpPr>
          <p:cNvPr id="18" name="Straight Arrow Connector 17"/>
          <p:cNvCxnSpPr/>
          <p:nvPr/>
        </p:nvCxnSpPr>
        <p:spPr>
          <a:xfrm flipV="1">
            <a:off x="4107733" y="4047481"/>
            <a:ext cx="428101" cy="490082"/>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705267" y="4554997"/>
            <a:ext cx="356188" cy="461665"/>
          </a:xfrm>
          <a:prstGeom prst="rect">
            <a:avLst/>
          </a:prstGeom>
          <a:solidFill>
            <a:srgbClr val="FFFFFF">
              <a:alpha val="74902"/>
            </a:srgbClr>
          </a:solidFill>
        </p:spPr>
        <p:txBody>
          <a:bodyPr wrap="none" rtlCol="0">
            <a:spAutoFit/>
          </a:bodyPr>
          <a:lstStyle/>
          <a:p>
            <a:r>
              <a:rPr lang="en-US" sz="2400" dirty="0">
                <a:solidFill>
                  <a:srgbClr val="FF0000"/>
                </a:solidFill>
              </a:rPr>
              <a:t>1</a:t>
            </a:r>
          </a:p>
        </p:txBody>
      </p:sp>
      <p:sp>
        <p:nvSpPr>
          <p:cNvPr id="21" name="TextBox 20"/>
          <p:cNvSpPr txBox="1"/>
          <p:nvPr/>
        </p:nvSpPr>
        <p:spPr>
          <a:xfrm>
            <a:off x="4061455" y="994263"/>
            <a:ext cx="3417953" cy="461665"/>
          </a:xfrm>
          <a:prstGeom prst="rect">
            <a:avLst/>
          </a:prstGeom>
          <a:solidFill>
            <a:srgbClr val="FFFFFF">
              <a:alpha val="74902"/>
            </a:srgbClr>
          </a:solidFill>
        </p:spPr>
        <p:txBody>
          <a:bodyPr wrap="square" rtlCol="0">
            <a:spAutoFit/>
          </a:bodyPr>
          <a:lstStyle/>
          <a:p>
            <a:r>
              <a:rPr lang="en-US" sz="2400" dirty="0" smtClean="0">
                <a:solidFill>
                  <a:srgbClr val="FF0000"/>
                </a:solidFill>
              </a:rPr>
              <a:t>z = x</a:t>
            </a:r>
            <a:r>
              <a:rPr lang="en-US" sz="2400" baseline="-25000" dirty="0" smtClean="0">
                <a:solidFill>
                  <a:srgbClr val="FF0000"/>
                </a:solidFill>
              </a:rPr>
              <a:t>1</a:t>
            </a:r>
            <a:r>
              <a:rPr lang="en-US" sz="2400" dirty="0" smtClean="0">
                <a:solidFill>
                  <a:srgbClr val="FF0000"/>
                </a:solidFill>
              </a:rPr>
              <a:t>w</a:t>
            </a:r>
            <a:r>
              <a:rPr lang="en-US" sz="2400" baseline="-25000" dirty="0" smtClean="0">
                <a:solidFill>
                  <a:srgbClr val="FF0000"/>
                </a:solidFill>
              </a:rPr>
              <a:t>1</a:t>
            </a:r>
            <a:r>
              <a:rPr lang="en-US" sz="2400" smtClean="0">
                <a:solidFill>
                  <a:srgbClr val="FF0000"/>
                </a:solidFill>
              </a:rPr>
              <a:t>+</a:t>
            </a:r>
            <a:r>
              <a:rPr lang="en-US" sz="2400">
                <a:solidFill>
                  <a:srgbClr val="FF0000"/>
                </a:solidFill>
              </a:rPr>
              <a:t> </a:t>
            </a:r>
            <a:r>
              <a:rPr lang="en-US" sz="2400" smtClean="0">
                <a:solidFill>
                  <a:srgbClr val="FF0000"/>
                </a:solidFill>
              </a:rPr>
              <a:t>x</a:t>
            </a:r>
            <a:r>
              <a:rPr lang="en-US" sz="2400" baseline="-25000" smtClean="0">
                <a:solidFill>
                  <a:srgbClr val="FF0000"/>
                </a:solidFill>
              </a:rPr>
              <a:t>2</a:t>
            </a:r>
            <a:r>
              <a:rPr lang="en-US" sz="2400" smtClean="0">
                <a:solidFill>
                  <a:srgbClr val="FF0000"/>
                </a:solidFill>
              </a:rPr>
              <a:t>w</a:t>
            </a:r>
            <a:r>
              <a:rPr lang="en-US" sz="2400" baseline="-25000" smtClean="0">
                <a:solidFill>
                  <a:srgbClr val="FF0000"/>
                </a:solidFill>
              </a:rPr>
              <a:t>2</a:t>
            </a:r>
            <a:r>
              <a:rPr lang="en-US" sz="2400" smtClean="0">
                <a:solidFill>
                  <a:srgbClr val="FF0000"/>
                </a:solidFill>
              </a:rPr>
              <a:t>+ x</a:t>
            </a:r>
            <a:r>
              <a:rPr lang="en-US" sz="2400" baseline="-25000" smtClean="0">
                <a:solidFill>
                  <a:srgbClr val="FF0000"/>
                </a:solidFill>
              </a:rPr>
              <a:t>3</a:t>
            </a:r>
            <a:r>
              <a:rPr lang="en-US" sz="2400" smtClean="0">
                <a:solidFill>
                  <a:srgbClr val="FF0000"/>
                </a:solidFill>
              </a:rPr>
              <a:t>w</a:t>
            </a:r>
            <a:r>
              <a:rPr lang="en-US" sz="2400" baseline="-25000" smtClean="0">
                <a:solidFill>
                  <a:srgbClr val="FF0000"/>
                </a:solidFill>
              </a:rPr>
              <a:t>3</a:t>
            </a:r>
            <a:r>
              <a:rPr lang="en-US" sz="2400" smtClean="0">
                <a:solidFill>
                  <a:srgbClr val="FF0000"/>
                </a:solidFill>
              </a:rPr>
              <a:t>+b</a:t>
            </a:r>
            <a:endParaRPr lang="en-US" sz="2400" dirty="0">
              <a:solidFill>
                <a:srgbClr val="FF0000"/>
              </a:solidFill>
            </a:endParaRPr>
          </a:p>
        </p:txBody>
      </p:sp>
      <p:sp>
        <p:nvSpPr>
          <p:cNvPr id="22" name="TextBox 21"/>
          <p:cNvSpPr txBox="1"/>
          <p:nvPr/>
        </p:nvSpPr>
        <p:spPr>
          <a:xfrm>
            <a:off x="6316188" y="2120701"/>
            <a:ext cx="628698" cy="461665"/>
          </a:xfrm>
          <a:prstGeom prst="rect">
            <a:avLst/>
          </a:prstGeom>
          <a:solidFill>
            <a:srgbClr val="FFFFFF">
              <a:alpha val="74902"/>
            </a:srgbClr>
          </a:solidFill>
        </p:spPr>
        <p:txBody>
          <a:bodyPr wrap="none" rtlCol="0">
            <a:spAutoFit/>
          </a:bodyPr>
          <a:lstStyle/>
          <a:p>
            <a:r>
              <a:rPr lang="en-US" sz="2400" dirty="0" smtClean="0">
                <a:solidFill>
                  <a:srgbClr val="FF0000"/>
                </a:solidFill>
              </a:rPr>
              <a:t>f(z)</a:t>
            </a:r>
            <a:endParaRPr lang="en-US" sz="2400" dirty="0">
              <a:solidFill>
                <a:srgbClr val="FF0000"/>
              </a:solidFill>
            </a:endParaRPr>
          </a:p>
        </p:txBody>
      </p:sp>
    </p:spTree>
    <p:extLst>
      <p:ext uri="{BB962C8B-B14F-4D97-AF65-F5344CB8AC3E}">
        <p14:creationId xmlns:p14="http://schemas.microsoft.com/office/powerpoint/2010/main" val="13206455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3705268" y="3997931"/>
            <a:ext cx="507742" cy="461665"/>
          </a:xfrm>
          <a:prstGeom prst="rect">
            <a:avLst/>
          </a:prstGeom>
          <a:solidFill>
            <a:srgbClr val="FFFFFF">
              <a:alpha val="74902"/>
            </a:srgbClr>
          </a:solidFill>
        </p:spPr>
        <p:txBody>
          <a:bodyPr wrap="square" rtlCol="0">
            <a:spAutoFit/>
          </a:bodyPr>
          <a:lstStyle/>
          <a:p>
            <a:r>
              <a:rPr lang="en-US" sz="2400" dirty="0" smtClean="0">
                <a:solidFill>
                  <a:srgbClr val="FF0000"/>
                </a:solidFill>
              </a:rPr>
              <a:t>.5</a:t>
            </a:r>
            <a:endParaRPr lang="en-US" sz="2400" dirty="0">
              <a:solidFill>
                <a:srgbClr val="FF0000"/>
              </a:solidFill>
            </a:endParaRPr>
          </a:p>
        </p:txBody>
      </p:sp>
      <p:sp>
        <p:nvSpPr>
          <p:cNvPr id="17" name="TextBox 16"/>
          <p:cNvSpPr txBox="1"/>
          <p:nvPr/>
        </p:nvSpPr>
        <p:spPr>
          <a:xfrm>
            <a:off x="2722685" y="3671697"/>
            <a:ext cx="458780" cy="461665"/>
          </a:xfrm>
          <a:prstGeom prst="rect">
            <a:avLst/>
          </a:prstGeom>
          <a:solidFill>
            <a:srgbClr val="FFFFFF">
              <a:alpha val="74902"/>
            </a:srgbClr>
          </a:solidFill>
        </p:spPr>
        <p:txBody>
          <a:bodyPr wrap="none" rtlCol="0">
            <a:spAutoFit/>
          </a:bodyPr>
          <a:lstStyle/>
          <a:p>
            <a:r>
              <a:rPr lang="en-US" sz="2400" dirty="0" smtClean="0">
                <a:solidFill>
                  <a:srgbClr val="FF0000"/>
                </a:solidFill>
              </a:rPr>
              <a:t>-1</a:t>
            </a:r>
            <a:endParaRPr lang="en-US" sz="2400" dirty="0">
              <a:solidFill>
                <a:srgbClr val="FF0000"/>
              </a:solidFill>
            </a:endParaRPr>
          </a:p>
        </p:txBody>
      </p:sp>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Example Neuron Computation</a:t>
            </a:r>
            <a:endParaRPr lang="en-US" dirty="0">
              <a:latin typeface="Avenir Book" charset="0"/>
              <a:ea typeface="Avenir Book" charset="0"/>
              <a:cs typeface="Avenir Book" charset="0"/>
            </a:endParaRPr>
          </a:p>
        </p:txBody>
      </p:sp>
      <p:cxnSp>
        <p:nvCxnSpPr>
          <p:cNvPr id="73" name="Straight Arrow Connector 72"/>
          <p:cNvCxnSpPr>
            <a:stCxn id="75" idx="6"/>
          </p:cNvCxnSpPr>
          <p:nvPr/>
        </p:nvCxnSpPr>
        <p:spPr>
          <a:xfrm>
            <a:off x="5980235" y="2823063"/>
            <a:ext cx="18288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3579935" y="1622913"/>
            <a:ext cx="2400300" cy="24003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bg1"/>
                </a:solidFill>
              </a:rPr>
              <a:t>(sigmoid)activation</a:t>
            </a:r>
          </a:p>
          <a:p>
            <a:pPr algn="ctr"/>
            <a:r>
              <a:rPr lang="en-US" sz="2700" dirty="0">
                <a:solidFill>
                  <a:schemeClr val="bg1"/>
                </a:solidFill>
              </a:rPr>
              <a:t>function</a:t>
            </a:r>
          </a:p>
        </p:txBody>
      </p:sp>
      <p:cxnSp>
        <p:nvCxnSpPr>
          <p:cNvPr id="76" name="Straight Arrow Connector 75"/>
          <p:cNvCxnSpPr>
            <a:endCxn id="75" idx="3"/>
          </p:cNvCxnSpPr>
          <p:nvPr/>
        </p:nvCxnSpPr>
        <p:spPr>
          <a:xfrm flipV="1">
            <a:off x="2722685" y="3671697"/>
            <a:ext cx="1208766" cy="9801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75" idx="2"/>
          </p:cNvCxnSpPr>
          <p:nvPr/>
        </p:nvCxnSpPr>
        <p:spPr>
          <a:xfrm>
            <a:off x="2094035" y="2823063"/>
            <a:ext cx="14859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75" idx="1"/>
          </p:cNvCxnSpPr>
          <p:nvPr/>
        </p:nvCxnSpPr>
        <p:spPr>
          <a:xfrm>
            <a:off x="2665535" y="1108563"/>
            <a:ext cx="1265916" cy="8658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67851" y="877730"/>
            <a:ext cx="441146" cy="461665"/>
          </a:xfrm>
          <a:prstGeom prst="rect">
            <a:avLst/>
          </a:prstGeom>
          <a:solidFill>
            <a:srgbClr val="FFFFFF">
              <a:alpha val="74902"/>
            </a:srgbClr>
          </a:solidFill>
        </p:spPr>
        <p:txBody>
          <a:bodyPr wrap="none" rtlCol="0">
            <a:spAutoFit/>
          </a:bodyPr>
          <a:lstStyle/>
          <a:p>
            <a:r>
              <a:rPr lang="en-US" sz="2400" dirty="0" smtClean="0">
                <a:solidFill>
                  <a:srgbClr val="FF0000"/>
                </a:solidFill>
              </a:rPr>
              <a:t>.9</a:t>
            </a:r>
            <a:endParaRPr lang="en-US" sz="2400" dirty="0">
              <a:solidFill>
                <a:srgbClr val="FF0000"/>
              </a:solidFill>
            </a:endParaRPr>
          </a:p>
        </p:txBody>
      </p:sp>
      <p:sp>
        <p:nvSpPr>
          <p:cNvPr id="11" name="TextBox 10"/>
          <p:cNvSpPr txBox="1"/>
          <p:nvPr/>
        </p:nvSpPr>
        <p:spPr>
          <a:xfrm>
            <a:off x="1524951" y="2421344"/>
            <a:ext cx="441146" cy="461665"/>
          </a:xfrm>
          <a:prstGeom prst="rect">
            <a:avLst/>
          </a:prstGeom>
          <a:solidFill>
            <a:srgbClr val="FFFFFF">
              <a:alpha val="74902"/>
            </a:srgbClr>
          </a:solidFill>
        </p:spPr>
        <p:txBody>
          <a:bodyPr wrap="none" rtlCol="0">
            <a:spAutoFit/>
          </a:bodyPr>
          <a:lstStyle/>
          <a:p>
            <a:r>
              <a:rPr lang="en-US" sz="2400" dirty="0" smtClean="0">
                <a:solidFill>
                  <a:srgbClr val="FF0000"/>
                </a:solidFill>
              </a:rPr>
              <a:t>.2</a:t>
            </a:r>
            <a:endParaRPr lang="en-US" sz="2400" dirty="0">
              <a:solidFill>
                <a:srgbClr val="FF0000"/>
              </a:solidFill>
            </a:endParaRPr>
          </a:p>
        </p:txBody>
      </p:sp>
      <p:sp>
        <p:nvSpPr>
          <p:cNvPr id="14" name="TextBox 13"/>
          <p:cNvSpPr txBox="1"/>
          <p:nvPr/>
        </p:nvSpPr>
        <p:spPr>
          <a:xfrm>
            <a:off x="2094035" y="4426625"/>
            <a:ext cx="441146" cy="461665"/>
          </a:xfrm>
          <a:prstGeom prst="rect">
            <a:avLst/>
          </a:prstGeom>
          <a:solidFill>
            <a:srgbClr val="FFFFFF">
              <a:alpha val="74902"/>
            </a:srgbClr>
          </a:solidFill>
        </p:spPr>
        <p:txBody>
          <a:bodyPr wrap="none" rtlCol="0">
            <a:spAutoFit/>
          </a:bodyPr>
          <a:lstStyle/>
          <a:p>
            <a:r>
              <a:rPr lang="en-US" sz="2400" dirty="0" smtClean="0">
                <a:solidFill>
                  <a:srgbClr val="FF0000"/>
                </a:solidFill>
              </a:rPr>
              <a:t>.3</a:t>
            </a:r>
            <a:endParaRPr lang="en-US" sz="2400" dirty="0">
              <a:solidFill>
                <a:srgbClr val="FF0000"/>
              </a:solidFill>
            </a:endParaRPr>
          </a:p>
        </p:txBody>
      </p:sp>
      <p:sp>
        <p:nvSpPr>
          <p:cNvPr id="15" name="TextBox 14"/>
          <p:cNvSpPr txBox="1"/>
          <p:nvPr/>
        </p:nvSpPr>
        <p:spPr>
          <a:xfrm>
            <a:off x="3127567" y="867120"/>
            <a:ext cx="356188" cy="461665"/>
          </a:xfrm>
          <a:prstGeom prst="rect">
            <a:avLst/>
          </a:prstGeom>
          <a:solidFill>
            <a:srgbClr val="FFFFFF">
              <a:alpha val="74902"/>
            </a:srgbClr>
          </a:solidFill>
        </p:spPr>
        <p:txBody>
          <a:bodyPr wrap="none" rtlCol="0">
            <a:spAutoFit/>
          </a:bodyPr>
          <a:lstStyle/>
          <a:p>
            <a:r>
              <a:rPr lang="en-US" sz="2400" dirty="0">
                <a:solidFill>
                  <a:srgbClr val="FF0000"/>
                </a:solidFill>
              </a:rPr>
              <a:t>2</a:t>
            </a:r>
          </a:p>
        </p:txBody>
      </p:sp>
      <p:sp>
        <p:nvSpPr>
          <p:cNvPr id="16" name="TextBox 15"/>
          <p:cNvSpPr txBox="1"/>
          <p:nvPr/>
        </p:nvSpPr>
        <p:spPr>
          <a:xfrm>
            <a:off x="2472758" y="2266712"/>
            <a:ext cx="356188" cy="461665"/>
          </a:xfrm>
          <a:prstGeom prst="rect">
            <a:avLst/>
          </a:prstGeom>
          <a:solidFill>
            <a:srgbClr val="FFFFFF">
              <a:alpha val="74902"/>
            </a:srgbClr>
          </a:solidFill>
        </p:spPr>
        <p:txBody>
          <a:bodyPr wrap="none" rtlCol="0">
            <a:spAutoFit/>
          </a:bodyPr>
          <a:lstStyle/>
          <a:p>
            <a:r>
              <a:rPr lang="en-US" sz="2400" dirty="0" smtClean="0">
                <a:solidFill>
                  <a:srgbClr val="FF0000"/>
                </a:solidFill>
              </a:rPr>
              <a:t>3</a:t>
            </a:r>
            <a:endParaRPr lang="en-US" sz="2400" dirty="0">
              <a:solidFill>
                <a:srgbClr val="FF0000"/>
              </a:solidFill>
            </a:endParaRPr>
          </a:p>
        </p:txBody>
      </p:sp>
      <p:cxnSp>
        <p:nvCxnSpPr>
          <p:cNvPr id="18" name="Straight Arrow Connector 17"/>
          <p:cNvCxnSpPr/>
          <p:nvPr/>
        </p:nvCxnSpPr>
        <p:spPr>
          <a:xfrm flipV="1">
            <a:off x="4107733" y="4047481"/>
            <a:ext cx="428101" cy="490082"/>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705267" y="4554997"/>
            <a:ext cx="356188" cy="461665"/>
          </a:xfrm>
          <a:prstGeom prst="rect">
            <a:avLst/>
          </a:prstGeom>
          <a:solidFill>
            <a:srgbClr val="FFFFFF">
              <a:alpha val="74902"/>
            </a:srgbClr>
          </a:solidFill>
        </p:spPr>
        <p:txBody>
          <a:bodyPr wrap="none" rtlCol="0">
            <a:spAutoFit/>
          </a:bodyPr>
          <a:lstStyle/>
          <a:p>
            <a:r>
              <a:rPr lang="en-US" sz="2400" dirty="0">
                <a:solidFill>
                  <a:srgbClr val="FF0000"/>
                </a:solidFill>
              </a:rPr>
              <a:t>1</a:t>
            </a:r>
          </a:p>
        </p:txBody>
      </p:sp>
      <p:sp>
        <p:nvSpPr>
          <p:cNvPr id="21" name="TextBox 20"/>
          <p:cNvSpPr txBox="1"/>
          <p:nvPr/>
        </p:nvSpPr>
        <p:spPr>
          <a:xfrm>
            <a:off x="4061455" y="994263"/>
            <a:ext cx="3747580" cy="400110"/>
          </a:xfrm>
          <a:prstGeom prst="rect">
            <a:avLst/>
          </a:prstGeom>
          <a:solidFill>
            <a:srgbClr val="FFFFFF">
              <a:alpha val="74902"/>
            </a:srgbClr>
          </a:solidFill>
        </p:spPr>
        <p:txBody>
          <a:bodyPr wrap="square" rtlCol="0">
            <a:spAutoFit/>
          </a:bodyPr>
          <a:lstStyle/>
          <a:p>
            <a:r>
              <a:rPr lang="en-US" sz="2000" dirty="0" smtClean="0">
                <a:solidFill>
                  <a:srgbClr val="FF0000"/>
                </a:solidFill>
              </a:rPr>
              <a:t>z = .9(2)+ .2(3)+ .3(-1)+.5 = 2.6</a:t>
            </a:r>
            <a:endParaRPr lang="en-US" sz="2000" dirty="0">
              <a:solidFill>
                <a:srgbClr val="FF0000"/>
              </a:solidFill>
            </a:endParaRPr>
          </a:p>
        </p:txBody>
      </p:sp>
      <p:sp>
        <p:nvSpPr>
          <p:cNvPr id="22" name="TextBox 21"/>
          <p:cNvSpPr txBox="1"/>
          <p:nvPr/>
        </p:nvSpPr>
        <p:spPr>
          <a:xfrm>
            <a:off x="6316188" y="2120701"/>
            <a:ext cx="628698" cy="461665"/>
          </a:xfrm>
          <a:prstGeom prst="rect">
            <a:avLst/>
          </a:prstGeom>
          <a:solidFill>
            <a:srgbClr val="FFFFFF">
              <a:alpha val="74902"/>
            </a:srgbClr>
          </a:solidFill>
        </p:spPr>
        <p:txBody>
          <a:bodyPr wrap="none" rtlCol="0">
            <a:spAutoFit/>
          </a:bodyPr>
          <a:lstStyle/>
          <a:p>
            <a:r>
              <a:rPr lang="en-US" sz="2400" dirty="0" smtClean="0">
                <a:solidFill>
                  <a:srgbClr val="FF0000"/>
                </a:solidFill>
              </a:rPr>
              <a:t>f(z)</a:t>
            </a:r>
            <a:endParaRPr lang="en-US" sz="2400" dirty="0">
              <a:solidFill>
                <a:srgbClr val="FF0000"/>
              </a:solidFill>
            </a:endParaRPr>
          </a:p>
        </p:txBody>
      </p:sp>
    </p:spTree>
    <p:extLst>
      <p:ext uri="{BB962C8B-B14F-4D97-AF65-F5344CB8AC3E}">
        <p14:creationId xmlns:p14="http://schemas.microsoft.com/office/powerpoint/2010/main" val="9645027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a:off x="6036897" y="2098178"/>
            <a:ext cx="2858475" cy="646331"/>
          </a:xfrm>
          <a:prstGeom prst="rect">
            <a:avLst/>
          </a:prstGeom>
          <a:solidFill>
            <a:srgbClr val="FFFFFF">
              <a:alpha val="74902"/>
            </a:srgbClr>
          </a:solidFill>
        </p:spPr>
        <p:txBody>
          <a:bodyPr wrap="none" rtlCol="0">
            <a:spAutoFit/>
          </a:bodyPr>
          <a:lstStyle/>
          <a:p>
            <a:r>
              <a:rPr lang="en-US" sz="1800" dirty="0" smtClean="0">
                <a:solidFill>
                  <a:srgbClr val="FF0000"/>
                </a:solidFill>
              </a:rPr>
              <a:t>f(z)=f(3.5)=1/(1+exp(-2.6))</a:t>
            </a:r>
          </a:p>
          <a:p>
            <a:r>
              <a:rPr lang="en-US" sz="1800" dirty="0">
                <a:solidFill>
                  <a:srgbClr val="FF0000"/>
                </a:solidFill>
              </a:rPr>
              <a:t>	</a:t>
            </a:r>
            <a:r>
              <a:rPr lang="en-US" sz="1800" dirty="0" smtClean="0">
                <a:solidFill>
                  <a:srgbClr val="FF0000"/>
                </a:solidFill>
              </a:rPr>
              <a:t>= .93</a:t>
            </a:r>
            <a:endParaRPr lang="en-US" sz="1800" dirty="0">
              <a:solidFill>
                <a:srgbClr val="FF0000"/>
              </a:solidFill>
            </a:endParaRPr>
          </a:p>
        </p:txBody>
      </p:sp>
      <p:sp>
        <p:nvSpPr>
          <p:cNvPr id="19" name="TextBox 18"/>
          <p:cNvSpPr txBox="1"/>
          <p:nvPr/>
        </p:nvSpPr>
        <p:spPr>
          <a:xfrm>
            <a:off x="3705268" y="3997931"/>
            <a:ext cx="507742" cy="461665"/>
          </a:xfrm>
          <a:prstGeom prst="rect">
            <a:avLst/>
          </a:prstGeom>
          <a:solidFill>
            <a:srgbClr val="FFFFFF">
              <a:alpha val="74902"/>
            </a:srgbClr>
          </a:solidFill>
        </p:spPr>
        <p:txBody>
          <a:bodyPr wrap="square" rtlCol="0">
            <a:spAutoFit/>
          </a:bodyPr>
          <a:lstStyle/>
          <a:p>
            <a:r>
              <a:rPr lang="en-US" sz="2400" dirty="0" smtClean="0">
                <a:solidFill>
                  <a:srgbClr val="FF0000"/>
                </a:solidFill>
              </a:rPr>
              <a:t>.5</a:t>
            </a:r>
            <a:endParaRPr lang="en-US" sz="2400" dirty="0">
              <a:solidFill>
                <a:srgbClr val="FF0000"/>
              </a:solidFill>
            </a:endParaRPr>
          </a:p>
        </p:txBody>
      </p:sp>
      <p:sp>
        <p:nvSpPr>
          <p:cNvPr id="17" name="TextBox 16"/>
          <p:cNvSpPr txBox="1"/>
          <p:nvPr/>
        </p:nvSpPr>
        <p:spPr>
          <a:xfrm>
            <a:off x="2722685" y="3671697"/>
            <a:ext cx="458780" cy="461665"/>
          </a:xfrm>
          <a:prstGeom prst="rect">
            <a:avLst/>
          </a:prstGeom>
          <a:solidFill>
            <a:srgbClr val="FFFFFF">
              <a:alpha val="74902"/>
            </a:srgbClr>
          </a:solidFill>
        </p:spPr>
        <p:txBody>
          <a:bodyPr wrap="none" rtlCol="0">
            <a:spAutoFit/>
          </a:bodyPr>
          <a:lstStyle/>
          <a:p>
            <a:r>
              <a:rPr lang="en-US" sz="2400" dirty="0" smtClean="0">
                <a:solidFill>
                  <a:srgbClr val="FF0000"/>
                </a:solidFill>
              </a:rPr>
              <a:t>-1</a:t>
            </a:r>
            <a:endParaRPr lang="en-US" sz="2400" dirty="0">
              <a:solidFill>
                <a:srgbClr val="FF0000"/>
              </a:solidFill>
            </a:endParaRPr>
          </a:p>
        </p:txBody>
      </p:sp>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Example Neuron Computation</a:t>
            </a:r>
            <a:endParaRPr lang="en-US" dirty="0">
              <a:latin typeface="Avenir Book" charset="0"/>
              <a:ea typeface="Avenir Book" charset="0"/>
              <a:cs typeface="Avenir Book" charset="0"/>
            </a:endParaRPr>
          </a:p>
        </p:txBody>
      </p:sp>
      <p:cxnSp>
        <p:nvCxnSpPr>
          <p:cNvPr id="73" name="Straight Arrow Connector 72"/>
          <p:cNvCxnSpPr>
            <a:stCxn id="75" idx="6"/>
          </p:cNvCxnSpPr>
          <p:nvPr/>
        </p:nvCxnSpPr>
        <p:spPr>
          <a:xfrm>
            <a:off x="5980235" y="2823063"/>
            <a:ext cx="18288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3579935" y="1622913"/>
            <a:ext cx="2400300" cy="24003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bg1"/>
                </a:solidFill>
              </a:rPr>
              <a:t>(sigmoid)activation</a:t>
            </a:r>
          </a:p>
          <a:p>
            <a:pPr algn="ctr"/>
            <a:r>
              <a:rPr lang="en-US" sz="2700" dirty="0">
                <a:solidFill>
                  <a:schemeClr val="bg1"/>
                </a:solidFill>
              </a:rPr>
              <a:t>function</a:t>
            </a:r>
          </a:p>
        </p:txBody>
      </p:sp>
      <p:cxnSp>
        <p:nvCxnSpPr>
          <p:cNvPr id="76" name="Straight Arrow Connector 75"/>
          <p:cNvCxnSpPr>
            <a:endCxn id="75" idx="3"/>
          </p:cNvCxnSpPr>
          <p:nvPr/>
        </p:nvCxnSpPr>
        <p:spPr>
          <a:xfrm flipV="1">
            <a:off x="2722685" y="3671697"/>
            <a:ext cx="1208766" cy="9801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75" idx="2"/>
          </p:cNvCxnSpPr>
          <p:nvPr/>
        </p:nvCxnSpPr>
        <p:spPr>
          <a:xfrm>
            <a:off x="2094035" y="2823063"/>
            <a:ext cx="14859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75" idx="1"/>
          </p:cNvCxnSpPr>
          <p:nvPr/>
        </p:nvCxnSpPr>
        <p:spPr>
          <a:xfrm>
            <a:off x="2665535" y="1108563"/>
            <a:ext cx="1265916" cy="8658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127567" y="867120"/>
            <a:ext cx="356188" cy="461665"/>
          </a:xfrm>
          <a:prstGeom prst="rect">
            <a:avLst/>
          </a:prstGeom>
          <a:solidFill>
            <a:srgbClr val="FFFFFF">
              <a:alpha val="74902"/>
            </a:srgbClr>
          </a:solidFill>
        </p:spPr>
        <p:txBody>
          <a:bodyPr wrap="none" rtlCol="0">
            <a:spAutoFit/>
          </a:bodyPr>
          <a:lstStyle/>
          <a:p>
            <a:r>
              <a:rPr lang="en-US" sz="2400" dirty="0">
                <a:solidFill>
                  <a:srgbClr val="FF0000"/>
                </a:solidFill>
              </a:rPr>
              <a:t>2</a:t>
            </a:r>
          </a:p>
        </p:txBody>
      </p:sp>
      <p:sp>
        <p:nvSpPr>
          <p:cNvPr id="16" name="TextBox 15"/>
          <p:cNvSpPr txBox="1"/>
          <p:nvPr/>
        </p:nvSpPr>
        <p:spPr>
          <a:xfrm>
            <a:off x="2472758" y="2266712"/>
            <a:ext cx="356188" cy="461665"/>
          </a:xfrm>
          <a:prstGeom prst="rect">
            <a:avLst/>
          </a:prstGeom>
          <a:solidFill>
            <a:srgbClr val="FFFFFF">
              <a:alpha val="74902"/>
            </a:srgbClr>
          </a:solidFill>
        </p:spPr>
        <p:txBody>
          <a:bodyPr wrap="none" rtlCol="0">
            <a:spAutoFit/>
          </a:bodyPr>
          <a:lstStyle/>
          <a:p>
            <a:r>
              <a:rPr lang="en-US" sz="2400" dirty="0" smtClean="0">
                <a:solidFill>
                  <a:srgbClr val="FF0000"/>
                </a:solidFill>
              </a:rPr>
              <a:t>3</a:t>
            </a:r>
            <a:endParaRPr lang="en-US" sz="2400" dirty="0">
              <a:solidFill>
                <a:srgbClr val="FF0000"/>
              </a:solidFill>
            </a:endParaRPr>
          </a:p>
        </p:txBody>
      </p:sp>
      <p:cxnSp>
        <p:nvCxnSpPr>
          <p:cNvPr id="18" name="Straight Arrow Connector 17"/>
          <p:cNvCxnSpPr/>
          <p:nvPr/>
        </p:nvCxnSpPr>
        <p:spPr>
          <a:xfrm flipV="1">
            <a:off x="4107733" y="4047481"/>
            <a:ext cx="428101" cy="490082"/>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705267" y="4554997"/>
            <a:ext cx="356188" cy="461665"/>
          </a:xfrm>
          <a:prstGeom prst="rect">
            <a:avLst/>
          </a:prstGeom>
          <a:solidFill>
            <a:srgbClr val="FFFFFF">
              <a:alpha val="74902"/>
            </a:srgbClr>
          </a:solidFill>
        </p:spPr>
        <p:txBody>
          <a:bodyPr wrap="none" rtlCol="0">
            <a:spAutoFit/>
          </a:bodyPr>
          <a:lstStyle/>
          <a:p>
            <a:r>
              <a:rPr lang="en-US" sz="2400" dirty="0">
                <a:solidFill>
                  <a:srgbClr val="FF0000"/>
                </a:solidFill>
              </a:rPr>
              <a:t>1</a:t>
            </a:r>
          </a:p>
        </p:txBody>
      </p:sp>
      <p:sp>
        <p:nvSpPr>
          <p:cNvPr id="21" name="TextBox 20"/>
          <p:cNvSpPr txBox="1"/>
          <p:nvPr/>
        </p:nvSpPr>
        <p:spPr>
          <a:xfrm>
            <a:off x="4061455" y="994263"/>
            <a:ext cx="3747580" cy="400110"/>
          </a:xfrm>
          <a:prstGeom prst="rect">
            <a:avLst/>
          </a:prstGeom>
          <a:solidFill>
            <a:srgbClr val="FFFFFF">
              <a:alpha val="74902"/>
            </a:srgbClr>
          </a:solidFill>
        </p:spPr>
        <p:txBody>
          <a:bodyPr wrap="square" rtlCol="0">
            <a:spAutoFit/>
          </a:bodyPr>
          <a:lstStyle/>
          <a:p>
            <a:r>
              <a:rPr lang="en-US" sz="2000" dirty="0">
                <a:solidFill>
                  <a:srgbClr val="FF0000"/>
                </a:solidFill>
              </a:rPr>
              <a:t>z = .9(2)+ .2(3)+ .3(-1)+.5 = 2.6</a:t>
            </a:r>
          </a:p>
        </p:txBody>
      </p:sp>
      <p:sp>
        <p:nvSpPr>
          <p:cNvPr id="23" name="TextBox 22"/>
          <p:cNvSpPr txBox="1"/>
          <p:nvPr/>
        </p:nvSpPr>
        <p:spPr>
          <a:xfrm>
            <a:off x="1867851" y="877730"/>
            <a:ext cx="441146" cy="461665"/>
          </a:xfrm>
          <a:prstGeom prst="rect">
            <a:avLst/>
          </a:prstGeom>
          <a:solidFill>
            <a:srgbClr val="FFFFFF">
              <a:alpha val="74902"/>
            </a:srgbClr>
          </a:solidFill>
        </p:spPr>
        <p:txBody>
          <a:bodyPr wrap="none" rtlCol="0">
            <a:spAutoFit/>
          </a:bodyPr>
          <a:lstStyle/>
          <a:p>
            <a:r>
              <a:rPr lang="en-US" sz="2400" dirty="0" smtClean="0">
                <a:solidFill>
                  <a:srgbClr val="FF0000"/>
                </a:solidFill>
              </a:rPr>
              <a:t>.9</a:t>
            </a:r>
            <a:endParaRPr lang="en-US" sz="2400" dirty="0">
              <a:solidFill>
                <a:srgbClr val="FF0000"/>
              </a:solidFill>
            </a:endParaRPr>
          </a:p>
        </p:txBody>
      </p:sp>
      <p:sp>
        <p:nvSpPr>
          <p:cNvPr id="24" name="TextBox 23"/>
          <p:cNvSpPr txBox="1"/>
          <p:nvPr/>
        </p:nvSpPr>
        <p:spPr>
          <a:xfrm>
            <a:off x="1524951" y="2421344"/>
            <a:ext cx="441146" cy="461665"/>
          </a:xfrm>
          <a:prstGeom prst="rect">
            <a:avLst/>
          </a:prstGeom>
          <a:solidFill>
            <a:srgbClr val="FFFFFF">
              <a:alpha val="74902"/>
            </a:srgbClr>
          </a:solidFill>
        </p:spPr>
        <p:txBody>
          <a:bodyPr wrap="none" rtlCol="0">
            <a:spAutoFit/>
          </a:bodyPr>
          <a:lstStyle/>
          <a:p>
            <a:r>
              <a:rPr lang="en-US" sz="2400" dirty="0" smtClean="0">
                <a:solidFill>
                  <a:srgbClr val="FF0000"/>
                </a:solidFill>
              </a:rPr>
              <a:t>.2</a:t>
            </a:r>
            <a:endParaRPr lang="en-US" sz="2400" dirty="0">
              <a:solidFill>
                <a:srgbClr val="FF0000"/>
              </a:solidFill>
            </a:endParaRPr>
          </a:p>
        </p:txBody>
      </p:sp>
      <p:sp>
        <p:nvSpPr>
          <p:cNvPr id="25" name="TextBox 24"/>
          <p:cNvSpPr txBox="1"/>
          <p:nvPr/>
        </p:nvSpPr>
        <p:spPr>
          <a:xfrm>
            <a:off x="2094035" y="4426625"/>
            <a:ext cx="441146" cy="461665"/>
          </a:xfrm>
          <a:prstGeom prst="rect">
            <a:avLst/>
          </a:prstGeom>
          <a:solidFill>
            <a:srgbClr val="FFFFFF">
              <a:alpha val="74902"/>
            </a:srgbClr>
          </a:solidFill>
        </p:spPr>
        <p:txBody>
          <a:bodyPr wrap="none" rtlCol="0">
            <a:spAutoFit/>
          </a:bodyPr>
          <a:lstStyle/>
          <a:p>
            <a:r>
              <a:rPr lang="en-US" sz="2400" dirty="0" smtClean="0">
                <a:solidFill>
                  <a:srgbClr val="FF0000"/>
                </a:solidFill>
              </a:rPr>
              <a:t>.3</a:t>
            </a:r>
            <a:endParaRPr lang="en-US" sz="2400" dirty="0">
              <a:solidFill>
                <a:srgbClr val="FF0000"/>
              </a:solidFill>
            </a:endParaRPr>
          </a:p>
        </p:txBody>
      </p:sp>
    </p:spTree>
    <p:extLst>
      <p:ext uri="{BB962C8B-B14F-4D97-AF65-F5344CB8AC3E}">
        <p14:creationId xmlns:p14="http://schemas.microsoft.com/office/powerpoint/2010/main" val="18259925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a:off x="6036897" y="2098178"/>
            <a:ext cx="2858475" cy="646331"/>
          </a:xfrm>
          <a:prstGeom prst="rect">
            <a:avLst/>
          </a:prstGeom>
          <a:solidFill>
            <a:srgbClr val="FFFFFF">
              <a:alpha val="74902"/>
            </a:srgbClr>
          </a:solidFill>
        </p:spPr>
        <p:txBody>
          <a:bodyPr wrap="none" rtlCol="0">
            <a:spAutoFit/>
          </a:bodyPr>
          <a:lstStyle/>
          <a:p>
            <a:r>
              <a:rPr lang="en-US" sz="1800" dirty="0" smtClean="0">
                <a:solidFill>
                  <a:srgbClr val="FF0000"/>
                </a:solidFill>
              </a:rPr>
              <a:t>f(z)=f(3.5)=1/(1+exp(-2.6))</a:t>
            </a:r>
          </a:p>
          <a:p>
            <a:r>
              <a:rPr lang="en-US" sz="1800" dirty="0">
                <a:solidFill>
                  <a:srgbClr val="FF0000"/>
                </a:solidFill>
              </a:rPr>
              <a:t>	</a:t>
            </a:r>
            <a:r>
              <a:rPr lang="en-US" sz="1800" dirty="0" smtClean="0">
                <a:solidFill>
                  <a:srgbClr val="FF0000"/>
                </a:solidFill>
              </a:rPr>
              <a:t>= .93</a:t>
            </a:r>
            <a:endParaRPr lang="en-US" sz="1800" dirty="0">
              <a:solidFill>
                <a:srgbClr val="FF0000"/>
              </a:solidFill>
            </a:endParaRPr>
          </a:p>
        </p:txBody>
      </p:sp>
      <p:sp>
        <p:nvSpPr>
          <p:cNvPr id="19" name="TextBox 18"/>
          <p:cNvSpPr txBox="1"/>
          <p:nvPr/>
        </p:nvSpPr>
        <p:spPr>
          <a:xfrm>
            <a:off x="3705268" y="3997931"/>
            <a:ext cx="507742" cy="461665"/>
          </a:xfrm>
          <a:prstGeom prst="rect">
            <a:avLst/>
          </a:prstGeom>
          <a:solidFill>
            <a:srgbClr val="FFFFFF">
              <a:alpha val="74902"/>
            </a:srgbClr>
          </a:solidFill>
        </p:spPr>
        <p:txBody>
          <a:bodyPr wrap="square" rtlCol="0">
            <a:spAutoFit/>
          </a:bodyPr>
          <a:lstStyle/>
          <a:p>
            <a:r>
              <a:rPr lang="en-US" sz="2400" dirty="0" smtClean="0">
                <a:solidFill>
                  <a:srgbClr val="FF0000"/>
                </a:solidFill>
              </a:rPr>
              <a:t>.5</a:t>
            </a:r>
            <a:endParaRPr lang="en-US" sz="2400" dirty="0">
              <a:solidFill>
                <a:srgbClr val="FF0000"/>
              </a:solidFill>
            </a:endParaRPr>
          </a:p>
        </p:txBody>
      </p:sp>
      <p:sp>
        <p:nvSpPr>
          <p:cNvPr id="17" name="TextBox 16"/>
          <p:cNvSpPr txBox="1"/>
          <p:nvPr/>
        </p:nvSpPr>
        <p:spPr>
          <a:xfrm>
            <a:off x="2722685" y="3671697"/>
            <a:ext cx="458780" cy="461665"/>
          </a:xfrm>
          <a:prstGeom prst="rect">
            <a:avLst/>
          </a:prstGeom>
          <a:solidFill>
            <a:srgbClr val="FFFFFF">
              <a:alpha val="74902"/>
            </a:srgbClr>
          </a:solidFill>
        </p:spPr>
        <p:txBody>
          <a:bodyPr wrap="none" rtlCol="0">
            <a:spAutoFit/>
          </a:bodyPr>
          <a:lstStyle/>
          <a:p>
            <a:r>
              <a:rPr lang="en-US" sz="2400" dirty="0" smtClean="0">
                <a:solidFill>
                  <a:srgbClr val="FF0000"/>
                </a:solidFill>
              </a:rPr>
              <a:t>-1</a:t>
            </a:r>
            <a:endParaRPr lang="en-US" sz="2400" dirty="0">
              <a:solidFill>
                <a:srgbClr val="FF0000"/>
              </a:solidFill>
            </a:endParaRPr>
          </a:p>
        </p:txBody>
      </p:sp>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Example Neuron Computation</a:t>
            </a:r>
            <a:endParaRPr lang="en-US" dirty="0">
              <a:latin typeface="Avenir Book" charset="0"/>
              <a:ea typeface="Avenir Book" charset="0"/>
              <a:cs typeface="Avenir Book" charset="0"/>
            </a:endParaRPr>
          </a:p>
        </p:txBody>
      </p:sp>
      <p:cxnSp>
        <p:nvCxnSpPr>
          <p:cNvPr id="73" name="Straight Arrow Connector 72"/>
          <p:cNvCxnSpPr>
            <a:stCxn id="75" idx="6"/>
          </p:cNvCxnSpPr>
          <p:nvPr/>
        </p:nvCxnSpPr>
        <p:spPr>
          <a:xfrm>
            <a:off x="5980235" y="2823063"/>
            <a:ext cx="18288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3579935" y="1622913"/>
            <a:ext cx="2400300" cy="24003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bg1"/>
                </a:solidFill>
              </a:rPr>
              <a:t>(sigmoid)activation</a:t>
            </a:r>
          </a:p>
          <a:p>
            <a:pPr algn="ctr"/>
            <a:r>
              <a:rPr lang="en-US" sz="2700" dirty="0">
                <a:solidFill>
                  <a:schemeClr val="bg1"/>
                </a:solidFill>
              </a:rPr>
              <a:t>function</a:t>
            </a:r>
          </a:p>
        </p:txBody>
      </p:sp>
      <p:cxnSp>
        <p:nvCxnSpPr>
          <p:cNvPr id="76" name="Straight Arrow Connector 75"/>
          <p:cNvCxnSpPr>
            <a:endCxn id="75" idx="3"/>
          </p:cNvCxnSpPr>
          <p:nvPr/>
        </p:nvCxnSpPr>
        <p:spPr>
          <a:xfrm flipV="1">
            <a:off x="2722685" y="3671697"/>
            <a:ext cx="1208766" cy="9801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75" idx="2"/>
          </p:cNvCxnSpPr>
          <p:nvPr/>
        </p:nvCxnSpPr>
        <p:spPr>
          <a:xfrm>
            <a:off x="2094035" y="2823063"/>
            <a:ext cx="14859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75" idx="1"/>
          </p:cNvCxnSpPr>
          <p:nvPr/>
        </p:nvCxnSpPr>
        <p:spPr>
          <a:xfrm>
            <a:off x="2665535" y="1108563"/>
            <a:ext cx="1265916" cy="865866"/>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127567" y="867120"/>
            <a:ext cx="356188" cy="461665"/>
          </a:xfrm>
          <a:prstGeom prst="rect">
            <a:avLst/>
          </a:prstGeom>
          <a:solidFill>
            <a:srgbClr val="FFFFFF">
              <a:alpha val="74902"/>
            </a:srgbClr>
          </a:solidFill>
        </p:spPr>
        <p:txBody>
          <a:bodyPr wrap="none" rtlCol="0">
            <a:spAutoFit/>
          </a:bodyPr>
          <a:lstStyle/>
          <a:p>
            <a:r>
              <a:rPr lang="en-US" sz="2400" dirty="0">
                <a:solidFill>
                  <a:srgbClr val="FF0000"/>
                </a:solidFill>
              </a:rPr>
              <a:t>2</a:t>
            </a:r>
          </a:p>
        </p:txBody>
      </p:sp>
      <p:sp>
        <p:nvSpPr>
          <p:cNvPr id="16" name="TextBox 15"/>
          <p:cNvSpPr txBox="1"/>
          <p:nvPr/>
        </p:nvSpPr>
        <p:spPr>
          <a:xfrm>
            <a:off x="2472758" y="2266712"/>
            <a:ext cx="356188" cy="461665"/>
          </a:xfrm>
          <a:prstGeom prst="rect">
            <a:avLst/>
          </a:prstGeom>
          <a:solidFill>
            <a:srgbClr val="FFFFFF">
              <a:alpha val="74902"/>
            </a:srgbClr>
          </a:solidFill>
        </p:spPr>
        <p:txBody>
          <a:bodyPr wrap="none" rtlCol="0">
            <a:spAutoFit/>
          </a:bodyPr>
          <a:lstStyle/>
          <a:p>
            <a:r>
              <a:rPr lang="en-US" sz="2400" dirty="0">
                <a:solidFill>
                  <a:srgbClr val="FF0000"/>
                </a:solidFill>
              </a:rPr>
              <a:t>3</a:t>
            </a:r>
          </a:p>
        </p:txBody>
      </p:sp>
      <p:cxnSp>
        <p:nvCxnSpPr>
          <p:cNvPr id="18" name="Straight Arrow Connector 17"/>
          <p:cNvCxnSpPr/>
          <p:nvPr/>
        </p:nvCxnSpPr>
        <p:spPr>
          <a:xfrm flipV="1">
            <a:off x="4107733" y="4047481"/>
            <a:ext cx="428101" cy="490082"/>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705267" y="4554997"/>
            <a:ext cx="356188" cy="461665"/>
          </a:xfrm>
          <a:prstGeom prst="rect">
            <a:avLst/>
          </a:prstGeom>
          <a:solidFill>
            <a:srgbClr val="FFFFFF">
              <a:alpha val="74902"/>
            </a:srgbClr>
          </a:solidFill>
        </p:spPr>
        <p:txBody>
          <a:bodyPr wrap="none" rtlCol="0">
            <a:spAutoFit/>
          </a:bodyPr>
          <a:lstStyle/>
          <a:p>
            <a:r>
              <a:rPr lang="en-US" sz="2400" dirty="0">
                <a:solidFill>
                  <a:srgbClr val="FF0000"/>
                </a:solidFill>
              </a:rPr>
              <a:t>1</a:t>
            </a:r>
          </a:p>
        </p:txBody>
      </p:sp>
      <p:sp>
        <p:nvSpPr>
          <p:cNvPr id="21" name="TextBox 20"/>
          <p:cNvSpPr txBox="1"/>
          <p:nvPr/>
        </p:nvSpPr>
        <p:spPr>
          <a:xfrm>
            <a:off x="4061455" y="994263"/>
            <a:ext cx="3747580" cy="400110"/>
          </a:xfrm>
          <a:prstGeom prst="rect">
            <a:avLst/>
          </a:prstGeom>
          <a:solidFill>
            <a:srgbClr val="FFFFFF">
              <a:alpha val="74902"/>
            </a:srgbClr>
          </a:solidFill>
        </p:spPr>
        <p:txBody>
          <a:bodyPr wrap="square" rtlCol="0">
            <a:spAutoFit/>
          </a:bodyPr>
          <a:lstStyle/>
          <a:p>
            <a:r>
              <a:rPr lang="en-US" sz="2000" dirty="0">
                <a:solidFill>
                  <a:srgbClr val="FF0000"/>
                </a:solidFill>
              </a:rPr>
              <a:t>z = .9(2)+ .2(3)+ .3(-1)+.5 = 2.6</a:t>
            </a:r>
          </a:p>
        </p:txBody>
      </p:sp>
      <p:sp>
        <p:nvSpPr>
          <p:cNvPr id="23" name="TextBox 22"/>
          <p:cNvSpPr txBox="1"/>
          <p:nvPr/>
        </p:nvSpPr>
        <p:spPr>
          <a:xfrm>
            <a:off x="5935244" y="3581219"/>
            <a:ext cx="2728109" cy="707886"/>
          </a:xfrm>
          <a:prstGeom prst="rect">
            <a:avLst/>
          </a:prstGeom>
          <a:solidFill>
            <a:srgbClr val="FFFFFF">
              <a:alpha val="74902"/>
            </a:srgbClr>
          </a:solidFill>
        </p:spPr>
        <p:txBody>
          <a:bodyPr wrap="square" rtlCol="0">
            <a:spAutoFit/>
          </a:bodyPr>
          <a:lstStyle/>
          <a:p>
            <a:r>
              <a:rPr lang="en-US" sz="2000" dirty="0" smtClean="0">
                <a:solidFill>
                  <a:srgbClr val="FF0000"/>
                </a:solidFill>
              </a:rPr>
              <a:t>Neuron would output the value .93</a:t>
            </a:r>
            <a:endParaRPr lang="en-US" sz="2000" dirty="0">
              <a:solidFill>
                <a:srgbClr val="FF0000"/>
              </a:solidFill>
            </a:endParaRPr>
          </a:p>
        </p:txBody>
      </p:sp>
      <p:sp>
        <p:nvSpPr>
          <p:cNvPr id="27" name="TextBox 26"/>
          <p:cNvSpPr txBox="1"/>
          <p:nvPr/>
        </p:nvSpPr>
        <p:spPr>
          <a:xfrm>
            <a:off x="1867851" y="877730"/>
            <a:ext cx="441146" cy="461665"/>
          </a:xfrm>
          <a:prstGeom prst="rect">
            <a:avLst/>
          </a:prstGeom>
          <a:solidFill>
            <a:srgbClr val="FFFFFF">
              <a:alpha val="74902"/>
            </a:srgbClr>
          </a:solidFill>
        </p:spPr>
        <p:txBody>
          <a:bodyPr wrap="none" rtlCol="0">
            <a:spAutoFit/>
          </a:bodyPr>
          <a:lstStyle/>
          <a:p>
            <a:r>
              <a:rPr lang="en-US" sz="2400" dirty="0" smtClean="0">
                <a:solidFill>
                  <a:srgbClr val="FF0000"/>
                </a:solidFill>
              </a:rPr>
              <a:t>.9</a:t>
            </a:r>
            <a:endParaRPr lang="en-US" sz="2400" dirty="0">
              <a:solidFill>
                <a:srgbClr val="FF0000"/>
              </a:solidFill>
            </a:endParaRPr>
          </a:p>
        </p:txBody>
      </p:sp>
      <p:sp>
        <p:nvSpPr>
          <p:cNvPr id="28" name="TextBox 27"/>
          <p:cNvSpPr txBox="1"/>
          <p:nvPr/>
        </p:nvSpPr>
        <p:spPr>
          <a:xfrm>
            <a:off x="1524951" y="2421344"/>
            <a:ext cx="441146" cy="461665"/>
          </a:xfrm>
          <a:prstGeom prst="rect">
            <a:avLst/>
          </a:prstGeom>
          <a:solidFill>
            <a:srgbClr val="FFFFFF">
              <a:alpha val="74902"/>
            </a:srgbClr>
          </a:solidFill>
        </p:spPr>
        <p:txBody>
          <a:bodyPr wrap="none" rtlCol="0">
            <a:spAutoFit/>
          </a:bodyPr>
          <a:lstStyle/>
          <a:p>
            <a:r>
              <a:rPr lang="en-US" sz="2400" dirty="0" smtClean="0">
                <a:solidFill>
                  <a:srgbClr val="FF0000"/>
                </a:solidFill>
              </a:rPr>
              <a:t>.2</a:t>
            </a:r>
            <a:endParaRPr lang="en-US" sz="2400" dirty="0">
              <a:solidFill>
                <a:srgbClr val="FF0000"/>
              </a:solidFill>
            </a:endParaRPr>
          </a:p>
        </p:txBody>
      </p:sp>
      <p:sp>
        <p:nvSpPr>
          <p:cNvPr id="29" name="TextBox 28"/>
          <p:cNvSpPr txBox="1"/>
          <p:nvPr/>
        </p:nvSpPr>
        <p:spPr>
          <a:xfrm>
            <a:off x="2094035" y="4426625"/>
            <a:ext cx="441146" cy="461665"/>
          </a:xfrm>
          <a:prstGeom prst="rect">
            <a:avLst/>
          </a:prstGeom>
          <a:solidFill>
            <a:srgbClr val="FFFFFF">
              <a:alpha val="74902"/>
            </a:srgbClr>
          </a:solidFill>
        </p:spPr>
        <p:txBody>
          <a:bodyPr wrap="none" rtlCol="0">
            <a:spAutoFit/>
          </a:bodyPr>
          <a:lstStyle/>
          <a:p>
            <a:r>
              <a:rPr lang="en-US" sz="2400" dirty="0" smtClean="0">
                <a:solidFill>
                  <a:srgbClr val="FF0000"/>
                </a:solidFill>
              </a:rPr>
              <a:t>.3</a:t>
            </a:r>
            <a:endParaRPr lang="en-US" sz="2400" dirty="0">
              <a:solidFill>
                <a:srgbClr val="FF0000"/>
              </a:solidFill>
            </a:endParaRPr>
          </a:p>
        </p:txBody>
      </p:sp>
    </p:spTree>
    <p:extLst>
      <p:ext uri="{BB962C8B-B14F-4D97-AF65-F5344CB8AC3E}">
        <p14:creationId xmlns:p14="http://schemas.microsoft.com/office/powerpoint/2010/main" val="3481119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Why Neural Nets?</a:t>
            </a:r>
            <a:endParaRPr lang="en-US" dirty="0">
              <a:latin typeface="Avenir Book" charset="0"/>
              <a:ea typeface="Avenir Book" charset="0"/>
              <a:cs typeface="Avenir Book" charset="0"/>
            </a:endParaRPr>
          </a:p>
        </p:txBody>
      </p:sp>
      <p:grpSp>
        <p:nvGrpSpPr>
          <p:cNvPr id="10" name="Group 9"/>
          <p:cNvGrpSpPr/>
          <p:nvPr/>
        </p:nvGrpSpPr>
        <p:grpSpPr>
          <a:xfrm>
            <a:off x="2801575" y="3088073"/>
            <a:ext cx="2741721" cy="1609725"/>
            <a:chOff x="3292616" y="4559300"/>
            <a:chExt cx="3655628" cy="2146300"/>
          </a:xfrm>
        </p:grpSpPr>
        <p:sp>
          <p:nvSpPr>
            <p:cNvPr id="12" name="Oval 11"/>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050"/>
            </a:p>
          </p:txBody>
        </p:sp>
        <p:sp>
          <p:nvSpPr>
            <p:cNvPr id="13" name="Oval 12"/>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050"/>
            </a:p>
          </p:txBody>
        </p:sp>
        <p:sp>
          <p:nvSpPr>
            <p:cNvPr id="14" name="Oval 13"/>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050"/>
            </a:p>
          </p:txBody>
        </p:sp>
        <p:sp>
          <p:nvSpPr>
            <p:cNvPr id="15" name="Oval 14"/>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6" name="Oval 15"/>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7" name="Oval 16"/>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8" name="Oval 17"/>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9" name="Oval 18"/>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0" name="Oval 19"/>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1" name="Oval 20"/>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2" name="Oval 21"/>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3" name="Oval 22"/>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050"/>
            </a:p>
          </p:txBody>
        </p:sp>
        <p:sp>
          <p:nvSpPr>
            <p:cNvPr id="24" name="Oval 23"/>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050"/>
            </a:p>
          </p:txBody>
        </p:sp>
        <p:sp>
          <p:nvSpPr>
            <p:cNvPr id="25" name="Oval 24"/>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050"/>
            </a:p>
          </p:txBody>
        </p:sp>
        <p:cxnSp>
          <p:nvCxnSpPr>
            <p:cNvPr id="26" name="Straight Arrow Connector 25"/>
            <p:cNvCxnSpPr>
              <a:stCxn id="13" idx="6"/>
              <a:endCxn id="19"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3" idx="6"/>
              <a:endCxn id="18"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3" idx="6"/>
              <a:endCxn id="17"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3" idx="6"/>
              <a:endCxn id="16"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4" idx="6"/>
              <a:endCxn id="19"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4" idx="6"/>
              <a:endCxn id="18"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4" idx="6"/>
              <a:endCxn id="17"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4" idx="6"/>
              <a:endCxn id="16"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5" idx="6"/>
              <a:endCxn id="19"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5" idx="6"/>
              <a:endCxn id="18"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5" idx="6"/>
              <a:endCxn id="17"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5" idx="6"/>
              <a:endCxn id="16"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9" idx="6"/>
              <a:endCxn id="23"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9" idx="6"/>
              <a:endCxn id="22"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9" idx="6"/>
              <a:endCxn id="21"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9" idx="6"/>
              <a:endCxn id="20"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8" idx="6"/>
              <a:endCxn id="23"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8" idx="6"/>
              <a:endCxn id="22"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18" idx="6"/>
              <a:endCxn id="21"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18" idx="6"/>
              <a:endCxn id="20"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7" idx="6"/>
              <a:endCxn id="23"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7" idx="6"/>
              <a:endCxn id="22"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7" idx="6"/>
              <a:endCxn id="21"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7" idx="6"/>
              <a:endCxn id="20"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6" idx="6"/>
              <a:endCxn id="23"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6" idx="6"/>
              <a:endCxn id="22"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6" idx="7"/>
              <a:endCxn id="21"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6" idx="6"/>
              <a:endCxn id="20"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23" idx="6"/>
              <a:endCxn id="28"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23" idx="6"/>
              <a:endCxn id="29"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23" idx="6"/>
              <a:endCxn id="30"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22" idx="6"/>
              <a:endCxn id="28"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22" idx="6"/>
              <a:endCxn id="29"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2" idx="6"/>
              <a:endCxn id="30"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1" idx="6"/>
              <a:endCxn id="30"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1" idx="6"/>
              <a:endCxn id="28"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21" idx="6"/>
              <a:endCxn id="29"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20" idx="6"/>
              <a:endCxn id="28"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20" idx="6"/>
              <a:endCxn id="29"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20" idx="6"/>
              <a:endCxn id="30"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28"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29"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0"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3"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4"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endCxn id="15"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2" name="Rectangle 71"/>
          <p:cNvSpPr/>
          <p:nvPr/>
        </p:nvSpPr>
        <p:spPr>
          <a:xfrm>
            <a:off x="442299" y="773104"/>
            <a:ext cx="7460274" cy="2123658"/>
          </a:xfrm>
          <a:prstGeom prst="rect">
            <a:avLst/>
          </a:prstGeom>
        </p:spPr>
        <p:txBody>
          <a:bodyPr wrap="square">
            <a:spAutoFit/>
          </a:bodyPr>
          <a:lstStyle/>
          <a:p>
            <a:pPr marL="457200" lvl="0" indent="-457200">
              <a:buFont typeface="Arial" charset="0"/>
              <a:buChar char="•"/>
            </a:pPr>
            <a:r>
              <a:rPr lang="en-US" sz="2200" dirty="0">
                <a:latin typeface="Avenir Book" charset="0"/>
                <a:ea typeface="Avenir Book" charset="0"/>
                <a:cs typeface="Avenir Book" charset="0"/>
              </a:rPr>
              <a:t>W</a:t>
            </a:r>
            <a:r>
              <a:rPr lang="en-US" sz="2200" dirty="0" smtClean="0">
                <a:latin typeface="Avenir Book" charset="0"/>
                <a:ea typeface="Avenir Book" charset="0"/>
                <a:cs typeface="Avenir Book" charset="0"/>
              </a:rPr>
              <a:t>hy not just use a single neuron?  Why do we need a larger network?</a:t>
            </a:r>
          </a:p>
          <a:p>
            <a:pPr marL="457200" lvl="0" indent="-457200">
              <a:buFont typeface="Arial" charset="0"/>
              <a:buChar char="•"/>
            </a:pPr>
            <a:r>
              <a:rPr lang="en-US" sz="2200" dirty="0" smtClean="0">
                <a:latin typeface="Avenir Book" charset="0"/>
                <a:ea typeface="Avenir Book" charset="0"/>
                <a:cs typeface="Avenir Book" charset="0"/>
              </a:rPr>
              <a:t>A single neuron (like logistic regression) only permits a linear decision boundary.</a:t>
            </a:r>
          </a:p>
          <a:p>
            <a:pPr marL="457200" lvl="0" indent="-457200">
              <a:buFont typeface="Arial" charset="0"/>
              <a:buChar char="•"/>
            </a:pPr>
            <a:r>
              <a:rPr lang="en-US" sz="2200" dirty="0" smtClean="0">
                <a:latin typeface="Avenir Book" charset="0"/>
                <a:ea typeface="Avenir Book" charset="0"/>
                <a:cs typeface="Avenir Book" charset="0"/>
              </a:rPr>
              <a:t>Most real-world problems are considerably more complicated!</a:t>
            </a:r>
          </a:p>
        </p:txBody>
      </p:sp>
    </p:spTree>
    <p:extLst>
      <p:ext uri="{BB962C8B-B14F-4D97-AF65-F5344CB8AC3E}">
        <p14:creationId xmlns:p14="http://schemas.microsoft.com/office/powerpoint/2010/main" val="1781920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Feedforward Neural Network</a:t>
            </a:r>
            <a:endParaRPr lang="en-US" dirty="0">
              <a:latin typeface="Avenir Book" charset="0"/>
              <a:ea typeface="Avenir Book" charset="0"/>
              <a:cs typeface="Avenir Book" charset="0"/>
            </a:endParaRPr>
          </a:p>
        </p:txBody>
      </p:sp>
      <p:grpSp>
        <p:nvGrpSpPr>
          <p:cNvPr id="24" name="Group 23"/>
          <p:cNvGrpSpPr/>
          <p:nvPr/>
        </p:nvGrpSpPr>
        <p:grpSpPr>
          <a:xfrm>
            <a:off x="1230690" y="996462"/>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3"/>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4"/>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5"/>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6"/>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7"/>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8"/>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9"/>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0"/>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1"/>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2"/>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3"/>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4"/>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5"/>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6"/>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44"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45"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657802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Weights</a:t>
            </a:r>
            <a:endParaRPr lang="en-US" dirty="0">
              <a:latin typeface="Avenir Book" charset="0"/>
              <a:ea typeface="Avenir Book" charset="0"/>
              <a:cs typeface="Avenir Book" charset="0"/>
            </a:endParaRPr>
          </a:p>
        </p:txBody>
      </p:sp>
      <p:grpSp>
        <p:nvGrpSpPr>
          <p:cNvPr id="24" name="Group 23"/>
          <p:cNvGrpSpPr/>
          <p:nvPr/>
        </p:nvGrpSpPr>
        <p:grpSpPr>
          <a:xfrm>
            <a:off x="1230690" y="996462"/>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3"/>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4"/>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5"/>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6"/>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7"/>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8"/>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9"/>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0"/>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1"/>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2"/>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3"/>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4"/>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5"/>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6"/>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44"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45"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0" name="Rounded Rectangle 89"/>
          <p:cNvSpPr/>
          <p:nvPr/>
        </p:nvSpPr>
        <p:spPr>
          <a:xfrm>
            <a:off x="2689220" y="1021123"/>
            <a:ext cx="795756" cy="3550041"/>
          </a:xfrm>
          <a:prstGeom prst="roundRect">
            <a:avLst>
              <a:gd name="adj" fmla="val 50000"/>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ounded Rectangle 90"/>
          <p:cNvSpPr/>
          <p:nvPr/>
        </p:nvSpPr>
        <p:spPr>
          <a:xfrm>
            <a:off x="4079172" y="1022337"/>
            <a:ext cx="795756" cy="3550041"/>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ounded Rectangle 91"/>
          <p:cNvSpPr/>
          <p:nvPr/>
        </p:nvSpPr>
        <p:spPr>
          <a:xfrm>
            <a:off x="5489463" y="1019908"/>
            <a:ext cx="795756" cy="3550041"/>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83014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Input Layer</a:t>
            </a:r>
            <a:endParaRPr lang="en-US" dirty="0">
              <a:latin typeface="Avenir Book" charset="0"/>
              <a:ea typeface="Avenir Book" charset="0"/>
              <a:cs typeface="Avenir Book" charset="0"/>
            </a:endParaRPr>
          </a:p>
        </p:txBody>
      </p:sp>
      <p:grpSp>
        <p:nvGrpSpPr>
          <p:cNvPr id="24" name="Group 23"/>
          <p:cNvGrpSpPr/>
          <p:nvPr/>
        </p:nvGrpSpPr>
        <p:grpSpPr>
          <a:xfrm>
            <a:off x="1230690" y="996462"/>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3"/>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4"/>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5"/>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6"/>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7"/>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8"/>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9"/>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0"/>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1"/>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2"/>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3"/>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4"/>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5"/>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6"/>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44"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45"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0" name="Rounded Rectangle 89"/>
          <p:cNvSpPr/>
          <p:nvPr/>
        </p:nvSpPr>
        <p:spPr>
          <a:xfrm>
            <a:off x="2028499" y="1061963"/>
            <a:ext cx="795756" cy="3550041"/>
          </a:xfrm>
          <a:prstGeom prst="roundRect">
            <a:avLst>
              <a:gd name="adj" fmla="val 50000"/>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3757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Hidden Layers</a:t>
            </a:r>
            <a:endParaRPr lang="en-US" dirty="0">
              <a:latin typeface="Avenir Book" charset="0"/>
              <a:ea typeface="Avenir Book" charset="0"/>
              <a:cs typeface="Avenir Book" charset="0"/>
            </a:endParaRPr>
          </a:p>
        </p:txBody>
      </p:sp>
      <p:grpSp>
        <p:nvGrpSpPr>
          <p:cNvPr id="24" name="Group 23"/>
          <p:cNvGrpSpPr/>
          <p:nvPr/>
        </p:nvGrpSpPr>
        <p:grpSpPr>
          <a:xfrm>
            <a:off x="1230690" y="996462"/>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3"/>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4"/>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5"/>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6"/>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7"/>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8"/>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9"/>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0"/>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1"/>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2"/>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3"/>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4"/>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5"/>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6"/>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44"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45"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1" name="Rounded Rectangle 90"/>
          <p:cNvSpPr/>
          <p:nvPr/>
        </p:nvSpPr>
        <p:spPr>
          <a:xfrm>
            <a:off x="3398662" y="1073687"/>
            <a:ext cx="795756" cy="3550041"/>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ounded Rectangle 91"/>
          <p:cNvSpPr/>
          <p:nvPr/>
        </p:nvSpPr>
        <p:spPr>
          <a:xfrm>
            <a:off x="4762204" y="1061963"/>
            <a:ext cx="795756" cy="3550041"/>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188840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Output Layer</a:t>
            </a:r>
            <a:endParaRPr lang="en-US" dirty="0">
              <a:latin typeface="Avenir Book" charset="0"/>
              <a:ea typeface="Avenir Book" charset="0"/>
              <a:cs typeface="Avenir Book" charset="0"/>
            </a:endParaRPr>
          </a:p>
        </p:txBody>
      </p:sp>
      <p:grpSp>
        <p:nvGrpSpPr>
          <p:cNvPr id="24" name="Group 23"/>
          <p:cNvGrpSpPr/>
          <p:nvPr/>
        </p:nvGrpSpPr>
        <p:grpSpPr>
          <a:xfrm>
            <a:off x="1230690" y="996462"/>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3"/>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4"/>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5"/>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6"/>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7"/>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8"/>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9"/>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0"/>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1"/>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2"/>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3"/>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4"/>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5"/>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6"/>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44"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45"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0" name="Rounded Rectangle 89"/>
          <p:cNvSpPr/>
          <p:nvPr/>
        </p:nvSpPr>
        <p:spPr>
          <a:xfrm>
            <a:off x="6178601" y="1061963"/>
            <a:ext cx="795756" cy="3550041"/>
          </a:xfrm>
          <a:prstGeom prst="roundRect">
            <a:avLst>
              <a:gd name="adj" fmla="val 50000"/>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06484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Weights (represented by matrices)</a:t>
            </a:r>
            <a:endParaRPr lang="en-US" dirty="0">
              <a:latin typeface="Avenir Book" charset="0"/>
              <a:ea typeface="Avenir Book" charset="0"/>
              <a:cs typeface="Avenir Book" charset="0"/>
            </a:endParaRPr>
          </a:p>
        </p:txBody>
      </p:sp>
      <p:grpSp>
        <p:nvGrpSpPr>
          <p:cNvPr id="24" name="Group 23"/>
          <p:cNvGrpSpPr/>
          <p:nvPr/>
        </p:nvGrpSpPr>
        <p:grpSpPr>
          <a:xfrm>
            <a:off x="1230690" y="996462"/>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3"/>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4"/>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5"/>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6"/>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7"/>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8"/>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9"/>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0"/>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1"/>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2"/>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3"/>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4"/>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5"/>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6"/>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44"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45"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Rectangle 2"/>
              <p:cNvSpPr/>
              <p:nvPr/>
            </p:nvSpPr>
            <p:spPr>
              <a:xfrm>
                <a:off x="2725175" y="803523"/>
                <a:ext cx="651653" cy="3488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solidFill>
                                <a:srgbClr val="FF0000"/>
                              </a:solidFill>
                              <a:latin typeface="Cambria Math" panose="02040503050406030204" pitchFamily="18" charset="0"/>
                            </a:rPr>
                          </m:ctrlPr>
                        </m:sSupPr>
                        <m:e>
                          <m:r>
                            <a:rPr lang="en-US" sz="1600" b="0" i="1" smtClean="0">
                              <a:solidFill>
                                <a:srgbClr val="FF0000"/>
                              </a:solidFill>
                              <a:latin typeface="Cambria Math" charset="0"/>
                            </a:rPr>
                            <m:t>𝑊</m:t>
                          </m:r>
                        </m:e>
                        <m:sup>
                          <m:r>
                            <a:rPr lang="en-US" sz="1600" i="1">
                              <a:solidFill>
                                <a:srgbClr val="FF0000"/>
                              </a:solidFill>
                              <a:latin typeface="Cambria Math" charset="0"/>
                            </a:rPr>
                            <m:t>(1)</m:t>
                          </m:r>
                        </m:sup>
                      </m:sSup>
                    </m:oMath>
                  </m:oMathPara>
                </a14:m>
                <a:endParaRPr lang="en-US" sz="1600" baseline="30000" dirty="0"/>
              </a:p>
            </p:txBody>
          </p:sp>
        </mc:Choice>
        <mc:Fallback xmlns="">
          <p:sp>
            <p:nvSpPr>
              <p:cNvPr id="3" name="Rectangle 2"/>
              <p:cNvSpPr>
                <a:spLocks noRot="1" noChangeAspect="1" noMove="1" noResize="1" noEditPoints="1" noAdjustHandles="1" noChangeArrowheads="1" noChangeShapeType="1" noTextEdit="1"/>
              </p:cNvSpPr>
              <p:nvPr/>
            </p:nvSpPr>
            <p:spPr>
              <a:xfrm>
                <a:off x="2725175" y="803523"/>
                <a:ext cx="651653" cy="348813"/>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Rectangle 92"/>
              <p:cNvSpPr/>
              <p:nvPr/>
            </p:nvSpPr>
            <p:spPr>
              <a:xfrm>
                <a:off x="4261839" y="803523"/>
                <a:ext cx="651653" cy="3488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solidFill>
                                <a:srgbClr val="FF0000"/>
                              </a:solidFill>
                              <a:latin typeface="Cambria Math" panose="02040503050406030204" pitchFamily="18" charset="0"/>
                            </a:rPr>
                          </m:ctrlPr>
                        </m:sSupPr>
                        <m:e>
                          <m:r>
                            <a:rPr lang="en-US" sz="1600" b="0" i="1" smtClean="0">
                              <a:solidFill>
                                <a:srgbClr val="FF0000"/>
                              </a:solidFill>
                              <a:latin typeface="Cambria Math" charset="0"/>
                            </a:rPr>
                            <m:t>𝑊</m:t>
                          </m:r>
                        </m:e>
                        <m:sup>
                          <m:r>
                            <a:rPr lang="en-US" sz="1600" i="1">
                              <a:solidFill>
                                <a:srgbClr val="FF0000"/>
                              </a:solidFill>
                              <a:latin typeface="Cambria Math" charset="0"/>
                            </a:rPr>
                            <m:t>(</m:t>
                          </m:r>
                          <m:r>
                            <a:rPr lang="en-US" sz="1600" b="0" i="1" smtClean="0">
                              <a:solidFill>
                                <a:srgbClr val="FF0000"/>
                              </a:solidFill>
                              <a:latin typeface="Cambria Math" charset="0"/>
                            </a:rPr>
                            <m:t>2</m:t>
                          </m:r>
                          <m:r>
                            <a:rPr lang="en-US" sz="1600" i="1">
                              <a:solidFill>
                                <a:srgbClr val="FF0000"/>
                              </a:solidFill>
                              <a:latin typeface="Cambria Math" charset="0"/>
                            </a:rPr>
                            <m:t>)</m:t>
                          </m:r>
                        </m:sup>
                      </m:sSup>
                    </m:oMath>
                  </m:oMathPara>
                </a14:m>
                <a:endParaRPr lang="en-US" sz="1600" baseline="30000" dirty="0"/>
              </a:p>
            </p:txBody>
          </p:sp>
        </mc:Choice>
        <mc:Fallback xmlns="">
          <p:sp>
            <p:nvSpPr>
              <p:cNvPr id="93" name="Rectangle 92"/>
              <p:cNvSpPr>
                <a:spLocks noRot="1" noChangeAspect="1" noMove="1" noResize="1" noEditPoints="1" noAdjustHandles="1" noChangeArrowheads="1" noChangeShapeType="1" noTextEdit="1"/>
              </p:cNvSpPr>
              <p:nvPr/>
            </p:nvSpPr>
            <p:spPr>
              <a:xfrm>
                <a:off x="4261839" y="803523"/>
                <a:ext cx="651653" cy="348813"/>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Rectangle 93"/>
              <p:cNvSpPr/>
              <p:nvPr/>
            </p:nvSpPr>
            <p:spPr>
              <a:xfrm>
                <a:off x="5653494" y="808287"/>
                <a:ext cx="651653" cy="3488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solidFill>
                                <a:srgbClr val="FF0000"/>
                              </a:solidFill>
                              <a:latin typeface="Cambria Math" panose="02040503050406030204" pitchFamily="18" charset="0"/>
                            </a:rPr>
                          </m:ctrlPr>
                        </m:sSupPr>
                        <m:e>
                          <m:r>
                            <a:rPr lang="en-US" sz="1600" b="0" i="1" smtClean="0">
                              <a:solidFill>
                                <a:srgbClr val="FF0000"/>
                              </a:solidFill>
                              <a:latin typeface="Cambria Math" charset="0"/>
                            </a:rPr>
                            <m:t>𝑊</m:t>
                          </m:r>
                        </m:e>
                        <m:sup>
                          <m:r>
                            <a:rPr lang="en-US" sz="1600" i="1">
                              <a:solidFill>
                                <a:srgbClr val="FF0000"/>
                              </a:solidFill>
                              <a:latin typeface="Cambria Math" charset="0"/>
                            </a:rPr>
                            <m:t>(</m:t>
                          </m:r>
                          <m:r>
                            <a:rPr lang="en-US" sz="1600" b="0" i="1" smtClean="0">
                              <a:solidFill>
                                <a:srgbClr val="FF0000"/>
                              </a:solidFill>
                              <a:latin typeface="Cambria Math" charset="0"/>
                            </a:rPr>
                            <m:t>3</m:t>
                          </m:r>
                          <m:r>
                            <a:rPr lang="en-US" sz="1600" i="1">
                              <a:solidFill>
                                <a:srgbClr val="FF0000"/>
                              </a:solidFill>
                              <a:latin typeface="Cambria Math" charset="0"/>
                            </a:rPr>
                            <m:t>)</m:t>
                          </m:r>
                        </m:sup>
                      </m:sSup>
                    </m:oMath>
                  </m:oMathPara>
                </a14:m>
                <a:endParaRPr lang="en-US" sz="1600" baseline="30000" dirty="0"/>
              </a:p>
            </p:txBody>
          </p:sp>
        </mc:Choice>
        <mc:Fallback xmlns="">
          <p:sp>
            <p:nvSpPr>
              <p:cNvPr id="94" name="Rectangle 93"/>
              <p:cNvSpPr>
                <a:spLocks noRot="1" noChangeAspect="1" noMove="1" noResize="1" noEditPoints="1" noAdjustHandles="1" noChangeArrowheads="1" noChangeShapeType="1" noTextEdit="1"/>
              </p:cNvSpPr>
              <p:nvPr/>
            </p:nvSpPr>
            <p:spPr>
              <a:xfrm>
                <a:off x="5653494" y="808287"/>
                <a:ext cx="651653" cy="348813"/>
              </a:xfrm>
              <a:prstGeom prst="rect">
                <a:avLst/>
              </a:prstGeom>
              <a:blipFill rotWithShape="0">
                <a:blip r:embed="rId1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979649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Net Input </a:t>
            </a:r>
            <a:r>
              <a:rPr lang="en-US" sz="2000" dirty="0" smtClean="0">
                <a:latin typeface="Avenir Book" charset="0"/>
                <a:ea typeface="Avenir Book" charset="0"/>
                <a:cs typeface="Avenir Book" charset="0"/>
              </a:rPr>
              <a:t>(sum of weighted inputs, before activation function) </a:t>
            </a:r>
            <a:endParaRPr lang="en-US" sz="2000" dirty="0">
              <a:latin typeface="Avenir Book" charset="0"/>
              <a:ea typeface="Avenir Book" charset="0"/>
              <a:cs typeface="Avenir Book" charset="0"/>
            </a:endParaRPr>
          </a:p>
        </p:txBody>
      </p:sp>
      <p:grpSp>
        <p:nvGrpSpPr>
          <p:cNvPr id="24" name="Group 23"/>
          <p:cNvGrpSpPr/>
          <p:nvPr/>
        </p:nvGrpSpPr>
        <p:grpSpPr>
          <a:xfrm>
            <a:off x="1230690" y="996462"/>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3"/>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4"/>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5"/>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6"/>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7"/>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8"/>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9"/>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0"/>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1"/>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2"/>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3"/>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4"/>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5"/>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6"/>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44"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45"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Rectangle 2"/>
              <p:cNvSpPr/>
              <p:nvPr/>
            </p:nvSpPr>
            <p:spPr>
              <a:xfrm>
                <a:off x="2997883" y="830688"/>
                <a:ext cx="552715" cy="3488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solidFill>
                                <a:srgbClr val="FF0000"/>
                              </a:solidFill>
                              <a:latin typeface="Cambria Math" panose="02040503050406030204" pitchFamily="18" charset="0"/>
                            </a:rPr>
                          </m:ctrlPr>
                        </m:sSupPr>
                        <m:e>
                          <m:r>
                            <a:rPr lang="en-US" sz="1600" b="0" i="1" smtClean="0">
                              <a:solidFill>
                                <a:srgbClr val="FF0000"/>
                              </a:solidFill>
                              <a:latin typeface="Cambria Math" charset="0"/>
                            </a:rPr>
                            <m:t>𝑧</m:t>
                          </m:r>
                        </m:e>
                        <m:sup>
                          <m:r>
                            <a:rPr lang="en-US" sz="1600" i="1">
                              <a:solidFill>
                                <a:srgbClr val="FF0000"/>
                              </a:solidFill>
                              <a:latin typeface="Cambria Math" charset="0"/>
                            </a:rPr>
                            <m:t>(</m:t>
                          </m:r>
                          <m:r>
                            <a:rPr lang="en-US" sz="1600" b="0" i="1" smtClean="0">
                              <a:solidFill>
                                <a:srgbClr val="FF0000"/>
                              </a:solidFill>
                              <a:latin typeface="Cambria Math" charset="0"/>
                            </a:rPr>
                            <m:t>2</m:t>
                          </m:r>
                          <m:r>
                            <a:rPr lang="en-US" sz="1600" i="1">
                              <a:solidFill>
                                <a:srgbClr val="FF0000"/>
                              </a:solidFill>
                              <a:latin typeface="Cambria Math" charset="0"/>
                            </a:rPr>
                            <m:t>)</m:t>
                          </m:r>
                        </m:sup>
                      </m:sSup>
                    </m:oMath>
                  </m:oMathPara>
                </a14:m>
                <a:endParaRPr lang="en-US" sz="1600" baseline="30000" dirty="0"/>
              </a:p>
            </p:txBody>
          </p:sp>
        </mc:Choice>
        <mc:Fallback xmlns="">
          <p:sp>
            <p:nvSpPr>
              <p:cNvPr id="3" name="Rectangle 2"/>
              <p:cNvSpPr>
                <a:spLocks noRot="1" noChangeAspect="1" noMove="1" noResize="1" noEditPoints="1" noAdjustHandles="1" noChangeArrowheads="1" noChangeShapeType="1" noTextEdit="1"/>
              </p:cNvSpPr>
              <p:nvPr/>
            </p:nvSpPr>
            <p:spPr>
              <a:xfrm>
                <a:off x="2997883" y="830688"/>
                <a:ext cx="552715" cy="348813"/>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Rectangle 92"/>
              <p:cNvSpPr/>
              <p:nvPr/>
            </p:nvSpPr>
            <p:spPr>
              <a:xfrm>
                <a:off x="4343401" y="829931"/>
                <a:ext cx="552715" cy="3488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solidFill>
                                <a:srgbClr val="FF0000"/>
                              </a:solidFill>
                              <a:latin typeface="Cambria Math" panose="02040503050406030204" pitchFamily="18" charset="0"/>
                            </a:rPr>
                          </m:ctrlPr>
                        </m:sSupPr>
                        <m:e>
                          <m:r>
                            <a:rPr lang="en-US" sz="1600" b="0" i="1" smtClean="0">
                              <a:solidFill>
                                <a:srgbClr val="FF0000"/>
                              </a:solidFill>
                              <a:latin typeface="Cambria Math" charset="0"/>
                            </a:rPr>
                            <m:t>𝑧</m:t>
                          </m:r>
                        </m:e>
                        <m:sup>
                          <m:r>
                            <a:rPr lang="en-US" sz="1600" i="1">
                              <a:solidFill>
                                <a:srgbClr val="FF0000"/>
                              </a:solidFill>
                              <a:latin typeface="Cambria Math" charset="0"/>
                            </a:rPr>
                            <m:t>(</m:t>
                          </m:r>
                          <m:r>
                            <a:rPr lang="en-US" sz="1600" b="0" i="1" smtClean="0">
                              <a:solidFill>
                                <a:srgbClr val="FF0000"/>
                              </a:solidFill>
                              <a:latin typeface="Cambria Math" charset="0"/>
                            </a:rPr>
                            <m:t>3</m:t>
                          </m:r>
                          <m:r>
                            <a:rPr lang="en-US" sz="1600" i="1">
                              <a:solidFill>
                                <a:srgbClr val="FF0000"/>
                              </a:solidFill>
                              <a:latin typeface="Cambria Math" charset="0"/>
                            </a:rPr>
                            <m:t>)</m:t>
                          </m:r>
                        </m:sup>
                      </m:sSup>
                    </m:oMath>
                  </m:oMathPara>
                </a14:m>
                <a:endParaRPr lang="en-US" sz="1600" baseline="30000" dirty="0"/>
              </a:p>
            </p:txBody>
          </p:sp>
        </mc:Choice>
        <mc:Fallback xmlns="">
          <p:sp>
            <p:nvSpPr>
              <p:cNvPr id="93" name="Rectangle 92"/>
              <p:cNvSpPr>
                <a:spLocks noRot="1" noChangeAspect="1" noMove="1" noResize="1" noEditPoints="1" noAdjustHandles="1" noChangeArrowheads="1" noChangeShapeType="1" noTextEdit="1"/>
              </p:cNvSpPr>
              <p:nvPr/>
            </p:nvSpPr>
            <p:spPr>
              <a:xfrm>
                <a:off x="4343401" y="829931"/>
                <a:ext cx="552715" cy="348813"/>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Rectangle 93"/>
              <p:cNvSpPr/>
              <p:nvPr/>
            </p:nvSpPr>
            <p:spPr>
              <a:xfrm>
                <a:off x="5860958" y="1102180"/>
                <a:ext cx="552715" cy="3488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solidFill>
                                <a:srgbClr val="FF0000"/>
                              </a:solidFill>
                              <a:latin typeface="Cambria Math" panose="02040503050406030204" pitchFamily="18" charset="0"/>
                            </a:rPr>
                          </m:ctrlPr>
                        </m:sSupPr>
                        <m:e>
                          <m:r>
                            <a:rPr lang="en-US" sz="1600" b="0" i="1" smtClean="0">
                              <a:solidFill>
                                <a:srgbClr val="FF0000"/>
                              </a:solidFill>
                              <a:latin typeface="Cambria Math" charset="0"/>
                            </a:rPr>
                            <m:t>𝑧</m:t>
                          </m:r>
                        </m:e>
                        <m:sup>
                          <m:r>
                            <a:rPr lang="en-US" sz="1600" i="1">
                              <a:solidFill>
                                <a:srgbClr val="FF0000"/>
                              </a:solidFill>
                              <a:latin typeface="Cambria Math" charset="0"/>
                            </a:rPr>
                            <m:t>(</m:t>
                          </m:r>
                          <m:r>
                            <a:rPr lang="en-US" sz="1600" b="0" i="1" smtClean="0">
                              <a:solidFill>
                                <a:srgbClr val="FF0000"/>
                              </a:solidFill>
                              <a:latin typeface="Cambria Math" charset="0"/>
                            </a:rPr>
                            <m:t>4</m:t>
                          </m:r>
                          <m:r>
                            <a:rPr lang="en-US" sz="1600" i="1">
                              <a:solidFill>
                                <a:srgbClr val="FF0000"/>
                              </a:solidFill>
                              <a:latin typeface="Cambria Math" charset="0"/>
                            </a:rPr>
                            <m:t>)</m:t>
                          </m:r>
                        </m:sup>
                      </m:sSup>
                    </m:oMath>
                  </m:oMathPara>
                </a14:m>
                <a:endParaRPr lang="en-US" sz="1600" baseline="30000" dirty="0"/>
              </a:p>
            </p:txBody>
          </p:sp>
        </mc:Choice>
        <mc:Fallback xmlns="">
          <p:sp>
            <p:nvSpPr>
              <p:cNvPr id="94" name="Rectangle 93"/>
              <p:cNvSpPr>
                <a:spLocks noRot="1" noChangeAspect="1" noMove="1" noResize="1" noEditPoints="1" noAdjustHandles="1" noChangeArrowheads="1" noChangeShapeType="1" noTextEdit="1"/>
              </p:cNvSpPr>
              <p:nvPr/>
            </p:nvSpPr>
            <p:spPr>
              <a:xfrm>
                <a:off x="5860958" y="1102180"/>
                <a:ext cx="552715" cy="348813"/>
              </a:xfrm>
              <a:prstGeom prst="rect">
                <a:avLst/>
              </a:prstGeom>
              <a:blipFill rotWithShape="0">
                <a:blip r:embed="rId1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3910478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Activations </a:t>
            </a:r>
            <a:r>
              <a:rPr lang="en-US" sz="2000" dirty="0" smtClean="0">
                <a:latin typeface="Avenir Book" charset="0"/>
                <a:ea typeface="Avenir Book" charset="0"/>
                <a:cs typeface="Avenir Book" charset="0"/>
              </a:rPr>
              <a:t>(output of neurons to next layer)</a:t>
            </a:r>
            <a:endParaRPr lang="en-US" dirty="0">
              <a:latin typeface="Avenir Book" charset="0"/>
              <a:ea typeface="Avenir Book" charset="0"/>
              <a:cs typeface="Avenir Book" charset="0"/>
            </a:endParaRPr>
          </a:p>
        </p:txBody>
      </p:sp>
      <p:grpSp>
        <p:nvGrpSpPr>
          <p:cNvPr id="24" name="Group 23"/>
          <p:cNvGrpSpPr/>
          <p:nvPr/>
        </p:nvGrpSpPr>
        <p:grpSpPr>
          <a:xfrm>
            <a:off x="1230690" y="996462"/>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3"/>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4"/>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5"/>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6"/>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7"/>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8"/>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9"/>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0"/>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1"/>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2"/>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3"/>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4"/>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5"/>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6"/>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44"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45"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Rectangle 2"/>
              <p:cNvSpPr/>
              <p:nvPr/>
            </p:nvSpPr>
            <p:spPr>
              <a:xfrm>
                <a:off x="2494928" y="1017259"/>
                <a:ext cx="562077" cy="3488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solidFill>
                                <a:srgbClr val="FF0000"/>
                              </a:solidFill>
                              <a:latin typeface="Cambria Math" panose="02040503050406030204" pitchFamily="18" charset="0"/>
                            </a:rPr>
                          </m:ctrlPr>
                        </m:sSupPr>
                        <m:e>
                          <m:r>
                            <a:rPr lang="en-US" sz="1600" b="0" i="1" smtClean="0">
                              <a:solidFill>
                                <a:srgbClr val="FF0000"/>
                              </a:solidFill>
                              <a:latin typeface="Cambria Math" charset="0"/>
                            </a:rPr>
                            <m:t>𝑎</m:t>
                          </m:r>
                        </m:e>
                        <m:sup>
                          <m:r>
                            <a:rPr lang="en-US" sz="1600" i="1">
                              <a:solidFill>
                                <a:srgbClr val="FF0000"/>
                              </a:solidFill>
                              <a:latin typeface="Cambria Math" charset="0"/>
                            </a:rPr>
                            <m:t>(1)</m:t>
                          </m:r>
                        </m:sup>
                      </m:sSup>
                    </m:oMath>
                  </m:oMathPara>
                </a14:m>
                <a:endParaRPr lang="en-US" sz="1600" baseline="30000" dirty="0"/>
              </a:p>
            </p:txBody>
          </p:sp>
        </mc:Choice>
        <mc:Fallback xmlns="">
          <p:sp>
            <p:nvSpPr>
              <p:cNvPr id="3" name="Rectangle 2"/>
              <p:cNvSpPr>
                <a:spLocks noRot="1" noChangeAspect="1" noMove="1" noResize="1" noEditPoints="1" noAdjustHandles="1" noChangeArrowheads="1" noChangeShapeType="1" noTextEdit="1"/>
              </p:cNvSpPr>
              <p:nvPr/>
            </p:nvSpPr>
            <p:spPr>
              <a:xfrm>
                <a:off x="2494928" y="1017259"/>
                <a:ext cx="562077" cy="348813"/>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Rectangle 92"/>
              <p:cNvSpPr/>
              <p:nvPr/>
            </p:nvSpPr>
            <p:spPr>
              <a:xfrm>
                <a:off x="3942021" y="713903"/>
                <a:ext cx="562077" cy="3488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solidFill>
                                <a:srgbClr val="FF0000"/>
                              </a:solidFill>
                              <a:latin typeface="Cambria Math" panose="02040503050406030204" pitchFamily="18" charset="0"/>
                            </a:rPr>
                          </m:ctrlPr>
                        </m:sSupPr>
                        <m:e>
                          <m:r>
                            <a:rPr lang="en-US" sz="1600" b="0" i="1" smtClean="0">
                              <a:solidFill>
                                <a:srgbClr val="FF0000"/>
                              </a:solidFill>
                              <a:latin typeface="Cambria Math" charset="0"/>
                            </a:rPr>
                            <m:t>𝑎</m:t>
                          </m:r>
                        </m:e>
                        <m:sup>
                          <m:r>
                            <a:rPr lang="en-US" sz="1600" i="1">
                              <a:solidFill>
                                <a:srgbClr val="FF0000"/>
                              </a:solidFill>
                              <a:latin typeface="Cambria Math" charset="0"/>
                            </a:rPr>
                            <m:t>(</m:t>
                          </m:r>
                          <m:r>
                            <a:rPr lang="en-US" sz="1600" b="0" i="1" smtClean="0">
                              <a:solidFill>
                                <a:srgbClr val="FF0000"/>
                              </a:solidFill>
                              <a:latin typeface="Cambria Math" charset="0"/>
                            </a:rPr>
                            <m:t>2</m:t>
                          </m:r>
                          <m:r>
                            <a:rPr lang="en-US" sz="1600" i="1">
                              <a:solidFill>
                                <a:srgbClr val="FF0000"/>
                              </a:solidFill>
                              <a:latin typeface="Cambria Math" charset="0"/>
                            </a:rPr>
                            <m:t>)</m:t>
                          </m:r>
                        </m:sup>
                      </m:sSup>
                    </m:oMath>
                  </m:oMathPara>
                </a14:m>
                <a:endParaRPr lang="en-US" sz="1600" baseline="30000" dirty="0"/>
              </a:p>
            </p:txBody>
          </p:sp>
        </mc:Choice>
        <mc:Fallback xmlns="">
          <p:sp>
            <p:nvSpPr>
              <p:cNvPr id="93" name="Rectangle 92"/>
              <p:cNvSpPr>
                <a:spLocks noRot="1" noChangeAspect="1" noMove="1" noResize="1" noEditPoints="1" noAdjustHandles="1" noChangeArrowheads="1" noChangeShapeType="1" noTextEdit="1"/>
              </p:cNvSpPr>
              <p:nvPr/>
            </p:nvSpPr>
            <p:spPr>
              <a:xfrm>
                <a:off x="3942021" y="713903"/>
                <a:ext cx="562077" cy="348813"/>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Rectangle 93"/>
              <p:cNvSpPr/>
              <p:nvPr/>
            </p:nvSpPr>
            <p:spPr>
              <a:xfrm>
                <a:off x="5288905" y="713903"/>
                <a:ext cx="562077" cy="3488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solidFill>
                                <a:srgbClr val="FF0000"/>
                              </a:solidFill>
                              <a:latin typeface="Cambria Math" panose="02040503050406030204" pitchFamily="18" charset="0"/>
                            </a:rPr>
                          </m:ctrlPr>
                        </m:sSupPr>
                        <m:e>
                          <m:r>
                            <a:rPr lang="en-US" sz="1600" b="0" i="1" smtClean="0">
                              <a:solidFill>
                                <a:srgbClr val="FF0000"/>
                              </a:solidFill>
                              <a:latin typeface="Cambria Math" charset="0"/>
                            </a:rPr>
                            <m:t>𝑎</m:t>
                          </m:r>
                        </m:e>
                        <m:sup>
                          <m:r>
                            <a:rPr lang="en-US" sz="1600" i="1">
                              <a:solidFill>
                                <a:srgbClr val="FF0000"/>
                              </a:solidFill>
                              <a:latin typeface="Cambria Math" charset="0"/>
                            </a:rPr>
                            <m:t>(</m:t>
                          </m:r>
                          <m:r>
                            <a:rPr lang="en-US" sz="1600" b="0" i="1" smtClean="0">
                              <a:solidFill>
                                <a:srgbClr val="FF0000"/>
                              </a:solidFill>
                              <a:latin typeface="Cambria Math" charset="0"/>
                            </a:rPr>
                            <m:t>3</m:t>
                          </m:r>
                          <m:r>
                            <a:rPr lang="en-US" sz="1600" i="1">
                              <a:solidFill>
                                <a:srgbClr val="FF0000"/>
                              </a:solidFill>
                              <a:latin typeface="Cambria Math" charset="0"/>
                            </a:rPr>
                            <m:t>)</m:t>
                          </m:r>
                        </m:sup>
                      </m:sSup>
                    </m:oMath>
                  </m:oMathPara>
                </a14:m>
                <a:endParaRPr lang="en-US" sz="1600" baseline="30000" dirty="0"/>
              </a:p>
            </p:txBody>
          </p:sp>
        </mc:Choice>
        <mc:Fallback xmlns="">
          <p:sp>
            <p:nvSpPr>
              <p:cNvPr id="94" name="Rectangle 93"/>
              <p:cNvSpPr>
                <a:spLocks noRot="1" noChangeAspect="1" noMove="1" noResize="1" noEditPoints="1" noAdjustHandles="1" noChangeArrowheads="1" noChangeShapeType="1" noTextEdit="1"/>
              </p:cNvSpPr>
              <p:nvPr/>
            </p:nvSpPr>
            <p:spPr>
              <a:xfrm>
                <a:off x="5288905" y="713903"/>
                <a:ext cx="562077" cy="348813"/>
              </a:xfrm>
              <a:prstGeom prst="rect">
                <a:avLst/>
              </a:prstGeom>
              <a:blipFill rotWithShape="0">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Rectangle 94"/>
              <p:cNvSpPr/>
              <p:nvPr/>
            </p:nvSpPr>
            <p:spPr>
              <a:xfrm>
                <a:off x="6728580" y="1097640"/>
                <a:ext cx="562077" cy="3488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solidFill>
                                <a:srgbClr val="FF0000"/>
                              </a:solidFill>
                              <a:latin typeface="Cambria Math" panose="02040503050406030204" pitchFamily="18" charset="0"/>
                            </a:rPr>
                          </m:ctrlPr>
                        </m:sSupPr>
                        <m:e>
                          <m:r>
                            <a:rPr lang="en-US" sz="1600" b="0" i="1" smtClean="0">
                              <a:solidFill>
                                <a:srgbClr val="FF0000"/>
                              </a:solidFill>
                              <a:latin typeface="Cambria Math" charset="0"/>
                            </a:rPr>
                            <m:t>𝑎</m:t>
                          </m:r>
                        </m:e>
                        <m:sup>
                          <m:r>
                            <a:rPr lang="en-US" sz="1600" i="1">
                              <a:solidFill>
                                <a:srgbClr val="FF0000"/>
                              </a:solidFill>
                              <a:latin typeface="Cambria Math" charset="0"/>
                            </a:rPr>
                            <m:t>(</m:t>
                          </m:r>
                          <m:r>
                            <a:rPr lang="en-US" sz="1600" b="0" i="1" smtClean="0">
                              <a:solidFill>
                                <a:srgbClr val="FF0000"/>
                              </a:solidFill>
                              <a:latin typeface="Cambria Math" charset="0"/>
                            </a:rPr>
                            <m:t>4</m:t>
                          </m:r>
                          <m:r>
                            <a:rPr lang="en-US" sz="1600" i="1">
                              <a:solidFill>
                                <a:srgbClr val="FF0000"/>
                              </a:solidFill>
                              <a:latin typeface="Cambria Math" charset="0"/>
                            </a:rPr>
                            <m:t>)</m:t>
                          </m:r>
                        </m:sup>
                      </m:sSup>
                    </m:oMath>
                  </m:oMathPara>
                </a14:m>
                <a:endParaRPr lang="en-US" sz="1600" baseline="30000" dirty="0"/>
              </a:p>
            </p:txBody>
          </p:sp>
        </mc:Choice>
        <mc:Fallback xmlns="">
          <p:sp>
            <p:nvSpPr>
              <p:cNvPr id="95" name="Rectangle 94"/>
              <p:cNvSpPr>
                <a:spLocks noRot="1" noChangeAspect="1" noMove="1" noResize="1" noEditPoints="1" noAdjustHandles="1" noChangeArrowheads="1" noChangeShapeType="1" noTextEdit="1"/>
              </p:cNvSpPr>
              <p:nvPr/>
            </p:nvSpPr>
            <p:spPr>
              <a:xfrm>
                <a:off x="6728580" y="1097640"/>
                <a:ext cx="562077" cy="348813"/>
              </a:xfrm>
              <a:prstGeom prst="rect">
                <a:avLst/>
              </a:prstGeom>
              <a:blipFill rotWithShape="0">
                <a:blip r:embed="rId2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585047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Matrix representation of computation</a:t>
            </a:r>
            <a:endParaRPr lang="en-US" dirty="0">
              <a:latin typeface="Avenir Book" charset="0"/>
              <a:ea typeface="Avenir Book" charset="0"/>
              <a:cs typeface="Avenir Book" charset="0"/>
            </a:endParaRPr>
          </a:p>
        </p:txBody>
      </p:sp>
      <p:grpSp>
        <p:nvGrpSpPr>
          <p:cNvPr id="24" name="Group 23"/>
          <p:cNvGrpSpPr/>
          <p:nvPr/>
        </p:nvGrpSpPr>
        <p:grpSpPr>
          <a:xfrm>
            <a:off x="4384195" y="1031631"/>
            <a:ext cx="2968293" cy="3681046"/>
            <a:chOff x="3292616" y="4559300"/>
            <a:chExt cx="1658796"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3"/>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4"/>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5"/>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6"/>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7"/>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8"/>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9"/>
                  <a:stretch>
                    <a:fillRect t="-35338" b="-54887"/>
                  </a:stretch>
                </a:blipFill>
              </p:spPr>
              <p:txBody>
                <a:bodyPr/>
                <a:lstStyle/>
                <a:p>
                  <a:r>
                    <a:rPr lang="en-US">
                      <a:noFill/>
                    </a:rPr>
                    <a:t> </a:t>
                  </a:r>
                </a:p>
              </p:txBody>
            </p:sp>
          </mc:Fallback>
        </mc:AlternateContent>
        <p:cxnSp>
          <p:nvCxnSpPr>
            <p:cNvPr id="39" name="Straight Arrow Connector 38"/>
            <p:cNvCxnSpPr>
              <a:stCxn id="28" idx="6"/>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3" name="TextBox 72"/>
              <p:cNvSpPr txBox="1"/>
              <p:nvPr/>
            </p:nvSpPr>
            <p:spPr>
              <a:xfrm>
                <a:off x="398352" y="3119908"/>
                <a:ext cx="1838945" cy="3846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charset="0"/>
                            </a:rPr>
                            <m:t>𝑧</m:t>
                          </m:r>
                        </m:e>
                        <m:sup>
                          <m:r>
                            <a:rPr lang="en-US" sz="2400" b="0" i="1" smtClean="0">
                              <a:latin typeface="Cambria Math" charset="0"/>
                            </a:rPr>
                            <m:t>(2)</m:t>
                          </m:r>
                        </m:sup>
                      </m:sSup>
                      <m:r>
                        <a:rPr lang="en-US" sz="2400" b="0" i="1" smtClean="0">
                          <a:latin typeface="Cambria Math" charset="0"/>
                        </a:rPr>
                        <m:t>=</m:t>
                      </m:r>
                      <m:r>
                        <a:rPr lang="en-US" sz="2400" b="0" i="1" smtClean="0">
                          <a:latin typeface="Cambria Math" charset="0"/>
                        </a:rPr>
                        <m:t>𝑥</m:t>
                      </m:r>
                      <m:sSup>
                        <m:sSupPr>
                          <m:ctrlPr>
                            <a:rPr lang="en-US" sz="2400" b="0" i="1" smtClean="0">
                              <a:latin typeface="Cambria Math" panose="02040503050406030204" pitchFamily="18" charset="0"/>
                            </a:rPr>
                          </m:ctrlPr>
                        </m:sSupPr>
                        <m:e>
                          <m:r>
                            <a:rPr lang="en-US" sz="2400" b="0" i="1" smtClean="0">
                              <a:latin typeface="Cambria Math" charset="0"/>
                            </a:rPr>
                            <m:t>𝑊</m:t>
                          </m:r>
                        </m:e>
                        <m:sup>
                          <m:r>
                            <a:rPr lang="en-US" sz="2400" b="0" i="1" smtClean="0">
                              <a:latin typeface="Cambria Math" charset="0"/>
                            </a:rPr>
                            <m:t>(1)</m:t>
                          </m:r>
                        </m:sup>
                      </m:sSup>
                    </m:oMath>
                  </m:oMathPara>
                </a14:m>
                <a:endParaRPr lang="en-US" sz="2400" dirty="0"/>
              </a:p>
            </p:txBody>
          </p:sp>
        </mc:Choice>
        <mc:Fallback xmlns="">
          <p:sp>
            <p:nvSpPr>
              <p:cNvPr id="73" name="TextBox 72"/>
              <p:cNvSpPr txBox="1">
                <a:spLocks noRot="1" noChangeAspect="1" noMove="1" noResize="1" noEditPoints="1" noAdjustHandles="1" noChangeArrowheads="1" noChangeShapeType="1" noTextEdit="1"/>
              </p:cNvSpPr>
              <p:nvPr/>
            </p:nvSpPr>
            <p:spPr>
              <a:xfrm>
                <a:off x="398352" y="3119908"/>
                <a:ext cx="1838945" cy="384657"/>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398352" y="3712098"/>
                <a:ext cx="1874116" cy="39433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charset="0"/>
                            </a:rPr>
                            <m:t>𝑎</m:t>
                          </m:r>
                        </m:e>
                        <m:sup>
                          <m:r>
                            <a:rPr lang="en-US" sz="2400" b="0" i="1" smtClean="0">
                              <a:latin typeface="Cambria Math" charset="0"/>
                            </a:rPr>
                            <m:t>(2)</m:t>
                          </m:r>
                        </m:sup>
                      </m:sSup>
                      <m:r>
                        <a:rPr lang="en-US" sz="2400" b="0" i="1" smtClean="0">
                          <a:latin typeface="Cambria Math" charset="0"/>
                        </a:rPr>
                        <m:t>=</m:t>
                      </m:r>
                      <m:r>
                        <a:rPr lang="en-US" sz="2400" b="0" i="1" smtClean="0">
                          <a:latin typeface="Cambria Math" charset="0"/>
                        </a:rPr>
                        <m:t>𝜎</m:t>
                      </m:r>
                      <m:r>
                        <a:rPr lang="en-US" sz="2400" b="0" i="1" smtClean="0">
                          <a:latin typeface="Cambria Math" charset="0"/>
                        </a:rPr>
                        <m:t>(</m:t>
                      </m:r>
                      <m:sSup>
                        <m:sSupPr>
                          <m:ctrlPr>
                            <a:rPr lang="en-US" sz="2400" b="0" i="1" smtClean="0">
                              <a:latin typeface="Cambria Math" panose="02040503050406030204" pitchFamily="18" charset="0"/>
                            </a:rPr>
                          </m:ctrlPr>
                        </m:sSupPr>
                        <m:e>
                          <m:r>
                            <a:rPr lang="en-US" sz="2400" b="0" i="1" smtClean="0">
                              <a:latin typeface="Cambria Math" charset="0"/>
                            </a:rPr>
                            <m:t>𝑧</m:t>
                          </m:r>
                        </m:e>
                        <m:sup>
                          <m:d>
                            <m:dPr>
                              <m:ctrlPr>
                                <a:rPr lang="en-US" sz="2400" b="0" i="1" smtClean="0">
                                  <a:latin typeface="Cambria Math" panose="02040503050406030204" pitchFamily="18" charset="0"/>
                                </a:rPr>
                              </m:ctrlPr>
                            </m:dPr>
                            <m:e>
                              <m:r>
                                <a:rPr lang="en-US" sz="2400" b="0" i="1" smtClean="0">
                                  <a:latin typeface="Cambria Math" charset="0"/>
                                </a:rPr>
                                <m:t>2</m:t>
                              </m:r>
                            </m:e>
                          </m:d>
                        </m:sup>
                      </m:sSup>
                      <m:r>
                        <a:rPr lang="en-US" sz="2400" b="0" i="1" smtClean="0">
                          <a:latin typeface="Cambria Math" charset="0"/>
                        </a:rPr>
                        <m:t>)</m:t>
                      </m:r>
                    </m:oMath>
                  </m:oMathPara>
                </a14:m>
                <a:endParaRPr lang="en-US" sz="2400" dirty="0"/>
              </a:p>
            </p:txBody>
          </p:sp>
        </mc:Choice>
        <mc:Fallback xmlns="">
          <p:sp>
            <p:nvSpPr>
              <p:cNvPr id="74" name="TextBox 73"/>
              <p:cNvSpPr txBox="1">
                <a:spLocks noRot="1" noChangeAspect="1" noMove="1" noResize="1" noEditPoints="1" noAdjustHandles="1" noChangeArrowheads="1" noChangeShapeType="1" noTextEdit="1"/>
              </p:cNvSpPr>
              <p:nvPr/>
            </p:nvSpPr>
            <p:spPr>
              <a:xfrm>
                <a:off x="398352" y="3712098"/>
                <a:ext cx="1874116" cy="394339"/>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398352" y="2027197"/>
                <a:ext cx="2229895"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𝑥</m:t>
                      </m:r>
                      <m:r>
                        <a:rPr lang="en-US" sz="2400" b="0" i="1" smtClean="0">
                          <a:solidFill>
                            <a:schemeClr val="bg1"/>
                          </a:solidFill>
                          <a:latin typeface="Cambria Math" charset="0"/>
                        </a:rPr>
                        <m:t>=</m:t>
                      </m:r>
                      <m:d>
                        <m:dPr>
                          <m:begChr m:val="["/>
                          <m:endChr m:val="]"/>
                          <m:ctrlPr>
                            <a:rPr lang="en-US" sz="2400" b="0" i="1" smtClean="0">
                              <a:solidFill>
                                <a:schemeClr val="bg1"/>
                              </a:solidFill>
                              <a:latin typeface="Cambria Math" panose="02040503050406030204" pitchFamily="18" charset="0"/>
                            </a:rPr>
                          </m:ctrlPr>
                        </m:dPr>
                        <m:e>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charset="0"/>
                                </a:rPr>
                                <m:t>𝑥</m:t>
                              </m:r>
                            </m:e>
                            <m:sub>
                              <m:r>
                                <a:rPr lang="en-US" sz="2400" i="1">
                                  <a:solidFill>
                                    <a:schemeClr val="bg1"/>
                                  </a:solidFill>
                                  <a:latin typeface="Cambria Math" charset="0"/>
                                </a:rPr>
                                <m:t>1</m:t>
                              </m:r>
                            </m:sub>
                          </m:sSub>
                          <m:r>
                            <a:rPr lang="en-US" sz="2400" b="0" i="1" smtClean="0">
                              <a:solidFill>
                                <a:schemeClr val="bg1"/>
                              </a:solidFill>
                              <a:latin typeface="Cambria Math" charset="0"/>
                            </a:rPr>
                            <m:t>,</m:t>
                          </m:r>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charset="0"/>
                                </a:rPr>
                                <m:t>𝑥</m:t>
                              </m:r>
                            </m:e>
                            <m:sub>
                              <m:r>
                                <a:rPr lang="en-US" sz="2400" b="0" i="1" smtClean="0">
                                  <a:solidFill>
                                    <a:schemeClr val="bg1"/>
                                  </a:solidFill>
                                  <a:latin typeface="Cambria Math" charset="0"/>
                                </a:rPr>
                                <m:t>2</m:t>
                              </m:r>
                            </m:sub>
                          </m:sSub>
                          <m:r>
                            <a:rPr lang="en-US" sz="2400" b="0" i="1" smtClean="0">
                              <a:solidFill>
                                <a:schemeClr val="bg1"/>
                              </a:solidFill>
                              <a:latin typeface="Cambria Math" charset="0"/>
                            </a:rPr>
                            <m:t>,</m:t>
                          </m:r>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charset="0"/>
                                </a:rPr>
                                <m:t>𝑥</m:t>
                              </m:r>
                            </m:e>
                            <m:sub>
                              <m:r>
                                <a:rPr lang="en-US" sz="2400" b="0" i="1" smtClean="0">
                                  <a:solidFill>
                                    <a:schemeClr val="bg1"/>
                                  </a:solidFill>
                                  <a:latin typeface="Cambria Math" charset="0"/>
                                </a:rPr>
                                <m:t>3</m:t>
                              </m:r>
                            </m:sub>
                          </m:sSub>
                        </m:e>
                      </m:d>
                      <m:r>
                        <a:rPr lang="en-US" sz="2400" b="0" i="1" smtClean="0">
                          <a:solidFill>
                            <a:schemeClr val="bg1"/>
                          </a:solidFill>
                          <a:latin typeface="Cambria Math" charset="0"/>
                        </a:rPr>
                        <m:t>  </m:t>
                      </m:r>
                    </m:oMath>
                  </m:oMathPara>
                </a14:m>
                <a:endParaRPr lang="en-US" sz="2400" b="0" i="1" dirty="0" smtClean="0">
                  <a:solidFill>
                    <a:srgbClr val="FF0000"/>
                  </a:solidFill>
                  <a:latin typeface="Cambria Math" charset="0"/>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398352" y="2027197"/>
                <a:ext cx="2229895" cy="369332"/>
              </a:xfrm>
              <a:prstGeom prst="rect">
                <a:avLst/>
              </a:prstGeom>
              <a:blipFill rotWithShape="0">
                <a:blip r:embed="rId12"/>
                <a:stretch>
                  <a:fillRect t="-140000" r="-3005" b="-18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p:cNvSpPr txBox="1"/>
              <p:nvPr/>
            </p:nvSpPr>
            <p:spPr>
              <a:xfrm>
                <a:off x="754131" y="2498831"/>
                <a:ext cx="1874116" cy="3846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charset="0"/>
                            </a:rPr>
                            <m:t>(</m:t>
                          </m:r>
                          <m:r>
                            <a:rPr lang="en-US" sz="2400" b="0" i="1" smtClean="0">
                              <a:latin typeface="Cambria Math" charset="0"/>
                            </a:rPr>
                            <m:t>𝑥</m:t>
                          </m:r>
                          <m:r>
                            <a:rPr lang="en-US" sz="2400" b="0" i="1" smtClean="0">
                              <a:latin typeface="Cambria Math" charset="0"/>
                            </a:rPr>
                            <m:t>= </m:t>
                          </m:r>
                          <m:r>
                            <a:rPr lang="en-US" sz="2400" b="0" i="1" smtClean="0">
                              <a:latin typeface="Cambria Math" charset="0"/>
                            </a:rPr>
                            <m:t>𝑎</m:t>
                          </m:r>
                        </m:e>
                        <m:sup>
                          <m:r>
                            <a:rPr lang="en-US" sz="2400" b="0" i="1" smtClean="0">
                              <a:latin typeface="Cambria Math" charset="0"/>
                            </a:rPr>
                            <m:t>(1)</m:t>
                          </m:r>
                        </m:sup>
                      </m:sSup>
                      <m:r>
                        <a:rPr lang="en-US" sz="2400" b="0" i="1" smtClean="0">
                          <a:latin typeface="Cambria Math" charset="0"/>
                        </a:rPr>
                        <m:t>)</m:t>
                      </m:r>
                    </m:oMath>
                  </m:oMathPara>
                </a14:m>
                <a:endParaRPr lang="en-US" sz="2400" dirty="0"/>
              </a:p>
            </p:txBody>
          </p:sp>
        </mc:Choice>
        <mc:Fallback xmlns="">
          <p:sp>
            <p:nvSpPr>
              <p:cNvPr id="76" name="TextBox 75"/>
              <p:cNvSpPr txBox="1">
                <a:spLocks noRot="1" noChangeAspect="1" noMove="1" noResize="1" noEditPoints="1" noAdjustHandles="1" noChangeArrowheads="1" noChangeShapeType="1" noTextEdit="1"/>
              </p:cNvSpPr>
              <p:nvPr/>
            </p:nvSpPr>
            <p:spPr>
              <a:xfrm>
                <a:off x="754131" y="2498831"/>
                <a:ext cx="1874116" cy="384657"/>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Rectangle 76"/>
              <p:cNvSpPr/>
              <p:nvPr/>
            </p:nvSpPr>
            <p:spPr>
              <a:xfrm>
                <a:off x="6261653" y="799880"/>
                <a:ext cx="552715" cy="3488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solidFill>
                                <a:srgbClr val="FF0000"/>
                              </a:solidFill>
                              <a:latin typeface="Cambria Math" panose="02040503050406030204" pitchFamily="18" charset="0"/>
                            </a:rPr>
                          </m:ctrlPr>
                        </m:sSupPr>
                        <m:e>
                          <m:r>
                            <a:rPr lang="en-US" sz="1600" b="0" i="1" smtClean="0">
                              <a:solidFill>
                                <a:srgbClr val="FF0000"/>
                              </a:solidFill>
                              <a:latin typeface="Cambria Math" charset="0"/>
                            </a:rPr>
                            <m:t>𝑧</m:t>
                          </m:r>
                        </m:e>
                        <m:sup>
                          <m:r>
                            <a:rPr lang="en-US" sz="1600" i="1">
                              <a:solidFill>
                                <a:srgbClr val="FF0000"/>
                              </a:solidFill>
                              <a:latin typeface="Cambria Math" charset="0"/>
                            </a:rPr>
                            <m:t>(</m:t>
                          </m:r>
                          <m:r>
                            <a:rPr lang="en-US" sz="1600" b="0" i="1" smtClean="0">
                              <a:solidFill>
                                <a:srgbClr val="FF0000"/>
                              </a:solidFill>
                              <a:latin typeface="Cambria Math" charset="0"/>
                            </a:rPr>
                            <m:t>2</m:t>
                          </m:r>
                          <m:r>
                            <a:rPr lang="en-US" sz="1600" i="1">
                              <a:solidFill>
                                <a:srgbClr val="FF0000"/>
                              </a:solidFill>
                              <a:latin typeface="Cambria Math" charset="0"/>
                            </a:rPr>
                            <m:t>)</m:t>
                          </m:r>
                        </m:sup>
                      </m:sSup>
                    </m:oMath>
                  </m:oMathPara>
                </a14:m>
                <a:endParaRPr lang="en-US" sz="1600" baseline="30000" dirty="0"/>
              </a:p>
            </p:txBody>
          </p:sp>
        </mc:Choice>
        <mc:Fallback xmlns="">
          <p:sp>
            <p:nvSpPr>
              <p:cNvPr id="77" name="Rectangle 76"/>
              <p:cNvSpPr>
                <a:spLocks noRot="1" noChangeAspect="1" noMove="1" noResize="1" noEditPoints="1" noAdjustHandles="1" noChangeArrowheads="1" noChangeShapeType="1" noTextEdit="1"/>
              </p:cNvSpPr>
              <p:nvPr/>
            </p:nvSpPr>
            <p:spPr>
              <a:xfrm>
                <a:off x="6261653" y="799880"/>
                <a:ext cx="552715" cy="348813"/>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Rectangle 89"/>
              <p:cNvSpPr/>
              <p:nvPr/>
            </p:nvSpPr>
            <p:spPr>
              <a:xfrm>
                <a:off x="5855177" y="1063400"/>
                <a:ext cx="651653" cy="3488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solidFill>
                                <a:srgbClr val="FF0000"/>
                              </a:solidFill>
                              <a:latin typeface="Cambria Math" panose="02040503050406030204" pitchFamily="18" charset="0"/>
                            </a:rPr>
                          </m:ctrlPr>
                        </m:sSupPr>
                        <m:e>
                          <m:r>
                            <a:rPr lang="en-US" sz="1600" b="0" i="1" smtClean="0">
                              <a:solidFill>
                                <a:srgbClr val="FF0000"/>
                              </a:solidFill>
                              <a:latin typeface="Cambria Math" charset="0"/>
                            </a:rPr>
                            <m:t>𝑊</m:t>
                          </m:r>
                        </m:e>
                        <m:sup>
                          <m:r>
                            <a:rPr lang="en-US" sz="1600" i="1">
                              <a:solidFill>
                                <a:srgbClr val="FF0000"/>
                              </a:solidFill>
                              <a:latin typeface="Cambria Math" charset="0"/>
                            </a:rPr>
                            <m:t>(1)</m:t>
                          </m:r>
                        </m:sup>
                      </m:sSup>
                    </m:oMath>
                  </m:oMathPara>
                </a14:m>
                <a:endParaRPr lang="en-US" sz="1600" baseline="30000" dirty="0"/>
              </a:p>
            </p:txBody>
          </p:sp>
        </mc:Choice>
        <mc:Fallback xmlns="">
          <p:sp>
            <p:nvSpPr>
              <p:cNvPr id="90" name="Rectangle 89"/>
              <p:cNvSpPr>
                <a:spLocks noRot="1" noChangeAspect="1" noMove="1" noResize="1" noEditPoints="1" noAdjustHandles="1" noChangeArrowheads="1" noChangeShapeType="1" noTextEdit="1"/>
              </p:cNvSpPr>
              <p:nvPr/>
            </p:nvSpPr>
            <p:spPr>
              <a:xfrm>
                <a:off x="5855177" y="1063400"/>
                <a:ext cx="651653" cy="348813"/>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Rectangle 90"/>
              <p:cNvSpPr/>
              <p:nvPr/>
            </p:nvSpPr>
            <p:spPr>
              <a:xfrm>
                <a:off x="7220844" y="783928"/>
                <a:ext cx="562077" cy="3488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solidFill>
                                <a:srgbClr val="FF0000"/>
                              </a:solidFill>
                              <a:latin typeface="Cambria Math" panose="02040503050406030204" pitchFamily="18" charset="0"/>
                            </a:rPr>
                          </m:ctrlPr>
                        </m:sSupPr>
                        <m:e>
                          <m:r>
                            <a:rPr lang="en-US" sz="1600" b="0" i="1" smtClean="0">
                              <a:solidFill>
                                <a:srgbClr val="FF0000"/>
                              </a:solidFill>
                              <a:latin typeface="Cambria Math" charset="0"/>
                            </a:rPr>
                            <m:t>𝑎</m:t>
                          </m:r>
                        </m:e>
                        <m:sup>
                          <m:r>
                            <a:rPr lang="en-US" sz="1600" i="1">
                              <a:solidFill>
                                <a:srgbClr val="FF0000"/>
                              </a:solidFill>
                              <a:latin typeface="Cambria Math" charset="0"/>
                            </a:rPr>
                            <m:t>(</m:t>
                          </m:r>
                          <m:r>
                            <a:rPr lang="en-US" sz="1600" b="0" i="1" smtClean="0">
                              <a:solidFill>
                                <a:srgbClr val="FF0000"/>
                              </a:solidFill>
                              <a:latin typeface="Cambria Math" charset="0"/>
                            </a:rPr>
                            <m:t>2</m:t>
                          </m:r>
                          <m:r>
                            <a:rPr lang="en-US" sz="1600" i="1">
                              <a:solidFill>
                                <a:srgbClr val="FF0000"/>
                              </a:solidFill>
                              <a:latin typeface="Cambria Math" charset="0"/>
                            </a:rPr>
                            <m:t>)</m:t>
                          </m:r>
                        </m:sup>
                      </m:sSup>
                    </m:oMath>
                  </m:oMathPara>
                </a14:m>
                <a:endParaRPr lang="en-US" sz="1600" baseline="30000" dirty="0"/>
              </a:p>
            </p:txBody>
          </p:sp>
        </mc:Choice>
        <mc:Fallback xmlns="">
          <p:sp>
            <p:nvSpPr>
              <p:cNvPr id="91" name="Rectangle 90"/>
              <p:cNvSpPr>
                <a:spLocks noRot="1" noChangeAspect="1" noMove="1" noResize="1" noEditPoints="1" noAdjustHandles="1" noChangeArrowheads="1" noChangeShapeType="1" noTextEdit="1"/>
              </p:cNvSpPr>
              <p:nvPr/>
            </p:nvSpPr>
            <p:spPr>
              <a:xfrm>
                <a:off x="7220844" y="783928"/>
                <a:ext cx="562077" cy="348813"/>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Rectangle 91"/>
              <p:cNvSpPr/>
              <p:nvPr/>
            </p:nvSpPr>
            <p:spPr>
              <a:xfrm>
                <a:off x="2635884" y="1967779"/>
                <a:ext cx="1568185" cy="657809"/>
              </a:xfrm>
              <a:prstGeom prst="rect">
                <a:avLst/>
              </a:prstGeom>
            </p:spPr>
            <p:txBody>
              <a:bodyPr wrap="square">
                <a:spAutoFit/>
              </a:bodyPr>
              <a:lstStyle/>
              <a:p>
                <a:pPr marL="457200" lvl="0" indent="-457200"/>
                <a14:m>
                  <m:oMath xmlns:m="http://schemas.openxmlformats.org/officeDocument/2006/math">
                    <m:sSup>
                      <m:sSupPr>
                        <m:ctrlPr>
                          <a:rPr lang="en-US" sz="1800" i="1" smtClean="0">
                            <a:solidFill>
                              <a:srgbClr val="C00000"/>
                            </a:solidFill>
                            <a:latin typeface="Cambria Math" panose="02040503050406030204" pitchFamily="18" charset="0"/>
                          </a:rPr>
                        </m:ctrlPr>
                      </m:sSupPr>
                      <m:e>
                        <m:r>
                          <a:rPr lang="en-US" sz="1800" i="1">
                            <a:solidFill>
                              <a:srgbClr val="C00000"/>
                            </a:solidFill>
                            <a:latin typeface="Cambria Math" charset="0"/>
                          </a:rPr>
                          <m:t>𝑊</m:t>
                        </m:r>
                      </m:e>
                      <m:sup>
                        <m:r>
                          <a:rPr lang="en-US" sz="1800" i="1">
                            <a:solidFill>
                              <a:srgbClr val="C00000"/>
                            </a:solidFill>
                            <a:latin typeface="Cambria Math" charset="0"/>
                          </a:rPr>
                          <m:t>(1)</m:t>
                        </m:r>
                      </m:sup>
                    </m:sSup>
                    <m:r>
                      <a:rPr lang="en-US" sz="1800" i="1">
                        <a:solidFill>
                          <a:srgbClr val="C00000"/>
                        </a:solidFill>
                        <a:latin typeface="Cambria Math" charset="0"/>
                      </a:rPr>
                      <m:t> </m:t>
                    </m:r>
                  </m:oMath>
                </a14:m>
                <a:r>
                  <a:rPr lang="en-US" sz="1800" dirty="0" smtClean="0">
                    <a:solidFill>
                      <a:srgbClr val="C00000"/>
                    </a:solidFill>
                    <a:latin typeface="Avenir Book" charset="0"/>
                    <a:ea typeface="Avenir Book" charset="0"/>
                    <a:cs typeface="Avenir Book" charset="0"/>
                  </a:rPr>
                  <a:t>is a </a:t>
                </a:r>
              </a:p>
              <a:p>
                <a:pPr marL="457200" lvl="0" indent="-457200"/>
                <a:r>
                  <a:rPr lang="en-US" sz="1800" dirty="0" smtClean="0">
                    <a:solidFill>
                      <a:srgbClr val="C00000"/>
                    </a:solidFill>
                    <a:latin typeface="Avenir Book" charset="0"/>
                    <a:ea typeface="Avenir Book" charset="0"/>
                    <a:cs typeface="Avenir Book" charset="0"/>
                  </a:rPr>
                  <a:t>  3x4 matrix</a:t>
                </a:r>
              </a:p>
            </p:txBody>
          </p:sp>
        </mc:Choice>
        <mc:Fallback xmlns="">
          <p:sp>
            <p:nvSpPr>
              <p:cNvPr id="92" name="Rectangle 91"/>
              <p:cNvSpPr>
                <a:spLocks noRot="1" noChangeAspect="1" noMove="1" noResize="1" noEditPoints="1" noAdjustHandles="1" noChangeArrowheads="1" noChangeShapeType="1" noTextEdit="1"/>
              </p:cNvSpPr>
              <p:nvPr/>
            </p:nvSpPr>
            <p:spPr>
              <a:xfrm>
                <a:off x="2635884" y="1967779"/>
                <a:ext cx="1568185" cy="657809"/>
              </a:xfrm>
              <a:prstGeom prst="rect">
                <a:avLst/>
              </a:prstGeom>
              <a:blipFill rotWithShape="0">
                <a:blip r:embed="rId17"/>
                <a:stretch>
                  <a:fillRect t="-53704"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Rectangle 95"/>
              <p:cNvSpPr/>
              <p:nvPr/>
            </p:nvSpPr>
            <p:spPr>
              <a:xfrm>
                <a:off x="2723732" y="2654428"/>
                <a:ext cx="1115047" cy="657809"/>
              </a:xfrm>
              <a:prstGeom prst="rect">
                <a:avLst/>
              </a:prstGeom>
            </p:spPr>
            <p:txBody>
              <a:bodyPr wrap="square">
                <a:spAutoFit/>
              </a:bodyPr>
              <a:lstStyle/>
              <a:p>
                <a:pPr marL="457200" lvl="0" indent="-457200"/>
                <a14:m>
                  <m:oMath xmlns:m="http://schemas.openxmlformats.org/officeDocument/2006/math">
                    <m:sSup>
                      <m:sSupPr>
                        <m:ctrlPr>
                          <a:rPr lang="en-US" sz="1800" i="1" smtClean="0">
                            <a:solidFill>
                              <a:srgbClr val="C00000"/>
                            </a:solidFill>
                            <a:latin typeface="Cambria Math" panose="02040503050406030204" pitchFamily="18" charset="0"/>
                          </a:rPr>
                        </m:ctrlPr>
                      </m:sSupPr>
                      <m:e>
                        <m:r>
                          <a:rPr lang="en-US" sz="1800" b="0" i="1" smtClean="0">
                            <a:solidFill>
                              <a:srgbClr val="C00000"/>
                            </a:solidFill>
                            <a:latin typeface="Cambria Math" charset="0"/>
                          </a:rPr>
                          <m:t>𝑧</m:t>
                        </m:r>
                      </m:e>
                      <m:sup>
                        <m:r>
                          <a:rPr lang="en-US" sz="1800" i="1">
                            <a:solidFill>
                              <a:srgbClr val="C00000"/>
                            </a:solidFill>
                            <a:latin typeface="Cambria Math" charset="0"/>
                          </a:rPr>
                          <m:t>(</m:t>
                        </m:r>
                        <m:r>
                          <a:rPr lang="en-US" sz="1800" b="0" i="1" smtClean="0">
                            <a:solidFill>
                              <a:srgbClr val="C00000"/>
                            </a:solidFill>
                            <a:latin typeface="Cambria Math" charset="0"/>
                          </a:rPr>
                          <m:t>2</m:t>
                        </m:r>
                        <m:r>
                          <a:rPr lang="en-US" sz="1800" i="1">
                            <a:solidFill>
                              <a:srgbClr val="C00000"/>
                            </a:solidFill>
                            <a:latin typeface="Cambria Math" charset="0"/>
                          </a:rPr>
                          <m:t>)</m:t>
                        </m:r>
                      </m:sup>
                    </m:sSup>
                    <m:r>
                      <a:rPr lang="en-US" sz="1800" i="1">
                        <a:solidFill>
                          <a:srgbClr val="C00000"/>
                        </a:solidFill>
                        <a:latin typeface="Cambria Math" charset="0"/>
                      </a:rPr>
                      <m:t> </m:t>
                    </m:r>
                  </m:oMath>
                </a14:m>
                <a:r>
                  <a:rPr lang="en-US" sz="1800" dirty="0" smtClean="0">
                    <a:solidFill>
                      <a:srgbClr val="C00000"/>
                    </a:solidFill>
                    <a:latin typeface="Avenir Book" charset="0"/>
                    <a:ea typeface="Avenir Book" charset="0"/>
                    <a:cs typeface="Avenir Book" charset="0"/>
                  </a:rPr>
                  <a:t>is a </a:t>
                </a:r>
              </a:p>
              <a:p>
                <a:pPr marL="457200" lvl="0" indent="-457200"/>
                <a:r>
                  <a:rPr lang="en-US" sz="1800" dirty="0" smtClean="0">
                    <a:solidFill>
                      <a:srgbClr val="C00000"/>
                    </a:solidFill>
                    <a:latin typeface="Avenir Book" charset="0"/>
                    <a:ea typeface="Avenir Book" charset="0"/>
                    <a:cs typeface="Avenir Book" charset="0"/>
                  </a:rPr>
                  <a:t>4-vector</a:t>
                </a:r>
              </a:p>
            </p:txBody>
          </p:sp>
        </mc:Choice>
        <mc:Fallback xmlns="">
          <p:sp>
            <p:nvSpPr>
              <p:cNvPr id="96" name="Rectangle 95"/>
              <p:cNvSpPr>
                <a:spLocks noRot="1" noChangeAspect="1" noMove="1" noResize="1" noEditPoints="1" noAdjustHandles="1" noChangeArrowheads="1" noChangeShapeType="1" noTextEdit="1"/>
              </p:cNvSpPr>
              <p:nvPr/>
            </p:nvSpPr>
            <p:spPr>
              <a:xfrm>
                <a:off x="2723732" y="2654428"/>
                <a:ext cx="1115047" cy="657809"/>
              </a:xfrm>
              <a:prstGeom prst="rect">
                <a:avLst/>
              </a:prstGeom>
              <a:blipFill rotWithShape="0">
                <a:blip r:embed="rId18"/>
                <a:stretch>
                  <a:fillRect l="-4918" t="-52778" b="-25926"/>
                </a:stretch>
              </a:blipFill>
            </p:spPr>
            <p:txBody>
              <a:bodyPr/>
              <a:lstStyle/>
              <a:p>
                <a:r>
                  <a:rPr lang="en-US">
                    <a:noFill/>
                  </a:rPr>
                  <a:t> </a:t>
                </a:r>
              </a:p>
            </p:txBody>
          </p:sp>
        </mc:Fallback>
      </mc:AlternateContent>
      <p:sp>
        <p:nvSpPr>
          <p:cNvPr id="97" name="Rectangle 96"/>
          <p:cNvSpPr/>
          <p:nvPr/>
        </p:nvSpPr>
        <p:spPr>
          <a:xfrm>
            <a:off x="809602" y="917303"/>
            <a:ext cx="3725604" cy="369332"/>
          </a:xfrm>
          <a:prstGeom prst="rect">
            <a:avLst/>
          </a:prstGeom>
        </p:spPr>
        <p:txBody>
          <a:bodyPr wrap="square">
            <a:spAutoFit/>
          </a:bodyPr>
          <a:lstStyle/>
          <a:p>
            <a:pPr marL="457200" lvl="0" indent="-457200"/>
            <a:r>
              <a:rPr lang="en-US" sz="1800" dirty="0" smtClean="0">
                <a:solidFill>
                  <a:schemeClr val="bg1"/>
                </a:solidFill>
                <a:latin typeface="Avenir Book" charset="0"/>
                <a:ea typeface="Avenir Book" charset="0"/>
                <a:cs typeface="Avenir Book" charset="0"/>
              </a:rPr>
              <a:t>For a single data </a:t>
            </a:r>
            <a:r>
              <a:rPr lang="en-US" sz="1800" smtClean="0">
                <a:solidFill>
                  <a:schemeClr val="bg1"/>
                </a:solidFill>
                <a:latin typeface="Avenir Book" charset="0"/>
                <a:ea typeface="Avenir Book" charset="0"/>
                <a:cs typeface="Avenir Book" charset="0"/>
              </a:rPr>
              <a:t>point (instance)</a:t>
            </a:r>
            <a:endParaRPr lang="en-US" sz="1800" dirty="0" smtClean="0">
              <a:solidFill>
                <a:schemeClr val="bg1"/>
              </a:solidFill>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98" name="Rectangle 97"/>
              <p:cNvSpPr/>
              <p:nvPr/>
            </p:nvSpPr>
            <p:spPr>
              <a:xfrm>
                <a:off x="2709827" y="3448628"/>
                <a:ext cx="1115047" cy="657809"/>
              </a:xfrm>
              <a:prstGeom prst="rect">
                <a:avLst/>
              </a:prstGeom>
            </p:spPr>
            <p:txBody>
              <a:bodyPr wrap="square">
                <a:spAutoFit/>
              </a:bodyPr>
              <a:lstStyle/>
              <a:p>
                <a:pPr marL="457200" lvl="0" indent="-457200"/>
                <a14:m>
                  <m:oMath xmlns:m="http://schemas.openxmlformats.org/officeDocument/2006/math">
                    <m:sSup>
                      <m:sSupPr>
                        <m:ctrlPr>
                          <a:rPr lang="en-US" sz="1800" i="1" smtClean="0">
                            <a:solidFill>
                              <a:srgbClr val="C00000"/>
                            </a:solidFill>
                            <a:latin typeface="Cambria Math" panose="02040503050406030204" pitchFamily="18" charset="0"/>
                          </a:rPr>
                        </m:ctrlPr>
                      </m:sSupPr>
                      <m:e>
                        <m:r>
                          <a:rPr lang="en-US" sz="1800" b="0" i="1" smtClean="0">
                            <a:solidFill>
                              <a:srgbClr val="C00000"/>
                            </a:solidFill>
                            <a:latin typeface="Cambria Math" charset="0"/>
                          </a:rPr>
                          <m:t>𝑎</m:t>
                        </m:r>
                      </m:e>
                      <m:sup>
                        <m:r>
                          <a:rPr lang="en-US" sz="1800" i="1">
                            <a:solidFill>
                              <a:srgbClr val="C00000"/>
                            </a:solidFill>
                            <a:latin typeface="Cambria Math" charset="0"/>
                          </a:rPr>
                          <m:t>(</m:t>
                        </m:r>
                        <m:r>
                          <a:rPr lang="en-US" sz="1800" b="0" i="1" smtClean="0">
                            <a:solidFill>
                              <a:srgbClr val="C00000"/>
                            </a:solidFill>
                            <a:latin typeface="Cambria Math" charset="0"/>
                          </a:rPr>
                          <m:t>2</m:t>
                        </m:r>
                        <m:r>
                          <a:rPr lang="en-US" sz="1800" i="1">
                            <a:solidFill>
                              <a:srgbClr val="C00000"/>
                            </a:solidFill>
                            <a:latin typeface="Cambria Math" charset="0"/>
                          </a:rPr>
                          <m:t>)</m:t>
                        </m:r>
                      </m:sup>
                    </m:sSup>
                    <m:r>
                      <a:rPr lang="en-US" sz="1800" i="1">
                        <a:solidFill>
                          <a:srgbClr val="C00000"/>
                        </a:solidFill>
                        <a:latin typeface="Cambria Math" charset="0"/>
                      </a:rPr>
                      <m:t> </m:t>
                    </m:r>
                  </m:oMath>
                </a14:m>
                <a:r>
                  <a:rPr lang="en-US" sz="1800" dirty="0" smtClean="0">
                    <a:solidFill>
                      <a:srgbClr val="C00000"/>
                    </a:solidFill>
                    <a:latin typeface="Avenir Book" charset="0"/>
                    <a:ea typeface="Avenir Book" charset="0"/>
                    <a:cs typeface="Avenir Book" charset="0"/>
                  </a:rPr>
                  <a:t>is a </a:t>
                </a:r>
              </a:p>
              <a:p>
                <a:pPr marL="457200" lvl="0" indent="-457200"/>
                <a:r>
                  <a:rPr lang="en-US" sz="1800" dirty="0" smtClean="0">
                    <a:solidFill>
                      <a:srgbClr val="C00000"/>
                    </a:solidFill>
                    <a:latin typeface="Avenir Book" charset="0"/>
                    <a:ea typeface="Avenir Book" charset="0"/>
                    <a:cs typeface="Avenir Book" charset="0"/>
                  </a:rPr>
                  <a:t>4-vector</a:t>
                </a:r>
              </a:p>
            </p:txBody>
          </p:sp>
        </mc:Choice>
        <mc:Fallback xmlns="">
          <p:sp>
            <p:nvSpPr>
              <p:cNvPr id="98" name="Rectangle 97"/>
              <p:cNvSpPr>
                <a:spLocks noRot="1" noChangeAspect="1" noMove="1" noResize="1" noEditPoints="1" noAdjustHandles="1" noChangeArrowheads="1" noChangeShapeType="1" noTextEdit="1"/>
              </p:cNvSpPr>
              <p:nvPr/>
            </p:nvSpPr>
            <p:spPr>
              <a:xfrm>
                <a:off x="2709827" y="3448628"/>
                <a:ext cx="1115047" cy="657809"/>
              </a:xfrm>
              <a:prstGeom prst="rect">
                <a:avLst/>
              </a:prstGeom>
              <a:blipFill rotWithShape="0">
                <a:blip r:embed="rId19"/>
                <a:stretch>
                  <a:fillRect l="-4945" t="-53704" b="-25000"/>
                </a:stretch>
              </a:blipFill>
            </p:spPr>
            <p:txBody>
              <a:bodyPr/>
              <a:lstStyle/>
              <a:p>
                <a:r>
                  <a:rPr lang="en-US">
                    <a:noFill/>
                  </a:rPr>
                  <a:t> </a:t>
                </a:r>
              </a:p>
            </p:txBody>
          </p:sp>
        </mc:Fallback>
      </mc:AlternateContent>
    </p:spTree>
    <p:extLst>
      <p:ext uri="{BB962C8B-B14F-4D97-AF65-F5344CB8AC3E}">
        <p14:creationId xmlns:p14="http://schemas.microsoft.com/office/powerpoint/2010/main" val="689879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4" grpId="0"/>
      <p:bldP spid="75" grpId="0"/>
      <p:bldP spid="7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Continuing the Computation</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3" name="Rectangle 2"/>
              <p:cNvSpPr/>
              <p:nvPr/>
            </p:nvSpPr>
            <p:spPr>
              <a:xfrm>
                <a:off x="606422" y="907918"/>
                <a:ext cx="7460274" cy="1277273"/>
              </a:xfrm>
              <a:prstGeom prst="rect">
                <a:avLst/>
              </a:prstGeom>
            </p:spPr>
            <p:txBody>
              <a:bodyPr wrap="square">
                <a:spAutoFit/>
              </a:bodyPr>
              <a:lstStyle/>
              <a:p>
                <a:pPr marL="457200" marR="0" lvl="0" indent="-457200" defTabSz="914400" eaLnBrk="1" fontAlgn="auto" latinLnBrk="0" hangingPunct="1">
                  <a:lnSpc>
                    <a:spcPct val="150000"/>
                  </a:lnSpc>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For a single training instance (data point)</a:t>
                </a:r>
              </a:p>
              <a:p>
                <a:pPr marL="457200" marR="0" lvl="0" indent="-457200" defTabSz="914400" eaLnBrk="1" fontAlgn="auto" latinLnBrk="0" hangingPunct="1">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Input: vector x (a row vector of length 3)</a:t>
                </a:r>
              </a:p>
              <a:p>
                <a:pPr marL="457200" lvl="0" indent="-457200">
                  <a:defRPr/>
                </a:pPr>
                <a:r>
                  <a:rPr lang="en-US" sz="2200" dirty="0" smtClean="0">
                    <a:latin typeface="Avenir Book" charset="0"/>
                    <a:ea typeface="Avenir Book" charset="0"/>
                    <a:cs typeface="Avenir Book" charset="0"/>
                  </a:rPr>
                  <a:t>Output: vector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charset="0"/>
                          </a:rPr>
                          <m:t>𝑦</m:t>
                        </m:r>
                      </m:e>
                    </m:acc>
                  </m:oMath>
                </a14:m>
                <a:r>
                  <a:rPr lang="en-US" sz="2200" dirty="0">
                    <a:latin typeface="Avenir Book" charset="0"/>
                    <a:ea typeface="Avenir Book" charset="0"/>
                    <a:cs typeface="Avenir Book" charset="0"/>
                  </a:rPr>
                  <a:t> (a row vector of length 3</a:t>
                </a:r>
                <a:r>
                  <a:rPr lang="en-US" sz="2200" dirty="0" smtClean="0">
                    <a:latin typeface="Avenir Book" charset="0"/>
                    <a:ea typeface="Avenir Book" charset="0"/>
                    <a:cs typeface="Avenir Book" charset="0"/>
                  </a:rPr>
                  <a:t>)</a:t>
                </a:r>
                <a:endParaRPr lang="en-US" sz="2200" dirty="0">
                  <a:latin typeface="Avenir Book" charset="0"/>
                  <a:ea typeface="Avenir Book" charset="0"/>
                  <a:cs typeface="Avenir Book"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06422" y="907918"/>
                <a:ext cx="7460274" cy="1277273"/>
              </a:xfrm>
              <a:prstGeom prst="rect">
                <a:avLst/>
              </a:prstGeom>
              <a:blipFill rotWithShape="0">
                <a:blip r:embed="rId3"/>
                <a:stretch>
                  <a:fillRect l="-1062"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653983" y="2513894"/>
                <a:ext cx="1838945" cy="3846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charset="0"/>
                            </a:rPr>
                            <m:t>𝑧</m:t>
                          </m:r>
                        </m:e>
                        <m:sup>
                          <m:r>
                            <a:rPr lang="en-US" sz="2400" b="0" i="1" smtClean="0">
                              <a:latin typeface="Cambria Math" charset="0"/>
                            </a:rPr>
                            <m:t>(2)</m:t>
                          </m:r>
                        </m:sup>
                      </m:sSup>
                      <m:r>
                        <a:rPr lang="en-US" sz="2400" b="0" i="1" smtClean="0">
                          <a:latin typeface="Cambria Math" charset="0"/>
                        </a:rPr>
                        <m:t>=</m:t>
                      </m:r>
                      <m:r>
                        <a:rPr lang="en-US" sz="2400" b="0" i="1" smtClean="0">
                          <a:latin typeface="Cambria Math" charset="0"/>
                        </a:rPr>
                        <m:t>𝑥</m:t>
                      </m:r>
                      <m:sSup>
                        <m:sSupPr>
                          <m:ctrlPr>
                            <a:rPr lang="en-US" sz="2400" b="0" i="1" smtClean="0">
                              <a:latin typeface="Cambria Math" panose="02040503050406030204" pitchFamily="18" charset="0"/>
                            </a:rPr>
                          </m:ctrlPr>
                        </m:sSupPr>
                        <m:e>
                          <m:r>
                            <a:rPr lang="en-US" sz="2400" b="0" i="1" smtClean="0">
                              <a:latin typeface="Cambria Math" charset="0"/>
                            </a:rPr>
                            <m:t>𝑊</m:t>
                          </m:r>
                        </m:e>
                        <m:sup>
                          <m:r>
                            <a:rPr lang="en-US" sz="2400" b="0" i="1" smtClean="0">
                              <a:latin typeface="Cambria Math" charset="0"/>
                            </a:rPr>
                            <m:t>(1)</m:t>
                          </m:r>
                        </m:sup>
                      </m:sSup>
                    </m:oMath>
                  </m:oMathPara>
                </a14:m>
                <a:endParaRPr 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653983" y="2513894"/>
                <a:ext cx="1838945" cy="384657"/>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624135" y="2486423"/>
                <a:ext cx="1874116" cy="39433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charset="0"/>
                            </a:rPr>
                            <m:t>𝑎</m:t>
                          </m:r>
                        </m:e>
                        <m:sup>
                          <m:r>
                            <a:rPr lang="en-US" sz="2400" b="0" i="1" smtClean="0">
                              <a:latin typeface="Cambria Math" charset="0"/>
                            </a:rPr>
                            <m:t>(2)</m:t>
                          </m:r>
                        </m:sup>
                      </m:sSup>
                      <m:r>
                        <a:rPr lang="en-US" sz="2400" b="0" i="1" smtClean="0">
                          <a:latin typeface="Cambria Math" charset="0"/>
                        </a:rPr>
                        <m:t>=</m:t>
                      </m:r>
                      <m:r>
                        <a:rPr lang="en-US" sz="2400" b="0" i="1" smtClean="0">
                          <a:latin typeface="Cambria Math" charset="0"/>
                        </a:rPr>
                        <m:t>𝜎</m:t>
                      </m:r>
                      <m:r>
                        <a:rPr lang="en-US" sz="2400" b="0" i="1" smtClean="0">
                          <a:latin typeface="Cambria Math" charset="0"/>
                        </a:rPr>
                        <m:t>(</m:t>
                      </m:r>
                      <m:sSup>
                        <m:sSupPr>
                          <m:ctrlPr>
                            <a:rPr lang="en-US" sz="2400" b="0" i="1" smtClean="0">
                              <a:latin typeface="Cambria Math" panose="02040503050406030204" pitchFamily="18" charset="0"/>
                            </a:rPr>
                          </m:ctrlPr>
                        </m:sSupPr>
                        <m:e>
                          <m:r>
                            <a:rPr lang="en-US" sz="2400" b="0" i="1" smtClean="0">
                              <a:latin typeface="Cambria Math" charset="0"/>
                            </a:rPr>
                            <m:t>𝑧</m:t>
                          </m:r>
                        </m:e>
                        <m:sup>
                          <m:d>
                            <m:dPr>
                              <m:ctrlPr>
                                <a:rPr lang="en-US" sz="2400" b="0" i="1" smtClean="0">
                                  <a:latin typeface="Cambria Math" panose="02040503050406030204" pitchFamily="18" charset="0"/>
                                </a:rPr>
                              </m:ctrlPr>
                            </m:dPr>
                            <m:e>
                              <m:r>
                                <a:rPr lang="en-US" sz="2400" b="0" i="1" smtClean="0">
                                  <a:latin typeface="Cambria Math" charset="0"/>
                                </a:rPr>
                                <m:t>2</m:t>
                              </m:r>
                            </m:e>
                          </m:d>
                        </m:sup>
                      </m:sSup>
                      <m:r>
                        <a:rPr lang="en-US" sz="2400" b="0" i="1" smtClean="0">
                          <a:latin typeface="Cambria Math" charset="0"/>
                        </a:rPr>
                        <m:t>)</m:t>
                      </m:r>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624135" y="2486423"/>
                <a:ext cx="1874116" cy="394339"/>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606422" y="3146007"/>
                <a:ext cx="2167193" cy="3846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charset="0"/>
                            </a:rPr>
                            <m:t>𝑧</m:t>
                          </m:r>
                        </m:e>
                        <m:sup>
                          <m:r>
                            <a:rPr lang="en-US" sz="2400" b="0" i="1" smtClean="0">
                              <a:latin typeface="Cambria Math" charset="0"/>
                            </a:rPr>
                            <m:t>(3)</m:t>
                          </m:r>
                        </m:sup>
                      </m:sSup>
                      <m:r>
                        <a:rPr lang="en-US" sz="2400" b="0" i="1" smtClean="0">
                          <a:latin typeface="Cambria Math" charset="0"/>
                        </a:rPr>
                        <m:t>=</m:t>
                      </m:r>
                      <m:sSup>
                        <m:sSupPr>
                          <m:ctrlPr>
                            <a:rPr lang="en-US" sz="2400" b="0" i="1" smtClean="0">
                              <a:latin typeface="Cambria Math" panose="02040503050406030204" pitchFamily="18" charset="0"/>
                            </a:rPr>
                          </m:ctrlPr>
                        </m:sSupPr>
                        <m:e>
                          <m:r>
                            <a:rPr lang="en-US" sz="2400" b="0" i="1" smtClean="0">
                              <a:latin typeface="Cambria Math" charset="0"/>
                            </a:rPr>
                            <m:t>𝑎</m:t>
                          </m:r>
                        </m:e>
                        <m:sup>
                          <m:r>
                            <a:rPr lang="en-US" sz="2400" b="0" i="1" smtClean="0">
                              <a:latin typeface="Cambria Math" charset="0"/>
                            </a:rPr>
                            <m:t>(2)</m:t>
                          </m:r>
                        </m:sup>
                      </m:sSup>
                      <m:sSup>
                        <m:sSupPr>
                          <m:ctrlPr>
                            <a:rPr lang="en-US" sz="2400" b="0" i="1" smtClean="0">
                              <a:latin typeface="Cambria Math" panose="02040503050406030204" pitchFamily="18" charset="0"/>
                            </a:rPr>
                          </m:ctrlPr>
                        </m:sSupPr>
                        <m:e>
                          <m:r>
                            <a:rPr lang="en-US" sz="2400" b="0" i="1" smtClean="0">
                              <a:latin typeface="Cambria Math" charset="0"/>
                            </a:rPr>
                            <m:t>𝑊</m:t>
                          </m:r>
                        </m:e>
                        <m:sup>
                          <m:r>
                            <a:rPr lang="en-US" sz="2400" b="0" i="1" smtClean="0">
                              <a:latin typeface="Cambria Math" charset="0"/>
                            </a:rPr>
                            <m:t>(2)</m:t>
                          </m:r>
                        </m:sup>
                      </m:sSup>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606422" y="3146007"/>
                <a:ext cx="2167193" cy="384657"/>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624134" y="3132392"/>
                <a:ext cx="1874117" cy="39433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charset="0"/>
                            </a:rPr>
                            <m:t>𝑎</m:t>
                          </m:r>
                        </m:e>
                        <m:sup>
                          <m:r>
                            <a:rPr lang="en-US" sz="2400" b="0" i="1" smtClean="0">
                              <a:latin typeface="Cambria Math" charset="0"/>
                            </a:rPr>
                            <m:t>(3)</m:t>
                          </m:r>
                        </m:sup>
                      </m:sSup>
                      <m:r>
                        <a:rPr lang="en-US" sz="2400" b="0" i="1" smtClean="0">
                          <a:latin typeface="Cambria Math" charset="0"/>
                        </a:rPr>
                        <m:t>=</m:t>
                      </m:r>
                      <m:r>
                        <a:rPr lang="en-US" sz="2400" b="0" i="1" smtClean="0">
                          <a:latin typeface="Cambria Math" charset="0"/>
                        </a:rPr>
                        <m:t>𝜎</m:t>
                      </m:r>
                      <m:r>
                        <a:rPr lang="en-US" sz="2400" b="0" i="1" smtClean="0">
                          <a:latin typeface="Cambria Math" charset="0"/>
                        </a:rPr>
                        <m:t>(</m:t>
                      </m:r>
                      <m:sSup>
                        <m:sSupPr>
                          <m:ctrlPr>
                            <a:rPr lang="en-US" sz="2400" b="0" i="1" smtClean="0">
                              <a:latin typeface="Cambria Math" panose="02040503050406030204" pitchFamily="18" charset="0"/>
                            </a:rPr>
                          </m:ctrlPr>
                        </m:sSupPr>
                        <m:e>
                          <m:r>
                            <a:rPr lang="en-US" sz="2400" b="0" i="1" smtClean="0">
                              <a:latin typeface="Cambria Math" charset="0"/>
                            </a:rPr>
                            <m:t>𝑧</m:t>
                          </m:r>
                        </m:e>
                        <m:sup>
                          <m:d>
                            <m:dPr>
                              <m:ctrlPr>
                                <a:rPr lang="en-US" sz="2400" b="0" i="1" smtClean="0">
                                  <a:latin typeface="Cambria Math" panose="02040503050406030204" pitchFamily="18" charset="0"/>
                                </a:rPr>
                              </m:ctrlPr>
                            </m:dPr>
                            <m:e>
                              <m:r>
                                <a:rPr lang="en-US" sz="2400" b="0" i="1" smtClean="0">
                                  <a:latin typeface="Cambria Math" charset="0"/>
                                </a:rPr>
                                <m:t>3</m:t>
                              </m:r>
                            </m:e>
                          </m:d>
                        </m:sup>
                      </m:sSup>
                      <m:r>
                        <a:rPr lang="en-US" sz="2400" b="0" i="1" smtClean="0">
                          <a:latin typeface="Cambria Math" charset="0"/>
                        </a:rPr>
                        <m:t>)</m:t>
                      </m:r>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3624134" y="3132392"/>
                <a:ext cx="1874117" cy="394339"/>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53983" y="3718892"/>
                <a:ext cx="2124941" cy="384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charset="0"/>
                            </a:rPr>
                            <m:t>𝑧</m:t>
                          </m:r>
                        </m:e>
                        <m:sup>
                          <m:r>
                            <a:rPr lang="en-US" sz="2400" b="0" i="1" smtClean="0">
                              <a:latin typeface="Cambria Math" charset="0"/>
                            </a:rPr>
                            <m:t>(4)</m:t>
                          </m:r>
                        </m:sup>
                      </m:sSup>
                      <m:r>
                        <a:rPr lang="en-US" sz="2400" b="0" i="1" smtClean="0">
                          <a:latin typeface="Cambria Math" charset="0"/>
                        </a:rPr>
                        <m:t>=</m:t>
                      </m:r>
                      <m:sSup>
                        <m:sSupPr>
                          <m:ctrlPr>
                            <a:rPr lang="en-US" sz="2400" b="0" i="1" smtClean="0">
                              <a:latin typeface="Cambria Math" panose="02040503050406030204" pitchFamily="18" charset="0"/>
                            </a:rPr>
                          </m:ctrlPr>
                        </m:sSupPr>
                        <m:e>
                          <m:r>
                            <a:rPr lang="en-US" sz="2400" b="0" i="1" smtClean="0">
                              <a:latin typeface="Cambria Math" charset="0"/>
                            </a:rPr>
                            <m:t>𝑎</m:t>
                          </m:r>
                        </m:e>
                        <m:sup>
                          <m:r>
                            <a:rPr lang="en-US" sz="2400" b="0" i="1" smtClean="0">
                              <a:latin typeface="Cambria Math" charset="0"/>
                            </a:rPr>
                            <m:t>(3)</m:t>
                          </m:r>
                        </m:sup>
                      </m:sSup>
                      <m:sSup>
                        <m:sSupPr>
                          <m:ctrlPr>
                            <a:rPr lang="en-US" sz="2400" b="0" i="1" smtClean="0">
                              <a:latin typeface="Cambria Math" panose="02040503050406030204" pitchFamily="18" charset="0"/>
                            </a:rPr>
                          </m:ctrlPr>
                        </m:sSupPr>
                        <m:e>
                          <m:r>
                            <a:rPr lang="en-US" sz="2400" b="0" i="1" smtClean="0">
                              <a:latin typeface="Cambria Math" charset="0"/>
                            </a:rPr>
                            <m:t>𝑊</m:t>
                          </m:r>
                        </m:e>
                        <m:sup>
                          <m:r>
                            <a:rPr lang="en-US" sz="2400" b="0" i="1" smtClean="0">
                              <a:latin typeface="Cambria Math" charset="0"/>
                            </a:rPr>
                            <m:t>(3)</m:t>
                          </m:r>
                        </m:sup>
                      </m:sSup>
                    </m:oMath>
                  </m:oMathPara>
                </a14:m>
                <a:endParaRPr lang="en-US"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653983" y="3718892"/>
                <a:ext cx="2124941" cy="384657"/>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624134" y="3676812"/>
                <a:ext cx="2611869" cy="3943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charset="0"/>
                            </a:rPr>
                            <m:t>𝑦</m:t>
                          </m:r>
                        </m:e>
                      </m:acc>
                      <m:r>
                        <a:rPr lang="en-US" sz="2400" b="0" i="1" smtClean="0">
                          <a:latin typeface="Cambria Math" charset="0"/>
                        </a:rPr>
                        <m:t>=</m:t>
                      </m:r>
                      <m:r>
                        <a:rPr lang="en-US" sz="2400" b="0" i="1" smtClean="0">
                          <a:latin typeface="Cambria Math" charset="0"/>
                        </a:rPr>
                        <m:t>𝑠𝑜𝑓𝑡𝑚𝑎𝑥</m:t>
                      </m:r>
                      <m:r>
                        <a:rPr lang="en-US" sz="2400" b="0" i="1" smtClean="0">
                          <a:latin typeface="Cambria Math" charset="0"/>
                        </a:rPr>
                        <m:t>(</m:t>
                      </m:r>
                      <m:sSup>
                        <m:sSupPr>
                          <m:ctrlPr>
                            <a:rPr lang="en-US" sz="2400" b="0" i="1" smtClean="0">
                              <a:latin typeface="Cambria Math" panose="02040503050406030204" pitchFamily="18" charset="0"/>
                            </a:rPr>
                          </m:ctrlPr>
                        </m:sSupPr>
                        <m:e>
                          <m:r>
                            <a:rPr lang="en-US" sz="2400" b="0" i="1" smtClean="0">
                              <a:latin typeface="Cambria Math" charset="0"/>
                            </a:rPr>
                            <m:t>𝑧</m:t>
                          </m:r>
                        </m:e>
                        <m:sup>
                          <m:d>
                            <m:dPr>
                              <m:ctrlPr>
                                <a:rPr lang="en-US" sz="2400" b="0" i="1" smtClean="0">
                                  <a:latin typeface="Cambria Math" panose="02040503050406030204" pitchFamily="18" charset="0"/>
                                </a:rPr>
                              </m:ctrlPr>
                            </m:dPr>
                            <m:e>
                              <m:r>
                                <a:rPr lang="en-US" sz="2400" b="0" i="1" smtClean="0">
                                  <a:latin typeface="Cambria Math" charset="0"/>
                                </a:rPr>
                                <m:t>4</m:t>
                              </m:r>
                            </m:e>
                          </m:d>
                        </m:sup>
                      </m:sSup>
                      <m:r>
                        <a:rPr lang="en-US" sz="2400" b="0" i="1" smtClean="0">
                          <a:latin typeface="Cambria Math" charset="0"/>
                        </a:rPr>
                        <m:t>)</m:t>
                      </m:r>
                    </m:oMath>
                  </m:oMathPara>
                </a14:m>
                <a:endParaRPr lang="en-US" sz="24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624134" y="3676812"/>
                <a:ext cx="2611869" cy="394339"/>
              </a:xfrm>
              <a:prstGeom prst="rect">
                <a:avLst/>
              </a:prstGeom>
              <a:blipFill rotWithShape="0">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3186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10" grpId="0"/>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Multiple data points</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3" name="Rectangle 2"/>
              <p:cNvSpPr/>
              <p:nvPr/>
            </p:nvSpPr>
            <p:spPr>
              <a:xfrm>
                <a:off x="606421" y="907918"/>
                <a:ext cx="7963148" cy="1908215"/>
              </a:xfrm>
              <a:prstGeom prst="rect">
                <a:avLst/>
              </a:prstGeom>
            </p:spPr>
            <p:txBody>
              <a:bodyPr wrap="square">
                <a:spAutoFit/>
              </a:bodyPr>
              <a:lstStyle/>
              <a:p>
                <a:pPr marL="457200" marR="0" lvl="0" indent="-457200" defTabSz="914400" eaLnBrk="1" fontAlgn="auto" latinLnBrk="0" hangingPunct="1">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In practice, we do these computation for many data points at the same time, by “stacking” the rows into a matrix.</a:t>
                </a:r>
              </a:p>
              <a:p>
                <a:pPr marL="457200" marR="0" lvl="0" indent="-457200" defTabSz="914400" eaLnBrk="1" fontAlgn="auto" latinLnBrk="0" hangingPunct="1">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But the equations look the same!</a:t>
                </a:r>
              </a:p>
              <a:p>
                <a:pPr marL="457200" marR="0" lvl="0" indent="-457200" defTabSz="914400" eaLnBrk="1" fontAlgn="auto" latinLnBrk="0" hangingPunct="1">
                  <a:spcBef>
                    <a:spcPts val="0"/>
                  </a:spcBef>
                  <a:spcAft>
                    <a:spcPts val="0"/>
                  </a:spcAft>
                  <a:buClrTx/>
                  <a:buSzTx/>
                  <a:buFont typeface="Arial" charset="0"/>
                  <a:buNone/>
                  <a:tabLst/>
                  <a:defRPr/>
                </a:pPr>
                <a:endParaRPr lang="en-US" sz="800" dirty="0" smtClean="0">
                  <a:latin typeface="Avenir Book" charset="0"/>
                  <a:ea typeface="Avenir Book" charset="0"/>
                  <a:cs typeface="Avenir Book" charset="0"/>
                </a:endParaRPr>
              </a:p>
              <a:p>
                <a:pPr marL="457200" marR="0" lvl="0" indent="-457200" defTabSz="914400" eaLnBrk="1" fontAlgn="auto" latinLnBrk="0" hangingPunct="1">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Input: matrix x (an nx3 matrix) (each row a single instance)</a:t>
                </a:r>
              </a:p>
              <a:p>
                <a:pPr marL="457200" lvl="0" indent="-457200">
                  <a:defRPr/>
                </a:pPr>
                <a:r>
                  <a:rPr lang="en-US" sz="2200" dirty="0" smtClean="0">
                    <a:latin typeface="Avenir Book" charset="0"/>
                    <a:ea typeface="Avenir Book" charset="0"/>
                    <a:cs typeface="Avenir Book" charset="0"/>
                  </a:rPr>
                  <a:t>Output: vector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charset="0"/>
                          </a:rPr>
                          <m:t>𝑦</m:t>
                        </m:r>
                      </m:e>
                    </m:acc>
                  </m:oMath>
                </a14:m>
                <a:r>
                  <a:rPr lang="en-US" sz="2200" dirty="0">
                    <a:latin typeface="Avenir Book" charset="0"/>
                    <a:ea typeface="Avenir Book" charset="0"/>
                    <a:cs typeface="Avenir Book" charset="0"/>
                  </a:rPr>
                  <a:t> </a:t>
                </a:r>
                <a:r>
                  <a:rPr lang="en-US" sz="2200" dirty="0" smtClean="0">
                    <a:latin typeface="Avenir Book" charset="0"/>
                    <a:ea typeface="Avenir Book" charset="0"/>
                    <a:cs typeface="Avenir Book" charset="0"/>
                  </a:rPr>
                  <a:t>(an nx3 matrix) (each row a single prediction)</a:t>
                </a:r>
                <a:endParaRPr lang="en-US" sz="2200" dirty="0">
                  <a:latin typeface="Avenir Book" charset="0"/>
                  <a:ea typeface="Avenir Book" charset="0"/>
                  <a:cs typeface="Avenir Book"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06421" y="907918"/>
                <a:ext cx="7963148" cy="1908215"/>
              </a:xfrm>
              <a:prstGeom prst="rect">
                <a:avLst/>
              </a:prstGeom>
              <a:blipFill rotWithShape="0">
                <a:blip r:embed="rId3"/>
                <a:stretch>
                  <a:fillRect l="-995" t="-2236" b="-54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606421" y="2964049"/>
                <a:ext cx="1838945" cy="3846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charset="0"/>
                            </a:rPr>
                            <m:t>𝑧</m:t>
                          </m:r>
                        </m:e>
                        <m:sup>
                          <m:r>
                            <a:rPr lang="en-US" sz="2400" b="0" i="1" smtClean="0">
                              <a:latin typeface="Cambria Math" charset="0"/>
                            </a:rPr>
                            <m:t>(2)</m:t>
                          </m:r>
                        </m:sup>
                      </m:sSup>
                      <m:r>
                        <a:rPr lang="en-US" sz="2400" b="0" i="1" smtClean="0">
                          <a:latin typeface="Cambria Math" charset="0"/>
                        </a:rPr>
                        <m:t>=</m:t>
                      </m:r>
                      <m:r>
                        <a:rPr lang="en-US" sz="2400" b="0" i="1" smtClean="0">
                          <a:latin typeface="Cambria Math" charset="0"/>
                        </a:rPr>
                        <m:t>𝑥</m:t>
                      </m:r>
                      <m:sSup>
                        <m:sSupPr>
                          <m:ctrlPr>
                            <a:rPr lang="en-US" sz="2400" b="0" i="1" smtClean="0">
                              <a:latin typeface="Cambria Math" panose="02040503050406030204" pitchFamily="18" charset="0"/>
                            </a:rPr>
                          </m:ctrlPr>
                        </m:sSupPr>
                        <m:e>
                          <m:r>
                            <a:rPr lang="en-US" sz="2400" b="0" i="1" smtClean="0">
                              <a:latin typeface="Cambria Math" charset="0"/>
                            </a:rPr>
                            <m:t>𝑊</m:t>
                          </m:r>
                        </m:e>
                        <m:sup>
                          <m:r>
                            <a:rPr lang="en-US" sz="2400" b="0" i="1" smtClean="0">
                              <a:latin typeface="Cambria Math" charset="0"/>
                            </a:rPr>
                            <m:t>(1)</m:t>
                          </m:r>
                        </m:sup>
                      </m:sSup>
                    </m:oMath>
                  </m:oMathPara>
                </a14:m>
                <a:endParaRPr 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606421" y="2964049"/>
                <a:ext cx="1838945" cy="384657"/>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576573" y="2936578"/>
                <a:ext cx="1874116" cy="39433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charset="0"/>
                            </a:rPr>
                            <m:t>𝑎</m:t>
                          </m:r>
                        </m:e>
                        <m:sup>
                          <m:r>
                            <a:rPr lang="en-US" sz="2400" b="0" i="1" smtClean="0">
                              <a:latin typeface="Cambria Math" charset="0"/>
                            </a:rPr>
                            <m:t>(2)</m:t>
                          </m:r>
                        </m:sup>
                      </m:sSup>
                      <m:r>
                        <a:rPr lang="en-US" sz="2400" b="0" i="1" smtClean="0">
                          <a:latin typeface="Cambria Math" charset="0"/>
                        </a:rPr>
                        <m:t>=</m:t>
                      </m:r>
                      <m:r>
                        <a:rPr lang="en-US" sz="2400" b="0" i="1" smtClean="0">
                          <a:latin typeface="Cambria Math" charset="0"/>
                        </a:rPr>
                        <m:t>𝜎</m:t>
                      </m:r>
                      <m:r>
                        <a:rPr lang="en-US" sz="2400" b="0" i="1" smtClean="0">
                          <a:latin typeface="Cambria Math" charset="0"/>
                        </a:rPr>
                        <m:t>(</m:t>
                      </m:r>
                      <m:sSup>
                        <m:sSupPr>
                          <m:ctrlPr>
                            <a:rPr lang="en-US" sz="2400" b="0" i="1" smtClean="0">
                              <a:latin typeface="Cambria Math" panose="02040503050406030204" pitchFamily="18" charset="0"/>
                            </a:rPr>
                          </m:ctrlPr>
                        </m:sSupPr>
                        <m:e>
                          <m:r>
                            <a:rPr lang="en-US" sz="2400" b="0" i="1" smtClean="0">
                              <a:latin typeface="Cambria Math" charset="0"/>
                            </a:rPr>
                            <m:t>𝑧</m:t>
                          </m:r>
                        </m:e>
                        <m:sup>
                          <m:d>
                            <m:dPr>
                              <m:ctrlPr>
                                <a:rPr lang="en-US" sz="2400" b="0" i="1" smtClean="0">
                                  <a:latin typeface="Cambria Math" panose="02040503050406030204" pitchFamily="18" charset="0"/>
                                </a:rPr>
                              </m:ctrlPr>
                            </m:dPr>
                            <m:e>
                              <m:r>
                                <a:rPr lang="en-US" sz="2400" b="0" i="1" smtClean="0">
                                  <a:latin typeface="Cambria Math" charset="0"/>
                                </a:rPr>
                                <m:t>2</m:t>
                              </m:r>
                            </m:e>
                          </m:d>
                        </m:sup>
                      </m:sSup>
                      <m:r>
                        <a:rPr lang="en-US" sz="2400" b="0" i="1" smtClean="0">
                          <a:latin typeface="Cambria Math" charset="0"/>
                        </a:rPr>
                        <m:t>)</m:t>
                      </m:r>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576573" y="2936578"/>
                <a:ext cx="1874116" cy="394339"/>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58860" y="3596162"/>
                <a:ext cx="2167193" cy="3846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charset="0"/>
                            </a:rPr>
                            <m:t>𝑧</m:t>
                          </m:r>
                        </m:e>
                        <m:sup>
                          <m:r>
                            <a:rPr lang="en-US" sz="2400" b="0" i="1" smtClean="0">
                              <a:latin typeface="Cambria Math" charset="0"/>
                            </a:rPr>
                            <m:t>(3)</m:t>
                          </m:r>
                        </m:sup>
                      </m:sSup>
                      <m:r>
                        <a:rPr lang="en-US" sz="2400" b="0" i="1" smtClean="0">
                          <a:latin typeface="Cambria Math" charset="0"/>
                        </a:rPr>
                        <m:t>=</m:t>
                      </m:r>
                      <m:sSup>
                        <m:sSupPr>
                          <m:ctrlPr>
                            <a:rPr lang="en-US" sz="2400" b="0" i="1" smtClean="0">
                              <a:latin typeface="Cambria Math" panose="02040503050406030204" pitchFamily="18" charset="0"/>
                            </a:rPr>
                          </m:ctrlPr>
                        </m:sSupPr>
                        <m:e>
                          <m:r>
                            <a:rPr lang="en-US" sz="2400" b="0" i="1" smtClean="0">
                              <a:latin typeface="Cambria Math" charset="0"/>
                            </a:rPr>
                            <m:t>𝑎</m:t>
                          </m:r>
                        </m:e>
                        <m:sup>
                          <m:r>
                            <a:rPr lang="en-US" sz="2400" b="0" i="1" smtClean="0">
                              <a:latin typeface="Cambria Math" charset="0"/>
                            </a:rPr>
                            <m:t>(2)</m:t>
                          </m:r>
                        </m:sup>
                      </m:sSup>
                      <m:sSup>
                        <m:sSupPr>
                          <m:ctrlPr>
                            <a:rPr lang="en-US" sz="2400" b="0" i="1" smtClean="0">
                              <a:latin typeface="Cambria Math" panose="02040503050406030204" pitchFamily="18" charset="0"/>
                            </a:rPr>
                          </m:ctrlPr>
                        </m:sSupPr>
                        <m:e>
                          <m:r>
                            <a:rPr lang="en-US" sz="2400" b="0" i="1" smtClean="0">
                              <a:latin typeface="Cambria Math" charset="0"/>
                            </a:rPr>
                            <m:t>𝑊</m:t>
                          </m:r>
                        </m:e>
                        <m:sup>
                          <m:r>
                            <a:rPr lang="en-US" sz="2400" b="0" i="1" smtClean="0">
                              <a:latin typeface="Cambria Math" charset="0"/>
                            </a:rPr>
                            <m:t>(2)</m:t>
                          </m:r>
                        </m:sup>
                      </m:sSup>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558860" y="3596162"/>
                <a:ext cx="2167193" cy="384657"/>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576572" y="3582547"/>
                <a:ext cx="1874117" cy="39433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charset="0"/>
                            </a:rPr>
                            <m:t>𝑎</m:t>
                          </m:r>
                        </m:e>
                        <m:sup>
                          <m:r>
                            <a:rPr lang="en-US" sz="2400" b="0" i="1" smtClean="0">
                              <a:latin typeface="Cambria Math" charset="0"/>
                            </a:rPr>
                            <m:t>(3)</m:t>
                          </m:r>
                        </m:sup>
                      </m:sSup>
                      <m:r>
                        <a:rPr lang="en-US" sz="2400" b="0" i="1" smtClean="0">
                          <a:latin typeface="Cambria Math" charset="0"/>
                        </a:rPr>
                        <m:t>=</m:t>
                      </m:r>
                      <m:r>
                        <a:rPr lang="en-US" sz="2400" b="0" i="1" smtClean="0">
                          <a:latin typeface="Cambria Math" charset="0"/>
                        </a:rPr>
                        <m:t>𝜎</m:t>
                      </m:r>
                      <m:r>
                        <a:rPr lang="en-US" sz="2400" b="0" i="1" smtClean="0">
                          <a:latin typeface="Cambria Math" charset="0"/>
                        </a:rPr>
                        <m:t>(</m:t>
                      </m:r>
                      <m:sSup>
                        <m:sSupPr>
                          <m:ctrlPr>
                            <a:rPr lang="en-US" sz="2400" b="0" i="1" smtClean="0">
                              <a:latin typeface="Cambria Math" panose="02040503050406030204" pitchFamily="18" charset="0"/>
                            </a:rPr>
                          </m:ctrlPr>
                        </m:sSupPr>
                        <m:e>
                          <m:r>
                            <a:rPr lang="en-US" sz="2400" b="0" i="1" smtClean="0">
                              <a:latin typeface="Cambria Math" charset="0"/>
                            </a:rPr>
                            <m:t>𝑧</m:t>
                          </m:r>
                        </m:e>
                        <m:sup>
                          <m:d>
                            <m:dPr>
                              <m:ctrlPr>
                                <a:rPr lang="en-US" sz="2400" b="0" i="1" smtClean="0">
                                  <a:latin typeface="Cambria Math" panose="02040503050406030204" pitchFamily="18" charset="0"/>
                                </a:rPr>
                              </m:ctrlPr>
                            </m:dPr>
                            <m:e>
                              <m:r>
                                <a:rPr lang="en-US" sz="2400" b="0" i="1" smtClean="0">
                                  <a:latin typeface="Cambria Math" charset="0"/>
                                </a:rPr>
                                <m:t>3</m:t>
                              </m:r>
                            </m:e>
                          </m:d>
                        </m:sup>
                      </m:sSup>
                      <m:r>
                        <a:rPr lang="en-US" sz="2400" b="0" i="1" smtClean="0">
                          <a:latin typeface="Cambria Math" charset="0"/>
                        </a:rPr>
                        <m:t>)</m:t>
                      </m:r>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3576572" y="3582547"/>
                <a:ext cx="1874117" cy="394339"/>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06421" y="4169047"/>
                <a:ext cx="2124941" cy="384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charset="0"/>
                            </a:rPr>
                            <m:t>𝑧</m:t>
                          </m:r>
                        </m:e>
                        <m:sup>
                          <m:r>
                            <a:rPr lang="en-US" sz="2400" b="0" i="1" smtClean="0">
                              <a:latin typeface="Cambria Math" charset="0"/>
                            </a:rPr>
                            <m:t>(4)</m:t>
                          </m:r>
                        </m:sup>
                      </m:sSup>
                      <m:r>
                        <a:rPr lang="en-US" sz="2400" b="0" i="1" smtClean="0">
                          <a:latin typeface="Cambria Math" charset="0"/>
                        </a:rPr>
                        <m:t>=</m:t>
                      </m:r>
                      <m:sSup>
                        <m:sSupPr>
                          <m:ctrlPr>
                            <a:rPr lang="en-US" sz="2400" b="0" i="1" smtClean="0">
                              <a:latin typeface="Cambria Math" panose="02040503050406030204" pitchFamily="18" charset="0"/>
                            </a:rPr>
                          </m:ctrlPr>
                        </m:sSupPr>
                        <m:e>
                          <m:r>
                            <a:rPr lang="en-US" sz="2400" b="0" i="1" smtClean="0">
                              <a:latin typeface="Cambria Math" charset="0"/>
                            </a:rPr>
                            <m:t>𝑎</m:t>
                          </m:r>
                        </m:e>
                        <m:sup>
                          <m:r>
                            <a:rPr lang="en-US" sz="2400" b="0" i="1" smtClean="0">
                              <a:latin typeface="Cambria Math" charset="0"/>
                            </a:rPr>
                            <m:t>(3)</m:t>
                          </m:r>
                        </m:sup>
                      </m:sSup>
                      <m:sSup>
                        <m:sSupPr>
                          <m:ctrlPr>
                            <a:rPr lang="en-US" sz="2400" b="0" i="1" smtClean="0">
                              <a:latin typeface="Cambria Math" panose="02040503050406030204" pitchFamily="18" charset="0"/>
                            </a:rPr>
                          </m:ctrlPr>
                        </m:sSupPr>
                        <m:e>
                          <m:r>
                            <a:rPr lang="en-US" sz="2400" b="0" i="1" smtClean="0">
                              <a:latin typeface="Cambria Math" charset="0"/>
                            </a:rPr>
                            <m:t>𝑊</m:t>
                          </m:r>
                        </m:e>
                        <m:sup>
                          <m:r>
                            <a:rPr lang="en-US" sz="2400" b="0" i="1" smtClean="0">
                              <a:latin typeface="Cambria Math" charset="0"/>
                            </a:rPr>
                            <m:t>(3)</m:t>
                          </m:r>
                        </m:sup>
                      </m:sSup>
                    </m:oMath>
                  </m:oMathPara>
                </a14:m>
                <a:endParaRPr lang="en-US"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606421" y="4169047"/>
                <a:ext cx="2124941" cy="384657"/>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576572" y="4126967"/>
                <a:ext cx="2611869" cy="3943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charset="0"/>
                            </a:rPr>
                            <m:t>𝑦</m:t>
                          </m:r>
                        </m:e>
                      </m:acc>
                      <m:r>
                        <a:rPr lang="en-US" sz="2400" b="0" i="1" smtClean="0">
                          <a:latin typeface="Cambria Math" charset="0"/>
                        </a:rPr>
                        <m:t>=</m:t>
                      </m:r>
                      <m:r>
                        <a:rPr lang="en-US" sz="2400" b="0" i="1" smtClean="0">
                          <a:latin typeface="Cambria Math" charset="0"/>
                        </a:rPr>
                        <m:t>𝑠𝑜𝑓𝑡𝑚𝑎𝑥</m:t>
                      </m:r>
                      <m:r>
                        <a:rPr lang="en-US" sz="2400" b="0" i="1" smtClean="0">
                          <a:latin typeface="Cambria Math" charset="0"/>
                        </a:rPr>
                        <m:t>(</m:t>
                      </m:r>
                      <m:sSup>
                        <m:sSupPr>
                          <m:ctrlPr>
                            <a:rPr lang="en-US" sz="2400" b="0" i="1" smtClean="0">
                              <a:latin typeface="Cambria Math" panose="02040503050406030204" pitchFamily="18" charset="0"/>
                            </a:rPr>
                          </m:ctrlPr>
                        </m:sSupPr>
                        <m:e>
                          <m:r>
                            <a:rPr lang="en-US" sz="2400" b="0" i="1" smtClean="0">
                              <a:latin typeface="Cambria Math" charset="0"/>
                            </a:rPr>
                            <m:t>𝑧</m:t>
                          </m:r>
                        </m:e>
                        <m:sup>
                          <m:d>
                            <m:dPr>
                              <m:ctrlPr>
                                <a:rPr lang="en-US" sz="2400" b="0" i="1" smtClean="0">
                                  <a:latin typeface="Cambria Math" panose="02040503050406030204" pitchFamily="18" charset="0"/>
                                </a:rPr>
                              </m:ctrlPr>
                            </m:dPr>
                            <m:e>
                              <m:r>
                                <a:rPr lang="en-US" sz="2400" b="0" i="1" smtClean="0">
                                  <a:latin typeface="Cambria Math" charset="0"/>
                                </a:rPr>
                                <m:t>4</m:t>
                              </m:r>
                            </m:e>
                          </m:d>
                        </m:sup>
                      </m:sSup>
                      <m:r>
                        <a:rPr lang="en-US" sz="2400" b="0" i="1" smtClean="0">
                          <a:latin typeface="Cambria Math" charset="0"/>
                        </a:rPr>
                        <m:t>)</m:t>
                      </m:r>
                    </m:oMath>
                  </m:oMathPara>
                </a14:m>
                <a:endParaRPr lang="en-US" sz="24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576572" y="4126967"/>
                <a:ext cx="2611869" cy="394339"/>
              </a:xfrm>
              <a:prstGeom prst="rect">
                <a:avLst/>
              </a:prstGeom>
              <a:blipFill rotWithShape="0">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4483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10" grpId="0"/>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2308324"/>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Now we know how feedforward NNs do Computations.  </a:t>
            </a:r>
          </a:p>
          <a:p>
            <a:endParaRPr lang="en-US" dirty="0">
              <a:latin typeface="Avenir Book" charset="0"/>
              <a:ea typeface="Avenir Book" charset="0"/>
              <a:cs typeface="Avenir Book" charset="0"/>
            </a:endParaRPr>
          </a:p>
          <a:p>
            <a:r>
              <a:rPr lang="en-US" dirty="0" smtClean="0">
                <a:latin typeface="Avenir Book" charset="0"/>
                <a:ea typeface="Avenir Book" charset="0"/>
                <a:cs typeface="Avenir Book" charset="0"/>
              </a:rPr>
              <a:t>Next, we will learn how to adjust the weights to learn from data.</a:t>
            </a:r>
            <a:endParaRPr lang="en-US" dirty="0">
              <a:latin typeface="Avenir Book" charset="0"/>
              <a:ea typeface="Avenir Book" charset="0"/>
              <a:cs typeface="Avenir Book" charset="0"/>
            </a:endParaRPr>
          </a:p>
        </p:txBody>
      </p:sp>
    </p:spTree>
    <p:extLst>
      <p:ext uri="{BB962C8B-B14F-4D97-AF65-F5344CB8AC3E}">
        <p14:creationId xmlns:p14="http://schemas.microsoft.com/office/powerpoint/2010/main" val="10308822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gradFill>
        <a:effectLst/>
      </p:bgPr>
    </p:bg>
    <p:spTree>
      <p:nvGrpSpPr>
        <p:cNvPr id="1" name="Shape 261"/>
        <p:cNvGrpSpPr/>
        <p:nvPr/>
      </p:nvGrpSpPr>
      <p:grpSpPr>
        <a:xfrm>
          <a:off x="0" y="0"/>
          <a:ext cx="0" cy="0"/>
          <a:chOff x="0" y="0"/>
          <a:chExt cx="0" cy="0"/>
        </a:xfrm>
      </p:grpSpPr>
      <p:sp>
        <p:nvSpPr>
          <p:cNvPr id="2" name="Slide Number Placeholder 1"/>
          <p:cNvSpPr>
            <a:spLocks noGrp="1"/>
          </p:cNvSpPr>
          <p:nvPr>
            <p:ph type="sldNum" sz="quarter" idx="4294967295"/>
          </p:nvPr>
        </p:nvSpPr>
        <p:spPr>
          <a:xfrm>
            <a:off x="7086600" y="4767263"/>
            <a:ext cx="2057400" cy="274637"/>
          </a:xfrm>
        </p:spPr>
        <p:txBody>
          <a:bodyPr/>
          <a:lstStyle/>
          <a:p>
            <a:fld id="{BDF01D69-A501-704B-80CB-1B3152437FD0}" type="slidenum">
              <a:rPr lang="en-US" smtClean="0"/>
              <a:t>34</a:t>
            </a:fld>
            <a:endParaRPr lang="en-US"/>
          </a:p>
        </p:txBody>
      </p:sp>
    </p:spTree>
    <p:extLst>
      <p:ext uri="{BB962C8B-B14F-4D97-AF65-F5344CB8AC3E}">
        <p14:creationId xmlns:p14="http://schemas.microsoft.com/office/powerpoint/2010/main" val="117185381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simple-dark-2">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el_theme">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ntel_theme" id="{7CD40ED6-13F2-774E-8C9C-E2A351ABAE7C}" vid="{A60F4A55-6349-6E4D-A6AA-B84EBE13CF51}"/>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27840</TotalTime>
  <Words>1734</Words>
  <Application>Microsoft Office PowerPoint</Application>
  <PresentationFormat>On-screen Show (16:9)</PresentationFormat>
  <Paragraphs>409</Paragraphs>
  <Slides>34</Slides>
  <Notes>33</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34</vt:i4>
      </vt:variant>
    </vt:vector>
  </HeadingPairs>
  <TitlesOfParts>
    <vt:vector size="49" baseType="lpstr">
      <vt:lpstr>Arial</vt:lpstr>
      <vt:lpstr>Avenir Book</vt:lpstr>
      <vt:lpstr>Calibri</vt:lpstr>
      <vt:lpstr>Calibri Light</vt:lpstr>
      <vt:lpstr>Cambria Math</vt:lpstr>
      <vt:lpstr>Intel Clear</vt:lpstr>
      <vt:lpstr>Intel Clear Light</vt:lpstr>
      <vt:lpstr>Intel Clear Pro</vt:lpstr>
      <vt:lpstr>Lucida Grande</vt:lpstr>
      <vt:lpstr>Neo Sans Intel</vt:lpstr>
      <vt:lpstr>Source Code Pro</vt:lpstr>
      <vt:lpstr>Wingdings</vt:lpstr>
      <vt:lpstr>1_simple-dark-2</vt:lpstr>
      <vt:lpstr>Custom Design</vt:lpstr>
      <vt:lpstr>intel_theme</vt:lpstr>
      <vt:lpstr>Introduction to Neural Nets</vt:lpstr>
      <vt:lpstr>Legal Notices and Disclaimers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&lt;Title&gt;</dc:title>
  <cp:lastModifiedBy>Oberoi, Daman</cp:lastModifiedBy>
  <cp:revision>445</cp:revision>
  <cp:lastPrinted>2017-04-25T03:20:55Z</cp:lastPrinted>
  <dcterms:modified xsi:type="dcterms:W3CDTF">2017-08-25T19:36:57Z</dcterms:modified>
</cp:coreProperties>
</file>
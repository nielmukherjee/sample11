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94" r:id="rId2"/>
    <p:sldMasterId id="2147483707" r:id="rId3"/>
  </p:sldMasterIdLst>
  <p:notesMasterIdLst>
    <p:notesMasterId r:id="rId36"/>
  </p:notesMasterIdLst>
  <p:handoutMasterIdLst>
    <p:handoutMasterId r:id="rId37"/>
  </p:handoutMasterIdLst>
  <p:sldIdLst>
    <p:sldId id="389" r:id="rId4"/>
    <p:sldId id="625" r:id="rId5"/>
    <p:sldId id="585" r:id="rId6"/>
    <p:sldId id="587" r:id="rId7"/>
    <p:sldId id="588" r:id="rId8"/>
    <p:sldId id="589" r:id="rId9"/>
    <p:sldId id="586" r:id="rId10"/>
    <p:sldId id="565" r:id="rId11"/>
    <p:sldId id="590" r:id="rId12"/>
    <p:sldId id="591" r:id="rId13"/>
    <p:sldId id="566" r:id="rId14"/>
    <p:sldId id="592" r:id="rId15"/>
    <p:sldId id="593" r:id="rId16"/>
    <p:sldId id="594" r:id="rId17"/>
    <p:sldId id="595" r:id="rId18"/>
    <p:sldId id="596" r:id="rId19"/>
    <p:sldId id="597" r:id="rId20"/>
    <p:sldId id="598" r:id="rId21"/>
    <p:sldId id="599" r:id="rId22"/>
    <p:sldId id="600" r:id="rId23"/>
    <p:sldId id="601" r:id="rId24"/>
    <p:sldId id="602" r:id="rId25"/>
    <p:sldId id="624" r:id="rId26"/>
    <p:sldId id="603" r:id="rId27"/>
    <p:sldId id="604" r:id="rId28"/>
    <p:sldId id="612" r:id="rId29"/>
    <p:sldId id="613" r:id="rId30"/>
    <p:sldId id="614" r:id="rId31"/>
    <p:sldId id="617" r:id="rId32"/>
    <p:sldId id="622" r:id="rId33"/>
    <p:sldId id="623" r:id="rId34"/>
    <p:sldId id="394" r:id="rId3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Gill" initials="MG" lastIdx="2" clrIdx="0">
    <p:extLst/>
  </p:cmAuthor>
  <p:cmAuthor id="2" name="Michelle Gill" initials="MG [2]" lastIdx="1" clrIdx="1">
    <p:extLst/>
  </p:cmAuthor>
  <p:cmAuthor id="3" name="Michelle Gill" initials="MG [3]" lastIdx="1"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883FF"/>
    <a:srgbClr val="235F83"/>
    <a:srgbClr val="8EFA00"/>
    <a:srgbClr val="76D6FF"/>
    <a:srgbClr val="2B73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57"/>
    <p:restoredTop sz="80849"/>
  </p:normalViewPr>
  <p:slideViewPr>
    <p:cSldViewPr snapToGrid="0" snapToObjects="1">
      <p:cViewPr varScale="1">
        <p:scale>
          <a:sx n="141" d="100"/>
          <a:sy n="141" d="100"/>
        </p:scale>
        <p:origin x="1088" y="72"/>
      </p:cViewPr>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120" d="100"/>
        <a:sy n="120" d="100"/>
      </p:scale>
      <p:origin x="0" y="0"/>
    </p:cViewPr>
  </p:sorterViewPr>
  <p:notesViewPr>
    <p:cSldViewPr snapToGrid="0" snapToObjects="1">
      <p:cViewPr varScale="1">
        <p:scale>
          <a:sx n="85" d="100"/>
          <a:sy n="85" d="100"/>
        </p:scale>
        <p:origin x="3696"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18DF2D-D537-FE4F-BE4D-E5BCACB16283}" type="datetimeFigureOut">
              <a:rPr lang="en-US" smtClean="0"/>
              <a:t>8/25/2017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7B0C4D-3AAF-FB40-9304-EA5AE39FC038}" type="slidenum">
              <a:rPr lang="en-US" smtClean="0"/>
              <a:t>‹#›</a:t>
            </a:fld>
            <a:endParaRPr lang="en-US"/>
          </a:p>
        </p:txBody>
      </p:sp>
    </p:spTree>
    <p:extLst>
      <p:ext uri="{BB962C8B-B14F-4D97-AF65-F5344CB8AC3E}">
        <p14:creationId xmlns:p14="http://schemas.microsoft.com/office/powerpoint/2010/main" val="12765185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lvl1pPr>
            <a:lvl2pPr marL="457200" marR="0" lvl="1" indent="0" algn="l" rtl="0">
              <a:spcBef>
                <a:spcPts val="0"/>
              </a:spcBef>
              <a:buNone/>
              <a:defRPr sz="1100" b="0" i="0" u="none" strike="noStrike" cap="none"/>
            </a:lvl2pPr>
            <a:lvl3pPr marL="914400" marR="0" lvl="2" indent="0" algn="l" rtl="0">
              <a:spcBef>
                <a:spcPts val="0"/>
              </a:spcBef>
              <a:buNone/>
              <a:defRPr sz="1100" b="0" i="0" u="none" strike="noStrike" cap="none"/>
            </a:lvl3pPr>
            <a:lvl4pPr marL="1371600" marR="0" lvl="3" indent="0" algn="l" rtl="0">
              <a:spcBef>
                <a:spcPts val="0"/>
              </a:spcBef>
              <a:buNone/>
              <a:defRPr sz="1100" b="0" i="0" u="none" strike="noStrike" cap="none"/>
            </a:lvl4pPr>
            <a:lvl5pPr marL="1828800" marR="0" lvl="4" indent="0" algn="l" rtl="0">
              <a:spcBef>
                <a:spcPts val="0"/>
              </a:spcBef>
              <a:buNone/>
              <a:defRPr sz="1100" b="0" i="0" u="none" strike="noStrike" cap="none"/>
            </a:lvl5pPr>
            <a:lvl6pPr marL="2286000" marR="0" lvl="5" indent="0" algn="l" rtl="0">
              <a:spcBef>
                <a:spcPts val="0"/>
              </a:spcBef>
              <a:buNone/>
              <a:defRPr sz="1100" b="0" i="0" u="none" strike="noStrike" cap="none"/>
            </a:lvl6pPr>
            <a:lvl7pPr marL="2743200" marR="0" lvl="6" indent="0" algn="l" rtl="0">
              <a:spcBef>
                <a:spcPts val="0"/>
              </a:spcBef>
              <a:buNone/>
              <a:defRPr sz="1100" b="0" i="0" u="none" strike="noStrike" cap="none"/>
            </a:lvl7pPr>
            <a:lvl8pPr marL="3200400" marR="0" lvl="7" indent="0" algn="l" rtl="0">
              <a:spcBef>
                <a:spcPts val="0"/>
              </a:spcBef>
              <a:buNone/>
              <a:defRPr sz="1100" b="0" i="0" u="none" strike="noStrike" cap="none"/>
            </a:lvl8pPr>
            <a:lvl9pPr marL="3657600" marR="0" lvl="8" indent="0" algn="l" rtl="0">
              <a:spcBef>
                <a:spcPts val="0"/>
              </a:spcBef>
              <a:buNone/>
              <a:defRPr sz="1100" b="0" i="0" u="none" strike="noStrike" cap="none"/>
            </a:lvl9pPr>
          </a:lstStyle>
          <a:p>
            <a:endParaRPr dirty="0"/>
          </a:p>
        </p:txBody>
      </p:sp>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2692107953"/>
      </p:ext>
    </p:extLst>
  </p:cSld>
  <p:clrMap bg1="lt1" tx1="dk1" bg2="dk2" tx2="lt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dirty="0"/>
          </a:p>
        </p:txBody>
      </p:sp>
    </p:spTree>
    <p:extLst>
      <p:ext uri="{BB962C8B-B14F-4D97-AF65-F5344CB8AC3E}">
        <p14:creationId xmlns:p14="http://schemas.microsoft.com/office/powerpoint/2010/main" val="1387326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There are choices one could make in the weight updating process which would make the training faster / better / </a:t>
            </a:r>
            <a:r>
              <a:rPr lang="en-US" sz="2400" baseline="0" dirty="0" err="1" smtClean="0">
                <a:latin typeface="Arial" charset="0"/>
                <a:ea typeface="Arial" charset="0"/>
                <a:cs typeface="Arial" charset="0"/>
              </a:rPr>
              <a:t>etc</a:t>
            </a: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311142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err="1" smtClean="0">
                <a:latin typeface="Arial" charset="0"/>
                <a:ea typeface="Arial" charset="0"/>
                <a:cs typeface="Arial" charset="0"/>
              </a:rPr>
              <a:t>lr</a:t>
            </a:r>
            <a:r>
              <a:rPr lang="en-US" sz="2400" baseline="0" dirty="0" smtClean="0">
                <a:latin typeface="Arial" charset="0"/>
                <a:ea typeface="Arial" charset="0"/>
                <a:cs typeface="Arial" charset="0"/>
              </a:rPr>
              <a:t> = learning rate = step size</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is batch gradient descent. It involves the entire batch. Better steps, but slower steps.</a:t>
            </a:r>
          </a:p>
        </p:txBody>
      </p:sp>
    </p:spTree>
    <p:extLst>
      <p:ext uri="{BB962C8B-B14F-4D97-AF65-F5344CB8AC3E}">
        <p14:creationId xmlns:p14="http://schemas.microsoft.com/office/powerpoint/2010/main" val="422080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883037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245597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is a good summary.  Might mention that full batch is still quite meandering, just less so than the others.</a:t>
            </a:r>
          </a:p>
        </p:txBody>
      </p:sp>
    </p:spTree>
    <p:extLst>
      <p:ext uri="{BB962C8B-B14F-4D97-AF65-F5344CB8AC3E}">
        <p14:creationId xmlns:p14="http://schemas.microsoft.com/office/powerpoint/2010/main" val="1148865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99343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Worth throwing out the idea that you want about the same movement per epoch.</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So either many small steps (smaller batches) or fewer large steps (bigger batches)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But must adjust learning rate accordingly</a:t>
            </a:r>
          </a:p>
        </p:txBody>
      </p:sp>
    </p:spTree>
    <p:extLst>
      <p:ext uri="{BB962C8B-B14F-4D97-AF65-F5344CB8AC3E}">
        <p14:creationId xmlns:p14="http://schemas.microsoft.com/office/powerpoint/2010/main" val="5677306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They were exposed to this idea in the first exercise</a:t>
            </a:r>
            <a:r>
              <a:rPr lang="is-IS" sz="2400" baseline="0" dirty="0" smtClean="0">
                <a:latin typeface="Arial" charset="0"/>
                <a:ea typeface="Arial" charset="0"/>
                <a:cs typeface="Arial" charset="0"/>
              </a:rPr>
              <a: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is-IS" sz="2400" baseline="0" dirty="0" smtClean="0">
              <a:latin typeface="Arial" charset="0"/>
              <a:ea typeface="Arial" charset="0"/>
              <a:cs typeface="Arial" charset="0"/>
            </a:endParaRPr>
          </a:p>
        </p:txBody>
      </p:sp>
    </p:spTree>
    <p:extLst>
      <p:ext uri="{BB962C8B-B14F-4D97-AF65-F5344CB8AC3E}">
        <p14:creationId xmlns:p14="http://schemas.microsoft.com/office/powerpoint/2010/main" val="2110721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872030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278541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2638997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20890965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3071072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9591868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2126982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7054866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Do it again.</a:t>
            </a:r>
          </a:p>
        </p:txBody>
      </p:sp>
    </p:spTree>
    <p:extLst>
      <p:ext uri="{BB962C8B-B14F-4D97-AF65-F5344CB8AC3E}">
        <p14:creationId xmlns:p14="http://schemas.microsoft.com/office/powerpoint/2010/main" val="167779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Can add that there is increasing integration with </a:t>
            </a:r>
            <a:r>
              <a:rPr lang="en-US" sz="2400" baseline="0" dirty="0" err="1" smtClean="0">
                <a:latin typeface="Arial" charset="0"/>
                <a:ea typeface="Arial" charset="0"/>
                <a:cs typeface="Arial" charset="0"/>
              </a:rPr>
              <a:t>TensorFlow</a:t>
            </a:r>
            <a:r>
              <a:rPr lang="en-US" sz="2400" baseline="0" dirty="0" smtClean="0">
                <a:latin typeface="Arial" charset="0"/>
                <a:ea typeface="Arial" charset="0"/>
                <a:cs typeface="Arial" charset="0"/>
              </a:rPr>
              <a: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err="1" smtClean="0">
                <a:latin typeface="Arial" charset="0"/>
                <a:ea typeface="Arial" charset="0"/>
                <a:cs typeface="Arial" charset="0"/>
              </a:rPr>
              <a:t>TensorFlow</a:t>
            </a:r>
            <a:r>
              <a:rPr lang="en-US" sz="2400" baseline="0" dirty="0" smtClean="0">
                <a:latin typeface="Arial" charset="0"/>
                <a:ea typeface="Arial" charset="0"/>
                <a:cs typeface="Arial" charset="0"/>
              </a:rPr>
              <a:t> has adopted </a:t>
            </a:r>
            <a:r>
              <a:rPr lang="en-US" sz="2400" baseline="0" dirty="0" err="1" smtClean="0">
                <a:latin typeface="Arial" charset="0"/>
                <a:ea typeface="Arial" charset="0"/>
                <a:cs typeface="Arial" charset="0"/>
              </a:rPr>
              <a:t>Keras</a:t>
            </a:r>
            <a:r>
              <a:rPr lang="en-US" sz="2400" baseline="0" dirty="0" smtClean="0">
                <a:latin typeface="Arial" charset="0"/>
                <a:ea typeface="Arial" charset="0"/>
                <a:cs typeface="Arial" charset="0"/>
              </a:rPr>
              <a:t> as its “official” front end.</a:t>
            </a:r>
          </a:p>
        </p:txBody>
      </p:sp>
    </p:spTree>
    <p:extLst>
      <p:ext uri="{BB962C8B-B14F-4D97-AF65-F5344CB8AC3E}">
        <p14:creationId xmlns:p14="http://schemas.microsoft.com/office/powerpoint/2010/main" val="14043668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A few differences between </a:t>
            </a:r>
            <a:r>
              <a:rPr lang="en-US" sz="2400" baseline="0" dirty="0" err="1" smtClean="0">
                <a:latin typeface="Arial" charset="0"/>
                <a:ea typeface="Arial" charset="0"/>
                <a:cs typeface="Arial" charset="0"/>
              </a:rPr>
              <a:t>keras</a:t>
            </a:r>
            <a:r>
              <a:rPr lang="en-US" sz="2400" baseline="0" dirty="0" smtClean="0">
                <a:latin typeface="Arial" charset="0"/>
                <a:ea typeface="Arial" charset="0"/>
                <a:cs typeface="Arial" charset="0"/>
              </a:rPr>
              <a:t> and </a:t>
            </a:r>
            <a:r>
              <a:rPr lang="en-US" sz="2400" baseline="0" dirty="0" err="1" smtClean="0">
                <a:latin typeface="Arial" charset="0"/>
                <a:ea typeface="Arial" charset="0"/>
                <a:cs typeface="Arial" charset="0"/>
              </a:rPr>
              <a:t>sklearn</a:t>
            </a: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In </a:t>
            </a:r>
            <a:r>
              <a:rPr lang="en-US" sz="2400" baseline="0" dirty="0" err="1" smtClean="0">
                <a:latin typeface="Arial" charset="0"/>
                <a:ea typeface="Arial" charset="0"/>
                <a:cs typeface="Arial" charset="0"/>
              </a:rPr>
              <a:t>keras</a:t>
            </a:r>
            <a:r>
              <a:rPr lang="en-US" sz="2400" baseline="0" dirty="0" smtClean="0">
                <a:latin typeface="Arial" charset="0"/>
                <a:ea typeface="Arial" charset="0"/>
                <a:cs typeface="Arial" charset="0"/>
              </a:rPr>
              <a:t>, we build the network, tell it how many layers, what are activation functions etc.</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And then we compile the model (</a:t>
            </a:r>
            <a:r>
              <a:rPr lang="en-US" sz="2400" baseline="0" dirty="0" err="1" smtClean="0">
                <a:latin typeface="Arial" charset="0"/>
                <a:ea typeface="Arial" charset="0"/>
                <a:cs typeface="Arial" charset="0"/>
              </a:rPr>
              <a:t>doesn</a:t>
            </a:r>
            <a:r>
              <a:rPr lang="mr-IN" sz="2400" baseline="0" dirty="0" smtClean="0">
                <a:latin typeface="Arial" charset="0"/>
                <a:ea typeface="Arial" charset="0"/>
                <a:cs typeface="Arial" charset="0"/>
              </a:rPr>
              <a:t>’</a:t>
            </a:r>
            <a:r>
              <a:rPr lang="en-US" sz="2400" baseline="0" dirty="0" smtClean="0">
                <a:latin typeface="Arial" charset="0"/>
                <a:ea typeface="Arial" charset="0"/>
                <a:cs typeface="Arial" charset="0"/>
              </a:rPr>
              <a:t>t exist in </a:t>
            </a:r>
            <a:r>
              <a:rPr lang="en-US" sz="2400" baseline="0" dirty="0" err="1" smtClean="0">
                <a:latin typeface="Arial" charset="0"/>
                <a:ea typeface="Arial" charset="0"/>
                <a:cs typeface="Arial" charset="0"/>
              </a:rPr>
              <a:t>sklearn</a:t>
            </a:r>
            <a:r>
              <a:rPr lang="en-US" sz="2400" baseline="0" dirty="0" smtClean="0">
                <a:latin typeface="Arial" charset="0"/>
                <a:ea typeface="Arial" charset="0"/>
                <a:cs typeface="Arial" charset="0"/>
              </a:rPr>
              <a: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Rest is the same.</a:t>
            </a:r>
          </a:p>
        </p:txBody>
      </p:sp>
    </p:spTree>
    <p:extLst>
      <p:ext uri="{BB962C8B-B14F-4D97-AF65-F5344CB8AC3E}">
        <p14:creationId xmlns:p14="http://schemas.microsoft.com/office/powerpoint/2010/main" val="16514990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One note about how training / test loss are calculated in </a:t>
            </a:r>
            <a:r>
              <a:rPr lang="en-US" sz="2400" baseline="0" dirty="0" err="1" smtClean="0">
                <a:latin typeface="Arial" charset="0"/>
                <a:ea typeface="Arial" charset="0"/>
                <a:cs typeface="Arial" charset="0"/>
              </a:rPr>
              <a:t>Keras</a:t>
            </a:r>
            <a:r>
              <a:rPr lang="en-US" sz="2400" baseline="0" dirty="0" smtClean="0">
                <a:latin typeface="Arial" charset="0"/>
                <a:ea typeface="Arial" charset="0"/>
                <a:cs typeface="Arial" charset="0"/>
              </a:rPr>
              <a: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    You may see that training loss is higher than test loss in </a:t>
            </a:r>
            <a:r>
              <a:rPr lang="en-US" sz="2400" baseline="0" dirty="0" err="1" smtClean="0">
                <a:latin typeface="Arial" charset="0"/>
                <a:ea typeface="Arial" charset="0"/>
                <a:cs typeface="Arial" charset="0"/>
              </a:rPr>
              <a:t>Keras</a:t>
            </a:r>
            <a:r>
              <a:rPr lang="en-US" sz="2400" baseline="0" dirty="0" smtClean="0">
                <a:latin typeface="Arial" charset="0"/>
                <a:ea typeface="Arial" charset="0"/>
                <a:cs typeface="Arial" charset="0"/>
              </a:rPr>
              <a:t> models.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    </a:t>
            </a:r>
            <a:r>
              <a:rPr lang="en-US" sz="1100" b="0" i="0" u="none" strike="noStrike" kern="1200" cap="none" baseline="0" dirty="0" smtClean="0">
                <a:solidFill>
                  <a:schemeClr val="tx1"/>
                </a:solidFill>
                <a:effectLst/>
                <a:latin typeface="+mn-lt"/>
                <a:ea typeface="+mn-ea"/>
                <a:cs typeface="+mn-cs"/>
              </a:rPr>
              <a:t>This behavior </a:t>
            </a:r>
            <a:r>
              <a:rPr lang="en-US" sz="1100" b="0" i="0" u="none" strike="noStrike" kern="1200" cap="none" dirty="0" smtClean="0">
                <a:solidFill>
                  <a:schemeClr val="tx1"/>
                </a:solidFill>
                <a:effectLst/>
                <a:latin typeface="+mn-lt"/>
                <a:ea typeface="+mn-ea"/>
                <a:cs typeface="+mn-cs"/>
              </a:rPr>
              <a:t>stems from difference in procedure on how </a:t>
            </a:r>
            <a:r>
              <a:rPr lang="en-US" sz="1100" b="0" i="0" u="none" strike="noStrike" kern="1200" cap="none" dirty="0" err="1" smtClean="0">
                <a:solidFill>
                  <a:schemeClr val="tx1"/>
                </a:solidFill>
                <a:effectLst/>
                <a:latin typeface="+mn-lt"/>
                <a:ea typeface="+mn-ea"/>
                <a:cs typeface="+mn-cs"/>
              </a:rPr>
              <a:t>keras</a:t>
            </a:r>
            <a:r>
              <a:rPr lang="en-US" sz="1100" b="0" i="0" u="none" strike="noStrike" kern="1200" cap="none" dirty="0" smtClean="0">
                <a:solidFill>
                  <a:schemeClr val="tx1"/>
                </a:solidFill>
                <a:effectLst/>
                <a:latin typeface="+mn-lt"/>
                <a:ea typeface="+mn-ea"/>
                <a:cs typeface="+mn-cs"/>
              </a:rPr>
              <a:t> calculates training loss vs test loss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1100" b="0" i="0" u="none" strike="noStrike" kern="1200" cap="none" dirty="0" smtClean="0">
                <a:solidFill>
                  <a:schemeClr val="tx1"/>
                </a:solidFill>
                <a:effectLst/>
                <a:latin typeface="+mn-lt"/>
                <a:ea typeface="+mn-ea"/>
                <a:cs typeface="+mn-cs"/>
              </a:rPr>
              <a:t>Training loss is averaged over many batches in an</a:t>
            </a:r>
            <a:r>
              <a:rPr lang="en-US" sz="1100" b="0" i="0" u="none" strike="noStrike" kern="1200" cap="none" baseline="0" dirty="0" smtClean="0">
                <a:solidFill>
                  <a:schemeClr val="tx1"/>
                </a:solidFill>
                <a:effectLst/>
                <a:latin typeface="+mn-lt"/>
                <a:ea typeface="+mn-ea"/>
                <a:cs typeface="+mn-cs"/>
              </a:rPr>
              <a:t> epoch, whereas test loss is based on the final parameters of that epoch </a:t>
            </a:r>
            <a:r>
              <a:rPr lang="en-US" sz="1100" b="0" i="0" u="none" strike="noStrike" kern="1200" cap="none" baseline="0" smtClean="0">
                <a:solidFill>
                  <a:schemeClr val="tx1"/>
                </a:solidFill>
                <a:effectLst/>
                <a:latin typeface="+mn-lt"/>
                <a:ea typeface="+mn-ea"/>
                <a:cs typeface="+mn-cs"/>
              </a:rPr>
              <a:t>and consequently may turn out to be lower.</a:t>
            </a:r>
            <a:endParaRPr lang="en-US" sz="1100" b="0" i="0" u="none" strike="noStrike" kern="1200" cap="none" dirty="0" smtClean="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1279024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6257352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8797242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They will do this directly in the accompanying exercise.</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First layer has input dim 3, and 4 nodes (units=4)</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Look at the final line. That’s a different activation function. Let’s talk about that a little bit.</a:t>
            </a:r>
          </a:p>
        </p:txBody>
      </p:sp>
    </p:spTree>
    <p:extLst>
      <p:ext uri="{BB962C8B-B14F-4D97-AF65-F5344CB8AC3E}">
        <p14:creationId xmlns:p14="http://schemas.microsoft.com/office/powerpoint/2010/main" val="3240113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5625042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Might voice over about why it would be a bad idea to have cat = 1, dog = 2, toaster = 3</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(i.e. don’t want any ordinal relation between categories (dog should not be ”between” cat and toaster)</a:t>
            </a:r>
          </a:p>
        </p:txBody>
      </p:sp>
    </p:spTree>
    <p:extLst>
      <p:ext uri="{BB962C8B-B14F-4D97-AF65-F5344CB8AC3E}">
        <p14:creationId xmlns:p14="http://schemas.microsoft.com/office/powerpoint/2010/main" val="20448275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Can voice over emphasizing the exponential aspect of the scaling.</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E.g. [3,1,1] does not become [.6, .2, .2] but rather [.78, .11, .11] since we are “</a:t>
            </a:r>
            <a:r>
              <a:rPr lang="en-US" sz="2400" baseline="0" dirty="0" err="1" smtClean="0">
                <a:latin typeface="Arial" charset="0"/>
                <a:ea typeface="Arial" charset="0"/>
                <a:cs typeface="Arial" charset="0"/>
              </a:rPr>
              <a:t>exp</a:t>
            </a:r>
            <a:r>
              <a:rPr lang="en-US" sz="2400" baseline="0" dirty="0" smtClean="0">
                <a:latin typeface="Arial" charset="0"/>
                <a:ea typeface="Arial" charset="0"/>
                <a:cs typeface="Arial" charset="0"/>
              </a:rPr>
              <a:t>”-</a:t>
            </a:r>
            <a:r>
              <a:rPr lang="en-US" sz="2400" baseline="0" dirty="0" err="1" smtClean="0">
                <a:latin typeface="Arial" charset="0"/>
                <a:ea typeface="Arial" charset="0"/>
                <a:cs typeface="Arial" charset="0"/>
              </a:rPr>
              <a:t>ing</a:t>
            </a:r>
            <a:r>
              <a:rPr lang="en-US" sz="2400" baseline="0" dirty="0" smtClean="0">
                <a:latin typeface="Arial" charset="0"/>
                <a:ea typeface="Arial" charset="0"/>
                <a:cs typeface="Arial" charset="0"/>
              </a:rPr>
              <a:t> before normalizing.</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Can be interpreted as probabilities.</a:t>
            </a:r>
          </a:p>
        </p:txBody>
      </p:sp>
    </p:spTree>
    <p:extLst>
      <p:ext uri="{BB962C8B-B14F-4D97-AF65-F5344CB8AC3E}">
        <p14:creationId xmlns:p14="http://schemas.microsoft.com/office/powerpoint/2010/main" val="1938134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Can voice over that (typically) </a:t>
            </a:r>
            <a:r>
              <a:rPr lang="en-US" sz="2400" baseline="0" dirty="0" err="1" smtClean="0">
                <a:latin typeface="Arial" charset="0"/>
                <a:ea typeface="Arial" charset="0"/>
                <a:cs typeface="Arial" charset="0"/>
              </a:rPr>
              <a:t>yi</a:t>
            </a:r>
            <a:r>
              <a:rPr lang="en-US" sz="2400" baseline="0" dirty="0" smtClean="0">
                <a:latin typeface="Arial" charset="0"/>
                <a:ea typeface="Arial" charset="0"/>
                <a:cs typeface="Arial" charset="0"/>
              </a:rPr>
              <a:t> is either 1 or 0, so you are getting log(</a:t>
            </a:r>
            <a:r>
              <a:rPr lang="en-US" sz="2400" baseline="0" dirty="0" err="1" smtClean="0">
                <a:latin typeface="Arial" charset="0"/>
                <a:ea typeface="Arial" charset="0"/>
                <a:cs typeface="Arial" charset="0"/>
              </a:rPr>
              <a:t>yi^hat</a:t>
            </a:r>
            <a:r>
              <a:rPr lang="en-US" sz="2400" baseline="0" dirty="0" smtClean="0">
                <a:latin typeface="Arial" charset="0"/>
                <a:ea typeface="Arial" charset="0"/>
                <a:cs typeface="Arial" charset="0"/>
              </a:rPr>
              <a:t>) for the “actual” right answer.</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Same as saying, “what likelihood did your model assign to this data set?”</a:t>
            </a:r>
          </a:p>
        </p:txBody>
      </p:sp>
    </p:spTree>
    <p:extLst>
      <p:ext uri="{BB962C8B-B14F-4D97-AF65-F5344CB8AC3E}">
        <p14:creationId xmlns:p14="http://schemas.microsoft.com/office/powerpoint/2010/main" val="6257009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Voice over that it adds to numerical stability to have inputs be on the same scale. </a:t>
            </a:r>
            <a:r>
              <a:rPr lang="en-US" sz="2400" baseline="0" smtClean="0">
                <a:latin typeface="Arial" charset="0"/>
                <a:ea typeface="Arial" charset="0"/>
                <a:cs typeface="Arial" charset="0"/>
              </a:rPr>
              <a:t>Good practice.</a:t>
            </a: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5802342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8544408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Shape 2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extLst>
      <p:ext uri="{BB962C8B-B14F-4D97-AF65-F5344CB8AC3E}">
        <p14:creationId xmlns:p14="http://schemas.microsoft.com/office/powerpoint/2010/main" val="7745420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body">
    <p:spTree>
      <p:nvGrpSpPr>
        <p:cNvPr id="1" name="Shape 13"/>
        <p:cNvGrpSpPr/>
        <p:nvPr/>
      </p:nvGrpSpPr>
      <p:grpSpPr>
        <a:xfrm>
          <a:off x="0" y="0"/>
          <a:ext cx="0" cy="0"/>
          <a:chOff x="0" y="0"/>
          <a:chExt cx="0" cy="0"/>
        </a:xfrm>
      </p:grpSpPr>
      <p:sp>
        <p:nvSpPr>
          <p:cNvPr id="2"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4"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ody">
    <p:spTree>
      <p:nvGrpSpPr>
        <p:cNvPr id="1" name="Shape 13"/>
        <p:cNvGrpSpPr/>
        <p:nvPr/>
      </p:nvGrpSpPr>
      <p:grpSpPr>
        <a:xfrm>
          <a:off x="0" y="0"/>
          <a:ext cx="0" cy="0"/>
          <a:chOff x="0" y="0"/>
          <a:chExt cx="0" cy="0"/>
        </a:xfrm>
      </p:grpSpPr>
      <p:sp>
        <p:nvSpPr>
          <p:cNvPr id="7"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6" name="Shape 98"/>
          <p:cNvCxnSpPr/>
          <p:nvPr userDrawn="1"/>
        </p:nvCxnSpPr>
        <p:spPr>
          <a:xfrm>
            <a:off x="0" y="1024800"/>
            <a:ext cx="4178099" cy="0"/>
          </a:xfrm>
          <a:prstGeom prst="straightConnector1">
            <a:avLst/>
          </a:prstGeom>
          <a:noFill/>
          <a:ln w="19050" cap="flat" cmpd="sng">
            <a:solidFill>
              <a:srgbClr val="3A9ED9"/>
            </a:solidFill>
            <a:prstDash val="solid"/>
            <a:round/>
            <a:headEnd type="none" w="med" len="med"/>
            <a:tailEnd type="none" w="med" len="med"/>
          </a:ln>
        </p:spPr>
      </p:cxnSp>
      <p:pic>
        <p:nvPicPr>
          <p:cNvPr id="9"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 name="Title 1"/>
          <p:cNvSpPr>
            <a:spLocks noGrp="1"/>
          </p:cNvSpPr>
          <p:nvPr>
            <p:ph type="title" hasCustomPrompt="1"/>
          </p:nvPr>
        </p:nvSpPr>
        <p:spPr>
          <a:xfrm>
            <a:off x="311700" y="192126"/>
            <a:ext cx="7766550" cy="690525"/>
          </a:xfrm>
          <a:prstGeom prst="rect">
            <a:avLst/>
          </a:prstGeom>
        </p:spPr>
        <p:txBody>
          <a:bodyPr/>
          <a:lstStyle>
            <a:lvl1pPr>
              <a:buSzPct val="25000"/>
              <a:buFont typeface="Source Code Pro"/>
              <a:buNone/>
              <a:defRPr sz="2800" baseline="0"/>
            </a:lvl1pPr>
          </a:lstStyle>
          <a:p>
            <a:pPr>
              <a:buSzPct val="25000"/>
              <a:buFont typeface="Source Code Pro"/>
              <a:buNone/>
            </a:pPr>
            <a:r>
              <a:rPr lang="en-US" b="1" dirty="0" smtClean="0">
                <a:solidFill>
                  <a:srgbClr val="3A9ED9"/>
                </a:solidFill>
                <a:latin typeface="Source Code Pro"/>
                <a:ea typeface="Source Code Pro"/>
                <a:cs typeface="Source Code Pro"/>
                <a:sym typeface="Source Code Pro"/>
              </a:rPr>
              <a:t>Title</a:t>
            </a:r>
            <a:endParaRPr lang="en" b="1" dirty="0">
              <a:solidFill>
                <a:srgbClr val="3A9ED9"/>
              </a:solidFill>
              <a:latin typeface="Source Code Pro"/>
              <a:ea typeface="Source Code Pro"/>
              <a:cs typeface="Source Code Pro"/>
              <a:sym typeface="Source Code Pro"/>
            </a:endParaRPr>
          </a:p>
        </p:txBody>
      </p:sp>
      <p:sp>
        <p:nvSpPr>
          <p:cNvPr id="4" name="Text Placeholder 3"/>
          <p:cNvSpPr>
            <a:spLocks noGrp="1"/>
          </p:cNvSpPr>
          <p:nvPr>
            <p:ph type="body" sz="quarter" idx="10" hasCustomPrompt="1"/>
          </p:nvPr>
        </p:nvSpPr>
        <p:spPr>
          <a:xfrm>
            <a:off x="311700" y="1295930"/>
            <a:ext cx="8527498" cy="3542769"/>
          </a:xfrm>
          <a:prstGeom prst="rect">
            <a:avLst/>
          </a:prstGeom>
        </p:spPr>
        <p:txBody>
          <a:bodyPr/>
          <a:lstStyle>
            <a:lvl1pPr marL="457200" marR="0" indent="-381000" algn="l" rtl="0">
              <a:lnSpc>
                <a:spcPct val="115000"/>
              </a:lnSpc>
              <a:spcBef>
                <a:spcPts val="0"/>
              </a:spcBef>
              <a:spcAft>
                <a:spcPts val="0"/>
              </a:spcAft>
              <a:buClr>
                <a:srgbClr val="434343"/>
              </a:buClr>
              <a:buSzPct val="100000"/>
              <a:buFont typeface="Calibri"/>
              <a:buChar char="●"/>
              <a:defRPr sz="1400"/>
            </a:lvl1pPr>
          </a:lstStyle>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20"/>
        <p:cNvGrpSpPr/>
        <p:nvPr/>
      </p:nvGrpSpPr>
      <p:grpSpPr>
        <a:xfrm>
          <a:off x="0" y="0"/>
          <a:ext cx="0" cy="0"/>
          <a:chOff x="0" y="0"/>
          <a:chExt cx="0" cy="0"/>
        </a:xfrm>
      </p:grpSpPr>
      <p:sp>
        <p:nvSpPr>
          <p:cNvPr id="6" name="Shape 113"/>
          <p:cNvSpPr txBox="1">
            <a:spLocks noGrp="1"/>
          </p:cNvSpPr>
          <p:nvPr>
            <p:ph type="title"/>
          </p:nvPr>
        </p:nvSpPr>
        <p:spPr>
          <a:xfrm>
            <a:off x="1028550" y="1135100"/>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dirty="0">
                <a:solidFill>
                  <a:srgbClr val="3A9ED9"/>
                </a:solidFill>
                <a:latin typeface="Source Code Pro"/>
                <a:ea typeface="Source Code Pro"/>
                <a:cs typeface="Source Code Pro"/>
                <a:sym typeface="Source Code Pro"/>
              </a:rPr>
              <a:t>Heading</a:t>
            </a:r>
          </a:p>
        </p:txBody>
      </p:sp>
      <p:sp>
        <p:nvSpPr>
          <p:cNvPr id="7" name="Shape 114"/>
          <p:cNvSpPr txBox="1">
            <a:spLocks noGrp="1"/>
          </p:cNvSpPr>
          <p:nvPr>
            <p:ph type="body" idx="1"/>
          </p:nvPr>
        </p:nvSpPr>
        <p:spPr>
          <a:xfrm>
            <a:off x="9121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8" name="Shape 11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9" name="Shape 116"/>
          <p:cNvCxnSpPr/>
          <p:nvPr userDrawn="1"/>
        </p:nvCxnSpPr>
        <p:spPr>
          <a:xfrm>
            <a:off x="959550" y="1701550"/>
            <a:ext cx="1951199" cy="0"/>
          </a:xfrm>
          <a:prstGeom prst="straightConnector1">
            <a:avLst/>
          </a:prstGeom>
          <a:noFill/>
          <a:ln w="19050" cap="flat" cmpd="sng">
            <a:solidFill>
              <a:srgbClr val="3A9ED9"/>
            </a:solidFill>
            <a:prstDash val="solid"/>
            <a:round/>
            <a:headEnd type="none" w="med" len="med"/>
            <a:tailEnd type="none" w="med" len="med"/>
          </a:ln>
        </p:spPr>
      </p:cxnSp>
      <p:sp>
        <p:nvSpPr>
          <p:cNvPr id="10" name="Shape 117"/>
          <p:cNvSpPr txBox="1">
            <a:spLocks/>
          </p:cNvSpPr>
          <p:nvPr userDrawn="1"/>
        </p:nvSpPr>
        <p:spPr>
          <a:xfrm>
            <a:off x="360720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dirty="0" smtClean="0">
                <a:solidFill>
                  <a:srgbClr val="ED0096"/>
                </a:solidFill>
                <a:latin typeface="Source Code Pro"/>
                <a:ea typeface="Source Code Pro"/>
                <a:cs typeface="Source Code Pro"/>
                <a:sym typeface="Source Code Pro"/>
              </a:rPr>
              <a:t>Heading</a:t>
            </a:r>
            <a:endParaRPr lang="en" sz="1800" b="1" dirty="0">
              <a:solidFill>
                <a:srgbClr val="ED0096"/>
              </a:solidFill>
              <a:latin typeface="Source Code Pro"/>
              <a:ea typeface="Source Code Pro"/>
              <a:cs typeface="Source Code Pro"/>
              <a:sym typeface="Source Code Pro"/>
            </a:endParaRPr>
          </a:p>
        </p:txBody>
      </p:sp>
      <p:sp>
        <p:nvSpPr>
          <p:cNvPr id="11" name="Shape 118"/>
          <p:cNvSpPr txBox="1">
            <a:spLocks noGrp="1"/>
          </p:cNvSpPr>
          <p:nvPr>
            <p:ph type="body" idx="10"/>
          </p:nvPr>
        </p:nvSpPr>
        <p:spPr>
          <a:xfrm>
            <a:off x="349080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2" name="Shape 119"/>
          <p:cNvCxnSpPr/>
          <p:nvPr userDrawn="1"/>
        </p:nvCxnSpPr>
        <p:spPr>
          <a:xfrm>
            <a:off x="3538200" y="1701550"/>
            <a:ext cx="1951199" cy="0"/>
          </a:xfrm>
          <a:prstGeom prst="straightConnector1">
            <a:avLst/>
          </a:prstGeom>
          <a:noFill/>
          <a:ln w="19050" cap="flat" cmpd="sng">
            <a:solidFill>
              <a:srgbClr val="ED0096"/>
            </a:solidFill>
            <a:prstDash val="solid"/>
            <a:round/>
            <a:headEnd type="none" w="med" len="med"/>
            <a:tailEnd type="none" w="med" len="med"/>
          </a:ln>
        </p:spPr>
      </p:cxnSp>
      <p:sp>
        <p:nvSpPr>
          <p:cNvPr id="13" name="Shape 120"/>
          <p:cNvSpPr txBox="1">
            <a:spLocks/>
          </p:cNvSpPr>
          <p:nvPr userDrawn="1"/>
        </p:nvSpPr>
        <p:spPr>
          <a:xfrm>
            <a:off x="630225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4" name="Shape 121"/>
          <p:cNvSpPr txBox="1">
            <a:spLocks noGrp="1"/>
          </p:cNvSpPr>
          <p:nvPr>
            <p:ph type="body" idx="11"/>
          </p:nvPr>
        </p:nvSpPr>
        <p:spPr>
          <a:xfrm>
            <a:off x="61858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5" name="Shape 122"/>
          <p:cNvCxnSpPr/>
          <p:nvPr userDrawn="1"/>
        </p:nvCxnSpPr>
        <p:spPr>
          <a:xfrm>
            <a:off x="6233250" y="1701550"/>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6" name="Shape 123"/>
          <p:cNvCxnSpPr/>
          <p:nvPr userDrawn="1"/>
        </p:nvCxnSpPr>
        <p:spPr>
          <a:xfrm>
            <a:off x="959550" y="3763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7" name="Shape 124"/>
          <p:cNvCxnSpPr/>
          <p:nvPr userDrawn="1"/>
        </p:nvCxnSpPr>
        <p:spPr>
          <a:xfrm>
            <a:off x="3538200" y="3763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8" name="Shape 125"/>
          <p:cNvCxnSpPr/>
          <p:nvPr userDrawn="1"/>
        </p:nvCxnSpPr>
        <p:spPr>
          <a:xfrm>
            <a:off x="6233250" y="3763075"/>
            <a:ext cx="1951199" cy="0"/>
          </a:xfrm>
          <a:prstGeom prst="straightConnector1">
            <a:avLst/>
          </a:prstGeom>
          <a:noFill/>
          <a:ln w="19050" cap="flat" cmpd="sng">
            <a:solidFill>
              <a:srgbClr val="EF3969"/>
            </a:solidFill>
            <a:prstDash val="solid"/>
            <a:round/>
            <a:headEnd type="none" w="med" len="med"/>
            <a:tailEnd type="none" w="med" len="med"/>
          </a:ln>
        </p:spPr>
      </p:cxnSp>
      <p:sp>
        <p:nvSpPr>
          <p:cNvPr id="19" name="Shape 12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25"/>
        <p:cNvGrpSpPr/>
        <p:nvPr/>
      </p:nvGrpSpPr>
      <p:grpSpPr>
        <a:xfrm>
          <a:off x="0" y="0"/>
          <a:ext cx="0" cy="0"/>
          <a:chOff x="0" y="0"/>
          <a:chExt cx="0" cy="0"/>
        </a:xfrm>
      </p:grpSpPr>
      <p:sp>
        <p:nvSpPr>
          <p:cNvPr id="4" name="Shape 131"/>
          <p:cNvSpPr txBox="1">
            <a:spLocks noGrp="1"/>
          </p:cNvSpPr>
          <p:nvPr>
            <p:ph type="title"/>
          </p:nvPr>
        </p:nvSpPr>
        <p:spPr>
          <a:xfrm>
            <a:off x="1028550" y="1917783"/>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a:solidFill>
                  <a:srgbClr val="3A9ED9"/>
                </a:solidFill>
                <a:latin typeface="Source Code Pro"/>
                <a:ea typeface="Source Code Pro"/>
                <a:cs typeface="Source Code Pro"/>
                <a:sym typeface="Source Code Pro"/>
              </a:rPr>
              <a:t>Heading</a:t>
            </a:r>
          </a:p>
        </p:txBody>
      </p:sp>
      <p:sp>
        <p:nvSpPr>
          <p:cNvPr id="5" name="Shape 132"/>
          <p:cNvSpPr txBox="1">
            <a:spLocks noGrp="1"/>
          </p:cNvSpPr>
          <p:nvPr>
            <p:ph type="body" idx="1"/>
          </p:nvPr>
        </p:nvSpPr>
        <p:spPr>
          <a:xfrm>
            <a:off x="9121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6" name="Shape 13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7" name="Shape 134"/>
          <p:cNvSpPr txBox="1">
            <a:spLocks/>
          </p:cNvSpPr>
          <p:nvPr userDrawn="1"/>
        </p:nvSpPr>
        <p:spPr>
          <a:xfrm>
            <a:off x="360720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D0096"/>
                </a:solidFill>
                <a:latin typeface="Source Code Pro"/>
                <a:ea typeface="Source Code Pro"/>
                <a:cs typeface="Source Code Pro"/>
                <a:sym typeface="Source Code Pro"/>
              </a:rPr>
              <a:t>Heading</a:t>
            </a:r>
            <a:endParaRPr lang="en" sz="1800" b="1">
              <a:solidFill>
                <a:srgbClr val="ED0096"/>
              </a:solidFill>
              <a:latin typeface="Source Code Pro"/>
              <a:ea typeface="Source Code Pro"/>
              <a:cs typeface="Source Code Pro"/>
              <a:sym typeface="Source Code Pro"/>
            </a:endParaRPr>
          </a:p>
        </p:txBody>
      </p:sp>
      <p:sp>
        <p:nvSpPr>
          <p:cNvPr id="8" name="Shape 135"/>
          <p:cNvSpPr txBox="1">
            <a:spLocks noGrp="1"/>
          </p:cNvSpPr>
          <p:nvPr>
            <p:ph type="body" idx="10"/>
          </p:nvPr>
        </p:nvSpPr>
        <p:spPr>
          <a:xfrm>
            <a:off x="349080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sp>
        <p:nvSpPr>
          <p:cNvPr id="9" name="Shape 136"/>
          <p:cNvSpPr txBox="1">
            <a:spLocks/>
          </p:cNvSpPr>
          <p:nvPr userDrawn="1"/>
        </p:nvSpPr>
        <p:spPr>
          <a:xfrm>
            <a:off x="630225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0" name="Shape 137"/>
          <p:cNvSpPr txBox="1">
            <a:spLocks noGrp="1"/>
          </p:cNvSpPr>
          <p:nvPr>
            <p:ph type="body" idx="11"/>
          </p:nvPr>
        </p:nvSpPr>
        <p:spPr>
          <a:xfrm>
            <a:off x="61858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1" name="Shape 138"/>
          <p:cNvCxnSpPr/>
          <p:nvPr userDrawn="1"/>
        </p:nvCxnSpPr>
        <p:spPr>
          <a:xfrm>
            <a:off x="959550" y="4144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2" name="Shape 139"/>
          <p:cNvCxnSpPr/>
          <p:nvPr userDrawn="1"/>
        </p:nvCxnSpPr>
        <p:spPr>
          <a:xfrm>
            <a:off x="3538200" y="4144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3" name="Shape 140"/>
          <p:cNvCxnSpPr/>
          <p:nvPr userDrawn="1"/>
        </p:nvCxnSpPr>
        <p:spPr>
          <a:xfrm>
            <a:off x="6233250" y="4144075"/>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4" name="Shape 141"/>
          <p:cNvCxnSpPr/>
          <p:nvPr userDrawn="1"/>
        </p:nvCxnSpPr>
        <p:spPr>
          <a:xfrm>
            <a:off x="959550" y="1316850"/>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5" name="Shape 142"/>
          <p:cNvCxnSpPr/>
          <p:nvPr userDrawn="1"/>
        </p:nvCxnSpPr>
        <p:spPr>
          <a:xfrm>
            <a:off x="3538200" y="1316850"/>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6" name="Shape 143"/>
          <p:cNvCxnSpPr/>
          <p:nvPr userDrawn="1"/>
        </p:nvCxnSpPr>
        <p:spPr>
          <a:xfrm>
            <a:off x="6233250" y="1316850"/>
            <a:ext cx="1951199" cy="0"/>
          </a:xfrm>
          <a:prstGeom prst="straightConnector1">
            <a:avLst/>
          </a:prstGeom>
          <a:noFill/>
          <a:ln w="19050" cap="flat" cmpd="sng">
            <a:solidFill>
              <a:srgbClr val="EF3969"/>
            </a:solidFill>
            <a:prstDash val="solid"/>
            <a:round/>
            <a:headEnd type="none" w="med" len="med"/>
            <a:tailEnd type="none" w="med" len="med"/>
          </a:ln>
        </p:spPr>
      </p:cxnSp>
      <p:sp>
        <p:nvSpPr>
          <p:cNvPr id="17" name="Shape 144"/>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145"/>
          <p:cNvSpPr/>
          <p:nvPr userDrawn="1"/>
        </p:nvSpPr>
        <p:spPr>
          <a:xfrm>
            <a:off x="1500750" y="882450"/>
            <a:ext cx="868800" cy="868800"/>
          </a:xfrm>
          <a:prstGeom prst="ellipse">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146"/>
          <p:cNvSpPr/>
          <p:nvPr userDrawn="1"/>
        </p:nvSpPr>
        <p:spPr>
          <a:xfrm>
            <a:off x="4079400" y="882450"/>
            <a:ext cx="868800" cy="868800"/>
          </a:xfrm>
          <a:prstGeom prst="ellipse">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0" name="Shape 147"/>
          <p:cNvSpPr/>
          <p:nvPr userDrawn="1"/>
        </p:nvSpPr>
        <p:spPr>
          <a:xfrm>
            <a:off x="6774450" y="882450"/>
            <a:ext cx="868800" cy="868800"/>
          </a:xfrm>
          <a:prstGeom prst="ellipse">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5"/>
        <p:cNvGrpSpPr/>
        <p:nvPr/>
      </p:nvGrpSpPr>
      <p:grpSpPr>
        <a:xfrm>
          <a:off x="0" y="0"/>
          <a:ext cx="0" cy="0"/>
          <a:chOff x="0" y="0"/>
          <a:chExt cx="0" cy="0"/>
        </a:xfrm>
      </p:grpSpPr>
      <p:sp>
        <p:nvSpPr>
          <p:cNvPr id="21" name="Shape 152"/>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3A9ED9"/>
                </a:solidFill>
                <a:latin typeface="Source Code Pro"/>
                <a:ea typeface="Source Code Pro"/>
                <a:cs typeface="Source Code Pro"/>
                <a:sym typeface="Source Code Pro"/>
              </a:rPr>
              <a:t>/ Heading goes here /</a:t>
            </a:r>
          </a:p>
        </p:txBody>
      </p:sp>
      <p:pic>
        <p:nvPicPr>
          <p:cNvPr id="22" name="Shape 15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54"/>
          <p:cNvCxnSpPr/>
          <p:nvPr userDrawn="1"/>
        </p:nvCxnSpPr>
        <p:spPr>
          <a:xfrm>
            <a:off x="3596400" y="43726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24" name="Shape 155"/>
          <p:cNvCxnSpPr/>
          <p:nvPr userDrawn="1"/>
        </p:nvCxnSpPr>
        <p:spPr>
          <a:xfrm>
            <a:off x="3596400" y="935850"/>
            <a:ext cx="1951199" cy="0"/>
          </a:xfrm>
          <a:prstGeom prst="straightConnector1">
            <a:avLst/>
          </a:prstGeom>
          <a:noFill/>
          <a:ln w="19050" cap="flat" cmpd="sng">
            <a:solidFill>
              <a:srgbClr val="3A9ED9"/>
            </a:solidFill>
            <a:prstDash val="solid"/>
            <a:round/>
            <a:headEnd type="none" w="med" len="med"/>
            <a:tailEnd type="none" w="med" len="med"/>
          </a:ln>
        </p:spPr>
      </p:cxnSp>
      <p:sp>
        <p:nvSpPr>
          <p:cNvPr id="25" name="Shape 15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57"/>
          <p:cNvSpPr/>
          <p:nvPr userDrawn="1"/>
        </p:nvSpPr>
        <p:spPr>
          <a:xfrm>
            <a:off x="4137600" y="501450"/>
            <a:ext cx="868800" cy="868800"/>
          </a:xfrm>
          <a:prstGeom prst="ellipse">
            <a:avLst/>
          </a:prstGeom>
          <a:solidFill>
            <a:srgbClr val="3A9ED9"/>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1</a:t>
            </a:r>
          </a:p>
        </p:txBody>
      </p:sp>
      <p:sp>
        <p:nvSpPr>
          <p:cNvPr id="27" name="Shape 158"/>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25"/>
        <p:cNvGrpSpPr/>
        <p:nvPr/>
      </p:nvGrpSpPr>
      <p:grpSpPr>
        <a:xfrm>
          <a:off x="0" y="0"/>
          <a:ext cx="0" cy="0"/>
          <a:chOff x="0" y="0"/>
          <a:chExt cx="0" cy="0"/>
        </a:xfrm>
      </p:grpSpPr>
      <p:sp>
        <p:nvSpPr>
          <p:cNvPr id="21" name="Shape 163"/>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ED0096"/>
                </a:solidFill>
                <a:latin typeface="Source Code Pro"/>
                <a:ea typeface="Source Code Pro"/>
                <a:cs typeface="Source Code Pro"/>
                <a:sym typeface="Source Code Pro"/>
              </a:rPr>
              <a:t>/ Heading goes here /</a:t>
            </a:r>
          </a:p>
        </p:txBody>
      </p:sp>
      <p:pic>
        <p:nvPicPr>
          <p:cNvPr id="22" name="Shape 16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65"/>
          <p:cNvCxnSpPr/>
          <p:nvPr userDrawn="1"/>
        </p:nvCxnSpPr>
        <p:spPr>
          <a:xfrm>
            <a:off x="3596400" y="43726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24" name="Shape 166"/>
          <p:cNvCxnSpPr/>
          <p:nvPr userDrawn="1"/>
        </p:nvCxnSpPr>
        <p:spPr>
          <a:xfrm>
            <a:off x="3596400" y="935850"/>
            <a:ext cx="1951199" cy="0"/>
          </a:xfrm>
          <a:prstGeom prst="straightConnector1">
            <a:avLst/>
          </a:prstGeom>
          <a:noFill/>
          <a:ln w="19050" cap="flat" cmpd="sng">
            <a:solidFill>
              <a:srgbClr val="ED0096"/>
            </a:solidFill>
            <a:prstDash val="solid"/>
            <a:round/>
            <a:headEnd type="none" w="med" len="med"/>
            <a:tailEnd type="none" w="med" len="med"/>
          </a:ln>
        </p:spPr>
      </p:cxnSp>
      <p:sp>
        <p:nvSpPr>
          <p:cNvPr id="25" name="Shape 16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68"/>
          <p:cNvSpPr/>
          <p:nvPr userDrawn="1"/>
        </p:nvSpPr>
        <p:spPr>
          <a:xfrm>
            <a:off x="4137600" y="501450"/>
            <a:ext cx="868800" cy="868800"/>
          </a:xfrm>
          <a:prstGeom prst="ellipse">
            <a:avLst/>
          </a:prstGeom>
          <a:solidFill>
            <a:srgbClr val="ED0096"/>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2</a:t>
            </a:r>
          </a:p>
        </p:txBody>
      </p:sp>
      <p:sp>
        <p:nvSpPr>
          <p:cNvPr id="27" name="Shape 169"/>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and description">
    <p:spTree>
      <p:nvGrpSpPr>
        <p:cNvPr id="1" name="Shape 35"/>
        <p:cNvGrpSpPr/>
        <p:nvPr/>
      </p:nvGrpSpPr>
      <p:grpSpPr>
        <a:xfrm>
          <a:off x="0" y="0"/>
          <a:ext cx="0" cy="0"/>
          <a:chOff x="0" y="0"/>
          <a:chExt cx="0" cy="0"/>
        </a:xfrm>
      </p:grpSpPr>
      <p:sp>
        <p:nvSpPr>
          <p:cNvPr id="7" name="Shape 174"/>
          <p:cNvSpPr/>
          <p:nvPr userDrawn="1"/>
        </p:nvSpPr>
        <p:spPr>
          <a:xfrm>
            <a:off x="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8" name="Shape 176"/>
          <p:cNvSpPr txBox="1">
            <a:spLocks noGrp="1"/>
          </p:cNvSpPr>
          <p:nvPr>
            <p:ph type="title"/>
          </p:nvPr>
        </p:nvSpPr>
        <p:spPr>
          <a:xfrm>
            <a:off x="525200" y="590275"/>
            <a:ext cx="3390900" cy="228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9" name="Shape 177"/>
          <p:cNvSpPr/>
          <p:nvPr userDrawn="1"/>
        </p:nvSpPr>
        <p:spPr>
          <a:xfrm>
            <a:off x="3592175"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0" name="Shape 178"/>
          <p:cNvSpPr txBox="1">
            <a:spLocks noGrp="1"/>
          </p:cNvSpPr>
          <p:nvPr>
            <p:ph type="body" idx="1"/>
          </p:nvPr>
        </p:nvSpPr>
        <p:spPr>
          <a:xfrm>
            <a:off x="5365125"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11" name="Shape 17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tion">
    <p:spTree>
      <p:nvGrpSpPr>
        <p:cNvPr id="1" name="Shape 41"/>
        <p:cNvGrpSpPr/>
        <p:nvPr/>
      </p:nvGrpSpPr>
      <p:grpSpPr>
        <a:xfrm>
          <a:off x="0" y="0"/>
          <a:ext cx="0" cy="0"/>
          <a:chOff x="0" y="0"/>
          <a:chExt cx="0" cy="0"/>
        </a:xfrm>
      </p:grpSpPr>
      <p:sp>
        <p:nvSpPr>
          <p:cNvPr id="4" name="Shape 184"/>
          <p:cNvSpPr/>
          <p:nvPr userDrawn="1"/>
        </p:nvSpPr>
        <p:spPr>
          <a:xfrm>
            <a:off x="435020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186"/>
          <p:cNvSpPr txBox="1">
            <a:spLocks noGrp="1"/>
          </p:cNvSpPr>
          <p:nvPr>
            <p:ph type="title"/>
          </p:nvPr>
        </p:nvSpPr>
        <p:spPr>
          <a:xfrm>
            <a:off x="5310889" y="590275"/>
            <a:ext cx="3390900" cy="2284800"/>
          </a:xfrm>
          <a:prstGeom prst="rect">
            <a:avLst/>
          </a:prstGeom>
          <a:noFill/>
          <a:ln>
            <a:noFill/>
          </a:ln>
        </p:spPr>
        <p:txBody>
          <a:bodyPr lIns="91425" tIns="91425" rIns="91425" bIns="91425" anchor="t" anchorCtr="0">
            <a:noAutofit/>
          </a:bodyPr>
          <a:lstStyle/>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6" name="Shape 187"/>
          <p:cNvSpPr/>
          <p:nvPr userDrawn="1"/>
        </p:nvSpPr>
        <p:spPr>
          <a:xfrm>
            <a:off x="3150900"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188"/>
          <p:cNvSpPr txBox="1">
            <a:spLocks noGrp="1"/>
          </p:cNvSpPr>
          <p:nvPr>
            <p:ph type="body" idx="1"/>
          </p:nvPr>
        </p:nvSpPr>
        <p:spPr>
          <a:xfrm>
            <a:off x="677600"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8" name="Shape 18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g number">
    <p:spTree>
      <p:nvGrpSpPr>
        <p:cNvPr id="1" name="Shape 44"/>
        <p:cNvGrpSpPr/>
        <p:nvPr/>
      </p:nvGrpSpPr>
      <p:grpSpPr>
        <a:xfrm>
          <a:off x="0" y="0"/>
          <a:ext cx="0" cy="0"/>
          <a:chOff x="0" y="0"/>
          <a:chExt cx="0" cy="0"/>
        </a:xfrm>
      </p:grpSpPr>
      <p:sp>
        <p:nvSpPr>
          <p:cNvPr id="5" name="Shape 68"/>
          <p:cNvSpPr/>
          <p:nvPr userDrawn="1"/>
        </p:nvSpPr>
        <p:spPr>
          <a:xfrm>
            <a:off x="0" y="2206325"/>
            <a:ext cx="9144000" cy="2936999"/>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69"/>
          <p:cNvSpPr txBox="1">
            <a:spLocks noGrp="1"/>
          </p:cNvSpPr>
          <p:nvPr>
            <p:ph type="title"/>
          </p:nvPr>
        </p:nvSpPr>
        <p:spPr>
          <a:xfrm>
            <a:off x="720000" y="308200"/>
            <a:ext cx="7704000" cy="5726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2800" b="0" i="0" u="none" strike="noStrike" cap="none">
                <a:solidFill>
                  <a:srgbClr val="3A9ED9"/>
                </a:solidFill>
                <a:latin typeface="Source Code Pro"/>
                <a:ea typeface="Source Code Pro"/>
                <a:cs typeface="Source Code Pro"/>
                <a:sym typeface="Source Code Pro"/>
              </a:rPr>
              <a:t>/ meet your team /</a:t>
            </a:r>
          </a:p>
        </p:txBody>
      </p:sp>
      <p:pic>
        <p:nvPicPr>
          <p:cNvPr id="7" name="Shape 70" descr="megan.png"/>
          <p:cNvPicPr preferRelativeResize="0"/>
          <p:nvPr userDrawn="1"/>
        </p:nvPicPr>
        <p:blipFill rotWithShape="1">
          <a:blip r:embed="rId2">
            <a:alphaModFix/>
          </a:blip>
          <a:srcRect/>
          <a:stretch/>
        </p:blipFill>
        <p:spPr>
          <a:xfrm>
            <a:off x="1520895" y="1427375"/>
            <a:ext cx="1544624" cy="1544624"/>
          </a:xfrm>
          <a:prstGeom prst="rect">
            <a:avLst/>
          </a:prstGeom>
          <a:noFill/>
          <a:ln>
            <a:noFill/>
          </a:ln>
        </p:spPr>
      </p:pic>
      <p:pic>
        <p:nvPicPr>
          <p:cNvPr id="8" name="Shape 71" descr="jennifer.png"/>
          <p:cNvPicPr preferRelativeResize="0"/>
          <p:nvPr userDrawn="1"/>
        </p:nvPicPr>
        <p:blipFill rotWithShape="1">
          <a:blip r:embed="rId3">
            <a:alphaModFix/>
          </a:blip>
          <a:srcRect/>
          <a:stretch/>
        </p:blipFill>
        <p:spPr>
          <a:xfrm>
            <a:off x="3799691" y="1427374"/>
            <a:ext cx="1544624" cy="1544624"/>
          </a:xfrm>
          <a:prstGeom prst="rect">
            <a:avLst/>
          </a:prstGeom>
          <a:noFill/>
          <a:ln>
            <a:noFill/>
          </a:ln>
        </p:spPr>
      </p:pic>
      <p:sp>
        <p:nvSpPr>
          <p:cNvPr id="9" name="Shape 72"/>
          <p:cNvSpPr txBox="1"/>
          <p:nvPr userDrawn="1"/>
        </p:nvSpPr>
        <p:spPr>
          <a:xfrm>
            <a:off x="133456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rgbClr val="FFFFFF"/>
              </a:buClr>
              <a:buSzPct val="25000"/>
              <a:buFont typeface="Arial"/>
              <a:buNone/>
            </a:pPr>
            <a:r>
              <a:rPr lang="en" sz="1200" b="0" i="0" u="none" strike="noStrike" cap="none">
                <a:solidFill>
                  <a:srgbClr val="FFFFFF"/>
                </a:solidFill>
                <a:latin typeface="Calibri"/>
                <a:ea typeface="Calibri"/>
                <a:cs typeface="Calibri"/>
                <a:sym typeface="Calibri"/>
              </a:rPr>
              <a:t>Title Here</a:t>
            </a:r>
          </a:p>
        </p:txBody>
      </p:sp>
      <p:sp>
        <p:nvSpPr>
          <p:cNvPr id="10" name="Shape 73"/>
          <p:cNvSpPr txBox="1"/>
          <p:nvPr userDrawn="1"/>
        </p:nvSpPr>
        <p:spPr>
          <a:xfrm>
            <a:off x="3455689" y="3288050"/>
            <a:ext cx="2232599"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3F3F3"/>
              </a:buClr>
              <a:buSzPct val="25000"/>
              <a:buFont typeface="Arial"/>
              <a:buNone/>
            </a:pPr>
            <a:r>
              <a:rPr lang="en" sz="1600" b="1" i="0" u="none" strike="noStrike" cap="none">
                <a:solidFill>
                  <a:srgbClr val="F3F3F3"/>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1" name="Shape 74" descr="megan.png"/>
          <p:cNvPicPr preferRelativeResize="0"/>
          <p:nvPr userDrawn="1"/>
        </p:nvPicPr>
        <p:blipFill rotWithShape="1">
          <a:blip r:embed="rId2">
            <a:alphaModFix/>
          </a:blip>
          <a:srcRect/>
          <a:stretch/>
        </p:blipFill>
        <p:spPr>
          <a:xfrm>
            <a:off x="6078496" y="1427375"/>
            <a:ext cx="1544624" cy="1544624"/>
          </a:xfrm>
          <a:prstGeom prst="rect">
            <a:avLst/>
          </a:prstGeom>
          <a:noFill/>
          <a:ln>
            <a:noFill/>
          </a:ln>
        </p:spPr>
      </p:pic>
      <p:sp>
        <p:nvSpPr>
          <p:cNvPr id="12" name="Shape 75"/>
          <p:cNvSpPr txBox="1"/>
          <p:nvPr userDrawn="1"/>
        </p:nvSpPr>
        <p:spPr>
          <a:xfrm>
            <a:off x="589211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3" name="Shape 76" descr="metis-mini.png"/>
          <p:cNvPicPr preferRelativeResize="0"/>
          <p:nvPr userDrawn="1"/>
        </p:nvPicPr>
        <p:blipFill rotWithShape="1">
          <a:blip r:embed="rId4">
            <a:alphaModFix amt="25000"/>
          </a:blip>
          <a:srcRect/>
          <a:stretch/>
        </p:blipFill>
        <p:spPr>
          <a:xfrm>
            <a:off x="4408787" y="4444075"/>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48"/>
        <p:cNvGrpSpPr/>
        <p:nvPr/>
      </p:nvGrpSpPr>
      <p:grpSpPr>
        <a:xfrm>
          <a:off x="0" y="0"/>
          <a:ext cx="0" cy="0"/>
          <a:chOff x="0" y="0"/>
          <a:chExt cx="0" cy="0"/>
        </a:xfrm>
      </p:grpSpPr>
      <p:sp>
        <p:nvSpPr>
          <p:cNvPr id="3"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7"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8"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9"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48"/>
        <p:cNvGrpSpPr/>
        <p:nvPr/>
      </p:nvGrpSpPr>
      <p:grpSpPr>
        <a:xfrm>
          <a:off x="0" y="0"/>
          <a:ext cx="0" cy="0"/>
          <a:chOff x="0" y="0"/>
          <a:chExt cx="0" cy="0"/>
        </a:xfrm>
      </p:grpSpPr>
      <p:sp>
        <p:nvSpPr>
          <p:cNvPr id="10" name="Shape 221"/>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 name="Shape 223"/>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3" name="Shape 224"/>
          <p:cNvSpPr/>
          <p:nvPr userDrawn="1"/>
        </p:nvSpPr>
        <p:spPr>
          <a:xfrm>
            <a:off x="0" y="0"/>
            <a:ext cx="3048000" cy="13239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14" name="Shape 22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15" name="Shape 22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
        <p:nvSpPr>
          <p:cNvPr id="16" name="Shape 227"/>
          <p:cNvSpPr txBox="1">
            <a:spLocks/>
          </p:cNvSpPr>
          <p:nvPr userDrawn="1"/>
        </p:nvSpPr>
        <p:spPr>
          <a:xfrm>
            <a:off x="2666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001</a:t>
            </a:r>
            <a:endParaRPr lang="en" sz="2400">
              <a:solidFill>
                <a:srgbClr val="FFFFFF"/>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48"/>
        <p:cNvGrpSpPr/>
        <p:nvPr/>
      </p:nvGrpSpPr>
      <p:grpSpPr>
        <a:xfrm>
          <a:off x="0" y="0"/>
          <a:ext cx="0" cy="0"/>
          <a:chOff x="0" y="0"/>
          <a:chExt cx="0" cy="0"/>
        </a:xfrm>
      </p:grpSpPr>
      <p:sp>
        <p:nvSpPr>
          <p:cNvPr id="9" name="Shape 232"/>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34"/>
          <p:cNvSpPr/>
          <p:nvPr userDrawn="1"/>
        </p:nvSpPr>
        <p:spPr>
          <a:xfrm>
            <a:off x="3048000" y="0"/>
            <a:ext cx="3048000" cy="13239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35"/>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3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37"/>
          <p:cNvSpPr txBox="1">
            <a:spLocks/>
          </p:cNvSpPr>
          <p:nvPr userDrawn="1"/>
        </p:nvSpPr>
        <p:spPr>
          <a:xfrm>
            <a:off x="33210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002</a:t>
            </a:r>
            <a:endParaRPr lang="en" sz="2400">
              <a:solidFill>
                <a:srgbClr val="FFFFFF"/>
              </a:solidFill>
              <a:latin typeface="Source Code Pro"/>
              <a:ea typeface="Source Code Pro"/>
              <a:cs typeface="Source Code Pro"/>
              <a:sym typeface="Source Code Pro"/>
            </a:endParaRPr>
          </a:p>
        </p:txBody>
      </p:sp>
      <p:sp>
        <p:nvSpPr>
          <p:cNvPr id="22" name="Shape 238"/>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48"/>
        <p:cNvGrpSpPr/>
        <p:nvPr/>
      </p:nvGrpSpPr>
      <p:grpSpPr>
        <a:xfrm>
          <a:off x="0" y="0"/>
          <a:ext cx="0" cy="0"/>
          <a:chOff x="0" y="0"/>
          <a:chExt cx="0" cy="0"/>
        </a:xfrm>
      </p:grpSpPr>
      <p:sp>
        <p:nvSpPr>
          <p:cNvPr id="9" name="Shape 243"/>
          <p:cNvSpPr/>
          <p:nvPr userDrawn="1"/>
        </p:nvSpPr>
        <p:spPr>
          <a:xfrm>
            <a:off x="6096000" y="0"/>
            <a:ext cx="3048000" cy="13239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45"/>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46"/>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47"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48"/>
          <p:cNvSpPr txBox="1">
            <a:spLocks/>
          </p:cNvSpPr>
          <p:nvPr userDrawn="1"/>
        </p:nvSpPr>
        <p:spPr>
          <a:xfrm>
            <a:off x="631990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003</a:t>
            </a:r>
            <a:endParaRPr lang="en" sz="2400">
              <a:solidFill>
                <a:srgbClr val="FFFFFF"/>
              </a:solidFill>
              <a:latin typeface="Source Code Pro"/>
              <a:ea typeface="Source Code Pro"/>
              <a:cs typeface="Source Code Pro"/>
              <a:sym typeface="Source Code Pro"/>
            </a:endParaRPr>
          </a:p>
        </p:txBody>
      </p:sp>
      <p:sp>
        <p:nvSpPr>
          <p:cNvPr id="22" name="Shape 249"/>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Shape 48"/>
        <p:cNvGrpSpPr/>
        <p:nvPr/>
      </p:nvGrpSpPr>
      <p:grpSpPr>
        <a:xfrm>
          <a:off x="0" y="0"/>
          <a:ext cx="0" cy="0"/>
          <a:chOff x="0" y="0"/>
          <a:chExt cx="0" cy="0"/>
        </a:xfrm>
      </p:grpSpPr>
      <p:sp>
        <p:nvSpPr>
          <p:cNvPr id="8" name="Shape 254"/>
          <p:cNvSpPr txBox="1">
            <a:spLocks noGrp="1"/>
          </p:cNvSpPr>
          <p:nvPr>
            <p:ph type="title"/>
          </p:nvPr>
        </p:nvSpPr>
        <p:spPr>
          <a:xfrm>
            <a:off x="464100" y="1644150"/>
            <a:ext cx="4900499" cy="12792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6000" b="1" i="0" u="none" strike="noStrike" cap="none">
                <a:solidFill>
                  <a:srgbClr val="ED0096"/>
                </a:solidFill>
                <a:latin typeface="Source Code Pro"/>
                <a:ea typeface="Source Code Pro"/>
                <a:cs typeface="Source Code Pro"/>
                <a:sym typeface="Source Code Pro"/>
              </a:rPr>
              <a:t>Questions?</a:t>
            </a:r>
          </a:p>
        </p:txBody>
      </p:sp>
      <p:pic>
        <p:nvPicPr>
          <p:cNvPr id="10" name="Shape 25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11" name="Shape 256"/>
          <p:cNvCxnSpPr/>
          <p:nvPr userDrawn="1"/>
        </p:nvCxnSpPr>
        <p:spPr>
          <a:xfrm>
            <a:off x="0" y="3082200"/>
            <a:ext cx="5322899" cy="0"/>
          </a:xfrm>
          <a:prstGeom prst="straightConnector1">
            <a:avLst/>
          </a:prstGeom>
          <a:noFill/>
          <a:ln w="19050" cap="flat" cmpd="sng">
            <a:solidFill>
              <a:srgbClr val="ED0096"/>
            </a:solidFill>
            <a:prstDash val="solid"/>
            <a:round/>
            <a:headEnd type="none" w="med" len="med"/>
            <a:tailEnd type="none" w="med" len="med"/>
          </a:ln>
        </p:spPr>
      </p:cxnSp>
      <p:sp>
        <p:nvSpPr>
          <p:cNvPr id="12" name="Shape 25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599" cy="2052599"/>
          </a:xfrm>
          <a:prstGeom prst="rect">
            <a:avLst/>
          </a:prstGeom>
          <a:noFill/>
          <a:ln>
            <a:noFill/>
          </a:ln>
        </p:spPr>
        <p:txBody>
          <a:bodyPr lIns="91425" tIns="91425" rIns="91425" bIns="91425" anchor="b" anchorCtr="0"/>
          <a:lstStyle>
            <a:lvl1pPr marL="0" marR="0" lvl="0" indent="0" algn="ctr" rtl="0">
              <a:lnSpc>
                <a:spcPct val="100000"/>
              </a:lnSpc>
              <a:spcBef>
                <a:spcPts val="0"/>
              </a:spcBef>
              <a:spcAft>
                <a:spcPts val="0"/>
              </a:spcAft>
              <a:buClr>
                <a:schemeClr val="dk1"/>
              </a:buClr>
              <a:buFont typeface="Arial"/>
              <a:buNone/>
              <a:defRPr sz="5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5200">
                <a:solidFill>
                  <a:schemeClr val="dk1"/>
                </a:solidFill>
              </a:defRPr>
            </a:lvl2pPr>
            <a:lvl3pPr lvl="2" indent="0" algn="ctr">
              <a:spcBef>
                <a:spcPts val="0"/>
              </a:spcBef>
              <a:buClr>
                <a:schemeClr val="dk1"/>
              </a:buClr>
              <a:buFont typeface="Arial"/>
              <a:buNone/>
              <a:defRPr sz="5200">
                <a:solidFill>
                  <a:schemeClr val="dk1"/>
                </a:solidFill>
              </a:defRPr>
            </a:lvl3pPr>
            <a:lvl4pPr lvl="3" indent="0" algn="ctr">
              <a:spcBef>
                <a:spcPts val="0"/>
              </a:spcBef>
              <a:buClr>
                <a:schemeClr val="dk1"/>
              </a:buClr>
              <a:buFont typeface="Arial"/>
              <a:buNone/>
              <a:defRPr sz="5200">
                <a:solidFill>
                  <a:schemeClr val="dk1"/>
                </a:solidFill>
              </a:defRPr>
            </a:lvl4pPr>
            <a:lvl5pPr lvl="4" indent="0" algn="ctr">
              <a:spcBef>
                <a:spcPts val="0"/>
              </a:spcBef>
              <a:buClr>
                <a:schemeClr val="dk1"/>
              </a:buClr>
              <a:buFont typeface="Arial"/>
              <a:buNone/>
              <a:defRPr sz="5200">
                <a:solidFill>
                  <a:schemeClr val="dk1"/>
                </a:solidFill>
              </a:defRPr>
            </a:lvl5pPr>
            <a:lvl6pPr lvl="5" indent="0" algn="ctr">
              <a:spcBef>
                <a:spcPts val="0"/>
              </a:spcBef>
              <a:buClr>
                <a:schemeClr val="dk1"/>
              </a:buClr>
              <a:buFont typeface="Arial"/>
              <a:buNone/>
              <a:defRPr sz="5200">
                <a:solidFill>
                  <a:schemeClr val="dk1"/>
                </a:solidFill>
              </a:defRPr>
            </a:lvl6pPr>
            <a:lvl7pPr lvl="6" indent="0" algn="ctr">
              <a:spcBef>
                <a:spcPts val="0"/>
              </a:spcBef>
              <a:buClr>
                <a:schemeClr val="dk1"/>
              </a:buClr>
              <a:buFont typeface="Arial"/>
              <a:buNone/>
              <a:defRPr sz="5200">
                <a:solidFill>
                  <a:schemeClr val="dk1"/>
                </a:solidFill>
              </a:defRPr>
            </a:lvl7pPr>
            <a:lvl8pPr lvl="7" indent="0" algn="ctr">
              <a:spcBef>
                <a:spcPts val="0"/>
              </a:spcBef>
              <a:buClr>
                <a:schemeClr val="dk1"/>
              </a:buClr>
              <a:buFont typeface="Arial"/>
              <a:buNone/>
              <a:defRPr sz="5200">
                <a:solidFill>
                  <a:schemeClr val="dk1"/>
                </a:solidFill>
              </a:defRPr>
            </a:lvl8pPr>
            <a:lvl9pPr lvl="8" indent="0" algn="ctr">
              <a:spcBef>
                <a:spcPts val="0"/>
              </a:spcBef>
              <a:buClr>
                <a:schemeClr val="dk1"/>
              </a:buClr>
              <a:buFont typeface="Arial"/>
              <a:buNone/>
              <a:defRPr sz="5200">
                <a:solidFill>
                  <a:schemeClr val="dk1"/>
                </a:solidFill>
              </a:defRPr>
            </a:lvl9pPr>
          </a:lstStyle>
          <a:p>
            <a:endParaRPr/>
          </a:p>
        </p:txBody>
      </p:sp>
      <p:sp>
        <p:nvSpPr>
          <p:cNvPr id="11" name="Shape 11"/>
          <p:cNvSpPr txBox="1">
            <a:spLocks noGrp="1"/>
          </p:cNvSpPr>
          <p:nvPr>
            <p:ph type="subTitle" idx="1"/>
          </p:nvPr>
        </p:nvSpPr>
        <p:spPr>
          <a:xfrm>
            <a:off x="311700" y="2834125"/>
            <a:ext cx="8520599" cy="792600"/>
          </a:xfrm>
          <a:prstGeom prst="rect">
            <a:avLst/>
          </a:prstGeom>
          <a:noFill/>
          <a:ln>
            <a:noFill/>
          </a:ln>
        </p:spPr>
        <p:txBody>
          <a:bodyPr lIns="91425" tIns="91425" rIns="91425" bIns="91425" anchor="t" anchorCtr="0"/>
          <a:lstStyle>
            <a:lvl1pPr marL="0" marR="0" lvl="0"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1pPr>
            <a:lvl2pPr marL="457200" marR="0" lvl="1"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2pPr>
            <a:lvl3pPr marL="914400" marR="0" lvl="2"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3pPr>
            <a:lvl4pPr marL="1371600" marR="0" lvl="3"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4pPr>
            <a:lvl5pPr marL="1828800" marR="0" lvl="4"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5pPr>
            <a:lvl6pPr marL="2286000" marR="0" lvl="5"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6pPr>
            <a:lvl7pPr marL="2743200" marR="0" lvl="6"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7pPr>
            <a:lvl8pPr marL="3200400" marR="0" lvl="7"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8pPr>
            <a:lvl9pPr marL="3657600" marR="0" lvl="8"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9pPr>
          </a:lstStyle>
          <a:p>
            <a:endParaRPr/>
          </a:p>
        </p:txBody>
      </p:sp>
      <p:sp>
        <p:nvSpPr>
          <p:cNvPr id="12" name="Shape 12"/>
          <p:cNvSpPr txBox="1">
            <a:spLocks noGrp="1"/>
          </p:cNvSpPr>
          <p:nvPr>
            <p:ph type="sldNum" idx="12"/>
          </p:nvPr>
        </p:nvSpPr>
        <p:spPr>
          <a:xfrm>
            <a:off x="8472457" y="4663216"/>
            <a:ext cx="548699" cy="3936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2587228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146199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248531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0092309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318278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723929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94733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2094171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6270274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4023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9541841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7118605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462619" y="399798"/>
            <a:ext cx="1230751" cy="1157248"/>
          </a:xfrm>
          <a:prstGeom prst="rect">
            <a:avLst/>
          </a:prstGeom>
        </p:spPr>
      </p:pic>
    </p:spTree>
    <p:extLst/>
  </p:cSld>
  <p:clrMapOvr>
    <a:masterClrMapping/>
  </p:clrMapOvr>
  <p:timing>
    <p:tnLst>
      <p:par>
        <p:cTn id="1" dur="indefinite" restart="never" nodeType="tmRoot"/>
      </p:par>
    </p:tnLst>
  </p:timing>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19394" y="225843"/>
            <a:ext cx="1406758" cy="1153858"/>
          </a:xfrm>
          <a:prstGeom prst="rect">
            <a:avLst/>
          </a:prstGeom>
          <a:noFill/>
          <a:extLst>
            <a:ext uri="{909E8E84-426E-40dd-AFC4-6F175D3DCCD1}">
              <a14:hiddenFill xmlns="" xmlns:a14="http://schemas.microsoft.com/office/drawing/2010/main">
                <a:solidFill>
                  <a:srgbClr val="FFFFFF"/>
                </a:solidFill>
              </a14:hiddenFill>
            </a:ext>
          </a:extLst>
        </p:spPr>
      </p:pic>
      <p:sp>
        <p:nvSpPr>
          <p:cNvPr id="30" name="Rectangle 29"/>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3"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58" name="Picture 57" descr="StackedISWhite.png"/>
          <p:cNvPicPr>
            <a:picLocks noChangeAspect="1"/>
          </p:cNvPicPr>
          <p:nvPr/>
        </p:nvPicPr>
        <p:blipFill>
          <a:blip r:embed="rId3"/>
          <a:stretch>
            <a:fillRect/>
          </a:stretch>
        </p:blipFill>
        <p:spPr>
          <a:xfrm>
            <a:off x="8294375" y="4805888"/>
            <a:ext cx="314741" cy="295944"/>
          </a:xfrm>
          <a:prstGeom prst="rect">
            <a:avLst/>
          </a:prstGeom>
        </p:spPr>
      </p:pic>
      <p:cxnSp>
        <p:nvCxnSpPr>
          <p:cNvPr id="74" name="Straight Connector 73"/>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203325"/>
            <a:ext cx="8228012" cy="3425825"/>
          </a:xfrm>
        </p:spPr>
        <p:txBody>
          <a:bodyPr/>
          <a:lstStyle>
            <a:lvl1pPr>
              <a:defRPr>
                <a:solidFill>
                  <a:srgbClr val="0071C5"/>
                </a:solidFill>
              </a:defRPr>
            </a:lvl1pPr>
            <a:lvl2pPr>
              <a:defRPr sz="1800"/>
            </a:lvl2pPr>
            <a:lvl3pPr>
              <a:defRPr sz="1800"/>
            </a:lvl3pPr>
            <a:lvl4pPr>
              <a:defRPr sz="1600"/>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4830763" y="943430"/>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
        <p:nvSpPr>
          <p:cNvPr id="10" name="Picture Placeholder 8"/>
          <p:cNvSpPr>
            <a:spLocks noGrp="1"/>
          </p:cNvSpPr>
          <p:nvPr>
            <p:ph type="pic" sz="quarter" idx="14"/>
          </p:nvPr>
        </p:nvSpPr>
        <p:spPr>
          <a:xfrm>
            <a:off x="4830763" y="2843897"/>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Tree>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4678363" y="1203324"/>
            <a:ext cx="4005264"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5613" y="1203325"/>
            <a:ext cx="8228013" cy="3425825"/>
          </a:xfrm>
        </p:spPr>
        <p:txBody>
          <a:bodyPr anchor="ctr" anchorCtr="0"/>
          <a:lstStyle>
            <a:lvl1pPr marL="190500" indent="-190500">
              <a:defRPr sz="3600" b="1" baseline="0">
                <a:solidFill>
                  <a:schemeClr val="accent2"/>
                </a:solidFill>
                <a:latin typeface="+mn-lt"/>
                <a:cs typeface="Intel Clear Light" panose="020B0404020203020204" pitchFamily="34" charset="0"/>
              </a:defRPr>
            </a:lvl1pPr>
            <a:lvl2pPr marL="417513" indent="-225425">
              <a:buFont typeface="Lucida Grande"/>
              <a:buChar char="−"/>
              <a:defRPr sz="1200" baseline="0">
                <a:latin typeface="+mn-lt"/>
                <a:cs typeface="Intel Clear" panose="020B0604020203020204" pitchFamily="34" charset="0"/>
              </a:defRPr>
            </a:lvl2pPr>
            <a:lvl3pPr marL="685800" indent="-228600">
              <a:defRPr sz="1200">
                <a:latin typeface="+mn-lt"/>
              </a:defRPr>
            </a:lvl3pPr>
            <a:lvl4pPr>
              <a:defRPr sz="1100">
                <a:latin typeface="+mn-lt"/>
              </a:defRPr>
            </a:lvl4pPr>
            <a:lvl5pPr>
              <a:defRPr sz="105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9144000" cy="4762834"/>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2574131"/>
            <a:ext cx="9144000" cy="2188703"/>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18" name="Content Placeholder 2"/>
          <p:cNvSpPr>
            <a:spLocks noGrp="1"/>
          </p:cNvSpPr>
          <p:nvPr>
            <p:ph sz="half" idx="1" hasCustomPrompt="1"/>
          </p:nvPr>
        </p:nvSpPr>
        <p:spPr>
          <a:xfrm>
            <a:off x="455613" y="1203325"/>
            <a:ext cx="4006851"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4678363" y="1203325"/>
            <a:ext cx="4005264"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009487" y="4975795"/>
            <a:ext cx="184666" cy="246221"/>
          </a:xfrm>
          <a:prstGeom prst="rect">
            <a:avLst/>
          </a:prstGeom>
          <a:noFill/>
        </p:spPr>
        <p:txBody>
          <a:bodyPr wrap="none" rtlCol="0">
            <a:spAutoFit/>
          </a:bodyPr>
          <a:lstStyle/>
          <a:p>
            <a:endParaRPr lang="en-US" sz="1000" dirty="0" smtClean="0">
              <a:solidFill>
                <a:schemeClr val="tx2"/>
              </a:solidFill>
              <a:cs typeface="Neo Sans Intel"/>
            </a:endParaRPr>
          </a:p>
        </p:txBody>
      </p:sp>
      <p:sp>
        <p:nvSpPr>
          <p:cNvPr id="10"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4678363" y="2"/>
            <a:ext cx="4465637" cy="4755616"/>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455613" y="308848"/>
            <a:ext cx="4006850" cy="868680"/>
          </a:xfrm>
        </p:spPr>
        <p:txBody>
          <a:bodyPr>
            <a:noAutofit/>
          </a:bodyPr>
          <a:lstStyle>
            <a:lvl1pPr>
              <a:defRPr sz="2800"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8725556" y="4795523"/>
            <a:ext cx="280395" cy="273844"/>
          </a:xfrm>
        </p:spPr>
        <p:txBody>
          <a:bodyPr/>
          <a:lstStyle/>
          <a:p>
            <a:fld id="{EE2556C5-CE8C-6547-B838-EA80C61A4AF7}" type="slidenum">
              <a:rPr lang="en-US" smtClean="0"/>
              <a:pPr/>
              <a:t>‹#›</a:t>
            </a:fld>
            <a:endParaRPr lang="en-US" dirty="0"/>
          </a:p>
        </p:txBody>
      </p:sp>
      <p:sp>
        <p:nvSpPr>
          <p:cNvPr id="17" name="Content Placeholder 2"/>
          <p:cNvSpPr>
            <a:spLocks noGrp="1"/>
          </p:cNvSpPr>
          <p:nvPr>
            <p:ph sz="half" idx="1" hasCustomPrompt="1"/>
          </p:nvPr>
        </p:nvSpPr>
        <p:spPr>
          <a:xfrm>
            <a:off x="455614" y="1325244"/>
            <a:ext cx="4006850"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Intel Clear"/>
                <a:cs typeface="Intel Clear"/>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5613" y="2234882"/>
            <a:ext cx="7772400" cy="1125140"/>
          </a:xfrm>
        </p:spPr>
        <p:txBody>
          <a:bodyPr anchor="t" anchorCtr="0">
            <a:noAutofit/>
          </a:bodyPr>
          <a:lstStyle>
            <a:lvl1pPr marL="0" indent="0">
              <a:buNone/>
              <a:defRPr sz="4000"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7" name="Title 1"/>
          <p:cNvSpPr>
            <a:spLocks noGrp="1"/>
          </p:cNvSpPr>
          <p:nvPr>
            <p:ph type="title" hasCustomPrompt="1"/>
          </p:nvPr>
        </p:nvSpPr>
        <p:spPr>
          <a:xfrm>
            <a:off x="455613" y="1101794"/>
            <a:ext cx="7772400" cy="1021556"/>
          </a:xfrm>
        </p:spPr>
        <p:txBody>
          <a:bodyPr anchor="b" anchorCtr="0">
            <a:noAutofit/>
          </a:bodyPr>
          <a:lstStyle>
            <a:lvl1pPr algn="l">
              <a:lnSpc>
                <a:spcPct val="80000"/>
              </a:lnSpc>
              <a:defRPr sz="4000"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260088"/>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455613" y="3348787"/>
            <a:ext cx="7772400" cy="1125140"/>
          </a:xfrm>
        </p:spPr>
        <p:txBody>
          <a:bodyPr anchor="t" anchorCtr="0">
            <a:noAutofit/>
          </a:bodyPr>
          <a:lstStyle>
            <a:lvl1pPr marL="0" indent="0">
              <a:buNone/>
              <a:defRPr sz="1600" b="0" baseline="0">
                <a:solidFill>
                  <a:srgbClr val="F3D54E"/>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1"/>
            <a:ext cx="9144000" cy="2574131"/>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extLst/>
  </p:cSld>
  <p:clrMapOvr>
    <a:masterClrMapping/>
  </p:clrMapOvr>
  <p:timing>
    <p:tnLst>
      <p:par>
        <p:cTn id="1" dur="indefinite" restart="never" nodeType="tmRoot"/>
      </p:par>
    </p:tnLst>
  </p:timing>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24200" y="4842365"/>
            <a:ext cx="2895600" cy="250826"/>
          </a:xfrm>
        </p:spPr>
        <p:txBody>
          <a:bodyPr/>
          <a:lstStyle/>
          <a:p>
            <a:endParaRPr lang="en-US" dirty="0"/>
          </a:p>
        </p:txBody>
      </p:sp>
      <p:sp>
        <p:nvSpPr>
          <p:cNvPr id="4" name="Slide Number Placeholder 3"/>
          <p:cNvSpPr>
            <a:spLocks noGrp="1"/>
          </p:cNvSpPr>
          <p:nvPr>
            <p:ph type="sldNum" sz="quarter" idx="12"/>
          </p:nvPr>
        </p:nvSpPr>
        <p:spPr>
          <a:xfrm>
            <a:off x="8743950" y="4779605"/>
            <a:ext cx="262001" cy="247085"/>
          </a:xfrm>
        </p:spPr>
        <p:txBody>
          <a:bodyPr/>
          <a:lstStyle/>
          <a:p>
            <a:fld id="{EE2556C5-CE8C-6547-B838-EA80C61A4AF7}" type="slidenum">
              <a:rPr lang="en-US" smtClean="0"/>
              <a:pPr/>
              <a:t>‹#›</a:t>
            </a:fld>
            <a:endParaRPr lang="en-US" dirty="0"/>
          </a:p>
        </p:txBody>
      </p:sp>
      <p:sp>
        <p:nvSpPr>
          <p:cNvPr id="5"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8"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9"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10"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9144000" cy="4768850"/>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71C5"/>
              </a:solidFill>
            </a:endParaRPr>
          </a:p>
        </p:txBody>
      </p:sp>
      <p:pic>
        <p:nvPicPr>
          <p:cNvPr id="5" name="Picture 4" descr="StackedISWhite.png"/>
          <p:cNvPicPr>
            <a:picLocks noChangeAspect="1"/>
          </p:cNvPicPr>
          <p:nvPr/>
        </p:nvPicPr>
        <p:blipFill>
          <a:blip r:embed="rId2"/>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5695EFAE-97D9-482A-8603-BDA4FE5A83E6}" type="datetimeFigureOut">
              <a:rPr lang="en-US" smtClean="0"/>
              <a:t>8/25/2017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5E00A-457A-4DC3-AA03-374ABBD35A5E}" type="slidenum">
              <a:rPr lang="en-US" smtClean="0"/>
              <a:t>‹#›</a:t>
            </a:fld>
            <a:endParaRPr lang="en-US"/>
          </a:p>
        </p:txBody>
      </p:sp>
    </p:spTree>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435983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21" Type="http://schemas.openxmlformats.org/officeDocument/2006/relationships/image" Target="../media/image4.png"/><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562381577"/>
      </p:ext>
    </p:extLst>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706" r:id="rId15"/>
  </p:sldLayoutIdLst>
  <p:timing>
    <p:tnLst>
      <p:par>
        <p:cTn id="1" dur="indefinite" restart="never" nodeType="tmRoot"/>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BDF01D69-A501-704B-80CB-1B3152437FD0}" type="slidenum">
              <a:rPr lang="en-US" smtClean="0"/>
              <a:t>‹#›</a:t>
            </a:fld>
            <a:endParaRPr lang="en-US"/>
          </a:p>
        </p:txBody>
      </p:sp>
    </p:spTree>
    <p:extLst>
      <p:ext uri="{BB962C8B-B14F-4D97-AF65-F5344CB8AC3E}">
        <p14:creationId xmlns:p14="http://schemas.microsoft.com/office/powerpoint/2010/main" val="135114168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455613" y="1203325"/>
            <a:ext cx="8228012" cy="3425825"/>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16" name="Picture 15" descr="StackedISWhite.png"/>
          <p:cNvPicPr>
            <a:picLocks noChangeAspect="1"/>
          </p:cNvPicPr>
          <p:nvPr/>
        </p:nvPicPr>
        <p:blipFill>
          <a:blip r:embed="rId21"/>
          <a:stretch>
            <a:fillRect/>
          </a:stretch>
        </p:blipFill>
        <p:spPr>
          <a:xfrm>
            <a:off x="8294375" y="4805888"/>
            <a:ext cx="314741" cy="295944"/>
          </a:xfrm>
          <a:prstGeom prst="rect">
            <a:avLst/>
          </a:prstGeom>
        </p:spPr>
      </p:pic>
      <p:cxnSp>
        <p:nvCxnSpPr>
          <p:cNvPr id="37" name="Straight Connector 36"/>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42334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600" kern="1200" baseline="0">
          <a:solidFill>
            <a:srgbClr val="003C71"/>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rgbClr val="003C71"/>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400" kern="1200">
          <a:solidFill>
            <a:srgbClr val="003C71"/>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rgbClr val="003C71"/>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5.xml"/></Relationships>
</file>

<file path=ppt/slides/_rels/slide2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22.xml"/><Relationship Id="rId16" Type="http://schemas.openxmlformats.org/officeDocument/2006/relationships/image" Target="../media/image31.png"/><Relationship Id="rId1" Type="http://schemas.openxmlformats.org/officeDocument/2006/relationships/slideLayout" Target="../slideLayouts/slideLayout45.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5.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45.xml"/><Relationship Id="rId5" Type="http://schemas.openxmlformats.org/officeDocument/2006/relationships/image" Target="../media/image12.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45.xml"/></Relationships>
</file>

<file path=ppt/slides/_rels/slide2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8.xml"/><Relationship Id="rId1" Type="http://schemas.openxmlformats.org/officeDocument/2006/relationships/slideLayout" Target="../slideLayouts/slideLayout45.xml"/><Relationship Id="rId4" Type="http://schemas.openxmlformats.org/officeDocument/2006/relationships/image" Target="../media/image110.png"/></Relationships>
</file>

<file path=ppt/slides/_rels/slide3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9.xml"/><Relationship Id="rId1" Type="http://schemas.openxmlformats.org/officeDocument/2006/relationships/slideLayout" Target="../slideLayouts/slideLayout45.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45.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444687" y="2420807"/>
            <a:ext cx="8212886" cy="1102519"/>
          </a:xfrm>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US" sz="5000" b="0" i="0" u="none" strike="noStrike" cap="none" dirty="0" smtClean="0">
                <a:solidFill>
                  <a:srgbClr val="FFFFFF"/>
                </a:solidFill>
                <a:latin typeface="Avenir Book" charset="0"/>
                <a:ea typeface="Avenir Book" charset="0"/>
                <a:cs typeface="Avenir Book" charset="0"/>
                <a:sym typeface="Source Code Pro"/>
              </a:rPr>
              <a:t>Details of Training</a:t>
            </a:r>
            <a:br>
              <a:rPr lang="en-US" sz="5000" b="0" i="0" u="none" strike="noStrike" cap="none" dirty="0" smtClean="0">
                <a:solidFill>
                  <a:srgbClr val="FFFFFF"/>
                </a:solidFill>
                <a:latin typeface="Avenir Book" charset="0"/>
                <a:ea typeface="Avenir Book" charset="0"/>
                <a:cs typeface="Avenir Book" charset="0"/>
                <a:sym typeface="Source Code Pro"/>
              </a:rPr>
            </a:br>
            <a:r>
              <a:rPr lang="en-US" sz="5000" b="0" i="0" u="none" strike="noStrike" cap="none" dirty="0" smtClean="0">
                <a:solidFill>
                  <a:srgbClr val="FFFFFF"/>
                </a:solidFill>
                <a:latin typeface="Avenir Book" charset="0"/>
                <a:ea typeface="Avenir Book" charset="0"/>
                <a:cs typeface="Avenir Book" charset="0"/>
                <a:sym typeface="Source Code Pro"/>
              </a:rPr>
              <a:t>Neural Nets</a:t>
            </a:r>
            <a:endParaRPr lang="en" sz="5000" b="0" i="0" u="none" strike="noStrike" cap="none" dirty="0">
              <a:solidFill>
                <a:srgbClr val="FFFFFF"/>
              </a:solidFill>
              <a:latin typeface="Avenir Book" charset="0"/>
              <a:ea typeface="Avenir Book" charset="0"/>
              <a:cs typeface="Avenir Book" charset="0"/>
              <a:sym typeface="Source Code Pro"/>
            </a:endParaRPr>
          </a:p>
        </p:txBody>
      </p:sp>
      <p:cxnSp>
        <p:nvCxnSpPr>
          <p:cNvPr id="56" name="Shape 56"/>
          <p:cNvCxnSpPr/>
          <p:nvPr/>
        </p:nvCxnSpPr>
        <p:spPr>
          <a:xfrm>
            <a:off x="609600" y="2679200"/>
            <a:ext cx="6264600" cy="0"/>
          </a:xfrm>
          <a:prstGeom prst="straightConnector1">
            <a:avLst/>
          </a:prstGeom>
          <a:noFill/>
          <a:ln w="19050" cap="flat" cmpd="sng">
            <a:solidFill>
              <a:srgbClr val="3A9ED9"/>
            </a:solidFill>
            <a:prstDash val="solid"/>
            <a:round/>
            <a:headEnd type="none" w="med" len="med"/>
            <a:tailEnd type="none" w="med" len="med"/>
          </a:ln>
        </p:spPr>
      </p:cxnSp>
    </p:spTree>
    <p:extLst>
      <p:ext uri="{BB962C8B-B14F-4D97-AF65-F5344CB8AC3E}">
        <p14:creationId xmlns:p14="http://schemas.microsoft.com/office/powerpoint/2010/main" val="14535023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1500" dirty="0" smtClean="0"/>
              <a:t>This presentation is for informational purposes only. INTEL MAKES NO WARRANTIES, EXPRESS OR IMPLIED, IN THIS SUMMARY. </a:t>
            </a:r>
          </a:p>
          <a:p>
            <a:r>
              <a:rPr lang="en-US" sz="1500" dirty="0" smtClean="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1500" dirty="0" smtClean="0">
                <a:hlinkClick r:id="rId2"/>
              </a:rPr>
              <a:t>intel.com</a:t>
            </a:r>
            <a:r>
              <a:rPr lang="en-US" sz="1500" dirty="0" smtClean="0"/>
              <a:t>. </a:t>
            </a:r>
          </a:p>
          <a:p>
            <a:r>
              <a:rPr lang="en-US" sz="1500" dirty="0" smtClean="0"/>
              <a:t>This sample source code is released under the </a:t>
            </a:r>
            <a:r>
              <a:rPr lang="en-US" sz="1500" dirty="0" smtClean="0">
                <a:hlinkClick r:id="rId3"/>
              </a:rPr>
              <a:t>Intel Sample Source Code License Agreement</a:t>
            </a:r>
            <a:r>
              <a:rPr lang="en-US" sz="1500" dirty="0" smtClean="0"/>
              <a:t>. </a:t>
            </a:r>
          </a:p>
          <a:p>
            <a:r>
              <a:rPr lang="en-US" sz="1500" dirty="0" smtClean="0"/>
              <a:t>Intel and the Intel logo are trademarks of Intel Corporation in the U.S. and/or other countries. </a:t>
            </a:r>
          </a:p>
          <a:p>
            <a:r>
              <a:rPr lang="en-US" sz="1500" dirty="0" smtClean="0"/>
              <a:t>*Other names and brands may be claimed as the property of others. </a:t>
            </a:r>
          </a:p>
          <a:p>
            <a:r>
              <a:rPr lang="en-US" sz="1500" dirty="0" smtClean="0"/>
              <a:t>Copyright © 2017, Intel Corporation. All rights reserved. </a:t>
            </a:r>
            <a:endParaRPr lang="en-US" sz="1500" dirty="0"/>
          </a:p>
        </p:txBody>
      </p:sp>
    </p:spTree>
    <p:extLst>
      <p:ext uri="{BB962C8B-B14F-4D97-AF65-F5344CB8AC3E}">
        <p14:creationId xmlns:p14="http://schemas.microsoft.com/office/powerpoint/2010/main" val="835114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What next?</a:t>
            </a:r>
            <a:endParaRPr lang="en-US" dirty="0">
              <a:latin typeface="Avenir Book" charset="0"/>
              <a:ea typeface="Avenir Book" charset="0"/>
              <a:cs typeface="Avenir Book" charset="0"/>
            </a:endParaRPr>
          </a:p>
        </p:txBody>
      </p:sp>
      <p:sp>
        <p:nvSpPr>
          <p:cNvPr id="75" name="Rectangle 74"/>
          <p:cNvSpPr/>
          <p:nvPr/>
        </p:nvSpPr>
        <p:spPr>
          <a:xfrm>
            <a:off x="398352" y="1227244"/>
            <a:ext cx="8192764" cy="1785104"/>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Given an example (or group of examples), we know how to compute the derivative for each weight.</a:t>
            </a:r>
          </a:p>
          <a:p>
            <a:pPr marL="457200" lvl="0" indent="-457200">
              <a:buFont typeface="Arial" charset="0"/>
              <a:buChar char="•"/>
            </a:pPr>
            <a:r>
              <a:rPr lang="en-US" sz="2200" dirty="0" smtClean="0">
                <a:latin typeface="Avenir Book" charset="0"/>
                <a:ea typeface="Avenir Book" charset="0"/>
                <a:cs typeface="Avenir Book" charset="0"/>
              </a:rPr>
              <a:t>How exactly do we update the weights?</a:t>
            </a:r>
          </a:p>
          <a:p>
            <a:pPr marL="457200" lvl="4" indent="-457200">
              <a:buFont typeface="Arial" charset="0"/>
              <a:buChar char="•"/>
            </a:pPr>
            <a:r>
              <a:rPr lang="en-US" sz="2200" dirty="0" smtClean="0">
                <a:latin typeface="Avenir Book" charset="0"/>
                <a:ea typeface="Avenir Book" charset="0"/>
                <a:cs typeface="Avenir Book" charset="0"/>
              </a:rPr>
              <a:t>How often?  (after each training data point? after all the training data points?)</a:t>
            </a:r>
          </a:p>
        </p:txBody>
      </p:sp>
    </p:spTree>
    <p:extLst>
      <p:ext uri="{BB962C8B-B14F-4D97-AF65-F5344CB8AC3E}">
        <p14:creationId xmlns:p14="http://schemas.microsoft.com/office/powerpoint/2010/main" val="5334032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What next? – Gradient Descent</a:t>
            </a:r>
            <a:endParaRPr lang="en-US" dirty="0">
              <a:latin typeface="Avenir Book" charset="0"/>
              <a:ea typeface="Avenir Book" charset="0"/>
              <a:cs typeface="Avenir Book" charset="0"/>
            </a:endParaRPr>
          </a:p>
        </p:txBody>
      </p:sp>
      <p:sp>
        <p:nvSpPr>
          <p:cNvPr id="75" name="Rectangle 74"/>
          <p:cNvSpPr/>
          <p:nvPr/>
        </p:nvSpPr>
        <p:spPr>
          <a:xfrm>
            <a:off x="398352" y="1227244"/>
            <a:ext cx="8192764" cy="2462213"/>
          </a:xfrm>
          <a:prstGeom prst="rect">
            <a:avLst/>
          </a:prstGeom>
        </p:spPr>
        <p:txBody>
          <a:bodyPr wrap="square">
            <a:spAutoFit/>
          </a:bodyPr>
          <a:lstStyle/>
          <a:p>
            <a:pPr marL="457200" lvl="0" indent="-457200">
              <a:buFont typeface="Arial" charset="0"/>
              <a:buChar char="•"/>
            </a:pPr>
            <a:r>
              <a:rPr lang="en-US" sz="2200" dirty="0" err="1" smtClean="0">
                <a:latin typeface="Avenir Book" charset="0"/>
                <a:ea typeface="Avenir Book" charset="0"/>
                <a:cs typeface="Avenir Book" charset="0"/>
              </a:rPr>
              <a:t>W_new</a:t>
            </a:r>
            <a:r>
              <a:rPr lang="en-US" sz="2200" dirty="0" smtClean="0">
                <a:latin typeface="Avenir Book" charset="0"/>
                <a:ea typeface="Avenir Book" charset="0"/>
                <a:cs typeface="Avenir Book" charset="0"/>
              </a:rPr>
              <a:t> = </a:t>
            </a:r>
            <a:r>
              <a:rPr lang="en-US" sz="2200" dirty="0" err="1" smtClean="0">
                <a:latin typeface="Avenir Book" charset="0"/>
                <a:ea typeface="Avenir Book" charset="0"/>
                <a:cs typeface="Avenir Book" charset="0"/>
              </a:rPr>
              <a:t>W_old</a:t>
            </a:r>
            <a:r>
              <a:rPr lang="en-US" sz="2200" dirty="0" smtClean="0">
                <a:latin typeface="Avenir Book" charset="0"/>
                <a:ea typeface="Avenir Book" charset="0"/>
                <a:cs typeface="Avenir Book" charset="0"/>
              </a:rPr>
              <a:t> - </a:t>
            </a:r>
            <a:r>
              <a:rPr lang="en-US" sz="2200" dirty="0" err="1" smtClean="0">
                <a:latin typeface="Avenir Book" charset="0"/>
                <a:ea typeface="Avenir Book" charset="0"/>
                <a:cs typeface="Avenir Book" charset="0"/>
              </a:rPr>
              <a:t>lr</a:t>
            </a:r>
            <a:r>
              <a:rPr lang="en-US" sz="2200" dirty="0" smtClean="0">
                <a:latin typeface="Avenir Book" charset="0"/>
                <a:ea typeface="Avenir Book" charset="0"/>
                <a:cs typeface="Avenir Book" charset="0"/>
              </a:rPr>
              <a:t> * derivative</a:t>
            </a:r>
          </a:p>
          <a:p>
            <a:pPr marL="457200" lvl="0" indent="-457200">
              <a:buFont typeface="Arial" charset="0"/>
              <a:buChar char="•"/>
            </a:pPr>
            <a:endParaRPr lang="en-US" sz="2200" dirty="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Classical approach – get derivative for entire data set, then take a step in that direction</a:t>
            </a:r>
          </a:p>
          <a:p>
            <a:pPr marL="457200" lvl="0" indent="-457200">
              <a:buFont typeface="Arial" charset="0"/>
              <a:buChar char="•"/>
            </a:pPr>
            <a:endParaRPr lang="en-US" sz="2200" dirty="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Pros: Each step is informed by all the data</a:t>
            </a:r>
          </a:p>
          <a:p>
            <a:pPr marL="457200" lvl="0" indent="-457200">
              <a:buFont typeface="Arial" charset="0"/>
              <a:buChar char="•"/>
            </a:pPr>
            <a:r>
              <a:rPr lang="en-US" sz="2200" dirty="0" smtClean="0">
                <a:latin typeface="Avenir Book" charset="0"/>
                <a:ea typeface="Avenir Book" charset="0"/>
                <a:cs typeface="Avenir Book" charset="0"/>
              </a:rPr>
              <a:t>Cons: Very slow, especially as data gets big</a:t>
            </a:r>
          </a:p>
        </p:txBody>
      </p:sp>
    </p:spTree>
    <p:extLst>
      <p:ext uri="{BB962C8B-B14F-4D97-AF65-F5344CB8AC3E}">
        <p14:creationId xmlns:p14="http://schemas.microsoft.com/office/powerpoint/2010/main" val="6555014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Another approach: Stochastic Gradient Descent</a:t>
            </a:r>
            <a:endParaRPr lang="en-US" dirty="0">
              <a:latin typeface="Avenir Book" charset="0"/>
              <a:ea typeface="Avenir Book" charset="0"/>
              <a:cs typeface="Avenir Book" charset="0"/>
            </a:endParaRPr>
          </a:p>
        </p:txBody>
      </p:sp>
      <p:sp>
        <p:nvSpPr>
          <p:cNvPr id="75" name="Rectangle 74"/>
          <p:cNvSpPr/>
          <p:nvPr/>
        </p:nvSpPr>
        <p:spPr>
          <a:xfrm>
            <a:off x="398352" y="1227244"/>
            <a:ext cx="8192764" cy="2123658"/>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Get derivative for just one point, and take a step in that direction</a:t>
            </a:r>
          </a:p>
          <a:p>
            <a:pPr marL="457200" lvl="0" indent="-457200">
              <a:buFont typeface="Arial" charset="0"/>
              <a:buChar char="•"/>
            </a:pPr>
            <a:r>
              <a:rPr lang="en-US" sz="2200" dirty="0" smtClean="0">
                <a:latin typeface="Avenir Book" charset="0"/>
                <a:ea typeface="Avenir Book" charset="0"/>
                <a:cs typeface="Avenir Book" charset="0"/>
              </a:rPr>
              <a:t>Steps are “less informed” but you take more of them</a:t>
            </a:r>
          </a:p>
          <a:p>
            <a:pPr marL="457200" lvl="0" indent="-457200">
              <a:buFont typeface="Arial" charset="0"/>
              <a:buChar char="•"/>
            </a:pPr>
            <a:r>
              <a:rPr lang="en-US" sz="2200" dirty="0" smtClean="0">
                <a:latin typeface="Avenir Book" charset="0"/>
                <a:ea typeface="Avenir Book" charset="0"/>
                <a:cs typeface="Avenir Book" charset="0"/>
              </a:rPr>
              <a:t>Should “balance out”</a:t>
            </a:r>
          </a:p>
          <a:p>
            <a:pPr marL="457200" lvl="0" indent="-457200">
              <a:buFont typeface="Arial" charset="0"/>
              <a:buChar char="•"/>
            </a:pPr>
            <a:r>
              <a:rPr lang="en-US" sz="2200" dirty="0" smtClean="0">
                <a:latin typeface="Avenir Book" charset="0"/>
                <a:ea typeface="Avenir Book" charset="0"/>
                <a:cs typeface="Avenir Book" charset="0"/>
              </a:rPr>
              <a:t>Probably want a smaller step size</a:t>
            </a:r>
          </a:p>
          <a:p>
            <a:pPr marL="457200" lvl="0" indent="-457200">
              <a:buFont typeface="Arial" charset="0"/>
              <a:buChar char="•"/>
            </a:pPr>
            <a:r>
              <a:rPr lang="en-US" sz="2200" dirty="0" smtClean="0">
                <a:latin typeface="Avenir Book" charset="0"/>
                <a:ea typeface="Avenir Book" charset="0"/>
                <a:cs typeface="Avenir Book" charset="0"/>
              </a:rPr>
              <a:t>Also helps “regularize”</a:t>
            </a:r>
          </a:p>
        </p:txBody>
      </p:sp>
    </p:spTree>
    <p:extLst>
      <p:ext uri="{BB962C8B-B14F-4D97-AF65-F5344CB8AC3E}">
        <p14:creationId xmlns:p14="http://schemas.microsoft.com/office/powerpoint/2010/main" val="7369204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Compromise approach: Mini-batch</a:t>
            </a:r>
            <a:endParaRPr lang="en-US" dirty="0">
              <a:latin typeface="Avenir Book" charset="0"/>
              <a:ea typeface="Avenir Book" charset="0"/>
              <a:cs typeface="Avenir Book" charset="0"/>
            </a:endParaRPr>
          </a:p>
        </p:txBody>
      </p:sp>
      <p:sp>
        <p:nvSpPr>
          <p:cNvPr id="75" name="Rectangle 74"/>
          <p:cNvSpPr/>
          <p:nvPr/>
        </p:nvSpPr>
        <p:spPr>
          <a:xfrm>
            <a:off x="398352" y="1227244"/>
            <a:ext cx="8192764" cy="1446550"/>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Get derivative for a ”small” set of points, then take a step in that direction</a:t>
            </a:r>
          </a:p>
          <a:p>
            <a:pPr marL="457200" lvl="0" indent="-457200">
              <a:buFont typeface="Arial" charset="0"/>
              <a:buChar char="•"/>
            </a:pPr>
            <a:r>
              <a:rPr lang="en-US" sz="2200" dirty="0" smtClean="0">
                <a:latin typeface="Avenir Book" charset="0"/>
                <a:ea typeface="Avenir Book" charset="0"/>
                <a:cs typeface="Avenir Book" charset="0"/>
              </a:rPr>
              <a:t>Typical mini batch sizes are 16, 32</a:t>
            </a:r>
          </a:p>
          <a:p>
            <a:pPr marL="457200" lvl="0" indent="-457200">
              <a:buFont typeface="Arial" charset="0"/>
              <a:buChar char="•"/>
            </a:pPr>
            <a:r>
              <a:rPr lang="en-US" sz="2200" dirty="0" smtClean="0">
                <a:latin typeface="Avenir Book" charset="0"/>
                <a:ea typeface="Avenir Book" charset="0"/>
                <a:cs typeface="Avenir Book" charset="0"/>
              </a:rPr>
              <a:t>Strikes a balance between two extremes</a:t>
            </a:r>
          </a:p>
        </p:txBody>
      </p:sp>
    </p:spTree>
    <p:extLst>
      <p:ext uri="{BB962C8B-B14F-4D97-AF65-F5344CB8AC3E}">
        <p14:creationId xmlns:p14="http://schemas.microsoft.com/office/powerpoint/2010/main" val="18909297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Comparison of Batching Approaches</a:t>
            </a:r>
            <a:endParaRPr lang="en-US" dirty="0">
              <a:latin typeface="Avenir Book" charset="0"/>
              <a:ea typeface="Avenir Book" charset="0"/>
              <a:cs typeface="Avenir Book" charset="0"/>
            </a:endParaRPr>
          </a:p>
        </p:txBody>
      </p:sp>
      <p:pic>
        <p:nvPicPr>
          <p:cNvPr id="107" name="Picture 106"/>
          <p:cNvPicPr>
            <a:picLocks noChangeAspect="1"/>
          </p:cNvPicPr>
          <p:nvPr/>
        </p:nvPicPr>
        <p:blipFill>
          <a:blip r:embed="rId3"/>
          <a:stretch>
            <a:fillRect/>
          </a:stretch>
        </p:blipFill>
        <p:spPr>
          <a:xfrm>
            <a:off x="574429" y="1064639"/>
            <a:ext cx="7713785" cy="3671509"/>
          </a:xfrm>
          <a:prstGeom prst="rect">
            <a:avLst/>
          </a:prstGeom>
        </p:spPr>
      </p:pic>
    </p:spTree>
    <p:extLst>
      <p:ext uri="{BB962C8B-B14F-4D97-AF65-F5344CB8AC3E}">
        <p14:creationId xmlns:p14="http://schemas.microsoft.com/office/powerpoint/2010/main" val="4586462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Batching Terminology</a:t>
            </a:r>
            <a:endParaRPr lang="en-US" dirty="0">
              <a:latin typeface="Avenir Book" charset="0"/>
              <a:ea typeface="Avenir Book" charset="0"/>
              <a:cs typeface="Avenir Book" charset="0"/>
            </a:endParaRPr>
          </a:p>
        </p:txBody>
      </p:sp>
      <p:sp>
        <p:nvSpPr>
          <p:cNvPr id="74" name="Rectangle 73"/>
          <p:cNvSpPr/>
          <p:nvPr/>
        </p:nvSpPr>
        <p:spPr>
          <a:xfrm>
            <a:off x="398352" y="1227244"/>
            <a:ext cx="8192764" cy="2462213"/>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Full-batch: Use entire data set to compute gradient before updating</a:t>
            </a:r>
          </a:p>
          <a:p>
            <a:pPr marL="457200" lvl="0" indent="-457200">
              <a:buFont typeface="Arial" charset="0"/>
              <a:buChar char="•"/>
            </a:pPr>
            <a:r>
              <a:rPr lang="en-US" sz="2200" dirty="0" smtClean="0">
                <a:latin typeface="Avenir Book" charset="0"/>
                <a:ea typeface="Avenir Book" charset="0"/>
                <a:cs typeface="Avenir Book" charset="0"/>
              </a:rPr>
              <a:t>Mini-batch: Use a smaller portion of data (but more than single example) to compute gradient before updating</a:t>
            </a:r>
          </a:p>
          <a:p>
            <a:pPr marL="457200" lvl="0" indent="-457200">
              <a:buFont typeface="Arial" charset="0"/>
              <a:buChar char="•"/>
            </a:pPr>
            <a:r>
              <a:rPr lang="en-US" sz="2200" dirty="0" smtClean="0">
                <a:latin typeface="Avenir Book" charset="0"/>
                <a:ea typeface="Avenir Book" charset="0"/>
                <a:cs typeface="Avenir Book" charset="0"/>
              </a:rPr>
              <a:t>Stochastic Gradient Descent (SGD): Use a single example to compute gradient before updating (though sometimes people use SGD to refer to </a:t>
            </a:r>
            <a:r>
              <a:rPr lang="en-US" sz="2200" dirty="0" err="1" smtClean="0">
                <a:latin typeface="Avenir Book" charset="0"/>
                <a:ea typeface="Avenir Book" charset="0"/>
                <a:cs typeface="Avenir Book" charset="0"/>
              </a:rPr>
              <a:t>minibatch</a:t>
            </a:r>
            <a:r>
              <a:rPr lang="en-US" sz="2200" dirty="0" smtClean="0">
                <a:latin typeface="Avenir Book" charset="0"/>
                <a:ea typeface="Avenir Book" charset="0"/>
                <a:cs typeface="Avenir Book" charset="0"/>
              </a:rPr>
              <a:t>, also)</a:t>
            </a:r>
          </a:p>
        </p:txBody>
      </p:sp>
    </p:spTree>
    <p:extLst>
      <p:ext uri="{BB962C8B-B14F-4D97-AF65-F5344CB8AC3E}">
        <p14:creationId xmlns:p14="http://schemas.microsoft.com/office/powerpoint/2010/main" val="5817630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Batching Terminology</a:t>
            </a:r>
            <a:endParaRPr lang="en-US" dirty="0">
              <a:latin typeface="Avenir Book" charset="0"/>
              <a:ea typeface="Avenir Book" charset="0"/>
              <a:cs typeface="Avenir Book" charset="0"/>
            </a:endParaRPr>
          </a:p>
        </p:txBody>
      </p:sp>
      <p:sp>
        <p:nvSpPr>
          <p:cNvPr id="74" name="Rectangle 73"/>
          <p:cNvSpPr/>
          <p:nvPr/>
        </p:nvSpPr>
        <p:spPr>
          <a:xfrm>
            <a:off x="398352" y="1227244"/>
            <a:ext cx="8192764" cy="3477875"/>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An </a:t>
            </a:r>
            <a:r>
              <a:rPr lang="en-US" sz="2200" dirty="0" smtClean="0">
                <a:solidFill>
                  <a:schemeClr val="tx2">
                    <a:lumMod val="60000"/>
                    <a:lumOff val="40000"/>
                  </a:schemeClr>
                </a:solidFill>
                <a:latin typeface="Avenir Book" charset="0"/>
                <a:ea typeface="Avenir Book" charset="0"/>
                <a:cs typeface="Avenir Book" charset="0"/>
              </a:rPr>
              <a:t>Epoch</a:t>
            </a:r>
            <a:r>
              <a:rPr lang="en-US" sz="2200" dirty="0" smtClean="0">
                <a:latin typeface="Avenir Book" charset="0"/>
                <a:ea typeface="Avenir Book" charset="0"/>
                <a:cs typeface="Avenir Book" charset="0"/>
              </a:rPr>
              <a:t> refers to a single pass through all of the training data.</a:t>
            </a:r>
          </a:p>
          <a:p>
            <a:pPr marL="457200" lvl="0" indent="-457200">
              <a:buFont typeface="Arial" charset="0"/>
              <a:buChar char="•"/>
            </a:pPr>
            <a:r>
              <a:rPr lang="en-US" sz="2200" dirty="0" smtClean="0">
                <a:latin typeface="Avenir Book" charset="0"/>
                <a:ea typeface="Avenir Book" charset="0"/>
                <a:cs typeface="Avenir Book" charset="0"/>
              </a:rPr>
              <a:t>In full batch gradient descent, there would be one step taken per epoch.</a:t>
            </a:r>
          </a:p>
          <a:p>
            <a:pPr marL="457200" lvl="0" indent="-457200">
              <a:buFont typeface="Arial" charset="0"/>
              <a:buChar char="•"/>
            </a:pPr>
            <a:r>
              <a:rPr lang="en-US" sz="2200" dirty="0" smtClean="0">
                <a:latin typeface="Avenir Book" charset="0"/>
                <a:ea typeface="Avenir Book" charset="0"/>
                <a:cs typeface="Avenir Book" charset="0"/>
              </a:rPr>
              <a:t>In SGD / Online learning, there would be n steps taken per epoch (n = training set size)</a:t>
            </a:r>
          </a:p>
          <a:p>
            <a:pPr marL="457200" lvl="0" indent="-457200">
              <a:buFont typeface="Arial" charset="0"/>
              <a:buChar char="•"/>
            </a:pPr>
            <a:r>
              <a:rPr lang="en-US" sz="2200" dirty="0" smtClean="0">
                <a:latin typeface="Avenir Book" charset="0"/>
                <a:ea typeface="Avenir Book" charset="0"/>
                <a:cs typeface="Avenir Book" charset="0"/>
              </a:rPr>
              <a:t>In </a:t>
            </a:r>
            <a:r>
              <a:rPr lang="en-US" sz="2200" dirty="0" err="1" smtClean="0">
                <a:latin typeface="Avenir Book" charset="0"/>
                <a:ea typeface="Avenir Book" charset="0"/>
                <a:cs typeface="Avenir Book" charset="0"/>
              </a:rPr>
              <a:t>Minibatch</a:t>
            </a:r>
            <a:r>
              <a:rPr lang="en-US" sz="2200" dirty="0" smtClean="0">
                <a:latin typeface="Avenir Book" charset="0"/>
                <a:ea typeface="Avenir Book" charset="0"/>
                <a:cs typeface="Avenir Book" charset="0"/>
              </a:rPr>
              <a:t> there would be (n/batch size) steps taken per epoch</a:t>
            </a:r>
          </a:p>
          <a:p>
            <a:pPr marL="457200" lvl="0" indent="-457200">
              <a:buFont typeface="Arial" charset="0"/>
              <a:buChar char="•"/>
            </a:pPr>
            <a:r>
              <a:rPr lang="en-US" sz="2200" dirty="0" smtClean="0">
                <a:latin typeface="Avenir Book" charset="0"/>
                <a:ea typeface="Avenir Book" charset="0"/>
                <a:cs typeface="Avenir Book" charset="0"/>
              </a:rPr>
              <a:t>When training, it is common to refer to the number of epochs needed for the model to be “trained”.</a:t>
            </a:r>
          </a:p>
        </p:txBody>
      </p:sp>
    </p:spTree>
    <p:extLst>
      <p:ext uri="{BB962C8B-B14F-4D97-AF65-F5344CB8AC3E}">
        <p14:creationId xmlns:p14="http://schemas.microsoft.com/office/powerpoint/2010/main" val="9401887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Note on Data Shuffling</a:t>
            </a:r>
            <a:endParaRPr lang="en-US" dirty="0">
              <a:latin typeface="Avenir Book" charset="0"/>
              <a:ea typeface="Avenir Book" charset="0"/>
              <a:cs typeface="Avenir Book" charset="0"/>
            </a:endParaRPr>
          </a:p>
        </p:txBody>
      </p:sp>
      <p:sp>
        <p:nvSpPr>
          <p:cNvPr id="74" name="Rectangle 73"/>
          <p:cNvSpPr/>
          <p:nvPr/>
        </p:nvSpPr>
        <p:spPr>
          <a:xfrm>
            <a:off x="398352" y="1227244"/>
            <a:ext cx="8192764" cy="1785104"/>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To avoid any cyclical movement and aid convergence, it is recommended to shuffle the data after each epoch.</a:t>
            </a:r>
          </a:p>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This way, the data is not seen in the same order every time, and the batches are not the exact same ones.</a:t>
            </a:r>
          </a:p>
        </p:txBody>
      </p:sp>
    </p:spTree>
    <p:extLst>
      <p:ext uri="{BB962C8B-B14F-4D97-AF65-F5344CB8AC3E}">
        <p14:creationId xmlns:p14="http://schemas.microsoft.com/office/powerpoint/2010/main" val="14253075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Feedforward Neural Network</a:t>
            </a:r>
            <a:endParaRPr lang="en-US" dirty="0">
              <a:latin typeface="Avenir Book" charset="0"/>
              <a:ea typeface="Avenir Book" charset="0"/>
              <a:cs typeface="Avenir Book" charset="0"/>
            </a:endParaRPr>
          </a:p>
        </p:txBody>
      </p:sp>
      <p:sp>
        <p:nvSpPr>
          <p:cNvPr id="73" name="Can 72"/>
          <p:cNvSpPr/>
          <p:nvPr/>
        </p:nvSpPr>
        <p:spPr>
          <a:xfrm>
            <a:off x="4722324" y="3821721"/>
            <a:ext cx="2339464" cy="851622"/>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venir Book" charset="0"/>
                <a:ea typeface="Avenir Book" charset="0"/>
                <a:cs typeface="Avenir Book" charset="0"/>
              </a:rPr>
              <a:t>Batch 5</a:t>
            </a:r>
            <a:endParaRPr lang="en-US" dirty="0">
              <a:latin typeface="Avenir Book" charset="0"/>
              <a:ea typeface="Avenir Book" charset="0"/>
              <a:cs typeface="Avenir Book" charset="0"/>
            </a:endParaRPr>
          </a:p>
        </p:txBody>
      </p:sp>
      <p:sp>
        <p:nvSpPr>
          <p:cNvPr id="74" name="Can 73"/>
          <p:cNvSpPr/>
          <p:nvPr/>
        </p:nvSpPr>
        <p:spPr>
          <a:xfrm>
            <a:off x="4722324" y="3182347"/>
            <a:ext cx="2339464" cy="851622"/>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latin typeface="Avenir Book" charset="0"/>
                <a:ea typeface="Avenir Book" charset="0"/>
                <a:cs typeface="Avenir Book" charset="0"/>
              </a:rPr>
              <a:t>Batch 4</a:t>
            </a:r>
            <a:endParaRPr lang="en-US" dirty="0">
              <a:latin typeface="Avenir Book" charset="0"/>
              <a:ea typeface="Avenir Book" charset="0"/>
              <a:cs typeface="Avenir Book" charset="0"/>
            </a:endParaRPr>
          </a:p>
        </p:txBody>
      </p:sp>
      <p:sp>
        <p:nvSpPr>
          <p:cNvPr id="75" name="Can 74"/>
          <p:cNvSpPr/>
          <p:nvPr/>
        </p:nvSpPr>
        <p:spPr>
          <a:xfrm>
            <a:off x="4722324" y="2538810"/>
            <a:ext cx="2339464" cy="851622"/>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latin typeface="Avenir Book" charset="0"/>
                <a:ea typeface="Avenir Book" charset="0"/>
                <a:cs typeface="Avenir Book" charset="0"/>
              </a:rPr>
              <a:t>Batch 3</a:t>
            </a:r>
            <a:endParaRPr lang="en-US" dirty="0">
              <a:latin typeface="Avenir Book" charset="0"/>
              <a:ea typeface="Avenir Book" charset="0"/>
              <a:cs typeface="Avenir Book" charset="0"/>
            </a:endParaRPr>
          </a:p>
        </p:txBody>
      </p:sp>
      <p:sp>
        <p:nvSpPr>
          <p:cNvPr id="76" name="Can 75"/>
          <p:cNvSpPr/>
          <p:nvPr/>
        </p:nvSpPr>
        <p:spPr>
          <a:xfrm>
            <a:off x="4722324" y="1895273"/>
            <a:ext cx="2339464" cy="851622"/>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latin typeface="Avenir Book" charset="0"/>
                <a:ea typeface="Avenir Book" charset="0"/>
                <a:cs typeface="Avenir Book" charset="0"/>
              </a:rPr>
              <a:t>Batch 2</a:t>
            </a:r>
            <a:endParaRPr lang="en-US" dirty="0">
              <a:latin typeface="Avenir Book" charset="0"/>
              <a:ea typeface="Avenir Book" charset="0"/>
              <a:cs typeface="Avenir Book" charset="0"/>
            </a:endParaRPr>
          </a:p>
        </p:txBody>
      </p:sp>
      <p:sp>
        <p:nvSpPr>
          <p:cNvPr id="77" name="Can 76"/>
          <p:cNvSpPr/>
          <p:nvPr/>
        </p:nvSpPr>
        <p:spPr>
          <a:xfrm>
            <a:off x="4722324" y="1251736"/>
            <a:ext cx="2339464" cy="851622"/>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latin typeface="Avenir Book" charset="0"/>
                <a:ea typeface="Avenir Book" charset="0"/>
                <a:cs typeface="Avenir Book" charset="0"/>
              </a:rPr>
              <a:t>Batch 1</a:t>
            </a:r>
            <a:endParaRPr lang="en-US" dirty="0">
              <a:latin typeface="Avenir Book" charset="0"/>
              <a:ea typeface="Avenir Book" charset="0"/>
              <a:cs typeface="Avenir Book" charset="0"/>
            </a:endParaRPr>
          </a:p>
        </p:txBody>
      </p:sp>
      <p:sp>
        <p:nvSpPr>
          <p:cNvPr id="85" name="Can 84"/>
          <p:cNvSpPr/>
          <p:nvPr/>
        </p:nvSpPr>
        <p:spPr>
          <a:xfrm>
            <a:off x="621324" y="1251736"/>
            <a:ext cx="2145322" cy="3421607"/>
          </a:xfrm>
          <a:prstGeom prst="can">
            <a:avLst>
              <a:gd name="adj" fmla="val 1200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2800" dirty="0" smtClean="0">
                <a:solidFill>
                  <a:schemeClr val="bg1"/>
                </a:solidFill>
                <a:latin typeface="Avenir Book" charset="0"/>
                <a:ea typeface="Avenir Book" charset="0"/>
                <a:cs typeface="Avenir Book" charset="0"/>
              </a:rPr>
              <a:t>FULL BATCH</a:t>
            </a:r>
            <a:endParaRPr lang="en-US" sz="2800" dirty="0">
              <a:solidFill>
                <a:schemeClr val="bg1"/>
              </a:solidFill>
              <a:latin typeface="Avenir Book" charset="0"/>
              <a:ea typeface="Avenir Book" charset="0"/>
              <a:cs typeface="Avenir Book" charset="0"/>
            </a:endParaRPr>
          </a:p>
        </p:txBody>
      </p:sp>
      <p:cxnSp>
        <p:nvCxnSpPr>
          <p:cNvPr id="86" name="Straight Arrow Connector 85"/>
          <p:cNvCxnSpPr/>
          <p:nvPr/>
        </p:nvCxnSpPr>
        <p:spPr>
          <a:xfrm>
            <a:off x="3376014" y="2996944"/>
            <a:ext cx="736942" cy="624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2463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5" grpId="0" animBg="1"/>
      <p:bldP spid="76" grpId="0" animBg="1"/>
      <p:bldP spid="7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Training in Action</a:t>
            </a:r>
            <a:endParaRPr lang="en-US" dirty="0">
              <a:latin typeface="Avenir Book" charset="0"/>
              <a:ea typeface="Avenir Book" charset="0"/>
              <a:cs typeface="Avenir Book" charset="0"/>
            </a:endParaRPr>
          </a:p>
        </p:txBody>
      </p:sp>
      <p:sp>
        <p:nvSpPr>
          <p:cNvPr id="73" name="Can 72"/>
          <p:cNvSpPr/>
          <p:nvPr/>
        </p:nvSpPr>
        <p:spPr>
          <a:xfrm>
            <a:off x="654416" y="3833444"/>
            <a:ext cx="2339464" cy="851622"/>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venir Book" charset="0"/>
                <a:ea typeface="Avenir Book" charset="0"/>
                <a:cs typeface="Avenir Book" charset="0"/>
              </a:rPr>
              <a:t>Batch 5</a:t>
            </a:r>
            <a:endParaRPr lang="en-US" dirty="0">
              <a:latin typeface="Avenir Book" charset="0"/>
              <a:ea typeface="Avenir Book" charset="0"/>
              <a:cs typeface="Avenir Book" charset="0"/>
            </a:endParaRPr>
          </a:p>
        </p:txBody>
      </p:sp>
      <p:sp>
        <p:nvSpPr>
          <p:cNvPr id="74" name="Can 73"/>
          <p:cNvSpPr/>
          <p:nvPr/>
        </p:nvSpPr>
        <p:spPr>
          <a:xfrm>
            <a:off x="654416" y="3194070"/>
            <a:ext cx="2339464" cy="851622"/>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latin typeface="Avenir Book" charset="0"/>
                <a:ea typeface="Avenir Book" charset="0"/>
                <a:cs typeface="Avenir Book" charset="0"/>
              </a:rPr>
              <a:t>Batch 4</a:t>
            </a:r>
            <a:endParaRPr lang="en-US" dirty="0">
              <a:latin typeface="Avenir Book" charset="0"/>
              <a:ea typeface="Avenir Book" charset="0"/>
              <a:cs typeface="Avenir Book" charset="0"/>
            </a:endParaRPr>
          </a:p>
        </p:txBody>
      </p:sp>
      <p:sp>
        <p:nvSpPr>
          <p:cNvPr id="75" name="Can 74"/>
          <p:cNvSpPr/>
          <p:nvPr/>
        </p:nvSpPr>
        <p:spPr>
          <a:xfrm>
            <a:off x="654416" y="2550533"/>
            <a:ext cx="2339464" cy="851622"/>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latin typeface="Avenir Book" charset="0"/>
                <a:ea typeface="Avenir Book" charset="0"/>
                <a:cs typeface="Avenir Book" charset="0"/>
              </a:rPr>
              <a:t>Batch 3</a:t>
            </a:r>
            <a:endParaRPr lang="en-US" dirty="0">
              <a:latin typeface="Avenir Book" charset="0"/>
              <a:ea typeface="Avenir Book" charset="0"/>
              <a:cs typeface="Avenir Book" charset="0"/>
            </a:endParaRPr>
          </a:p>
        </p:txBody>
      </p:sp>
      <p:sp>
        <p:nvSpPr>
          <p:cNvPr id="76" name="Can 75"/>
          <p:cNvSpPr/>
          <p:nvPr/>
        </p:nvSpPr>
        <p:spPr>
          <a:xfrm>
            <a:off x="654416" y="1906996"/>
            <a:ext cx="2339464" cy="851622"/>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latin typeface="Avenir Book" charset="0"/>
                <a:ea typeface="Avenir Book" charset="0"/>
                <a:cs typeface="Avenir Book" charset="0"/>
              </a:rPr>
              <a:t>Batch 2</a:t>
            </a:r>
            <a:endParaRPr lang="en-US" dirty="0">
              <a:latin typeface="Avenir Book" charset="0"/>
              <a:ea typeface="Avenir Book" charset="0"/>
              <a:cs typeface="Avenir Book" charset="0"/>
            </a:endParaRPr>
          </a:p>
        </p:txBody>
      </p:sp>
      <p:sp>
        <p:nvSpPr>
          <p:cNvPr id="77" name="Can 76"/>
          <p:cNvSpPr/>
          <p:nvPr/>
        </p:nvSpPr>
        <p:spPr>
          <a:xfrm>
            <a:off x="654416" y="1263459"/>
            <a:ext cx="2339464" cy="851622"/>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latin typeface="Avenir Book" charset="0"/>
                <a:ea typeface="Avenir Book" charset="0"/>
                <a:cs typeface="Avenir Book" charset="0"/>
              </a:rPr>
              <a:t>Batch 1</a:t>
            </a:r>
            <a:endParaRPr lang="en-US" dirty="0">
              <a:latin typeface="Avenir Book" charset="0"/>
              <a:ea typeface="Avenir Book" charset="0"/>
              <a:cs typeface="Avenir Book" charset="0"/>
            </a:endParaRPr>
          </a:p>
        </p:txBody>
      </p:sp>
      <p:grpSp>
        <p:nvGrpSpPr>
          <p:cNvPr id="10" name="Group 9"/>
          <p:cNvGrpSpPr/>
          <p:nvPr/>
        </p:nvGrpSpPr>
        <p:grpSpPr>
          <a:xfrm>
            <a:off x="4645181" y="1263459"/>
            <a:ext cx="4191000" cy="3276600"/>
            <a:chOff x="684212" y="2590800"/>
            <a:chExt cx="4191000" cy="3276600"/>
          </a:xfrm>
        </p:grpSpPr>
        <p:grpSp>
          <p:nvGrpSpPr>
            <p:cNvPr id="11" name="Group 10"/>
            <p:cNvGrpSpPr/>
            <p:nvPr/>
          </p:nvGrpSpPr>
          <p:grpSpPr>
            <a:xfrm>
              <a:off x="684212" y="2590800"/>
              <a:ext cx="4191000" cy="3276600"/>
              <a:chOff x="1446212" y="2590800"/>
              <a:chExt cx="4191000" cy="3276600"/>
            </a:xfrm>
          </p:grpSpPr>
          <p:cxnSp>
            <p:nvCxnSpPr>
              <p:cNvPr id="18" name="Straight Connector 17"/>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1516889" y="2899501"/>
              <a:ext cx="2434499" cy="2434499"/>
              <a:chOff x="7317513" y="2899501"/>
              <a:chExt cx="2434499" cy="2434499"/>
            </a:xfrm>
          </p:grpSpPr>
          <p:sp>
            <p:nvSpPr>
              <p:cNvPr id="13" name="Oval 12"/>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4" name="Oval 13"/>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5" name="Oval 14"/>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6" name="Oval 15"/>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7" name="Oval 16"/>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20" name="Straight Arrow Connector 19"/>
          <p:cNvCxnSpPr/>
          <p:nvPr/>
        </p:nvCxnSpPr>
        <p:spPr>
          <a:xfrm flipH="1" flipV="1">
            <a:off x="6695107" y="3495234"/>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Left Brace 24"/>
          <p:cNvSpPr/>
          <p:nvPr/>
        </p:nvSpPr>
        <p:spPr>
          <a:xfrm flipH="1">
            <a:off x="3052365" y="1415879"/>
            <a:ext cx="172568" cy="56007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Rectangle 2"/>
          <p:cNvSpPr/>
          <p:nvPr/>
        </p:nvSpPr>
        <p:spPr>
          <a:xfrm>
            <a:off x="3291121" y="1572160"/>
            <a:ext cx="700833" cy="307777"/>
          </a:xfrm>
          <a:prstGeom prst="rect">
            <a:avLst/>
          </a:prstGeom>
        </p:spPr>
        <p:txBody>
          <a:bodyPr wrap="none">
            <a:spAutoFit/>
          </a:bodyPr>
          <a:lstStyle/>
          <a:p>
            <a:pPr algn="ctr"/>
            <a:r>
              <a:rPr lang="en-US" smtClean="0">
                <a:latin typeface="Avenir Book" charset="0"/>
                <a:ea typeface="Avenir Book" charset="0"/>
                <a:cs typeface="Avenir Book" charset="0"/>
              </a:rPr>
              <a:t>Step 1</a:t>
            </a:r>
            <a:endParaRPr lang="en-US" dirty="0">
              <a:latin typeface="Avenir Book" charset="0"/>
              <a:ea typeface="Avenir Book" charset="0"/>
              <a:cs typeface="Avenir Book" charset="0"/>
            </a:endParaRPr>
          </a:p>
        </p:txBody>
      </p:sp>
    </p:spTree>
    <p:extLst>
      <p:ext uri="{BB962C8B-B14F-4D97-AF65-F5344CB8AC3E}">
        <p14:creationId xmlns:p14="http://schemas.microsoft.com/office/powerpoint/2010/main" val="1552392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5" grpId="0" animBg="1"/>
      <p:bldP spid="76" grpId="0" animBg="1"/>
      <p:bldP spid="77" grpId="0" animBg="1"/>
      <p:bldP spid="2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Training in Action</a:t>
            </a:r>
            <a:endParaRPr lang="en-US" dirty="0">
              <a:latin typeface="Avenir Book" charset="0"/>
              <a:ea typeface="Avenir Book" charset="0"/>
              <a:cs typeface="Avenir Book" charset="0"/>
            </a:endParaRPr>
          </a:p>
        </p:txBody>
      </p:sp>
      <p:sp>
        <p:nvSpPr>
          <p:cNvPr id="73" name="Can 72"/>
          <p:cNvSpPr/>
          <p:nvPr/>
        </p:nvSpPr>
        <p:spPr>
          <a:xfrm>
            <a:off x="654416" y="3833444"/>
            <a:ext cx="2339464" cy="851622"/>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venir Book" charset="0"/>
                <a:ea typeface="Avenir Book" charset="0"/>
                <a:cs typeface="Avenir Book" charset="0"/>
              </a:rPr>
              <a:t>Batch 5</a:t>
            </a:r>
            <a:endParaRPr lang="en-US" dirty="0">
              <a:latin typeface="Avenir Book" charset="0"/>
              <a:ea typeface="Avenir Book" charset="0"/>
              <a:cs typeface="Avenir Book" charset="0"/>
            </a:endParaRPr>
          </a:p>
        </p:txBody>
      </p:sp>
      <p:sp>
        <p:nvSpPr>
          <p:cNvPr id="74" name="Can 73"/>
          <p:cNvSpPr/>
          <p:nvPr/>
        </p:nvSpPr>
        <p:spPr>
          <a:xfrm>
            <a:off x="654416" y="3194070"/>
            <a:ext cx="2339464" cy="851622"/>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latin typeface="Avenir Book" charset="0"/>
                <a:ea typeface="Avenir Book" charset="0"/>
                <a:cs typeface="Avenir Book" charset="0"/>
              </a:rPr>
              <a:t>Batch 4</a:t>
            </a:r>
            <a:endParaRPr lang="en-US" dirty="0">
              <a:latin typeface="Avenir Book" charset="0"/>
              <a:ea typeface="Avenir Book" charset="0"/>
              <a:cs typeface="Avenir Book" charset="0"/>
            </a:endParaRPr>
          </a:p>
        </p:txBody>
      </p:sp>
      <p:sp>
        <p:nvSpPr>
          <p:cNvPr id="75" name="Can 74"/>
          <p:cNvSpPr/>
          <p:nvPr/>
        </p:nvSpPr>
        <p:spPr>
          <a:xfrm>
            <a:off x="654416" y="2550533"/>
            <a:ext cx="2339464" cy="851622"/>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latin typeface="Avenir Book" charset="0"/>
                <a:ea typeface="Avenir Book" charset="0"/>
                <a:cs typeface="Avenir Book" charset="0"/>
              </a:rPr>
              <a:t>Batch 3</a:t>
            </a:r>
            <a:endParaRPr lang="en-US" dirty="0">
              <a:latin typeface="Avenir Book" charset="0"/>
              <a:ea typeface="Avenir Book" charset="0"/>
              <a:cs typeface="Avenir Book" charset="0"/>
            </a:endParaRPr>
          </a:p>
        </p:txBody>
      </p:sp>
      <p:sp>
        <p:nvSpPr>
          <p:cNvPr id="76" name="Can 75"/>
          <p:cNvSpPr/>
          <p:nvPr/>
        </p:nvSpPr>
        <p:spPr>
          <a:xfrm>
            <a:off x="654416" y="1906996"/>
            <a:ext cx="2339464" cy="851622"/>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latin typeface="Avenir Book" charset="0"/>
                <a:ea typeface="Avenir Book" charset="0"/>
                <a:cs typeface="Avenir Book" charset="0"/>
              </a:rPr>
              <a:t>Batch 2</a:t>
            </a:r>
            <a:endParaRPr lang="en-US" dirty="0">
              <a:latin typeface="Avenir Book" charset="0"/>
              <a:ea typeface="Avenir Book" charset="0"/>
              <a:cs typeface="Avenir Book" charset="0"/>
            </a:endParaRPr>
          </a:p>
        </p:txBody>
      </p:sp>
      <p:sp>
        <p:nvSpPr>
          <p:cNvPr id="77" name="Can 76"/>
          <p:cNvSpPr/>
          <p:nvPr/>
        </p:nvSpPr>
        <p:spPr>
          <a:xfrm>
            <a:off x="654416" y="1263459"/>
            <a:ext cx="2339464" cy="851622"/>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latin typeface="Avenir Book" charset="0"/>
                <a:ea typeface="Avenir Book" charset="0"/>
                <a:cs typeface="Avenir Book" charset="0"/>
              </a:rPr>
              <a:t>Batch 1</a:t>
            </a:r>
            <a:endParaRPr lang="en-US" dirty="0">
              <a:latin typeface="Avenir Book" charset="0"/>
              <a:ea typeface="Avenir Book" charset="0"/>
              <a:cs typeface="Avenir Book" charset="0"/>
            </a:endParaRPr>
          </a:p>
        </p:txBody>
      </p:sp>
      <p:grpSp>
        <p:nvGrpSpPr>
          <p:cNvPr id="10" name="Group 9"/>
          <p:cNvGrpSpPr/>
          <p:nvPr/>
        </p:nvGrpSpPr>
        <p:grpSpPr>
          <a:xfrm>
            <a:off x="4645181" y="1263459"/>
            <a:ext cx="4191000" cy="3276600"/>
            <a:chOff x="684212" y="2590800"/>
            <a:chExt cx="4191000" cy="3276600"/>
          </a:xfrm>
        </p:grpSpPr>
        <p:grpSp>
          <p:nvGrpSpPr>
            <p:cNvPr id="11" name="Group 10"/>
            <p:cNvGrpSpPr/>
            <p:nvPr/>
          </p:nvGrpSpPr>
          <p:grpSpPr>
            <a:xfrm>
              <a:off x="684212" y="2590800"/>
              <a:ext cx="4191000" cy="3276600"/>
              <a:chOff x="1446212" y="2590800"/>
              <a:chExt cx="4191000" cy="3276600"/>
            </a:xfrm>
          </p:grpSpPr>
          <p:cxnSp>
            <p:nvCxnSpPr>
              <p:cNvPr id="18" name="Straight Connector 17"/>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1516889" y="2899501"/>
              <a:ext cx="2434499" cy="2434499"/>
              <a:chOff x="7317513" y="2899501"/>
              <a:chExt cx="2434499" cy="2434499"/>
            </a:xfrm>
          </p:grpSpPr>
          <p:sp>
            <p:nvSpPr>
              <p:cNvPr id="13" name="Oval 12"/>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4" name="Oval 13"/>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5" name="Oval 14"/>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6" name="Oval 15"/>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7" name="Oval 16"/>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20" name="Straight Arrow Connector 19"/>
          <p:cNvCxnSpPr/>
          <p:nvPr/>
        </p:nvCxnSpPr>
        <p:spPr>
          <a:xfrm flipH="1" flipV="1">
            <a:off x="6695107" y="3495234"/>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6680724" y="3235960"/>
            <a:ext cx="182680" cy="2822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Left Brace 24"/>
          <p:cNvSpPr/>
          <p:nvPr/>
        </p:nvSpPr>
        <p:spPr>
          <a:xfrm flipH="1">
            <a:off x="3039899" y="2076726"/>
            <a:ext cx="172568" cy="56007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Rectangle 25"/>
          <p:cNvSpPr/>
          <p:nvPr/>
        </p:nvSpPr>
        <p:spPr>
          <a:xfrm>
            <a:off x="3278655" y="2233007"/>
            <a:ext cx="700833" cy="307777"/>
          </a:xfrm>
          <a:prstGeom prst="rect">
            <a:avLst/>
          </a:prstGeom>
        </p:spPr>
        <p:txBody>
          <a:bodyPr wrap="none">
            <a:spAutoFit/>
          </a:bodyPr>
          <a:lstStyle/>
          <a:p>
            <a:pPr algn="ctr"/>
            <a:r>
              <a:rPr lang="en-US" dirty="0" smtClean="0">
                <a:latin typeface="Avenir Book" charset="0"/>
                <a:ea typeface="Avenir Book" charset="0"/>
                <a:cs typeface="Avenir Book" charset="0"/>
              </a:rPr>
              <a:t>Step 2</a:t>
            </a:r>
            <a:endParaRPr lang="en-US" dirty="0">
              <a:latin typeface="Avenir Book" charset="0"/>
              <a:ea typeface="Avenir Book" charset="0"/>
              <a:cs typeface="Avenir Book" charset="0"/>
            </a:endParaRPr>
          </a:p>
        </p:txBody>
      </p:sp>
    </p:spTree>
    <p:extLst>
      <p:ext uri="{BB962C8B-B14F-4D97-AF65-F5344CB8AC3E}">
        <p14:creationId xmlns:p14="http://schemas.microsoft.com/office/powerpoint/2010/main" val="34174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5" grpId="0" animBg="1"/>
      <p:bldP spid="76" grpId="0" animBg="1"/>
      <p:bldP spid="77"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Training in Action</a:t>
            </a:r>
            <a:endParaRPr lang="en-US" dirty="0">
              <a:latin typeface="Avenir Book" charset="0"/>
              <a:ea typeface="Avenir Book" charset="0"/>
              <a:cs typeface="Avenir Book" charset="0"/>
            </a:endParaRPr>
          </a:p>
        </p:txBody>
      </p:sp>
      <p:sp>
        <p:nvSpPr>
          <p:cNvPr id="73" name="Can 72"/>
          <p:cNvSpPr/>
          <p:nvPr/>
        </p:nvSpPr>
        <p:spPr>
          <a:xfrm>
            <a:off x="654416" y="3833444"/>
            <a:ext cx="2339464" cy="851622"/>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venir Book" charset="0"/>
                <a:ea typeface="Avenir Book" charset="0"/>
                <a:cs typeface="Avenir Book" charset="0"/>
              </a:rPr>
              <a:t>Batch 5</a:t>
            </a:r>
            <a:endParaRPr lang="en-US" dirty="0">
              <a:latin typeface="Avenir Book" charset="0"/>
              <a:ea typeface="Avenir Book" charset="0"/>
              <a:cs typeface="Avenir Book" charset="0"/>
            </a:endParaRPr>
          </a:p>
        </p:txBody>
      </p:sp>
      <p:sp>
        <p:nvSpPr>
          <p:cNvPr id="74" name="Can 73"/>
          <p:cNvSpPr/>
          <p:nvPr/>
        </p:nvSpPr>
        <p:spPr>
          <a:xfrm>
            <a:off x="654416" y="3194070"/>
            <a:ext cx="2339464" cy="851622"/>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latin typeface="Avenir Book" charset="0"/>
                <a:ea typeface="Avenir Book" charset="0"/>
                <a:cs typeface="Avenir Book" charset="0"/>
              </a:rPr>
              <a:t>Batch 4</a:t>
            </a:r>
            <a:endParaRPr lang="en-US" dirty="0">
              <a:latin typeface="Avenir Book" charset="0"/>
              <a:ea typeface="Avenir Book" charset="0"/>
              <a:cs typeface="Avenir Book" charset="0"/>
            </a:endParaRPr>
          </a:p>
        </p:txBody>
      </p:sp>
      <p:sp>
        <p:nvSpPr>
          <p:cNvPr id="75" name="Can 74"/>
          <p:cNvSpPr/>
          <p:nvPr/>
        </p:nvSpPr>
        <p:spPr>
          <a:xfrm>
            <a:off x="654416" y="2550533"/>
            <a:ext cx="2339464" cy="851622"/>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latin typeface="Avenir Book" charset="0"/>
                <a:ea typeface="Avenir Book" charset="0"/>
                <a:cs typeface="Avenir Book" charset="0"/>
              </a:rPr>
              <a:t>Batch 3</a:t>
            </a:r>
            <a:endParaRPr lang="en-US" dirty="0">
              <a:latin typeface="Avenir Book" charset="0"/>
              <a:ea typeface="Avenir Book" charset="0"/>
              <a:cs typeface="Avenir Book" charset="0"/>
            </a:endParaRPr>
          </a:p>
        </p:txBody>
      </p:sp>
      <p:sp>
        <p:nvSpPr>
          <p:cNvPr id="76" name="Can 75"/>
          <p:cNvSpPr/>
          <p:nvPr/>
        </p:nvSpPr>
        <p:spPr>
          <a:xfrm>
            <a:off x="654416" y="1906996"/>
            <a:ext cx="2339464" cy="851622"/>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latin typeface="Avenir Book" charset="0"/>
                <a:ea typeface="Avenir Book" charset="0"/>
                <a:cs typeface="Avenir Book" charset="0"/>
              </a:rPr>
              <a:t>Batch 2</a:t>
            </a:r>
            <a:endParaRPr lang="en-US" dirty="0">
              <a:latin typeface="Avenir Book" charset="0"/>
              <a:ea typeface="Avenir Book" charset="0"/>
              <a:cs typeface="Avenir Book" charset="0"/>
            </a:endParaRPr>
          </a:p>
        </p:txBody>
      </p:sp>
      <p:sp>
        <p:nvSpPr>
          <p:cNvPr id="77" name="Can 76"/>
          <p:cNvSpPr/>
          <p:nvPr/>
        </p:nvSpPr>
        <p:spPr>
          <a:xfrm>
            <a:off x="654416" y="1263459"/>
            <a:ext cx="2339464" cy="851622"/>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latin typeface="Avenir Book" charset="0"/>
                <a:ea typeface="Avenir Book" charset="0"/>
                <a:cs typeface="Avenir Book" charset="0"/>
              </a:rPr>
              <a:t>Batch 1</a:t>
            </a:r>
            <a:endParaRPr lang="en-US" dirty="0">
              <a:latin typeface="Avenir Book" charset="0"/>
              <a:ea typeface="Avenir Book" charset="0"/>
              <a:cs typeface="Avenir Book" charset="0"/>
            </a:endParaRPr>
          </a:p>
        </p:txBody>
      </p:sp>
      <p:grpSp>
        <p:nvGrpSpPr>
          <p:cNvPr id="10" name="Group 9"/>
          <p:cNvGrpSpPr/>
          <p:nvPr/>
        </p:nvGrpSpPr>
        <p:grpSpPr>
          <a:xfrm>
            <a:off x="4645181" y="1263459"/>
            <a:ext cx="4191000" cy="3276600"/>
            <a:chOff x="684212" y="2590800"/>
            <a:chExt cx="4191000" cy="3276600"/>
          </a:xfrm>
        </p:grpSpPr>
        <p:grpSp>
          <p:nvGrpSpPr>
            <p:cNvPr id="11" name="Group 10"/>
            <p:cNvGrpSpPr/>
            <p:nvPr/>
          </p:nvGrpSpPr>
          <p:grpSpPr>
            <a:xfrm>
              <a:off x="684212" y="2590800"/>
              <a:ext cx="4191000" cy="3276600"/>
              <a:chOff x="1446212" y="2590800"/>
              <a:chExt cx="4191000" cy="3276600"/>
            </a:xfrm>
          </p:grpSpPr>
          <p:cxnSp>
            <p:nvCxnSpPr>
              <p:cNvPr id="18" name="Straight Connector 17"/>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1516889" y="2899501"/>
              <a:ext cx="2434499" cy="2434499"/>
              <a:chOff x="7317513" y="2899501"/>
              <a:chExt cx="2434499" cy="2434499"/>
            </a:xfrm>
          </p:grpSpPr>
          <p:sp>
            <p:nvSpPr>
              <p:cNvPr id="13" name="Oval 12"/>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4" name="Oval 13"/>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5" name="Oval 14"/>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6" name="Oval 15"/>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7" name="Oval 16"/>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20" name="Straight Arrow Connector 19"/>
          <p:cNvCxnSpPr/>
          <p:nvPr/>
        </p:nvCxnSpPr>
        <p:spPr>
          <a:xfrm flipH="1" flipV="1">
            <a:off x="6695107" y="3495234"/>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6680724" y="3235960"/>
            <a:ext cx="182680" cy="2822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6834852" y="3117487"/>
            <a:ext cx="272847" cy="1584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Left Brace 24"/>
          <p:cNvSpPr/>
          <p:nvPr/>
        </p:nvSpPr>
        <p:spPr>
          <a:xfrm flipH="1">
            <a:off x="3030508" y="2758618"/>
            <a:ext cx="172568" cy="56007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Rectangle 25"/>
          <p:cNvSpPr/>
          <p:nvPr/>
        </p:nvSpPr>
        <p:spPr>
          <a:xfrm>
            <a:off x="3269264" y="2914899"/>
            <a:ext cx="700833" cy="307777"/>
          </a:xfrm>
          <a:prstGeom prst="rect">
            <a:avLst/>
          </a:prstGeom>
        </p:spPr>
        <p:txBody>
          <a:bodyPr wrap="none">
            <a:spAutoFit/>
          </a:bodyPr>
          <a:lstStyle/>
          <a:p>
            <a:pPr algn="ctr"/>
            <a:r>
              <a:rPr lang="en-US" dirty="0" smtClean="0">
                <a:latin typeface="Avenir Book" charset="0"/>
                <a:ea typeface="Avenir Book" charset="0"/>
                <a:cs typeface="Avenir Book" charset="0"/>
              </a:rPr>
              <a:t>Step 3</a:t>
            </a:r>
            <a:endParaRPr lang="en-US" dirty="0">
              <a:latin typeface="Avenir Book" charset="0"/>
              <a:ea typeface="Avenir Book" charset="0"/>
              <a:cs typeface="Avenir Book" charset="0"/>
            </a:endParaRPr>
          </a:p>
        </p:txBody>
      </p:sp>
    </p:spTree>
    <p:extLst>
      <p:ext uri="{BB962C8B-B14F-4D97-AF65-F5344CB8AC3E}">
        <p14:creationId xmlns:p14="http://schemas.microsoft.com/office/powerpoint/2010/main" val="1601505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5" grpId="0" animBg="1"/>
      <p:bldP spid="76" grpId="0" animBg="1"/>
      <p:bldP spid="77" grpId="0" animBg="1"/>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Training in Action</a:t>
            </a:r>
            <a:endParaRPr lang="en-US" dirty="0">
              <a:latin typeface="Avenir Book" charset="0"/>
              <a:ea typeface="Avenir Book" charset="0"/>
              <a:cs typeface="Avenir Book" charset="0"/>
            </a:endParaRPr>
          </a:p>
        </p:txBody>
      </p:sp>
      <p:sp>
        <p:nvSpPr>
          <p:cNvPr id="73" name="Can 72"/>
          <p:cNvSpPr/>
          <p:nvPr/>
        </p:nvSpPr>
        <p:spPr>
          <a:xfrm>
            <a:off x="654416" y="3833444"/>
            <a:ext cx="2339464" cy="851622"/>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venir Book" charset="0"/>
                <a:ea typeface="Avenir Book" charset="0"/>
                <a:cs typeface="Avenir Book" charset="0"/>
              </a:rPr>
              <a:t>Batch 5</a:t>
            </a:r>
            <a:endParaRPr lang="en-US" dirty="0">
              <a:latin typeface="Avenir Book" charset="0"/>
              <a:ea typeface="Avenir Book" charset="0"/>
              <a:cs typeface="Avenir Book" charset="0"/>
            </a:endParaRPr>
          </a:p>
        </p:txBody>
      </p:sp>
      <p:sp>
        <p:nvSpPr>
          <p:cNvPr id="74" name="Can 73"/>
          <p:cNvSpPr/>
          <p:nvPr/>
        </p:nvSpPr>
        <p:spPr>
          <a:xfrm>
            <a:off x="654416" y="3194070"/>
            <a:ext cx="2339464" cy="851622"/>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latin typeface="Avenir Book" charset="0"/>
                <a:ea typeface="Avenir Book" charset="0"/>
                <a:cs typeface="Avenir Book" charset="0"/>
              </a:rPr>
              <a:t>Batch 4</a:t>
            </a:r>
            <a:endParaRPr lang="en-US" dirty="0">
              <a:latin typeface="Avenir Book" charset="0"/>
              <a:ea typeface="Avenir Book" charset="0"/>
              <a:cs typeface="Avenir Book" charset="0"/>
            </a:endParaRPr>
          </a:p>
        </p:txBody>
      </p:sp>
      <p:sp>
        <p:nvSpPr>
          <p:cNvPr id="75" name="Can 74"/>
          <p:cNvSpPr/>
          <p:nvPr/>
        </p:nvSpPr>
        <p:spPr>
          <a:xfrm>
            <a:off x="654416" y="2550533"/>
            <a:ext cx="2339464" cy="851622"/>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latin typeface="Avenir Book" charset="0"/>
                <a:ea typeface="Avenir Book" charset="0"/>
                <a:cs typeface="Avenir Book" charset="0"/>
              </a:rPr>
              <a:t>Batch 3</a:t>
            </a:r>
            <a:endParaRPr lang="en-US" dirty="0">
              <a:latin typeface="Avenir Book" charset="0"/>
              <a:ea typeface="Avenir Book" charset="0"/>
              <a:cs typeface="Avenir Book" charset="0"/>
            </a:endParaRPr>
          </a:p>
        </p:txBody>
      </p:sp>
      <p:sp>
        <p:nvSpPr>
          <p:cNvPr id="76" name="Can 75"/>
          <p:cNvSpPr/>
          <p:nvPr/>
        </p:nvSpPr>
        <p:spPr>
          <a:xfrm>
            <a:off x="654416" y="1906996"/>
            <a:ext cx="2339464" cy="851622"/>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latin typeface="Avenir Book" charset="0"/>
                <a:ea typeface="Avenir Book" charset="0"/>
                <a:cs typeface="Avenir Book" charset="0"/>
              </a:rPr>
              <a:t>Batch 2</a:t>
            </a:r>
            <a:endParaRPr lang="en-US" dirty="0">
              <a:latin typeface="Avenir Book" charset="0"/>
              <a:ea typeface="Avenir Book" charset="0"/>
              <a:cs typeface="Avenir Book" charset="0"/>
            </a:endParaRPr>
          </a:p>
        </p:txBody>
      </p:sp>
      <p:sp>
        <p:nvSpPr>
          <p:cNvPr id="77" name="Can 76"/>
          <p:cNvSpPr/>
          <p:nvPr/>
        </p:nvSpPr>
        <p:spPr>
          <a:xfrm>
            <a:off x="654416" y="1263459"/>
            <a:ext cx="2339464" cy="851622"/>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latin typeface="Avenir Book" charset="0"/>
                <a:ea typeface="Avenir Book" charset="0"/>
                <a:cs typeface="Avenir Book" charset="0"/>
              </a:rPr>
              <a:t>Batch 1</a:t>
            </a:r>
            <a:endParaRPr lang="en-US" dirty="0">
              <a:latin typeface="Avenir Book" charset="0"/>
              <a:ea typeface="Avenir Book" charset="0"/>
              <a:cs typeface="Avenir Book" charset="0"/>
            </a:endParaRPr>
          </a:p>
        </p:txBody>
      </p:sp>
      <p:grpSp>
        <p:nvGrpSpPr>
          <p:cNvPr id="10" name="Group 9"/>
          <p:cNvGrpSpPr/>
          <p:nvPr/>
        </p:nvGrpSpPr>
        <p:grpSpPr>
          <a:xfrm>
            <a:off x="4645181" y="1263459"/>
            <a:ext cx="4191000" cy="3276600"/>
            <a:chOff x="684212" y="2590800"/>
            <a:chExt cx="4191000" cy="3276600"/>
          </a:xfrm>
        </p:grpSpPr>
        <p:grpSp>
          <p:nvGrpSpPr>
            <p:cNvPr id="11" name="Group 10"/>
            <p:cNvGrpSpPr/>
            <p:nvPr/>
          </p:nvGrpSpPr>
          <p:grpSpPr>
            <a:xfrm>
              <a:off x="684212" y="2590800"/>
              <a:ext cx="4191000" cy="3276600"/>
              <a:chOff x="1446212" y="2590800"/>
              <a:chExt cx="4191000" cy="3276600"/>
            </a:xfrm>
          </p:grpSpPr>
          <p:cxnSp>
            <p:nvCxnSpPr>
              <p:cNvPr id="18" name="Straight Connector 17"/>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1516889" y="2899501"/>
              <a:ext cx="2434499" cy="2434499"/>
              <a:chOff x="7317513" y="2899501"/>
              <a:chExt cx="2434499" cy="2434499"/>
            </a:xfrm>
          </p:grpSpPr>
          <p:sp>
            <p:nvSpPr>
              <p:cNvPr id="13" name="Oval 12"/>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4" name="Oval 13"/>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5" name="Oval 14"/>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6" name="Oval 15"/>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7" name="Oval 16"/>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20" name="Straight Arrow Connector 19"/>
          <p:cNvCxnSpPr/>
          <p:nvPr/>
        </p:nvCxnSpPr>
        <p:spPr>
          <a:xfrm flipH="1" flipV="1">
            <a:off x="6695107" y="3495234"/>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6680724" y="3235960"/>
            <a:ext cx="182680" cy="2822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flipV="1">
            <a:off x="6786211" y="2973924"/>
            <a:ext cx="298672" cy="1155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6834852" y="3117487"/>
            <a:ext cx="272847" cy="1584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Left Brace 24"/>
          <p:cNvSpPr/>
          <p:nvPr/>
        </p:nvSpPr>
        <p:spPr>
          <a:xfrm flipH="1">
            <a:off x="3008263" y="3369386"/>
            <a:ext cx="172568" cy="56007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Rectangle 25"/>
          <p:cNvSpPr/>
          <p:nvPr/>
        </p:nvSpPr>
        <p:spPr>
          <a:xfrm>
            <a:off x="3247019" y="3525667"/>
            <a:ext cx="700833" cy="307777"/>
          </a:xfrm>
          <a:prstGeom prst="rect">
            <a:avLst/>
          </a:prstGeom>
        </p:spPr>
        <p:txBody>
          <a:bodyPr wrap="none">
            <a:spAutoFit/>
          </a:bodyPr>
          <a:lstStyle/>
          <a:p>
            <a:pPr algn="ctr"/>
            <a:r>
              <a:rPr lang="en-US" dirty="0" smtClean="0">
                <a:latin typeface="Avenir Book" charset="0"/>
                <a:ea typeface="Avenir Book" charset="0"/>
                <a:cs typeface="Avenir Book" charset="0"/>
              </a:rPr>
              <a:t>Step 4</a:t>
            </a:r>
            <a:endParaRPr lang="en-US" dirty="0">
              <a:latin typeface="Avenir Book" charset="0"/>
              <a:ea typeface="Avenir Book" charset="0"/>
              <a:cs typeface="Avenir Book" charset="0"/>
            </a:endParaRPr>
          </a:p>
        </p:txBody>
      </p:sp>
    </p:spTree>
    <p:extLst>
      <p:ext uri="{BB962C8B-B14F-4D97-AF65-F5344CB8AC3E}">
        <p14:creationId xmlns:p14="http://schemas.microsoft.com/office/powerpoint/2010/main" val="87415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5" grpId="0" animBg="1"/>
      <p:bldP spid="76" grpId="0" animBg="1"/>
      <p:bldP spid="77" grpId="0" animBg="1"/>
      <p:bldP spid="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Training in Action</a:t>
            </a:r>
            <a:endParaRPr lang="en-US" dirty="0">
              <a:latin typeface="Avenir Book" charset="0"/>
              <a:ea typeface="Avenir Book" charset="0"/>
              <a:cs typeface="Avenir Book" charset="0"/>
            </a:endParaRPr>
          </a:p>
        </p:txBody>
      </p:sp>
      <p:sp>
        <p:nvSpPr>
          <p:cNvPr id="73" name="Can 72"/>
          <p:cNvSpPr/>
          <p:nvPr/>
        </p:nvSpPr>
        <p:spPr>
          <a:xfrm>
            <a:off x="654416" y="3833444"/>
            <a:ext cx="2339464" cy="851622"/>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venir Book" charset="0"/>
                <a:ea typeface="Avenir Book" charset="0"/>
                <a:cs typeface="Avenir Book" charset="0"/>
              </a:rPr>
              <a:t>Batch 5</a:t>
            </a:r>
            <a:endParaRPr lang="en-US" dirty="0">
              <a:latin typeface="Avenir Book" charset="0"/>
              <a:ea typeface="Avenir Book" charset="0"/>
              <a:cs typeface="Avenir Book" charset="0"/>
            </a:endParaRPr>
          </a:p>
        </p:txBody>
      </p:sp>
      <p:sp>
        <p:nvSpPr>
          <p:cNvPr id="74" name="Can 73"/>
          <p:cNvSpPr/>
          <p:nvPr/>
        </p:nvSpPr>
        <p:spPr>
          <a:xfrm>
            <a:off x="654416" y="3194070"/>
            <a:ext cx="2339464" cy="851622"/>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latin typeface="Avenir Book" charset="0"/>
                <a:ea typeface="Avenir Book" charset="0"/>
                <a:cs typeface="Avenir Book" charset="0"/>
              </a:rPr>
              <a:t>Batch 4</a:t>
            </a:r>
            <a:endParaRPr lang="en-US" dirty="0">
              <a:latin typeface="Avenir Book" charset="0"/>
              <a:ea typeface="Avenir Book" charset="0"/>
              <a:cs typeface="Avenir Book" charset="0"/>
            </a:endParaRPr>
          </a:p>
        </p:txBody>
      </p:sp>
      <p:sp>
        <p:nvSpPr>
          <p:cNvPr id="75" name="Can 74"/>
          <p:cNvSpPr/>
          <p:nvPr/>
        </p:nvSpPr>
        <p:spPr>
          <a:xfrm>
            <a:off x="654416" y="2550533"/>
            <a:ext cx="2339464" cy="851622"/>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latin typeface="Avenir Book" charset="0"/>
                <a:ea typeface="Avenir Book" charset="0"/>
                <a:cs typeface="Avenir Book" charset="0"/>
              </a:rPr>
              <a:t>Batch 3</a:t>
            </a:r>
            <a:endParaRPr lang="en-US" dirty="0">
              <a:latin typeface="Avenir Book" charset="0"/>
              <a:ea typeface="Avenir Book" charset="0"/>
              <a:cs typeface="Avenir Book" charset="0"/>
            </a:endParaRPr>
          </a:p>
        </p:txBody>
      </p:sp>
      <p:sp>
        <p:nvSpPr>
          <p:cNvPr id="76" name="Can 75"/>
          <p:cNvSpPr/>
          <p:nvPr/>
        </p:nvSpPr>
        <p:spPr>
          <a:xfrm>
            <a:off x="654416" y="1906996"/>
            <a:ext cx="2339464" cy="851622"/>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latin typeface="Avenir Book" charset="0"/>
                <a:ea typeface="Avenir Book" charset="0"/>
                <a:cs typeface="Avenir Book" charset="0"/>
              </a:rPr>
              <a:t>Batch 2</a:t>
            </a:r>
            <a:endParaRPr lang="en-US" dirty="0">
              <a:latin typeface="Avenir Book" charset="0"/>
              <a:ea typeface="Avenir Book" charset="0"/>
              <a:cs typeface="Avenir Book" charset="0"/>
            </a:endParaRPr>
          </a:p>
        </p:txBody>
      </p:sp>
      <p:sp>
        <p:nvSpPr>
          <p:cNvPr id="77" name="Can 76"/>
          <p:cNvSpPr/>
          <p:nvPr/>
        </p:nvSpPr>
        <p:spPr>
          <a:xfrm>
            <a:off x="654416" y="1263459"/>
            <a:ext cx="2339464" cy="851622"/>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latin typeface="Avenir Book" charset="0"/>
                <a:ea typeface="Avenir Book" charset="0"/>
                <a:cs typeface="Avenir Book" charset="0"/>
              </a:rPr>
              <a:t>Batch 1</a:t>
            </a:r>
            <a:endParaRPr lang="en-US" dirty="0">
              <a:latin typeface="Avenir Book" charset="0"/>
              <a:ea typeface="Avenir Book" charset="0"/>
              <a:cs typeface="Avenir Book" charset="0"/>
            </a:endParaRPr>
          </a:p>
        </p:txBody>
      </p:sp>
      <p:grpSp>
        <p:nvGrpSpPr>
          <p:cNvPr id="10" name="Group 9"/>
          <p:cNvGrpSpPr/>
          <p:nvPr/>
        </p:nvGrpSpPr>
        <p:grpSpPr>
          <a:xfrm>
            <a:off x="4645181" y="1263459"/>
            <a:ext cx="4191000" cy="3276600"/>
            <a:chOff x="684212" y="2590800"/>
            <a:chExt cx="4191000" cy="3276600"/>
          </a:xfrm>
        </p:grpSpPr>
        <p:grpSp>
          <p:nvGrpSpPr>
            <p:cNvPr id="11" name="Group 10"/>
            <p:cNvGrpSpPr/>
            <p:nvPr/>
          </p:nvGrpSpPr>
          <p:grpSpPr>
            <a:xfrm>
              <a:off x="684212" y="2590800"/>
              <a:ext cx="4191000" cy="3276600"/>
              <a:chOff x="1446212" y="2590800"/>
              <a:chExt cx="4191000" cy="3276600"/>
            </a:xfrm>
          </p:grpSpPr>
          <p:cxnSp>
            <p:nvCxnSpPr>
              <p:cNvPr id="18" name="Straight Connector 17"/>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1516889" y="2899501"/>
              <a:ext cx="2434499" cy="2434499"/>
              <a:chOff x="7317513" y="2899501"/>
              <a:chExt cx="2434499" cy="2434499"/>
            </a:xfrm>
          </p:grpSpPr>
          <p:sp>
            <p:nvSpPr>
              <p:cNvPr id="13" name="Oval 12"/>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4" name="Oval 13"/>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5" name="Oval 14"/>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6" name="Oval 15"/>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7" name="Oval 16"/>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20" name="Straight Arrow Connector 19"/>
          <p:cNvCxnSpPr/>
          <p:nvPr/>
        </p:nvCxnSpPr>
        <p:spPr>
          <a:xfrm flipH="1" flipV="1">
            <a:off x="6695107" y="3495234"/>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6680724" y="3235960"/>
            <a:ext cx="182680" cy="2822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flipV="1">
            <a:off x="6786211" y="2973924"/>
            <a:ext cx="298672" cy="1155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6834852" y="3117487"/>
            <a:ext cx="272847" cy="1584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flipV="1">
            <a:off x="6519303" y="2965213"/>
            <a:ext cx="283752" cy="504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Left Brace 24"/>
          <p:cNvSpPr/>
          <p:nvPr/>
        </p:nvSpPr>
        <p:spPr>
          <a:xfrm flipH="1">
            <a:off x="3011223" y="3996693"/>
            <a:ext cx="172568" cy="56007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Rectangle 25"/>
          <p:cNvSpPr/>
          <p:nvPr/>
        </p:nvSpPr>
        <p:spPr>
          <a:xfrm>
            <a:off x="3249979" y="4152974"/>
            <a:ext cx="700833" cy="307777"/>
          </a:xfrm>
          <a:prstGeom prst="rect">
            <a:avLst/>
          </a:prstGeom>
        </p:spPr>
        <p:txBody>
          <a:bodyPr wrap="none">
            <a:spAutoFit/>
          </a:bodyPr>
          <a:lstStyle/>
          <a:p>
            <a:pPr algn="ctr"/>
            <a:r>
              <a:rPr lang="en-US" dirty="0" smtClean="0">
                <a:latin typeface="Avenir Book" charset="0"/>
                <a:ea typeface="Avenir Book" charset="0"/>
                <a:cs typeface="Avenir Book" charset="0"/>
              </a:rPr>
              <a:t>Step 5</a:t>
            </a:r>
            <a:endParaRPr lang="en-US" dirty="0">
              <a:latin typeface="Avenir Book" charset="0"/>
              <a:ea typeface="Avenir Book" charset="0"/>
              <a:cs typeface="Avenir Book" charset="0"/>
            </a:endParaRPr>
          </a:p>
        </p:txBody>
      </p:sp>
    </p:spTree>
    <p:extLst>
      <p:ext uri="{BB962C8B-B14F-4D97-AF65-F5344CB8AC3E}">
        <p14:creationId xmlns:p14="http://schemas.microsoft.com/office/powerpoint/2010/main" val="1149052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5" grpId="0" animBg="1"/>
      <p:bldP spid="76" grpId="0" animBg="1"/>
      <p:bldP spid="77" grpId="0" animBg="1"/>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Training in Action</a:t>
            </a:r>
            <a:endParaRPr lang="en-US" dirty="0">
              <a:latin typeface="Avenir Book" charset="0"/>
              <a:ea typeface="Avenir Book" charset="0"/>
              <a:cs typeface="Avenir Book" charset="0"/>
            </a:endParaRPr>
          </a:p>
        </p:txBody>
      </p:sp>
      <p:sp>
        <p:nvSpPr>
          <p:cNvPr id="73" name="Can 72"/>
          <p:cNvSpPr/>
          <p:nvPr/>
        </p:nvSpPr>
        <p:spPr>
          <a:xfrm>
            <a:off x="654416" y="3833444"/>
            <a:ext cx="2339464" cy="851622"/>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venir Book" charset="0"/>
                <a:ea typeface="Avenir Book" charset="0"/>
                <a:cs typeface="Avenir Book" charset="0"/>
              </a:rPr>
              <a:t>Batch 5</a:t>
            </a:r>
            <a:endParaRPr lang="en-US" dirty="0">
              <a:latin typeface="Avenir Book" charset="0"/>
              <a:ea typeface="Avenir Book" charset="0"/>
              <a:cs typeface="Avenir Book" charset="0"/>
            </a:endParaRPr>
          </a:p>
        </p:txBody>
      </p:sp>
      <p:sp>
        <p:nvSpPr>
          <p:cNvPr id="74" name="Can 73"/>
          <p:cNvSpPr/>
          <p:nvPr/>
        </p:nvSpPr>
        <p:spPr>
          <a:xfrm>
            <a:off x="654416" y="3194070"/>
            <a:ext cx="2339464" cy="851622"/>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latin typeface="Avenir Book" charset="0"/>
                <a:ea typeface="Avenir Book" charset="0"/>
                <a:cs typeface="Avenir Book" charset="0"/>
              </a:rPr>
              <a:t>Batch 4</a:t>
            </a:r>
            <a:endParaRPr lang="en-US" dirty="0">
              <a:latin typeface="Avenir Book" charset="0"/>
              <a:ea typeface="Avenir Book" charset="0"/>
              <a:cs typeface="Avenir Book" charset="0"/>
            </a:endParaRPr>
          </a:p>
        </p:txBody>
      </p:sp>
      <p:sp>
        <p:nvSpPr>
          <p:cNvPr id="75" name="Can 74"/>
          <p:cNvSpPr/>
          <p:nvPr/>
        </p:nvSpPr>
        <p:spPr>
          <a:xfrm>
            <a:off x="654416" y="2550533"/>
            <a:ext cx="2339464" cy="851622"/>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latin typeface="Avenir Book" charset="0"/>
                <a:ea typeface="Avenir Book" charset="0"/>
                <a:cs typeface="Avenir Book" charset="0"/>
              </a:rPr>
              <a:t>Batch 3</a:t>
            </a:r>
            <a:endParaRPr lang="en-US" dirty="0">
              <a:latin typeface="Avenir Book" charset="0"/>
              <a:ea typeface="Avenir Book" charset="0"/>
              <a:cs typeface="Avenir Book" charset="0"/>
            </a:endParaRPr>
          </a:p>
        </p:txBody>
      </p:sp>
      <p:sp>
        <p:nvSpPr>
          <p:cNvPr id="76" name="Can 75"/>
          <p:cNvSpPr/>
          <p:nvPr/>
        </p:nvSpPr>
        <p:spPr>
          <a:xfrm>
            <a:off x="654416" y="1906996"/>
            <a:ext cx="2339464" cy="851622"/>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latin typeface="Avenir Book" charset="0"/>
                <a:ea typeface="Avenir Book" charset="0"/>
                <a:cs typeface="Avenir Book" charset="0"/>
              </a:rPr>
              <a:t>Batch 2</a:t>
            </a:r>
            <a:endParaRPr lang="en-US" dirty="0">
              <a:latin typeface="Avenir Book" charset="0"/>
              <a:ea typeface="Avenir Book" charset="0"/>
              <a:cs typeface="Avenir Book" charset="0"/>
            </a:endParaRPr>
          </a:p>
        </p:txBody>
      </p:sp>
      <p:sp>
        <p:nvSpPr>
          <p:cNvPr id="77" name="Can 76"/>
          <p:cNvSpPr/>
          <p:nvPr/>
        </p:nvSpPr>
        <p:spPr>
          <a:xfrm>
            <a:off x="654416" y="1263459"/>
            <a:ext cx="2339464" cy="851622"/>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latin typeface="Avenir Book" charset="0"/>
                <a:ea typeface="Avenir Book" charset="0"/>
                <a:cs typeface="Avenir Book" charset="0"/>
              </a:rPr>
              <a:t>Batch 1</a:t>
            </a:r>
            <a:endParaRPr lang="en-US" dirty="0">
              <a:latin typeface="Avenir Book" charset="0"/>
              <a:ea typeface="Avenir Book" charset="0"/>
              <a:cs typeface="Avenir Book" charset="0"/>
            </a:endParaRPr>
          </a:p>
        </p:txBody>
      </p:sp>
      <p:grpSp>
        <p:nvGrpSpPr>
          <p:cNvPr id="10" name="Group 9"/>
          <p:cNvGrpSpPr/>
          <p:nvPr/>
        </p:nvGrpSpPr>
        <p:grpSpPr>
          <a:xfrm>
            <a:off x="4645181" y="1263459"/>
            <a:ext cx="4191000" cy="3276600"/>
            <a:chOff x="684212" y="2590800"/>
            <a:chExt cx="4191000" cy="3276600"/>
          </a:xfrm>
        </p:grpSpPr>
        <p:grpSp>
          <p:nvGrpSpPr>
            <p:cNvPr id="11" name="Group 10"/>
            <p:cNvGrpSpPr/>
            <p:nvPr/>
          </p:nvGrpSpPr>
          <p:grpSpPr>
            <a:xfrm>
              <a:off x="684212" y="2590800"/>
              <a:ext cx="4191000" cy="3276600"/>
              <a:chOff x="1446212" y="2590800"/>
              <a:chExt cx="4191000" cy="3276600"/>
            </a:xfrm>
          </p:grpSpPr>
          <p:cxnSp>
            <p:nvCxnSpPr>
              <p:cNvPr id="18" name="Straight Connector 17"/>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1516889" y="2899501"/>
              <a:ext cx="2434499" cy="2434499"/>
              <a:chOff x="7317513" y="2899501"/>
              <a:chExt cx="2434499" cy="2434499"/>
            </a:xfrm>
          </p:grpSpPr>
          <p:sp>
            <p:nvSpPr>
              <p:cNvPr id="13" name="Oval 12"/>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4" name="Oval 13"/>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5" name="Oval 14"/>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6" name="Oval 15"/>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7" name="Oval 16"/>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20" name="Straight Arrow Connector 19"/>
          <p:cNvCxnSpPr/>
          <p:nvPr/>
        </p:nvCxnSpPr>
        <p:spPr>
          <a:xfrm flipH="1" flipV="1">
            <a:off x="6695107" y="3495234"/>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6680724" y="3235960"/>
            <a:ext cx="182680" cy="2822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flipV="1">
            <a:off x="6786211" y="2973924"/>
            <a:ext cx="298672" cy="1155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6834852" y="3117487"/>
            <a:ext cx="272847" cy="1584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flipV="1">
            <a:off x="6519303" y="2965213"/>
            <a:ext cx="283752" cy="504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3470935" y="4232282"/>
            <a:ext cx="1973617" cy="307777"/>
          </a:xfrm>
          <a:prstGeom prst="rect">
            <a:avLst/>
          </a:prstGeom>
        </p:spPr>
        <p:txBody>
          <a:bodyPr wrap="none">
            <a:spAutoFit/>
          </a:bodyPr>
          <a:lstStyle/>
          <a:p>
            <a:pPr algn="ctr"/>
            <a:r>
              <a:rPr lang="en-US" dirty="0" smtClean="0">
                <a:latin typeface="Avenir Book" charset="0"/>
                <a:ea typeface="Avenir Book" charset="0"/>
                <a:cs typeface="Avenir Book" charset="0"/>
              </a:rPr>
              <a:t>First </a:t>
            </a:r>
            <a:r>
              <a:rPr lang="en-US" smtClean="0">
                <a:latin typeface="Avenir Book" charset="0"/>
                <a:ea typeface="Avenir Book" charset="0"/>
                <a:cs typeface="Avenir Book" charset="0"/>
              </a:rPr>
              <a:t>Epoch Complete!</a:t>
            </a:r>
            <a:endParaRPr lang="en-US" dirty="0">
              <a:latin typeface="Avenir Book" charset="0"/>
              <a:ea typeface="Avenir Book" charset="0"/>
              <a:cs typeface="Avenir Book" charset="0"/>
            </a:endParaRPr>
          </a:p>
        </p:txBody>
      </p:sp>
    </p:spTree>
    <p:extLst>
      <p:ext uri="{BB962C8B-B14F-4D97-AF65-F5344CB8AC3E}">
        <p14:creationId xmlns:p14="http://schemas.microsoft.com/office/powerpoint/2010/main" val="687418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5" grpId="0" animBg="1"/>
      <p:bldP spid="76" grpId="0" animBg="1"/>
      <p:bldP spid="7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Shuffle the Data!</a:t>
            </a:r>
            <a:endParaRPr lang="en-US" dirty="0">
              <a:latin typeface="Avenir Book" charset="0"/>
              <a:ea typeface="Avenir Book" charset="0"/>
              <a:cs typeface="Avenir Book" charset="0"/>
            </a:endParaRPr>
          </a:p>
        </p:txBody>
      </p:sp>
      <p:sp>
        <p:nvSpPr>
          <p:cNvPr id="73" name="Can 72"/>
          <p:cNvSpPr/>
          <p:nvPr/>
        </p:nvSpPr>
        <p:spPr>
          <a:xfrm>
            <a:off x="654416" y="3833444"/>
            <a:ext cx="2339464" cy="851622"/>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venir Book" charset="0"/>
                <a:ea typeface="Avenir Book" charset="0"/>
                <a:cs typeface="Avenir Book" charset="0"/>
              </a:rPr>
              <a:t>Batch 5</a:t>
            </a:r>
            <a:endParaRPr lang="en-US" dirty="0">
              <a:latin typeface="Avenir Book" charset="0"/>
              <a:ea typeface="Avenir Book" charset="0"/>
              <a:cs typeface="Avenir Book" charset="0"/>
            </a:endParaRPr>
          </a:p>
        </p:txBody>
      </p:sp>
      <p:sp>
        <p:nvSpPr>
          <p:cNvPr id="74" name="Can 73"/>
          <p:cNvSpPr/>
          <p:nvPr/>
        </p:nvSpPr>
        <p:spPr>
          <a:xfrm>
            <a:off x="654416" y="3194070"/>
            <a:ext cx="2339464" cy="851622"/>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latin typeface="Avenir Book" charset="0"/>
                <a:ea typeface="Avenir Book" charset="0"/>
                <a:cs typeface="Avenir Book" charset="0"/>
              </a:rPr>
              <a:t>Batch 4</a:t>
            </a:r>
            <a:endParaRPr lang="en-US" dirty="0">
              <a:latin typeface="Avenir Book" charset="0"/>
              <a:ea typeface="Avenir Book" charset="0"/>
              <a:cs typeface="Avenir Book" charset="0"/>
            </a:endParaRPr>
          </a:p>
        </p:txBody>
      </p:sp>
      <p:sp>
        <p:nvSpPr>
          <p:cNvPr id="75" name="Can 74"/>
          <p:cNvSpPr/>
          <p:nvPr/>
        </p:nvSpPr>
        <p:spPr>
          <a:xfrm>
            <a:off x="654416" y="2550533"/>
            <a:ext cx="2339464" cy="851622"/>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latin typeface="Avenir Book" charset="0"/>
                <a:ea typeface="Avenir Book" charset="0"/>
                <a:cs typeface="Avenir Book" charset="0"/>
              </a:rPr>
              <a:t>Batch 3</a:t>
            </a:r>
            <a:endParaRPr lang="en-US" dirty="0">
              <a:latin typeface="Avenir Book" charset="0"/>
              <a:ea typeface="Avenir Book" charset="0"/>
              <a:cs typeface="Avenir Book" charset="0"/>
            </a:endParaRPr>
          </a:p>
        </p:txBody>
      </p:sp>
      <p:sp>
        <p:nvSpPr>
          <p:cNvPr id="76" name="Can 75"/>
          <p:cNvSpPr/>
          <p:nvPr/>
        </p:nvSpPr>
        <p:spPr>
          <a:xfrm>
            <a:off x="654416" y="1906996"/>
            <a:ext cx="2339464" cy="851622"/>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latin typeface="Avenir Book" charset="0"/>
                <a:ea typeface="Avenir Book" charset="0"/>
                <a:cs typeface="Avenir Book" charset="0"/>
              </a:rPr>
              <a:t>Batch 2</a:t>
            </a:r>
            <a:endParaRPr lang="en-US" dirty="0">
              <a:latin typeface="Avenir Book" charset="0"/>
              <a:ea typeface="Avenir Book" charset="0"/>
              <a:cs typeface="Avenir Book" charset="0"/>
            </a:endParaRPr>
          </a:p>
        </p:txBody>
      </p:sp>
      <p:sp>
        <p:nvSpPr>
          <p:cNvPr id="77" name="Can 76"/>
          <p:cNvSpPr/>
          <p:nvPr/>
        </p:nvSpPr>
        <p:spPr>
          <a:xfrm>
            <a:off x="654416" y="1263459"/>
            <a:ext cx="2339464" cy="851622"/>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latin typeface="Avenir Book" charset="0"/>
                <a:ea typeface="Avenir Book" charset="0"/>
                <a:cs typeface="Avenir Book" charset="0"/>
              </a:rPr>
              <a:t>Batch 1</a:t>
            </a:r>
            <a:endParaRPr lang="en-US" dirty="0">
              <a:latin typeface="Avenir Book" charset="0"/>
              <a:ea typeface="Avenir Book" charset="0"/>
              <a:cs typeface="Avenir Book" charset="0"/>
            </a:endParaRPr>
          </a:p>
        </p:txBody>
      </p:sp>
      <p:sp>
        <p:nvSpPr>
          <p:cNvPr id="32" name="Can 31"/>
          <p:cNvSpPr/>
          <p:nvPr/>
        </p:nvSpPr>
        <p:spPr>
          <a:xfrm>
            <a:off x="5275384" y="2238916"/>
            <a:ext cx="2419228" cy="927381"/>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Can 32"/>
          <p:cNvSpPr/>
          <p:nvPr/>
        </p:nvSpPr>
        <p:spPr>
          <a:xfrm>
            <a:off x="5275384" y="2109535"/>
            <a:ext cx="2419228" cy="927381"/>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34" name="Can 33"/>
          <p:cNvSpPr/>
          <p:nvPr/>
        </p:nvSpPr>
        <p:spPr>
          <a:xfrm>
            <a:off x="5275384" y="2848516"/>
            <a:ext cx="2419228" cy="927381"/>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35" name="Can 34"/>
          <p:cNvSpPr/>
          <p:nvPr/>
        </p:nvSpPr>
        <p:spPr>
          <a:xfrm>
            <a:off x="5275384" y="2261935"/>
            <a:ext cx="2419228" cy="927381"/>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38" name="Can 37"/>
          <p:cNvSpPr/>
          <p:nvPr/>
        </p:nvSpPr>
        <p:spPr>
          <a:xfrm>
            <a:off x="5275384" y="3722435"/>
            <a:ext cx="2419228" cy="927381"/>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Can 38"/>
          <p:cNvSpPr/>
          <p:nvPr/>
        </p:nvSpPr>
        <p:spPr>
          <a:xfrm>
            <a:off x="5275384" y="3557335"/>
            <a:ext cx="2419228" cy="927381"/>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41" name="Can 40"/>
          <p:cNvSpPr/>
          <p:nvPr/>
        </p:nvSpPr>
        <p:spPr>
          <a:xfrm>
            <a:off x="5275384" y="2883045"/>
            <a:ext cx="2419228" cy="927381"/>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53" name="Can 52"/>
          <p:cNvSpPr/>
          <p:nvPr/>
        </p:nvSpPr>
        <p:spPr>
          <a:xfrm>
            <a:off x="5275384" y="1810889"/>
            <a:ext cx="2419228" cy="364112"/>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42" name="Can 41"/>
          <p:cNvSpPr/>
          <p:nvPr/>
        </p:nvSpPr>
        <p:spPr>
          <a:xfrm>
            <a:off x="5275384" y="3733683"/>
            <a:ext cx="2419228" cy="927381"/>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47" name="Can 46"/>
          <p:cNvSpPr/>
          <p:nvPr/>
        </p:nvSpPr>
        <p:spPr>
          <a:xfrm>
            <a:off x="5275384" y="3465678"/>
            <a:ext cx="2419228" cy="927381"/>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9" name="Can 28"/>
          <p:cNvSpPr/>
          <p:nvPr/>
        </p:nvSpPr>
        <p:spPr>
          <a:xfrm>
            <a:off x="5275384" y="3229516"/>
            <a:ext cx="2419228" cy="927381"/>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49" name="Can 48"/>
          <p:cNvSpPr/>
          <p:nvPr/>
        </p:nvSpPr>
        <p:spPr>
          <a:xfrm>
            <a:off x="5275384" y="3015400"/>
            <a:ext cx="2419228" cy="927381"/>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50" name="Can 49"/>
          <p:cNvSpPr/>
          <p:nvPr/>
        </p:nvSpPr>
        <p:spPr>
          <a:xfrm>
            <a:off x="5275384" y="2821241"/>
            <a:ext cx="2419228" cy="927381"/>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52" name="Can 51"/>
          <p:cNvSpPr/>
          <p:nvPr/>
        </p:nvSpPr>
        <p:spPr>
          <a:xfrm>
            <a:off x="5275384" y="2598666"/>
            <a:ext cx="2419228" cy="927381"/>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51" name="Can 50"/>
          <p:cNvSpPr/>
          <p:nvPr/>
        </p:nvSpPr>
        <p:spPr>
          <a:xfrm>
            <a:off x="5275384" y="2340101"/>
            <a:ext cx="2419228" cy="927381"/>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Can 35"/>
          <p:cNvSpPr/>
          <p:nvPr/>
        </p:nvSpPr>
        <p:spPr>
          <a:xfrm>
            <a:off x="5275384" y="2034290"/>
            <a:ext cx="2419228" cy="927381"/>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7" name="Can 26"/>
          <p:cNvSpPr/>
          <p:nvPr/>
        </p:nvSpPr>
        <p:spPr>
          <a:xfrm>
            <a:off x="5275384" y="1917699"/>
            <a:ext cx="2419228" cy="616527"/>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Can 47"/>
          <p:cNvSpPr/>
          <p:nvPr/>
        </p:nvSpPr>
        <p:spPr>
          <a:xfrm>
            <a:off x="5275384" y="1681265"/>
            <a:ext cx="2419228" cy="927381"/>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54" name="Can 53"/>
          <p:cNvSpPr/>
          <p:nvPr/>
        </p:nvSpPr>
        <p:spPr>
          <a:xfrm>
            <a:off x="5275384" y="1657149"/>
            <a:ext cx="2419228" cy="562105"/>
          </a:xfrm>
          <a:prstGeom prst="can">
            <a:avLst>
              <a:gd name="adj" fmla="val 4278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55" name="Can 54"/>
          <p:cNvSpPr/>
          <p:nvPr/>
        </p:nvSpPr>
        <p:spPr>
          <a:xfrm>
            <a:off x="5275384" y="1263459"/>
            <a:ext cx="2419228" cy="627010"/>
          </a:xfrm>
          <a:prstGeom prst="can">
            <a:avLst>
              <a:gd name="adj" fmla="val 43083"/>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cxnSp>
        <p:nvCxnSpPr>
          <p:cNvPr id="56" name="Straight Arrow Connector 55"/>
          <p:cNvCxnSpPr/>
          <p:nvPr/>
        </p:nvCxnSpPr>
        <p:spPr>
          <a:xfrm>
            <a:off x="3610476" y="2961671"/>
            <a:ext cx="736942" cy="624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9654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5" grpId="0" animBg="1"/>
      <p:bldP spid="76" grpId="0" animBg="1"/>
      <p:bldP spid="7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Shuffle the Data!</a:t>
            </a:r>
            <a:endParaRPr lang="en-US" dirty="0">
              <a:latin typeface="Avenir Book" charset="0"/>
              <a:ea typeface="Avenir Book" charset="0"/>
              <a:cs typeface="Avenir Book" charset="0"/>
            </a:endParaRPr>
          </a:p>
        </p:txBody>
      </p:sp>
      <p:sp>
        <p:nvSpPr>
          <p:cNvPr id="32" name="Can 31"/>
          <p:cNvSpPr/>
          <p:nvPr/>
        </p:nvSpPr>
        <p:spPr>
          <a:xfrm>
            <a:off x="679938" y="2215470"/>
            <a:ext cx="2419228" cy="927381"/>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Can 32"/>
          <p:cNvSpPr/>
          <p:nvPr/>
        </p:nvSpPr>
        <p:spPr>
          <a:xfrm>
            <a:off x="679938" y="2086089"/>
            <a:ext cx="2419228" cy="927381"/>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34" name="Can 33"/>
          <p:cNvSpPr/>
          <p:nvPr/>
        </p:nvSpPr>
        <p:spPr>
          <a:xfrm>
            <a:off x="679938" y="2825070"/>
            <a:ext cx="2419228" cy="927381"/>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35" name="Can 34"/>
          <p:cNvSpPr/>
          <p:nvPr/>
        </p:nvSpPr>
        <p:spPr>
          <a:xfrm>
            <a:off x="679938" y="2238489"/>
            <a:ext cx="2419228" cy="927381"/>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38" name="Can 37"/>
          <p:cNvSpPr/>
          <p:nvPr/>
        </p:nvSpPr>
        <p:spPr>
          <a:xfrm>
            <a:off x="679938" y="3698989"/>
            <a:ext cx="2419228" cy="927381"/>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Can 38"/>
          <p:cNvSpPr/>
          <p:nvPr/>
        </p:nvSpPr>
        <p:spPr>
          <a:xfrm>
            <a:off x="679938" y="3533889"/>
            <a:ext cx="2419228" cy="927381"/>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41" name="Can 40"/>
          <p:cNvSpPr/>
          <p:nvPr/>
        </p:nvSpPr>
        <p:spPr>
          <a:xfrm>
            <a:off x="679938" y="2859599"/>
            <a:ext cx="2419228" cy="927381"/>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53" name="Can 52"/>
          <p:cNvSpPr/>
          <p:nvPr/>
        </p:nvSpPr>
        <p:spPr>
          <a:xfrm>
            <a:off x="679938" y="1787443"/>
            <a:ext cx="2419228" cy="364112"/>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42" name="Can 41"/>
          <p:cNvSpPr/>
          <p:nvPr/>
        </p:nvSpPr>
        <p:spPr>
          <a:xfrm>
            <a:off x="679938" y="3710237"/>
            <a:ext cx="2419228" cy="927381"/>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47" name="Can 46"/>
          <p:cNvSpPr/>
          <p:nvPr/>
        </p:nvSpPr>
        <p:spPr>
          <a:xfrm>
            <a:off x="679938" y="3442232"/>
            <a:ext cx="2419228" cy="927381"/>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9" name="Can 28"/>
          <p:cNvSpPr/>
          <p:nvPr/>
        </p:nvSpPr>
        <p:spPr>
          <a:xfrm>
            <a:off x="679938" y="3206070"/>
            <a:ext cx="2419228" cy="927381"/>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49" name="Can 48"/>
          <p:cNvSpPr/>
          <p:nvPr/>
        </p:nvSpPr>
        <p:spPr>
          <a:xfrm>
            <a:off x="679938" y="2991954"/>
            <a:ext cx="2419228" cy="927381"/>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50" name="Can 49"/>
          <p:cNvSpPr/>
          <p:nvPr/>
        </p:nvSpPr>
        <p:spPr>
          <a:xfrm>
            <a:off x="679938" y="2797795"/>
            <a:ext cx="2419228" cy="927381"/>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52" name="Can 51"/>
          <p:cNvSpPr/>
          <p:nvPr/>
        </p:nvSpPr>
        <p:spPr>
          <a:xfrm>
            <a:off x="679938" y="2575220"/>
            <a:ext cx="2419228" cy="927381"/>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51" name="Can 50"/>
          <p:cNvSpPr/>
          <p:nvPr/>
        </p:nvSpPr>
        <p:spPr>
          <a:xfrm>
            <a:off x="679938" y="2316655"/>
            <a:ext cx="2419228" cy="927381"/>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Can 35"/>
          <p:cNvSpPr/>
          <p:nvPr/>
        </p:nvSpPr>
        <p:spPr>
          <a:xfrm>
            <a:off x="679938" y="2010844"/>
            <a:ext cx="2419228" cy="927381"/>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7" name="Can 26"/>
          <p:cNvSpPr/>
          <p:nvPr/>
        </p:nvSpPr>
        <p:spPr>
          <a:xfrm>
            <a:off x="679938" y="1894253"/>
            <a:ext cx="2419228" cy="616527"/>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Can 47"/>
          <p:cNvSpPr/>
          <p:nvPr/>
        </p:nvSpPr>
        <p:spPr>
          <a:xfrm>
            <a:off x="679938" y="1657819"/>
            <a:ext cx="2419228" cy="927381"/>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54" name="Can 53"/>
          <p:cNvSpPr/>
          <p:nvPr/>
        </p:nvSpPr>
        <p:spPr>
          <a:xfrm>
            <a:off x="679938" y="1633703"/>
            <a:ext cx="2419228" cy="562105"/>
          </a:xfrm>
          <a:prstGeom prst="can">
            <a:avLst>
              <a:gd name="adj" fmla="val 4278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55" name="Can 54"/>
          <p:cNvSpPr/>
          <p:nvPr/>
        </p:nvSpPr>
        <p:spPr>
          <a:xfrm>
            <a:off x="679938" y="1240013"/>
            <a:ext cx="2419228" cy="627010"/>
          </a:xfrm>
          <a:prstGeom prst="can">
            <a:avLst>
              <a:gd name="adj" fmla="val 43083"/>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grpSp>
        <p:nvGrpSpPr>
          <p:cNvPr id="30" name="Group 29"/>
          <p:cNvGrpSpPr/>
          <p:nvPr/>
        </p:nvGrpSpPr>
        <p:grpSpPr>
          <a:xfrm>
            <a:off x="4645181" y="1263459"/>
            <a:ext cx="4191000" cy="3276600"/>
            <a:chOff x="684212" y="2590800"/>
            <a:chExt cx="4191000" cy="3276600"/>
          </a:xfrm>
        </p:grpSpPr>
        <p:grpSp>
          <p:nvGrpSpPr>
            <p:cNvPr id="31" name="Group 30"/>
            <p:cNvGrpSpPr/>
            <p:nvPr/>
          </p:nvGrpSpPr>
          <p:grpSpPr>
            <a:xfrm>
              <a:off x="684212" y="2590800"/>
              <a:ext cx="4191000" cy="3276600"/>
              <a:chOff x="1446212" y="2590800"/>
              <a:chExt cx="4191000" cy="3276600"/>
            </a:xfrm>
          </p:grpSpPr>
          <p:cxnSp>
            <p:nvCxnSpPr>
              <p:cNvPr id="57" name="Straight Connector 56"/>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1516889" y="2899501"/>
              <a:ext cx="2434499" cy="2434499"/>
              <a:chOff x="7317513" y="2899501"/>
              <a:chExt cx="2434499" cy="2434499"/>
            </a:xfrm>
          </p:grpSpPr>
          <p:sp>
            <p:nvSpPr>
              <p:cNvPr id="40" name="Oval 39"/>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43" name="Oval 42"/>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44" name="Oval 43"/>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45" name="Oval 44"/>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46" name="Oval 45"/>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59" name="Straight Arrow Connector 58"/>
          <p:cNvCxnSpPr/>
          <p:nvPr/>
        </p:nvCxnSpPr>
        <p:spPr>
          <a:xfrm flipH="1" flipV="1">
            <a:off x="6695107" y="3495234"/>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V="1">
            <a:off x="6680724" y="3235960"/>
            <a:ext cx="182680" cy="2822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H="1" flipV="1">
            <a:off x="6786211" y="2973924"/>
            <a:ext cx="298672" cy="1155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flipV="1">
            <a:off x="6834852" y="3117487"/>
            <a:ext cx="272847" cy="1584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flipH="1" flipV="1">
            <a:off x="6519303" y="2965213"/>
            <a:ext cx="283752" cy="504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4" name="Left Brace 63"/>
          <p:cNvSpPr/>
          <p:nvPr/>
        </p:nvSpPr>
        <p:spPr>
          <a:xfrm flipH="1">
            <a:off x="3091284" y="1381686"/>
            <a:ext cx="172568" cy="56007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Rectangle 64"/>
          <p:cNvSpPr/>
          <p:nvPr/>
        </p:nvSpPr>
        <p:spPr>
          <a:xfrm>
            <a:off x="3330040" y="1537967"/>
            <a:ext cx="700833" cy="307777"/>
          </a:xfrm>
          <a:prstGeom prst="rect">
            <a:avLst/>
          </a:prstGeom>
        </p:spPr>
        <p:txBody>
          <a:bodyPr wrap="none">
            <a:spAutoFit/>
          </a:bodyPr>
          <a:lstStyle/>
          <a:p>
            <a:pPr algn="ctr"/>
            <a:r>
              <a:rPr lang="en-US" dirty="0" smtClean="0">
                <a:latin typeface="Avenir Book" charset="0"/>
                <a:ea typeface="Avenir Book" charset="0"/>
                <a:cs typeface="Avenir Book" charset="0"/>
              </a:rPr>
              <a:t>Step 6</a:t>
            </a:r>
            <a:endParaRPr lang="en-US" dirty="0">
              <a:latin typeface="Avenir Book" charset="0"/>
              <a:ea typeface="Avenir Book" charset="0"/>
              <a:cs typeface="Avenir Book" charset="0"/>
            </a:endParaRPr>
          </a:p>
        </p:txBody>
      </p:sp>
      <p:cxnSp>
        <p:nvCxnSpPr>
          <p:cNvPr id="66" name="Straight Arrow Connector 65"/>
          <p:cNvCxnSpPr/>
          <p:nvPr/>
        </p:nvCxnSpPr>
        <p:spPr>
          <a:xfrm flipV="1">
            <a:off x="6482169" y="2648285"/>
            <a:ext cx="182680" cy="2822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863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The </a:t>
            </a:r>
            <a:r>
              <a:rPr lang="en-US" dirty="0" err="1" smtClean="0">
                <a:latin typeface="Avenir Book" charset="0"/>
                <a:ea typeface="Avenir Book" charset="0"/>
                <a:cs typeface="Avenir Book" charset="0"/>
              </a:rPr>
              <a:t>Keras</a:t>
            </a:r>
            <a:r>
              <a:rPr lang="en-US" dirty="0" smtClean="0">
                <a:latin typeface="Avenir Book" charset="0"/>
                <a:ea typeface="Avenir Book" charset="0"/>
                <a:cs typeface="Avenir Book" charset="0"/>
              </a:rPr>
              <a:t> Package </a:t>
            </a:r>
            <a:endParaRPr lang="en-US" dirty="0">
              <a:latin typeface="Avenir Book" charset="0"/>
              <a:ea typeface="Avenir Book" charset="0"/>
              <a:cs typeface="Avenir Book" charset="0"/>
            </a:endParaRPr>
          </a:p>
        </p:txBody>
      </p:sp>
      <p:sp>
        <p:nvSpPr>
          <p:cNvPr id="75" name="Rectangle 74"/>
          <p:cNvSpPr/>
          <p:nvPr/>
        </p:nvSpPr>
        <p:spPr>
          <a:xfrm>
            <a:off x="398352" y="1227244"/>
            <a:ext cx="8192764" cy="2800767"/>
          </a:xfrm>
          <a:prstGeom prst="rect">
            <a:avLst/>
          </a:prstGeom>
        </p:spPr>
        <p:txBody>
          <a:bodyPr wrap="square">
            <a:spAutoFit/>
          </a:bodyPr>
          <a:lstStyle/>
          <a:p>
            <a:pPr marL="457200" lvl="0" indent="-457200">
              <a:buFont typeface="Arial" charset="0"/>
              <a:buChar char="•"/>
            </a:pPr>
            <a:r>
              <a:rPr lang="en-US" sz="2200" dirty="0" err="1" smtClean="0">
                <a:latin typeface="Avenir Book" charset="0"/>
                <a:ea typeface="Avenir Book" charset="0"/>
                <a:cs typeface="Avenir Book" charset="0"/>
              </a:rPr>
              <a:t>Keras</a:t>
            </a:r>
            <a:r>
              <a:rPr lang="en-US" sz="2200" dirty="0" smtClean="0">
                <a:latin typeface="Avenir Book" charset="0"/>
                <a:ea typeface="Avenir Book" charset="0"/>
                <a:cs typeface="Avenir Book" charset="0"/>
              </a:rPr>
              <a:t> allows easy construction, training, and execution of Deep Neural Networks</a:t>
            </a:r>
            <a:endParaRPr lang="en-US" sz="800" dirty="0" smtClean="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Written in Python, and allows users to configure complicated models directly in Python</a:t>
            </a:r>
          </a:p>
          <a:p>
            <a:pPr marL="457200" lvl="0" indent="-457200">
              <a:buFont typeface="Arial" charset="0"/>
              <a:buChar char="•"/>
            </a:pPr>
            <a:r>
              <a:rPr lang="en-US" sz="2200" dirty="0" smtClean="0">
                <a:latin typeface="Avenir Book" charset="0"/>
                <a:ea typeface="Avenir Book" charset="0"/>
                <a:cs typeface="Avenir Book" charset="0"/>
              </a:rPr>
              <a:t>Uses either </a:t>
            </a:r>
            <a:r>
              <a:rPr lang="en-US" sz="2200" dirty="0" err="1" smtClean="0">
                <a:latin typeface="Avenir Book" charset="0"/>
                <a:ea typeface="Avenir Book" charset="0"/>
                <a:cs typeface="Avenir Book" charset="0"/>
              </a:rPr>
              <a:t>Tensorflow</a:t>
            </a:r>
            <a:r>
              <a:rPr lang="en-US" sz="2200" dirty="0" smtClean="0">
                <a:latin typeface="Avenir Book" charset="0"/>
                <a:ea typeface="Avenir Book" charset="0"/>
                <a:cs typeface="Avenir Book" charset="0"/>
              </a:rPr>
              <a:t> or </a:t>
            </a:r>
            <a:r>
              <a:rPr lang="en-US" sz="2200" dirty="0" err="1" smtClean="0">
                <a:latin typeface="Avenir Book" charset="0"/>
                <a:ea typeface="Avenir Book" charset="0"/>
                <a:cs typeface="Avenir Book" charset="0"/>
              </a:rPr>
              <a:t>Theano</a:t>
            </a:r>
            <a:r>
              <a:rPr lang="en-US" sz="2200" dirty="0" smtClean="0">
                <a:latin typeface="Avenir Book" charset="0"/>
                <a:ea typeface="Avenir Book" charset="0"/>
                <a:cs typeface="Avenir Book" charset="0"/>
              </a:rPr>
              <a:t> “under the hood”</a:t>
            </a:r>
          </a:p>
          <a:p>
            <a:pPr marL="457200" lvl="0" indent="-457200">
              <a:buFont typeface="Arial" charset="0"/>
              <a:buChar char="•"/>
            </a:pPr>
            <a:r>
              <a:rPr lang="en-US" sz="2200" dirty="0" smtClean="0">
                <a:latin typeface="Avenir Book" charset="0"/>
                <a:ea typeface="Avenir Book" charset="0"/>
                <a:cs typeface="Avenir Book" charset="0"/>
              </a:rPr>
              <a:t>Uses either CPU or GPU for computation</a:t>
            </a:r>
          </a:p>
          <a:p>
            <a:pPr marL="457200" lvl="0" indent="-457200">
              <a:buFont typeface="Arial" charset="0"/>
              <a:buChar char="•"/>
            </a:pPr>
            <a:r>
              <a:rPr lang="en-US" sz="2200" dirty="0" smtClean="0">
                <a:latin typeface="Avenir Book" charset="0"/>
                <a:ea typeface="Avenir Book" charset="0"/>
                <a:cs typeface="Avenir Book" charset="0"/>
              </a:rPr>
              <a:t>Uses </a:t>
            </a:r>
            <a:r>
              <a:rPr lang="en-US" sz="2200" dirty="0" err="1" smtClean="0">
                <a:latin typeface="Avenir Book" charset="0"/>
                <a:ea typeface="Avenir Book" charset="0"/>
                <a:cs typeface="Avenir Book" charset="0"/>
              </a:rPr>
              <a:t>numpy</a:t>
            </a:r>
            <a:r>
              <a:rPr lang="en-US" sz="2200" dirty="0" smtClean="0">
                <a:latin typeface="Avenir Book" charset="0"/>
                <a:ea typeface="Avenir Book" charset="0"/>
                <a:cs typeface="Avenir Book" charset="0"/>
              </a:rPr>
              <a:t> data structures, and a similar command structure to </a:t>
            </a:r>
            <a:r>
              <a:rPr lang="en-US" sz="2200" dirty="0" err="1" smtClean="0">
                <a:latin typeface="Avenir Book" charset="0"/>
                <a:ea typeface="Avenir Book" charset="0"/>
                <a:cs typeface="Avenir Book" charset="0"/>
              </a:rPr>
              <a:t>scikit</a:t>
            </a:r>
            <a:r>
              <a:rPr lang="en-US" sz="2200" dirty="0" smtClean="0">
                <a:latin typeface="Avenir Book" charset="0"/>
                <a:ea typeface="Avenir Book" charset="0"/>
                <a:cs typeface="Avenir Book" charset="0"/>
              </a:rPr>
              <a:t>-learn (</a:t>
            </a:r>
            <a:r>
              <a:rPr lang="en-US" sz="2200" dirty="0" err="1" smtClean="0">
                <a:latin typeface="Avenir Book" charset="0"/>
                <a:ea typeface="Avenir Book" charset="0"/>
                <a:cs typeface="Avenir Book" charset="0"/>
              </a:rPr>
              <a:t>model.fit</a:t>
            </a:r>
            <a:r>
              <a:rPr lang="en-US" sz="2200" dirty="0" smtClean="0">
                <a:latin typeface="Avenir Book" charset="0"/>
                <a:ea typeface="Avenir Book" charset="0"/>
                <a:cs typeface="Avenir Book" charset="0"/>
              </a:rPr>
              <a:t> , </a:t>
            </a:r>
            <a:r>
              <a:rPr lang="en-US" sz="2200" dirty="0" err="1" smtClean="0">
                <a:latin typeface="Avenir Book" charset="0"/>
                <a:ea typeface="Avenir Book" charset="0"/>
                <a:cs typeface="Avenir Book" charset="0"/>
              </a:rPr>
              <a:t>model.predict</a:t>
            </a:r>
            <a:r>
              <a:rPr lang="en-US" sz="2200" dirty="0" smtClean="0">
                <a:latin typeface="Avenir Book" charset="0"/>
                <a:ea typeface="Avenir Book" charset="0"/>
                <a:cs typeface="Avenir Book" charset="0"/>
              </a:rPr>
              <a:t>, etc.)</a:t>
            </a:r>
          </a:p>
        </p:txBody>
      </p:sp>
    </p:spTree>
    <p:extLst>
      <p:ext uri="{BB962C8B-B14F-4D97-AF65-F5344CB8AC3E}">
        <p14:creationId xmlns:p14="http://schemas.microsoft.com/office/powerpoint/2010/main" val="20684756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Typical Command Structure in </a:t>
            </a:r>
            <a:r>
              <a:rPr lang="en-US" dirty="0" err="1" smtClean="0">
                <a:latin typeface="Avenir Book" charset="0"/>
                <a:ea typeface="Avenir Book" charset="0"/>
                <a:cs typeface="Avenir Book" charset="0"/>
              </a:rPr>
              <a:t>Keras</a:t>
            </a:r>
            <a:endParaRPr lang="en-US" dirty="0">
              <a:latin typeface="Avenir Book" charset="0"/>
              <a:ea typeface="Avenir Book" charset="0"/>
              <a:cs typeface="Avenir Book" charset="0"/>
            </a:endParaRPr>
          </a:p>
        </p:txBody>
      </p:sp>
      <p:sp>
        <p:nvSpPr>
          <p:cNvPr id="75" name="Rectangle 74"/>
          <p:cNvSpPr/>
          <p:nvPr/>
        </p:nvSpPr>
        <p:spPr>
          <a:xfrm>
            <a:off x="398352" y="1227244"/>
            <a:ext cx="8192764" cy="2800767"/>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Build the structure of your network.</a:t>
            </a:r>
          </a:p>
          <a:p>
            <a:pPr marL="457200" lvl="0" indent="-457200">
              <a:buFont typeface="Arial" charset="0"/>
              <a:buChar char="•"/>
            </a:pPr>
            <a:r>
              <a:rPr lang="en-US" sz="2200" dirty="0" smtClean="0">
                <a:latin typeface="Avenir Book" charset="0"/>
                <a:ea typeface="Avenir Book" charset="0"/>
                <a:cs typeface="Avenir Book" charset="0"/>
              </a:rPr>
              <a:t>Compile the model, specifying your loss function, metrics, and optimizer (which includes the learning rate).</a:t>
            </a:r>
          </a:p>
          <a:p>
            <a:pPr marL="457200" lvl="0" indent="-457200">
              <a:buFont typeface="Arial" charset="0"/>
              <a:buChar char="•"/>
            </a:pPr>
            <a:r>
              <a:rPr lang="en-US" sz="2200" dirty="0" smtClean="0">
                <a:latin typeface="Avenir Book" charset="0"/>
                <a:ea typeface="Avenir Book" charset="0"/>
                <a:cs typeface="Avenir Book" charset="0"/>
              </a:rPr>
              <a:t>Fit the model on your training data (specifying batch size, number of epochs)</a:t>
            </a:r>
          </a:p>
          <a:p>
            <a:pPr marL="457200" lvl="0" indent="-457200">
              <a:buFont typeface="Arial" charset="0"/>
              <a:buChar char="•"/>
            </a:pPr>
            <a:r>
              <a:rPr lang="en-US" sz="2200" dirty="0" smtClean="0">
                <a:latin typeface="Avenir Book" charset="0"/>
                <a:ea typeface="Avenir Book" charset="0"/>
                <a:cs typeface="Avenir Book" charset="0"/>
              </a:rPr>
              <a:t>Predict on new data</a:t>
            </a:r>
          </a:p>
          <a:p>
            <a:pPr marL="457200" lvl="0" indent="-457200">
              <a:buFont typeface="Arial" charset="0"/>
              <a:buChar char="•"/>
            </a:pPr>
            <a:r>
              <a:rPr lang="en-US" sz="2200" dirty="0" smtClean="0">
                <a:latin typeface="Avenir Book" charset="0"/>
                <a:ea typeface="Avenir Book" charset="0"/>
                <a:cs typeface="Avenir Book" charset="0"/>
              </a:rPr>
              <a:t>Evaluate your results</a:t>
            </a:r>
            <a:endParaRPr lang="en-US" sz="2200" dirty="0">
              <a:latin typeface="Avenir Book" charset="0"/>
              <a:ea typeface="Avenir Book" charset="0"/>
              <a:cs typeface="Avenir Book" charset="0"/>
            </a:endParaRPr>
          </a:p>
          <a:p>
            <a:pPr marL="457200" lvl="0" indent="-457200">
              <a:buFont typeface="+mj-lt"/>
              <a:buAutoNum type="arabicParenR"/>
            </a:pPr>
            <a:endParaRPr lang="en-US" sz="2200" dirty="0" smtClean="0">
              <a:latin typeface="Avenir Book" charset="0"/>
              <a:ea typeface="Avenir Book" charset="0"/>
              <a:cs typeface="Avenir Book" charset="0"/>
            </a:endParaRPr>
          </a:p>
        </p:txBody>
      </p:sp>
    </p:spTree>
    <p:extLst>
      <p:ext uri="{BB962C8B-B14F-4D97-AF65-F5344CB8AC3E}">
        <p14:creationId xmlns:p14="http://schemas.microsoft.com/office/powerpoint/2010/main" val="2010854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Building the model</a:t>
            </a:r>
            <a:endParaRPr lang="en-US" dirty="0">
              <a:latin typeface="Avenir Book" charset="0"/>
              <a:ea typeface="Avenir Book" charset="0"/>
              <a:cs typeface="Avenir Book" charset="0"/>
            </a:endParaRPr>
          </a:p>
        </p:txBody>
      </p:sp>
      <p:sp>
        <p:nvSpPr>
          <p:cNvPr id="75" name="Rectangle 74"/>
          <p:cNvSpPr/>
          <p:nvPr/>
        </p:nvSpPr>
        <p:spPr>
          <a:xfrm>
            <a:off x="398352" y="1227244"/>
            <a:ext cx="8192764" cy="2462213"/>
          </a:xfrm>
          <a:prstGeom prst="rect">
            <a:avLst/>
          </a:prstGeom>
        </p:spPr>
        <p:txBody>
          <a:bodyPr wrap="square">
            <a:spAutoFit/>
          </a:bodyPr>
          <a:lstStyle/>
          <a:p>
            <a:pPr marL="457200" lvl="0" indent="-457200">
              <a:buFont typeface="Arial" charset="0"/>
              <a:buChar char="•"/>
            </a:pPr>
            <a:r>
              <a:rPr lang="en-US" sz="2200" dirty="0" err="1" smtClean="0">
                <a:latin typeface="Avenir Book" charset="0"/>
                <a:ea typeface="Avenir Book" charset="0"/>
                <a:cs typeface="Avenir Book" charset="0"/>
              </a:rPr>
              <a:t>Keras</a:t>
            </a:r>
            <a:r>
              <a:rPr lang="en-US" sz="2200" dirty="0" smtClean="0">
                <a:latin typeface="Avenir Book" charset="0"/>
                <a:ea typeface="Avenir Book" charset="0"/>
                <a:cs typeface="Avenir Book" charset="0"/>
              </a:rPr>
              <a:t> provides two approaches to building the structure of your model:</a:t>
            </a:r>
          </a:p>
          <a:p>
            <a:pPr marL="457200" lvl="0" indent="-457200">
              <a:buFont typeface="Arial" charset="0"/>
              <a:buChar char="•"/>
            </a:pPr>
            <a:r>
              <a:rPr lang="en-US" sz="2200" dirty="0" smtClean="0">
                <a:latin typeface="Avenir Book" charset="0"/>
                <a:ea typeface="Avenir Book" charset="0"/>
                <a:cs typeface="Avenir Book" charset="0"/>
              </a:rPr>
              <a:t>Sequential Model: allows a linear stack of layers – simpler and more convenient if model has this form</a:t>
            </a:r>
          </a:p>
          <a:p>
            <a:pPr marL="457200" lvl="0" indent="-457200">
              <a:buFont typeface="Arial" charset="0"/>
              <a:buChar char="•"/>
            </a:pPr>
            <a:r>
              <a:rPr lang="en-US" sz="2200" dirty="0" smtClean="0">
                <a:latin typeface="Avenir Book" charset="0"/>
                <a:ea typeface="Avenir Book" charset="0"/>
                <a:cs typeface="Avenir Book" charset="0"/>
              </a:rPr>
              <a:t>Functional API: more detailed and complex, but allows more complicated architectures</a:t>
            </a:r>
          </a:p>
          <a:p>
            <a:pPr marL="457200" lvl="0" indent="-457200">
              <a:buFont typeface="Arial" charset="0"/>
              <a:buChar char="•"/>
            </a:pPr>
            <a:r>
              <a:rPr lang="en-US" sz="2200" dirty="0" smtClean="0">
                <a:latin typeface="Avenir Book" charset="0"/>
                <a:ea typeface="Avenir Book" charset="0"/>
                <a:cs typeface="Avenir Book" charset="0"/>
              </a:rPr>
              <a:t>We will focus on the Sequential Model.</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5186984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Running Example, this time in </a:t>
            </a:r>
            <a:r>
              <a:rPr lang="en-US" dirty="0" err="1" smtClean="0">
                <a:latin typeface="Avenir Book" charset="0"/>
                <a:ea typeface="Avenir Book" charset="0"/>
                <a:cs typeface="Avenir Book" charset="0"/>
              </a:rPr>
              <a:t>Keras</a:t>
            </a:r>
            <a:endParaRPr lang="en-US" dirty="0">
              <a:latin typeface="Avenir Book" charset="0"/>
              <a:ea typeface="Avenir Book" charset="0"/>
              <a:cs typeface="Avenir Book" charset="0"/>
            </a:endParaRPr>
          </a:p>
        </p:txBody>
      </p:sp>
      <p:grpSp>
        <p:nvGrpSpPr>
          <p:cNvPr id="24" name="Group 23"/>
          <p:cNvGrpSpPr/>
          <p:nvPr/>
        </p:nvGrpSpPr>
        <p:grpSpPr>
          <a:xfrm>
            <a:off x="1453661" y="1617786"/>
            <a:ext cx="5533059" cy="3001107"/>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3"/>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4"/>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5"/>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6"/>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7"/>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8"/>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9"/>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0"/>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1"/>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2"/>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3"/>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4"/>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5"/>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6"/>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44"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45"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3" name="Rectangle 72"/>
          <p:cNvSpPr/>
          <p:nvPr/>
        </p:nvSpPr>
        <p:spPr>
          <a:xfrm>
            <a:off x="398352" y="921960"/>
            <a:ext cx="7315434" cy="707886"/>
          </a:xfrm>
          <a:prstGeom prst="rect">
            <a:avLst/>
          </a:prstGeom>
        </p:spPr>
        <p:txBody>
          <a:bodyPr wrap="square">
            <a:spAutoFit/>
          </a:bodyPr>
          <a:lstStyle/>
          <a:p>
            <a:r>
              <a:rPr lang="en-US" sz="2000" b="1" dirty="0" smtClean="0">
                <a:solidFill>
                  <a:srgbClr val="333333"/>
                </a:solidFill>
                <a:latin typeface="Avenir Book" charset="0"/>
                <a:ea typeface="Avenir Book" charset="0"/>
                <a:cs typeface="Avenir Book" charset="0"/>
              </a:rPr>
              <a:t>Let’s build this Neural Network structure shown below in </a:t>
            </a:r>
            <a:r>
              <a:rPr lang="en-US" sz="2000" b="1" dirty="0" err="1" smtClean="0">
                <a:solidFill>
                  <a:srgbClr val="333333"/>
                </a:solidFill>
                <a:latin typeface="Avenir Book" charset="0"/>
                <a:ea typeface="Avenir Book" charset="0"/>
                <a:cs typeface="Avenir Book" charset="0"/>
              </a:rPr>
              <a:t>Keras</a:t>
            </a:r>
            <a:r>
              <a:rPr lang="en-US" sz="2000" b="1" dirty="0" smtClean="0">
                <a:solidFill>
                  <a:srgbClr val="333333"/>
                </a:solidFill>
                <a:latin typeface="Avenir Book" charset="0"/>
                <a:ea typeface="Avenir Book" charset="0"/>
                <a:cs typeface="Avenir Book" charset="0"/>
              </a:rPr>
              <a:t>:</a:t>
            </a:r>
          </a:p>
        </p:txBody>
      </p:sp>
    </p:spTree>
    <p:extLst>
      <p:ext uri="{BB962C8B-B14F-4D97-AF65-F5344CB8AC3E}">
        <p14:creationId xmlns:p14="http://schemas.microsoft.com/office/powerpoint/2010/main" val="5046729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Keras</a:t>
            </a:r>
            <a:r>
              <a:rPr lang="en-US" dirty="0" smtClean="0">
                <a:latin typeface="Avenir Book" charset="0"/>
                <a:ea typeface="Avenir Book" charset="0"/>
                <a:cs typeface="Avenir Book" charset="0"/>
              </a:rPr>
              <a:t> - Sequential Model</a:t>
            </a:r>
            <a:endParaRPr lang="en-US" dirty="0">
              <a:latin typeface="Avenir Book" charset="0"/>
              <a:ea typeface="Avenir Book" charset="0"/>
              <a:cs typeface="Avenir Book" charset="0"/>
            </a:endParaRPr>
          </a:p>
        </p:txBody>
      </p:sp>
      <p:sp>
        <p:nvSpPr>
          <p:cNvPr id="3" name="Rectangle 2"/>
          <p:cNvSpPr/>
          <p:nvPr/>
        </p:nvSpPr>
        <p:spPr>
          <a:xfrm>
            <a:off x="398352" y="1308821"/>
            <a:ext cx="7315434" cy="1846659"/>
          </a:xfrm>
          <a:prstGeom prst="rect">
            <a:avLst/>
          </a:prstGeom>
        </p:spPr>
        <p:txBody>
          <a:bodyPr wrap="square">
            <a:spAutoFit/>
          </a:bodyPr>
          <a:lstStyle/>
          <a:p>
            <a:r>
              <a:rPr lang="en-US" sz="2000" b="1" dirty="0" smtClean="0">
                <a:solidFill>
                  <a:srgbClr val="333333"/>
                </a:solidFill>
                <a:latin typeface="Avenir Book" charset="0"/>
                <a:ea typeface="Avenir Book" charset="0"/>
                <a:cs typeface="Avenir Book" charset="0"/>
              </a:rPr>
              <a:t>First, import the Sequential function and initialize your model object:</a:t>
            </a:r>
          </a:p>
          <a:p>
            <a:endParaRPr lang="en-US" sz="2000" b="1" dirty="0" smtClean="0">
              <a:solidFill>
                <a:srgbClr val="333333"/>
              </a:solidFill>
              <a:latin typeface="Avenir Book" charset="0"/>
              <a:ea typeface="Avenir Book" charset="0"/>
              <a:cs typeface="Avenir Book" charset="0"/>
            </a:endParaRPr>
          </a:p>
          <a:p>
            <a:endParaRPr lang="en-US" sz="1800" b="1" dirty="0">
              <a:solidFill>
                <a:srgbClr val="333333"/>
              </a:solidFill>
              <a:latin typeface="Consolas" charset="0"/>
            </a:endParaRPr>
          </a:p>
          <a:p>
            <a:r>
              <a:rPr lang="en-US" sz="1800" b="1" dirty="0" smtClean="0">
                <a:solidFill>
                  <a:srgbClr val="333333"/>
                </a:solidFill>
                <a:latin typeface="Consolas" charset="0"/>
              </a:rPr>
              <a:t>from</a:t>
            </a:r>
            <a:r>
              <a:rPr lang="en-US" sz="1800" dirty="0" smtClean="0">
                <a:solidFill>
                  <a:srgbClr val="333333"/>
                </a:solidFill>
                <a:latin typeface="Consolas" charset="0"/>
              </a:rPr>
              <a:t> </a:t>
            </a:r>
            <a:r>
              <a:rPr lang="en-US" sz="1800" dirty="0" err="1">
                <a:solidFill>
                  <a:srgbClr val="333333"/>
                </a:solidFill>
                <a:latin typeface="Consolas" charset="0"/>
              </a:rPr>
              <a:t>keras.models</a:t>
            </a:r>
            <a:r>
              <a:rPr lang="en-US" sz="1800" dirty="0">
                <a:solidFill>
                  <a:srgbClr val="333333"/>
                </a:solidFill>
                <a:latin typeface="Consolas" charset="0"/>
              </a:rPr>
              <a:t> </a:t>
            </a:r>
            <a:r>
              <a:rPr lang="en-US" sz="1800" b="1" dirty="0">
                <a:solidFill>
                  <a:srgbClr val="333333"/>
                </a:solidFill>
                <a:latin typeface="Consolas" charset="0"/>
              </a:rPr>
              <a:t>import</a:t>
            </a:r>
            <a:r>
              <a:rPr lang="en-US" sz="1800" dirty="0">
                <a:solidFill>
                  <a:srgbClr val="333333"/>
                </a:solidFill>
                <a:latin typeface="Consolas" charset="0"/>
              </a:rPr>
              <a:t> </a:t>
            </a:r>
            <a:r>
              <a:rPr lang="en-US" sz="1800" dirty="0" smtClean="0">
                <a:solidFill>
                  <a:srgbClr val="333333"/>
                </a:solidFill>
                <a:latin typeface="Consolas" charset="0"/>
              </a:rPr>
              <a:t>Sequential</a:t>
            </a:r>
          </a:p>
          <a:p>
            <a:r>
              <a:rPr lang="en-US" sz="1800" dirty="0" smtClean="0">
                <a:solidFill>
                  <a:srgbClr val="333333"/>
                </a:solidFill>
                <a:latin typeface="Consolas" charset="0"/>
              </a:rPr>
              <a:t>model </a:t>
            </a:r>
            <a:r>
              <a:rPr lang="en-US" sz="1800" dirty="0">
                <a:solidFill>
                  <a:srgbClr val="333333"/>
                </a:solidFill>
                <a:latin typeface="Consolas" charset="0"/>
              </a:rPr>
              <a:t>= Sequential</a:t>
            </a:r>
            <a:r>
              <a:rPr lang="en-US" sz="1800" dirty="0" smtClean="0">
                <a:solidFill>
                  <a:srgbClr val="333333"/>
                </a:solidFill>
                <a:latin typeface="Consolas" charset="0"/>
              </a:rPr>
              <a:t>()</a:t>
            </a:r>
          </a:p>
        </p:txBody>
      </p:sp>
    </p:spTree>
    <p:extLst>
      <p:ext uri="{BB962C8B-B14F-4D97-AF65-F5344CB8AC3E}">
        <p14:creationId xmlns:p14="http://schemas.microsoft.com/office/powerpoint/2010/main" val="8180561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Keras</a:t>
            </a:r>
            <a:r>
              <a:rPr lang="en-US" dirty="0" smtClean="0">
                <a:latin typeface="Avenir Book" charset="0"/>
                <a:ea typeface="Avenir Book" charset="0"/>
                <a:cs typeface="Avenir Book" charset="0"/>
              </a:rPr>
              <a:t> - Sequential Model</a:t>
            </a:r>
            <a:endParaRPr lang="en-US" dirty="0">
              <a:latin typeface="Avenir Book" charset="0"/>
              <a:ea typeface="Avenir Book" charset="0"/>
              <a:cs typeface="Avenir Book" charset="0"/>
            </a:endParaRPr>
          </a:p>
        </p:txBody>
      </p:sp>
      <p:sp>
        <p:nvSpPr>
          <p:cNvPr id="3" name="Rectangle 2"/>
          <p:cNvSpPr/>
          <p:nvPr/>
        </p:nvSpPr>
        <p:spPr>
          <a:xfrm>
            <a:off x="398352" y="921960"/>
            <a:ext cx="7315434" cy="3785652"/>
          </a:xfrm>
          <a:prstGeom prst="rect">
            <a:avLst/>
          </a:prstGeom>
        </p:spPr>
        <p:txBody>
          <a:bodyPr wrap="square">
            <a:spAutoFit/>
          </a:bodyPr>
          <a:lstStyle/>
          <a:p>
            <a:r>
              <a:rPr lang="en-US" sz="1500" b="1" dirty="0" smtClean="0">
                <a:solidFill>
                  <a:srgbClr val="333333"/>
                </a:solidFill>
                <a:latin typeface="Avenir Book" charset="0"/>
                <a:ea typeface="Avenir Book" charset="0"/>
                <a:cs typeface="Avenir Book" charset="0"/>
              </a:rPr>
              <a:t>Then we add layers to the model one by one.</a:t>
            </a:r>
          </a:p>
          <a:p>
            <a:endParaRPr lang="en-US" sz="1500" b="1" dirty="0">
              <a:solidFill>
                <a:srgbClr val="333333"/>
              </a:solidFill>
              <a:latin typeface="Consolas" charset="0"/>
            </a:endParaRPr>
          </a:p>
          <a:p>
            <a:r>
              <a:rPr lang="en-US" sz="1500" b="1" dirty="0" smtClean="0">
                <a:solidFill>
                  <a:srgbClr val="333333"/>
                </a:solidFill>
                <a:latin typeface="Consolas" charset="0"/>
              </a:rPr>
              <a:t>from</a:t>
            </a:r>
            <a:r>
              <a:rPr lang="en-US" sz="1500" dirty="0" smtClean="0">
                <a:solidFill>
                  <a:srgbClr val="333333"/>
                </a:solidFill>
                <a:latin typeface="Consolas" charset="0"/>
              </a:rPr>
              <a:t> </a:t>
            </a:r>
            <a:r>
              <a:rPr lang="en-US" sz="1500" dirty="0" err="1">
                <a:solidFill>
                  <a:srgbClr val="333333"/>
                </a:solidFill>
                <a:latin typeface="Consolas" charset="0"/>
              </a:rPr>
              <a:t>keras.layers</a:t>
            </a:r>
            <a:r>
              <a:rPr lang="en-US" sz="1500" dirty="0">
                <a:solidFill>
                  <a:srgbClr val="333333"/>
                </a:solidFill>
                <a:latin typeface="Consolas" charset="0"/>
              </a:rPr>
              <a:t> </a:t>
            </a:r>
            <a:r>
              <a:rPr lang="en-US" sz="1500" b="1" dirty="0">
                <a:solidFill>
                  <a:srgbClr val="333333"/>
                </a:solidFill>
                <a:latin typeface="Consolas" charset="0"/>
              </a:rPr>
              <a:t>import</a:t>
            </a:r>
            <a:r>
              <a:rPr lang="en-US" sz="1500" dirty="0">
                <a:solidFill>
                  <a:srgbClr val="333333"/>
                </a:solidFill>
                <a:latin typeface="Consolas" charset="0"/>
              </a:rPr>
              <a:t> Dense, Activation </a:t>
            </a:r>
            <a:endParaRPr lang="en-US" sz="1500" dirty="0" smtClean="0">
              <a:solidFill>
                <a:srgbClr val="333333"/>
              </a:solidFill>
              <a:latin typeface="Consolas" charset="0"/>
            </a:endParaRPr>
          </a:p>
          <a:p>
            <a:endParaRPr lang="en-US" sz="1500" dirty="0" smtClean="0">
              <a:solidFill>
                <a:srgbClr val="333333"/>
              </a:solidFill>
              <a:latin typeface="Consolas" charset="0"/>
            </a:endParaRPr>
          </a:p>
          <a:p>
            <a:r>
              <a:rPr lang="en-US" sz="1500" dirty="0" smtClean="0">
                <a:solidFill>
                  <a:srgbClr val="333333"/>
                </a:solidFill>
                <a:latin typeface="Consolas" charset="0"/>
              </a:rPr>
              <a:t># For the first layer, specify the input dimension</a:t>
            </a:r>
          </a:p>
          <a:p>
            <a:r>
              <a:rPr lang="en-US" sz="1500" dirty="0" err="1" smtClean="0">
                <a:solidFill>
                  <a:srgbClr val="333333"/>
                </a:solidFill>
                <a:latin typeface="Consolas" charset="0"/>
              </a:rPr>
              <a:t>model.add</a:t>
            </a:r>
            <a:r>
              <a:rPr lang="en-US" sz="1500" dirty="0" smtClean="0">
                <a:solidFill>
                  <a:srgbClr val="333333"/>
                </a:solidFill>
                <a:latin typeface="Consolas" charset="0"/>
              </a:rPr>
              <a:t>(Dense(units=</a:t>
            </a:r>
            <a:r>
              <a:rPr lang="en-US" sz="1500" dirty="0" smtClean="0">
                <a:solidFill>
                  <a:srgbClr val="008080"/>
                </a:solidFill>
                <a:latin typeface="Consolas" charset="0"/>
              </a:rPr>
              <a:t>4</a:t>
            </a:r>
            <a:r>
              <a:rPr lang="en-US" sz="1500" dirty="0">
                <a:solidFill>
                  <a:srgbClr val="333333"/>
                </a:solidFill>
                <a:latin typeface="Consolas" charset="0"/>
              </a:rPr>
              <a:t>, </a:t>
            </a:r>
            <a:r>
              <a:rPr lang="en-US" sz="1500" dirty="0" err="1" smtClean="0">
                <a:solidFill>
                  <a:srgbClr val="333333"/>
                </a:solidFill>
                <a:latin typeface="Consolas" charset="0"/>
              </a:rPr>
              <a:t>input_dim</a:t>
            </a:r>
            <a:r>
              <a:rPr lang="en-US" sz="1500" dirty="0" smtClean="0">
                <a:solidFill>
                  <a:srgbClr val="333333"/>
                </a:solidFill>
                <a:latin typeface="Consolas" charset="0"/>
              </a:rPr>
              <a:t>=</a:t>
            </a:r>
            <a:r>
              <a:rPr lang="en-US" sz="1500" dirty="0" smtClean="0">
                <a:solidFill>
                  <a:srgbClr val="008080"/>
                </a:solidFill>
                <a:latin typeface="Consolas" charset="0"/>
              </a:rPr>
              <a:t>3</a:t>
            </a:r>
            <a:r>
              <a:rPr lang="en-US" sz="1500" dirty="0" smtClean="0">
                <a:solidFill>
                  <a:srgbClr val="333333"/>
                </a:solidFill>
                <a:latin typeface="Consolas" charset="0"/>
              </a:rPr>
              <a:t>)) </a:t>
            </a:r>
          </a:p>
          <a:p>
            <a:endParaRPr lang="en-US" sz="1500" dirty="0" smtClean="0">
              <a:solidFill>
                <a:srgbClr val="333333"/>
              </a:solidFill>
              <a:latin typeface="Consolas" charset="0"/>
            </a:endParaRPr>
          </a:p>
          <a:p>
            <a:r>
              <a:rPr lang="en-US" sz="1500" dirty="0" smtClean="0">
                <a:solidFill>
                  <a:srgbClr val="333333"/>
                </a:solidFill>
                <a:latin typeface="Consolas" charset="0"/>
              </a:rPr>
              <a:t># Specify an activation function</a:t>
            </a:r>
            <a:endParaRPr lang="en-US" sz="1500" dirty="0">
              <a:solidFill>
                <a:srgbClr val="333333"/>
              </a:solidFill>
              <a:latin typeface="Consolas" charset="0"/>
            </a:endParaRPr>
          </a:p>
          <a:p>
            <a:r>
              <a:rPr lang="en-US" sz="1500" dirty="0" err="1" smtClean="0">
                <a:solidFill>
                  <a:srgbClr val="333333"/>
                </a:solidFill>
                <a:latin typeface="Consolas" charset="0"/>
              </a:rPr>
              <a:t>model.add</a:t>
            </a:r>
            <a:r>
              <a:rPr lang="en-US" sz="1500" dirty="0" smtClean="0">
                <a:solidFill>
                  <a:srgbClr val="333333"/>
                </a:solidFill>
                <a:latin typeface="Consolas" charset="0"/>
              </a:rPr>
              <a:t>(Activation(</a:t>
            </a:r>
            <a:r>
              <a:rPr lang="en-US" sz="1500" dirty="0" smtClean="0">
                <a:solidFill>
                  <a:srgbClr val="DD1144"/>
                </a:solidFill>
                <a:latin typeface="Consolas" charset="0"/>
              </a:rPr>
              <a:t>sigmoid'</a:t>
            </a:r>
            <a:r>
              <a:rPr lang="en-US" sz="1500" dirty="0" smtClean="0">
                <a:solidFill>
                  <a:srgbClr val="333333"/>
                </a:solidFill>
                <a:latin typeface="Consolas" charset="0"/>
              </a:rPr>
              <a:t>))</a:t>
            </a:r>
          </a:p>
          <a:p>
            <a:endParaRPr lang="en-US" sz="1500" dirty="0" smtClean="0">
              <a:solidFill>
                <a:srgbClr val="333333"/>
              </a:solidFill>
              <a:latin typeface="Consolas" charset="0"/>
            </a:endParaRPr>
          </a:p>
          <a:p>
            <a:r>
              <a:rPr lang="en-US" sz="1500" dirty="0" smtClean="0">
                <a:solidFill>
                  <a:srgbClr val="333333"/>
                </a:solidFill>
                <a:latin typeface="Consolas" charset="0"/>
              </a:rPr>
              <a:t># For subsequent layers, the input dimension is presumed from</a:t>
            </a:r>
          </a:p>
          <a:p>
            <a:r>
              <a:rPr lang="en-US" sz="1500" dirty="0">
                <a:solidFill>
                  <a:srgbClr val="333333"/>
                </a:solidFill>
                <a:latin typeface="Consolas" charset="0"/>
              </a:rPr>
              <a:t>#</a:t>
            </a:r>
            <a:r>
              <a:rPr lang="en-US" sz="1500" dirty="0" smtClean="0">
                <a:solidFill>
                  <a:srgbClr val="333333"/>
                </a:solidFill>
                <a:latin typeface="Consolas" charset="0"/>
              </a:rPr>
              <a:t> the previous layer </a:t>
            </a:r>
          </a:p>
          <a:p>
            <a:r>
              <a:rPr lang="en-US" sz="1500" dirty="0" err="1" smtClean="0">
                <a:solidFill>
                  <a:srgbClr val="333333"/>
                </a:solidFill>
                <a:latin typeface="Consolas" charset="0"/>
              </a:rPr>
              <a:t>model.add</a:t>
            </a:r>
            <a:r>
              <a:rPr lang="en-US" sz="1500" dirty="0" smtClean="0">
                <a:solidFill>
                  <a:srgbClr val="333333"/>
                </a:solidFill>
                <a:latin typeface="Consolas" charset="0"/>
              </a:rPr>
              <a:t>(Dense(units=</a:t>
            </a:r>
            <a:r>
              <a:rPr lang="en-US" sz="1500" dirty="0" smtClean="0">
                <a:solidFill>
                  <a:srgbClr val="008080"/>
                </a:solidFill>
                <a:latin typeface="Consolas" charset="0"/>
              </a:rPr>
              <a:t>4</a:t>
            </a:r>
            <a:r>
              <a:rPr lang="en-US" sz="1500" dirty="0" smtClean="0">
                <a:solidFill>
                  <a:srgbClr val="333333"/>
                </a:solidFill>
                <a:latin typeface="Consolas" charset="0"/>
              </a:rPr>
              <a:t>))</a:t>
            </a:r>
          </a:p>
          <a:p>
            <a:r>
              <a:rPr lang="en-US" sz="1500" dirty="0" err="1">
                <a:solidFill>
                  <a:srgbClr val="333333"/>
                </a:solidFill>
                <a:latin typeface="Consolas" charset="0"/>
              </a:rPr>
              <a:t>model.add</a:t>
            </a:r>
            <a:r>
              <a:rPr lang="en-US" sz="1500" dirty="0">
                <a:solidFill>
                  <a:srgbClr val="333333"/>
                </a:solidFill>
                <a:latin typeface="Consolas" charset="0"/>
              </a:rPr>
              <a:t>(Activation(</a:t>
            </a:r>
            <a:r>
              <a:rPr lang="en-US" sz="1500" dirty="0">
                <a:solidFill>
                  <a:srgbClr val="DD1144"/>
                </a:solidFill>
                <a:latin typeface="Consolas" charset="0"/>
              </a:rPr>
              <a:t>sigmoid'</a:t>
            </a:r>
            <a:r>
              <a:rPr lang="en-US" sz="1500" dirty="0">
                <a:solidFill>
                  <a:srgbClr val="333333"/>
                </a:solidFill>
                <a:latin typeface="Consolas" charset="0"/>
              </a:rPr>
              <a:t>))</a:t>
            </a:r>
            <a:endParaRPr lang="en-US" sz="1500" dirty="0" smtClean="0">
              <a:solidFill>
                <a:srgbClr val="333333"/>
              </a:solidFill>
              <a:latin typeface="Consolas" charset="0"/>
            </a:endParaRPr>
          </a:p>
          <a:p>
            <a:r>
              <a:rPr lang="en-US" sz="1500" dirty="0" err="1" smtClean="0">
                <a:solidFill>
                  <a:srgbClr val="333333"/>
                </a:solidFill>
                <a:latin typeface="Consolas" charset="0"/>
              </a:rPr>
              <a:t>model.add</a:t>
            </a:r>
            <a:r>
              <a:rPr lang="en-US" sz="1500" dirty="0" smtClean="0">
                <a:solidFill>
                  <a:srgbClr val="333333"/>
                </a:solidFill>
                <a:latin typeface="Consolas" charset="0"/>
              </a:rPr>
              <a:t>(Dense(units=</a:t>
            </a:r>
            <a:r>
              <a:rPr lang="en-US" sz="1500" dirty="0" smtClean="0">
                <a:solidFill>
                  <a:srgbClr val="008080"/>
                </a:solidFill>
                <a:latin typeface="Consolas" charset="0"/>
              </a:rPr>
              <a:t>3</a:t>
            </a:r>
            <a:r>
              <a:rPr lang="en-US" sz="1500" dirty="0" smtClean="0">
                <a:solidFill>
                  <a:srgbClr val="333333"/>
                </a:solidFill>
                <a:latin typeface="Consolas" charset="0"/>
              </a:rPr>
              <a:t>))</a:t>
            </a:r>
          </a:p>
          <a:p>
            <a:r>
              <a:rPr lang="en-US" sz="1500" dirty="0" err="1" smtClean="0">
                <a:solidFill>
                  <a:srgbClr val="333333"/>
                </a:solidFill>
                <a:latin typeface="Consolas" charset="0"/>
              </a:rPr>
              <a:t>model.add</a:t>
            </a:r>
            <a:r>
              <a:rPr lang="en-US" sz="1500" dirty="0" smtClean="0">
                <a:solidFill>
                  <a:srgbClr val="333333"/>
                </a:solidFill>
                <a:latin typeface="Consolas" charset="0"/>
              </a:rPr>
              <a:t>(Activation</a:t>
            </a:r>
            <a:r>
              <a:rPr lang="en-US" sz="1500" dirty="0">
                <a:solidFill>
                  <a:srgbClr val="333333"/>
                </a:solidFill>
                <a:latin typeface="Consolas" charset="0"/>
              </a:rPr>
              <a:t>(</a:t>
            </a:r>
            <a:r>
              <a:rPr lang="en-US" sz="1500" dirty="0">
                <a:solidFill>
                  <a:srgbClr val="DD1144"/>
                </a:solidFill>
                <a:latin typeface="Consolas" charset="0"/>
              </a:rPr>
              <a:t>'</a:t>
            </a:r>
            <a:r>
              <a:rPr lang="en-US" sz="1500" dirty="0" err="1">
                <a:solidFill>
                  <a:srgbClr val="DD1144"/>
                </a:solidFill>
                <a:latin typeface="Consolas" charset="0"/>
              </a:rPr>
              <a:t>softmax</a:t>
            </a:r>
            <a:r>
              <a:rPr lang="en-US" sz="1500" dirty="0" smtClean="0">
                <a:solidFill>
                  <a:srgbClr val="DD1144"/>
                </a:solidFill>
                <a:latin typeface="Consolas" charset="0"/>
              </a:rPr>
              <a:t>'</a:t>
            </a:r>
            <a:r>
              <a:rPr lang="en-US" sz="1500" dirty="0" smtClean="0">
                <a:solidFill>
                  <a:srgbClr val="333333"/>
                </a:solidFill>
                <a:latin typeface="Consolas" charset="0"/>
              </a:rPr>
              <a:t>))</a:t>
            </a:r>
            <a:endParaRPr lang="en-US" sz="1500" dirty="0"/>
          </a:p>
        </p:txBody>
      </p:sp>
    </p:spTree>
    <p:extLst>
      <p:ext uri="{BB962C8B-B14F-4D97-AF65-F5344CB8AC3E}">
        <p14:creationId xmlns:p14="http://schemas.microsoft.com/office/powerpoint/2010/main" val="1012156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Multiclass Classification with Neural Networks</a:t>
            </a:r>
            <a:endParaRPr lang="en-US" dirty="0">
              <a:latin typeface="Avenir Book" charset="0"/>
              <a:ea typeface="Avenir Book" charset="0"/>
              <a:cs typeface="Avenir Book" charset="0"/>
            </a:endParaRPr>
          </a:p>
        </p:txBody>
      </p:sp>
      <p:sp>
        <p:nvSpPr>
          <p:cNvPr id="74" name="Rectangle 73"/>
          <p:cNvSpPr/>
          <p:nvPr/>
        </p:nvSpPr>
        <p:spPr>
          <a:xfrm>
            <a:off x="398352" y="1227244"/>
            <a:ext cx="8192764" cy="3139321"/>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For binary classification problems, we have a final layer with a single node and a sigmoid activation.</a:t>
            </a:r>
          </a:p>
          <a:p>
            <a:pPr marL="457200" lvl="0" indent="-457200">
              <a:buFont typeface="Arial" charset="0"/>
              <a:buChar char="•"/>
            </a:pPr>
            <a:r>
              <a:rPr lang="en-US" sz="2200" dirty="0" smtClean="0">
                <a:latin typeface="Avenir Book" charset="0"/>
                <a:ea typeface="Avenir Book" charset="0"/>
                <a:cs typeface="Avenir Book" charset="0"/>
              </a:rPr>
              <a:t>This has many desirable properties</a:t>
            </a:r>
          </a:p>
          <a:p>
            <a:pPr marL="800100" lvl="0" indent="-342900">
              <a:buFont typeface="Courier New" charset="0"/>
              <a:buChar char="o"/>
            </a:pPr>
            <a:r>
              <a:rPr lang="en-US" sz="2200" dirty="0" smtClean="0">
                <a:latin typeface="Avenir Book" charset="0"/>
                <a:ea typeface="Avenir Book" charset="0"/>
                <a:cs typeface="Avenir Book" charset="0"/>
              </a:rPr>
              <a:t>Gives an output strictly between 0 and 1</a:t>
            </a:r>
          </a:p>
          <a:p>
            <a:pPr marL="800100" lvl="0" indent="-342900">
              <a:buFont typeface="Courier New" charset="0"/>
              <a:buChar char="o"/>
            </a:pPr>
            <a:r>
              <a:rPr lang="en-US" sz="2200" dirty="0" smtClean="0">
                <a:latin typeface="Avenir Book" charset="0"/>
                <a:ea typeface="Avenir Book" charset="0"/>
                <a:cs typeface="Avenir Book" charset="0"/>
              </a:rPr>
              <a:t>Can be interpreted as a probability</a:t>
            </a:r>
          </a:p>
          <a:p>
            <a:pPr marL="800100" lvl="0" indent="-342900">
              <a:buFont typeface="Courier New" charset="0"/>
              <a:buChar char="o"/>
            </a:pPr>
            <a:r>
              <a:rPr lang="en-US" sz="2200" dirty="0" smtClean="0">
                <a:latin typeface="Avenir Book" charset="0"/>
                <a:ea typeface="Avenir Book" charset="0"/>
                <a:cs typeface="Avenir Book" charset="0"/>
              </a:rPr>
              <a:t>Derivative is “nice”</a:t>
            </a:r>
          </a:p>
          <a:p>
            <a:pPr marL="800100" lvl="0" indent="-342900">
              <a:buFont typeface="Courier New" charset="0"/>
              <a:buChar char="o"/>
            </a:pPr>
            <a:r>
              <a:rPr lang="en-US" sz="2200" dirty="0" smtClean="0">
                <a:latin typeface="Avenir Book" charset="0"/>
                <a:ea typeface="Avenir Book" charset="0"/>
                <a:cs typeface="Avenir Book" charset="0"/>
              </a:rPr>
              <a:t>Analogous to logistic regression</a:t>
            </a:r>
          </a:p>
          <a:p>
            <a:pPr marL="457200" lvl="0" indent="-457200">
              <a:buFont typeface="Arial" charset="0"/>
              <a:buChar char="•"/>
            </a:pPr>
            <a:r>
              <a:rPr lang="en-US" sz="2200" dirty="0" smtClean="0">
                <a:latin typeface="Avenir Book" charset="0"/>
                <a:ea typeface="Avenir Book" charset="0"/>
                <a:cs typeface="Avenir Book" charset="0"/>
              </a:rPr>
              <a:t>Is there a natural extension of this to a multiclass setting?</a:t>
            </a:r>
          </a:p>
          <a:p>
            <a:pPr marL="457200" lvl="0" indent="-457200">
              <a:buFont typeface="Arial" charset="0"/>
              <a:buChar char="•"/>
            </a:pP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100911768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Multiclass Classification with Neural Networks</a:t>
            </a:r>
            <a:endParaRPr lang="en-US" dirty="0">
              <a:latin typeface="Avenir Book" charset="0"/>
              <a:ea typeface="Avenir Book" charset="0"/>
              <a:cs typeface="Avenir Book" charset="0"/>
            </a:endParaRPr>
          </a:p>
        </p:txBody>
      </p:sp>
      <p:sp>
        <p:nvSpPr>
          <p:cNvPr id="74" name="Rectangle 73"/>
          <p:cNvSpPr/>
          <p:nvPr/>
        </p:nvSpPr>
        <p:spPr>
          <a:xfrm>
            <a:off x="398352" y="1006791"/>
            <a:ext cx="8192764" cy="1446550"/>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Reminder: one hot encoding for categories</a:t>
            </a:r>
          </a:p>
          <a:p>
            <a:pPr marL="457200" lvl="0" indent="-457200">
              <a:buFont typeface="Arial" charset="0"/>
              <a:buChar char="•"/>
            </a:pPr>
            <a:r>
              <a:rPr lang="en-US" sz="2200" dirty="0" smtClean="0">
                <a:latin typeface="Avenir Book" charset="0"/>
                <a:ea typeface="Avenir Book" charset="0"/>
                <a:cs typeface="Avenir Book" charset="0"/>
              </a:rPr>
              <a:t>Take a vector with length equal to the number of categories</a:t>
            </a:r>
          </a:p>
          <a:p>
            <a:pPr marL="457200" lvl="0" indent="-457200">
              <a:buFont typeface="Arial" charset="0"/>
              <a:buChar char="•"/>
            </a:pPr>
            <a:r>
              <a:rPr lang="en-US" sz="2200" dirty="0" smtClean="0">
                <a:latin typeface="Avenir Book" charset="0"/>
                <a:ea typeface="Avenir Book" charset="0"/>
                <a:cs typeface="Avenir Book" charset="0"/>
              </a:rPr>
              <a:t>Represent each category with one at a particular position (and zero everywhere else)</a:t>
            </a:r>
            <a:endParaRPr lang="en-US" sz="2200"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4" name="TextBox 3"/>
              <p:cNvSpPr txBox="1"/>
              <p:nvPr/>
            </p:nvSpPr>
            <p:spPr>
              <a:xfrm>
                <a:off x="1670538" y="2440768"/>
                <a:ext cx="939681" cy="1831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mr-IN" sz="4500" i="1">
                              <a:latin typeface="Cambria Math" panose="02040503050406030204" pitchFamily="18" charset="0"/>
                            </a:rPr>
                          </m:ctrlPr>
                        </m:dPr>
                        <m:e>
                          <m:m>
                            <m:mPr>
                              <m:mcs>
                                <m:mc>
                                  <m:mcPr>
                                    <m:count m:val="1"/>
                                    <m:mcJc m:val="center"/>
                                  </m:mcPr>
                                </m:mc>
                              </m:mcs>
                              <m:ctrlPr>
                                <a:rPr lang="mr-IN" sz="4500" i="1">
                                  <a:latin typeface="Cambria Math" panose="02040503050406030204" pitchFamily="18" charset="0"/>
                                </a:rPr>
                              </m:ctrlPr>
                            </m:mPr>
                            <m:mr>
                              <m:e>
                                <m:r>
                                  <m:rPr>
                                    <m:brk m:alnAt="7"/>
                                  </m:rPr>
                                  <a:rPr lang="en-US" sz="4500" i="1">
                                    <a:latin typeface="Cambria Math" charset="0"/>
                                  </a:rPr>
                                  <m:t>1</m:t>
                                </m:r>
                              </m:e>
                            </m:mr>
                            <m:mr>
                              <m:e>
                                <m:r>
                                  <a:rPr lang="en-US" sz="4500" i="1">
                                    <a:latin typeface="Cambria Math" charset="0"/>
                                  </a:rPr>
                                  <m:t>0</m:t>
                                </m:r>
                              </m:e>
                            </m:mr>
                            <m:mr>
                              <m:e>
                                <m:r>
                                  <a:rPr lang="en-US" sz="4500" i="1">
                                    <a:latin typeface="Cambria Math" charset="0"/>
                                  </a:rPr>
                                  <m:t>0</m:t>
                                </m:r>
                              </m:e>
                            </m:mr>
                          </m:m>
                        </m:e>
                      </m:d>
                    </m:oMath>
                  </m:oMathPara>
                </a14:m>
                <a:endParaRPr lang="en-US" sz="4500" dirty="0"/>
              </a:p>
            </p:txBody>
          </p:sp>
        </mc:Choice>
        <mc:Fallback xmlns="">
          <p:sp>
            <p:nvSpPr>
              <p:cNvPr id="4" name="TextBox 3"/>
              <p:cNvSpPr txBox="1">
                <a:spLocks noRot="1" noChangeAspect="1" noMove="1" noResize="1" noEditPoints="1" noAdjustHandles="1" noChangeArrowheads="1" noChangeShapeType="1" noTextEdit="1"/>
              </p:cNvSpPr>
              <p:nvPr/>
            </p:nvSpPr>
            <p:spPr>
              <a:xfrm>
                <a:off x="1670538" y="2440768"/>
                <a:ext cx="939681" cy="183120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841047" y="2440768"/>
                <a:ext cx="939681" cy="1831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mr-IN" sz="4500" i="1">
                              <a:latin typeface="Cambria Math" panose="02040503050406030204" pitchFamily="18" charset="0"/>
                            </a:rPr>
                          </m:ctrlPr>
                        </m:dPr>
                        <m:e>
                          <m:m>
                            <m:mPr>
                              <m:mcs>
                                <m:mc>
                                  <m:mcPr>
                                    <m:count m:val="1"/>
                                    <m:mcJc m:val="center"/>
                                  </m:mcPr>
                                </m:mc>
                              </m:mcs>
                              <m:ctrlPr>
                                <a:rPr lang="mr-IN" sz="4500" i="1">
                                  <a:latin typeface="Cambria Math" panose="02040503050406030204" pitchFamily="18" charset="0"/>
                                </a:rPr>
                              </m:ctrlPr>
                            </m:mPr>
                            <m:mr>
                              <m:e>
                                <m:r>
                                  <m:rPr>
                                    <m:brk m:alnAt="7"/>
                                  </m:rPr>
                                  <a:rPr lang="en-US" sz="4500" i="1">
                                    <a:latin typeface="Cambria Math" charset="0"/>
                                  </a:rPr>
                                  <m:t>0</m:t>
                                </m:r>
                              </m:e>
                            </m:mr>
                            <m:mr>
                              <m:e>
                                <m:r>
                                  <a:rPr lang="en-US" sz="4500" i="1">
                                    <a:latin typeface="Cambria Math" charset="0"/>
                                  </a:rPr>
                                  <m:t>1</m:t>
                                </m:r>
                              </m:e>
                            </m:mr>
                            <m:mr>
                              <m:e>
                                <m:r>
                                  <a:rPr lang="en-US" sz="4500" i="1">
                                    <a:latin typeface="Cambria Math" charset="0"/>
                                  </a:rPr>
                                  <m:t>0</m:t>
                                </m:r>
                              </m:e>
                            </m:mr>
                          </m:m>
                        </m:e>
                      </m:d>
                    </m:oMath>
                  </m:oMathPara>
                </a14:m>
                <a:endParaRPr lang="en-US" sz="4500" dirty="0"/>
              </a:p>
            </p:txBody>
          </p:sp>
        </mc:Choice>
        <mc:Fallback xmlns="">
          <p:sp>
            <p:nvSpPr>
              <p:cNvPr id="5" name="TextBox 4"/>
              <p:cNvSpPr txBox="1">
                <a:spLocks noRot="1" noChangeAspect="1" noMove="1" noResize="1" noEditPoints="1" noAdjustHandles="1" noChangeArrowheads="1" noChangeShapeType="1" noTextEdit="1"/>
              </p:cNvSpPr>
              <p:nvPr/>
            </p:nvSpPr>
            <p:spPr>
              <a:xfrm>
                <a:off x="3841047" y="2440768"/>
                <a:ext cx="939681" cy="1831207"/>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6013938" y="2440768"/>
                <a:ext cx="939681" cy="18267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mr-IN" sz="4500" i="1">
                              <a:latin typeface="Cambria Math" panose="02040503050406030204" pitchFamily="18" charset="0"/>
                            </a:rPr>
                          </m:ctrlPr>
                        </m:dPr>
                        <m:e>
                          <m:m>
                            <m:mPr>
                              <m:mcs>
                                <m:mc>
                                  <m:mcPr>
                                    <m:count m:val="1"/>
                                    <m:mcJc m:val="center"/>
                                  </m:mcPr>
                                </m:mc>
                              </m:mcs>
                              <m:ctrlPr>
                                <a:rPr lang="mr-IN" sz="4500" i="1">
                                  <a:latin typeface="Cambria Math" panose="02040503050406030204" pitchFamily="18" charset="0"/>
                                </a:rPr>
                              </m:ctrlPr>
                            </m:mPr>
                            <m:mr>
                              <m:e>
                                <m:r>
                                  <m:rPr>
                                    <m:brk m:alnAt="7"/>
                                  </m:rPr>
                                  <a:rPr lang="en-US" sz="4500" i="1">
                                    <a:latin typeface="Cambria Math" charset="0"/>
                                  </a:rPr>
                                  <m:t>0</m:t>
                                </m:r>
                              </m:e>
                            </m:mr>
                            <m:mr>
                              <m:e>
                                <m:r>
                                  <a:rPr lang="en-US" sz="4500" i="1">
                                    <a:latin typeface="Cambria Math" charset="0"/>
                                  </a:rPr>
                                  <m:t>0</m:t>
                                </m:r>
                              </m:e>
                            </m:mr>
                            <m:mr>
                              <m:e>
                                <m:r>
                                  <a:rPr lang="en-US" sz="4500" i="1">
                                    <a:latin typeface="Cambria Math" charset="0"/>
                                  </a:rPr>
                                  <m:t>1</m:t>
                                </m:r>
                              </m:e>
                            </m:mr>
                          </m:m>
                        </m:e>
                      </m:d>
                    </m:oMath>
                  </m:oMathPara>
                </a14:m>
                <a:endParaRPr lang="en-US" sz="4500" dirty="0"/>
              </a:p>
            </p:txBody>
          </p:sp>
        </mc:Choice>
        <mc:Fallback xmlns="">
          <p:sp>
            <p:nvSpPr>
              <p:cNvPr id="6" name="TextBox 5"/>
              <p:cNvSpPr txBox="1">
                <a:spLocks noRot="1" noChangeAspect="1" noMove="1" noResize="1" noEditPoints="1" noAdjustHandles="1" noChangeArrowheads="1" noChangeShapeType="1" noTextEdit="1"/>
              </p:cNvSpPr>
              <p:nvPr/>
            </p:nvSpPr>
            <p:spPr>
              <a:xfrm>
                <a:off x="6013938" y="2440768"/>
                <a:ext cx="939681" cy="1826719"/>
              </a:xfrm>
              <a:prstGeom prst="rect">
                <a:avLst/>
              </a:prstGeom>
              <a:blipFill rotWithShape="0">
                <a:blip r:embed="rId5"/>
                <a:stretch>
                  <a:fillRect/>
                </a:stretch>
              </a:blipFill>
            </p:spPr>
            <p:txBody>
              <a:bodyPr/>
              <a:lstStyle/>
              <a:p>
                <a:r>
                  <a:rPr lang="en-US">
                    <a:noFill/>
                  </a:rPr>
                  <a:t> </a:t>
                </a:r>
              </a:p>
            </p:txBody>
          </p:sp>
        </mc:Fallback>
      </mc:AlternateContent>
      <p:sp>
        <p:nvSpPr>
          <p:cNvPr id="7" name="TextBox 6"/>
          <p:cNvSpPr txBox="1"/>
          <p:nvPr/>
        </p:nvSpPr>
        <p:spPr>
          <a:xfrm>
            <a:off x="1808396" y="4383867"/>
            <a:ext cx="663964" cy="461665"/>
          </a:xfrm>
          <a:prstGeom prst="rect">
            <a:avLst/>
          </a:prstGeom>
          <a:noFill/>
        </p:spPr>
        <p:txBody>
          <a:bodyPr wrap="none" rtlCol="0">
            <a:spAutoFit/>
          </a:bodyPr>
          <a:lstStyle/>
          <a:p>
            <a:r>
              <a:rPr lang="en-US" sz="2400" dirty="0"/>
              <a:t>Cat</a:t>
            </a:r>
          </a:p>
        </p:txBody>
      </p:sp>
      <p:sp>
        <p:nvSpPr>
          <p:cNvPr id="8" name="TextBox 7"/>
          <p:cNvSpPr txBox="1"/>
          <p:nvPr/>
        </p:nvSpPr>
        <p:spPr>
          <a:xfrm>
            <a:off x="3935624" y="4383867"/>
            <a:ext cx="750526" cy="461665"/>
          </a:xfrm>
          <a:prstGeom prst="rect">
            <a:avLst/>
          </a:prstGeom>
          <a:noFill/>
        </p:spPr>
        <p:txBody>
          <a:bodyPr wrap="none" rtlCol="0">
            <a:spAutoFit/>
          </a:bodyPr>
          <a:lstStyle/>
          <a:p>
            <a:r>
              <a:rPr lang="en-US" sz="2400" dirty="0"/>
              <a:t>Dog</a:t>
            </a:r>
          </a:p>
        </p:txBody>
      </p:sp>
      <p:sp>
        <p:nvSpPr>
          <p:cNvPr id="9" name="TextBox 8"/>
          <p:cNvSpPr txBox="1"/>
          <p:nvPr/>
        </p:nvSpPr>
        <p:spPr>
          <a:xfrm>
            <a:off x="5869667" y="4383867"/>
            <a:ext cx="1228221" cy="461665"/>
          </a:xfrm>
          <a:prstGeom prst="rect">
            <a:avLst/>
          </a:prstGeom>
          <a:noFill/>
        </p:spPr>
        <p:txBody>
          <a:bodyPr wrap="none" rtlCol="0">
            <a:spAutoFit/>
          </a:bodyPr>
          <a:lstStyle/>
          <a:p>
            <a:r>
              <a:rPr lang="en-US" sz="2400"/>
              <a:t>Toaster</a:t>
            </a:r>
            <a:endParaRPr lang="en-US" sz="2400" dirty="0"/>
          </a:p>
        </p:txBody>
      </p:sp>
    </p:spTree>
    <p:extLst>
      <p:ext uri="{BB962C8B-B14F-4D97-AF65-F5344CB8AC3E}">
        <p14:creationId xmlns:p14="http://schemas.microsoft.com/office/powerpoint/2010/main" val="283905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Multiclass Classification with Neural Networks</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74" name="Rectangle 73"/>
              <p:cNvSpPr/>
              <p:nvPr/>
            </p:nvSpPr>
            <p:spPr>
              <a:xfrm>
                <a:off x="398352" y="1227244"/>
                <a:ext cx="8192764" cy="2670603"/>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For multiclass classification problems, let the final layer be a vector with length equal to the number of possible classes.</a:t>
                </a:r>
              </a:p>
              <a:p>
                <a:pPr marL="457200" lvl="0" indent="-457200">
                  <a:buFont typeface="Arial" charset="0"/>
                  <a:buChar char="•"/>
                </a:pPr>
                <a:r>
                  <a:rPr lang="en-US" sz="2200" dirty="0" smtClean="0">
                    <a:latin typeface="Avenir Book" charset="0"/>
                    <a:ea typeface="Avenir Book" charset="0"/>
                    <a:cs typeface="Avenir Book" charset="0"/>
                  </a:rPr>
                  <a:t>Extension of sigmoid to multiclass is the </a:t>
                </a:r>
                <a:r>
                  <a:rPr lang="en-US" sz="2200" dirty="0" err="1" smtClean="0">
                    <a:latin typeface="Avenir Book" charset="0"/>
                    <a:ea typeface="Avenir Book" charset="0"/>
                    <a:cs typeface="Avenir Book" charset="0"/>
                  </a:rPr>
                  <a:t>softmax</a:t>
                </a:r>
                <a:r>
                  <a:rPr lang="en-US" sz="2200" dirty="0" smtClean="0">
                    <a:latin typeface="Avenir Book" charset="0"/>
                    <a:ea typeface="Avenir Book" charset="0"/>
                    <a:cs typeface="Avenir Book" charset="0"/>
                  </a:rPr>
                  <a:t> function.</a:t>
                </a:r>
              </a:p>
              <a:p>
                <a:pPr marL="457200" lvl="0" indent="-457200">
                  <a:buFont typeface="Arial" charset="0"/>
                  <a:buChar char="•"/>
                </a:pPr>
                <a:endParaRPr lang="en-US" sz="800" dirty="0">
                  <a:latin typeface="Avenir Book" charset="0"/>
                  <a:ea typeface="Avenir Book" charset="0"/>
                  <a:cs typeface="Avenir Book" charset="0"/>
                </a:endParaRPr>
              </a:p>
              <a:p>
                <a:pPr marL="457200" lvl="2" indent="-457200">
                  <a:buFont typeface="Arial" charset="0"/>
                  <a:buChar char="•"/>
                </a:pPr>
                <a14:m>
                  <m:oMath xmlns:m="http://schemas.openxmlformats.org/officeDocument/2006/math">
                    <m:r>
                      <a:rPr lang="en-US" sz="2400" i="1">
                        <a:latin typeface="Cambria Math" charset="0"/>
                      </a:rPr>
                      <m:t>𝑠𝑜𝑓𝑡𝑚𝑎𝑥</m:t>
                    </m:r>
                    <m:r>
                      <a:rPr lang="en-US" sz="2400" i="1">
                        <a:latin typeface="Cambria Math" charset="0"/>
                      </a:rPr>
                      <m:t>(</m:t>
                    </m:r>
                    <m:sSub>
                      <m:sSubPr>
                        <m:ctrlPr>
                          <a:rPr lang="en-US" sz="2400" i="1">
                            <a:latin typeface="Cambria Math" panose="02040503050406030204" pitchFamily="18" charset="0"/>
                          </a:rPr>
                        </m:ctrlPr>
                      </m:sSubPr>
                      <m:e>
                        <m:r>
                          <a:rPr lang="en-US" sz="2400" i="1">
                            <a:latin typeface="Cambria Math" charset="0"/>
                          </a:rPr>
                          <m:t>𝑧</m:t>
                        </m:r>
                      </m:e>
                      <m:sub>
                        <m:r>
                          <a:rPr lang="en-US" sz="2400" i="1">
                            <a:latin typeface="Cambria Math" charset="0"/>
                          </a:rPr>
                          <m:t>𝑖</m:t>
                        </m:r>
                      </m:sub>
                    </m:sSub>
                    <m:r>
                      <a:rPr lang="en-US" sz="2400" i="1">
                        <a:latin typeface="Cambria Math" charset="0"/>
                      </a:rPr>
                      <m:t>)=</m:t>
                    </m:r>
                    <m:f>
                      <m:fPr>
                        <m:ctrlPr>
                          <a:rPr lang="mr-IN"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charset="0"/>
                              </a:rPr>
                              <m:t>𝑒</m:t>
                            </m:r>
                          </m:e>
                          <m:sup>
                            <m:sSub>
                              <m:sSubPr>
                                <m:ctrlPr>
                                  <a:rPr lang="en-US" sz="2400" i="1">
                                    <a:latin typeface="Cambria Math" panose="02040503050406030204" pitchFamily="18" charset="0"/>
                                  </a:rPr>
                                </m:ctrlPr>
                              </m:sSubPr>
                              <m:e>
                                <m:r>
                                  <a:rPr lang="en-US" sz="2400" i="1">
                                    <a:latin typeface="Cambria Math" charset="0"/>
                                  </a:rPr>
                                  <m:t>𝑧</m:t>
                                </m:r>
                              </m:e>
                              <m:sub>
                                <m:r>
                                  <a:rPr lang="en-US" sz="2400" i="1">
                                    <a:latin typeface="Cambria Math" charset="0"/>
                                  </a:rPr>
                                  <m:t>𝑖</m:t>
                                </m:r>
                              </m:sub>
                            </m:sSub>
                          </m:sup>
                        </m:sSup>
                      </m:num>
                      <m:den>
                        <m:nary>
                          <m:naryPr>
                            <m:chr m:val="∑"/>
                            <m:ctrlPr>
                              <a:rPr lang="is-IS" sz="2400" i="1">
                                <a:latin typeface="Cambria Math" panose="02040503050406030204" pitchFamily="18" charset="0"/>
                              </a:rPr>
                            </m:ctrlPr>
                          </m:naryPr>
                          <m:sub>
                            <m:r>
                              <m:rPr>
                                <m:brk m:alnAt="23"/>
                              </m:rPr>
                              <a:rPr lang="en-US" sz="2400" i="1">
                                <a:latin typeface="Cambria Math" charset="0"/>
                              </a:rPr>
                              <m:t>𝑘</m:t>
                            </m:r>
                            <m:r>
                              <a:rPr lang="en-US" sz="2400" i="1">
                                <a:latin typeface="Cambria Math" charset="0"/>
                              </a:rPr>
                              <m:t>=1</m:t>
                            </m:r>
                          </m:sub>
                          <m:sup>
                            <m:r>
                              <a:rPr lang="en-US" sz="2400" i="1">
                                <a:latin typeface="Cambria Math" charset="0"/>
                              </a:rPr>
                              <m:t>𝐾</m:t>
                            </m:r>
                          </m:sup>
                          <m:e>
                            <m:sSup>
                              <m:sSupPr>
                                <m:ctrlPr>
                                  <a:rPr lang="en-US" sz="2400" i="1">
                                    <a:latin typeface="Cambria Math" panose="02040503050406030204" pitchFamily="18" charset="0"/>
                                  </a:rPr>
                                </m:ctrlPr>
                              </m:sSupPr>
                              <m:e>
                                <m:r>
                                  <a:rPr lang="en-US" sz="2400" i="1">
                                    <a:latin typeface="Cambria Math" charset="0"/>
                                  </a:rPr>
                                  <m:t>𝑒</m:t>
                                </m:r>
                              </m:e>
                              <m:sup>
                                <m:sSub>
                                  <m:sSubPr>
                                    <m:ctrlPr>
                                      <a:rPr lang="en-US" sz="2400" i="1">
                                        <a:latin typeface="Cambria Math" panose="02040503050406030204" pitchFamily="18" charset="0"/>
                                      </a:rPr>
                                    </m:ctrlPr>
                                  </m:sSubPr>
                                  <m:e>
                                    <m:r>
                                      <a:rPr lang="en-US" sz="2400" i="1">
                                        <a:latin typeface="Cambria Math" charset="0"/>
                                      </a:rPr>
                                      <m:t>𝑧</m:t>
                                    </m:r>
                                  </m:e>
                                  <m:sub>
                                    <m:r>
                                      <a:rPr lang="en-US" sz="2400" i="1">
                                        <a:latin typeface="Cambria Math" charset="0"/>
                                      </a:rPr>
                                      <m:t>𝑘</m:t>
                                    </m:r>
                                  </m:sub>
                                </m:sSub>
                              </m:sup>
                            </m:sSup>
                          </m:e>
                        </m:nary>
                      </m:den>
                    </m:f>
                  </m:oMath>
                </a14:m>
                <a:endParaRPr lang="en-US" sz="2200" dirty="0" smtClean="0">
                  <a:latin typeface="Avenir Book" charset="0"/>
                  <a:ea typeface="Avenir Book" charset="0"/>
                  <a:cs typeface="Avenir Book" charset="0"/>
                </a:endParaRPr>
              </a:p>
              <a:p>
                <a:pPr marL="457200" lvl="0" indent="-457200">
                  <a:buFont typeface="Arial" charset="0"/>
                  <a:buChar char="•"/>
                </a:pPr>
                <a:endParaRPr lang="en-US" sz="800" dirty="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Yields a vector with entries that are between 0 and 1, and sum to 1</a:t>
                </a:r>
                <a:endParaRPr lang="en-US" sz="2200" dirty="0">
                  <a:latin typeface="Avenir Book" charset="0"/>
                  <a:ea typeface="Avenir Book" charset="0"/>
                  <a:cs typeface="Avenir Book" charset="0"/>
                </a:endParaRPr>
              </a:p>
            </p:txBody>
          </p:sp>
        </mc:Choice>
        <mc:Fallback xmlns="">
          <p:sp>
            <p:nvSpPr>
              <p:cNvPr id="74" name="Rectangle 73"/>
              <p:cNvSpPr>
                <a:spLocks noRot="1" noChangeAspect="1" noMove="1" noResize="1" noEditPoints="1" noAdjustHandles="1" noChangeArrowheads="1" noChangeShapeType="1" noTextEdit="1"/>
              </p:cNvSpPr>
              <p:nvPr/>
            </p:nvSpPr>
            <p:spPr>
              <a:xfrm>
                <a:off x="398352" y="1227244"/>
                <a:ext cx="8192764" cy="2670603"/>
              </a:xfrm>
              <a:prstGeom prst="rect">
                <a:avLst/>
              </a:prstGeom>
              <a:blipFill rotWithShape="0">
                <a:blip r:embed="rId3"/>
                <a:stretch>
                  <a:fillRect l="-818" t="-1826" r="-446" b="-3881"/>
                </a:stretch>
              </a:blipFill>
            </p:spPr>
            <p:txBody>
              <a:bodyPr/>
              <a:lstStyle/>
              <a:p>
                <a:r>
                  <a:rPr lang="en-US">
                    <a:noFill/>
                  </a:rPr>
                  <a:t> </a:t>
                </a:r>
              </a:p>
            </p:txBody>
          </p:sp>
        </mc:Fallback>
      </mc:AlternateContent>
    </p:spTree>
    <p:extLst>
      <p:ext uri="{BB962C8B-B14F-4D97-AF65-F5344CB8AC3E}">
        <p14:creationId xmlns:p14="http://schemas.microsoft.com/office/powerpoint/2010/main" val="18364952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Multiclass Classification with Neural Networks</a:t>
            </a:r>
            <a:endParaRPr lang="en-US" dirty="0">
              <a:latin typeface="Avenir Book" charset="0"/>
              <a:ea typeface="Avenir Book" charset="0"/>
              <a:cs typeface="Avenir Book" charset="0"/>
            </a:endParaRPr>
          </a:p>
        </p:txBody>
      </p:sp>
      <p:sp>
        <p:nvSpPr>
          <p:cNvPr id="74" name="Rectangle 73"/>
          <p:cNvSpPr/>
          <p:nvPr/>
        </p:nvSpPr>
        <p:spPr>
          <a:xfrm>
            <a:off x="398352" y="1227244"/>
            <a:ext cx="8192764" cy="769441"/>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For loss function use “categorical cross entropy”</a:t>
            </a:r>
          </a:p>
          <a:p>
            <a:pPr marL="457200" lvl="0" indent="-457200">
              <a:buFont typeface="Arial" charset="0"/>
              <a:buChar char="•"/>
            </a:pPr>
            <a:r>
              <a:rPr lang="en-US" sz="2200" dirty="0" smtClean="0">
                <a:latin typeface="Avenir Book" charset="0"/>
                <a:ea typeface="Avenir Book" charset="0"/>
                <a:cs typeface="Avenir Book" charset="0"/>
              </a:rPr>
              <a:t>This is just the log-loss function in disguise</a:t>
            </a:r>
            <a:endParaRPr lang="en-US" sz="2200"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5" name="TextBox 4"/>
              <p:cNvSpPr txBox="1"/>
              <p:nvPr/>
            </p:nvSpPr>
            <p:spPr>
              <a:xfrm>
                <a:off x="1154724" y="3774351"/>
                <a:ext cx="4340739" cy="7670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2400" i="1" smtClean="0">
                              <a:latin typeface="Cambria Math" panose="02040503050406030204" pitchFamily="18" charset="0"/>
                            </a:rPr>
                          </m:ctrlPr>
                        </m:fPr>
                        <m:num>
                          <m:r>
                            <a:rPr lang="mr-IN" sz="2400" i="1">
                              <a:latin typeface="Cambria Math" charset="0"/>
                            </a:rPr>
                            <m:t>𝜕</m:t>
                          </m:r>
                          <m:r>
                            <a:rPr lang="en-US" sz="2400" i="1">
                              <a:latin typeface="Cambria Math" charset="0"/>
                            </a:rPr>
                            <m:t>𝐶</m:t>
                          </m:r>
                          <m:r>
                            <a:rPr lang="en-US" sz="2400" i="1">
                              <a:latin typeface="Cambria Math" charset="0"/>
                            </a:rPr>
                            <m:t>.</m:t>
                          </m:r>
                          <m:r>
                            <a:rPr lang="en-US" sz="2400" i="1">
                              <a:latin typeface="Cambria Math" charset="0"/>
                            </a:rPr>
                            <m:t>𝐸</m:t>
                          </m:r>
                          <m:r>
                            <a:rPr lang="en-US" sz="2400" i="1">
                              <a:latin typeface="Cambria Math" charset="0"/>
                            </a:rPr>
                            <m:t>.</m:t>
                          </m:r>
                        </m:num>
                        <m:den>
                          <m:r>
                            <a:rPr lang="mr-IN" sz="2400" i="1">
                              <a:latin typeface="Cambria Math" charset="0"/>
                            </a:rPr>
                            <m:t>𝜕</m:t>
                          </m:r>
                          <m:r>
                            <a:rPr lang="en-US" sz="2400" i="1">
                              <a:latin typeface="Cambria Math" charset="0"/>
                            </a:rPr>
                            <m:t>𝑠𝑜𝑓𝑡𝑚𝑎𝑥</m:t>
                          </m:r>
                        </m:den>
                      </m:f>
                      <m:r>
                        <a:rPr lang="en-US" sz="2400" i="1">
                          <a:latin typeface="Cambria Math" charset="0"/>
                        </a:rPr>
                        <m:t>⋅</m:t>
                      </m:r>
                      <m:f>
                        <m:fPr>
                          <m:ctrlPr>
                            <a:rPr lang="mr-IN" sz="2400" i="1">
                              <a:latin typeface="Cambria Math" panose="02040503050406030204" pitchFamily="18" charset="0"/>
                            </a:rPr>
                          </m:ctrlPr>
                        </m:fPr>
                        <m:num>
                          <m:r>
                            <a:rPr lang="mr-IN" sz="2400" i="1">
                              <a:latin typeface="Cambria Math" charset="0"/>
                            </a:rPr>
                            <m:t>𝜕</m:t>
                          </m:r>
                          <m:r>
                            <a:rPr lang="en-US" sz="2400" i="1">
                              <a:latin typeface="Cambria Math" charset="0"/>
                            </a:rPr>
                            <m:t>𝑠𝑜𝑓𝑡𝑚𝑎𝑥</m:t>
                          </m:r>
                        </m:num>
                        <m:den>
                          <m:r>
                            <a:rPr lang="mr-IN" sz="2400" i="1">
                              <a:latin typeface="Cambria Math" charset="0"/>
                            </a:rPr>
                            <m:t>𝜕</m:t>
                          </m:r>
                          <m:sSub>
                            <m:sSubPr>
                              <m:ctrlPr>
                                <a:rPr lang="en-US" sz="2400" i="1">
                                  <a:latin typeface="Cambria Math" panose="02040503050406030204" pitchFamily="18" charset="0"/>
                                </a:rPr>
                              </m:ctrlPr>
                            </m:sSubPr>
                            <m:e>
                              <m:r>
                                <a:rPr lang="en-US" sz="2400" i="1">
                                  <a:latin typeface="Cambria Math" charset="0"/>
                                </a:rPr>
                                <m:t>𝑧</m:t>
                              </m:r>
                            </m:e>
                            <m:sub>
                              <m:r>
                                <a:rPr lang="en-US" sz="2400" i="1">
                                  <a:latin typeface="Cambria Math" charset="0"/>
                                </a:rPr>
                                <m:t>𝑖</m:t>
                              </m:r>
                            </m:sub>
                          </m:sSub>
                        </m:den>
                      </m:f>
                      <m:r>
                        <a:rPr lang="en-US" sz="2400" i="1">
                          <a:latin typeface="Cambria Math"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charset="0"/>
                                </a:rPr>
                                <m:t>𝑦</m:t>
                              </m:r>
                            </m:e>
                          </m:acc>
                        </m:e>
                        <m:sub>
                          <m:r>
                            <a:rPr lang="en-US" sz="2400" i="1">
                              <a:latin typeface="Cambria Math" charset="0"/>
                            </a:rPr>
                            <m:t>𝑖</m:t>
                          </m:r>
                        </m:sub>
                      </m:sSub>
                      <m:r>
                        <a:rPr lang="en-US" sz="2400" i="1">
                          <a:latin typeface="Cambria Math" charset="0"/>
                        </a:rPr>
                        <m:t>−</m:t>
                      </m:r>
                      <m:sSub>
                        <m:sSubPr>
                          <m:ctrlPr>
                            <a:rPr lang="en-US" sz="2400" i="1">
                              <a:latin typeface="Cambria Math" panose="02040503050406030204" pitchFamily="18" charset="0"/>
                            </a:rPr>
                          </m:ctrlPr>
                        </m:sSubPr>
                        <m:e>
                          <m:r>
                            <a:rPr lang="en-US" sz="2400" i="1">
                              <a:latin typeface="Cambria Math" charset="0"/>
                            </a:rPr>
                            <m:t>𝑦</m:t>
                          </m:r>
                        </m:e>
                        <m:sub>
                          <m:r>
                            <a:rPr lang="en-US" sz="2400" i="1">
                              <a:latin typeface="Cambria Math" charset="0"/>
                            </a:rPr>
                            <m:t>𝑖</m:t>
                          </m:r>
                        </m:sub>
                      </m:sSub>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1154724" y="3774351"/>
                <a:ext cx="4340739" cy="767005"/>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955168" y="1996685"/>
                <a:ext cx="2947474" cy="10082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charset="0"/>
                        </a:rPr>
                        <m:t>𝐶</m:t>
                      </m:r>
                      <m:r>
                        <a:rPr lang="en-US" sz="2400" i="1">
                          <a:latin typeface="Cambria Math" charset="0"/>
                        </a:rPr>
                        <m:t>.</m:t>
                      </m:r>
                      <m:r>
                        <a:rPr lang="en-US" sz="2400" i="1">
                          <a:latin typeface="Cambria Math" charset="0"/>
                        </a:rPr>
                        <m:t>𝐸</m:t>
                      </m:r>
                      <m:r>
                        <a:rPr lang="en-US" sz="2400" i="1">
                          <a:latin typeface="Cambria Math" charset="0"/>
                        </a:rPr>
                        <m:t>.=−</m:t>
                      </m:r>
                      <m:nary>
                        <m:naryPr>
                          <m:chr m:val="∑"/>
                          <m:ctrlPr>
                            <a:rPr lang="is-IS" sz="2400" i="1">
                              <a:latin typeface="Cambria Math" panose="02040503050406030204" pitchFamily="18" charset="0"/>
                            </a:rPr>
                          </m:ctrlPr>
                        </m:naryPr>
                        <m:sub>
                          <m:r>
                            <m:rPr>
                              <m:brk m:alnAt="23"/>
                            </m:rPr>
                            <a:rPr lang="en-US" sz="2400" i="1">
                              <a:latin typeface="Cambria Math" charset="0"/>
                            </a:rPr>
                            <m:t>𝑖</m:t>
                          </m:r>
                          <m:r>
                            <a:rPr lang="en-US" sz="2400" i="1">
                              <a:latin typeface="Cambria Math" charset="0"/>
                            </a:rPr>
                            <m:t>=1</m:t>
                          </m:r>
                        </m:sub>
                        <m:sup>
                          <m:r>
                            <a:rPr lang="en-US" sz="2400" i="1">
                              <a:latin typeface="Cambria Math" charset="0"/>
                            </a:rPr>
                            <m:t>𝑛</m:t>
                          </m:r>
                        </m:sup>
                        <m:e>
                          <m:sSub>
                            <m:sSubPr>
                              <m:ctrlPr>
                                <a:rPr lang="en-US" sz="2400" i="1">
                                  <a:latin typeface="Cambria Math" panose="02040503050406030204" pitchFamily="18" charset="0"/>
                                </a:rPr>
                              </m:ctrlPr>
                            </m:sSubPr>
                            <m:e>
                              <m:r>
                                <a:rPr lang="en-US" sz="2400" i="1">
                                  <a:latin typeface="Cambria Math" charset="0"/>
                                </a:rPr>
                                <m:t>𝑦</m:t>
                              </m:r>
                            </m:e>
                            <m:sub>
                              <m:r>
                                <a:rPr lang="en-US" sz="2400" i="1">
                                  <a:latin typeface="Cambria Math" charset="0"/>
                                </a:rPr>
                                <m:t>𝑖</m:t>
                              </m:r>
                            </m:sub>
                          </m:sSub>
                          <m:r>
                            <m:rPr>
                              <m:sty m:val="p"/>
                            </m:rPr>
                            <a:rPr lang="en-US" sz="2400">
                              <a:latin typeface="Cambria Math" charset="0"/>
                            </a:rPr>
                            <m:t>log</m:t>
                          </m:r>
                          <m:r>
                            <a:rPr lang="en-US" sz="2400" i="1">
                              <a:latin typeface="Cambria Math"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charset="0"/>
                                    </a:rPr>
                                    <m:t>𝑦</m:t>
                                  </m:r>
                                </m:e>
                              </m:acc>
                            </m:e>
                            <m:sub>
                              <m:r>
                                <a:rPr lang="en-US" sz="2400" i="1">
                                  <a:latin typeface="Cambria Math" charset="0"/>
                                </a:rPr>
                                <m:t>𝑖</m:t>
                              </m:r>
                            </m:sub>
                          </m:sSub>
                          <m:r>
                            <a:rPr lang="en-US" sz="2400" i="1">
                              <a:latin typeface="Cambria Math" charset="0"/>
                            </a:rPr>
                            <m:t>)</m:t>
                          </m:r>
                        </m:e>
                      </m:nary>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1955168" y="1996685"/>
                <a:ext cx="2947474" cy="1008225"/>
              </a:xfrm>
              <a:prstGeom prst="rect">
                <a:avLst/>
              </a:prstGeom>
              <a:blipFill rotWithShape="0">
                <a:blip r:embed="rId4"/>
                <a:stretch>
                  <a:fillRect/>
                </a:stretch>
              </a:blipFill>
            </p:spPr>
            <p:txBody>
              <a:bodyPr/>
              <a:lstStyle/>
              <a:p>
                <a:r>
                  <a:rPr lang="en-US">
                    <a:noFill/>
                  </a:rPr>
                  <a:t> </a:t>
                </a:r>
              </a:p>
            </p:txBody>
          </p:sp>
        </mc:Fallback>
      </mc:AlternateContent>
      <p:sp>
        <p:nvSpPr>
          <p:cNvPr id="8" name="Rectangle 7"/>
          <p:cNvSpPr/>
          <p:nvPr/>
        </p:nvSpPr>
        <p:spPr>
          <a:xfrm>
            <a:off x="398352" y="3174187"/>
            <a:ext cx="7655402" cy="430887"/>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Derivative has a nice property when used with </a:t>
            </a:r>
            <a:r>
              <a:rPr lang="en-US" sz="2200" dirty="0" err="1" smtClean="0">
                <a:latin typeface="Avenir Book" charset="0"/>
                <a:ea typeface="Avenir Book" charset="0"/>
                <a:cs typeface="Avenir Book" charset="0"/>
              </a:rPr>
              <a:t>softmax</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118615555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Ways to scale inputs</a:t>
            </a:r>
            <a:endParaRPr lang="en-US" dirty="0">
              <a:latin typeface="Avenir Book" charset="0"/>
              <a:ea typeface="Avenir Book" charset="0"/>
              <a:cs typeface="Avenir Book" charset="0"/>
            </a:endParaRPr>
          </a:p>
        </p:txBody>
      </p:sp>
      <p:sp>
        <p:nvSpPr>
          <p:cNvPr id="74" name="Rectangle 73"/>
          <p:cNvSpPr/>
          <p:nvPr/>
        </p:nvSpPr>
        <p:spPr>
          <a:xfrm>
            <a:off x="398352" y="981059"/>
            <a:ext cx="8192764" cy="3477875"/>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Linear scaling to the interval [0,1]</a:t>
            </a:r>
          </a:p>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endParaRPr lang="en-US" sz="2200" dirty="0">
              <a:latin typeface="Avenir Book" charset="0"/>
              <a:ea typeface="Avenir Book" charset="0"/>
              <a:cs typeface="Avenir Book" charset="0"/>
            </a:endParaRPr>
          </a:p>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Linear scaling to the interval [-1,1]</a:t>
            </a:r>
          </a:p>
          <a:p>
            <a:pPr marL="457200" lvl="0" indent="-457200">
              <a:buFont typeface="Arial" charset="0"/>
              <a:buChar char="•"/>
            </a:pPr>
            <a:endParaRPr lang="en-US" sz="2200" dirty="0">
              <a:latin typeface="Avenir Book" charset="0"/>
              <a:ea typeface="Avenir Book" charset="0"/>
              <a:cs typeface="Avenir Book" charset="0"/>
            </a:endParaRPr>
          </a:p>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endParaRPr lang="en-US" sz="2200"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4" name="TextBox 3"/>
              <p:cNvSpPr txBox="1"/>
              <p:nvPr/>
            </p:nvSpPr>
            <p:spPr>
              <a:xfrm>
                <a:off x="2444333" y="1681025"/>
                <a:ext cx="2861361" cy="8107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charset="0"/>
                            </a:rPr>
                            <m:t>𝑥</m:t>
                          </m:r>
                        </m:e>
                        <m:sub>
                          <m:r>
                            <a:rPr lang="en-US" sz="2800" i="1">
                              <a:latin typeface="Cambria Math" charset="0"/>
                            </a:rPr>
                            <m:t>𝑖</m:t>
                          </m:r>
                        </m:sub>
                      </m:sSub>
                      <m:r>
                        <a:rPr lang="en-US" sz="2800" i="1">
                          <a:latin typeface="Cambria Math" charset="0"/>
                        </a:rPr>
                        <m:t>=</m:t>
                      </m:r>
                      <m:f>
                        <m:fPr>
                          <m:ctrlPr>
                            <a:rPr lang="mr-IN"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charset="0"/>
                                </a:rPr>
                                <m:t>𝑥</m:t>
                              </m:r>
                            </m:e>
                            <m:sub>
                              <m:r>
                                <a:rPr lang="en-US" sz="2800" i="1">
                                  <a:latin typeface="Cambria Math" charset="0"/>
                                </a:rPr>
                                <m:t>𝑖</m:t>
                              </m:r>
                            </m:sub>
                          </m:sSub>
                          <m:r>
                            <a:rPr lang="en-US" sz="2800" i="1">
                              <a:latin typeface="Cambria Math" charset="0"/>
                            </a:rPr>
                            <m:t>−</m:t>
                          </m:r>
                          <m:sSub>
                            <m:sSubPr>
                              <m:ctrlPr>
                                <a:rPr lang="en-US" sz="2800" i="1">
                                  <a:latin typeface="Cambria Math" panose="02040503050406030204" pitchFamily="18" charset="0"/>
                                </a:rPr>
                              </m:ctrlPr>
                            </m:sSubPr>
                            <m:e>
                              <m:r>
                                <a:rPr lang="en-US" sz="2800" i="1">
                                  <a:latin typeface="Cambria Math" charset="0"/>
                                </a:rPr>
                                <m:t>𝑥</m:t>
                              </m:r>
                            </m:e>
                            <m:sub>
                              <m:r>
                                <a:rPr lang="en-US" sz="2800" i="1">
                                  <a:latin typeface="Cambria Math" charset="0"/>
                                </a:rPr>
                                <m:t>𝑚𝑖𝑛</m:t>
                              </m:r>
                            </m:sub>
                          </m:sSub>
                        </m:num>
                        <m:den>
                          <m:sSub>
                            <m:sSubPr>
                              <m:ctrlPr>
                                <a:rPr lang="en-US" sz="2800" i="1">
                                  <a:latin typeface="Cambria Math" panose="02040503050406030204" pitchFamily="18" charset="0"/>
                                </a:rPr>
                              </m:ctrlPr>
                            </m:sSubPr>
                            <m:e>
                              <m:r>
                                <a:rPr lang="en-US" sz="2800" i="1">
                                  <a:latin typeface="Cambria Math" charset="0"/>
                                </a:rPr>
                                <m:t>𝑥</m:t>
                              </m:r>
                            </m:e>
                            <m:sub>
                              <m:r>
                                <a:rPr lang="en-US" sz="2800" i="1">
                                  <a:latin typeface="Cambria Math" charset="0"/>
                                </a:rPr>
                                <m:t>𝑚𝑎𝑥</m:t>
                              </m:r>
                            </m:sub>
                          </m:sSub>
                          <m:r>
                            <a:rPr lang="en-US" sz="2800" i="1">
                              <a:latin typeface="Cambria Math" charset="0"/>
                            </a:rPr>
                            <m:t> −</m:t>
                          </m:r>
                          <m:sSub>
                            <m:sSubPr>
                              <m:ctrlPr>
                                <a:rPr lang="en-US" sz="2800" i="1">
                                  <a:latin typeface="Cambria Math" panose="02040503050406030204" pitchFamily="18" charset="0"/>
                                </a:rPr>
                              </m:ctrlPr>
                            </m:sSubPr>
                            <m:e>
                              <m:r>
                                <a:rPr lang="en-US" sz="2800" i="1">
                                  <a:latin typeface="Cambria Math" charset="0"/>
                                </a:rPr>
                                <m:t>𝑥</m:t>
                              </m:r>
                            </m:e>
                            <m:sub>
                              <m:r>
                                <a:rPr lang="en-US" sz="2800" i="1">
                                  <a:latin typeface="Cambria Math" charset="0"/>
                                </a:rPr>
                                <m:t>𝑚𝑖𝑛</m:t>
                              </m:r>
                            </m:sub>
                          </m:sSub>
                        </m:den>
                      </m:f>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2444333" y="1681025"/>
                <a:ext cx="2861361" cy="810735"/>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444333" y="3191726"/>
                <a:ext cx="4100802" cy="8685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i="1">
                              <a:latin typeface="Cambria Math" charset="0"/>
                            </a:rPr>
                            <m:t>𝑥</m:t>
                          </m:r>
                        </m:e>
                        <m:sub>
                          <m:r>
                            <a:rPr lang="en-US" sz="2800" i="1">
                              <a:latin typeface="Cambria Math" charset="0"/>
                            </a:rPr>
                            <m:t>𝑖</m:t>
                          </m:r>
                        </m:sub>
                      </m:sSub>
                      <m:r>
                        <a:rPr lang="en-US" sz="2800" i="1">
                          <a:latin typeface="Cambria Math" charset="0"/>
                        </a:rPr>
                        <m:t>=2</m:t>
                      </m:r>
                      <m:d>
                        <m:dPr>
                          <m:ctrlPr>
                            <a:rPr lang="mr-IN" sz="2800" i="1">
                              <a:latin typeface="Cambria Math" panose="02040503050406030204" pitchFamily="18" charset="0"/>
                            </a:rPr>
                          </m:ctrlPr>
                        </m:dPr>
                        <m:e>
                          <m:f>
                            <m:fPr>
                              <m:ctrlPr>
                                <a:rPr lang="mr-IN"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charset="0"/>
                                    </a:rPr>
                                    <m:t>𝑥</m:t>
                                  </m:r>
                                </m:e>
                                <m:sub>
                                  <m:r>
                                    <a:rPr lang="en-US" sz="2800" i="1">
                                      <a:latin typeface="Cambria Math" charset="0"/>
                                    </a:rPr>
                                    <m:t>𝑖</m:t>
                                  </m:r>
                                </m:sub>
                              </m:sSub>
                              <m:r>
                                <a:rPr lang="en-US" sz="2800" i="1">
                                  <a:latin typeface="Cambria Math" charset="0"/>
                                </a:rPr>
                                <m:t>−</m:t>
                              </m:r>
                              <m:acc>
                                <m:accPr>
                                  <m:chr m:val="̅"/>
                                  <m:ctrlPr>
                                    <a:rPr lang="en-US" sz="2800" i="1">
                                      <a:latin typeface="Cambria Math" panose="02040503050406030204" pitchFamily="18" charset="0"/>
                                    </a:rPr>
                                  </m:ctrlPr>
                                </m:accPr>
                                <m:e>
                                  <m:r>
                                    <a:rPr lang="en-US" sz="2800" i="1">
                                      <a:latin typeface="Cambria Math" charset="0"/>
                                    </a:rPr>
                                    <m:t>𝑥</m:t>
                                  </m:r>
                                </m:e>
                              </m:acc>
                            </m:num>
                            <m:den>
                              <m:sSub>
                                <m:sSubPr>
                                  <m:ctrlPr>
                                    <a:rPr lang="en-US" sz="2800" i="1">
                                      <a:latin typeface="Cambria Math" panose="02040503050406030204" pitchFamily="18" charset="0"/>
                                    </a:rPr>
                                  </m:ctrlPr>
                                </m:sSubPr>
                                <m:e>
                                  <m:r>
                                    <a:rPr lang="en-US" sz="2800" i="1">
                                      <a:latin typeface="Cambria Math" charset="0"/>
                                    </a:rPr>
                                    <m:t>𝑥</m:t>
                                  </m:r>
                                </m:e>
                                <m:sub>
                                  <m:r>
                                    <a:rPr lang="en-US" sz="2800" i="1">
                                      <a:latin typeface="Cambria Math" charset="0"/>
                                    </a:rPr>
                                    <m:t>𝑚𝑎𝑥</m:t>
                                  </m:r>
                                </m:sub>
                              </m:sSub>
                              <m:r>
                                <a:rPr lang="en-US" sz="2800" i="1">
                                  <a:latin typeface="Cambria Math" charset="0"/>
                                </a:rPr>
                                <m:t> −</m:t>
                              </m:r>
                              <m:sSub>
                                <m:sSubPr>
                                  <m:ctrlPr>
                                    <a:rPr lang="en-US" sz="2800" i="1">
                                      <a:latin typeface="Cambria Math" panose="02040503050406030204" pitchFamily="18" charset="0"/>
                                    </a:rPr>
                                  </m:ctrlPr>
                                </m:sSubPr>
                                <m:e>
                                  <m:r>
                                    <a:rPr lang="en-US" sz="2800" i="1">
                                      <a:latin typeface="Cambria Math" charset="0"/>
                                    </a:rPr>
                                    <m:t>𝑥</m:t>
                                  </m:r>
                                </m:e>
                                <m:sub>
                                  <m:r>
                                    <a:rPr lang="en-US" sz="2800" i="1">
                                      <a:latin typeface="Cambria Math" charset="0"/>
                                    </a:rPr>
                                    <m:t>𝑚𝑖𝑛</m:t>
                                  </m:r>
                                </m:sub>
                              </m:sSub>
                            </m:den>
                          </m:f>
                        </m:e>
                      </m:d>
                      <m:r>
                        <a:rPr lang="en-US" sz="2800" b="0" i="1" smtClean="0">
                          <a:latin typeface="Cambria Math" charset="0"/>
                        </a:rPr>
                        <m:t>−1</m:t>
                      </m:r>
                    </m:oMath>
                  </m:oMathPara>
                </a14:m>
                <a:endParaRPr lang="en-US"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2444333" y="3191726"/>
                <a:ext cx="4100802" cy="868571"/>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477526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Ways to scale inputs</a:t>
            </a:r>
            <a:endParaRPr lang="en-US" dirty="0">
              <a:latin typeface="Avenir Book" charset="0"/>
              <a:ea typeface="Avenir Book" charset="0"/>
              <a:cs typeface="Avenir Book" charset="0"/>
            </a:endParaRPr>
          </a:p>
        </p:txBody>
      </p:sp>
      <p:sp>
        <p:nvSpPr>
          <p:cNvPr id="74" name="Rectangle 73"/>
          <p:cNvSpPr/>
          <p:nvPr/>
        </p:nvSpPr>
        <p:spPr>
          <a:xfrm>
            <a:off x="398352" y="1227244"/>
            <a:ext cx="8192764" cy="430887"/>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Standardization (making variable approx. std. normal)</a:t>
            </a:r>
          </a:p>
        </p:txBody>
      </p:sp>
      <mc:AlternateContent xmlns:mc="http://schemas.openxmlformats.org/markup-compatibility/2006" xmlns:a14="http://schemas.microsoft.com/office/drawing/2010/main">
        <mc:Choice Requires="a14">
          <p:sp>
            <p:nvSpPr>
              <p:cNvPr id="6" name="TextBox 5"/>
              <p:cNvSpPr txBox="1"/>
              <p:nvPr/>
            </p:nvSpPr>
            <p:spPr>
              <a:xfrm>
                <a:off x="1531328" y="2294189"/>
                <a:ext cx="1963679" cy="7673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𝑥</m:t>
                          </m:r>
                        </m:e>
                        <m:sub>
                          <m:r>
                            <a:rPr lang="en-US" sz="2700" i="1">
                              <a:latin typeface="Cambria Math" charset="0"/>
                            </a:rPr>
                            <m:t>𝑖</m:t>
                          </m:r>
                        </m:sub>
                      </m:sSub>
                      <m:r>
                        <a:rPr lang="en-US" sz="2700" i="1">
                          <a:latin typeface="Cambria Math" charset="0"/>
                        </a:rPr>
                        <m:t>=</m:t>
                      </m:r>
                      <m:f>
                        <m:fPr>
                          <m:ctrlPr>
                            <a:rPr lang="mr-IN" sz="2700" i="1">
                              <a:latin typeface="Cambria Math" panose="02040503050406030204" pitchFamily="18" charset="0"/>
                            </a:rPr>
                          </m:ctrlPr>
                        </m:fPr>
                        <m:num>
                          <m:sSub>
                            <m:sSubPr>
                              <m:ctrlPr>
                                <a:rPr lang="en-US" sz="2700" i="1">
                                  <a:latin typeface="Cambria Math" panose="02040503050406030204" pitchFamily="18" charset="0"/>
                                </a:rPr>
                              </m:ctrlPr>
                            </m:sSubPr>
                            <m:e>
                              <m:r>
                                <a:rPr lang="en-US" sz="2700" i="1">
                                  <a:latin typeface="Cambria Math" charset="0"/>
                                </a:rPr>
                                <m:t>𝑥</m:t>
                              </m:r>
                            </m:e>
                            <m:sub>
                              <m:r>
                                <a:rPr lang="en-US" sz="2700" i="1">
                                  <a:latin typeface="Cambria Math" charset="0"/>
                                </a:rPr>
                                <m:t>𝑖</m:t>
                              </m:r>
                            </m:sub>
                          </m:sSub>
                          <m:r>
                            <a:rPr lang="en-US" sz="2700" i="1">
                              <a:latin typeface="Cambria Math" charset="0"/>
                            </a:rPr>
                            <m:t>− </m:t>
                          </m:r>
                          <m:acc>
                            <m:accPr>
                              <m:chr m:val="̅"/>
                              <m:ctrlPr>
                                <a:rPr lang="en-US" sz="2700" i="1">
                                  <a:latin typeface="Cambria Math" panose="02040503050406030204" pitchFamily="18" charset="0"/>
                                </a:rPr>
                              </m:ctrlPr>
                            </m:accPr>
                            <m:e>
                              <m:r>
                                <a:rPr lang="en-US" sz="2700" i="1">
                                  <a:latin typeface="Cambria Math" charset="0"/>
                                </a:rPr>
                                <m:t>𝑥</m:t>
                              </m:r>
                            </m:e>
                          </m:acc>
                        </m:num>
                        <m:den>
                          <m:r>
                            <a:rPr lang="en-US" sz="2700" i="1">
                              <a:latin typeface="Cambria Math" charset="0"/>
                            </a:rPr>
                            <m:t>𝜎</m:t>
                          </m:r>
                        </m:den>
                      </m:f>
                      <m:r>
                        <a:rPr lang="en-US" sz="2700" i="1">
                          <a:latin typeface="Cambria Math" charset="0"/>
                        </a:rPr>
                        <m:t>;</m:t>
                      </m:r>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1531328" y="2294189"/>
                <a:ext cx="1963679" cy="76739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188069" y="1869650"/>
                <a:ext cx="3167727" cy="16164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700" i="1">
                          <a:latin typeface="Cambria Math" charset="0"/>
                        </a:rPr>
                        <m:t>𝜎</m:t>
                      </m:r>
                      <m:r>
                        <a:rPr lang="en-US" sz="2700" i="1">
                          <a:latin typeface="Cambria Math" charset="0"/>
                        </a:rPr>
                        <m:t>=</m:t>
                      </m:r>
                      <m:rad>
                        <m:radPr>
                          <m:degHide m:val="on"/>
                          <m:ctrlPr>
                            <a:rPr lang="en-US" sz="2700" i="1">
                              <a:latin typeface="Cambria Math" panose="02040503050406030204" pitchFamily="18" charset="0"/>
                            </a:rPr>
                          </m:ctrlPr>
                        </m:radPr>
                        <m:deg/>
                        <m:e>
                          <m:f>
                            <m:fPr>
                              <m:ctrlPr>
                                <a:rPr lang="mr-IN" sz="2700" i="1">
                                  <a:latin typeface="Cambria Math" panose="02040503050406030204" pitchFamily="18" charset="0"/>
                                </a:rPr>
                              </m:ctrlPr>
                            </m:fPr>
                            <m:num>
                              <m:r>
                                <a:rPr lang="en-US" sz="2700" i="1">
                                  <a:latin typeface="Cambria Math" charset="0"/>
                                </a:rPr>
                                <m:t>1</m:t>
                              </m:r>
                            </m:num>
                            <m:den>
                              <m:r>
                                <a:rPr lang="en-US" sz="2700" i="1">
                                  <a:latin typeface="Cambria Math" charset="0"/>
                                </a:rPr>
                                <m:t>𝑛</m:t>
                              </m:r>
                            </m:den>
                          </m:f>
                          <m:nary>
                            <m:naryPr>
                              <m:chr m:val="∑"/>
                              <m:ctrlPr>
                                <a:rPr lang="is-IS" sz="2700" i="1">
                                  <a:latin typeface="Cambria Math" panose="02040503050406030204" pitchFamily="18" charset="0"/>
                                </a:rPr>
                              </m:ctrlPr>
                            </m:naryPr>
                            <m:sub>
                              <m:r>
                                <m:rPr>
                                  <m:brk m:alnAt="23"/>
                                </m:rPr>
                                <a:rPr lang="en-US" sz="2700" i="1">
                                  <a:latin typeface="Cambria Math" charset="0"/>
                                </a:rPr>
                                <m:t>𝑖</m:t>
                              </m:r>
                              <m:r>
                                <a:rPr lang="en-US" sz="2700" i="1">
                                  <a:latin typeface="Cambria Math" charset="0"/>
                                </a:rPr>
                                <m:t>=1</m:t>
                              </m:r>
                            </m:sub>
                            <m:sup>
                              <m:r>
                                <a:rPr lang="en-US" sz="2700" i="1">
                                  <a:latin typeface="Cambria Math" charset="0"/>
                                </a:rPr>
                                <m:t>𝑛</m:t>
                              </m:r>
                            </m:sup>
                            <m:e>
                              <m:sSup>
                                <m:sSupPr>
                                  <m:ctrlPr>
                                    <a:rPr lang="en-US" sz="2700" i="1">
                                      <a:latin typeface="Cambria Math" panose="02040503050406030204" pitchFamily="18" charset="0"/>
                                    </a:rPr>
                                  </m:ctrlPr>
                                </m:sSupPr>
                                <m:e>
                                  <m:d>
                                    <m:dPr>
                                      <m:ctrlPr>
                                        <a:rPr lang="mr-IN" sz="2700" i="1">
                                          <a:latin typeface="Cambria Math" panose="02040503050406030204" pitchFamily="18" charset="0"/>
                                        </a:rPr>
                                      </m:ctrlPr>
                                    </m:dPr>
                                    <m:e>
                                      <m:sSub>
                                        <m:sSubPr>
                                          <m:ctrlPr>
                                            <a:rPr lang="en-US" sz="2700" i="1">
                                              <a:latin typeface="Cambria Math" panose="02040503050406030204" pitchFamily="18" charset="0"/>
                                            </a:rPr>
                                          </m:ctrlPr>
                                        </m:sSubPr>
                                        <m:e>
                                          <m:r>
                                            <a:rPr lang="en-US" sz="2700" i="1">
                                              <a:latin typeface="Cambria Math" charset="0"/>
                                            </a:rPr>
                                            <m:t>𝑥</m:t>
                                          </m:r>
                                        </m:e>
                                        <m:sub>
                                          <m:r>
                                            <a:rPr lang="en-US" sz="2700" i="1">
                                              <a:latin typeface="Cambria Math" charset="0"/>
                                            </a:rPr>
                                            <m:t>𝑖</m:t>
                                          </m:r>
                                        </m:sub>
                                      </m:sSub>
                                      <m:r>
                                        <a:rPr lang="en-US" sz="2700" i="1">
                                          <a:latin typeface="Cambria Math" charset="0"/>
                                        </a:rPr>
                                        <m:t>− </m:t>
                                      </m:r>
                                      <m:acc>
                                        <m:accPr>
                                          <m:chr m:val="̅"/>
                                          <m:ctrlPr>
                                            <a:rPr lang="en-US" sz="2700" i="1">
                                              <a:latin typeface="Cambria Math" panose="02040503050406030204" pitchFamily="18" charset="0"/>
                                            </a:rPr>
                                          </m:ctrlPr>
                                        </m:accPr>
                                        <m:e>
                                          <m:r>
                                            <a:rPr lang="en-US" sz="2700" i="1">
                                              <a:latin typeface="Cambria Math" charset="0"/>
                                            </a:rPr>
                                            <m:t>𝑥</m:t>
                                          </m:r>
                                        </m:e>
                                      </m:acc>
                                    </m:e>
                                  </m:d>
                                </m:e>
                                <m:sup>
                                  <m:r>
                                    <a:rPr lang="en-US" sz="2700" i="1">
                                      <a:latin typeface="Cambria Math" charset="0"/>
                                    </a:rPr>
                                    <m:t>2</m:t>
                                  </m:r>
                                </m:sup>
                              </m:sSup>
                            </m:e>
                          </m:nary>
                        </m:e>
                      </m:rad>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4188069" y="1869650"/>
                <a:ext cx="3167727" cy="1616468"/>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0998307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gradFill>
        <a:effectLst/>
      </p:bgPr>
    </p:bg>
    <p:spTree>
      <p:nvGrpSpPr>
        <p:cNvPr id="1" name="Shape 261"/>
        <p:cNvGrpSpPr/>
        <p:nvPr/>
      </p:nvGrpSpPr>
      <p:grpSpPr>
        <a:xfrm>
          <a:off x="0" y="0"/>
          <a:ext cx="0" cy="0"/>
          <a:chOff x="0" y="0"/>
          <a:chExt cx="0" cy="0"/>
        </a:xfrm>
      </p:grpSpPr>
      <p:sp>
        <p:nvSpPr>
          <p:cNvPr id="2" name="Slide Number Placeholder 1"/>
          <p:cNvSpPr>
            <a:spLocks noGrp="1"/>
          </p:cNvSpPr>
          <p:nvPr>
            <p:ph type="sldNum" sz="quarter" idx="4294967295"/>
          </p:nvPr>
        </p:nvSpPr>
        <p:spPr>
          <a:xfrm>
            <a:off x="7086600" y="4767263"/>
            <a:ext cx="2057400" cy="274637"/>
          </a:xfrm>
        </p:spPr>
        <p:txBody>
          <a:bodyPr/>
          <a:lstStyle/>
          <a:p>
            <a:fld id="{BDF01D69-A501-704B-80CB-1B3152437FD0}" type="slidenum">
              <a:rPr lang="en-US" smtClean="0"/>
              <a:t>32</a:t>
            </a:fld>
            <a:endParaRPr lang="en-US"/>
          </a:p>
        </p:txBody>
      </p:sp>
    </p:spTree>
    <p:extLst>
      <p:ext uri="{BB962C8B-B14F-4D97-AF65-F5344CB8AC3E}">
        <p14:creationId xmlns:p14="http://schemas.microsoft.com/office/powerpoint/2010/main" val="117185381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simple-dark-2">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el_theme">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ntel_theme" id="{7CD40ED6-13F2-774E-8C9C-E2A351ABAE7C}" vid="{A60F4A55-6349-6E4D-A6AA-B84EBE13CF51}"/>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37897</TotalTime>
  <Words>1639</Words>
  <Application>Microsoft Office PowerPoint</Application>
  <PresentationFormat>On-screen Show (16:9)</PresentationFormat>
  <Paragraphs>237</Paragraphs>
  <Slides>32</Slides>
  <Notes>31</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32</vt:i4>
      </vt:variant>
    </vt:vector>
  </HeadingPairs>
  <TitlesOfParts>
    <vt:vector size="49" baseType="lpstr">
      <vt:lpstr>Arial</vt:lpstr>
      <vt:lpstr>Avenir Book</vt:lpstr>
      <vt:lpstr>Calibri</vt:lpstr>
      <vt:lpstr>Calibri Light</vt:lpstr>
      <vt:lpstr>Cambria Math</vt:lpstr>
      <vt:lpstr>Consolas</vt:lpstr>
      <vt:lpstr>Courier New</vt:lpstr>
      <vt:lpstr>Intel Clear</vt:lpstr>
      <vt:lpstr>Intel Clear Light</vt:lpstr>
      <vt:lpstr>Intel Clear Pro</vt:lpstr>
      <vt:lpstr>Lucida Grande</vt:lpstr>
      <vt:lpstr>Neo Sans Intel</vt:lpstr>
      <vt:lpstr>Source Code Pro</vt:lpstr>
      <vt:lpstr>Wingdings</vt:lpstr>
      <vt:lpstr>1_simple-dark-2</vt:lpstr>
      <vt:lpstr>Custom Design</vt:lpstr>
      <vt:lpstr>intel_theme</vt:lpstr>
      <vt:lpstr>Details of Training Neural Nets</vt:lpstr>
      <vt:lpstr>Legal Notices and Disclaimers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&lt;Title&gt;</dc:title>
  <cp:lastModifiedBy>Oberoi, Daman</cp:lastModifiedBy>
  <cp:revision>471</cp:revision>
  <cp:lastPrinted>2017-04-25T03:22:00Z</cp:lastPrinted>
  <dcterms:modified xsi:type="dcterms:W3CDTF">2017-08-25T19:38:15Z</dcterms:modified>
</cp:coreProperties>
</file>
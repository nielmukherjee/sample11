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23"/>
  </p:notesMasterIdLst>
  <p:handoutMasterIdLst>
    <p:handoutMasterId r:id="rId24"/>
  </p:handoutMasterIdLst>
  <p:sldIdLst>
    <p:sldId id="389" r:id="rId4"/>
    <p:sldId id="636" r:id="rId5"/>
    <p:sldId id="610" r:id="rId6"/>
    <p:sldId id="611" r:id="rId7"/>
    <p:sldId id="612" r:id="rId8"/>
    <p:sldId id="608" r:id="rId9"/>
    <p:sldId id="609" r:id="rId10"/>
    <p:sldId id="635" r:id="rId11"/>
    <p:sldId id="624" r:id="rId12"/>
    <p:sldId id="625" r:id="rId13"/>
    <p:sldId id="626" r:id="rId14"/>
    <p:sldId id="628" r:id="rId15"/>
    <p:sldId id="627" r:id="rId16"/>
    <p:sldId id="630" r:id="rId17"/>
    <p:sldId id="631" r:id="rId18"/>
    <p:sldId id="632" r:id="rId19"/>
    <p:sldId id="633" r:id="rId20"/>
    <p:sldId id="634" r:id="rId21"/>
    <p:sldId id="394"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69"/>
    <p:restoredTop sz="80849"/>
  </p:normalViewPr>
  <p:slideViewPr>
    <p:cSldViewPr snapToGrid="0" snapToObjects="1">
      <p:cViewPr varScale="1">
        <p:scale>
          <a:sx n="141" d="100"/>
          <a:sy n="141" d="100"/>
        </p:scale>
        <p:origin x="924"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3621143010"/>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042815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463413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a popular technique.</a:t>
            </a:r>
          </a:p>
        </p:txBody>
      </p:sp>
    </p:spTree>
    <p:extLst>
      <p:ext uri="{BB962C8B-B14F-4D97-AF65-F5344CB8AC3E}">
        <p14:creationId xmlns:p14="http://schemas.microsoft.com/office/powerpoint/2010/main" val="1707683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Recall, at each iteration, we remove nodes randomly. So it is different from having less neurons to begin with.</a:t>
            </a:r>
          </a:p>
        </p:txBody>
      </p:sp>
    </p:spTree>
    <p:extLst>
      <p:ext uri="{BB962C8B-B14F-4D97-AF65-F5344CB8AC3E}">
        <p14:creationId xmlns:p14="http://schemas.microsoft.com/office/powerpoint/2010/main" val="1452605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It is important to emphasize how the weight of the neuron is “scaled” during execution.  If the neuron was “off” with probability .5 during training and ended with a weight of 4, we actually give that neuron a weight of 4*.5 = 2.</a:t>
            </a:r>
          </a:p>
        </p:txBody>
      </p:sp>
    </p:spTree>
    <p:extLst>
      <p:ext uri="{BB962C8B-B14F-4D97-AF65-F5344CB8AC3E}">
        <p14:creationId xmlns:p14="http://schemas.microsoft.com/office/powerpoint/2010/main" val="291651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786256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 general, I don’t know how helpful it is to go into the gory details of these optimizers.  I think it is more useful to present them as successive improvements and refinements of how to choose a step size (and direction) at each point.</a:t>
            </a:r>
          </a:p>
        </p:txBody>
      </p:sp>
    </p:spTree>
    <p:extLst>
      <p:ext uri="{BB962C8B-B14F-4D97-AF65-F5344CB8AC3E}">
        <p14:creationId xmlns:p14="http://schemas.microsoft.com/office/powerpoint/2010/main" val="1697903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Example optimizer 1</a:t>
            </a:r>
          </a:p>
        </p:txBody>
      </p:sp>
    </p:spTree>
    <p:extLst>
      <p:ext uri="{BB962C8B-B14F-4D97-AF65-F5344CB8AC3E}">
        <p14:creationId xmlns:p14="http://schemas.microsoft.com/office/powerpoint/2010/main" val="387978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what regular gradient descent would do</a:t>
            </a:r>
          </a:p>
        </p:txBody>
      </p:sp>
    </p:spTree>
    <p:extLst>
      <p:ext uri="{BB962C8B-B14F-4D97-AF65-F5344CB8AC3E}">
        <p14:creationId xmlns:p14="http://schemas.microsoft.com/office/powerpoint/2010/main" val="225913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With momentum, it is a bit smoother.</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3529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part in the gradient is the “</a:t>
            </a:r>
            <a:r>
              <a:rPr lang="en-US" sz="2400" baseline="0" dirty="0" err="1" smtClean="0">
                <a:latin typeface="Arial" charset="0"/>
                <a:ea typeface="Arial" charset="0"/>
                <a:cs typeface="Arial" charset="0"/>
              </a:rPr>
              <a:t>nonmomentum</a:t>
            </a:r>
            <a:r>
              <a:rPr lang="en-US" sz="2400" baseline="0" dirty="0" smtClean="0">
                <a:latin typeface="Arial" charset="0"/>
                <a:ea typeface="Arial" charset="0"/>
                <a:cs typeface="Arial" charset="0"/>
              </a:rPr>
              <a:t>” component.</a:t>
            </a:r>
          </a:p>
        </p:txBody>
      </p:sp>
    </p:spTree>
    <p:extLst>
      <p:ext uri="{BB962C8B-B14F-4D97-AF65-F5344CB8AC3E}">
        <p14:creationId xmlns:p14="http://schemas.microsoft.com/office/powerpoint/2010/main" val="2025528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696179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56343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072412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451114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reality is that it is very hard to predict what will work well in a particular situation.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All you can really do is try a few and observe what seems to be working.</a:t>
            </a:r>
          </a:p>
        </p:txBody>
      </p:sp>
    </p:spTree>
    <p:extLst>
      <p:ext uri="{BB962C8B-B14F-4D97-AF65-F5344CB8AC3E}">
        <p14:creationId xmlns:p14="http://schemas.microsoft.com/office/powerpoint/2010/main" val="713426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774542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81202296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77207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xml"/><Relationship Id="rId1" Type="http://schemas.openxmlformats.org/officeDocument/2006/relationships/slideLayout" Target="../slideLayouts/slideLayout45.xml"/><Relationship Id="rId5" Type="http://schemas.openxmlformats.org/officeDocument/2006/relationships/image" Target="../media/image1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5.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5000" b="0" i="0" u="none" strike="noStrike" cap="none" dirty="0" smtClean="0">
                <a:solidFill>
                  <a:srgbClr val="FFFFFF"/>
                </a:solidFill>
                <a:latin typeface="Avenir Book" charset="0"/>
                <a:ea typeface="Avenir Book" charset="0"/>
                <a:cs typeface="Avenir Book" charset="0"/>
                <a:sym typeface="Source Code Pro"/>
              </a:rPr>
              <a:t>Regularization Techniques for Deep Learning</a:t>
            </a:r>
            <a:endParaRPr lang="en" sz="5000" b="0" i="0" u="none" strike="noStrike" cap="none"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2602086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Regularizing Neural Networks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462213"/>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mj-lt"/>
              <a:buNone/>
              <a:tabLst/>
              <a:defRPr/>
            </a:pPr>
            <a:r>
              <a:rPr lang="en-US" sz="2200" dirty="0" smtClean="0">
                <a:latin typeface="Avenir Book" charset="0"/>
                <a:ea typeface="Avenir Book" charset="0"/>
                <a:cs typeface="Avenir Book" charset="0"/>
              </a:rPr>
              <a:t>We have several means by which to help “regularize” neural networks – that is, to prevent overfitting</a:t>
            </a:r>
          </a:p>
          <a:p>
            <a:pPr marL="457200" marR="0" lvl="0" indent="-457200" defTabSz="914400" eaLnBrk="1" fontAlgn="auto" latinLnBrk="0" hangingPunct="1">
              <a:lnSpc>
                <a:spcPct val="100000"/>
              </a:lnSpc>
              <a:spcBef>
                <a:spcPts val="0"/>
              </a:spcBef>
              <a:spcAft>
                <a:spcPts val="0"/>
              </a:spcAft>
              <a:buClrTx/>
              <a:buSzTx/>
              <a:buFont typeface="+mj-lt"/>
              <a:buNone/>
              <a:tabLst/>
              <a:defRPr/>
            </a:pP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Regularization penalty in cost function</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Dropout</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Early stopping</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Stochastic / Mini-batch Gradient descent (to some degree)</a:t>
            </a:r>
          </a:p>
        </p:txBody>
      </p:sp>
    </p:spTree>
    <p:extLst>
      <p:ext uri="{BB962C8B-B14F-4D97-AF65-F5344CB8AC3E}">
        <p14:creationId xmlns:p14="http://schemas.microsoft.com/office/powerpoint/2010/main" val="3881686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Penalized Cost function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1107996"/>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One option is to explicitly add a penalty to the loss function for having high weights.</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This is a similar approach to Ridge Regression</a:t>
            </a:r>
          </a:p>
        </p:txBody>
      </p:sp>
      <mc:AlternateContent xmlns:mc="http://schemas.openxmlformats.org/markup-compatibility/2006" xmlns:a14="http://schemas.microsoft.com/office/drawing/2010/main">
        <mc:Choice Requires="a14">
          <p:sp>
            <p:nvSpPr>
              <p:cNvPr id="4" name="TextBox 3"/>
              <p:cNvSpPr txBox="1"/>
              <p:nvPr/>
            </p:nvSpPr>
            <p:spPr>
              <a:xfrm>
                <a:off x="1053490" y="2590800"/>
                <a:ext cx="6355496" cy="10500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rPr>
                        <m:t>𝐽</m:t>
                      </m:r>
                      <m:r>
                        <a:rPr lang="en-US" sz="2400" b="0" i="1" smtClean="0">
                          <a:latin typeface="Cambria Math" charset="0"/>
                        </a:rPr>
                        <m:t>=</m:t>
                      </m:r>
                      <m:f>
                        <m:fPr>
                          <m:ctrlPr>
                            <a:rPr lang="mr-IN" sz="2400" b="0" i="1" smtClean="0">
                              <a:latin typeface="Cambria Math" panose="02040503050406030204" pitchFamily="18" charset="0"/>
                            </a:rPr>
                          </m:ctrlPr>
                        </m:fPr>
                        <m:num>
                          <m:r>
                            <a:rPr lang="en-US" sz="2400" b="0" i="1" smtClean="0">
                              <a:latin typeface="Cambria Math" charset="0"/>
                            </a:rPr>
                            <m:t>1</m:t>
                          </m:r>
                        </m:num>
                        <m:den>
                          <m:r>
                            <a:rPr lang="en-US" sz="2400" b="0" i="1" smtClean="0">
                              <a:latin typeface="Cambria Math" charset="0"/>
                            </a:rPr>
                            <m:t>2</m:t>
                          </m:r>
                          <m:r>
                            <a:rPr lang="en-US" sz="2400" b="0" i="1" smtClean="0">
                              <a:latin typeface="Cambria Math" charset="0"/>
                            </a:rPr>
                            <m:t>𝑛</m:t>
                          </m:r>
                        </m:den>
                      </m:f>
                      <m:nary>
                        <m:naryPr>
                          <m:chr m:val="∑"/>
                          <m:ctrlPr>
                            <a:rPr lang="is-IS" sz="2400" b="0" i="1" smtClean="0">
                              <a:latin typeface="Cambria Math" panose="02040503050406030204" pitchFamily="18" charset="0"/>
                            </a:rPr>
                          </m:ctrlPr>
                        </m:naryPr>
                        <m:sub>
                          <m:r>
                            <m:rPr>
                              <m:brk m:alnAt="23"/>
                            </m:rPr>
                            <a:rPr lang="en-US" sz="2400" b="0" i="1" smtClean="0">
                              <a:latin typeface="Cambria Math" charset="0"/>
                            </a:rPr>
                            <m:t>𝑖</m:t>
                          </m:r>
                          <m:r>
                            <a:rPr lang="en-US" sz="2400" b="0" i="1" smtClean="0">
                              <a:latin typeface="Cambria Math" charset="0"/>
                            </a:rPr>
                            <m:t>=1</m:t>
                          </m:r>
                        </m:sub>
                        <m:sup>
                          <m:r>
                            <a:rPr lang="en-US" sz="2400" b="0" i="1" smtClean="0">
                              <a:latin typeface="Cambria Math" charset="0"/>
                            </a:rPr>
                            <m:t>𝑛</m:t>
                          </m:r>
                        </m:sup>
                        <m:e>
                          <m:sSup>
                            <m:sSupPr>
                              <m:ctrlPr>
                                <a:rPr lang="en-US" sz="2400" b="0" i="1" smtClean="0">
                                  <a:latin typeface="Cambria Math" panose="02040503050406030204" pitchFamily="18" charset="0"/>
                                </a:rPr>
                              </m:ctrlPr>
                            </m:sSupPr>
                            <m:e>
                              <m:d>
                                <m:dPr>
                                  <m:ctrlPr>
                                    <a:rPr lang="mr-IN"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acc>
                                        <m:accPr>
                                          <m:chr m:val="̂"/>
                                          <m:ctrlPr>
                                            <a:rPr lang="mr-IN" sz="2400" b="0" i="1" smtClean="0">
                                              <a:latin typeface="Cambria Math" panose="02040503050406030204" pitchFamily="18" charset="0"/>
                                            </a:rPr>
                                          </m:ctrlPr>
                                        </m:accPr>
                                        <m:e>
                                          <m:r>
                                            <a:rPr lang="en-US" sz="2400" b="0" i="1" smtClean="0">
                                              <a:latin typeface="Cambria Math" charset="0"/>
                                            </a:rPr>
                                            <m:t>𝑦</m:t>
                                          </m:r>
                                        </m:e>
                                      </m:acc>
                                    </m:e>
                                    <m:sub>
                                      <m:r>
                                        <a:rPr lang="en-US" sz="2400" b="0" i="1" smtClean="0">
                                          <a:latin typeface="Cambria Math" charset="0"/>
                                        </a:rPr>
                                        <m:t>𝑖</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𝑦</m:t>
                                      </m:r>
                                    </m:e>
                                    <m:sub>
                                      <m:r>
                                        <a:rPr lang="en-US" sz="2400" b="0" i="1" smtClean="0">
                                          <a:latin typeface="Cambria Math" charset="0"/>
                                        </a:rPr>
                                        <m:t>𝑖</m:t>
                                      </m:r>
                                    </m:sub>
                                  </m:sSub>
                                </m:e>
                              </m:d>
                            </m:e>
                            <m:sup>
                              <m:r>
                                <a:rPr lang="en-US" sz="2400" b="0" i="1" smtClean="0">
                                  <a:latin typeface="Cambria Math" charset="0"/>
                                </a:rPr>
                                <m:t>2</m:t>
                              </m:r>
                            </m:sup>
                          </m:sSup>
                        </m:e>
                      </m:nary>
                      <m:r>
                        <a:rPr lang="en-US" sz="2400" b="0" i="1" smtClean="0">
                          <a:latin typeface="Cambria Math" charset="0"/>
                        </a:rPr>
                        <m:t>+</m:t>
                      </m:r>
                      <m:r>
                        <a:rPr lang="en-US" sz="2400" b="0" i="1" smtClean="0">
                          <a:latin typeface="Cambria Math" charset="0"/>
                        </a:rPr>
                        <m:t>𝜆</m:t>
                      </m:r>
                      <m:nary>
                        <m:naryPr>
                          <m:chr m:val="∑"/>
                          <m:ctrlPr>
                            <a:rPr lang="is-IS" sz="2400" b="0" i="1" smtClean="0">
                              <a:latin typeface="Cambria Math" panose="02040503050406030204" pitchFamily="18" charset="0"/>
                            </a:rPr>
                          </m:ctrlPr>
                        </m:naryPr>
                        <m:sub>
                          <m:r>
                            <m:rPr>
                              <m:brk m:alnAt="23"/>
                            </m:rPr>
                            <a:rPr lang="en-US" sz="2400" b="0" i="1" smtClean="0">
                              <a:latin typeface="Cambria Math" charset="0"/>
                            </a:rPr>
                            <m:t>𝑗</m:t>
                          </m:r>
                          <m:r>
                            <a:rPr lang="en-US" sz="2400" b="0" i="1" smtClean="0">
                              <a:latin typeface="Cambria Math" charset="0"/>
                            </a:rPr>
                            <m:t>=1</m:t>
                          </m:r>
                        </m:sub>
                        <m:sup>
                          <m:r>
                            <a:rPr lang="en-US" sz="2400" b="0" i="1" smtClean="0">
                              <a:latin typeface="Cambria Math" charset="0"/>
                            </a:rPr>
                            <m:t>𝑚</m:t>
                          </m:r>
                        </m:sup>
                        <m:e>
                          <m:sSubSup>
                            <m:sSubSupPr>
                              <m:ctrlPr>
                                <a:rPr lang="en-US" sz="2400" b="0" i="1" smtClean="0">
                                  <a:latin typeface="Cambria Math" panose="02040503050406030204" pitchFamily="18" charset="0"/>
                                </a:rPr>
                              </m:ctrlPr>
                            </m:sSubSupPr>
                            <m:e>
                              <m:r>
                                <a:rPr lang="en-US" sz="2400" b="0" i="1" smtClean="0">
                                  <a:latin typeface="Cambria Math" charset="0"/>
                                </a:rPr>
                                <m:t>𝑊</m:t>
                              </m:r>
                            </m:e>
                            <m:sub>
                              <m:r>
                                <a:rPr lang="en-US" sz="2400" b="0" i="1" smtClean="0">
                                  <a:latin typeface="Cambria Math" charset="0"/>
                                </a:rPr>
                                <m:t>𝑖</m:t>
                              </m:r>
                            </m:sub>
                            <m:sup>
                              <m:r>
                                <a:rPr lang="en-US" sz="2400" b="0" i="1" smtClean="0">
                                  <a:latin typeface="Cambria Math" charset="0"/>
                                </a:rPr>
                                <m:t>2</m:t>
                              </m:r>
                            </m:sup>
                          </m:sSubSup>
                        </m:e>
                      </m:nary>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1053490" y="2590800"/>
                <a:ext cx="6355496" cy="1050031"/>
              </a:xfrm>
              <a:prstGeom prst="rect">
                <a:avLst/>
              </a:prstGeom>
              <a:blipFill rotWithShape="0">
                <a:blip r:embed="rId3"/>
                <a:stretch>
                  <a:fillRect/>
                </a:stretch>
              </a:blipFill>
            </p:spPr>
            <p:txBody>
              <a:bodyPr/>
              <a:lstStyle/>
              <a:p>
                <a:r>
                  <a:rPr lang="en-US">
                    <a:noFill/>
                  </a:rPr>
                  <a:t> </a:t>
                </a:r>
              </a:p>
            </p:txBody>
          </p:sp>
        </mc:Fallback>
      </mc:AlternateContent>
      <p:sp>
        <p:nvSpPr>
          <p:cNvPr id="5" name="Rectangle 4"/>
          <p:cNvSpPr/>
          <p:nvPr/>
        </p:nvSpPr>
        <p:spPr>
          <a:xfrm>
            <a:off x="520884" y="3879622"/>
            <a:ext cx="8192764" cy="769441"/>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Can have an analogous expression for Categorical Cross Entropy</a:t>
            </a:r>
          </a:p>
        </p:txBody>
      </p:sp>
    </p:spTree>
    <p:extLst>
      <p:ext uri="{BB962C8B-B14F-4D97-AF65-F5344CB8AC3E}">
        <p14:creationId xmlns:p14="http://schemas.microsoft.com/office/powerpoint/2010/main" val="214705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Dropout</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Dropout is a mechanism where at each training iteration (batch) we randomly remove a subset of neurons</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smtClean="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This prevents the neural network from relying too much on individual pathways, making it more “robust”</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At test time we “rescale” the weight of the neuron to reflect the percentage of the time it was active </a:t>
            </a:r>
          </a:p>
        </p:txBody>
      </p:sp>
    </p:spTree>
    <p:extLst>
      <p:ext uri="{BB962C8B-B14F-4D97-AF65-F5344CB8AC3E}">
        <p14:creationId xmlns:p14="http://schemas.microsoft.com/office/powerpoint/2010/main" val="17678433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Dropout - Visualization</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662" y="935653"/>
            <a:ext cx="6901350" cy="3800469"/>
          </a:xfrm>
          <a:prstGeom prst="rect">
            <a:avLst/>
          </a:prstGeom>
        </p:spPr>
      </p:pic>
    </p:spTree>
    <p:extLst>
      <p:ext uri="{BB962C8B-B14F-4D97-AF65-F5344CB8AC3E}">
        <p14:creationId xmlns:p14="http://schemas.microsoft.com/office/powerpoint/2010/main" val="7424485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Dropout - Visualization</a:t>
            </a:r>
            <a:endParaRPr lang="en-US" dirty="0">
              <a:latin typeface="Avenir Book" charset="0"/>
              <a:ea typeface="Avenir Book" charset="0"/>
              <a:cs typeface="Avenir Book"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868" y="2231630"/>
            <a:ext cx="7134845" cy="2157046"/>
          </a:xfrm>
          <a:prstGeom prst="rect">
            <a:avLst/>
          </a:prstGeom>
        </p:spPr>
      </p:pic>
      <p:sp>
        <p:nvSpPr>
          <p:cNvPr id="7" name="Rectangle 6"/>
          <p:cNvSpPr/>
          <p:nvPr/>
        </p:nvSpPr>
        <p:spPr>
          <a:xfrm>
            <a:off x="398352" y="1110013"/>
            <a:ext cx="8192764" cy="769441"/>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If the neuron was present with probability </a:t>
            </a:r>
            <a:r>
              <a:rPr lang="en-US" sz="2200" i="1" dirty="0" smtClean="0">
                <a:latin typeface="Avenir Book" charset="0"/>
                <a:ea typeface="Avenir Book" charset="0"/>
                <a:cs typeface="Avenir Book" charset="0"/>
              </a:rPr>
              <a:t>p</a:t>
            </a:r>
            <a:r>
              <a:rPr lang="en-US" sz="2200" dirty="0" smtClean="0">
                <a:latin typeface="Avenir Book" charset="0"/>
                <a:ea typeface="Avenir Book" charset="0"/>
                <a:cs typeface="Avenir Book" charset="0"/>
              </a:rPr>
              <a:t>, at test time we scale the outbound weights by a factor of </a:t>
            </a:r>
            <a:r>
              <a:rPr lang="en-US" sz="2200" i="1" dirty="0" smtClean="0">
                <a:latin typeface="Avenir Book" charset="0"/>
                <a:ea typeface="Avenir Book" charset="0"/>
                <a:cs typeface="Avenir Book" charset="0"/>
              </a:rPr>
              <a:t>p</a:t>
            </a:r>
            <a:r>
              <a:rPr lang="en-US" sz="2200" dirty="0" smtClean="0">
                <a:latin typeface="Avenir Book" charset="0"/>
                <a:ea typeface="Avenir Book" charset="0"/>
                <a:cs typeface="Avenir Book" charset="0"/>
              </a:rPr>
              <a:t>.</a:t>
            </a:r>
          </a:p>
        </p:txBody>
      </p:sp>
    </p:spTree>
    <p:extLst>
      <p:ext uri="{BB962C8B-B14F-4D97-AF65-F5344CB8AC3E}">
        <p14:creationId xmlns:p14="http://schemas.microsoft.com/office/powerpoint/2010/main" val="106225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Early Stopping</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Another, more </a:t>
            </a:r>
            <a:r>
              <a:rPr lang="en-US" sz="2200" dirty="0" err="1" smtClean="0">
                <a:latin typeface="Avenir Book" charset="0"/>
                <a:ea typeface="Avenir Book" charset="0"/>
                <a:cs typeface="Avenir Book" charset="0"/>
              </a:rPr>
              <a:t>heuristical</a:t>
            </a:r>
            <a:r>
              <a:rPr lang="en-US" sz="2200" dirty="0" smtClean="0">
                <a:latin typeface="Avenir Book" charset="0"/>
                <a:ea typeface="Avenir Book" charset="0"/>
                <a:cs typeface="Avenir Book" charset="0"/>
              </a:rPr>
              <a:t> approach to regularization is early stopping.</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This refers to choosing some rules after which to stop training.</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Example: </a:t>
            </a:r>
          </a:p>
          <a:p>
            <a:pPr marL="800100" marR="0" lvl="0" indent="-342900" defTabSz="914400" eaLnBrk="1" fontAlgn="auto" latinLnBrk="0" hangingPunct="1">
              <a:lnSpc>
                <a:spcPct val="100000"/>
              </a:lnSpc>
              <a:spcBef>
                <a:spcPts val="0"/>
              </a:spcBef>
              <a:spcAft>
                <a:spcPts val="0"/>
              </a:spcAft>
              <a:buClrTx/>
              <a:buSzTx/>
              <a:buFont typeface="Courier New" charset="0"/>
              <a:buChar char="o"/>
              <a:tabLst/>
              <a:defRPr/>
            </a:pPr>
            <a:r>
              <a:rPr lang="en-US" sz="2200" dirty="0">
                <a:latin typeface="Avenir Book" charset="0"/>
                <a:ea typeface="Avenir Book" charset="0"/>
                <a:cs typeface="Avenir Book" charset="0"/>
              </a:rPr>
              <a:t>C</a:t>
            </a:r>
            <a:r>
              <a:rPr lang="en-US" sz="2200" dirty="0" smtClean="0">
                <a:latin typeface="Avenir Book" charset="0"/>
                <a:ea typeface="Avenir Book" charset="0"/>
                <a:cs typeface="Avenir Book" charset="0"/>
              </a:rPr>
              <a:t>heck the validation log-loss every 10 epochs.</a:t>
            </a:r>
          </a:p>
          <a:p>
            <a:pPr marL="800100" marR="0" lvl="0" indent="-342900" defTabSz="914400" eaLnBrk="1" fontAlgn="auto" latinLnBrk="0" hangingPunct="1">
              <a:lnSpc>
                <a:spcPct val="100000"/>
              </a:lnSpc>
              <a:spcBef>
                <a:spcPts val="0"/>
              </a:spcBef>
              <a:spcAft>
                <a:spcPts val="0"/>
              </a:spcAft>
              <a:buClrTx/>
              <a:buSzTx/>
              <a:buFont typeface="Courier New" charset="0"/>
              <a:buChar char="o"/>
              <a:tabLst/>
              <a:defRPr/>
            </a:pPr>
            <a:r>
              <a:rPr lang="en-US" sz="2200" dirty="0" smtClean="0">
                <a:latin typeface="Avenir Book" charset="0"/>
                <a:ea typeface="Avenir Book" charset="0"/>
                <a:cs typeface="Avenir Book" charset="0"/>
              </a:rPr>
              <a:t>If it is higher than it was last time, stop and use the previous model (i.e. from 10 epochs previous)</a:t>
            </a:r>
          </a:p>
        </p:txBody>
      </p:sp>
    </p:spTree>
    <p:extLst>
      <p:ext uri="{BB962C8B-B14F-4D97-AF65-F5344CB8AC3E}">
        <p14:creationId xmlns:p14="http://schemas.microsoft.com/office/powerpoint/2010/main" val="4328740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Optimizers</a:t>
            </a:r>
            <a:endParaRPr lang="en-US" dirty="0">
              <a:latin typeface="Avenir Book" charset="0"/>
              <a:ea typeface="Avenir Book" charset="0"/>
              <a:cs typeface="Avenir Book" charset="0"/>
            </a:endParaRPr>
          </a:p>
        </p:txBody>
      </p:sp>
      <p:sp>
        <p:nvSpPr>
          <p:cNvPr id="75" name="Rectangle 74"/>
          <p:cNvSpPr/>
          <p:nvPr/>
        </p:nvSpPr>
        <p:spPr>
          <a:xfrm>
            <a:off x="398352" y="957615"/>
            <a:ext cx="8192764" cy="3816429"/>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We have considered approaches to gradient descent which vary the number of data points involved in a step.</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However, they have all used the standard update formula:</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smtClean="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There are several variants to updating the weights which give better performance in practice.</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These successive “tweaks” each attempt to improve on the previous idea.</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The resulting (often complicated) methods are referred to as “optimizers”.</a:t>
            </a:r>
          </a:p>
        </p:txBody>
      </p:sp>
      <mc:AlternateContent xmlns:mc="http://schemas.openxmlformats.org/markup-compatibility/2006" xmlns:a14="http://schemas.microsoft.com/office/drawing/2010/main">
        <mc:Choice Requires="a14">
          <p:sp>
            <p:nvSpPr>
              <p:cNvPr id="4" name="TextBox 3"/>
              <p:cNvSpPr txBox="1"/>
              <p:nvPr/>
            </p:nvSpPr>
            <p:spPr>
              <a:xfrm>
                <a:off x="2898423" y="2126275"/>
                <a:ext cx="2779543"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3000" smtClean="0">
                          <a:latin typeface="Cambria Math" charset="0"/>
                        </a:rPr>
                        <m:t>W</m:t>
                      </m:r>
                      <m:r>
                        <a:rPr lang="en-US" sz="3000" i="1">
                          <a:latin typeface="Cambria Math" charset="0"/>
                        </a:rPr>
                        <m:t>≔</m:t>
                      </m:r>
                      <m:r>
                        <a:rPr lang="en-US" sz="3000" i="1">
                          <a:latin typeface="Cambria Math" charset="0"/>
                        </a:rPr>
                        <m:t>𝑊</m:t>
                      </m:r>
                      <m:r>
                        <a:rPr lang="en-US" sz="3000" i="1">
                          <a:latin typeface="Cambria Math" charset="0"/>
                        </a:rPr>
                        <m:t>−</m:t>
                      </m:r>
                      <m:r>
                        <a:rPr lang="en-US" sz="3000" i="1" smtClean="0">
                          <a:latin typeface="Cambria Math" charset="0"/>
                        </a:rPr>
                        <m:t>𝛼</m:t>
                      </m:r>
                      <m:r>
                        <a:rPr lang="en-US" sz="3000" i="1" smtClean="0">
                          <a:latin typeface="Cambria Math" charset="0"/>
                        </a:rPr>
                        <m:t>⋅</m:t>
                      </m:r>
                      <m:r>
                        <a:rPr lang="en-US" sz="3000" i="1" smtClean="0">
                          <a:latin typeface="Cambria Math" charset="0"/>
                        </a:rPr>
                        <m:t>𝛻</m:t>
                      </m:r>
                      <m:r>
                        <a:rPr lang="en-US" sz="3000" b="0" i="1" smtClean="0">
                          <a:latin typeface="Cambria Math" charset="0"/>
                          <a:ea typeface="Cambria Math" charset="0"/>
                          <a:cs typeface="Cambria Math" charset="0"/>
                        </a:rPr>
                        <m:t>𝐽</m:t>
                      </m:r>
                    </m:oMath>
                  </m:oMathPara>
                </a14:m>
                <a:endParaRPr lang="en-US" sz="3000" dirty="0"/>
              </a:p>
            </p:txBody>
          </p:sp>
        </mc:Choice>
        <mc:Fallback xmlns="">
          <p:sp>
            <p:nvSpPr>
              <p:cNvPr id="4" name="TextBox 3"/>
              <p:cNvSpPr txBox="1">
                <a:spLocks noRot="1" noChangeAspect="1" noMove="1" noResize="1" noEditPoints="1" noAdjustHandles="1" noChangeArrowheads="1" noChangeShapeType="1" noTextEdit="1"/>
              </p:cNvSpPr>
              <p:nvPr/>
            </p:nvSpPr>
            <p:spPr>
              <a:xfrm>
                <a:off x="2898423" y="2126275"/>
                <a:ext cx="2779543" cy="461665"/>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368289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Momentum</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75" name="Rectangle 74"/>
              <p:cNvSpPr/>
              <p:nvPr/>
            </p:nvSpPr>
            <p:spPr>
              <a:xfrm>
                <a:off x="398352" y="1227244"/>
                <a:ext cx="8192764" cy="3500125"/>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Idea, only change direction by a little bit each time.</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Keeps a “running average” of the step directions, smoothing out the variation of the individual points.</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smtClean="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smtClean="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smtClean="0">
                  <a:latin typeface="Avenir Book" charset="0"/>
                  <a:ea typeface="Avenir Book" charset="0"/>
                  <a:cs typeface="Avenir Book" charset="0"/>
                </a:endParaRPr>
              </a:p>
              <a:p>
                <a:pPr marL="457200" lvl="0" indent="-457200">
                  <a:buFont typeface="Arial" charset="0"/>
                  <a:buChar char="•"/>
                  <a:defRPr/>
                </a:pPr>
                <a:r>
                  <a:rPr lang="en-US" sz="2200" dirty="0" smtClean="0">
                    <a:latin typeface="Avenir Book" charset="0"/>
                    <a:ea typeface="Avenir Book" charset="0"/>
                    <a:cs typeface="Avenir Book" charset="0"/>
                  </a:rPr>
                  <a:t>Here, </a:t>
                </a:r>
                <a14:m>
                  <m:oMath xmlns:m="http://schemas.openxmlformats.org/officeDocument/2006/math">
                    <m:r>
                      <a:rPr lang="en-US" sz="2400" i="1">
                        <a:latin typeface="Cambria Math" charset="0"/>
                        <a:ea typeface="Cambria Math" charset="0"/>
                        <a:cs typeface="Cambria Math" charset="0"/>
                      </a:rPr>
                      <m:t>𝜂</m:t>
                    </m:r>
                  </m:oMath>
                </a14:m>
                <a:r>
                  <a:rPr lang="en-US" sz="2200" dirty="0" smtClean="0">
                    <a:latin typeface="Avenir Book" charset="0"/>
                    <a:ea typeface="Avenir Book" charset="0"/>
                    <a:cs typeface="Avenir Book" charset="0"/>
                  </a:rPr>
                  <a:t> is referred to as the “momentum”.  It is generally given a value &lt;1</a:t>
                </a:r>
              </a:p>
            </p:txBody>
          </p:sp>
        </mc:Choice>
        <mc:Fallback xmlns="">
          <p:sp>
            <p:nvSpPr>
              <p:cNvPr id="75" name="Rectangle 74"/>
              <p:cNvSpPr>
                <a:spLocks noRot="1" noChangeAspect="1" noMove="1" noResize="1" noEditPoints="1" noAdjustHandles="1" noChangeArrowheads="1" noChangeShapeType="1" noTextEdit="1"/>
              </p:cNvSpPr>
              <p:nvPr/>
            </p:nvSpPr>
            <p:spPr>
              <a:xfrm>
                <a:off x="398352" y="1227244"/>
                <a:ext cx="8192764" cy="3500125"/>
              </a:xfrm>
              <a:prstGeom prst="rect">
                <a:avLst/>
              </a:prstGeom>
              <a:blipFill rotWithShape="0">
                <a:blip r:embed="rId3"/>
                <a:stretch>
                  <a:fillRect l="-818" t="-1394" b="-2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724151" y="2442961"/>
                <a:ext cx="3595856"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i="1" smtClean="0">
                              <a:latin typeface="Cambria Math" panose="02040503050406030204" pitchFamily="18" charset="0"/>
                            </a:rPr>
                          </m:ctrlPr>
                        </m:sSubPr>
                        <m:e>
                          <m:r>
                            <a:rPr lang="en-US" sz="3000" i="1">
                              <a:latin typeface="Cambria Math" charset="0"/>
                            </a:rPr>
                            <m:t>𝑣</m:t>
                          </m:r>
                        </m:e>
                        <m:sub>
                          <m:r>
                            <m:rPr>
                              <m:sty m:val="p"/>
                            </m:rPr>
                            <a:rPr lang="en-US" sz="3000">
                              <a:latin typeface="Cambria Math" charset="0"/>
                            </a:rPr>
                            <m:t>t</m:t>
                          </m:r>
                        </m:sub>
                      </m:sSub>
                      <m:r>
                        <a:rPr lang="en-US" sz="3000" i="1">
                          <a:latin typeface="Cambria Math" charset="0"/>
                        </a:rPr>
                        <m:t>≔</m:t>
                      </m:r>
                      <m:r>
                        <a:rPr lang="en-US" sz="3000" i="1">
                          <a:latin typeface="Cambria Math" charset="0"/>
                          <a:ea typeface="Cambria Math" charset="0"/>
                          <a:cs typeface="Cambria Math" charset="0"/>
                        </a:rPr>
                        <m:t>𝜂</m:t>
                      </m:r>
                      <m:r>
                        <a:rPr lang="en-US" sz="3000" i="1">
                          <a:latin typeface="Cambria Math" charset="0"/>
                        </a:rPr>
                        <m:t>⋅</m:t>
                      </m:r>
                      <m:sSub>
                        <m:sSubPr>
                          <m:ctrlPr>
                            <a:rPr lang="en-US" sz="3000" i="1">
                              <a:latin typeface="Cambria Math" panose="02040503050406030204" pitchFamily="18" charset="0"/>
                            </a:rPr>
                          </m:ctrlPr>
                        </m:sSubPr>
                        <m:e>
                          <m:r>
                            <a:rPr lang="en-US" sz="3000" i="1">
                              <a:latin typeface="Cambria Math" charset="0"/>
                            </a:rPr>
                            <m:t>𝑣</m:t>
                          </m:r>
                        </m:e>
                        <m:sub>
                          <m:r>
                            <a:rPr lang="en-US" sz="3000" i="1">
                              <a:latin typeface="Cambria Math" charset="0"/>
                            </a:rPr>
                            <m:t>𝑡</m:t>
                          </m:r>
                          <m:r>
                            <a:rPr lang="en-US" sz="3000" i="1">
                              <a:latin typeface="Cambria Math" charset="0"/>
                            </a:rPr>
                            <m:t>−1</m:t>
                          </m:r>
                        </m:sub>
                      </m:sSub>
                      <m:r>
                        <a:rPr lang="en-US" sz="3000" i="1">
                          <a:latin typeface="Cambria Math" charset="0"/>
                        </a:rPr>
                        <m:t>−</m:t>
                      </m:r>
                      <m:r>
                        <a:rPr lang="en-US" sz="3000" i="1">
                          <a:latin typeface="Cambria Math" charset="0"/>
                        </a:rPr>
                        <m:t>𝛼</m:t>
                      </m:r>
                      <m:r>
                        <a:rPr lang="en-US" sz="3000" i="1">
                          <a:latin typeface="Cambria Math" charset="0"/>
                        </a:rPr>
                        <m:t>⋅</m:t>
                      </m:r>
                      <m:r>
                        <a:rPr lang="el-GR" sz="3000" i="1">
                          <a:latin typeface="Cambria Math" charset="0"/>
                          <a:ea typeface="Cambria Math" charset="0"/>
                          <a:cs typeface="Cambria Math" charset="0"/>
                        </a:rPr>
                        <m:t>𝛻</m:t>
                      </m:r>
                      <m:r>
                        <a:rPr lang="en-US" sz="3000" b="0" i="1" smtClean="0">
                          <a:latin typeface="Cambria Math" charset="0"/>
                          <a:ea typeface="Cambria Math" charset="0"/>
                          <a:cs typeface="Cambria Math" charset="0"/>
                        </a:rPr>
                        <m:t>𝐽</m:t>
                      </m:r>
                    </m:oMath>
                  </m:oMathPara>
                </a14:m>
                <a:endParaRPr lang="en-US" sz="3000" dirty="0"/>
              </a:p>
            </p:txBody>
          </p:sp>
        </mc:Choice>
        <mc:Fallback xmlns="">
          <p:sp>
            <p:nvSpPr>
              <p:cNvPr id="5" name="TextBox 4"/>
              <p:cNvSpPr txBox="1">
                <a:spLocks noRot="1" noChangeAspect="1" noMove="1" noResize="1" noEditPoints="1" noAdjustHandles="1" noChangeArrowheads="1" noChangeShapeType="1" noTextEdit="1"/>
              </p:cNvSpPr>
              <p:nvPr/>
            </p:nvSpPr>
            <p:spPr>
              <a:xfrm>
                <a:off x="2724151" y="2442961"/>
                <a:ext cx="3595856" cy="461665"/>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724151" y="3163289"/>
                <a:ext cx="2226059"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3000">
                          <a:latin typeface="Cambria Math" charset="0"/>
                        </a:rPr>
                        <m:t>W</m:t>
                      </m:r>
                      <m:r>
                        <a:rPr lang="en-US" sz="3000" i="1">
                          <a:latin typeface="Cambria Math" charset="0"/>
                        </a:rPr>
                        <m:t>≔</m:t>
                      </m:r>
                      <m:r>
                        <a:rPr lang="en-US" sz="3000" i="1">
                          <a:latin typeface="Cambria Math" charset="0"/>
                        </a:rPr>
                        <m:t>𝑊</m:t>
                      </m:r>
                      <m:r>
                        <a:rPr lang="en-US" sz="3000" i="1">
                          <a:latin typeface="Cambria Math" charset="0"/>
                        </a:rPr>
                        <m:t>−</m:t>
                      </m:r>
                      <m:sSub>
                        <m:sSubPr>
                          <m:ctrlPr>
                            <a:rPr lang="en-US" sz="3000" i="1">
                              <a:latin typeface="Cambria Math" panose="02040503050406030204" pitchFamily="18" charset="0"/>
                            </a:rPr>
                          </m:ctrlPr>
                        </m:sSubPr>
                        <m:e>
                          <m:r>
                            <a:rPr lang="en-US" sz="3000" i="1">
                              <a:latin typeface="Cambria Math" charset="0"/>
                            </a:rPr>
                            <m:t>𝑣</m:t>
                          </m:r>
                        </m:e>
                        <m:sub>
                          <m:r>
                            <a:rPr lang="en-US" sz="3000" i="1">
                              <a:latin typeface="Cambria Math" charset="0"/>
                            </a:rPr>
                            <m:t>𝑡</m:t>
                          </m:r>
                        </m:sub>
                      </m:sSub>
                    </m:oMath>
                  </m:oMathPara>
                </a14:m>
                <a:endParaRPr lang="en-US" sz="3000" dirty="0"/>
              </a:p>
            </p:txBody>
          </p:sp>
        </mc:Choice>
        <mc:Fallback xmlns="">
          <p:sp>
            <p:nvSpPr>
              <p:cNvPr id="6" name="TextBox 5"/>
              <p:cNvSpPr txBox="1">
                <a:spLocks noRot="1" noChangeAspect="1" noMove="1" noResize="1" noEditPoints="1" noAdjustHandles="1" noChangeArrowheads="1" noChangeShapeType="1" noTextEdit="1"/>
              </p:cNvSpPr>
              <p:nvPr/>
            </p:nvSpPr>
            <p:spPr>
              <a:xfrm>
                <a:off x="2724151" y="3163289"/>
                <a:ext cx="2226059" cy="461665"/>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055401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solidFill>
                  <a:schemeClr val="accent3">
                    <a:lumMod val="75000"/>
                  </a:schemeClr>
                </a:solidFill>
                <a:latin typeface="Avenir Book" charset="0"/>
                <a:ea typeface="Avenir Book" charset="0"/>
                <a:cs typeface="Avenir Book" charset="0"/>
              </a:rPr>
              <a:t>Gradient </a:t>
            </a:r>
            <a:r>
              <a:rPr lang="en-US" dirty="0">
                <a:solidFill>
                  <a:schemeClr val="accent3">
                    <a:lumMod val="75000"/>
                  </a:schemeClr>
                </a:solidFill>
                <a:latin typeface="Avenir Book" charset="0"/>
                <a:ea typeface="Avenir Book" charset="0"/>
                <a:cs typeface="Avenir Book" charset="0"/>
              </a:rPr>
              <a:t>Descent </a:t>
            </a:r>
            <a:r>
              <a:rPr lang="en-US" dirty="0">
                <a:latin typeface="Avenir Book" charset="0"/>
                <a:ea typeface="Avenir Book" charset="0"/>
                <a:cs typeface="Avenir Book" charset="0"/>
              </a:rPr>
              <a:t>vs </a:t>
            </a:r>
            <a:r>
              <a:rPr lang="en-US" dirty="0" smtClean="0">
                <a:latin typeface="Avenir Book" charset="0"/>
                <a:ea typeface="Avenir Book" charset="0"/>
                <a:cs typeface="Avenir Book" charset="0"/>
              </a:rPr>
              <a:t>Momentum </a:t>
            </a:r>
            <a:endParaRPr lang="en-US" dirty="0">
              <a:latin typeface="Avenir Book" charset="0"/>
              <a:ea typeface="Avenir Book" charset="0"/>
              <a:cs typeface="Avenir Book" charset="0"/>
            </a:endParaRPr>
          </a:p>
        </p:txBody>
      </p:sp>
      <p:pic>
        <p:nvPicPr>
          <p:cNvPr id="7" name="Shape 412"/>
          <p:cNvPicPr preferRelativeResize="0"/>
          <p:nvPr/>
        </p:nvPicPr>
        <p:blipFill>
          <a:blip r:embed="rId3">
            <a:alphaModFix/>
          </a:blip>
          <a:stretch>
            <a:fillRect/>
          </a:stretch>
        </p:blipFill>
        <p:spPr>
          <a:xfrm>
            <a:off x="1554303" y="1381858"/>
            <a:ext cx="6125925" cy="2976668"/>
          </a:xfrm>
          <a:prstGeom prst="rect">
            <a:avLst/>
          </a:prstGeom>
          <a:noFill/>
          <a:ln>
            <a:noFill/>
          </a:ln>
        </p:spPr>
      </p:pic>
    </p:spTree>
    <p:extLst>
      <p:ext uri="{BB962C8B-B14F-4D97-AF65-F5344CB8AC3E}">
        <p14:creationId xmlns:p14="http://schemas.microsoft.com/office/powerpoint/2010/main" val="124074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a:latin typeface="Avenir Book" charset="0"/>
                <a:ea typeface="Avenir Book" charset="0"/>
                <a:cs typeface="Avenir Book" charset="0"/>
              </a:rPr>
              <a:t>Gradient Descent vs </a:t>
            </a:r>
            <a:r>
              <a:rPr lang="en-US" dirty="0">
                <a:solidFill>
                  <a:schemeClr val="accent3">
                    <a:lumMod val="75000"/>
                  </a:schemeClr>
                </a:solidFill>
                <a:latin typeface="Avenir Book" charset="0"/>
                <a:ea typeface="Avenir Book" charset="0"/>
                <a:cs typeface="Avenir Book" charset="0"/>
              </a:rPr>
              <a:t>Momentum </a:t>
            </a:r>
          </a:p>
        </p:txBody>
      </p:sp>
      <p:pic>
        <p:nvPicPr>
          <p:cNvPr id="4" name="Shape 418"/>
          <p:cNvPicPr preferRelativeResize="0"/>
          <p:nvPr/>
        </p:nvPicPr>
        <p:blipFill>
          <a:blip r:embed="rId3">
            <a:alphaModFix/>
          </a:blip>
          <a:stretch>
            <a:fillRect/>
          </a:stretch>
        </p:blipFill>
        <p:spPr>
          <a:xfrm>
            <a:off x="1554303" y="1381858"/>
            <a:ext cx="6125925" cy="2976675"/>
          </a:xfrm>
          <a:prstGeom prst="rect">
            <a:avLst/>
          </a:prstGeom>
          <a:noFill/>
          <a:ln>
            <a:noFill/>
          </a:ln>
        </p:spPr>
      </p:pic>
    </p:spTree>
    <p:extLst>
      <p:ext uri="{BB962C8B-B14F-4D97-AF65-F5344CB8AC3E}">
        <p14:creationId xmlns:p14="http://schemas.microsoft.com/office/powerpoint/2010/main" val="15426169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Nesterov</a:t>
            </a:r>
            <a:r>
              <a:rPr lang="en-US" dirty="0" smtClean="0">
                <a:latin typeface="Avenir Book" charset="0"/>
                <a:ea typeface="Avenir Book" charset="0"/>
                <a:cs typeface="Avenir Book" charset="0"/>
              </a:rPr>
              <a:t> Momentum</a:t>
            </a:r>
            <a:endParaRPr lang="en-US" dirty="0">
              <a:latin typeface="Avenir Book" charset="0"/>
              <a:ea typeface="Avenir Book" charset="0"/>
              <a:cs typeface="Avenir Book" charset="0"/>
            </a:endParaRPr>
          </a:p>
        </p:txBody>
      </p:sp>
      <p:sp>
        <p:nvSpPr>
          <p:cNvPr id="75" name="Rectangle 74"/>
          <p:cNvSpPr/>
          <p:nvPr/>
        </p:nvSpPr>
        <p:spPr>
          <a:xfrm>
            <a:off x="398352" y="1227244"/>
            <a:ext cx="8192764" cy="1107996"/>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Idea: Control “overshooting” by looking ahead.</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Apply gradient only to the “non-momentum” component.</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smtClean="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7" name="TextBox 6"/>
              <p:cNvSpPr txBox="1"/>
              <p:nvPr/>
            </p:nvSpPr>
            <p:spPr>
              <a:xfrm>
                <a:off x="2007578" y="3125618"/>
                <a:ext cx="2226059"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3000">
                          <a:latin typeface="Cambria Math" charset="0"/>
                        </a:rPr>
                        <m:t>W</m:t>
                      </m:r>
                      <m:r>
                        <a:rPr lang="en-US" sz="3000" i="1">
                          <a:latin typeface="Cambria Math" charset="0"/>
                        </a:rPr>
                        <m:t>≔</m:t>
                      </m:r>
                      <m:r>
                        <a:rPr lang="en-US" sz="3000" i="1">
                          <a:latin typeface="Cambria Math" charset="0"/>
                        </a:rPr>
                        <m:t>𝑊</m:t>
                      </m:r>
                      <m:r>
                        <a:rPr lang="en-US" sz="3000" i="1">
                          <a:latin typeface="Cambria Math" charset="0"/>
                        </a:rPr>
                        <m:t>−</m:t>
                      </m:r>
                      <m:sSub>
                        <m:sSubPr>
                          <m:ctrlPr>
                            <a:rPr lang="en-US" sz="3000" i="1">
                              <a:latin typeface="Cambria Math" panose="02040503050406030204" pitchFamily="18" charset="0"/>
                            </a:rPr>
                          </m:ctrlPr>
                        </m:sSubPr>
                        <m:e>
                          <m:r>
                            <a:rPr lang="en-US" sz="3000" i="1">
                              <a:latin typeface="Cambria Math" charset="0"/>
                            </a:rPr>
                            <m:t>𝑣</m:t>
                          </m:r>
                        </m:e>
                        <m:sub>
                          <m:r>
                            <a:rPr lang="en-US" sz="3000" i="1">
                              <a:latin typeface="Cambria Math" charset="0"/>
                            </a:rPr>
                            <m:t>𝑡</m:t>
                          </m:r>
                        </m:sub>
                      </m:sSub>
                    </m:oMath>
                  </m:oMathPara>
                </a14:m>
                <a:endParaRPr lang="en-US" sz="3000" dirty="0"/>
              </a:p>
            </p:txBody>
          </p:sp>
        </mc:Choice>
        <mc:Fallback xmlns="">
          <p:sp>
            <p:nvSpPr>
              <p:cNvPr id="7" name="TextBox 6"/>
              <p:cNvSpPr txBox="1">
                <a:spLocks noRot="1" noChangeAspect="1" noMove="1" noResize="1" noEditPoints="1" noAdjustHandles="1" noChangeArrowheads="1" noChangeShapeType="1" noTextEdit="1"/>
              </p:cNvSpPr>
              <p:nvPr/>
            </p:nvSpPr>
            <p:spPr>
              <a:xfrm>
                <a:off x="2007578" y="3125618"/>
                <a:ext cx="2226059" cy="461665"/>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007578" y="2573814"/>
                <a:ext cx="554613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i="1" smtClean="0">
                              <a:latin typeface="Cambria Math" panose="02040503050406030204" pitchFamily="18" charset="0"/>
                            </a:rPr>
                          </m:ctrlPr>
                        </m:sSubPr>
                        <m:e>
                          <m:r>
                            <a:rPr lang="en-US" sz="3000" i="1">
                              <a:latin typeface="Cambria Math" charset="0"/>
                            </a:rPr>
                            <m:t>𝑣</m:t>
                          </m:r>
                        </m:e>
                        <m:sub>
                          <m:r>
                            <a:rPr lang="en-US" sz="3000" i="1">
                              <a:latin typeface="Cambria Math" charset="0"/>
                            </a:rPr>
                            <m:t>𝑡</m:t>
                          </m:r>
                        </m:sub>
                      </m:sSub>
                      <m:r>
                        <a:rPr lang="en-US" sz="3000" i="1">
                          <a:latin typeface="Cambria Math" charset="0"/>
                        </a:rPr>
                        <m:t>=</m:t>
                      </m:r>
                      <m:r>
                        <a:rPr lang="en-US" sz="3000" i="1">
                          <a:latin typeface="Cambria Math" charset="0"/>
                        </a:rPr>
                        <m:t>𝜂</m:t>
                      </m:r>
                      <m:r>
                        <a:rPr lang="en-US" sz="3000" i="1">
                          <a:latin typeface="Cambria Math" charset="0"/>
                        </a:rPr>
                        <m:t>⋅</m:t>
                      </m:r>
                      <m:sSub>
                        <m:sSubPr>
                          <m:ctrlPr>
                            <a:rPr lang="en-US" sz="3000" i="1">
                              <a:latin typeface="Cambria Math" panose="02040503050406030204" pitchFamily="18" charset="0"/>
                            </a:rPr>
                          </m:ctrlPr>
                        </m:sSubPr>
                        <m:e>
                          <m:r>
                            <a:rPr lang="en-US" sz="3000" i="1">
                              <a:latin typeface="Cambria Math" charset="0"/>
                            </a:rPr>
                            <m:t>𝑣</m:t>
                          </m:r>
                        </m:e>
                        <m:sub>
                          <m:r>
                            <a:rPr lang="en-US" sz="3000" i="1">
                              <a:latin typeface="Cambria Math" charset="0"/>
                            </a:rPr>
                            <m:t>𝑡</m:t>
                          </m:r>
                          <m:r>
                            <a:rPr lang="en-US" sz="3000" i="1">
                              <a:latin typeface="Cambria Math" charset="0"/>
                            </a:rPr>
                            <m:t>−1</m:t>
                          </m:r>
                        </m:sub>
                      </m:sSub>
                      <m:r>
                        <a:rPr lang="en-US" sz="3000" i="1">
                          <a:latin typeface="Cambria Math" charset="0"/>
                        </a:rPr>
                        <m:t>−</m:t>
                      </m:r>
                      <m:r>
                        <a:rPr lang="en-US" sz="3000" i="1">
                          <a:latin typeface="Cambria Math" charset="0"/>
                        </a:rPr>
                        <m:t>𝛼</m:t>
                      </m:r>
                      <m:r>
                        <a:rPr lang="en-US" sz="3000" i="1">
                          <a:latin typeface="Cambria Math" charset="0"/>
                        </a:rPr>
                        <m:t>⋅</m:t>
                      </m:r>
                      <m:r>
                        <a:rPr lang="el-GR" sz="3000" i="1">
                          <a:latin typeface="Cambria Math" charset="0"/>
                          <a:ea typeface="Cambria Math" charset="0"/>
                          <a:cs typeface="Cambria Math" charset="0"/>
                        </a:rPr>
                        <m:t>𝛻</m:t>
                      </m:r>
                      <m:r>
                        <a:rPr lang="en-US" sz="3000" i="1">
                          <a:latin typeface="Cambria Math" charset="0"/>
                          <a:ea typeface="Cambria Math" charset="0"/>
                          <a:cs typeface="Cambria Math" charset="0"/>
                        </a:rPr>
                        <m:t>(</m:t>
                      </m:r>
                      <m:r>
                        <a:rPr lang="en-US" sz="3000" b="0" i="1" smtClean="0">
                          <a:latin typeface="Cambria Math" charset="0"/>
                          <a:ea typeface="Cambria Math" charset="0"/>
                          <a:cs typeface="Cambria Math" charset="0"/>
                        </a:rPr>
                        <m:t>𝐽</m:t>
                      </m:r>
                      <m:r>
                        <a:rPr lang="en-US" sz="3000" i="1">
                          <a:latin typeface="Cambria Math" charset="0"/>
                          <a:ea typeface="Cambria Math" charset="0"/>
                          <a:cs typeface="Cambria Math" charset="0"/>
                        </a:rPr>
                        <m:t>−</m:t>
                      </m:r>
                      <m:r>
                        <a:rPr lang="en-US" sz="3000" i="1">
                          <a:latin typeface="Cambria Math" charset="0"/>
                        </a:rPr>
                        <m:t>𝜂</m:t>
                      </m:r>
                      <m:r>
                        <a:rPr lang="en-US" sz="3000" i="1">
                          <a:latin typeface="Cambria Math" charset="0"/>
                        </a:rPr>
                        <m:t>⋅</m:t>
                      </m:r>
                      <m:sSub>
                        <m:sSubPr>
                          <m:ctrlPr>
                            <a:rPr lang="en-US" sz="3000" i="1">
                              <a:latin typeface="Cambria Math" panose="02040503050406030204" pitchFamily="18" charset="0"/>
                            </a:rPr>
                          </m:ctrlPr>
                        </m:sSubPr>
                        <m:e>
                          <m:r>
                            <a:rPr lang="en-US" sz="3000" i="1">
                              <a:latin typeface="Cambria Math" charset="0"/>
                            </a:rPr>
                            <m:t>𝑣</m:t>
                          </m:r>
                        </m:e>
                        <m:sub>
                          <m:r>
                            <a:rPr lang="en-US" sz="3000" i="1">
                              <a:latin typeface="Cambria Math" charset="0"/>
                            </a:rPr>
                            <m:t>𝑡</m:t>
                          </m:r>
                          <m:r>
                            <a:rPr lang="en-US" sz="3000" i="1">
                              <a:latin typeface="Cambria Math" charset="0"/>
                            </a:rPr>
                            <m:t>−1</m:t>
                          </m:r>
                        </m:sub>
                      </m:sSub>
                      <m:r>
                        <a:rPr lang="en-US" sz="3000" i="1">
                          <a:latin typeface="Cambria Math" charset="0"/>
                          <a:ea typeface="Cambria Math" charset="0"/>
                          <a:cs typeface="Cambria Math" charset="0"/>
                        </a:rPr>
                        <m:t>)</m:t>
                      </m:r>
                    </m:oMath>
                  </m:oMathPara>
                </a14:m>
                <a:endParaRPr lang="en-US" sz="3000" dirty="0"/>
              </a:p>
            </p:txBody>
          </p:sp>
        </mc:Choice>
        <mc:Fallback xmlns="">
          <p:sp>
            <p:nvSpPr>
              <p:cNvPr id="8" name="TextBox 7"/>
              <p:cNvSpPr txBox="1">
                <a:spLocks noRot="1" noChangeAspect="1" noMove="1" noResize="1" noEditPoints="1" noAdjustHandles="1" noChangeArrowheads="1" noChangeShapeType="1" noTextEdit="1"/>
              </p:cNvSpPr>
              <p:nvPr/>
            </p:nvSpPr>
            <p:spPr>
              <a:xfrm>
                <a:off x="2007578" y="2573814"/>
                <a:ext cx="5546134" cy="461665"/>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73419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Nesterov</a:t>
            </a:r>
            <a:r>
              <a:rPr lang="en-US" dirty="0" smtClean="0">
                <a:latin typeface="Avenir Book" charset="0"/>
                <a:ea typeface="Avenir Book" charset="0"/>
                <a:cs typeface="Avenir Book" charset="0"/>
              </a:rPr>
              <a:t> Momentum</a:t>
            </a:r>
            <a:endParaRPr lang="en-US" dirty="0">
              <a:latin typeface="Avenir Book" charset="0"/>
              <a:ea typeface="Avenir Book" charset="0"/>
              <a:cs typeface="Avenir Book" charset="0"/>
            </a:endParaRPr>
          </a:p>
        </p:txBody>
      </p:sp>
      <p:pic>
        <p:nvPicPr>
          <p:cNvPr id="6" name="Shape 432"/>
          <p:cNvPicPr preferRelativeResize="0"/>
          <p:nvPr/>
        </p:nvPicPr>
        <p:blipFill>
          <a:blip r:embed="rId3">
            <a:alphaModFix/>
          </a:blip>
          <a:stretch>
            <a:fillRect/>
          </a:stretch>
        </p:blipFill>
        <p:spPr>
          <a:xfrm>
            <a:off x="1657350" y="1412176"/>
            <a:ext cx="6265369" cy="1805381"/>
          </a:xfrm>
          <a:prstGeom prst="rect">
            <a:avLst/>
          </a:prstGeom>
          <a:noFill/>
          <a:ln>
            <a:noFill/>
          </a:ln>
        </p:spPr>
      </p:pic>
      <p:cxnSp>
        <p:nvCxnSpPr>
          <p:cNvPr id="9" name="Shape 434"/>
          <p:cNvCxnSpPr/>
          <p:nvPr/>
        </p:nvCxnSpPr>
        <p:spPr>
          <a:xfrm>
            <a:off x="2209313" y="3555769"/>
            <a:ext cx="665550" cy="0"/>
          </a:xfrm>
          <a:prstGeom prst="straightConnector1">
            <a:avLst/>
          </a:prstGeom>
          <a:noFill/>
          <a:ln w="38100" cap="flat" cmpd="sng">
            <a:solidFill>
              <a:srgbClr val="7F6000"/>
            </a:solidFill>
            <a:prstDash val="solid"/>
            <a:round/>
            <a:headEnd type="none" w="lg" len="lg"/>
            <a:tailEnd type="stealth" w="lg" len="lg"/>
          </a:ln>
        </p:spPr>
      </p:cxnSp>
      <p:cxnSp>
        <p:nvCxnSpPr>
          <p:cNvPr id="10" name="Shape 435"/>
          <p:cNvCxnSpPr/>
          <p:nvPr/>
        </p:nvCxnSpPr>
        <p:spPr>
          <a:xfrm>
            <a:off x="2209313" y="4126200"/>
            <a:ext cx="665550" cy="0"/>
          </a:xfrm>
          <a:prstGeom prst="straightConnector1">
            <a:avLst/>
          </a:prstGeom>
          <a:noFill/>
          <a:ln w="38100" cap="flat" cmpd="sng">
            <a:solidFill>
              <a:srgbClr val="FF0000"/>
            </a:solidFill>
            <a:prstDash val="solid"/>
            <a:round/>
            <a:headEnd type="none" w="lg" len="lg"/>
            <a:tailEnd type="stealth" w="lg" len="lg"/>
          </a:ln>
        </p:spPr>
      </p:cxnSp>
      <p:cxnSp>
        <p:nvCxnSpPr>
          <p:cNvPr id="11" name="Shape 436"/>
          <p:cNvCxnSpPr/>
          <p:nvPr/>
        </p:nvCxnSpPr>
        <p:spPr>
          <a:xfrm>
            <a:off x="5000438" y="3555769"/>
            <a:ext cx="665550" cy="0"/>
          </a:xfrm>
          <a:prstGeom prst="straightConnector1">
            <a:avLst/>
          </a:prstGeom>
          <a:noFill/>
          <a:ln w="38100" cap="flat" cmpd="sng">
            <a:solidFill>
              <a:srgbClr val="38761D"/>
            </a:solidFill>
            <a:prstDash val="solid"/>
            <a:round/>
            <a:headEnd type="none" w="lg" len="lg"/>
            <a:tailEnd type="stealth" w="lg" len="lg"/>
          </a:ln>
        </p:spPr>
      </p:cxnSp>
      <p:cxnSp>
        <p:nvCxnSpPr>
          <p:cNvPr id="12" name="Shape 437"/>
          <p:cNvCxnSpPr/>
          <p:nvPr/>
        </p:nvCxnSpPr>
        <p:spPr>
          <a:xfrm>
            <a:off x="5000438" y="4126200"/>
            <a:ext cx="665550" cy="0"/>
          </a:xfrm>
          <a:prstGeom prst="straightConnector1">
            <a:avLst/>
          </a:prstGeom>
          <a:noFill/>
          <a:ln w="38100" cap="flat" cmpd="sng">
            <a:solidFill>
              <a:srgbClr val="0000FF"/>
            </a:solidFill>
            <a:prstDash val="solid"/>
            <a:round/>
            <a:headEnd type="none" w="lg" len="lg"/>
            <a:tailEnd type="stealth" w="lg" len="lg"/>
          </a:ln>
        </p:spPr>
      </p:cxnSp>
      <p:sp>
        <p:nvSpPr>
          <p:cNvPr id="13" name="Shape 438"/>
          <p:cNvSpPr txBox="1"/>
          <p:nvPr/>
        </p:nvSpPr>
        <p:spPr>
          <a:xfrm>
            <a:off x="2896972" y="3365625"/>
            <a:ext cx="1772550" cy="893700"/>
          </a:xfrm>
          <a:prstGeom prst="rect">
            <a:avLst/>
          </a:prstGeom>
          <a:noFill/>
          <a:ln>
            <a:noFill/>
          </a:ln>
        </p:spPr>
        <p:txBody>
          <a:bodyPr lIns="68569" tIns="68569" rIns="68569" bIns="68569" anchor="t" anchorCtr="0">
            <a:noAutofit/>
          </a:bodyPr>
          <a:lstStyle/>
          <a:p>
            <a:r>
              <a:rPr lang="en" sz="1350"/>
              <a:t>Momentum Vector</a:t>
            </a:r>
          </a:p>
          <a:p>
            <a:endParaRPr sz="1350"/>
          </a:p>
          <a:p>
            <a:endParaRPr sz="1350"/>
          </a:p>
          <a:p>
            <a:r>
              <a:rPr lang="en" sz="1350"/>
              <a:t>Gradient/correction</a:t>
            </a:r>
          </a:p>
        </p:txBody>
      </p:sp>
      <p:sp>
        <p:nvSpPr>
          <p:cNvPr id="14" name="Shape 439"/>
          <p:cNvSpPr txBox="1"/>
          <p:nvPr/>
        </p:nvSpPr>
        <p:spPr>
          <a:xfrm>
            <a:off x="5712431" y="3365625"/>
            <a:ext cx="2314800" cy="893700"/>
          </a:xfrm>
          <a:prstGeom prst="rect">
            <a:avLst/>
          </a:prstGeom>
          <a:noFill/>
          <a:ln>
            <a:noFill/>
          </a:ln>
        </p:spPr>
        <p:txBody>
          <a:bodyPr lIns="68569" tIns="68569" rIns="68569" bIns="68569" anchor="t" anchorCtr="0">
            <a:noAutofit/>
          </a:bodyPr>
          <a:lstStyle/>
          <a:p>
            <a:r>
              <a:rPr lang="en" sz="1350"/>
              <a:t>Nesterov steps</a:t>
            </a:r>
          </a:p>
          <a:p>
            <a:endParaRPr sz="1350"/>
          </a:p>
          <a:p>
            <a:endParaRPr sz="1350"/>
          </a:p>
          <a:p>
            <a:r>
              <a:rPr lang="en" sz="1350"/>
              <a:t>Standard momentum steps</a:t>
            </a:r>
          </a:p>
        </p:txBody>
      </p:sp>
    </p:spTree>
    <p:extLst>
      <p:ext uri="{BB962C8B-B14F-4D97-AF65-F5344CB8AC3E}">
        <p14:creationId xmlns:p14="http://schemas.microsoft.com/office/powerpoint/2010/main" val="3302072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AdaGrad</a:t>
            </a:r>
            <a:endParaRPr lang="en-US" dirty="0">
              <a:latin typeface="Avenir Book" charset="0"/>
              <a:ea typeface="Avenir Book" charset="0"/>
              <a:cs typeface="Avenir Book" charset="0"/>
            </a:endParaRPr>
          </a:p>
        </p:txBody>
      </p:sp>
      <p:sp>
        <p:nvSpPr>
          <p:cNvPr id="75" name="Rectangle 74"/>
          <p:cNvSpPr/>
          <p:nvPr/>
        </p:nvSpPr>
        <p:spPr>
          <a:xfrm>
            <a:off x="398352" y="1227244"/>
            <a:ext cx="8192764" cy="2462213"/>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Idea: scale the update for each weight separately.</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Update </a:t>
            </a:r>
            <a:r>
              <a:rPr lang="en-US" sz="2200" dirty="0">
                <a:latin typeface="Avenir Book" charset="0"/>
                <a:ea typeface="Avenir Book" charset="0"/>
                <a:cs typeface="Avenir Book" charset="0"/>
              </a:rPr>
              <a:t>frequently-updated weights </a:t>
            </a:r>
            <a:r>
              <a:rPr lang="en-US" sz="2200" dirty="0" smtClean="0">
                <a:latin typeface="Avenir Book" charset="0"/>
                <a:ea typeface="Avenir Book" charset="0"/>
                <a:cs typeface="Avenir Book" charset="0"/>
              </a:rPr>
              <a:t>less</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Keep </a:t>
            </a:r>
            <a:r>
              <a:rPr lang="en-US" sz="2200" dirty="0">
                <a:latin typeface="Avenir Book" charset="0"/>
                <a:ea typeface="Avenir Book" charset="0"/>
                <a:cs typeface="Avenir Book" charset="0"/>
              </a:rPr>
              <a:t>running </a:t>
            </a:r>
            <a:r>
              <a:rPr lang="en-US" sz="2200" dirty="0" smtClean="0">
                <a:latin typeface="Avenir Book" charset="0"/>
                <a:ea typeface="Avenir Book" charset="0"/>
                <a:cs typeface="Avenir Book" charset="0"/>
              </a:rPr>
              <a:t>sum </a:t>
            </a:r>
            <a:r>
              <a:rPr lang="en-US" sz="2200" dirty="0">
                <a:latin typeface="Avenir Book" charset="0"/>
                <a:ea typeface="Avenir Book" charset="0"/>
                <a:cs typeface="Avenir Book" charset="0"/>
              </a:rPr>
              <a:t>of previous </a:t>
            </a:r>
            <a:r>
              <a:rPr lang="en-US" sz="2200" dirty="0" smtClean="0">
                <a:latin typeface="Avenir Book" charset="0"/>
                <a:ea typeface="Avenir Book" charset="0"/>
                <a:cs typeface="Avenir Book" charset="0"/>
              </a:rPr>
              <a:t>updates</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Divide </a:t>
            </a:r>
            <a:r>
              <a:rPr lang="en-US" sz="2200" dirty="0">
                <a:latin typeface="Avenir Book" charset="0"/>
                <a:ea typeface="Avenir Book" charset="0"/>
                <a:cs typeface="Avenir Book" charset="0"/>
              </a:rPr>
              <a:t>new updates by factor of previous </a:t>
            </a:r>
            <a:r>
              <a:rPr lang="en-US" sz="2200" dirty="0" smtClean="0">
                <a:latin typeface="Avenir Book" charset="0"/>
                <a:ea typeface="Avenir Book" charset="0"/>
                <a:cs typeface="Avenir Book" charset="0"/>
              </a:rPr>
              <a:t>sum</a:t>
            </a: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smtClean="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7" name="TextBox 6"/>
              <p:cNvSpPr txBox="1"/>
              <p:nvPr/>
            </p:nvSpPr>
            <p:spPr>
              <a:xfrm>
                <a:off x="2000251" y="2992709"/>
                <a:ext cx="3265188" cy="7873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charset="0"/>
                        </a:rPr>
                        <m:t>𝑊</m:t>
                      </m:r>
                      <m:r>
                        <a:rPr lang="en-US" sz="2400" i="1" smtClean="0">
                          <a:latin typeface="Cambria Math" charset="0"/>
                        </a:rPr>
                        <m:t>≔</m:t>
                      </m:r>
                      <m:r>
                        <a:rPr lang="en-US" sz="2400" i="1" smtClean="0">
                          <a:latin typeface="Cambria Math" charset="0"/>
                        </a:rPr>
                        <m:t>𝑊</m:t>
                      </m:r>
                      <m:r>
                        <a:rPr lang="en-US" sz="2400" i="1" smtClean="0">
                          <a:latin typeface="Cambria Math" charset="0"/>
                        </a:rPr>
                        <m:t>−</m:t>
                      </m:r>
                      <m:f>
                        <m:fPr>
                          <m:ctrlPr>
                            <a:rPr lang="mr-IN" sz="2400" i="1">
                              <a:latin typeface="Cambria Math" panose="02040503050406030204" pitchFamily="18" charset="0"/>
                            </a:rPr>
                          </m:ctrlPr>
                        </m:fPr>
                        <m:num>
                          <m:r>
                            <a:rPr lang="en-US" sz="2400" i="1">
                              <a:latin typeface="Cambria Math" charset="0"/>
                            </a:rPr>
                            <m:t>𝜂</m:t>
                          </m:r>
                        </m:num>
                        <m:den>
                          <m:rad>
                            <m:radPr>
                              <m:degHide m:val="on"/>
                              <m:ctrlPr>
                                <a:rPr lang="mr-IN"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charset="0"/>
                                    </a:rPr>
                                    <m:t>𝐺</m:t>
                                  </m:r>
                                </m:e>
                                <m:sub>
                                  <m:r>
                                    <a:rPr lang="en-US" sz="2400" i="1">
                                      <a:latin typeface="Cambria Math" charset="0"/>
                                    </a:rPr>
                                    <m:t>𝑡</m:t>
                                  </m:r>
                                </m:sub>
                              </m:sSub>
                            </m:e>
                          </m:rad>
                          <m:r>
                            <a:rPr lang="en-US" sz="2400" i="1">
                              <a:latin typeface="Cambria Math" charset="0"/>
                            </a:rPr>
                            <m:t>+</m:t>
                          </m:r>
                          <m:r>
                            <a:rPr lang="en-US" sz="2400" i="1">
                              <a:latin typeface="Cambria Math" charset="0"/>
                            </a:rPr>
                            <m:t>𝜖</m:t>
                          </m:r>
                        </m:den>
                      </m:f>
                      <m:r>
                        <a:rPr lang="mr-IN" sz="2400" i="1">
                          <a:latin typeface="Cambria Math" charset="0"/>
                          <a:ea typeface="Cambria Math" charset="0"/>
                          <a:cs typeface="Cambria Math" charset="0"/>
                        </a:rPr>
                        <m:t>⨀</m:t>
                      </m:r>
                      <m:r>
                        <a:rPr lang="el-GR" sz="2800" i="1">
                          <a:latin typeface="Cambria Math" charset="0"/>
                          <a:ea typeface="Cambria Math" charset="0"/>
                          <a:cs typeface="Cambria Math" charset="0"/>
                        </a:rPr>
                        <m:t>𝛻</m:t>
                      </m:r>
                      <m:r>
                        <a:rPr lang="en-US" sz="2800" b="0" i="1" smtClean="0">
                          <a:latin typeface="Cambria Math" charset="0"/>
                          <a:ea typeface="Cambria Math" charset="0"/>
                          <a:cs typeface="Cambria Math" charset="0"/>
                        </a:rPr>
                        <m:t>𝐽</m:t>
                      </m:r>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2000251" y="2992709"/>
                <a:ext cx="3265188" cy="787395"/>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382597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RMSProp</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Quite similar to </a:t>
            </a:r>
            <a:r>
              <a:rPr lang="en-US" sz="2200" dirty="0" err="1" smtClean="0">
                <a:latin typeface="Avenir Book" charset="0"/>
                <a:ea typeface="Avenir Book" charset="0"/>
                <a:cs typeface="Avenir Book" charset="0"/>
              </a:rPr>
              <a:t>AdaGrad</a:t>
            </a:r>
            <a:r>
              <a:rPr lang="en-US" sz="2200" dirty="0" smtClean="0">
                <a:latin typeface="Avenir Book" charset="0"/>
                <a:ea typeface="Avenir Book" charset="0"/>
                <a:cs typeface="Avenir Book" charset="0"/>
              </a:rPr>
              <a:t>.</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Rather than using the sum of previous gradients, decay older gradients more than more recent ones.</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More adaptive to recent updates</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smtClean="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5744637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Adam</a:t>
            </a:r>
            <a:endParaRPr lang="en-US" dirty="0">
              <a:latin typeface="Avenir Book" charset="0"/>
              <a:ea typeface="Avenir Book" charset="0"/>
              <a:cs typeface="Avenir Book" charset="0"/>
            </a:endParaRPr>
          </a:p>
        </p:txBody>
      </p:sp>
      <p:sp>
        <p:nvSpPr>
          <p:cNvPr id="75" name="Rectangle 74"/>
          <p:cNvSpPr/>
          <p:nvPr/>
        </p:nvSpPr>
        <p:spPr>
          <a:xfrm>
            <a:off x="398352" y="1227244"/>
            <a:ext cx="8192764" cy="769441"/>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Idea: use both first-order and second-order change information and decay both over time.</a:t>
            </a:r>
            <a:endParaRPr lang="en-US" sz="2200"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15" name="TextBox 14"/>
              <p:cNvSpPr txBox="1"/>
              <p:nvPr/>
            </p:nvSpPr>
            <p:spPr>
              <a:xfrm>
                <a:off x="790918" y="2127538"/>
                <a:ext cx="275107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m:rPr>
                              <m:sty m:val="p"/>
                            </m:rPr>
                            <a:rPr lang="en-US" sz="1800" b="0" i="0">
                              <a:latin typeface="Cambria Math" charset="0"/>
                            </a:rPr>
                            <m:t>m</m:t>
                          </m:r>
                        </m:e>
                        <m:sub>
                          <m:r>
                            <m:rPr>
                              <m:sty m:val="p"/>
                            </m:rPr>
                            <a:rPr lang="en-US" sz="1800" b="0" i="0">
                              <a:latin typeface="Cambria Math" charset="0"/>
                            </a:rPr>
                            <m:t>t</m:t>
                          </m:r>
                        </m:sub>
                      </m:sSub>
                      <m:r>
                        <a:rPr lang="en-US" sz="1800" b="0" i="0">
                          <a:latin typeface="Cambria Math" charset="0"/>
                        </a:rPr>
                        <m:t>=</m:t>
                      </m:r>
                      <m:sSub>
                        <m:sSubPr>
                          <m:ctrlPr>
                            <a:rPr lang="en-US" sz="1800" i="1">
                              <a:latin typeface="Cambria Math" panose="02040503050406030204" pitchFamily="18" charset="0"/>
                            </a:rPr>
                          </m:ctrlPr>
                        </m:sSubPr>
                        <m:e>
                          <m:r>
                            <m:rPr>
                              <m:sty m:val="p"/>
                            </m:rPr>
                            <a:rPr lang="en-US" sz="1800" b="0" i="0">
                              <a:latin typeface="Cambria Math" charset="0"/>
                            </a:rPr>
                            <m:t>β</m:t>
                          </m:r>
                        </m:e>
                        <m:sub>
                          <m:r>
                            <a:rPr lang="en-US" sz="1800" b="0" i="0">
                              <a:latin typeface="Cambria Math" charset="0"/>
                            </a:rPr>
                            <m:t>1</m:t>
                          </m:r>
                        </m:sub>
                      </m:sSub>
                      <m:sSub>
                        <m:sSubPr>
                          <m:ctrlPr>
                            <a:rPr lang="en-US" sz="1800" i="1">
                              <a:latin typeface="Cambria Math" panose="02040503050406030204" pitchFamily="18" charset="0"/>
                            </a:rPr>
                          </m:ctrlPr>
                        </m:sSubPr>
                        <m:e>
                          <m:r>
                            <m:rPr>
                              <m:sty m:val="p"/>
                            </m:rPr>
                            <a:rPr lang="en-US" sz="1800" b="0" i="0">
                              <a:latin typeface="Cambria Math" charset="0"/>
                            </a:rPr>
                            <m:t>m</m:t>
                          </m:r>
                        </m:e>
                        <m:sub>
                          <m:r>
                            <m:rPr>
                              <m:sty m:val="p"/>
                            </m:rPr>
                            <a:rPr lang="en-US" sz="1800" b="0" i="0">
                              <a:latin typeface="Cambria Math" charset="0"/>
                            </a:rPr>
                            <m:t>t</m:t>
                          </m:r>
                          <m:r>
                            <a:rPr lang="en-US" sz="1800" b="0" i="0">
                              <a:latin typeface="Cambria Math" charset="0"/>
                            </a:rPr>
                            <m:t>−1</m:t>
                          </m:r>
                        </m:sub>
                      </m:sSub>
                      <m:r>
                        <a:rPr lang="en-US" sz="1800" b="0" i="0">
                          <a:latin typeface="Cambria Math" charset="0"/>
                        </a:rPr>
                        <m:t>+(1−</m:t>
                      </m:r>
                      <m:sSub>
                        <m:sSubPr>
                          <m:ctrlPr>
                            <a:rPr lang="en-US" sz="1800" i="1">
                              <a:latin typeface="Cambria Math" panose="02040503050406030204" pitchFamily="18" charset="0"/>
                            </a:rPr>
                          </m:ctrlPr>
                        </m:sSubPr>
                        <m:e>
                          <m:r>
                            <m:rPr>
                              <m:sty m:val="p"/>
                            </m:rPr>
                            <a:rPr lang="en-US" sz="1800" b="0" i="0">
                              <a:latin typeface="Cambria Math" charset="0"/>
                            </a:rPr>
                            <m:t>β</m:t>
                          </m:r>
                        </m:e>
                        <m:sub>
                          <m:r>
                            <a:rPr lang="en-US" sz="1800" b="0" i="0">
                              <a:latin typeface="Cambria Math" charset="0"/>
                            </a:rPr>
                            <m:t>1</m:t>
                          </m:r>
                        </m:sub>
                      </m:sSub>
                      <m:r>
                        <a:rPr lang="en-US" sz="1800" b="0" i="0">
                          <a:latin typeface="Cambria Math" charset="0"/>
                        </a:rPr>
                        <m:t>)</m:t>
                      </m:r>
                      <m:r>
                        <a:rPr lang="el-GR" sz="2400" b="0" i="0">
                          <a:latin typeface="Cambria Math" charset="0"/>
                          <a:ea typeface="Cambria Math" charset="0"/>
                          <a:cs typeface="Cambria Math" charset="0"/>
                        </a:rPr>
                        <m:t>𝛻</m:t>
                      </m:r>
                      <m:r>
                        <m:rPr>
                          <m:sty m:val="p"/>
                        </m:rPr>
                        <a:rPr lang="en-US" sz="2400" b="0" i="0" smtClean="0">
                          <a:latin typeface="Cambria Math" charset="0"/>
                          <a:ea typeface="Cambria Math" charset="0"/>
                          <a:cs typeface="Cambria Math" charset="0"/>
                        </a:rPr>
                        <m:t>J</m:t>
                      </m:r>
                    </m:oMath>
                  </m:oMathPara>
                </a14:m>
                <a:endParaRPr lang="en-US" sz="2100" dirty="0"/>
              </a:p>
            </p:txBody>
          </p:sp>
        </mc:Choice>
        <mc:Fallback xmlns="">
          <p:sp>
            <p:nvSpPr>
              <p:cNvPr id="15" name="TextBox 14"/>
              <p:cNvSpPr txBox="1">
                <a:spLocks noRot="1" noChangeAspect="1" noMove="1" noResize="1" noEditPoints="1" noAdjustHandles="1" noChangeArrowheads="1" noChangeShapeType="1" noTextEdit="1"/>
              </p:cNvSpPr>
              <p:nvPr/>
            </p:nvSpPr>
            <p:spPr>
              <a:xfrm>
                <a:off x="790918" y="2127538"/>
                <a:ext cx="2751074" cy="369332"/>
              </a:xfrm>
              <a:prstGeom prst="rect">
                <a:avLst/>
              </a:prstGeom>
              <a:blipFill rotWithShape="0">
                <a:blip r:embed="rId3"/>
                <a:stretch>
                  <a:fillRect l="-222" r="-3104" b="-32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916366" y="2127538"/>
                <a:ext cx="26102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m:rPr>
                              <m:sty m:val="p"/>
                            </m:rPr>
                            <a:rPr lang="en-US" sz="1800" i="0">
                              <a:latin typeface="Cambria Math" charset="0"/>
                            </a:rPr>
                            <m:t>v</m:t>
                          </m:r>
                        </m:e>
                        <m:sub>
                          <m:r>
                            <m:rPr>
                              <m:sty m:val="p"/>
                            </m:rPr>
                            <a:rPr lang="en-US" sz="1800" i="0">
                              <a:latin typeface="Cambria Math" charset="0"/>
                            </a:rPr>
                            <m:t>t</m:t>
                          </m:r>
                        </m:sub>
                      </m:sSub>
                      <m:r>
                        <a:rPr lang="en-US" sz="1800" i="0">
                          <a:latin typeface="Cambria Math" charset="0"/>
                        </a:rPr>
                        <m:t>=</m:t>
                      </m:r>
                      <m:sSub>
                        <m:sSubPr>
                          <m:ctrlPr>
                            <a:rPr lang="en-US" sz="1800" i="1">
                              <a:latin typeface="Cambria Math" panose="02040503050406030204" pitchFamily="18" charset="0"/>
                            </a:rPr>
                          </m:ctrlPr>
                        </m:sSubPr>
                        <m:e>
                          <m:r>
                            <m:rPr>
                              <m:sty m:val="p"/>
                            </m:rPr>
                            <a:rPr lang="en-US" sz="1800" i="0">
                              <a:latin typeface="Cambria Math" charset="0"/>
                            </a:rPr>
                            <m:t>β</m:t>
                          </m:r>
                        </m:e>
                        <m:sub>
                          <m:r>
                            <a:rPr lang="en-US" sz="1800" i="0">
                              <a:latin typeface="Cambria Math" charset="0"/>
                            </a:rPr>
                            <m:t>2</m:t>
                          </m:r>
                        </m:sub>
                      </m:sSub>
                      <m:sSub>
                        <m:sSubPr>
                          <m:ctrlPr>
                            <a:rPr lang="en-US" sz="1800" i="1">
                              <a:latin typeface="Cambria Math" panose="02040503050406030204" pitchFamily="18" charset="0"/>
                            </a:rPr>
                          </m:ctrlPr>
                        </m:sSubPr>
                        <m:e>
                          <m:r>
                            <m:rPr>
                              <m:sty m:val="p"/>
                            </m:rPr>
                            <a:rPr lang="en-US" sz="1800" i="0">
                              <a:latin typeface="Cambria Math" charset="0"/>
                            </a:rPr>
                            <m:t>v</m:t>
                          </m:r>
                        </m:e>
                        <m:sub>
                          <m:r>
                            <m:rPr>
                              <m:sty m:val="p"/>
                            </m:rPr>
                            <a:rPr lang="en-US" sz="1800" i="0">
                              <a:latin typeface="Cambria Math" charset="0"/>
                            </a:rPr>
                            <m:t>t</m:t>
                          </m:r>
                          <m:r>
                            <a:rPr lang="en-US" sz="1800" i="0">
                              <a:latin typeface="Cambria Math" charset="0"/>
                            </a:rPr>
                            <m:t>−1</m:t>
                          </m:r>
                        </m:sub>
                      </m:sSub>
                      <m:r>
                        <a:rPr lang="en-US" sz="1800" i="0">
                          <a:latin typeface="Cambria Math" charset="0"/>
                        </a:rPr>
                        <m:t>+</m:t>
                      </m:r>
                      <m:d>
                        <m:dPr>
                          <m:ctrlPr>
                            <a:rPr lang="en-US" sz="1800" i="1">
                              <a:latin typeface="Cambria Math" panose="02040503050406030204" pitchFamily="18" charset="0"/>
                            </a:rPr>
                          </m:ctrlPr>
                        </m:dPr>
                        <m:e>
                          <m:r>
                            <a:rPr lang="en-US" sz="1800" i="0">
                              <a:latin typeface="Cambria Math" charset="0"/>
                            </a:rPr>
                            <m:t>1−</m:t>
                          </m:r>
                          <m:sSub>
                            <m:sSubPr>
                              <m:ctrlPr>
                                <a:rPr lang="en-US" sz="1800" i="1">
                                  <a:latin typeface="Cambria Math" panose="02040503050406030204" pitchFamily="18" charset="0"/>
                                </a:rPr>
                              </m:ctrlPr>
                            </m:sSubPr>
                            <m:e>
                              <m:r>
                                <m:rPr>
                                  <m:sty m:val="p"/>
                                </m:rPr>
                                <a:rPr lang="en-US" sz="1800" i="0">
                                  <a:latin typeface="Cambria Math" charset="0"/>
                                </a:rPr>
                                <m:t>β</m:t>
                              </m:r>
                            </m:e>
                            <m:sub>
                              <m:r>
                                <a:rPr lang="en-US" sz="1800" i="0">
                                  <a:latin typeface="Cambria Math" charset="0"/>
                                </a:rPr>
                                <m:t>2</m:t>
                              </m:r>
                            </m:sub>
                          </m:sSub>
                        </m:e>
                      </m:d>
                      <m:r>
                        <a:rPr lang="el-GR" sz="2400" i="0">
                          <a:latin typeface="Cambria Math" charset="0"/>
                          <a:ea typeface="Cambria Math" charset="0"/>
                          <a:cs typeface="Cambria Math" charset="0"/>
                        </a:rPr>
                        <m:t>𝛻</m:t>
                      </m:r>
                      <m:r>
                        <m:rPr>
                          <m:sty m:val="p"/>
                        </m:rPr>
                        <a:rPr lang="en-US" sz="2400" b="0" i="0" smtClean="0">
                          <a:latin typeface="Cambria Math" charset="0"/>
                          <a:ea typeface="Cambria Math" charset="0"/>
                          <a:cs typeface="Cambria Math" charset="0"/>
                        </a:rPr>
                        <m:t>J</m:t>
                      </m:r>
                    </m:oMath>
                  </m:oMathPara>
                </a14:m>
                <a:endParaRPr lang="en-US" sz="21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916366" y="2127538"/>
                <a:ext cx="2610266" cy="369332"/>
              </a:xfrm>
              <a:prstGeom prst="rect">
                <a:avLst/>
              </a:prstGeom>
              <a:blipFill rotWithShape="0">
                <a:blip r:embed="rId4"/>
                <a:stretch>
                  <a:fillRect r="-3030" b="-32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601666" y="2820141"/>
                <a:ext cx="1501308" cy="629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acc>
                            <m:accPr>
                              <m:chr m:val="̂"/>
                              <m:ctrlPr>
                                <a:rPr lang="en-US" sz="2100" i="1">
                                  <a:latin typeface="Cambria Math" panose="02040503050406030204" pitchFamily="18" charset="0"/>
                                </a:rPr>
                              </m:ctrlPr>
                            </m:accPr>
                            <m:e>
                              <m:r>
                                <a:rPr lang="en-US" sz="2100" i="1">
                                  <a:latin typeface="Cambria Math" charset="0"/>
                                </a:rPr>
                                <m:t>𝑚</m:t>
                              </m:r>
                            </m:e>
                          </m:acc>
                        </m:e>
                        <m:sub>
                          <m:r>
                            <a:rPr lang="en-US" sz="2100" i="1">
                              <a:latin typeface="Cambria Math" charset="0"/>
                            </a:rPr>
                            <m:t>𝑡</m:t>
                          </m:r>
                        </m:sub>
                      </m:sSub>
                      <m:r>
                        <a:rPr lang="en-US" sz="2100" i="1">
                          <a:latin typeface="Cambria Math" charset="0"/>
                        </a:rPr>
                        <m:t>=</m:t>
                      </m:r>
                      <m:f>
                        <m:fPr>
                          <m:ctrlPr>
                            <a:rPr lang="mr-IN" sz="2100" i="1">
                              <a:latin typeface="Cambria Math" panose="02040503050406030204" pitchFamily="18" charset="0"/>
                            </a:rPr>
                          </m:ctrlPr>
                        </m:fPr>
                        <m:num>
                          <m:sSub>
                            <m:sSubPr>
                              <m:ctrlPr>
                                <a:rPr lang="en-US" sz="2100" i="1">
                                  <a:latin typeface="Cambria Math" panose="02040503050406030204" pitchFamily="18" charset="0"/>
                                </a:rPr>
                              </m:ctrlPr>
                            </m:sSubPr>
                            <m:e>
                              <m:r>
                                <a:rPr lang="en-US" sz="2100" i="1">
                                  <a:latin typeface="Cambria Math" charset="0"/>
                                </a:rPr>
                                <m:t>𝑚</m:t>
                              </m:r>
                            </m:e>
                            <m:sub>
                              <m:r>
                                <a:rPr lang="en-US" sz="2100" i="1">
                                  <a:latin typeface="Cambria Math" charset="0"/>
                                </a:rPr>
                                <m:t>𝑡</m:t>
                              </m:r>
                            </m:sub>
                          </m:sSub>
                        </m:num>
                        <m:den>
                          <m:r>
                            <a:rPr lang="en-US" sz="2100" i="1">
                              <a:latin typeface="Cambria Math" charset="0"/>
                            </a:rPr>
                            <m:t>1−</m:t>
                          </m:r>
                          <m:sSubSup>
                            <m:sSubSupPr>
                              <m:ctrlPr>
                                <a:rPr lang="en-US" sz="2100" i="1">
                                  <a:latin typeface="Cambria Math" panose="02040503050406030204" pitchFamily="18" charset="0"/>
                                </a:rPr>
                              </m:ctrlPr>
                            </m:sSubSupPr>
                            <m:e>
                              <m:r>
                                <a:rPr lang="en-US" sz="2100" i="1">
                                  <a:latin typeface="Cambria Math" charset="0"/>
                                </a:rPr>
                                <m:t>𝛽</m:t>
                              </m:r>
                            </m:e>
                            <m:sub>
                              <m:r>
                                <a:rPr lang="en-US" sz="2100" i="1">
                                  <a:latin typeface="Cambria Math" charset="0"/>
                                </a:rPr>
                                <m:t>1</m:t>
                              </m:r>
                            </m:sub>
                            <m:sup>
                              <m:r>
                                <a:rPr lang="en-US" sz="2100" i="1">
                                  <a:latin typeface="Cambria Math" charset="0"/>
                                </a:rPr>
                                <m:t>𝑡</m:t>
                              </m:r>
                            </m:sup>
                          </m:sSubSup>
                        </m:den>
                      </m:f>
                    </m:oMath>
                  </m:oMathPara>
                </a14:m>
                <a:endParaRPr lang="en-US" sz="2100" dirty="0"/>
              </a:p>
            </p:txBody>
          </p:sp>
        </mc:Choice>
        <mc:Fallback xmlns="">
          <p:sp>
            <p:nvSpPr>
              <p:cNvPr id="17" name="TextBox 16"/>
              <p:cNvSpPr txBox="1">
                <a:spLocks noRot="1" noChangeAspect="1" noMove="1" noResize="1" noEditPoints="1" noAdjustHandles="1" noChangeArrowheads="1" noChangeShapeType="1" noTextEdit="1"/>
              </p:cNvSpPr>
              <p:nvPr/>
            </p:nvSpPr>
            <p:spPr>
              <a:xfrm>
                <a:off x="1601666" y="2820141"/>
                <a:ext cx="1501308" cy="629339"/>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773616" y="2820141"/>
                <a:ext cx="1418530" cy="6299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100" i="1">
                              <a:latin typeface="Cambria Math" panose="02040503050406030204" pitchFamily="18" charset="0"/>
                            </a:rPr>
                          </m:ctrlPr>
                        </m:sSubPr>
                        <m:e>
                          <m:acc>
                            <m:accPr>
                              <m:chr m:val="̂"/>
                              <m:ctrlPr>
                                <a:rPr lang="en-US" sz="2100" i="1">
                                  <a:latin typeface="Cambria Math" panose="02040503050406030204" pitchFamily="18" charset="0"/>
                                </a:rPr>
                              </m:ctrlPr>
                            </m:accPr>
                            <m:e>
                              <m:r>
                                <a:rPr lang="en-US" sz="2100" i="1">
                                  <a:latin typeface="Cambria Math" charset="0"/>
                                </a:rPr>
                                <m:t>𝑣</m:t>
                              </m:r>
                            </m:e>
                          </m:acc>
                        </m:e>
                        <m:sub>
                          <m:r>
                            <a:rPr lang="en-US" sz="2100" i="1">
                              <a:latin typeface="Cambria Math" charset="0"/>
                            </a:rPr>
                            <m:t>𝑡</m:t>
                          </m:r>
                        </m:sub>
                      </m:sSub>
                      <m:r>
                        <a:rPr lang="en-US" sz="2100" i="1">
                          <a:latin typeface="Cambria Math" charset="0"/>
                        </a:rPr>
                        <m:t>=</m:t>
                      </m:r>
                      <m:f>
                        <m:fPr>
                          <m:ctrlPr>
                            <a:rPr lang="mr-IN" sz="2100" i="1">
                              <a:latin typeface="Cambria Math" panose="02040503050406030204" pitchFamily="18" charset="0"/>
                            </a:rPr>
                          </m:ctrlPr>
                        </m:fPr>
                        <m:num>
                          <m:sSub>
                            <m:sSubPr>
                              <m:ctrlPr>
                                <a:rPr lang="en-US" sz="2100" i="1">
                                  <a:latin typeface="Cambria Math" panose="02040503050406030204" pitchFamily="18" charset="0"/>
                                </a:rPr>
                              </m:ctrlPr>
                            </m:sSubPr>
                            <m:e>
                              <m:r>
                                <a:rPr lang="en-US" sz="2100" i="1">
                                  <a:latin typeface="Cambria Math" charset="0"/>
                                </a:rPr>
                                <m:t>𝑣</m:t>
                              </m:r>
                            </m:e>
                            <m:sub>
                              <m:r>
                                <a:rPr lang="en-US" sz="2100" i="1">
                                  <a:latin typeface="Cambria Math" charset="0"/>
                                </a:rPr>
                                <m:t>𝑡</m:t>
                              </m:r>
                            </m:sub>
                          </m:sSub>
                        </m:num>
                        <m:den>
                          <m:r>
                            <a:rPr lang="en-US" sz="2100" i="1">
                              <a:latin typeface="Cambria Math" charset="0"/>
                            </a:rPr>
                            <m:t>1−</m:t>
                          </m:r>
                          <m:sSubSup>
                            <m:sSubSupPr>
                              <m:ctrlPr>
                                <a:rPr lang="en-US" sz="2100" i="1">
                                  <a:latin typeface="Cambria Math" panose="02040503050406030204" pitchFamily="18" charset="0"/>
                                </a:rPr>
                              </m:ctrlPr>
                            </m:sSubSupPr>
                            <m:e>
                              <m:r>
                                <a:rPr lang="en-US" sz="2100" i="1">
                                  <a:latin typeface="Cambria Math" charset="0"/>
                                </a:rPr>
                                <m:t>𝛽</m:t>
                              </m:r>
                            </m:e>
                            <m:sub>
                              <m:r>
                                <a:rPr lang="en-US" sz="2100" i="1">
                                  <a:latin typeface="Cambria Math" charset="0"/>
                                </a:rPr>
                                <m:t>1</m:t>
                              </m:r>
                            </m:sub>
                            <m:sup>
                              <m:r>
                                <a:rPr lang="en-US" sz="2100" i="1">
                                  <a:latin typeface="Cambria Math" charset="0"/>
                                </a:rPr>
                                <m:t>𝑡</m:t>
                              </m:r>
                            </m:sup>
                          </m:sSubSup>
                        </m:den>
                      </m:f>
                    </m:oMath>
                  </m:oMathPara>
                </a14:m>
                <a:endParaRPr lang="en-US" sz="2100" dirty="0"/>
              </a:p>
            </p:txBody>
          </p:sp>
        </mc:Choice>
        <mc:Fallback xmlns="">
          <p:sp>
            <p:nvSpPr>
              <p:cNvPr id="18" name="TextBox 17"/>
              <p:cNvSpPr txBox="1">
                <a:spLocks noRot="1" noChangeAspect="1" noMove="1" noResize="1" noEditPoints="1" noAdjustHandles="1" noChangeArrowheads="1" noChangeShapeType="1" noTextEdit="1"/>
              </p:cNvSpPr>
              <p:nvPr/>
            </p:nvSpPr>
            <p:spPr>
              <a:xfrm>
                <a:off x="5773616" y="2820141"/>
                <a:ext cx="1418530" cy="629916"/>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2744666" y="3819415"/>
                <a:ext cx="3426964" cy="1059264"/>
              </a:xfrm>
              <a:prstGeom prst="rect">
                <a:avLst/>
              </a:prstGeom>
            </p:spPr>
            <p:txBody>
              <a:bodyPr wrap="none">
                <a:spAutoFit/>
              </a:bodyPr>
              <a:lstStyle/>
              <a:p>
                <a:pPr>
                  <a:spcAft>
                    <a:spcPts val="1350"/>
                  </a:spcAft>
                </a:pPr>
                <a14:m>
                  <m:oMathPara xmlns:m="http://schemas.openxmlformats.org/officeDocument/2006/math">
                    <m:oMathParaPr>
                      <m:jc m:val="left"/>
                    </m:oMathParaPr>
                    <m:oMath xmlns:m="http://schemas.openxmlformats.org/officeDocument/2006/math">
                      <m:r>
                        <a:rPr lang="en-US" sz="2400" i="1">
                          <a:latin typeface="Cambria Math" charset="0"/>
                        </a:rPr>
                        <m:t>𝑊</m:t>
                      </m:r>
                      <m:r>
                        <a:rPr lang="en-US" sz="2400" i="1">
                          <a:latin typeface="Cambria Math" charset="0"/>
                        </a:rPr>
                        <m:t>≔</m:t>
                      </m:r>
                      <m:r>
                        <a:rPr lang="en-US" sz="2400" i="1">
                          <a:latin typeface="Cambria Math" charset="0"/>
                        </a:rPr>
                        <m:t>𝑊</m:t>
                      </m:r>
                      <m:r>
                        <a:rPr lang="en-US" sz="2400" i="1">
                          <a:latin typeface="Cambria Math" charset="0"/>
                        </a:rPr>
                        <m:t>−</m:t>
                      </m:r>
                      <m:f>
                        <m:fPr>
                          <m:ctrlPr>
                            <a:rPr lang="mr-IN" sz="2400" i="1">
                              <a:latin typeface="Cambria Math" panose="02040503050406030204" pitchFamily="18" charset="0"/>
                            </a:rPr>
                          </m:ctrlPr>
                        </m:fPr>
                        <m:num>
                          <m:r>
                            <a:rPr lang="en-US" sz="2400" i="1">
                              <a:latin typeface="Cambria Math" charset="0"/>
                            </a:rPr>
                            <m:t>𝜂</m:t>
                          </m:r>
                        </m:num>
                        <m:den>
                          <m:rad>
                            <m:radPr>
                              <m:degHide m:val="on"/>
                              <m:ctrlPr>
                                <a:rPr lang="mr-IN" sz="2400" i="1">
                                  <a:latin typeface="Cambria Math" panose="02040503050406030204" pitchFamily="18" charset="0"/>
                                </a:rPr>
                              </m:ctrlPr>
                            </m:radPr>
                            <m:deg/>
                            <m:e>
                              <m:sSub>
                                <m:sSubPr>
                                  <m:ctrlPr>
                                    <a:rPr lang="en-US" sz="2400" i="1">
                                      <a:latin typeface="Cambria Math" panose="02040503050406030204" pitchFamily="18" charset="0"/>
                                    </a:rPr>
                                  </m:ctrlPr>
                                </m:sSubPr>
                                <m:e>
                                  <m:acc>
                                    <m:accPr>
                                      <m:chr m:val="̂"/>
                                      <m:ctrlPr>
                                        <a:rPr lang="mr-IN" sz="2400" i="1">
                                          <a:latin typeface="Cambria Math" panose="02040503050406030204" pitchFamily="18" charset="0"/>
                                        </a:rPr>
                                      </m:ctrlPr>
                                    </m:accPr>
                                    <m:e>
                                      <m:r>
                                        <a:rPr lang="en-US" sz="2400" i="1">
                                          <a:latin typeface="Cambria Math" charset="0"/>
                                        </a:rPr>
                                        <m:t>𝑣</m:t>
                                      </m:r>
                                    </m:e>
                                  </m:acc>
                                </m:e>
                                <m:sub>
                                  <m:r>
                                    <a:rPr lang="en-US" sz="2400" i="1">
                                      <a:latin typeface="Cambria Math" charset="0"/>
                                    </a:rPr>
                                    <m:t>𝑡</m:t>
                                  </m:r>
                                </m:sub>
                              </m:sSub>
                            </m:e>
                          </m:rad>
                          <m:r>
                            <a:rPr lang="en-US" sz="2400" i="1">
                              <a:latin typeface="Cambria Math" charset="0"/>
                            </a:rPr>
                            <m:t>+</m:t>
                          </m:r>
                          <m:r>
                            <a:rPr lang="en-US" sz="2400" i="1">
                              <a:latin typeface="Cambria Math" charset="0"/>
                            </a:rPr>
                            <m:t>𝜖</m:t>
                          </m:r>
                        </m:den>
                      </m:f>
                      <m:r>
                        <a:rPr lang="mr-IN" sz="2400" i="1">
                          <a:latin typeface="Cambria Math" charset="0"/>
                          <a:ea typeface="Cambria Math" charset="0"/>
                          <a:cs typeface="Cambria Math" charset="0"/>
                        </a:rPr>
                        <m:t>⨀</m:t>
                      </m:r>
                      <m:sSub>
                        <m:sSubPr>
                          <m:ctrlPr>
                            <a:rPr lang="en-US" sz="2400" i="1">
                              <a:latin typeface="Cambria Math" panose="02040503050406030204" pitchFamily="18" charset="0"/>
                            </a:rPr>
                          </m:ctrlPr>
                        </m:sSubPr>
                        <m:e>
                          <m:acc>
                            <m:accPr>
                              <m:chr m:val="̂"/>
                              <m:ctrlPr>
                                <a:rPr lang="mr-IN" sz="2400" i="1">
                                  <a:latin typeface="Cambria Math" panose="02040503050406030204" pitchFamily="18" charset="0"/>
                                  <a:ea typeface="Cambria Math" charset="0"/>
                                  <a:cs typeface="Cambria Math" charset="0"/>
                                </a:rPr>
                              </m:ctrlPr>
                            </m:accPr>
                            <m:e>
                              <m:r>
                                <a:rPr lang="en-US" sz="2400" i="1">
                                  <a:latin typeface="Cambria Math" charset="0"/>
                                  <a:ea typeface="Cambria Math" charset="0"/>
                                  <a:cs typeface="Cambria Math" charset="0"/>
                                </a:rPr>
                                <m:t>𝑚</m:t>
                              </m:r>
                            </m:e>
                          </m:acc>
                        </m:e>
                        <m:sub>
                          <m:r>
                            <a:rPr lang="en-US" sz="2400" i="1">
                              <a:latin typeface="Cambria Math" charset="0"/>
                            </a:rPr>
                            <m:t>𝑡</m:t>
                          </m:r>
                        </m:sub>
                      </m:sSub>
                    </m:oMath>
                  </m:oMathPara>
                </a14:m>
                <a:endParaRPr lang="en-US" sz="1050" dirty="0"/>
              </a:p>
            </p:txBody>
          </p:sp>
        </mc:Choice>
        <mc:Fallback xmlns="">
          <p:sp>
            <p:nvSpPr>
              <p:cNvPr id="19" name="Rectangle 18"/>
              <p:cNvSpPr>
                <a:spLocks noRot="1" noChangeAspect="1" noMove="1" noResize="1" noEditPoints="1" noAdjustHandles="1" noChangeArrowheads="1" noChangeShapeType="1" noTextEdit="1"/>
              </p:cNvSpPr>
              <p:nvPr/>
            </p:nvSpPr>
            <p:spPr>
              <a:xfrm>
                <a:off x="2744666" y="3819415"/>
                <a:ext cx="3426964" cy="1059264"/>
              </a:xfrm>
              <a:prstGeom prst="rect">
                <a:avLst/>
              </a:prstGeom>
              <a:blipFill rotWithShape="0">
                <a:blip r:embed="rId7"/>
                <a:stretch>
                  <a:fillRect/>
                </a:stretch>
              </a:blipFill>
            </p:spPr>
            <p:txBody>
              <a:bodyPr/>
              <a:lstStyle/>
              <a:p>
                <a:r>
                  <a:rPr lang="en-US">
                    <a:noFill/>
                  </a:rPr>
                  <a:t> </a:t>
                </a:r>
              </a:p>
            </p:txBody>
          </p:sp>
        </mc:Fallback>
      </mc:AlternateContent>
      <p:cxnSp>
        <p:nvCxnSpPr>
          <p:cNvPr id="20" name="Straight Arrow Connector 19"/>
          <p:cNvCxnSpPr/>
          <p:nvPr/>
        </p:nvCxnSpPr>
        <p:spPr>
          <a:xfrm>
            <a:off x="2477365" y="2520299"/>
            <a:ext cx="0" cy="2580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688016" y="2520299"/>
            <a:ext cx="0" cy="2580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161180" y="3561389"/>
            <a:ext cx="154986" cy="20087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5830766" y="3561389"/>
            <a:ext cx="171450" cy="20087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0563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Which one should I use?!</a:t>
            </a:r>
            <a:endParaRPr lang="en-US" dirty="0">
              <a:latin typeface="Avenir Book" charset="0"/>
              <a:ea typeface="Avenir Book" charset="0"/>
              <a:cs typeface="Avenir Book" charset="0"/>
            </a:endParaRPr>
          </a:p>
        </p:txBody>
      </p:sp>
      <p:sp>
        <p:nvSpPr>
          <p:cNvPr id="75" name="Rectangle 74"/>
          <p:cNvSpPr/>
          <p:nvPr/>
        </p:nvSpPr>
        <p:spPr>
          <a:xfrm>
            <a:off x="398352" y="1227244"/>
            <a:ext cx="8192764" cy="1446550"/>
          </a:xfrm>
          <a:prstGeom prst="rect">
            <a:avLst/>
          </a:prstGeom>
        </p:spPr>
        <p:txBody>
          <a:bodyPr wrap="square">
            <a:spAutoFit/>
          </a:bodyPr>
          <a:lstStyle/>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err="1" smtClean="0">
                <a:latin typeface="Avenir Book" charset="0"/>
                <a:ea typeface="Avenir Book" charset="0"/>
                <a:cs typeface="Avenir Book" charset="0"/>
              </a:rPr>
              <a:t>RMSProp</a:t>
            </a:r>
            <a:r>
              <a:rPr lang="en-US" sz="2200" dirty="0" smtClean="0">
                <a:latin typeface="Avenir Book" charset="0"/>
                <a:ea typeface="Avenir Book" charset="0"/>
                <a:cs typeface="Avenir Book" charset="0"/>
              </a:rPr>
              <a:t> and Adam seem to be quite popular now.</a:t>
            </a: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Difficult to predict in advance which will be best for a particular </a:t>
            </a:r>
            <a:r>
              <a:rPr lang="en-US" sz="2200" smtClean="0">
                <a:latin typeface="Avenir Book" charset="0"/>
                <a:ea typeface="Avenir Book" charset="0"/>
                <a:cs typeface="Avenir Book" charset="0"/>
              </a:rPr>
              <a:t>problem.</a:t>
            </a:r>
            <a:endParaRPr lang="en-US" sz="2200" dirty="0" smtClean="0">
              <a:latin typeface="Avenir Book" charset="0"/>
              <a:ea typeface="Avenir Book" charset="0"/>
              <a:cs typeface="Avenir Book" charset="0"/>
            </a:endParaRPr>
          </a:p>
          <a:p>
            <a:pPr marL="457200" marR="0" lvl="0" indent="-457200" defTabSz="914400" eaLnBrk="1" fontAlgn="auto" latinLnBrk="0" hangingPunct="1">
              <a:lnSpc>
                <a:spcPct val="100000"/>
              </a:lnSpc>
              <a:spcBef>
                <a:spcPts val="0"/>
              </a:spcBef>
              <a:spcAft>
                <a:spcPts val="0"/>
              </a:spcAft>
              <a:buClrTx/>
              <a:buSzTx/>
              <a:buFont typeface="Arial" charset="0"/>
              <a:buChar char="•"/>
              <a:tabLst/>
              <a:defRPr/>
            </a:pPr>
            <a:r>
              <a:rPr lang="en-US" sz="2200" dirty="0" smtClean="0">
                <a:latin typeface="Avenir Book" charset="0"/>
                <a:ea typeface="Avenir Book" charset="0"/>
                <a:cs typeface="Avenir Book" charset="0"/>
              </a:rPr>
              <a:t>Still an active area of inquiry.</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0274664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7086600" y="4767263"/>
            <a:ext cx="2057400" cy="274637"/>
          </a:xfrm>
        </p:spPr>
        <p:txBody>
          <a:bodyPr/>
          <a:lstStyle/>
          <a:p>
            <a:fld id="{BDF01D69-A501-704B-80CB-1B3152437FD0}" type="slidenum">
              <a:rPr lang="en-US" smtClean="0"/>
              <a:t>19</a:t>
            </a:fld>
            <a:endParaRPr lang="en-US"/>
          </a:p>
        </p:txBody>
      </p:sp>
    </p:spTree>
    <p:extLst>
      <p:ext uri="{BB962C8B-B14F-4D97-AF65-F5344CB8AC3E}">
        <p14:creationId xmlns:p14="http://schemas.microsoft.com/office/powerpoint/2010/main" val="11718538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37730</TotalTime>
  <Words>858</Words>
  <Application>Microsoft Office PowerPoint</Application>
  <PresentationFormat>On-screen Show (16:9)</PresentationFormat>
  <Paragraphs>106</Paragraphs>
  <Slides>19</Slides>
  <Notes>18</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19</vt:i4>
      </vt:variant>
    </vt:vector>
  </HeadingPairs>
  <TitlesOfParts>
    <vt:vector size="35" baseType="lpstr">
      <vt:lpstr>Arial</vt:lpstr>
      <vt:lpstr>Avenir Book</vt:lpstr>
      <vt:lpstr>Calibri</vt:lpstr>
      <vt:lpstr>Calibri Light</vt:lpstr>
      <vt:lpstr>Cambria Math</vt:lpstr>
      <vt:lpstr>Courier New</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Regularization Techniques for Deep Learning</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477</cp:revision>
  <cp:lastPrinted>2017-03-21T10:33:11Z</cp:lastPrinted>
  <dcterms:modified xsi:type="dcterms:W3CDTF">2017-08-25T19:38:55Z</dcterms:modified>
</cp:coreProperties>
</file>
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36"/>
  </p:notesMasterIdLst>
  <p:handoutMasterIdLst>
    <p:handoutMasterId r:id="rId37"/>
  </p:handoutMasterIdLst>
  <p:sldIdLst>
    <p:sldId id="389" r:id="rId4"/>
    <p:sldId id="603" r:id="rId5"/>
    <p:sldId id="565" r:id="rId6"/>
    <p:sldId id="594" r:id="rId7"/>
    <p:sldId id="600" r:id="rId8"/>
    <p:sldId id="566" r:id="rId9"/>
    <p:sldId id="574" r:id="rId10"/>
    <p:sldId id="575" r:id="rId11"/>
    <p:sldId id="573" r:id="rId12"/>
    <p:sldId id="572" r:id="rId13"/>
    <p:sldId id="601" r:id="rId14"/>
    <p:sldId id="597" r:id="rId15"/>
    <p:sldId id="568" r:id="rId16"/>
    <p:sldId id="586" r:id="rId17"/>
    <p:sldId id="569" r:id="rId18"/>
    <p:sldId id="570" r:id="rId19"/>
    <p:sldId id="582" r:id="rId20"/>
    <p:sldId id="581" r:id="rId21"/>
    <p:sldId id="576" r:id="rId22"/>
    <p:sldId id="579" r:id="rId23"/>
    <p:sldId id="580" r:id="rId24"/>
    <p:sldId id="602" r:id="rId25"/>
    <p:sldId id="593" r:id="rId26"/>
    <p:sldId id="584" r:id="rId27"/>
    <p:sldId id="587" r:id="rId28"/>
    <p:sldId id="588" r:id="rId29"/>
    <p:sldId id="589" r:id="rId30"/>
    <p:sldId id="590" r:id="rId31"/>
    <p:sldId id="591" r:id="rId32"/>
    <p:sldId id="592" r:id="rId33"/>
    <p:sldId id="585" r:id="rId34"/>
    <p:sldId id="394" r:id="rId3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57"/>
    <p:restoredTop sz="80849"/>
  </p:normalViewPr>
  <p:slideViewPr>
    <p:cSldViewPr snapToGrid="0" snapToObjects="1">
      <p:cViewPr varScale="1">
        <p:scale>
          <a:sx n="141" d="100"/>
          <a:sy n="141" d="100"/>
        </p:scale>
        <p:origin x="1088"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122" d="100"/>
          <a:sy n="122" d="100"/>
        </p:scale>
        <p:origin x="5072"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1809844392"/>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92500" lnSpcReduction="10000"/>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Last time we saw how a NN computes the output given an input, in 1 single forward pass.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Where does the training occur then?</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compare the output to the known truth, and calculate our loss J</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According to our loss function, we adjust weights, and repeat.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adjustment is basically gradient descent, however computing that for all the weights is difficult.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 involves a technique called “backpropagation”.</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9343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For most classical ML algorithms, the training happens at the gradient descent step.</a:t>
            </a:r>
          </a:p>
        </p:txBody>
      </p:sp>
    </p:spTree>
    <p:extLst>
      <p:ext uri="{BB962C8B-B14F-4D97-AF65-F5344CB8AC3E}">
        <p14:creationId xmlns:p14="http://schemas.microsoft.com/office/powerpoint/2010/main" val="1314165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Let’s focus on these steps and let’s see it visually.</a:t>
            </a:r>
          </a:p>
        </p:txBody>
      </p:sp>
    </p:spTree>
    <p:extLst>
      <p:ext uri="{BB962C8B-B14F-4D97-AF65-F5344CB8AC3E}">
        <p14:creationId xmlns:p14="http://schemas.microsoft.com/office/powerpoint/2010/main" val="341575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Let’s see this visually again:</a:t>
            </a:r>
          </a:p>
        </p:txBody>
      </p:sp>
    </p:spTree>
    <p:extLst>
      <p:ext uri="{BB962C8B-B14F-4D97-AF65-F5344CB8AC3E}">
        <p14:creationId xmlns:p14="http://schemas.microsoft.com/office/powerpoint/2010/main" val="1872030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Inputs are passed in.</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Inputs are constant, they are rows of our training data.</a:t>
            </a:r>
          </a:p>
        </p:txBody>
      </p:sp>
    </p:spTree>
    <p:extLst>
      <p:ext uri="{BB962C8B-B14F-4D97-AF65-F5344CB8AC3E}">
        <p14:creationId xmlns:p14="http://schemas.microsoft.com/office/powerpoint/2010/main" val="852104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Perform the matrix multiplications and activation functions in order to calculate each layer.</a:t>
            </a:r>
          </a:p>
        </p:txBody>
      </p:sp>
    </p:spTree>
    <p:extLst>
      <p:ext uri="{BB962C8B-B14F-4D97-AF65-F5344CB8AC3E}">
        <p14:creationId xmlns:p14="http://schemas.microsoft.com/office/powerpoint/2010/main" val="1353305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And then get our predictions.</a:t>
            </a:r>
          </a:p>
        </p:txBody>
      </p:sp>
    </p:spTree>
    <p:extLst>
      <p:ext uri="{BB962C8B-B14F-4D97-AF65-F5344CB8AC3E}">
        <p14:creationId xmlns:p14="http://schemas.microsoft.com/office/powerpoint/2010/main" val="1340401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Compare the predictions to the known ground truths.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Specifically, calculate the loss function.</a:t>
            </a:r>
          </a:p>
        </p:txBody>
      </p:sp>
    </p:spTree>
    <p:extLst>
      <p:ext uri="{BB962C8B-B14F-4D97-AF65-F5344CB8AC3E}">
        <p14:creationId xmlns:p14="http://schemas.microsoft.com/office/powerpoint/2010/main" val="810296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Let’s now see how step 3 works.</a:t>
            </a:r>
          </a:p>
        </p:txBody>
      </p:sp>
    </p:spTree>
    <p:extLst>
      <p:ext uri="{BB962C8B-B14F-4D97-AF65-F5344CB8AC3E}">
        <p14:creationId xmlns:p14="http://schemas.microsoft.com/office/powerpoint/2010/main" val="463872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100" baseline="0" dirty="0" smtClean="0">
                <a:latin typeface="Arial" charset="0"/>
                <a:ea typeface="Arial" charset="0"/>
                <a:cs typeface="Arial" charset="0"/>
              </a:rPr>
              <a:t>Mike wanted to insert something here.</a:t>
            </a:r>
          </a:p>
        </p:txBody>
      </p:sp>
    </p:spTree>
    <p:extLst>
      <p:ext uri="{BB962C8B-B14F-4D97-AF65-F5344CB8AC3E}">
        <p14:creationId xmlns:p14="http://schemas.microsoft.com/office/powerpoint/2010/main" val="132945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goal is to change the weights to make the loss function lower.</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Thinking of the NN as a function, the loss function is a function of J(y, F(X))</a:t>
            </a:r>
          </a:p>
        </p:txBody>
      </p:sp>
    </p:spTree>
    <p:extLst>
      <p:ext uri="{BB962C8B-B14F-4D97-AF65-F5344CB8AC3E}">
        <p14:creationId xmlns:p14="http://schemas.microsoft.com/office/powerpoint/2010/main" val="1999222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With this setting, from an abstract mathematical standpoint, there is no difference between this and classical ML gradient descent.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It’s just that the function involved is much more complicated, and computation of gradients is mathematically and computationally more challenging.</a:t>
            </a:r>
          </a:p>
        </p:txBody>
      </p:sp>
    </p:spTree>
    <p:extLst>
      <p:ext uri="{BB962C8B-B14F-4D97-AF65-F5344CB8AC3E}">
        <p14:creationId xmlns:p14="http://schemas.microsoft.com/office/powerpoint/2010/main" val="1595139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we want to be able to compute the partial derivative of the loss function </a:t>
            </a:r>
            <a:r>
              <a:rPr lang="en-US" sz="2400" baseline="0" dirty="0" err="1" smtClean="0">
                <a:latin typeface="Arial" charset="0"/>
                <a:ea typeface="Arial" charset="0"/>
                <a:cs typeface="Arial" charset="0"/>
              </a:rPr>
              <a:t>w.r.</a:t>
            </a:r>
            <a:r>
              <a:rPr lang="en-US" sz="2400" baseline="0" dirty="0" smtClean="0">
                <a:latin typeface="Arial" charset="0"/>
                <a:ea typeface="Arial" charset="0"/>
                <a:cs typeface="Arial" charset="0"/>
              </a:rPr>
              <a:t> to the weights </a:t>
            </a:r>
            <a:r>
              <a:rPr lang="en-US" sz="2400" baseline="0" dirty="0" err="1" smtClean="0">
                <a:latin typeface="Arial" charset="0"/>
                <a:ea typeface="Arial" charset="0"/>
                <a:cs typeface="Arial" charset="0"/>
              </a:rPr>
              <a:t>Wk</a:t>
            </a: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000346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math gets pretty messy very quick, but to give you a flavor of what happens;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matrix multiplications, and the activation functions, are chosen to have nice derivatives.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There are numerical issues that arise too.</a:t>
            </a:r>
          </a:p>
        </p:txBody>
      </p:sp>
    </p:spTree>
    <p:extLst>
      <p:ext uri="{BB962C8B-B14F-4D97-AF65-F5344CB8AC3E}">
        <p14:creationId xmlns:p14="http://schemas.microsoft.com/office/powerpoint/2010/main" val="1396590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92500"/>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 this example network we’ve been seeing, equations work out to be these:</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Early layers reuse computation from later layers. --&gt; BACK propagation.</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You see how the gradient of W1 uses the gradient of W2 (point in the formula)</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Early layers have more terms -&gt; smaller numbers -&gt; vanishing gradient</a:t>
            </a:r>
          </a:p>
        </p:txBody>
      </p:sp>
    </p:spTree>
    <p:extLst>
      <p:ext uri="{BB962C8B-B14F-4D97-AF65-F5344CB8AC3E}">
        <p14:creationId xmlns:p14="http://schemas.microsoft.com/office/powerpoint/2010/main" val="295954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visually, the flow is this.</a:t>
            </a:r>
          </a:p>
        </p:txBody>
      </p:sp>
    </p:spTree>
    <p:extLst>
      <p:ext uri="{BB962C8B-B14F-4D97-AF65-F5344CB8AC3E}">
        <p14:creationId xmlns:p14="http://schemas.microsoft.com/office/powerpoint/2010/main" val="1683250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first compute this, math turns out to be simpler for the last layer.</a:t>
            </a:r>
          </a:p>
        </p:txBody>
      </p:sp>
    </p:spTree>
    <p:extLst>
      <p:ext uri="{BB962C8B-B14F-4D97-AF65-F5344CB8AC3E}">
        <p14:creationId xmlns:p14="http://schemas.microsoft.com/office/powerpoint/2010/main" val="10697992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Using that value, we compute the partial derivative for the previous layer. Back propagation!</a:t>
            </a:r>
          </a:p>
        </p:txBody>
      </p:sp>
    </p:spTree>
    <p:extLst>
      <p:ext uri="{BB962C8B-B14F-4D97-AF65-F5344CB8AC3E}">
        <p14:creationId xmlns:p14="http://schemas.microsoft.com/office/powerpoint/2010/main" val="780899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go all the way back like that.</a:t>
            </a:r>
          </a:p>
        </p:txBody>
      </p:sp>
    </p:spTree>
    <p:extLst>
      <p:ext uri="{BB962C8B-B14F-4D97-AF65-F5344CB8AC3E}">
        <p14:creationId xmlns:p14="http://schemas.microsoft.com/office/powerpoint/2010/main" val="2036890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Step 4, once we have the gradient, we just take a step in the opposite direction.</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Specifically; w = w </a:t>
            </a:r>
            <a:r>
              <a:rPr lang="mr-IN" sz="2400" baseline="0" dirty="0" smtClean="0">
                <a:latin typeface="Arial" charset="0"/>
                <a:ea typeface="Arial" charset="0"/>
                <a:cs typeface="Arial" charset="0"/>
              </a:rPr>
              <a:t>–</a:t>
            </a:r>
            <a:r>
              <a:rPr lang="en-US" sz="2400" baseline="0" dirty="0" smtClean="0">
                <a:latin typeface="Arial" charset="0"/>
                <a:ea typeface="Arial" charset="0"/>
                <a:cs typeface="Arial" charset="0"/>
              </a:rPr>
              <a:t> </a:t>
            </a:r>
            <a:r>
              <a:rPr lang="en-US" sz="2400" baseline="0" dirty="0" err="1" smtClean="0">
                <a:latin typeface="Arial" charset="0"/>
                <a:ea typeface="Arial" charset="0"/>
                <a:cs typeface="Arial" charset="0"/>
              </a:rPr>
              <a:t>learning_rate</a:t>
            </a:r>
            <a:r>
              <a:rPr lang="en-US" sz="2400" baseline="0" dirty="0" smtClean="0">
                <a:latin typeface="Arial" charset="0"/>
                <a:ea typeface="Arial" charset="0"/>
                <a:cs typeface="Arial" charset="0"/>
              </a:rPr>
              <a:t> * gradient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part is the same as in ML.</a:t>
            </a:r>
          </a:p>
        </p:txBody>
      </p:sp>
    </p:spTree>
    <p:extLst>
      <p:ext uri="{BB962C8B-B14F-4D97-AF65-F5344CB8AC3E}">
        <p14:creationId xmlns:p14="http://schemas.microsoft.com/office/powerpoint/2010/main" val="1500857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Let’s talk about the numerical issues a bit.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Gradient, for the sigmoid activation function, is always smaller than .25</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the more layers we have, the smaller the gradient will turn out to be.</a:t>
            </a:r>
          </a:p>
        </p:txBody>
      </p:sp>
    </p:spTree>
    <p:extLst>
      <p:ext uri="{BB962C8B-B14F-4D97-AF65-F5344CB8AC3E}">
        <p14:creationId xmlns:p14="http://schemas.microsoft.com/office/powerpoint/2010/main" val="11242650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Let’s talk about other activation functions, which can be better choices than sigmoid, for deep networks.</a:t>
            </a:r>
          </a:p>
        </p:txBody>
      </p:sp>
    </p:spTree>
    <p:extLst>
      <p:ext uri="{BB962C8B-B14F-4D97-AF65-F5344CB8AC3E}">
        <p14:creationId xmlns:p14="http://schemas.microsoft.com/office/powerpoint/2010/main" val="5803236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82184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72620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932062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666572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Worth mentioning that having a zero gradient means something will never change.  This is the main reason for having Leaky </a:t>
            </a:r>
            <a:r>
              <a:rPr lang="en-US" sz="2400" baseline="0" dirty="0" err="1" smtClean="0">
                <a:latin typeface="Arial" charset="0"/>
                <a:ea typeface="Arial" charset="0"/>
                <a:cs typeface="Arial" charset="0"/>
              </a:rPr>
              <a:t>Relu</a:t>
            </a:r>
            <a:r>
              <a:rPr lang="en-US" sz="2400" baseline="0" dirty="0" smtClean="0">
                <a:latin typeface="Arial" charset="0"/>
                <a:ea typeface="Arial" charset="0"/>
                <a:cs typeface="Arial" charset="0"/>
              </a:rPr>
              <a:t> vs plain </a:t>
            </a:r>
            <a:r>
              <a:rPr lang="en-US" sz="2400" baseline="0" dirty="0" err="1" smtClean="0">
                <a:latin typeface="Arial" charset="0"/>
                <a:ea typeface="Arial" charset="0"/>
                <a:cs typeface="Arial" charset="0"/>
              </a:rPr>
              <a:t>Relu</a:t>
            </a: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44812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82988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67716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774542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583921413"/>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extLst>
      <p:ext uri="{BB962C8B-B14F-4D97-AF65-F5344CB8AC3E}">
        <p14:creationId xmlns:p14="http://schemas.microsoft.com/office/powerpoint/2010/main" val="759900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theme" Target="../theme/theme3.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2"/>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521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5.xml"/><Relationship Id="rId16" Type="http://schemas.openxmlformats.org/officeDocument/2006/relationships/image" Target="../media/image30.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6.xml"/><Relationship Id="rId16" Type="http://schemas.openxmlformats.org/officeDocument/2006/relationships/image" Target="../media/image30.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7.xml"/><Relationship Id="rId16" Type="http://schemas.openxmlformats.org/officeDocument/2006/relationships/image" Target="../media/image30.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8.xml"/><Relationship Id="rId16" Type="http://schemas.openxmlformats.org/officeDocument/2006/relationships/image" Target="../media/image30.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9.xml"/><Relationship Id="rId16" Type="http://schemas.openxmlformats.org/officeDocument/2006/relationships/image" Target="../media/image30.png"/><Relationship Id="rId20" Type="http://schemas.openxmlformats.org/officeDocument/2006/relationships/image" Target="../media/image8.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21" Type="http://schemas.openxmlformats.org/officeDocument/2006/relationships/image" Target="../media/image11.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4.xml"/><Relationship Id="rId16" Type="http://schemas.openxmlformats.org/officeDocument/2006/relationships/image" Target="../media/image30.png"/><Relationship Id="rId20" Type="http://schemas.openxmlformats.org/officeDocument/2006/relationships/image" Target="../media/image10.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image" Target="../media/image13.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21" Type="http://schemas.openxmlformats.org/officeDocument/2006/relationships/image" Target="../media/image11.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7.xml"/><Relationship Id="rId16" Type="http://schemas.openxmlformats.org/officeDocument/2006/relationships/image" Target="../media/image30.png"/><Relationship Id="rId20" Type="http://schemas.openxmlformats.org/officeDocument/2006/relationships/image" Target="../media/image10.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image" Target="../media/image13.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12.png"/></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21" Type="http://schemas.openxmlformats.org/officeDocument/2006/relationships/image" Target="../media/image12.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8.xml"/><Relationship Id="rId16" Type="http://schemas.openxmlformats.org/officeDocument/2006/relationships/image" Target="../media/image30.png"/><Relationship Id="rId20" Type="http://schemas.openxmlformats.org/officeDocument/2006/relationships/image" Target="../media/image11.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170.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21" Type="http://schemas.openxmlformats.org/officeDocument/2006/relationships/image" Target="../media/image33.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9.xml"/><Relationship Id="rId16" Type="http://schemas.openxmlformats.org/officeDocument/2006/relationships/image" Target="../media/image30.png"/><Relationship Id="rId20" Type="http://schemas.openxmlformats.org/officeDocument/2006/relationships/image" Target="../media/image32.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170.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11.png"/></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60.png"/><Relationship Id="rId3" Type="http://schemas.openxmlformats.org/officeDocument/2006/relationships/image" Target="../media/image50.png"/><Relationship Id="rId21" Type="http://schemas.openxmlformats.org/officeDocument/2006/relationships/image" Target="../media/image33.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20.xml"/><Relationship Id="rId16" Type="http://schemas.openxmlformats.org/officeDocument/2006/relationships/image" Target="../media/image30.png"/><Relationship Id="rId20" Type="http://schemas.openxmlformats.org/officeDocument/2006/relationships/image" Target="../media/image32.png"/><Relationship Id="rId1" Type="http://schemas.openxmlformats.org/officeDocument/2006/relationships/slideLayout" Target="../slideLayouts/slideLayout45.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170.png"/><Relationship Id="rId10" Type="http://schemas.openxmlformats.org/officeDocument/2006/relationships/image" Target="../media/image24.png"/><Relationship Id="rId19"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45.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45.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4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4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5000" b="0" i="0" u="none" strike="noStrike" cap="none" dirty="0" smtClean="0">
                <a:solidFill>
                  <a:srgbClr val="FFFFFF"/>
                </a:solidFill>
                <a:latin typeface="Avenir Book" charset="0"/>
                <a:ea typeface="Avenir Book" charset="0"/>
                <a:cs typeface="Avenir Book" charset="0"/>
                <a:sym typeface="Source Code Pro"/>
              </a:rPr>
              <a:t>Backpropagation in Neural Nets</a:t>
            </a:r>
            <a:endParaRPr lang="en" sz="5000" b="0" i="0" u="none" strike="noStrike" cap="none" dirty="0">
              <a:solidFill>
                <a:srgbClr val="FFFFFF"/>
              </a:solidFill>
              <a:latin typeface="Avenir Book" charset="0"/>
              <a:ea typeface="Avenir Book" charset="0"/>
              <a:cs typeface="Avenir Book" charset="0"/>
              <a:sym typeface="Source Code Pro"/>
            </a:endParaRPr>
          </a:p>
        </p:txBody>
      </p:sp>
      <p:sp>
        <p:nvSpPr>
          <p:cNvPr id="2" name="Subtitle 1"/>
          <p:cNvSpPr>
            <a:spLocks noGrp="1"/>
          </p:cNvSpPr>
          <p:nvPr>
            <p:ph type="subTitle" idx="1"/>
          </p:nvPr>
        </p:nvSpPr>
        <p:spPr/>
        <p:txBody>
          <a:bodyPr/>
          <a:lstStyle/>
          <a:p>
            <a:endParaRPr lang="en-US"/>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3329664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How to Train a Neural Net?</a:t>
            </a:r>
            <a:endParaRPr lang="en-US" dirty="0">
              <a:latin typeface="Avenir Book" charset="0"/>
              <a:ea typeface="Avenir Book" charset="0"/>
              <a:cs typeface="Avenir Book" charset="0"/>
            </a:endParaRPr>
          </a:p>
        </p:txBody>
      </p:sp>
      <p:grpSp>
        <p:nvGrpSpPr>
          <p:cNvPr id="10" name="Group 9"/>
          <p:cNvGrpSpPr/>
          <p:nvPr/>
        </p:nvGrpSpPr>
        <p:grpSpPr>
          <a:xfrm>
            <a:off x="2285760" y="832091"/>
            <a:ext cx="3716455" cy="2018445"/>
            <a:chOff x="3292616" y="4559300"/>
            <a:chExt cx="3655628" cy="2146300"/>
          </a:xfrm>
        </p:grpSpPr>
        <p:sp>
          <p:nvSpPr>
            <p:cNvPr id="12" name="Oval 11"/>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3" name="Oval 12"/>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4" name="Oval 13"/>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050"/>
            </a:p>
          </p:txBody>
        </p:sp>
        <p:sp>
          <p:nvSpPr>
            <p:cNvPr id="15" name="Oval 14"/>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6" name="Oval 15"/>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7" name="Oval 16"/>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8" name="Oval 17"/>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19" name="Oval 18"/>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0" name="Oval 19"/>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1" name="Oval 20"/>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2" name="Oval 21"/>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23" name="Oval 22"/>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4" name="Oval 23"/>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sp>
          <p:nvSpPr>
            <p:cNvPr id="25" name="Oval 24"/>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050"/>
            </a:p>
          </p:txBody>
        </p:sp>
        <p:cxnSp>
          <p:nvCxnSpPr>
            <p:cNvPr id="26" name="Straight Arrow Connector 25"/>
            <p:cNvCxnSpPr>
              <a:stCxn id="13" idx="6"/>
              <a:endCxn id="19"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3" idx="6"/>
              <a:endCxn id="18"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3" idx="6"/>
              <a:endCxn id="17"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3" idx="6"/>
              <a:endCxn id="16"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4" idx="6"/>
              <a:endCxn id="19"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6"/>
              <a:endCxn id="18"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4" idx="6"/>
              <a:endCxn id="17"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4" idx="6"/>
              <a:endCxn id="16"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5" idx="6"/>
              <a:endCxn id="19"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5" idx="6"/>
              <a:endCxn id="18"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5" idx="6"/>
              <a:endCxn id="17"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6"/>
              <a:endCxn id="16"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9" idx="6"/>
              <a:endCxn id="23"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9" idx="6"/>
              <a:endCxn id="22"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9" idx="6"/>
              <a:endCxn id="21"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9" idx="6"/>
              <a:endCxn id="20"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8" idx="6"/>
              <a:endCxn id="23"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8" idx="6"/>
              <a:endCxn id="22"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8" idx="6"/>
              <a:endCxn id="21"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8" idx="6"/>
              <a:endCxn id="20"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6"/>
              <a:endCxn id="23"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7" idx="6"/>
              <a:endCxn id="22"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7" idx="6"/>
              <a:endCxn id="21"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20"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6" idx="6"/>
              <a:endCxn id="23"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6" idx="6"/>
              <a:endCxn id="22"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7"/>
              <a:endCxn id="21"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6" idx="6"/>
              <a:endCxn id="20"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3" idx="6"/>
              <a:endCxn id="28"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3" idx="6"/>
              <a:endCxn id="29"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3" idx="6"/>
              <a:endCxn id="30"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22" idx="6"/>
              <a:endCxn id="28"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22" idx="6"/>
              <a:endCxn id="29"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2" idx="6"/>
              <a:endCxn id="30"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1" idx="6"/>
              <a:endCxn id="30"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1" idx="6"/>
              <a:endCxn id="28"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21" idx="6"/>
              <a:endCxn id="29"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20" idx="6"/>
              <a:endCxn id="28"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20" idx="6"/>
              <a:endCxn id="29"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0" idx="6"/>
              <a:endCxn id="30"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28"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29"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0"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3"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4"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endCxn id="15"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Rectangle 71"/>
          <p:cNvSpPr/>
          <p:nvPr/>
        </p:nvSpPr>
        <p:spPr>
          <a:xfrm>
            <a:off x="97987" y="1734777"/>
            <a:ext cx="1877901" cy="738664"/>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400" dirty="0" smtClean="0">
                <a:latin typeface="Avenir Book" charset="0"/>
                <a:ea typeface="Avenir Book" charset="0"/>
                <a:cs typeface="Avenir Book" charset="0"/>
              </a:rPr>
              <a:t>Input</a:t>
            </a:r>
          </a:p>
          <a:p>
            <a:pPr marL="457200" marR="0" lvl="0" indent="-457200" defTabSz="914400" eaLnBrk="1" fontAlgn="auto" latinLnBrk="0" hangingPunct="1">
              <a:spcBef>
                <a:spcPts val="0"/>
              </a:spcBef>
              <a:spcAft>
                <a:spcPts val="0"/>
              </a:spcAft>
              <a:buClrTx/>
              <a:buSzTx/>
              <a:buFont typeface="Arial" charset="0"/>
              <a:buNone/>
              <a:tabLst/>
              <a:defRPr/>
            </a:pPr>
            <a:r>
              <a:rPr lang="en-US" sz="1800" dirty="0" smtClean="0">
                <a:latin typeface="Avenir Book" charset="0"/>
                <a:ea typeface="Avenir Book" charset="0"/>
                <a:cs typeface="Avenir Book" charset="0"/>
              </a:rPr>
              <a:t>(Feature Vector)</a:t>
            </a:r>
          </a:p>
        </p:txBody>
      </p:sp>
      <p:sp>
        <p:nvSpPr>
          <p:cNvPr id="73" name="Rectangle 72"/>
          <p:cNvSpPr/>
          <p:nvPr/>
        </p:nvSpPr>
        <p:spPr>
          <a:xfrm>
            <a:off x="6717323" y="1765555"/>
            <a:ext cx="2118858" cy="677108"/>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Output</a:t>
            </a:r>
          </a:p>
          <a:p>
            <a:pPr marL="457200" marR="0" lvl="0" indent="-457200" defTabSz="914400" eaLnBrk="1" fontAlgn="auto" latinLnBrk="0" hangingPunct="1">
              <a:spcBef>
                <a:spcPts val="0"/>
              </a:spcBef>
              <a:spcAft>
                <a:spcPts val="0"/>
              </a:spcAft>
              <a:buClrTx/>
              <a:buSzTx/>
              <a:buFont typeface="Arial" charset="0"/>
              <a:buNone/>
              <a:tabLst/>
              <a:defRPr/>
            </a:pPr>
            <a:r>
              <a:rPr lang="en-US" sz="1600" dirty="0" smtClean="0">
                <a:latin typeface="Avenir Book" charset="0"/>
                <a:ea typeface="Avenir Book" charset="0"/>
                <a:cs typeface="Avenir Book" charset="0"/>
              </a:rPr>
              <a:t>(Label)</a:t>
            </a:r>
          </a:p>
        </p:txBody>
      </p:sp>
      <p:sp>
        <p:nvSpPr>
          <p:cNvPr id="75" name="Rectangle 74"/>
          <p:cNvSpPr/>
          <p:nvPr/>
        </p:nvSpPr>
        <p:spPr>
          <a:xfrm>
            <a:off x="294744" y="3042021"/>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Put in Training inputs, get the output</a:t>
            </a:r>
          </a:p>
          <a:p>
            <a:pPr marL="457200" lvl="0" indent="-457200">
              <a:buFont typeface="Arial" charset="0"/>
              <a:buChar char="•"/>
            </a:pPr>
            <a:r>
              <a:rPr lang="en-US" sz="2200" dirty="0" smtClean="0">
                <a:latin typeface="Avenir Book" charset="0"/>
                <a:ea typeface="Avenir Book" charset="0"/>
                <a:cs typeface="Avenir Book" charset="0"/>
              </a:rPr>
              <a:t>Compare output to correct answers: Look at loss function J</a:t>
            </a:r>
          </a:p>
          <a:p>
            <a:pPr marL="457200" lvl="0" indent="-457200">
              <a:buFont typeface="Arial" charset="0"/>
              <a:buChar char="•"/>
            </a:pPr>
            <a:r>
              <a:rPr lang="en-US" sz="2200" dirty="0" smtClean="0">
                <a:latin typeface="Avenir Book" charset="0"/>
                <a:ea typeface="Avenir Book" charset="0"/>
                <a:cs typeface="Avenir Book" charset="0"/>
              </a:rPr>
              <a:t>Adjust and repeat!</a:t>
            </a:r>
          </a:p>
          <a:p>
            <a:pPr marL="457200" lvl="0" indent="-457200">
              <a:buFont typeface="Arial" charset="0"/>
              <a:buChar char="•"/>
            </a:pPr>
            <a:r>
              <a:rPr lang="en-US" sz="2200" dirty="0" smtClean="0">
                <a:latin typeface="Avenir Book" charset="0"/>
                <a:ea typeface="Avenir Book" charset="0"/>
                <a:cs typeface="Avenir Book" charset="0"/>
              </a:rPr>
              <a:t>Backpropagation tells us how to make a single adjustment using calculus. </a:t>
            </a:r>
          </a:p>
        </p:txBody>
      </p:sp>
    </p:spTree>
    <p:extLst>
      <p:ext uri="{BB962C8B-B14F-4D97-AF65-F5344CB8AC3E}">
        <p14:creationId xmlns:p14="http://schemas.microsoft.com/office/powerpoint/2010/main" val="58176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How have we trained before?</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solidFill>
                  <a:schemeClr val="tx1"/>
                </a:solidFill>
                <a:latin typeface="Avenir Book" charset="0"/>
                <a:ea typeface="Avenir Book" charset="0"/>
                <a:cs typeface="Avenir Book" charset="0"/>
              </a:rPr>
              <a:t>Gradient Descent!</a:t>
            </a:r>
          </a:p>
          <a:p>
            <a:pPr marL="457200" lvl="0" indent="-457200">
              <a:buFont typeface="Arial" charset="0"/>
              <a:buChar char="•"/>
            </a:pPr>
            <a:endParaRPr lang="en-US" sz="2200" dirty="0" smtClean="0">
              <a:solidFill>
                <a:schemeClr val="tx1"/>
              </a:solidFill>
              <a:latin typeface="Avenir Book" charset="0"/>
              <a:ea typeface="Avenir Book" charset="0"/>
              <a:cs typeface="Avenir Book" charset="0"/>
            </a:endParaRP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Make prediction</a:t>
            </a: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Calculate Loss</a:t>
            </a: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Calculate gradient of the loss function </a:t>
            </a:r>
            <a:r>
              <a:rPr lang="en-US" sz="2200" dirty="0" err="1" smtClean="0">
                <a:solidFill>
                  <a:schemeClr val="tx1"/>
                </a:solidFill>
                <a:latin typeface="Avenir Book" charset="0"/>
                <a:ea typeface="Avenir Book" charset="0"/>
                <a:cs typeface="Avenir Book" charset="0"/>
              </a:rPr>
              <a:t>w.r.t</a:t>
            </a:r>
            <a:r>
              <a:rPr lang="en-US" sz="2200" dirty="0" smtClean="0">
                <a:solidFill>
                  <a:schemeClr val="tx1"/>
                </a:solidFill>
                <a:latin typeface="Avenir Book" charset="0"/>
                <a:ea typeface="Avenir Book" charset="0"/>
                <a:cs typeface="Avenir Book" charset="0"/>
              </a:rPr>
              <a:t>. parameters</a:t>
            </a: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Update parameters by taking a step in the opposite direction</a:t>
            </a: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Iterate</a:t>
            </a:r>
            <a:endParaRPr lang="en-US" sz="2200" dirty="0">
              <a:solidFill>
                <a:schemeClr val="tx1"/>
              </a:solidFill>
              <a:latin typeface="Avenir Book" charset="0"/>
              <a:ea typeface="Avenir Book" charset="0"/>
              <a:cs typeface="Avenir Book" charset="0"/>
            </a:endParaRPr>
          </a:p>
        </p:txBody>
      </p:sp>
    </p:spTree>
    <p:extLst>
      <p:ext uri="{BB962C8B-B14F-4D97-AF65-F5344CB8AC3E}">
        <p14:creationId xmlns:p14="http://schemas.microsoft.com/office/powerpoint/2010/main" val="21448786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How have we trained before?</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solidFill>
                  <a:schemeClr val="tx1"/>
                </a:solidFill>
                <a:latin typeface="Avenir Book" charset="0"/>
                <a:ea typeface="Avenir Book" charset="0"/>
                <a:cs typeface="Avenir Book" charset="0"/>
              </a:rPr>
              <a:t>Gradient Descent!</a:t>
            </a:r>
          </a:p>
          <a:p>
            <a:pPr marL="457200" lvl="0" indent="-457200">
              <a:buFont typeface="Arial" charset="0"/>
              <a:buChar char="•"/>
            </a:pPr>
            <a:endParaRPr lang="en-US" sz="2200" dirty="0" smtClean="0">
              <a:solidFill>
                <a:schemeClr val="tx1"/>
              </a:solidFill>
              <a:latin typeface="Avenir Book" charset="0"/>
              <a:ea typeface="Avenir Book" charset="0"/>
              <a:cs typeface="Avenir Book" charset="0"/>
            </a:endParaRPr>
          </a:p>
          <a:p>
            <a:pPr marL="457200" lvl="4" indent="-457200">
              <a:buFont typeface="+mj-lt"/>
              <a:buAutoNum type="arabicPeriod"/>
            </a:pPr>
            <a:r>
              <a:rPr lang="en-US" sz="2200" dirty="0" smtClean="0">
                <a:solidFill>
                  <a:schemeClr val="accent3">
                    <a:lumMod val="75000"/>
                  </a:schemeClr>
                </a:solidFill>
                <a:latin typeface="Avenir Book" charset="0"/>
                <a:ea typeface="Avenir Book" charset="0"/>
                <a:cs typeface="Avenir Book" charset="0"/>
              </a:rPr>
              <a:t>Make prediction</a:t>
            </a:r>
          </a:p>
          <a:p>
            <a:pPr marL="457200" lvl="4" indent="-457200">
              <a:buFont typeface="+mj-lt"/>
              <a:buAutoNum type="arabicPeriod"/>
            </a:pPr>
            <a:r>
              <a:rPr lang="en-US" sz="2200" dirty="0" smtClean="0">
                <a:solidFill>
                  <a:schemeClr val="accent3">
                    <a:lumMod val="75000"/>
                  </a:schemeClr>
                </a:solidFill>
                <a:latin typeface="Avenir Book" charset="0"/>
                <a:ea typeface="Avenir Book" charset="0"/>
                <a:cs typeface="Avenir Book" charset="0"/>
              </a:rPr>
              <a:t>Calculate Loss</a:t>
            </a: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Calculate gradient of the loss function </a:t>
            </a:r>
            <a:r>
              <a:rPr lang="en-US" sz="2200" dirty="0" err="1" smtClean="0">
                <a:solidFill>
                  <a:schemeClr val="tx1">
                    <a:lumMod val="95000"/>
                    <a:lumOff val="5000"/>
                  </a:schemeClr>
                </a:solidFill>
                <a:latin typeface="Avenir Book" charset="0"/>
                <a:ea typeface="Avenir Book" charset="0"/>
                <a:cs typeface="Avenir Book" charset="0"/>
              </a:rPr>
              <a:t>w.r.t</a:t>
            </a:r>
            <a:r>
              <a:rPr lang="en-US" sz="2200" dirty="0" smtClean="0">
                <a:solidFill>
                  <a:schemeClr val="tx1">
                    <a:lumMod val="95000"/>
                    <a:lumOff val="5000"/>
                  </a:schemeClr>
                </a:solidFill>
                <a:latin typeface="Avenir Book" charset="0"/>
                <a:ea typeface="Avenir Book" charset="0"/>
                <a:cs typeface="Avenir Book" charset="0"/>
              </a:rPr>
              <a:t>. parameters</a:t>
            </a: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Update parameters by taking a step in the opposite direction</a:t>
            </a: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Iterate</a:t>
            </a:r>
            <a:endParaRPr lang="en-US" sz="2200" dirty="0">
              <a:solidFill>
                <a:schemeClr val="tx1"/>
              </a:solidFill>
              <a:latin typeface="Avenir Book" charset="0"/>
              <a:ea typeface="Avenir Book" charset="0"/>
              <a:cs typeface="Avenir Book" charset="0"/>
            </a:endParaRPr>
          </a:p>
        </p:txBody>
      </p:sp>
    </p:spTree>
    <p:extLst>
      <p:ext uri="{BB962C8B-B14F-4D97-AF65-F5344CB8AC3E}">
        <p14:creationId xmlns:p14="http://schemas.microsoft.com/office/powerpoint/2010/main" val="12794130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Feedforward Neural Network</a:t>
            </a:r>
            <a:endParaRPr lang="en-US" dirty="0">
              <a:latin typeface="Avenir Book" charset="0"/>
              <a:ea typeface="Avenir Book" charset="0"/>
              <a:cs typeface="Avenir Book" charset="0"/>
            </a:endParaRP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24639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Forward Propagation</a:t>
            </a:r>
            <a:endParaRPr lang="en-US" dirty="0">
              <a:latin typeface="Avenir Book" charset="0"/>
              <a:ea typeface="Avenir Book" charset="0"/>
              <a:cs typeface="Avenir Book" charset="0"/>
            </a:endParaRP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131252" y="983945"/>
            <a:ext cx="1109404" cy="769441"/>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Pass in</a:t>
            </a:r>
          </a:p>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Input</a:t>
            </a:r>
          </a:p>
        </p:txBody>
      </p:sp>
    </p:spTree>
    <p:extLst>
      <p:ext uri="{BB962C8B-B14F-4D97-AF65-F5344CB8AC3E}">
        <p14:creationId xmlns:p14="http://schemas.microsoft.com/office/powerpoint/2010/main" val="16701737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Forward Propagation</a:t>
            </a:r>
            <a:endParaRPr lang="en-US" dirty="0">
              <a:latin typeface="Avenir Book" charset="0"/>
              <a:ea typeface="Avenir Book" charset="0"/>
              <a:cs typeface="Avenir Book" charset="0"/>
            </a:endParaRP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2475102" y="668833"/>
            <a:ext cx="2829795" cy="430887"/>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200" smtClean="0">
                <a:latin typeface="Avenir Book" charset="0"/>
                <a:ea typeface="Avenir Book" charset="0"/>
                <a:cs typeface="Avenir Book" charset="0"/>
              </a:rPr>
              <a:t>Calculate each Layer</a:t>
            </a: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6676953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Forward Propagation</a:t>
            </a:r>
            <a:endParaRPr lang="en-US" dirty="0">
              <a:latin typeface="Avenir Book" charset="0"/>
              <a:ea typeface="Avenir Book" charset="0"/>
              <a:cs typeface="Avenir Book" charset="0"/>
            </a:endParaRP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5195344" y="759589"/>
            <a:ext cx="1651068" cy="430887"/>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200" smtClean="0">
                <a:latin typeface="Avenir Book" charset="0"/>
                <a:ea typeface="Avenir Book" charset="0"/>
                <a:cs typeface="Avenir Book" charset="0"/>
              </a:rPr>
              <a:t>Get Output</a:t>
            </a: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4550328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Forward Propagation</a:t>
            </a:r>
            <a:endParaRPr lang="en-US" dirty="0">
              <a:latin typeface="Avenir Book" charset="0"/>
              <a:ea typeface="Avenir Book" charset="0"/>
              <a:cs typeface="Avenir Book" charset="0"/>
            </a:endParaRP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9" name="Rectangle 158"/>
              <p:cNvSpPr/>
              <p:nvPr/>
            </p:nvSpPr>
            <p:spPr>
              <a:xfrm>
                <a:off x="5746194" y="671573"/>
                <a:ext cx="2209535" cy="756746"/>
              </a:xfrm>
              <a:prstGeom prst="rect">
                <a:avLst/>
              </a:prstGeom>
            </p:spPr>
            <p:txBody>
              <a:bodyPr wrap="square">
                <a:spAutoFit/>
              </a:bodyPr>
              <a:lstStyle/>
              <a:p>
                <a:pPr marL="457200" marR="0" lvl="0" indent="-457200" defTabSz="914400" eaLnBrk="1" fontAlgn="auto" latinLnBrk="0" hangingPunct="1">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Evaluate:</a:t>
                </a:r>
              </a:p>
              <a:p>
                <a:pPr marL="457200" lvl="0" indent="-457200">
                  <a:defRPr/>
                </a:pPr>
                <a14:m>
                  <m:oMathPara xmlns:m="http://schemas.openxmlformats.org/officeDocument/2006/math">
                    <m:oMathParaPr>
                      <m:jc m:val="left"/>
                    </m:oMathParaPr>
                    <m:oMath xmlns:m="http://schemas.openxmlformats.org/officeDocument/2006/math">
                      <m:r>
                        <a:rPr lang="en-US" sz="2000" b="0" i="1" smtClean="0">
                          <a:solidFill>
                            <a:srgbClr val="C00000"/>
                          </a:solidFill>
                          <a:latin typeface="Cambria Math" charset="0"/>
                          <a:ea typeface="Cambria Math" charset="0"/>
                          <a:cs typeface="Cambria Math" charset="0"/>
                        </a:rPr>
                        <m:t>𝐽</m:t>
                      </m:r>
                      <m:d>
                        <m:dPr>
                          <m:ctrlPr>
                            <a:rPr lang="is-IS" sz="2000" b="0" i="1" smtClean="0">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b="0" i="1" smtClean="0">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oMath>
                  </m:oMathPara>
                </a14:m>
                <a:endParaRPr lang="en-US" sz="2200" dirty="0" smtClean="0">
                  <a:latin typeface="Avenir Book" charset="0"/>
                  <a:ea typeface="Avenir Book" charset="0"/>
                  <a:cs typeface="Avenir Book" charset="0"/>
                </a:endParaRPr>
              </a:p>
            </p:txBody>
          </p:sp>
        </mc:Choice>
        <mc:Fallback xmlns="">
          <p:sp>
            <p:nvSpPr>
              <p:cNvPr id="159" name="Rectangle 158"/>
              <p:cNvSpPr>
                <a:spLocks noRot="1" noChangeAspect="1" noMove="1" noResize="1" noEditPoints="1" noAdjustHandles="1" noChangeArrowheads="1" noChangeShapeType="1" noTextEdit="1"/>
              </p:cNvSpPr>
              <p:nvPr/>
            </p:nvSpPr>
            <p:spPr>
              <a:xfrm>
                <a:off x="5746194" y="671573"/>
                <a:ext cx="2209535" cy="756746"/>
              </a:xfrm>
              <a:prstGeom prst="rect">
                <a:avLst/>
              </a:prstGeom>
              <a:blipFill rotWithShape="0">
                <a:blip r:embed="rId20"/>
                <a:stretch>
                  <a:fillRect l="-3591" t="-5645" b="-1613"/>
                </a:stretch>
              </a:blipFill>
            </p:spPr>
            <p:txBody>
              <a:bodyPr/>
              <a:lstStyle/>
              <a:p>
                <a:r>
                  <a:rPr lang="en-US">
                    <a:noFill/>
                  </a:rPr>
                  <a:t> </a:t>
                </a:r>
              </a:p>
            </p:txBody>
          </p:sp>
        </mc:Fallback>
      </mc:AlternateContent>
    </p:spTree>
    <p:extLst>
      <p:ext uri="{BB962C8B-B14F-4D97-AF65-F5344CB8AC3E}">
        <p14:creationId xmlns:p14="http://schemas.microsoft.com/office/powerpoint/2010/main" val="2879211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How have we trained before?</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solidFill>
                  <a:schemeClr val="tx1"/>
                </a:solidFill>
                <a:latin typeface="Avenir Book" charset="0"/>
                <a:ea typeface="Avenir Book" charset="0"/>
                <a:cs typeface="Avenir Book" charset="0"/>
              </a:rPr>
              <a:t>Gradient Descent!</a:t>
            </a:r>
          </a:p>
          <a:p>
            <a:pPr marL="457200" lvl="0" indent="-457200">
              <a:buFont typeface="Arial" charset="0"/>
              <a:buChar char="•"/>
            </a:pPr>
            <a:endParaRPr lang="en-US" sz="2200" dirty="0" smtClean="0">
              <a:solidFill>
                <a:schemeClr val="tx1"/>
              </a:solidFill>
              <a:latin typeface="Avenir Book" charset="0"/>
              <a:ea typeface="Avenir Book" charset="0"/>
              <a:cs typeface="Avenir Book" charset="0"/>
            </a:endParaRP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Make prediction</a:t>
            </a: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Calculate Loss</a:t>
            </a:r>
          </a:p>
          <a:p>
            <a:pPr marL="457200" lvl="4" indent="-457200">
              <a:buFont typeface="+mj-lt"/>
              <a:buAutoNum type="arabicPeriod"/>
            </a:pPr>
            <a:r>
              <a:rPr lang="en-US" sz="2200" dirty="0" smtClean="0">
                <a:solidFill>
                  <a:schemeClr val="accent3">
                    <a:lumMod val="75000"/>
                  </a:schemeClr>
                </a:solidFill>
                <a:latin typeface="Avenir Book" charset="0"/>
                <a:ea typeface="Avenir Book" charset="0"/>
                <a:cs typeface="Avenir Book" charset="0"/>
              </a:rPr>
              <a:t>Calculate gradient of the loss function </a:t>
            </a:r>
            <a:r>
              <a:rPr lang="en-US" sz="2200" dirty="0" err="1" smtClean="0">
                <a:solidFill>
                  <a:schemeClr val="accent3">
                    <a:lumMod val="75000"/>
                  </a:schemeClr>
                </a:solidFill>
                <a:latin typeface="Avenir Book" charset="0"/>
                <a:ea typeface="Avenir Book" charset="0"/>
                <a:cs typeface="Avenir Book" charset="0"/>
              </a:rPr>
              <a:t>w.r.t</a:t>
            </a:r>
            <a:r>
              <a:rPr lang="en-US" sz="2200" dirty="0" smtClean="0">
                <a:solidFill>
                  <a:schemeClr val="accent3">
                    <a:lumMod val="75000"/>
                  </a:schemeClr>
                </a:solidFill>
                <a:latin typeface="Avenir Book" charset="0"/>
                <a:ea typeface="Avenir Book" charset="0"/>
                <a:cs typeface="Avenir Book" charset="0"/>
              </a:rPr>
              <a:t>. parameters</a:t>
            </a: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Update parameters by taking a step in the opposite direction</a:t>
            </a: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Iterate</a:t>
            </a:r>
            <a:endParaRPr lang="en-US" sz="2200" dirty="0">
              <a:solidFill>
                <a:schemeClr val="tx1">
                  <a:lumMod val="95000"/>
                  <a:lumOff val="5000"/>
                </a:schemeClr>
              </a:solidFill>
              <a:latin typeface="Avenir Book" charset="0"/>
              <a:ea typeface="Avenir Book" charset="0"/>
              <a:cs typeface="Avenir Book" charset="0"/>
            </a:endParaRPr>
          </a:p>
        </p:txBody>
      </p:sp>
    </p:spTree>
    <p:extLst>
      <p:ext uri="{BB962C8B-B14F-4D97-AF65-F5344CB8AC3E}">
        <p14:creationId xmlns:p14="http://schemas.microsoft.com/office/powerpoint/2010/main" val="13160912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calculate gradient?</a:t>
            </a:r>
            <a:endParaRPr lang="en-US" dirty="0"/>
          </a:p>
        </p:txBody>
      </p:sp>
      <p:sp>
        <p:nvSpPr>
          <p:cNvPr id="3" name="Text Placeholder 2"/>
          <p:cNvSpPr>
            <a:spLocks noGrp="1"/>
          </p:cNvSpPr>
          <p:nvPr>
            <p:ph type="body" sz="quarter" idx="10"/>
          </p:nvPr>
        </p:nvSpPr>
        <p:spPr/>
        <p:txBody>
          <a:bodyPr/>
          <a:lstStyle/>
          <a:p>
            <a:r>
              <a:rPr lang="en-US" dirty="0" smtClean="0"/>
              <a:t>Chain rule</a:t>
            </a:r>
            <a:endParaRPr lang="en-US" dirty="0"/>
          </a:p>
        </p:txBody>
      </p:sp>
    </p:spTree>
    <p:extLst>
      <p:ext uri="{BB962C8B-B14F-4D97-AF65-F5344CB8AC3E}">
        <p14:creationId xmlns:p14="http://schemas.microsoft.com/office/powerpoint/2010/main" val="131290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How to Train a Neural Net?</a:t>
            </a:r>
            <a:endParaRPr lang="en-US" dirty="0">
              <a:latin typeface="Avenir Book" charset="0"/>
              <a:ea typeface="Avenir Book" charset="0"/>
              <a:cs typeface="Avenir Book" charset="0"/>
            </a:endParaRPr>
          </a:p>
        </p:txBody>
      </p:sp>
      <p:sp>
        <p:nvSpPr>
          <p:cNvPr id="75" name="Rectangle 74"/>
          <p:cNvSpPr/>
          <p:nvPr/>
        </p:nvSpPr>
        <p:spPr>
          <a:xfrm>
            <a:off x="398352" y="1443030"/>
            <a:ext cx="8192764" cy="2462213"/>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How could we change the weights to make our Loss Function lower?</a:t>
            </a:r>
          </a:p>
          <a:p>
            <a:pPr marL="457200" lvl="0" indent="-457200">
              <a:buFont typeface="Arial" charset="0"/>
              <a:buChar char="•"/>
            </a:pPr>
            <a:r>
              <a:rPr lang="en-US" sz="2200" dirty="0" smtClean="0">
                <a:latin typeface="Avenir Book" charset="0"/>
                <a:ea typeface="Avenir Book" charset="0"/>
                <a:cs typeface="Avenir Book" charset="0"/>
              </a:rPr>
              <a:t>Think of neural net as a function F: X -&gt; Y</a:t>
            </a:r>
          </a:p>
          <a:p>
            <a:pPr marL="457200" lvl="0" indent="-457200">
              <a:buFont typeface="Arial" charset="0"/>
              <a:buChar char="•"/>
            </a:pPr>
            <a:r>
              <a:rPr lang="en-US" sz="2200" dirty="0" smtClean="0">
                <a:latin typeface="Avenir Book" charset="0"/>
                <a:ea typeface="Avenir Book" charset="0"/>
                <a:cs typeface="Avenir Book" charset="0"/>
              </a:rPr>
              <a:t>F is a complex computation involving many weights </a:t>
            </a:r>
            <a:r>
              <a:rPr lang="en-US" sz="2200" dirty="0" err="1" smtClean="0">
                <a:latin typeface="Avenir Book" charset="0"/>
                <a:ea typeface="Avenir Book" charset="0"/>
                <a:cs typeface="Avenir Book" charset="0"/>
              </a:rPr>
              <a:t>W_k</a:t>
            </a:r>
            <a:endParaRPr lang="en-US" sz="22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Given the structure, the weights “define” the function F (and therefore define our model)</a:t>
            </a:r>
          </a:p>
          <a:p>
            <a:pPr marL="457200" lvl="0" indent="-457200">
              <a:buFont typeface="Arial" charset="0"/>
              <a:buChar char="•"/>
            </a:pPr>
            <a:r>
              <a:rPr lang="en-US" sz="2200" dirty="0" smtClean="0">
                <a:latin typeface="Avenir Book" charset="0"/>
                <a:ea typeface="Avenir Book" charset="0"/>
                <a:cs typeface="Avenir Book" charset="0"/>
              </a:rPr>
              <a:t>Loss Function is J(</a:t>
            </a:r>
            <a:r>
              <a:rPr lang="en-US" sz="2200" dirty="0" err="1" smtClean="0">
                <a:latin typeface="Avenir Book" charset="0"/>
                <a:ea typeface="Avenir Book" charset="0"/>
                <a:cs typeface="Avenir Book" charset="0"/>
              </a:rPr>
              <a:t>y,F</a:t>
            </a:r>
            <a:r>
              <a:rPr lang="en-US" sz="2200" dirty="0" smtClean="0">
                <a:latin typeface="Avenir Book" charset="0"/>
                <a:ea typeface="Avenir Book" charset="0"/>
                <a:cs typeface="Avenir Book" charset="0"/>
              </a:rPr>
              <a:t>(x))</a:t>
            </a:r>
          </a:p>
        </p:txBody>
      </p:sp>
    </p:spTree>
    <p:extLst>
      <p:ext uri="{BB962C8B-B14F-4D97-AF65-F5344CB8AC3E}">
        <p14:creationId xmlns:p14="http://schemas.microsoft.com/office/powerpoint/2010/main" val="7431199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How to Train a Neural Net?</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5" name="Rectangle 74"/>
              <p:cNvSpPr/>
              <p:nvPr/>
            </p:nvSpPr>
            <p:spPr>
              <a:xfrm>
                <a:off x="398352" y="1232015"/>
                <a:ext cx="8192764" cy="164852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Get</a:t>
                </a:r>
                <a14:m>
                  <m:oMath xmlns:m="http://schemas.openxmlformats.org/officeDocument/2006/math">
                    <m:r>
                      <a:rPr lang="en-US" sz="2200" b="0" i="0" smtClean="0">
                        <a:latin typeface="Cambria Math" charset="0"/>
                        <a:ea typeface="Avenir Book" charset="0"/>
                        <a:cs typeface="Avenir Book" charset="0"/>
                      </a:rPr>
                      <m:t> </m:t>
                    </m:r>
                    <m:f>
                      <m:fPr>
                        <m:ctrlPr>
                          <a:rPr lang="bg-BG" sz="2200" i="1" smtClean="0">
                            <a:latin typeface="Cambria Math" panose="02040503050406030204" pitchFamily="18" charset="0"/>
                            <a:ea typeface="Avenir Book" charset="0"/>
                            <a:cs typeface="Avenir Book" charset="0"/>
                          </a:rPr>
                        </m:ctrlPr>
                      </m:fPr>
                      <m:num>
                        <m:r>
                          <a:rPr lang="bg-BG" sz="2200" i="1" smtClean="0">
                            <a:latin typeface="Cambria Math" charset="0"/>
                            <a:ea typeface="Cambria Math" charset="0"/>
                            <a:cs typeface="Cambria Math" charset="0"/>
                          </a:rPr>
                          <m:t>𝜕</m:t>
                        </m:r>
                        <m:r>
                          <a:rPr lang="en-US" sz="2200" b="0" i="1" smtClean="0">
                            <a:latin typeface="Cambria Math" charset="0"/>
                            <a:ea typeface="Cambria Math" charset="0"/>
                            <a:cs typeface="Cambria Math" charset="0"/>
                          </a:rPr>
                          <m:t>𝐽</m:t>
                        </m:r>
                      </m:num>
                      <m:den>
                        <m:r>
                          <a:rPr lang="bg-BG" sz="2200" i="1" smtClean="0">
                            <a:latin typeface="Cambria Math" charset="0"/>
                            <a:ea typeface="Cambria Math" charset="0"/>
                            <a:cs typeface="Cambria Math" charset="0"/>
                          </a:rPr>
                          <m:t>𝜕</m:t>
                        </m:r>
                        <m:sSub>
                          <m:sSubPr>
                            <m:ctrlPr>
                              <a:rPr lang="en-US" sz="2200" b="0" i="1" smtClean="0">
                                <a:latin typeface="Cambria Math" panose="02040503050406030204" pitchFamily="18" charset="0"/>
                                <a:ea typeface="Cambria Math" charset="0"/>
                                <a:cs typeface="Cambria Math" charset="0"/>
                              </a:rPr>
                            </m:ctrlPr>
                          </m:sSubPr>
                          <m:e>
                            <m:r>
                              <a:rPr lang="en-US" sz="2200" b="0" i="1" smtClean="0">
                                <a:latin typeface="Cambria Math" charset="0"/>
                                <a:ea typeface="Cambria Math" charset="0"/>
                                <a:cs typeface="Cambria Math" charset="0"/>
                              </a:rPr>
                              <m:t>𝑊</m:t>
                            </m:r>
                          </m:e>
                          <m:sub>
                            <m:r>
                              <a:rPr lang="en-US" sz="2200" b="0" i="1" smtClean="0">
                                <a:latin typeface="Cambria Math" charset="0"/>
                                <a:ea typeface="Cambria Math" charset="0"/>
                                <a:cs typeface="Cambria Math" charset="0"/>
                              </a:rPr>
                              <m:t>𝑘</m:t>
                            </m:r>
                          </m:sub>
                        </m:sSub>
                      </m:den>
                    </m:f>
                  </m:oMath>
                </a14:m>
                <a:r>
                  <a:rPr lang="en-US" sz="2200" dirty="0" smtClean="0">
                    <a:latin typeface="Avenir Book" charset="0"/>
                    <a:ea typeface="Avenir Book" charset="0"/>
                    <a:cs typeface="Avenir Book" charset="0"/>
                  </a:rPr>
                  <a:t> for every weight in the network.</a:t>
                </a:r>
              </a:p>
              <a:p>
                <a:pPr marL="457200" lvl="0" indent="-457200">
                  <a:buFont typeface="Arial" charset="0"/>
                  <a:buChar char="•"/>
                </a:pPr>
                <a:r>
                  <a:rPr lang="en-US" sz="2200" dirty="0" smtClean="0">
                    <a:latin typeface="Avenir Book" charset="0"/>
                    <a:ea typeface="Avenir Book" charset="0"/>
                    <a:cs typeface="Avenir Book" charset="0"/>
                  </a:rPr>
                  <a:t>This tells us what direction to adjust each </a:t>
                </a:r>
                <a:r>
                  <a:rPr lang="en-US" sz="2200" dirty="0" err="1" smtClean="0">
                    <a:latin typeface="Avenir Book" charset="0"/>
                    <a:ea typeface="Avenir Book" charset="0"/>
                    <a:cs typeface="Avenir Book" charset="0"/>
                  </a:rPr>
                  <a:t>W</a:t>
                </a:r>
                <a:r>
                  <a:rPr lang="en-US" sz="2200" baseline="-25000" dirty="0" err="1" smtClean="0">
                    <a:latin typeface="Avenir Book" charset="0"/>
                    <a:ea typeface="Avenir Book" charset="0"/>
                    <a:cs typeface="Avenir Book" charset="0"/>
                  </a:rPr>
                  <a:t>k</a:t>
                </a:r>
                <a:r>
                  <a:rPr lang="en-US" sz="2200" dirty="0" smtClean="0">
                    <a:latin typeface="Avenir Book" charset="0"/>
                    <a:ea typeface="Avenir Book" charset="0"/>
                    <a:cs typeface="Avenir Book" charset="0"/>
                  </a:rPr>
                  <a:t> if we want to lower our loss function.</a:t>
                </a:r>
              </a:p>
              <a:p>
                <a:pPr marL="457200" lvl="0" indent="-457200">
                  <a:buFont typeface="Arial" charset="0"/>
                  <a:buChar char="•"/>
                </a:pPr>
                <a:r>
                  <a:rPr lang="en-US" sz="2200" dirty="0" smtClean="0">
                    <a:latin typeface="Avenir Book" charset="0"/>
                    <a:ea typeface="Avenir Book" charset="0"/>
                    <a:cs typeface="Avenir Book" charset="0"/>
                  </a:rPr>
                  <a:t>Make an adjustment and repeat!</a:t>
                </a:r>
              </a:p>
            </p:txBody>
          </p:sp>
        </mc:Choice>
        <mc:Fallback xmlns="">
          <p:sp>
            <p:nvSpPr>
              <p:cNvPr id="75" name="Rectangle 74"/>
              <p:cNvSpPr>
                <a:spLocks noRot="1" noChangeAspect="1" noMove="1" noResize="1" noEditPoints="1" noAdjustHandles="1" noChangeArrowheads="1" noChangeShapeType="1" noTextEdit="1"/>
              </p:cNvSpPr>
              <p:nvPr/>
            </p:nvSpPr>
            <p:spPr>
              <a:xfrm>
                <a:off x="398352" y="1232015"/>
                <a:ext cx="8192764" cy="1648528"/>
              </a:xfrm>
              <a:prstGeom prst="rect">
                <a:avLst/>
              </a:prstGeom>
              <a:blipFill rotWithShape="0">
                <a:blip r:embed="rId3"/>
                <a:stretch>
                  <a:fillRect l="-818" b="-6642"/>
                </a:stretch>
              </a:blipFill>
            </p:spPr>
            <p:txBody>
              <a:bodyPr/>
              <a:lstStyle/>
              <a:p>
                <a:r>
                  <a:rPr lang="en-US">
                    <a:noFill/>
                  </a:rPr>
                  <a:t> </a:t>
                </a:r>
              </a:p>
            </p:txBody>
          </p:sp>
        </mc:Fallback>
      </mc:AlternateContent>
    </p:spTree>
    <p:extLst>
      <p:ext uri="{BB962C8B-B14F-4D97-AF65-F5344CB8AC3E}">
        <p14:creationId xmlns:p14="http://schemas.microsoft.com/office/powerpoint/2010/main" val="18869212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Feedforward Neural Network</a:t>
            </a:r>
            <a:endParaRPr lang="en-US" dirty="0">
              <a:latin typeface="Avenir Book" charset="0"/>
              <a:ea typeface="Avenir Book" charset="0"/>
              <a:cs typeface="Avenir Book" charset="0"/>
            </a:endParaRP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9" name="Rectangle 158"/>
              <p:cNvSpPr/>
              <p:nvPr/>
            </p:nvSpPr>
            <p:spPr>
              <a:xfrm>
                <a:off x="6951367" y="698095"/>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𝑘</m:t>
                              </m:r>
                            </m:sub>
                          </m:sSub>
                        </m:den>
                      </m:f>
                    </m:oMath>
                  </m:oMathPara>
                </a14:m>
                <a:endParaRPr lang="en-US" sz="2200" dirty="0" smtClean="0">
                  <a:latin typeface="Avenir Book" charset="0"/>
                  <a:ea typeface="Avenir Book" charset="0"/>
                  <a:cs typeface="Avenir Book" charset="0"/>
                </a:endParaRPr>
              </a:p>
            </p:txBody>
          </p:sp>
        </mc:Choice>
        <mc:Fallback xmlns="">
          <p:sp>
            <p:nvSpPr>
              <p:cNvPr id="159" name="Rectangle 158"/>
              <p:cNvSpPr>
                <a:spLocks noRot="1" noChangeAspect="1" noMove="1" noResize="1" noEditPoints="1" noAdjustHandles="1" noChangeArrowheads="1" noChangeShapeType="1" noTextEdit="1"/>
              </p:cNvSpPr>
              <p:nvPr/>
            </p:nvSpPr>
            <p:spPr>
              <a:xfrm>
                <a:off x="6951367" y="698095"/>
                <a:ext cx="1271949" cy="739946"/>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p:cNvSpPr/>
              <p:nvPr/>
            </p:nvSpPr>
            <p:spPr>
              <a:xfrm>
                <a:off x="1977317" y="814454"/>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(1)</m:t>
                          </m:r>
                        </m:sup>
                      </m:sSup>
                    </m:oMath>
                  </m:oMathPara>
                </a14:m>
                <a:endParaRPr lang="en-US" sz="2200" dirty="0" smtClean="0">
                  <a:latin typeface="Avenir Book" charset="0"/>
                  <a:ea typeface="Avenir Book" charset="0"/>
                  <a:cs typeface="Avenir Book" charset="0"/>
                </a:endParaRPr>
              </a:p>
            </p:txBody>
          </p:sp>
        </mc:Choice>
        <mc:Fallback xmlns="">
          <p:sp>
            <p:nvSpPr>
              <p:cNvPr id="73" name="Rectangle 72"/>
              <p:cNvSpPr>
                <a:spLocks noRot="1" noChangeAspect="1" noMove="1" noResize="1" noEditPoints="1" noAdjustHandles="1" noChangeArrowheads="1" noChangeShapeType="1" noTextEdit="1"/>
              </p:cNvSpPr>
              <p:nvPr/>
            </p:nvSpPr>
            <p:spPr>
              <a:xfrm>
                <a:off x="1977317" y="814454"/>
                <a:ext cx="724276" cy="459869"/>
              </a:xfrm>
              <a:prstGeom prst="rect">
                <a:avLst/>
              </a:prstGeom>
              <a:blipFill rotWithShape="0">
                <a:blip r:embed="rId21"/>
                <a:stretch>
                  <a:fillRect l="-840" r="-50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p:cNvSpPr/>
              <p:nvPr/>
            </p:nvSpPr>
            <p:spPr>
              <a:xfrm>
                <a:off x="3496346" y="796307"/>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(2)</m:t>
                          </m:r>
                        </m:sup>
                      </m:sSup>
                    </m:oMath>
                  </m:oMathPara>
                </a14:m>
                <a:endParaRPr lang="en-US" sz="2200" dirty="0" smtClean="0">
                  <a:latin typeface="Avenir Book" charset="0"/>
                  <a:ea typeface="Avenir Book" charset="0"/>
                  <a:cs typeface="Avenir Book" charset="0"/>
                </a:endParaRPr>
              </a:p>
            </p:txBody>
          </p:sp>
        </mc:Choice>
        <mc:Fallback xmlns="">
          <p:sp>
            <p:nvSpPr>
              <p:cNvPr id="74" name="Rectangle 73"/>
              <p:cNvSpPr>
                <a:spLocks noRot="1" noChangeAspect="1" noMove="1" noResize="1" noEditPoints="1" noAdjustHandles="1" noChangeArrowheads="1" noChangeShapeType="1" noTextEdit="1"/>
              </p:cNvSpPr>
              <p:nvPr/>
            </p:nvSpPr>
            <p:spPr>
              <a:xfrm>
                <a:off x="3496346" y="796307"/>
                <a:ext cx="724276" cy="459869"/>
              </a:xfrm>
              <a:prstGeom prst="rect">
                <a:avLst/>
              </a:prstGeom>
              <a:blipFill rotWithShape="0">
                <a:blip r:embed="rId22"/>
                <a:stretch>
                  <a:fillRect l="-847" r="-59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p:cNvSpPr/>
              <p:nvPr/>
            </p:nvSpPr>
            <p:spPr>
              <a:xfrm>
                <a:off x="4875306" y="796307"/>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(3)</m:t>
                          </m:r>
                        </m:sup>
                      </m:sSup>
                    </m:oMath>
                  </m:oMathPara>
                </a14:m>
                <a:endParaRPr lang="en-US" sz="2200" dirty="0" smtClean="0">
                  <a:latin typeface="Avenir Book" charset="0"/>
                  <a:ea typeface="Avenir Book" charset="0"/>
                  <a:cs typeface="Avenir Book" charset="0"/>
                </a:endParaRPr>
              </a:p>
            </p:txBody>
          </p:sp>
        </mc:Choice>
        <mc:Fallback xmlns="">
          <p:sp>
            <p:nvSpPr>
              <p:cNvPr id="75" name="Rectangle 74"/>
              <p:cNvSpPr>
                <a:spLocks noRot="1" noChangeAspect="1" noMove="1" noResize="1" noEditPoints="1" noAdjustHandles="1" noChangeArrowheads="1" noChangeShapeType="1" noTextEdit="1"/>
              </p:cNvSpPr>
              <p:nvPr/>
            </p:nvSpPr>
            <p:spPr>
              <a:xfrm>
                <a:off x="4875306" y="796307"/>
                <a:ext cx="724276" cy="459869"/>
              </a:xfrm>
              <a:prstGeom prst="rect">
                <a:avLst/>
              </a:prstGeom>
              <a:blipFill rotWithShape="0">
                <a:blip r:embed="rId23"/>
                <a:stretch>
                  <a:fillRect l="-840" r="-5042"/>
                </a:stretch>
              </a:blipFill>
            </p:spPr>
            <p:txBody>
              <a:bodyPr/>
              <a:lstStyle/>
              <a:p>
                <a:r>
                  <a:rPr lang="en-US">
                    <a:noFill/>
                  </a:rPr>
                  <a:t> </a:t>
                </a:r>
              </a:p>
            </p:txBody>
          </p:sp>
        </mc:Fallback>
      </mc:AlternateContent>
      <p:sp>
        <p:nvSpPr>
          <p:cNvPr id="77" name="object 2"/>
          <p:cNvSpPr txBox="1"/>
          <p:nvPr/>
        </p:nvSpPr>
        <p:spPr>
          <a:xfrm>
            <a:off x="6242509" y="914179"/>
            <a:ext cx="685985" cy="307777"/>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000" dirty="0" smtClean="0">
                <a:latin typeface="Avenir Book" charset="0"/>
                <a:ea typeface="Avenir Book" charset="0"/>
                <a:cs typeface="Avenir Book" charset="0"/>
              </a:rPr>
              <a:t>Want:</a:t>
            </a:r>
            <a:endParaRPr lang="en-US" sz="2000" dirty="0">
              <a:latin typeface="Avenir Book" charset="0"/>
              <a:ea typeface="Avenir Book" charset="0"/>
              <a:cs typeface="Avenir Book" charset="0"/>
            </a:endParaRPr>
          </a:p>
        </p:txBody>
      </p:sp>
    </p:spTree>
    <p:extLst>
      <p:ext uri="{BB962C8B-B14F-4D97-AF65-F5344CB8AC3E}">
        <p14:creationId xmlns:p14="http://schemas.microsoft.com/office/powerpoint/2010/main" val="7424216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Calculus to the Rescue</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Use calculus, chain rule, etc. etc.</a:t>
            </a:r>
          </a:p>
          <a:p>
            <a:pPr marL="457200" lvl="0" indent="-457200">
              <a:buFont typeface="Arial" charset="0"/>
              <a:buChar char="•"/>
            </a:pPr>
            <a:r>
              <a:rPr lang="en-US" sz="2200" dirty="0" smtClean="0">
                <a:latin typeface="Avenir Book" charset="0"/>
                <a:ea typeface="Avenir Book" charset="0"/>
                <a:cs typeface="Avenir Book" charset="0"/>
              </a:rPr>
              <a:t>Functions are chosen to have “nice” derivatives</a:t>
            </a:r>
          </a:p>
          <a:p>
            <a:pPr marL="457200" lvl="0" indent="-457200">
              <a:buFont typeface="Arial" charset="0"/>
              <a:buChar char="•"/>
            </a:pPr>
            <a:r>
              <a:rPr lang="en-US" sz="2200" dirty="0" smtClean="0">
                <a:latin typeface="Avenir Book" charset="0"/>
                <a:ea typeface="Avenir Book" charset="0"/>
                <a:cs typeface="Avenir Book" charset="0"/>
              </a:rPr>
              <a:t>Numerical issues to be considered</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5768039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Punchline</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4" name="TextBox 3"/>
              <p:cNvSpPr txBox="1"/>
              <p:nvPr/>
            </p:nvSpPr>
            <p:spPr>
              <a:xfrm>
                <a:off x="619469" y="1977966"/>
                <a:ext cx="5359299" cy="7083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400" b="0" i="1" smtClean="0">
                              <a:latin typeface="Cambria Math" panose="02040503050406030204" pitchFamily="18" charset="0"/>
                              <a:ea typeface="Euphemia" charset="0"/>
                              <a:cs typeface="Euphemia" charset="0"/>
                            </a:rPr>
                          </m:ctrlPr>
                        </m:fPr>
                        <m:num>
                          <m:r>
                            <a:rPr lang="mr-IN"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𝐽</m:t>
                          </m:r>
                        </m:num>
                        <m:den>
                          <m:r>
                            <a:rPr lang="mr-IN"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r>
                                <a:rPr lang="en-US" sz="2400" b="0" i="1" smtClean="0">
                                  <a:latin typeface="Cambria Math" charset="0"/>
                                  <a:ea typeface="Euphemia" charset="0"/>
                                  <a:cs typeface="Euphemia" charset="0"/>
                                </a:rPr>
                                <m:t>(2)</m:t>
                              </m:r>
                            </m:sup>
                          </m:sSup>
                        </m:den>
                      </m:f>
                      <m:r>
                        <a:rPr lang="en-US" sz="2400" b="0" i="1" smtClean="0">
                          <a:latin typeface="Cambria Math" charset="0"/>
                          <a:ea typeface="Euphemia" charset="0"/>
                          <a:cs typeface="Euphemia" charset="0"/>
                        </a:rPr>
                        <m:t>=</m:t>
                      </m:r>
                      <m:r>
                        <a:rPr lang="en-US" sz="2400" i="1">
                          <a:latin typeface="Cambria Math" charset="0"/>
                          <a:ea typeface="Euphemia" charset="0"/>
                          <a:cs typeface="Euphemia" charset="0"/>
                        </a:rPr>
                        <m:t>(</m:t>
                      </m:r>
                      <m:acc>
                        <m:accPr>
                          <m:chr m:val="̂"/>
                          <m:ctrlPr>
                            <a:rPr lang="en-US" sz="2400" i="1">
                              <a:latin typeface="Cambria Math" panose="02040503050406030204" pitchFamily="18" charset="0"/>
                              <a:ea typeface="Euphemia" charset="0"/>
                              <a:cs typeface="Euphemia" charset="0"/>
                            </a:rPr>
                          </m:ctrlPr>
                        </m:accPr>
                        <m:e>
                          <m:r>
                            <a:rPr lang="en-US" sz="2400" i="1">
                              <a:latin typeface="Cambria Math" charset="0"/>
                              <a:ea typeface="Euphemia" charset="0"/>
                              <a:cs typeface="Euphemia" charset="0"/>
                            </a:rPr>
                            <m:t>𝑦</m:t>
                          </m:r>
                        </m:e>
                      </m:acc>
                      <m:r>
                        <a:rPr lang="en-US" sz="2400" i="1">
                          <a:latin typeface="Cambria Math" charset="0"/>
                          <a:ea typeface="Euphemia" charset="0"/>
                          <a:cs typeface="Euphemia" charset="0"/>
                        </a:rPr>
                        <m:t>−</m:t>
                      </m:r>
                      <m:r>
                        <a:rPr lang="en-US" sz="2400" i="1">
                          <a:latin typeface="Cambria Math" charset="0"/>
                          <a:ea typeface="Euphemia" charset="0"/>
                          <a:cs typeface="Euphemia" charset="0"/>
                        </a:rPr>
                        <m:t>𝑦</m:t>
                      </m:r>
                      <m:r>
                        <a:rPr lang="en-US" sz="2400" i="1">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3</m:t>
                              </m:r>
                            </m:e>
                          </m:d>
                        </m:sup>
                      </m:sSup>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𝜎</m:t>
                          </m:r>
                        </m:e>
                        <m:sup>
                          <m:r>
                            <a:rPr lang="en-US" sz="2400" b="0" i="1" smtClean="0">
                              <a:latin typeface="Cambria Math" charset="0"/>
                              <a:ea typeface="Euphemia" charset="0"/>
                              <a:cs typeface="Euphemia" charset="0"/>
                            </a:rPr>
                            <m:t>′</m:t>
                          </m:r>
                        </m:sup>
                      </m:sSup>
                      <m:d>
                        <m:dPr>
                          <m:ctrlPr>
                            <a:rPr lang="en-US" sz="2400" b="0" i="1" smtClean="0">
                              <a:latin typeface="Cambria Math" panose="02040503050406030204" pitchFamily="18" charset="0"/>
                              <a:ea typeface="Euphemia" charset="0"/>
                              <a:cs typeface="Euphemia" charset="0"/>
                            </a:rPr>
                          </m:ctrlPr>
                        </m:dPr>
                        <m:e>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𝑧</m:t>
                              </m:r>
                            </m:e>
                            <m:sup>
                              <m:r>
                                <a:rPr lang="en-US" sz="2400" b="0" i="1" smtClean="0">
                                  <a:latin typeface="Cambria Math" charset="0"/>
                                  <a:ea typeface="Euphemia" charset="0"/>
                                  <a:cs typeface="Euphemia" charset="0"/>
                                </a:rPr>
                                <m:t>(3)</m:t>
                              </m:r>
                            </m:sup>
                          </m:sSup>
                        </m:e>
                      </m:d>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𝑎</m:t>
                          </m:r>
                        </m:e>
                        <m:sup>
                          <m:r>
                            <a:rPr lang="en-US" sz="2400" b="0" i="1" smtClean="0">
                              <a:latin typeface="Cambria Math" charset="0"/>
                              <a:ea typeface="Euphemia" charset="0"/>
                              <a:cs typeface="Euphemia" charset="0"/>
                            </a:rPr>
                            <m:t>(2)</m:t>
                          </m:r>
                        </m:sup>
                      </m:sSup>
                    </m:oMath>
                  </m:oMathPara>
                </a14:m>
                <a:endParaRPr lang="en-US" sz="2400" dirty="0">
                  <a:latin typeface="Euphemia" charset="0"/>
                  <a:ea typeface="Euphemia" charset="0"/>
                  <a:cs typeface="Euphemia"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19469" y="1977966"/>
                <a:ext cx="5359299" cy="708399"/>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19470" y="2924687"/>
                <a:ext cx="6977084" cy="7083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400" b="0" i="1" smtClean="0">
                              <a:latin typeface="Cambria Math" panose="02040503050406030204" pitchFamily="18" charset="0"/>
                              <a:ea typeface="Euphemia" charset="0"/>
                              <a:cs typeface="Euphemia" charset="0"/>
                            </a:rPr>
                          </m:ctrlPr>
                        </m:fPr>
                        <m:num>
                          <m:r>
                            <a:rPr lang="mr-IN"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𝐽</m:t>
                          </m:r>
                        </m:num>
                        <m:den>
                          <m:r>
                            <a:rPr lang="mr-IN"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r>
                                <a:rPr lang="en-US" sz="2400" b="0" i="1" smtClean="0">
                                  <a:latin typeface="Cambria Math" charset="0"/>
                                  <a:ea typeface="Euphemia" charset="0"/>
                                  <a:cs typeface="Euphemia" charset="0"/>
                                </a:rPr>
                                <m:t>(1)</m:t>
                              </m:r>
                            </m:sup>
                          </m:sSup>
                        </m:den>
                      </m:f>
                      <m:r>
                        <a:rPr lang="en-US" sz="2400" b="0" i="1" smtClean="0">
                          <a:latin typeface="Cambria Math" charset="0"/>
                          <a:ea typeface="Euphemia" charset="0"/>
                          <a:cs typeface="Euphemia" charset="0"/>
                        </a:rPr>
                        <m:t>=</m:t>
                      </m:r>
                      <m:d>
                        <m:dPr>
                          <m:ctrlPr>
                            <a:rPr lang="en-US" sz="2400" i="1">
                              <a:latin typeface="Cambria Math" panose="02040503050406030204" pitchFamily="18" charset="0"/>
                              <a:ea typeface="Euphemia" charset="0"/>
                              <a:cs typeface="Euphemia" charset="0"/>
                            </a:rPr>
                          </m:ctrlPr>
                        </m:dPr>
                        <m:e>
                          <m:acc>
                            <m:accPr>
                              <m:chr m:val="̂"/>
                              <m:ctrlPr>
                                <a:rPr lang="en-US" sz="2400" i="1">
                                  <a:latin typeface="Cambria Math" panose="02040503050406030204" pitchFamily="18" charset="0"/>
                                  <a:ea typeface="Euphemia" charset="0"/>
                                  <a:cs typeface="Euphemia" charset="0"/>
                                </a:rPr>
                              </m:ctrlPr>
                            </m:accPr>
                            <m:e>
                              <m:r>
                                <a:rPr lang="en-US" sz="2400" i="1">
                                  <a:latin typeface="Cambria Math" charset="0"/>
                                  <a:ea typeface="Euphemia" charset="0"/>
                                  <a:cs typeface="Euphemia" charset="0"/>
                                </a:rPr>
                                <m:t>𝑦</m:t>
                              </m:r>
                            </m:e>
                          </m:acc>
                          <m:r>
                            <a:rPr lang="en-US" sz="2400" i="1">
                              <a:latin typeface="Cambria Math" charset="0"/>
                              <a:ea typeface="Euphemia" charset="0"/>
                              <a:cs typeface="Euphemia" charset="0"/>
                            </a:rPr>
                            <m:t>−</m:t>
                          </m:r>
                          <m:r>
                            <a:rPr lang="en-US" sz="2400" i="1">
                              <a:latin typeface="Cambria Math" charset="0"/>
                              <a:ea typeface="Euphemia" charset="0"/>
                              <a:cs typeface="Euphemia" charset="0"/>
                            </a:rPr>
                            <m:t>𝑦</m:t>
                          </m:r>
                        </m:e>
                      </m:d>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3</m:t>
                              </m:r>
                            </m:e>
                          </m:d>
                        </m:sup>
                      </m:sSup>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𝜎</m:t>
                          </m:r>
                        </m:e>
                        <m:sup>
                          <m:r>
                            <a:rPr lang="en-US" sz="2400" b="0" i="1" smtClean="0">
                              <a:latin typeface="Cambria Math" charset="0"/>
                              <a:ea typeface="Euphemia" charset="0"/>
                              <a:cs typeface="Euphemia" charset="0"/>
                            </a:rPr>
                            <m:t>′</m:t>
                          </m:r>
                        </m:sup>
                      </m:sSup>
                      <m:d>
                        <m:dPr>
                          <m:ctrlPr>
                            <a:rPr lang="en-US" sz="2400" b="0" i="1" smtClean="0">
                              <a:latin typeface="Cambria Math" panose="02040503050406030204" pitchFamily="18" charset="0"/>
                              <a:ea typeface="Euphemia" charset="0"/>
                              <a:cs typeface="Euphemia" charset="0"/>
                            </a:rPr>
                          </m:ctrlPr>
                        </m:dPr>
                        <m:e>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𝑧</m:t>
                              </m:r>
                            </m:e>
                            <m:sup>
                              <m:r>
                                <a:rPr lang="en-US" sz="2400" b="0" i="1" smtClean="0">
                                  <a:latin typeface="Cambria Math" charset="0"/>
                                  <a:ea typeface="Euphemia" charset="0"/>
                                  <a:cs typeface="Euphemia" charset="0"/>
                                </a:rPr>
                                <m:t>(3)</m:t>
                              </m:r>
                            </m:sup>
                          </m:sSup>
                        </m:e>
                      </m:d>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2</m:t>
                              </m:r>
                            </m:e>
                          </m:d>
                        </m:sup>
                      </m:sSup>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𝜎</m:t>
                          </m:r>
                        </m:e>
                        <m:sup>
                          <m:r>
                            <a:rPr lang="en-US" sz="2400" b="0" i="1" smtClean="0">
                              <a:latin typeface="Cambria Math" charset="0"/>
                              <a:ea typeface="Euphemia" charset="0"/>
                              <a:cs typeface="Euphemia" charset="0"/>
                            </a:rPr>
                            <m:t>′</m:t>
                          </m:r>
                        </m:sup>
                      </m:sSup>
                      <m:d>
                        <m:dPr>
                          <m:ctrlPr>
                            <a:rPr lang="en-US" sz="2400" b="0" i="1" smtClean="0">
                              <a:latin typeface="Cambria Math" panose="02040503050406030204" pitchFamily="18" charset="0"/>
                              <a:ea typeface="Euphemia" charset="0"/>
                              <a:cs typeface="Euphemia" charset="0"/>
                            </a:rPr>
                          </m:ctrlPr>
                        </m:dPr>
                        <m:e>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𝑧</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2</m:t>
                                  </m:r>
                                </m:e>
                              </m:d>
                            </m:sup>
                          </m:sSup>
                        </m:e>
                      </m:d>
                      <m:r>
                        <a:rPr lang="en-US"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𝑋</m:t>
                      </m:r>
                    </m:oMath>
                  </m:oMathPara>
                </a14:m>
                <a:endParaRPr lang="en-US" sz="2400" dirty="0">
                  <a:latin typeface="Euphemia" charset="0"/>
                  <a:ea typeface="Euphemia" charset="0"/>
                  <a:cs typeface="Euphemia"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19470" y="2924687"/>
                <a:ext cx="6977084" cy="708399"/>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19470" y="1031245"/>
                <a:ext cx="3143638" cy="7083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400" b="0" i="1" smtClean="0">
                              <a:latin typeface="Cambria Math" panose="02040503050406030204" pitchFamily="18" charset="0"/>
                              <a:ea typeface="Euphemia" charset="0"/>
                              <a:cs typeface="Euphemia" charset="0"/>
                            </a:rPr>
                          </m:ctrlPr>
                        </m:fPr>
                        <m:num>
                          <m:r>
                            <a:rPr lang="mr-IN"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𝐽</m:t>
                          </m:r>
                        </m:num>
                        <m:den>
                          <m:r>
                            <a:rPr lang="mr-IN"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r>
                                <a:rPr lang="en-US" sz="2400" b="0" i="1" smtClean="0">
                                  <a:latin typeface="Cambria Math" charset="0"/>
                                  <a:ea typeface="Euphemia" charset="0"/>
                                  <a:cs typeface="Euphemia" charset="0"/>
                                </a:rPr>
                                <m:t>(3)</m:t>
                              </m:r>
                            </m:sup>
                          </m:sSup>
                        </m:den>
                      </m:f>
                      <m:r>
                        <a:rPr lang="en-US" sz="2400" b="0" i="1" smtClean="0">
                          <a:latin typeface="Cambria Math" charset="0"/>
                          <a:ea typeface="Euphemia" charset="0"/>
                          <a:cs typeface="Euphemia" charset="0"/>
                        </a:rPr>
                        <m:t>=</m:t>
                      </m:r>
                      <m:r>
                        <a:rPr lang="en-US" sz="2400" i="1">
                          <a:latin typeface="Cambria Math" charset="0"/>
                          <a:ea typeface="Euphemia" charset="0"/>
                          <a:cs typeface="Euphemia" charset="0"/>
                        </a:rPr>
                        <m:t>(</m:t>
                      </m:r>
                      <m:acc>
                        <m:accPr>
                          <m:chr m:val="̂"/>
                          <m:ctrlPr>
                            <a:rPr lang="en-US" sz="2400" i="1">
                              <a:latin typeface="Cambria Math" panose="02040503050406030204" pitchFamily="18" charset="0"/>
                              <a:ea typeface="Euphemia" charset="0"/>
                              <a:cs typeface="Euphemia" charset="0"/>
                            </a:rPr>
                          </m:ctrlPr>
                        </m:accPr>
                        <m:e>
                          <m:r>
                            <a:rPr lang="en-US" sz="2400" i="1">
                              <a:latin typeface="Cambria Math" charset="0"/>
                              <a:ea typeface="Euphemia" charset="0"/>
                              <a:cs typeface="Euphemia" charset="0"/>
                            </a:rPr>
                            <m:t>𝑦</m:t>
                          </m:r>
                        </m:e>
                      </m:acc>
                      <m:r>
                        <a:rPr lang="en-US" sz="2400" i="1">
                          <a:latin typeface="Cambria Math" charset="0"/>
                          <a:ea typeface="Euphemia" charset="0"/>
                          <a:cs typeface="Euphemia" charset="0"/>
                        </a:rPr>
                        <m:t>−</m:t>
                      </m:r>
                      <m:r>
                        <a:rPr lang="en-US" sz="2400" i="1">
                          <a:latin typeface="Cambria Math" charset="0"/>
                          <a:ea typeface="Euphemia" charset="0"/>
                          <a:cs typeface="Euphemia" charset="0"/>
                        </a:rPr>
                        <m:t>𝑦</m:t>
                      </m:r>
                      <m:r>
                        <a:rPr lang="en-US" sz="2400" i="1">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𝑎</m:t>
                          </m:r>
                        </m:e>
                        <m:sup>
                          <m:r>
                            <a:rPr lang="en-US" sz="2400" b="0" i="1" smtClean="0">
                              <a:latin typeface="Cambria Math" charset="0"/>
                              <a:ea typeface="Euphemia" charset="0"/>
                              <a:cs typeface="Euphemia" charset="0"/>
                            </a:rPr>
                            <m:t>(3)</m:t>
                          </m:r>
                        </m:sup>
                      </m:sSup>
                    </m:oMath>
                  </m:oMathPara>
                </a14:m>
                <a:endParaRPr lang="en-US" sz="2400" dirty="0">
                  <a:latin typeface="Euphemia" charset="0"/>
                  <a:ea typeface="Euphemia" charset="0"/>
                  <a:cs typeface="Euphemia"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19470" y="1031245"/>
                <a:ext cx="3143638" cy="708399"/>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98352" y="3906494"/>
                <a:ext cx="8089156" cy="769441"/>
              </a:xfrm>
              <a:prstGeom prst="rect">
                <a:avLst/>
              </a:prstGeom>
            </p:spPr>
            <p:txBody>
              <a:bodyPr wrap="square">
                <a:spAutoFit/>
              </a:bodyPr>
              <a:lstStyle/>
              <a:p>
                <a:pPr marL="457200" indent="-457200">
                  <a:buFont typeface="Arial" charset="0"/>
                  <a:buChar char="•"/>
                </a:pPr>
                <a:r>
                  <a:rPr lang="en-US" sz="2200" dirty="0" smtClean="0">
                    <a:latin typeface="Avenir Book" charset="0"/>
                    <a:ea typeface="Avenir Book" charset="0"/>
                    <a:cs typeface="Avenir Book" charset="0"/>
                  </a:rPr>
                  <a:t>Recall that: </a:t>
                </a:r>
                <a14:m>
                  <m:oMath xmlns:m="http://schemas.openxmlformats.org/officeDocument/2006/math">
                    <m:r>
                      <a:rPr lang="en-US" sz="2000" i="1">
                        <a:latin typeface="Cambria Math" charset="0"/>
                        <a:ea typeface="Cambria Math" charset="0"/>
                        <a:cs typeface="Cambria Math" charset="0"/>
                      </a:rPr>
                      <m:t>𝜎</m:t>
                    </m:r>
                    <m:r>
                      <a:rPr lang="en-US" sz="2000" i="1">
                        <a:latin typeface="Cambria Math" charset="0"/>
                        <a:ea typeface="Cambria Math" charset="0"/>
                        <a:cs typeface="Cambria Math" charset="0"/>
                      </a:rPr>
                      <m:t>′</m:t>
                    </m:r>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𝑧</m:t>
                        </m:r>
                      </m:e>
                    </m:d>
                  </m:oMath>
                </a14:m>
                <a:r>
                  <a:rPr lang="en-US" sz="2000" dirty="0">
                    <a:ea typeface="Cambria Math" charset="0"/>
                    <a:cs typeface="Cambria Math" charset="0"/>
                  </a:rPr>
                  <a:t> = </a:t>
                </a:r>
                <a14:m>
                  <m:oMath xmlns:m="http://schemas.openxmlformats.org/officeDocument/2006/math">
                    <m:r>
                      <a:rPr lang="en-US" sz="2000" i="1">
                        <a:latin typeface="Cambria Math" charset="0"/>
                        <a:ea typeface="Cambria Math" charset="0"/>
                        <a:cs typeface="Cambria Math" charset="0"/>
                      </a:rPr>
                      <m:t>𝜎</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r>
                      <a:rPr lang="en-US" sz="2000" i="1">
                        <a:latin typeface="Cambria Math" charset="0"/>
                        <a:ea typeface="Cambria Math" charset="0"/>
                        <a:cs typeface="Cambria Math" charset="0"/>
                      </a:rPr>
                      <m:t>)(1−</m:t>
                    </m:r>
                    <m:r>
                      <a:rPr lang="en-US" sz="2000" i="1">
                        <a:latin typeface="Cambria Math" charset="0"/>
                        <a:ea typeface="Cambria Math" charset="0"/>
                        <a:cs typeface="Cambria Math" charset="0"/>
                      </a:rPr>
                      <m:t>𝜎</m:t>
                    </m:r>
                    <m:r>
                      <a:rPr lang="en-US" sz="2000" i="1">
                        <a:latin typeface="Cambria Math" charset="0"/>
                        <a:ea typeface="Cambria Math" charset="0"/>
                        <a:cs typeface="Cambria Math" charset="0"/>
                      </a:rPr>
                      <m:t>(</m:t>
                    </m:r>
                    <m:r>
                      <a:rPr lang="en-US" sz="2000" i="1">
                        <a:latin typeface="Cambria Math" charset="0"/>
                        <a:ea typeface="Cambria Math" charset="0"/>
                        <a:cs typeface="Cambria Math" charset="0"/>
                      </a:rPr>
                      <m:t>𝑧</m:t>
                    </m:r>
                    <m:r>
                      <a:rPr lang="en-US" sz="2000" i="1">
                        <a:latin typeface="Cambria Math" charset="0"/>
                        <a:ea typeface="Cambria Math" charset="0"/>
                        <a:cs typeface="Cambria Math" charset="0"/>
                      </a:rPr>
                      <m:t>)</m:t>
                    </m:r>
                  </m:oMath>
                </a14:m>
                <a:r>
                  <a:rPr lang="en-US" sz="2000" dirty="0"/>
                  <a:t>)</a:t>
                </a:r>
                <a:r>
                  <a:rPr lang="en-US" sz="2200" dirty="0" smtClean="0">
                    <a:latin typeface="Avenir Book" charset="0"/>
                    <a:ea typeface="Avenir Book" charset="0"/>
                    <a:cs typeface="Avenir Book" charset="0"/>
                  </a:rPr>
                  <a:t> </a:t>
                </a:r>
              </a:p>
              <a:p>
                <a:pPr marL="457200" indent="-457200">
                  <a:buFont typeface="Arial" charset="0"/>
                  <a:buChar char="•"/>
                </a:pPr>
                <a:r>
                  <a:rPr lang="en-US" sz="2200" dirty="0" smtClean="0">
                    <a:latin typeface="Avenir Book" charset="0"/>
                    <a:ea typeface="Avenir Book" charset="0"/>
                    <a:cs typeface="Avenir Book" charset="0"/>
                  </a:rPr>
                  <a:t>Though they appear complex, above are easy to compute! </a:t>
                </a:r>
                <a:endParaRPr lang="en-US" sz="2400" dirty="0">
                  <a:latin typeface="Avenir Book" charset="0"/>
                  <a:ea typeface="Avenir Book" charset="0"/>
                  <a:cs typeface="Avenir Book"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98352" y="3906494"/>
                <a:ext cx="8089156" cy="769441"/>
              </a:xfrm>
              <a:prstGeom prst="rect">
                <a:avLst/>
              </a:prstGeom>
              <a:blipFill rotWithShape="0">
                <a:blip r:embed="rId6"/>
                <a:stretch>
                  <a:fillRect l="-829" t="-6349" r="-301" b="-15079"/>
                </a:stretch>
              </a:blipFill>
            </p:spPr>
            <p:txBody>
              <a:bodyPr/>
              <a:lstStyle/>
              <a:p>
                <a:r>
                  <a:rPr lang="en-US">
                    <a:noFill/>
                  </a:rPr>
                  <a:t> </a:t>
                </a:r>
              </a:p>
            </p:txBody>
          </p:sp>
        </mc:Fallback>
      </mc:AlternateContent>
    </p:spTree>
    <p:extLst>
      <p:ext uri="{BB962C8B-B14F-4D97-AF65-F5344CB8AC3E}">
        <p14:creationId xmlns:p14="http://schemas.microsoft.com/office/powerpoint/2010/main" val="8322042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Backpropagation</a:t>
            </a:r>
            <a:endParaRPr lang="en-US" dirty="0">
              <a:latin typeface="Avenir Book" charset="0"/>
              <a:ea typeface="Avenir Book" charset="0"/>
              <a:cs typeface="Avenir Book" charset="0"/>
            </a:endParaRP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9" name="Rectangle 158"/>
              <p:cNvSpPr/>
              <p:nvPr/>
            </p:nvSpPr>
            <p:spPr>
              <a:xfrm>
                <a:off x="6951367" y="698095"/>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𝑘</m:t>
                              </m:r>
                            </m:sub>
                          </m:sSub>
                        </m:den>
                      </m:f>
                    </m:oMath>
                  </m:oMathPara>
                </a14:m>
                <a:endParaRPr lang="en-US" sz="2200" dirty="0" smtClean="0">
                  <a:latin typeface="Avenir Book" charset="0"/>
                  <a:ea typeface="Avenir Book" charset="0"/>
                  <a:cs typeface="Avenir Book" charset="0"/>
                </a:endParaRPr>
              </a:p>
            </p:txBody>
          </p:sp>
        </mc:Choice>
        <mc:Fallback xmlns="">
          <p:sp>
            <p:nvSpPr>
              <p:cNvPr id="159" name="Rectangle 158"/>
              <p:cNvSpPr>
                <a:spLocks noRot="1" noChangeAspect="1" noMove="1" noResize="1" noEditPoints="1" noAdjustHandles="1" noChangeArrowheads="1" noChangeShapeType="1" noTextEdit="1"/>
              </p:cNvSpPr>
              <p:nvPr/>
            </p:nvSpPr>
            <p:spPr>
              <a:xfrm>
                <a:off x="6951367" y="698095"/>
                <a:ext cx="1271949" cy="739946"/>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p:cNvSpPr/>
              <p:nvPr/>
            </p:nvSpPr>
            <p:spPr>
              <a:xfrm>
                <a:off x="1977317" y="814454"/>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(1)</m:t>
                          </m:r>
                        </m:sup>
                      </m:sSup>
                    </m:oMath>
                  </m:oMathPara>
                </a14:m>
                <a:endParaRPr lang="en-US" sz="2200" dirty="0" smtClean="0">
                  <a:latin typeface="Avenir Book" charset="0"/>
                  <a:ea typeface="Avenir Book" charset="0"/>
                  <a:cs typeface="Avenir Book" charset="0"/>
                </a:endParaRPr>
              </a:p>
            </p:txBody>
          </p:sp>
        </mc:Choice>
        <mc:Fallback xmlns="">
          <p:sp>
            <p:nvSpPr>
              <p:cNvPr id="73" name="Rectangle 72"/>
              <p:cNvSpPr>
                <a:spLocks noRot="1" noChangeAspect="1" noMove="1" noResize="1" noEditPoints="1" noAdjustHandles="1" noChangeArrowheads="1" noChangeShapeType="1" noTextEdit="1"/>
              </p:cNvSpPr>
              <p:nvPr/>
            </p:nvSpPr>
            <p:spPr>
              <a:xfrm>
                <a:off x="1977317" y="814454"/>
                <a:ext cx="724276" cy="459869"/>
              </a:xfrm>
              <a:prstGeom prst="rect">
                <a:avLst/>
              </a:prstGeom>
              <a:blipFill rotWithShape="0">
                <a:blip r:embed="rId21"/>
                <a:stretch>
                  <a:fillRect l="-840" r="-50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p:cNvSpPr/>
              <p:nvPr/>
            </p:nvSpPr>
            <p:spPr>
              <a:xfrm>
                <a:off x="3496346" y="796307"/>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(2)</m:t>
                          </m:r>
                        </m:sup>
                      </m:sSup>
                    </m:oMath>
                  </m:oMathPara>
                </a14:m>
                <a:endParaRPr lang="en-US" sz="2200" dirty="0" smtClean="0">
                  <a:latin typeface="Avenir Book" charset="0"/>
                  <a:ea typeface="Avenir Book" charset="0"/>
                  <a:cs typeface="Avenir Book" charset="0"/>
                </a:endParaRPr>
              </a:p>
            </p:txBody>
          </p:sp>
        </mc:Choice>
        <mc:Fallback xmlns="">
          <p:sp>
            <p:nvSpPr>
              <p:cNvPr id="74" name="Rectangle 73"/>
              <p:cNvSpPr>
                <a:spLocks noRot="1" noChangeAspect="1" noMove="1" noResize="1" noEditPoints="1" noAdjustHandles="1" noChangeArrowheads="1" noChangeShapeType="1" noTextEdit="1"/>
              </p:cNvSpPr>
              <p:nvPr/>
            </p:nvSpPr>
            <p:spPr>
              <a:xfrm>
                <a:off x="3496346" y="796307"/>
                <a:ext cx="724276" cy="459869"/>
              </a:xfrm>
              <a:prstGeom prst="rect">
                <a:avLst/>
              </a:prstGeom>
              <a:blipFill rotWithShape="0">
                <a:blip r:embed="rId22"/>
                <a:stretch>
                  <a:fillRect l="-847" r="-59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p:cNvSpPr/>
              <p:nvPr/>
            </p:nvSpPr>
            <p:spPr>
              <a:xfrm>
                <a:off x="4875306" y="796307"/>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(3)</m:t>
                          </m:r>
                        </m:sup>
                      </m:sSup>
                    </m:oMath>
                  </m:oMathPara>
                </a14:m>
                <a:endParaRPr lang="en-US" sz="2200" dirty="0" smtClean="0">
                  <a:latin typeface="Avenir Book" charset="0"/>
                  <a:ea typeface="Avenir Book" charset="0"/>
                  <a:cs typeface="Avenir Book" charset="0"/>
                </a:endParaRPr>
              </a:p>
            </p:txBody>
          </p:sp>
        </mc:Choice>
        <mc:Fallback xmlns="">
          <p:sp>
            <p:nvSpPr>
              <p:cNvPr id="75" name="Rectangle 74"/>
              <p:cNvSpPr>
                <a:spLocks noRot="1" noChangeAspect="1" noMove="1" noResize="1" noEditPoints="1" noAdjustHandles="1" noChangeArrowheads="1" noChangeShapeType="1" noTextEdit="1"/>
              </p:cNvSpPr>
              <p:nvPr/>
            </p:nvSpPr>
            <p:spPr>
              <a:xfrm>
                <a:off x="4875306" y="796307"/>
                <a:ext cx="724276" cy="459869"/>
              </a:xfrm>
              <a:prstGeom prst="rect">
                <a:avLst/>
              </a:prstGeom>
              <a:blipFill rotWithShape="0">
                <a:blip r:embed="rId23"/>
                <a:stretch>
                  <a:fillRect l="-840" r="-5042"/>
                </a:stretch>
              </a:blipFill>
            </p:spPr>
            <p:txBody>
              <a:bodyPr/>
              <a:lstStyle/>
              <a:p>
                <a:r>
                  <a:rPr lang="en-US">
                    <a:noFill/>
                  </a:rPr>
                  <a:t> </a:t>
                </a:r>
              </a:p>
            </p:txBody>
          </p:sp>
        </mc:Fallback>
      </mc:AlternateContent>
      <p:sp>
        <p:nvSpPr>
          <p:cNvPr id="77" name="object 2"/>
          <p:cNvSpPr txBox="1"/>
          <p:nvPr/>
        </p:nvSpPr>
        <p:spPr>
          <a:xfrm>
            <a:off x="6242509" y="914179"/>
            <a:ext cx="685985" cy="307777"/>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000" dirty="0" smtClean="0">
                <a:latin typeface="Avenir Book" charset="0"/>
                <a:ea typeface="Avenir Book" charset="0"/>
                <a:cs typeface="Avenir Book" charset="0"/>
              </a:rPr>
              <a:t>Want:</a:t>
            </a:r>
            <a:endParaRPr lang="en-US" sz="2000" dirty="0">
              <a:latin typeface="Avenir Book" charset="0"/>
              <a:ea typeface="Avenir Book" charset="0"/>
              <a:cs typeface="Avenir Book" charset="0"/>
            </a:endParaRPr>
          </a:p>
        </p:txBody>
      </p:sp>
    </p:spTree>
    <p:extLst>
      <p:ext uri="{BB962C8B-B14F-4D97-AF65-F5344CB8AC3E}">
        <p14:creationId xmlns:p14="http://schemas.microsoft.com/office/powerpoint/2010/main" val="3039447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a:latin typeface="Avenir Book" charset="0"/>
                <a:ea typeface="Avenir Book" charset="0"/>
                <a:cs typeface="Avenir Book" charset="0"/>
              </a:rPr>
              <a:t>Backpropagation</a:t>
            </a: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Rectangle 72"/>
              <p:cNvSpPr/>
              <p:nvPr/>
            </p:nvSpPr>
            <p:spPr>
              <a:xfrm>
                <a:off x="1977317" y="814454"/>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(1)</m:t>
                          </m:r>
                        </m:sup>
                      </m:sSup>
                    </m:oMath>
                  </m:oMathPara>
                </a14:m>
                <a:endParaRPr lang="en-US" sz="2200" dirty="0" smtClean="0">
                  <a:latin typeface="Avenir Book" charset="0"/>
                  <a:ea typeface="Avenir Book" charset="0"/>
                  <a:cs typeface="Avenir Book" charset="0"/>
                </a:endParaRPr>
              </a:p>
            </p:txBody>
          </p:sp>
        </mc:Choice>
        <mc:Fallback xmlns="">
          <p:sp>
            <p:nvSpPr>
              <p:cNvPr id="73" name="Rectangle 72"/>
              <p:cNvSpPr>
                <a:spLocks noRot="1" noChangeAspect="1" noMove="1" noResize="1" noEditPoints="1" noAdjustHandles="1" noChangeArrowheads="1" noChangeShapeType="1" noTextEdit="1"/>
              </p:cNvSpPr>
              <p:nvPr/>
            </p:nvSpPr>
            <p:spPr>
              <a:xfrm>
                <a:off x="1977317" y="814454"/>
                <a:ext cx="724276" cy="459869"/>
              </a:xfrm>
              <a:prstGeom prst="rect">
                <a:avLst/>
              </a:prstGeom>
              <a:blipFill rotWithShape="0">
                <a:blip r:embed="rId20"/>
                <a:stretch>
                  <a:fillRect l="-840" r="-50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p:cNvSpPr/>
              <p:nvPr/>
            </p:nvSpPr>
            <p:spPr>
              <a:xfrm>
                <a:off x="3496346" y="796307"/>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(2)</m:t>
                          </m:r>
                        </m:sup>
                      </m:sSup>
                    </m:oMath>
                  </m:oMathPara>
                </a14:m>
                <a:endParaRPr lang="en-US" sz="2200" dirty="0" smtClean="0">
                  <a:latin typeface="Avenir Book" charset="0"/>
                  <a:ea typeface="Avenir Book" charset="0"/>
                  <a:cs typeface="Avenir Book" charset="0"/>
                </a:endParaRPr>
              </a:p>
            </p:txBody>
          </p:sp>
        </mc:Choice>
        <mc:Fallback xmlns="">
          <p:sp>
            <p:nvSpPr>
              <p:cNvPr id="74" name="Rectangle 73"/>
              <p:cNvSpPr>
                <a:spLocks noRot="1" noChangeAspect="1" noMove="1" noResize="1" noEditPoints="1" noAdjustHandles="1" noChangeArrowheads="1" noChangeShapeType="1" noTextEdit="1"/>
              </p:cNvSpPr>
              <p:nvPr/>
            </p:nvSpPr>
            <p:spPr>
              <a:xfrm>
                <a:off x="3496346" y="796307"/>
                <a:ext cx="724276" cy="459869"/>
              </a:xfrm>
              <a:prstGeom prst="rect">
                <a:avLst/>
              </a:prstGeom>
              <a:blipFill rotWithShape="0">
                <a:blip r:embed="rId21"/>
                <a:stretch>
                  <a:fillRect l="-847" r="-59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p:cNvSpPr/>
              <p:nvPr/>
            </p:nvSpPr>
            <p:spPr>
              <a:xfrm>
                <a:off x="4735237" y="699693"/>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3</m:t>
                              </m:r>
                            </m:sub>
                          </m:sSub>
                        </m:den>
                      </m:f>
                    </m:oMath>
                  </m:oMathPara>
                </a14:m>
                <a:endParaRPr lang="en-US" sz="2200" dirty="0" smtClean="0">
                  <a:latin typeface="Avenir Book" charset="0"/>
                  <a:ea typeface="Avenir Book" charset="0"/>
                  <a:cs typeface="Avenir Book" charset="0"/>
                </a:endParaRPr>
              </a:p>
            </p:txBody>
          </p:sp>
        </mc:Choice>
        <mc:Fallback xmlns="">
          <p:sp>
            <p:nvSpPr>
              <p:cNvPr id="77" name="Rectangle 76"/>
              <p:cNvSpPr>
                <a:spLocks noRot="1" noChangeAspect="1" noMove="1" noResize="1" noEditPoints="1" noAdjustHandles="1" noChangeArrowheads="1" noChangeShapeType="1" noTextEdit="1"/>
              </p:cNvSpPr>
              <p:nvPr/>
            </p:nvSpPr>
            <p:spPr>
              <a:xfrm>
                <a:off x="4735237" y="699693"/>
                <a:ext cx="1271949" cy="739946"/>
              </a:xfrm>
              <a:prstGeom prst="rect">
                <a:avLst/>
              </a:prstGeom>
              <a:blipFill rotWithShape="0">
                <a:blip r:embed="rId2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526940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a:latin typeface="Avenir Book" charset="0"/>
                <a:ea typeface="Avenir Book" charset="0"/>
                <a:cs typeface="Avenir Book" charset="0"/>
              </a:rPr>
              <a:t>Backpropagation</a:t>
            </a: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Rectangle 76"/>
              <p:cNvSpPr/>
              <p:nvPr/>
            </p:nvSpPr>
            <p:spPr>
              <a:xfrm>
                <a:off x="4735237" y="699693"/>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3</m:t>
                              </m:r>
                            </m:sub>
                          </m:sSub>
                        </m:den>
                      </m:f>
                    </m:oMath>
                  </m:oMathPara>
                </a14:m>
                <a:endParaRPr lang="en-US" sz="2200" dirty="0" smtClean="0">
                  <a:latin typeface="Avenir Book" charset="0"/>
                  <a:ea typeface="Avenir Book" charset="0"/>
                  <a:cs typeface="Avenir Book" charset="0"/>
                </a:endParaRPr>
              </a:p>
            </p:txBody>
          </p:sp>
        </mc:Choice>
        <mc:Fallback xmlns="">
          <p:sp>
            <p:nvSpPr>
              <p:cNvPr id="77" name="Rectangle 76"/>
              <p:cNvSpPr>
                <a:spLocks noRot="1" noChangeAspect="1" noMove="1" noResize="1" noEditPoints="1" noAdjustHandles="1" noChangeArrowheads="1" noChangeShapeType="1" noTextEdit="1"/>
              </p:cNvSpPr>
              <p:nvPr/>
            </p:nvSpPr>
            <p:spPr>
              <a:xfrm>
                <a:off x="4735237" y="699693"/>
                <a:ext cx="1271949" cy="739946"/>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p:cNvSpPr/>
              <p:nvPr/>
            </p:nvSpPr>
            <p:spPr>
              <a:xfrm>
                <a:off x="3345317" y="631684"/>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2</m:t>
                              </m:r>
                            </m:sub>
                          </m:sSub>
                        </m:den>
                      </m:f>
                    </m:oMath>
                  </m:oMathPara>
                </a14:m>
                <a:endParaRPr lang="en-US" sz="2200" dirty="0" smtClean="0">
                  <a:latin typeface="Avenir Book" charset="0"/>
                  <a:ea typeface="Avenir Book" charset="0"/>
                  <a:cs typeface="Avenir Book" charset="0"/>
                </a:endParaRPr>
              </a:p>
            </p:txBody>
          </p:sp>
        </mc:Choice>
        <mc:Fallback xmlns="">
          <p:sp>
            <p:nvSpPr>
              <p:cNvPr id="75" name="Rectangle 74"/>
              <p:cNvSpPr>
                <a:spLocks noRot="1" noChangeAspect="1" noMove="1" noResize="1" noEditPoints="1" noAdjustHandles="1" noChangeArrowheads="1" noChangeShapeType="1" noTextEdit="1"/>
              </p:cNvSpPr>
              <p:nvPr/>
            </p:nvSpPr>
            <p:spPr>
              <a:xfrm>
                <a:off x="3345317" y="631684"/>
                <a:ext cx="1271949" cy="739946"/>
              </a:xfrm>
              <a:prstGeom prst="rect">
                <a:avLst/>
              </a:prstGeom>
              <a:blipFill rotWithShape="0">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1977317" y="814454"/>
                <a:ext cx="724276" cy="459869"/>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sSup>
                        <m:sSupPr>
                          <m:ctrlPr>
                            <a:rPr lang="en-US" sz="2200" i="1" smtClean="0">
                              <a:latin typeface="Cambria Math" panose="02040503050406030204" pitchFamily="18" charset="0"/>
                              <a:ea typeface="Avenir Book" charset="0"/>
                              <a:cs typeface="Avenir Book" charset="0"/>
                            </a:rPr>
                          </m:ctrlPr>
                        </m:sSupPr>
                        <m:e>
                          <m:r>
                            <a:rPr lang="en-US" sz="2200" b="0" i="1" smtClean="0">
                              <a:latin typeface="Cambria Math" charset="0"/>
                              <a:ea typeface="Avenir Book" charset="0"/>
                              <a:cs typeface="Avenir Book" charset="0"/>
                            </a:rPr>
                            <m:t>𝑊</m:t>
                          </m:r>
                        </m:e>
                        <m:sup>
                          <m:r>
                            <a:rPr lang="en-US" sz="2200" b="0" i="1" smtClean="0">
                              <a:latin typeface="Cambria Math" charset="0"/>
                              <a:ea typeface="Avenir Book" charset="0"/>
                              <a:cs typeface="Avenir Book" charset="0"/>
                            </a:rPr>
                            <m:t>(1)</m:t>
                          </m:r>
                        </m:sup>
                      </m:sSup>
                    </m:oMath>
                  </m:oMathPara>
                </a14:m>
                <a:endParaRPr lang="en-US" sz="2200" dirty="0" smtClean="0">
                  <a:latin typeface="Avenir Book" charset="0"/>
                  <a:ea typeface="Avenir Book" charset="0"/>
                  <a:cs typeface="Avenir Book" charset="0"/>
                </a:endParaRPr>
              </a:p>
            </p:txBody>
          </p:sp>
        </mc:Choice>
        <mc:Fallback xmlns="">
          <p:sp>
            <p:nvSpPr>
              <p:cNvPr id="85" name="Rectangle 84"/>
              <p:cNvSpPr>
                <a:spLocks noRot="1" noChangeAspect="1" noMove="1" noResize="1" noEditPoints="1" noAdjustHandles="1" noChangeArrowheads="1" noChangeShapeType="1" noTextEdit="1"/>
              </p:cNvSpPr>
              <p:nvPr/>
            </p:nvSpPr>
            <p:spPr>
              <a:xfrm>
                <a:off x="1977317" y="814454"/>
                <a:ext cx="724276" cy="459869"/>
              </a:xfrm>
              <a:prstGeom prst="rect">
                <a:avLst/>
              </a:prstGeom>
              <a:blipFill rotWithShape="0">
                <a:blip r:embed="rId22"/>
                <a:stretch>
                  <a:fillRect l="-840" r="-5042"/>
                </a:stretch>
              </a:blipFill>
            </p:spPr>
            <p:txBody>
              <a:bodyPr/>
              <a:lstStyle/>
              <a:p>
                <a:r>
                  <a:rPr lang="en-US">
                    <a:noFill/>
                  </a:rPr>
                  <a:t> </a:t>
                </a:r>
              </a:p>
            </p:txBody>
          </p:sp>
        </mc:Fallback>
      </mc:AlternateContent>
    </p:spTree>
    <p:extLst>
      <p:ext uri="{BB962C8B-B14F-4D97-AF65-F5344CB8AC3E}">
        <p14:creationId xmlns:p14="http://schemas.microsoft.com/office/powerpoint/2010/main" val="17327784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 name="Oval 153"/>
              <p:cNvSpPr/>
              <p:nvPr/>
            </p:nvSpPr>
            <p:spPr>
              <a:xfrm>
                <a:off x="7139121" y="1487602"/>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r>
                            <a:rPr lang="en-US" sz="2000" b="0" i="1" smtClean="0">
                              <a:solidFill>
                                <a:srgbClr val="FF0000"/>
                              </a:solidFill>
                              <a:latin typeface="Cambria Math" charset="0"/>
                            </a:rPr>
                            <m:t>𝑦</m:t>
                          </m:r>
                        </m:e>
                        <m:sub>
                          <m:r>
                            <a:rPr lang="en-US" sz="2000" b="0" i="1" smtClean="0">
                              <a:solidFill>
                                <a:srgbClr val="FF0000"/>
                              </a:solidFill>
                              <a:latin typeface="Cambria Math" charset="0"/>
                            </a:rPr>
                            <m:t>1</m:t>
                          </m:r>
                        </m:sub>
                      </m:sSub>
                    </m:oMath>
                  </m:oMathPara>
                </a14:m>
                <a:endParaRPr lang="en-US" sz="2000" dirty="0">
                  <a:solidFill>
                    <a:schemeClr val="tx2"/>
                  </a:solidFill>
                </a:endParaRPr>
              </a:p>
            </p:txBody>
          </p:sp>
        </mc:Choice>
        <mc:Fallback xmlns="">
          <p:sp>
            <p:nvSpPr>
              <p:cNvPr id="154" name="Oval 153"/>
              <p:cNvSpPr>
                <a:spLocks noRot="1" noChangeAspect="1" noMove="1" noResize="1" noEditPoints="1" noAdjustHandles="1" noChangeArrowheads="1" noChangeShapeType="1" noTextEdit="1"/>
              </p:cNvSpPr>
              <p:nvPr/>
            </p:nvSpPr>
            <p:spPr>
              <a:xfrm>
                <a:off x="7139121" y="1487602"/>
                <a:ext cx="818126" cy="784128"/>
              </a:xfrm>
              <a:prstGeom prst="ellipse">
                <a:avLst/>
              </a:prstGeom>
              <a:blipFill rotWithShape="0">
                <a:blip r:embed="rId3"/>
                <a:stretch>
                  <a:fillRect t="-21805" b="-38346"/>
                </a:stretch>
              </a:blipFill>
            </p:spPr>
            <p:txBody>
              <a:bodyPr/>
              <a:lstStyle/>
              <a:p>
                <a:r>
                  <a:rPr lang="en-US">
                    <a:noFill/>
                  </a:rPr>
                  <a:t> </a:t>
                </a:r>
              </a:p>
            </p:txBody>
          </p:sp>
        </mc:Fallback>
      </mc:AlternateContent>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a:latin typeface="Avenir Book" charset="0"/>
                <a:ea typeface="Avenir Book" charset="0"/>
                <a:cs typeface="Avenir Book" charset="0"/>
              </a:rPr>
              <a:t>Backpropagation</a:t>
            </a:r>
          </a:p>
        </p:txBody>
      </p:sp>
      <p:grpSp>
        <p:nvGrpSpPr>
          <p:cNvPr id="24" name="Group 23"/>
          <p:cNvGrpSpPr/>
          <p:nvPr/>
        </p:nvGrpSpPr>
        <p:grpSpPr>
          <a:xfrm>
            <a:off x="597644" y="1013856"/>
            <a:ext cx="6541477" cy="3681046"/>
            <a:chOff x="3292616" y="4559300"/>
            <a:chExt cx="3655628" cy="2146300"/>
          </a:xfrm>
        </p:grpSpPr>
        <mc:AlternateContent xmlns:mc="http://schemas.openxmlformats.org/markup-compatibility/2006" xmlns:a14="http://schemas.microsoft.com/office/drawing/2010/main">
          <mc:Choice Requires="a14">
            <p:sp>
              <p:nvSpPr>
                <p:cNvPr id="25" name="Oval 2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𝑥</m:t>
                            </m:r>
                          </m:e>
                          <m:sub>
                            <m:r>
                              <a:rPr lang="en-US" sz="2400" b="0" i="1" smtClean="0">
                                <a:solidFill>
                                  <a:srgbClr val="FF0000"/>
                                </a:solidFill>
                                <a:latin typeface="Cambria Math" charset="0"/>
                              </a:rPr>
                              <m:t>1</m:t>
                            </m:r>
                          </m:sub>
                        </m:sSub>
                      </m:oMath>
                    </m:oMathPara>
                  </a14:m>
                  <a:endParaRPr lang="en-US" sz="2400" dirty="0">
                    <a:solidFill>
                      <a:schemeClr val="tx2"/>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4"/>
                  <a:stretch>
                    <a:fillRect l="-2899"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2</m:t>
                            </m:r>
                          </m:sub>
                        </m:sSub>
                      </m:oMath>
                    </m:oMathPara>
                  </a14:m>
                  <a:endParaRPr lang="en-US" sz="2400" dirty="0"/>
                </a:p>
              </p:txBody>
            </p:sp>
          </mc:Choice>
          <mc:Fallback xmlns="">
            <p:sp>
              <p:nvSpPr>
                <p:cNvPr id="26" name="Oval 2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5"/>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charset="0"/>
                              </a:rPr>
                              <m:t> </m:t>
                            </m:r>
                            <m:r>
                              <a:rPr lang="en-US" sz="2400" i="1">
                                <a:solidFill>
                                  <a:srgbClr val="FF0000"/>
                                </a:solidFill>
                                <a:latin typeface="Cambria Math" charset="0"/>
                              </a:rPr>
                              <m:t>𝑥</m:t>
                            </m:r>
                          </m:e>
                          <m:sub>
                            <m:r>
                              <a:rPr lang="en-US" sz="2400" b="0" i="1" smtClean="0">
                                <a:solidFill>
                                  <a:srgbClr val="FF0000"/>
                                </a:solidFill>
                                <a:latin typeface="Cambria Math" charset="0"/>
                              </a:rPr>
                              <m:t>3</m:t>
                            </m:r>
                          </m:sub>
                        </m:sSub>
                      </m:oMath>
                    </m:oMathPara>
                  </a14:m>
                  <a:endParaRPr lang="en-US" sz="2400" dirty="0"/>
                </a:p>
              </p:txBody>
            </p:sp>
          </mc:Choice>
          <mc:Fallback xmlns="">
            <p:sp>
              <p:nvSpPr>
                <p:cNvPr id="27" name="Oval 2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6"/>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8" name="Oval 2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7"/>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29" name="Oval 2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8"/>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9"/>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val 3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1" name="Oval 3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10"/>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2" name="Oval 3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11"/>
                  <a:stretch>
                    <a:fillRect t="-36364" b="-55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12"/>
                  <a:stretch>
                    <a:fillRect t="-36090"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ea typeface="Cambria Math" charset="0"/>
                            <a:cs typeface="Cambria Math" charset="0"/>
                          </a:rPr>
                          <m:t> </m:t>
                        </m:r>
                        <m:r>
                          <a:rPr lang="en-US" sz="2400" b="0" i="1" smtClean="0">
                            <a:solidFill>
                              <a:srgbClr val="FF0000"/>
                            </a:solidFill>
                            <a:latin typeface="Cambria Math" charset="0"/>
                            <a:ea typeface="Cambria Math" charset="0"/>
                            <a:cs typeface="Cambria Math" charset="0"/>
                          </a:rPr>
                          <m:t>  </m:t>
                        </m:r>
                        <m:r>
                          <a:rPr lang="en-US" sz="2400" i="1">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13"/>
                  <a:stretch>
                    <a:fillRect t="-36364" b="-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smtClean="0">
                            <a:solidFill>
                              <a:srgbClr val="FF0000"/>
                            </a:solidFill>
                            <a:latin typeface="Cambria Math" charset="0"/>
                            <a:ea typeface="Cambria Math" charset="0"/>
                            <a:cs typeface="Cambria Math" charset="0"/>
                          </a:rPr>
                          <m:t>𝜎</m:t>
                        </m:r>
                      </m:oMath>
                    </m:oMathPara>
                  </a14:m>
                  <a:endParaRPr lang="en-US" sz="2400" dirty="0">
                    <a:solidFill>
                      <a:srgbClr val="FF0000"/>
                    </a:solidFill>
                  </a:endParaRPr>
                </a:p>
              </p:txBody>
            </p:sp>
          </mc:Choice>
          <mc:Fallback xmlns="">
            <p:sp>
              <p:nvSpPr>
                <p:cNvPr id="35" name="Oval 3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14"/>
                  <a:stretch>
                    <a:fillRect t="-35338" b="-54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smtClean="0">
                                    <a:solidFill>
                                      <a:srgbClr val="FF0000"/>
                                    </a:solidFill>
                                    <a:latin typeface="Cambria Math" panose="02040503050406030204" pitchFamily="18" charset="0"/>
                                  </a:rPr>
                                </m:ctrlPr>
                              </m:accPr>
                              <m:e>
                                <m:r>
                                  <a:rPr lang="en-US" sz="2000" b="0" i="1" smtClean="0">
                                    <a:solidFill>
                                      <a:srgbClr val="FF0000"/>
                                    </a:solidFill>
                                    <a:latin typeface="Cambria Math" charset="0"/>
                                  </a:rPr>
                                  <m:t>𝑦</m:t>
                                </m:r>
                              </m:e>
                            </m:acc>
                          </m:e>
                          <m:sub>
                            <m:r>
                              <a:rPr lang="en-US" sz="2000" i="1">
                                <a:solidFill>
                                  <a:srgbClr val="FF0000"/>
                                </a:solidFill>
                                <a:latin typeface="Cambria Math" charset="0"/>
                              </a:rPr>
                              <m:t>1</m:t>
                            </m:r>
                          </m:sub>
                        </m:sSub>
                      </m:oMath>
                    </m:oMathPara>
                  </a14:m>
                  <a:endParaRPr lang="en-US" sz="2000" dirty="0">
                    <a:solidFill>
                      <a:schemeClr val="tx2"/>
                    </a:solidFill>
                  </a:endParaRPr>
                </a:p>
              </p:txBody>
            </p:sp>
          </mc:Choice>
          <mc:Fallback xmlns="">
            <p:sp>
              <p:nvSpPr>
                <p:cNvPr id="36" name="Oval 3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15"/>
                  <a:stretch>
                    <a:fillRect t="-21805" r="-7246" b="-38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37" name="Oval 3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16"/>
                  <a:stretch>
                    <a:fillRect t="-22727" r="-3623"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charset="0"/>
                              </a:rPr>
                              <m:t>   </m:t>
                            </m:r>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charset="0"/>
                                  </a:rPr>
                                  <m:t>𝑦</m:t>
                                </m:r>
                              </m:e>
                            </m:acc>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38" name="Oval 3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7"/>
                  <a:stretch>
                    <a:fillRect t="-21805" r="-3623" b="-38346"/>
                  </a:stretch>
                </a:blipFill>
              </p:spPr>
              <p:txBody>
                <a:bodyPr/>
                <a:lstStyle/>
                <a:p>
                  <a:r>
                    <a:rPr lang="en-US">
                      <a:noFill/>
                    </a:rPr>
                    <a:t> </a:t>
                  </a:r>
                </a:p>
              </p:txBody>
            </p:sp>
          </mc:Fallback>
        </mc:AlternateContent>
        <p:cxnSp>
          <p:nvCxnSpPr>
            <p:cNvPr id="39" name="Straight Arrow Connector 38"/>
            <p:cNvCxnSpPr>
              <a:stCxn id="28" idx="6"/>
              <a:endCxn id="34"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8" idx="6"/>
              <a:endCxn id="33"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32"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6"/>
              <a:endCxn id="31"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9" idx="6"/>
              <a:endCxn id="34"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9" idx="6"/>
              <a:endCxn id="33"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9" idx="6"/>
              <a:endCxn id="32"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6"/>
              <a:endCxn id="31"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0" idx="6"/>
              <a:endCxn id="34"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0" idx="6"/>
              <a:endCxn id="33"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0" idx="6"/>
              <a:endCxn id="32"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0" idx="6"/>
              <a:endCxn id="31"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a:endCxn id="38"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4" idx="6"/>
              <a:endCxn id="37"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a:endCxn id="36"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4" idx="6"/>
              <a:endCxn id="35"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6"/>
              <a:endCxn id="38"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3" idx="6"/>
              <a:endCxn id="37"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3" idx="6"/>
              <a:endCxn id="36"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6"/>
              <a:endCxn id="35"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2" idx="6"/>
              <a:endCxn id="38"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2" idx="6"/>
              <a:endCxn id="37"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2" idx="6"/>
              <a:endCxn id="36"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2" idx="6"/>
              <a:endCxn id="35"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1" idx="6"/>
              <a:endCxn id="38"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7"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1" idx="7"/>
              <a:endCxn id="36"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1" idx="6"/>
              <a:endCxn id="35"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8" idx="6"/>
              <a:endCxn id="43"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8" idx="6"/>
              <a:endCxn id="44"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8" idx="6"/>
              <a:endCxn id="45"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37" idx="6"/>
              <a:endCxn id="43"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37" idx="6"/>
              <a:endCxn id="44"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37" idx="6"/>
              <a:endCxn id="45"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6"/>
              <a:endCxn id="45"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36" idx="6"/>
              <a:endCxn id="43"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6" idx="6"/>
              <a:endCxn id="44"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35" idx="6"/>
              <a:endCxn id="43"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5" idx="6"/>
              <a:endCxn id="44"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35" idx="6"/>
              <a:endCxn id="45"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28"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endCxn id="29"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30"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43" idx="6"/>
            </p:cNvCxnSpPr>
            <p:nvPr/>
          </p:nvCxnSpPr>
          <p:spPr>
            <a:xfrm>
              <a:off x="6508648" y="5064126"/>
              <a:ext cx="439596"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Oval 154"/>
              <p:cNvSpPr/>
              <p:nvPr/>
            </p:nvSpPr>
            <p:spPr>
              <a:xfrm>
                <a:off x="7139121" y="2503156"/>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2</m:t>
                          </m:r>
                        </m:sub>
                      </m:sSub>
                    </m:oMath>
                  </m:oMathPara>
                </a14:m>
                <a:endParaRPr lang="en-US" sz="2000" dirty="0">
                  <a:solidFill>
                    <a:srgbClr val="FF0000"/>
                  </a:solidFill>
                </a:endParaRPr>
              </a:p>
            </p:txBody>
          </p:sp>
        </mc:Choice>
        <mc:Fallback xmlns="">
          <p:sp>
            <p:nvSpPr>
              <p:cNvPr id="155" name="Oval 154"/>
              <p:cNvSpPr>
                <a:spLocks noRot="1" noChangeAspect="1" noMove="1" noResize="1" noEditPoints="1" noAdjustHandles="1" noChangeArrowheads="1" noChangeShapeType="1" noTextEdit="1"/>
              </p:cNvSpPr>
              <p:nvPr/>
            </p:nvSpPr>
            <p:spPr>
              <a:xfrm>
                <a:off x="7139121" y="2503156"/>
                <a:ext cx="818126" cy="784128"/>
              </a:xfrm>
              <a:prstGeom prst="ellipse">
                <a:avLst/>
              </a:prstGeom>
              <a:blipFill rotWithShape="0">
                <a:blip r:embed="rId18"/>
                <a:stretch>
                  <a:fillRect t="-22727" b="-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7139121" y="3518710"/>
                <a:ext cx="818126" cy="78412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  </m:t>
                          </m:r>
                          <m:r>
                            <a:rPr lang="en-US" sz="2000" i="1">
                              <a:solidFill>
                                <a:srgbClr val="FF0000"/>
                              </a:solidFill>
                              <a:latin typeface="Cambria Math" charset="0"/>
                            </a:rPr>
                            <m:t>𝑦</m:t>
                          </m:r>
                        </m:e>
                        <m:sub>
                          <m:r>
                            <a:rPr lang="en-US" sz="2000" b="0" i="1" smtClean="0">
                              <a:solidFill>
                                <a:srgbClr val="FF0000"/>
                              </a:solidFill>
                              <a:latin typeface="Cambria Math" charset="0"/>
                            </a:rPr>
                            <m:t>3</m:t>
                          </m:r>
                        </m:sub>
                      </m:sSub>
                    </m:oMath>
                  </m:oMathPara>
                </a14:m>
                <a:endParaRPr lang="en-US" sz="2000" dirty="0">
                  <a:solidFill>
                    <a:schemeClr val="tx2"/>
                  </a:solidFill>
                </a:endParaRPr>
              </a:p>
            </p:txBody>
          </p:sp>
        </mc:Choice>
        <mc:Fallback xmlns="">
          <p:sp>
            <p:nvSpPr>
              <p:cNvPr id="156" name="Oval 155"/>
              <p:cNvSpPr>
                <a:spLocks noRot="1" noChangeAspect="1" noMove="1" noResize="1" noEditPoints="1" noAdjustHandles="1" noChangeArrowheads="1" noChangeShapeType="1" noTextEdit="1"/>
              </p:cNvSpPr>
              <p:nvPr/>
            </p:nvSpPr>
            <p:spPr>
              <a:xfrm>
                <a:off x="7139121" y="3518710"/>
                <a:ext cx="818126" cy="784128"/>
              </a:xfrm>
              <a:prstGeom prst="ellipse">
                <a:avLst/>
              </a:prstGeom>
              <a:blipFill rotWithShape="0">
                <a:blip r:embed="rId19"/>
                <a:stretch>
                  <a:fillRect t="-21805" b="-38346"/>
                </a:stretch>
              </a:blipFill>
            </p:spPr>
            <p:txBody>
              <a:bodyPr/>
              <a:lstStyle/>
              <a:p>
                <a:r>
                  <a:rPr lang="en-US">
                    <a:noFill/>
                  </a:rPr>
                  <a:t> </a:t>
                </a:r>
              </a:p>
            </p:txBody>
          </p:sp>
        </mc:Fallback>
      </mc:AlternateContent>
      <p:cxnSp>
        <p:nvCxnSpPr>
          <p:cNvPr id="157" name="Straight Arrow Connector 156"/>
          <p:cNvCxnSpPr/>
          <p:nvPr/>
        </p:nvCxnSpPr>
        <p:spPr>
          <a:xfrm>
            <a:off x="6352496" y="2898247"/>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a:off x="6352496" y="3920401"/>
            <a:ext cx="786625" cy="0"/>
          </a:xfrm>
          <a:prstGeom prst="straightConnector1">
            <a:avLst/>
          </a:prstGeom>
          <a:ln>
            <a:headEnd type="diamond"/>
            <a:tailEnd type="diamo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Rectangle 76"/>
              <p:cNvSpPr/>
              <p:nvPr/>
            </p:nvSpPr>
            <p:spPr>
              <a:xfrm>
                <a:off x="4735237" y="699693"/>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3</m:t>
                              </m:r>
                            </m:sub>
                          </m:sSub>
                        </m:den>
                      </m:f>
                    </m:oMath>
                  </m:oMathPara>
                </a14:m>
                <a:endParaRPr lang="en-US" sz="2200" dirty="0" smtClean="0">
                  <a:latin typeface="Avenir Book" charset="0"/>
                  <a:ea typeface="Avenir Book" charset="0"/>
                  <a:cs typeface="Avenir Book" charset="0"/>
                </a:endParaRPr>
              </a:p>
            </p:txBody>
          </p:sp>
        </mc:Choice>
        <mc:Fallback xmlns="">
          <p:sp>
            <p:nvSpPr>
              <p:cNvPr id="77" name="Rectangle 76"/>
              <p:cNvSpPr>
                <a:spLocks noRot="1" noChangeAspect="1" noMove="1" noResize="1" noEditPoints="1" noAdjustHandles="1" noChangeArrowheads="1" noChangeShapeType="1" noTextEdit="1"/>
              </p:cNvSpPr>
              <p:nvPr/>
            </p:nvSpPr>
            <p:spPr>
              <a:xfrm>
                <a:off x="4735237" y="699693"/>
                <a:ext cx="1271949" cy="739946"/>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p:cNvSpPr/>
              <p:nvPr/>
            </p:nvSpPr>
            <p:spPr>
              <a:xfrm>
                <a:off x="3345317" y="631684"/>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2</m:t>
                              </m:r>
                            </m:sub>
                          </m:sSub>
                        </m:den>
                      </m:f>
                    </m:oMath>
                  </m:oMathPara>
                </a14:m>
                <a:endParaRPr lang="en-US" sz="2200" dirty="0" smtClean="0">
                  <a:latin typeface="Avenir Book" charset="0"/>
                  <a:ea typeface="Avenir Book" charset="0"/>
                  <a:cs typeface="Avenir Book" charset="0"/>
                </a:endParaRPr>
              </a:p>
            </p:txBody>
          </p:sp>
        </mc:Choice>
        <mc:Fallback xmlns="">
          <p:sp>
            <p:nvSpPr>
              <p:cNvPr id="75" name="Rectangle 74"/>
              <p:cNvSpPr>
                <a:spLocks noRot="1" noChangeAspect="1" noMove="1" noResize="1" noEditPoints="1" noAdjustHandles="1" noChangeArrowheads="1" noChangeShapeType="1" noTextEdit="1"/>
              </p:cNvSpPr>
              <p:nvPr/>
            </p:nvSpPr>
            <p:spPr>
              <a:xfrm>
                <a:off x="3345317" y="631684"/>
                <a:ext cx="1271949" cy="739946"/>
              </a:xfrm>
              <a:prstGeom prst="rect">
                <a:avLst/>
              </a:prstGeom>
              <a:blipFill rotWithShape="0">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Rectangle 75"/>
              <p:cNvSpPr/>
              <p:nvPr/>
            </p:nvSpPr>
            <p:spPr>
              <a:xfrm>
                <a:off x="1659317" y="641018"/>
                <a:ext cx="1271949" cy="739946"/>
              </a:xfrm>
              <a:prstGeom prst="rect">
                <a:avLst/>
              </a:prstGeom>
            </p:spPr>
            <p:txBody>
              <a:bodyPr wrap="square">
                <a:spAutoFit/>
              </a:bodyPr>
              <a:lstStyle/>
              <a:p>
                <a:pPr marL="457200" lvl="0" indent="-457200">
                  <a:defRPr/>
                </a:pPr>
                <a14:m>
                  <m:oMathPara xmlns:m="http://schemas.openxmlformats.org/officeDocument/2006/math">
                    <m:oMathParaPr>
                      <m:jc m:val="left"/>
                    </m:oMathParaPr>
                    <m:oMath xmlns:m="http://schemas.openxmlformats.org/officeDocument/2006/math">
                      <m:f>
                        <m:fPr>
                          <m:ctrlPr>
                            <a:rPr lang="bg-BG" sz="2000" b="0" i="1" smtClean="0">
                              <a:solidFill>
                                <a:srgbClr val="C00000"/>
                              </a:solidFill>
                              <a:latin typeface="Cambria Math" panose="02040503050406030204" pitchFamily="18" charset="0"/>
                              <a:ea typeface="Cambria Math" charset="0"/>
                              <a:cs typeface="Cambria Math" charset="0"/>
                            </a:rPr>
                          </m:ctrlPr>
                        </m:fPr>
                        <m:num>
                          <m:r>
                            <a:rPr lang="bg-BG" sz="2000" b="0" i="1" smtClean="0">
                              <a:solidFill>
                                <a:srgbClr val="C00000"/>
                              </a:solidFill>
                              <a:latin typeface="Cambria Math" charset="0"/>
                              <a:ea typeface="Cambria Math" charset="0"/>
                              <a:cs typeface="Cambria Math" charset="0"/>
                            </a:rPr>
                            <m:t>𝜕</m:t>
                          </m:r>
                          <m:r>
                            <a:rPr lang="en-US" sz="2000" i="1">
                              <a:solidFill>
                                <a:srgbClr val="C00000"/>
                              </a:solidFill>
                              <a:latin typeface="Cambria Math" charset="0"/>
                              <a:ea typeface="Cambria Math" charset="0"/>
                              <a:cs typeface="Cambria Math" charset="0"/>
                            </a:rPr>
                            <m:t>𝐽</m:t>
                          </m:r>
                          <m:d>
                            <m:dPr>
                              <m:ctrlPr>
                                <a:rPr lang="is-IS" sz="2000" i="1">
                                  <a:solidFill>
                                    <a:srgbClr val="C00000"/>
                                  </a:solidFill>
                                  <a:latin typeface="Cambria Math" panose="02040503050406030204" pitchFamily="18" charset="0"/>
                                  <a:ea typeface="Cambria Math" charset="0"/>
                                  <a:cs typeface="Cambria Math" charset="0"/>
                                </a:rPr>
                              </m:ctrlPr>
                            </m:d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r>
                                <a:rPr lang="en-US" sz="2000" i="1">
                                  <a:solidFill>
                                    <a:srgbClr val="C00000"/>
                                  </a:solidFill>
                                  <a:latin typeface="Cambria Math" charset="0"/>
                                  <a:ea typeface="Cambria Math" charset="0"/>
                                  <a:cs typeface="Cambria Math" charset="0"/>
                                </a:rPr>
                                <m:t>,</m:t>
                              </m:r>
                              <m:acc>
                                <m:accPr>
                                  <m:chr m:val="̂"/>
                                  <m:ctrlPr>
                                    <a:rPr lang="en-US" sz="2000" i="1">
                                      <a:solidFill>
                                        <a:srgbClr val="C00000"/>
                                      </a:solidFill>
                                      <a:latin typeface="Cambria Math" panose="02040503050406030204" pitchFamily="18" charset="0"/>
                                      <a:ea typeface="Cambria Math" charset="0"/>
                                      <a:cs typeface="Cambria Math" charset="0"/>
                                    </a:rPr>
                                  </m:ctrlPr>
                                </m:accPr>
                                <m:e>
                                  <m:sSub>
                                    <m:sSubPr>
                                      <m:ctrlPr>
                                        <a:rPr lang="en-US" sz="2000" i="1">
                                          <a:solidFill>
                                            <a:srgbClr val="C00000"/>
                                          </a:solidFill>
                                          <a:latin typeface="Cambria Math" panose="02040503050406030204" pitchFamily="18" charset="0"/>
                                          <a:ea typeface="Cambria Math" charset="0"/>
                                          <a:cs typeface="Cambria Math" charset="0"/>
                                        </a:rPr>
                                      </m:ctrlPr>
                                    </m:sSubPr>
                                    <m:e>
                                      <m:r>
                                        <a:rPr lang="en-US" sz="2000" i="1">
                                          <a:solidFill>
                                            <a:srgbClr val="C00000"/>
                                          </a:solidFill>
                                          <a:latin typeface="Cambria Math" charset="0"/>
                                          <a:ea typeface="Cambria Math" charset="0"/>
                                          <a:cs typeface="Cambria Math" charset="0"/>
                                        </a:rPr>
                                        <m:t>𝑦</m:t>
                                      </m:r>
                                    </m:e>
                                    <m:sub>
                                      <m:r>
                                        <a:rPr lang="en-US" sz="2000" i="1">
                                          <a:solidFill>
                                            <a:srgbClr val="C00000"/>
                                          </a:solidFill>
                                          <a:latin typeface="Cambria Math" charset="0"/>
                                          <a:ea typeface="Cambria Math" charset="0"/>
                                          <a:cs typeface="Cambria Math" charset="0"/>
                                        </a:rPr>
                                        <m:t>𝑖</m:t>
                                      </m:r>
                                    </m:sub>
                                  </m:sSub>
                                </m:e>
                              </m:acc>
                            </m:e>
                          </m:d>
                        </m:num>
                        <m:den>
                          <m:r>
                            <a:rPr lang="bg-BG" sz="2000" b="0" i="1" smtClean="0">
                              <a:solidFill>
                                <a:srgbClr val="C00000"/>
                              </a:solidFill>
                              <a:latin typeface="Cambria Math" charset="0"/>
                              <a:ea typeface="Cambria Math" charset="0"/>
                              <a:cs typeface="Cambria Math" charset="0"/>
                            </a:rPr>
                            <m:t>𝜕</m:t>
                          </m:r>
                          <m:sSub>
                            <m:sSubPr>
                              <m:ctrlPr>
                                <a:rPr lang="en-US" sz="2000" b="0" i="1" smtClean="0">
                                  <a:solidFill>
                                    <a:srgbClr val="C00000"/>
                                  </a:solidFill>
                                  <a:latin typeface="Cambria Math" panose="02040503050406030204" pitchFamily="18" charset="0"/>
                                  <a:ea typeface="Cambria Math" charset="0"/>
                                  <a:cs typeface="Cambria Math" charset="0"/>
                                </a:rPr>
                              </m:ctrlPr>
                            </m:sSubPr>
                            <m:e>
                              <m:r>
                                <a:rPr lang="en-US" sz="2000" b="0" i="1" smtClean="0">
                                  <a:solidFill>
                                    <a:srgbClr val="C00000"/>
                                  </a:solidFill>
                                  <a:latin typeface="Cambria Math" charset="0"/>
                                  <a:ea typeface="Cambria Math" charset="0"/>
                                  <a:cs typeface="Cambria Math" charset="0"/>
                                </a:rPr>
                                <m:t>𝑊</m:t>
                              </m:r>
                            </m:e>
                            <m:sub>
                              <m:r>
                                <a:rPr lang="en-US" sz="2000" b="0" i="1" smtClean="0">
                                  <a:solidFill>
                                    <a:srgbClr val="C00000"/>
                                  </a:solidFill>
                                  <a:latin typeface="Cambria Math" charset="0"/>
                                  <a:ea typeface="Cambria Math" charset="0"/>
                                  <a:cs typeface="Cambria Math" charset="0"/>
                                </a:rPr>
                                <m:t>1</m:t>
                              </m:r>
                            </m:sub>
                          </m:sSub>
                        </m:den>
                      </m:f>
                    </m:oMath>
                  </m:oMathPara>
                </a14:m>
                <a:endParaRPr lang="en-US" sz="2200" dirty="0" smtClean="0">
                  <a:latin typeface="Avenir Book" charset="0"/>
                  <a:ea typeface="Avenir Book" charset="0"/>
                  <a:cs typeface="Avenir Book" charset="0"/>
                </a:endParaRPr>
              </a:p>
            </p:txBody>
          </p:sp>
        </mc:Choice>
        <mc:Fallback xmlns="">
          <p:sp>
            <p:nvSpPr>
              <p:cNvPr id="76" name="Rectangle 75"/>
              <p:cNvSpPr>
                <a:spLocks noRot="1" noChangeAspect="1" noMove="1" noResize="1" noEditPoints="1" noAdjustHandles="1" noChangeArrowheads="1" noChangeShapeType="1" noTextEdit="1"/>
              </p:cNvSpPr>
              <p:nvPr/>
            </p:nvSpPr>
            <p:spPr>
              <a:xfrm>
                <a:off x="1659317" y="641018"/>
                <a:ext cx="1271949" cy="739946"/>
              </a:xfrm>
              <a:prstGeom prst="rect">
                <a:avLst/>
              </a:prstGeom>
              <a:blipFill rotWithShape="0">
                <a:blip r:embed="rId2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64670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How have we trained before?</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solidFill>
                  <a:schemeClr val="tx1"/>
                </a:solidFill>
                <a:latin typeface="Avenir Book" charset="0"/>
                <a:ea typeface="Avenir Book" charset="0"/>
                <a:cs typeface="Avenir Book" charset="0"/>
              </a:rPr>
              <a:t>Gradient Descent!</a:t>
            </a:r>
          </a:p>
          <a:p>
            <a:pPr marL="457200" lvl="0" indent="-457200">
              <a:buFont typeface="Arial" charset="0"/>
              <a:buChar char="•"/>
            </a:pPr>
            <a:endParaRPr lang="en-US" sz="2200" dirty="0" smtClean="0">
              <a:solidFill>
                <a:schemeClr val="tx1"/>
              </a:solidFill>
              <a:latin typeface="Avenir Book" charset="0"/>
              <a:ea typeface="Avenir Book" charset="0"/>
              <a:cs typeface="Avenir Book" charset="0"/>
            </a:endParaRP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Make prediction</a:t>
            </a: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Calculate Loss</a:t>
            </a:r>
          </a:p>
          <a:p>
            <a:pPr marL="457200" lvl="4" indent="-457200">
              <a:buFont typeface="+mj-lt"/>
              <a:buAutoNum type="arabicPeriod"/>
            </a:pPr>
            <a:r>
              <a:rPr lang="en-US" sz="2200" dirty="0" smtClean="0">
                <a:solidFill>
                  <a:schemeClr val="tx1"/>
                </a:solidFill>
                <a:latin typeface="Avenir Book" charset="0"/>
                <a:ea typeface="Avenir Book" charset="0"/>
                <a:cs typeface="Avenir Book" charset="0"/>
              </a:rPr>
              <a:t>Calculate gradient of the loss function </a:t>
            </a:r>
            <a:r>
              <a:rPr lang="en-US" sz="2200" dirty="0" err="1" smtClean="0">
                <a:solidFill>
                  <a:schemeClr val="tx1"/>
                </a:solidFill>
                <a:latin typeface="Avenir Book" charset="0"/>
                <a:ea typeface="Avenir Book" charset="0"/>
                <a:cs typeface="Avenir Book" charset="0"/>
              </a:rPr>
              <a:t>w.r.t</a:t>
            </a:r>
            <a:r>
              <a:rPr lang="en-US" sz="2200" dirty="0" smtClean="0">
                <a:solidFill>
                  <a:schemeClr val="tx1"/>
                </a:solidFill>
                <a:latin typeface="Avenir Book" charset="0"/>
                <a:ea typeface="Avenir Book" charset="0"/>
                <a:cs typeface="Avenir Book" charset="0"/>
              </a:rPr>
              <a:t>. parameters</a:t>
            </a:r>
          </a:p>
          <a:p>
            <a:pPr marL="457200" lvl="4" indent="-457200">
              <a:buFont typeface="+mj-lt"/>
              <a:buAutoNum type="arabicPeriod"/>
            </a:pPr>
            <a:r>
              <a:rPr lang="en-US" sz="2200" dirty="0" smtClean="0">
                <a:solidFill>
                  <a:schemeClr val="accent3">
                    <a:lumMod val="75000"/>
                  </a:schemeClr>
                </a:solidFill>
                <a:latin typeface="Avenir Book" charset="0"/>
                <a:ea typeface="Avenir Book" charset="0"/>
                <a:cs typeface="Avenir Book" charset="0"/>
              </a:rPr>
              <a:t>Update parameters by taking a step in the opposite direction</a:t>
            </a:r>
          </a:p>
          <a:p>
            <a:pPr marL="457200" lvl="4" indent="-457200">
              <a:buFont typeface="+mj-lt"/>
              <a:buAutoNum type="arabicPeriod"/>
            </a:pPr>
            <a:r>
              <a:rPr lang="en-US" sz="2200" dirty="0" smtClean="0">
                <a:solidFill>
                  <a:schemeClr val="tx1">
                    <a:lumMod val="95000"/>
                    <a:lumOff val="5000"/>
                  </a:schemeClr>
                </a:solidFill>
                <a:latin typeface="Avenir Book" charset="0"/>
                <a:ea typeface="Avenir Book" charset="0"/>
                <a:cs typeface="Avenir Book" charset="0"/>
              </a:rPr>
              <a:t>Iterate</a:t>
            </a:r>
            <a:endParaRPr lang="en-US" sz="2200" dirty="0">
              <a:solidFill>
                <a:schemeClr val="tx1">
                  <a:lumMod val="95000"/>
                  <a:lumOff val="5000"/>
                </a:schemeClr>
              </a:solidFill>
              <a:latin typeface="Avenir Book" charset="0"/>
              <a:ea typeface="Avenir Book" charset="0"/>
              <a:cs typeface="Avenir Book" charset="0"/>
            </a:endParaRPr>
          </a:p>
        </p:txBody>
      </p:sp>
    </p:spTree>
    <p:extLst>
      <p:ext uri="{BB962C8B-B14F-4D97-AF65-F5344CB8AC3E}">
        <p14:creationId xmlns:p14="http://schemas.microsoft.com/office/powerpoint/2010/main" val="16829897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Vanishing Gradients</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5" name="TextBox 4"/>
              <p:cNvSpPr txBox="1"/>
              <p:nvPr/>
            </p:nvSpPr>
            <p:spPr>
              <a:xfrm>
                <a:off x="398352" y="1544212"/>
                <a:ext cx="6977084" cy="7083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2400" b="0" i="1" smtClean="0">
                              <a:latin typeface="Cambria Math" panose="02040503050406030204" pitchFamily="18" charset="0"/>
                              <a:ea typeface="Euphemia" charset="0"/>
                              <a:cs typeface="Euphemia" charset="0"/>
                            </a:rPr>
                          </m:ctrlPr>
                        </m:fPr>
                        <m:num>
                          <m:r>
                            <a:rPr lang="mr-IN"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𝐽</m:t>
                          </m:r>
                        </m:num>
                        <m:den>
                          <m:r>
                            <a:rPr lang="mr-IN"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r>
                                <a:rPr lang="en-US" sz="2400" b="0" i="1" smtClean="0">
                                  <a:latin typeface="Cambria Math" charset="0"/>
                                  <a:ea typeface="Euphemia" charset="0"/>
                                  <a:cs typeface="Euphemia" charset="0"/>
                                </a:rPr>
                                <m:t>(1)</m:t>
                              </m:r>
                            </m:sup>
                          </m:sSup>
                        </m:den>
                      </m:f>
                      <m:r>
                        <a:rPr lang="en-US" sz="2400" b="0" i="1" smtClean="0">
                          <a:latin typeface="Cambria Math" charset="0"/>
                          <a:ea typeface="Euphemia" charset="0"/>
                          <a:cs typeface="Euphemia" charset="0"/>
                        </a:rPr>
                        <m:t>=</m:t>
                      </m:r>
                      <m:d>
                        <m:dPr>
                          <m:ctrlPr>
                            <a:rPr lang="en-US" sz="2400" i="1">
                              <a:latin typeface="Cambria Math" panose="02040503050406030204" pitchFamily="18" charset="0"/>
                              <a:ea typeface="Euphemia" charset="0"/>
                              <a:cs typeface="Euphemia" charset="0"/>
                            </a:rPr>
                          </m:ctrlPr>
                        </m:dPr>
                        <m:e>
                          <m:acc>
                            <m:accPr>
                              <m:chr m:val="̂"/>
                              <m:ctrlPr>
                                <a:rPr lang="en-US" sz="2400" i="1">
                                  <a:latin typeface="Cambria Math" panose="02040503050406030204" pitchFamily="18" charset="0"/>
                                  <a:ea typeface="Euphemia" charset="0"/>
                                  <a:cs typeface="Euphemia" charset="0"/>
                                </a:rPr>
                              </m:ctrlPr>
                            </m:accPr>
                            <m:e>
                              <m:r>
                                <a:rPr lang="en-US" sz="2400" i="1">
                                  <a:latin typeface="Cambria Math" charset="0"/>
                                  <a:ea typeface="Euphemia" charset="0"/>
                                  <a:cs typeface="Euphemia" charset="0"/>
                                </a:rPr>
                                <m:t>𝑦</m:t>
                              </m:r>
                            </m:e>
                          </m:acc>
                          <m:r>
                            <a:rPr lang="en-US" sz="2400" i="1">
                              <a:latin typeface="Cambria Math" charset="0"/>
                              <a:ea typeface="Euphemia" charset="0"/>
                              <a:cs typeface="Euphemia" charset="0"/>
                            </a:rPr>
                            <m:t>−</m:t>
                          </m:r>
                          <m:r>
                            <a:rPr lang="en-US" sz="2400" i="1">
                              <a:latin typeface="Cambria Math" charset="0"/>
                              <a:ea typeface="Euphemia" charset="0"/>
                              <a:cs typeface="Euphemia" charset="0"/>
                            </a:rPr>
                            <m:t>𝑦</m:t>
                          </m:r>
                        </m:e>
                      </m:d>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3</m:t>
                              </m:r>
                            </m:e>
                          </m:d>
                        </m:sup>
                      </m:sSup>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𝜎</m:t>
                          </m:r>
                        </m:e>
                        <m:sup>
                          <m:r>
                            <a:rPr lang="en-US" sz="2400" b="0" i="1" smtClean="0">
                              <a:latin typeface="Cambria Math" charset="0"/>
                              <a:ea typeface="Euphemia" charset="0"/>
                              <a:cs typeface="Euphemia" charset="0"/>
                            </a:rPr>
                            <m:t>′</m:t>
                          </m:r>
                        </m:sup>
                      </m:sSup>
                      <m:d>
                        <m:dPr>
                          <m:ctrlPr>
                            <a:rPr lang="en-US" sz="2400" b="0" i="1" smtClean="0">
                              <a:latin typeface="Cambria Math" panose="02040503050406030204" pitchFamily="18" charset="0"/>
                              <a:ea typeface="Euphemia" charset="0"/>
                              <a:cs typeface="Euphemia" charset="0"/>
                            </a:rPr>
                          </m:ctrlPr>
                        </m:dPr>
                        <m:e>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𝑧</m:t>
                              </m:r>
                            </m:e>
                            <m:sup>
                              <m:r>
                                <a:rPr lang="en-US" sz="2400" b="0" i="1" smtClean="0">
                                  <a:latin typeface="Cambria Math" charset="0"/>
                                  <a:ea typeface="Euphemia" charset="0"/>
                                  <a:cs typeface="Euphemia" charset="0"/>
                                </a:rPr>
                                <m:t>(3)</m:t>
                              </m:r>
                            </m:sup>
                          </m:sSup>
                        </m:e>
                      </m:d>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2</m:t>
                              </m:r>
                            </m:e>
                          </m:d>
                        </m:sup>
                      </m:sSup>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𝜎</m:t>
                          </m:r>
                        </m:e>
                        <m:sup>
                          <m:r>
                            <a:rPr lang="en-US" sz="2400" b="0" i="1" smtClean="0">
                              <a:latin typeface="Cambria Math" charset="0"/>
                              <a:ea typeface="Euphemia" charset="0"/>
                              <a:cs typeface="Euphemia" charset="0"/>
                            </a:rPr>
                            <m:t>′</m:t>
                          </m:r>
                        </m:sup>
                      </m:sSup>
                      <m:d>
                        <m:dPr>
                          <m:ctrlPr>
                            <a:rPr lang="en-US" sz="2400" b="0" i="1" smtClean="0">
                              <a:latin typeface="Cambria Math" panose="02040503050406030204" pitchFamily="18" charset="0"/>
                              <a:ea typeface="Euphemia" charset="0"/>
                              <a:cs typeface="Euphemia" charset="0"/>
                            </a:rPr>
                          </m:ctrlPr>
                        </m:dPr>
                        <m:e>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𝑧</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2</m:t>
                                  </m:r>
                                </m:e>
                              </m:d>
                            </m:sup>
                          </m:sSup>
                        </m:e>
                      </m:d>
                      <m:r>
                        <a:rPr lang="en-US"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𝑋</m:t>
                      </m:r>
                    </m:oMath>
                  </m:oMathPara>
                </a14:m>
                <a:endParaRPr lang="en-US" sz="2400" dirty="0">
                  <a:latin typeface="Euphemia" charset="0"/>
                  <a:ea typeface="Euphemia" charset="0"/>
                  <a:cs typeface="Euphemia"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98352" y="1544212"/>
                <a:ext cx="6977084" cy="708399"/>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98352" y="2570063"/>
                <a:ext cx="8089156" cy="2132507"/>
              </a:xfrm>
              <a:prstGeom prst="rect">
                <a:avLst/>
              </a:prstGeom>
            </p:spPr>
            <p:txBody>
              <a:bodyPr wrap="square">
                <a:spAutoFit/>
              </a:bodyPr>
              <a:lstStyle/>
              <a:p>
                <a:pPr marL="457200" indent="-457200">
                  <a:buFont typeface="Arial" charset="0"/>
                  <a:buChar char="•"/>
                </a:pPr>
                <a:r>
                  <a:rPr lang="en-US" sz="2200" dirty="0" smtClean="0">
                    <a:latin typeface="Avenir Book" charset="0"/>
                    <a:ea typeface="Avenir Book" charset="0"/>
                    <a:cs typeface="Avenir Book" charset="0"/>
                  </a:rPr>
                  <a:t>Remember: </a:t>
                </a:r>
                <a14:m>
                  <m:oMath xmlns:m="http://schemas.openxmlformats.org/officeDocument/2006/math">
                    <m:r>
                      <a:rPr lang="en-US" sz="2000" i="1">
                        <a:latin typeface="Cambria Math" charset="0"/>
                        <a:ea typeface="Cambria Math" charset="0"/>
                        <a:cs typeface="Cambria Math" charset="0"/>
                      </a:rPr>
                      <m:t>𝜎</m:t>
                    </m:r>
                    <m:r>
                      <a:rPr lang="en-US" sz="2000" i="1">
                        <a:latin typeface="Cambria Math" charset="0"/>
                        <a:ea typeface="Cambria Math" charset="0"/>
                        <a:cs typeface="Cambria Math" charset="0"/>
                      </a:rPr>
                      <m:t>′</m:t>
                    </m:r>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𝑧</m:t>
                        </m:r>
                      </m:e>
                    </m:d>
                  </m:oMath>
                </a14:m>
                <a:r>
                  <a:rPr lang="en-US" sz="2000" dirty="0">
                    <a:ea typeface="Cambria Math" charset="0"/>
                    <a:cs typeface="Cambria Math" charset="0"/>
                  </a:rPr>
                  <a:t> = </a:t>
                </a:r>
                <a14:m>
                  <m:oMath xmlns:m="http://schemas.openxmlformats.org/officeDocument/2006/math">
                    <m:r>
                      <a:rPr lang="en-US" sz="2000" i="1">
                        <a:latin typeface="Cambria Math" charset="0"/>
                        <a:ea typeface="Cambria Math" charset="0"/>
                        <a:cs typeface="Cambria Math" charset="0"/>
                      </a:rPr>
                      <m:t>𝜎</m:t>
                    </m:r>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𝑧</m:t>
                        </m:r>
                      </m:e>
                    </m:d>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1−</m:t>
                        </m:r>
                        <m:r>
                          <a:rPr lang="en-US" sz="2000" i="1">
                            <a:latin typeface="Cambria Math" charset="0"/>
                            <a:ea typeface="Cambria Math" charset="0"/>
                            <a:cs typeface="Cambria Math" charset="0"/>
                          </a:rPr>
                          <m:t>𝜎</m:t>
                        </m:r>
                        <m:d>
                          <m:dPr>
                            <m:ctrlPr>
                              <a:rPr lang="en-US" sz="2000" i="1">
                                <a:latin typeface="Cambria Math" panose="02040503050406030204" pitchFamily="18" charset="0"/>
                                <a:ea typeface="Cambria Math" charset="0"/>
                                <a:cs typeface="Cambria Math" charset="0"/>
                              </a:rPr>
                            </m:ctrlPr>
                          </m:dPr>
                          <m:e>
                            <m:r>
                              <a:rPr lang="en-US" sz="2000" i="1">
                                <a:latin typeface="Cambria Math" charset="0"/>
                                <a:ea typeface="Cambria Math" charset="0"/>
                                <a:cs typeface="Cambria Math" charset="0"/>
                              </a:rPr>
                              <m:t>𝑧</m:t>
                            </m:r>
                          </m:e>
                        </m:d>
                      </m:e>
                    </m:d>
                    <m:r>
                      <a:rPr lang="en-US" sz="2000" i="1">
                        <a:latin typeface="Cambria Math" charset="0"/>
                        <a:ea typeface="Cambria Math" charset="0"/>
                        <a:cs typeface="Cambria Math" charset="0"/>
                      </a:rPr>
                      <m:t>≤</m:t>
                    </m:r>
                    <m:r>
                      <a:rPr lang="en-US" sz="2000" b="0" i="1" smtClean="0">
                        <a:latin typeface="Cambria Math" charset="0"/>
                        <a:ea typeface="Cambria Math" charset="0"/>
                        <a:cs typeface="Cambria Math" charset="0"/>
                      </a:rPr>
                      <m:t>.25</m:t>
                    </m:r>
                  </m:oMath>
                </a14:m>
                <a:r>
                  <a:rPr lang="en-US" sz="2000" dirty="0" smtClean="0"/>
                  <a:t> </a:t>
                </a:r>
                <a:r>
                  <a:rPr lang="en-US" sz="2200" dirty="0" smtClean="0">
                    <a:latin typeface="Avenir Book" charset="0"/>
                    <a:ea typeface="Avenir Book" charset="0"/>
                    <a:cs typeface="Avenir Book" charset="0"/>
                  </a:rPr>
                  <a:t> </a:t>
                </a:r>
              </a:p>
              <a:p>
                <a:pPr marL="457200" indent="-457200">
                  <a:buFont typeface="Arial" charset="0"/>
                  <a:buChar char="•"/>
                </a:pPr>
                <a:r>
                  <a:rPr lang="en-US" sz="2200" dirty="0" smtClean="0">
                    <a:latin typeface="Avenir Book" charset="0"/>
                    <a:ea typeface="Avenir Book" charset="0"/>
                    <a:cs typeface="Avenir Book" charset="0"/>
                  </a:rPr>
                  <a:t>As we have more layers, the gradient gets very small at the early layers.</a:t>
                </a:r>
              </a:p>
              <a:p>
                <a:pPr marL="457200" indent="-457200">
                  <a:buFont typeface="Arial" charset="0"/>
                  <a:buChar char="•"/>
                </a:pPr>
                <a:r>
                  <a:rPr lang="en-US" sz="2200" dirty="0" smtClean="0">
                    <a:latin typeface="Avenir Book" charset="0"/>
                    <a:ea typeface="Avenir Book" charset="0"/>
                    <a:cs typeface="Avenir Book" charset="0"/>
                  </a:rPr>
                  <a:t>This is known as the “vanishing gradient” problem.</a:t>
                </a:r>
              </a:p>
              <a:p>
                <a:pPr marL="457200" indent="-457200">
                  <a:buFont typeface="Arial" charset="0"/>
                  <a:buChar char="•"/>
                </a:pPr>
                <a:r>
                  <a:rPr lang="en-US" sz="2200" dirty="0" smtClean="0">
                    <a:latin typeface="Avenir Book" charset="0"/>
                    <a:ea typeface="Avenir Book" charset="0"/>
                    <a:cs typeface="Avenir Book" charset="0"/>
                  </a:rPr>
                  <a:t>For this reason, other activations (such as </a:t>
                </a:r>
                <a:r>
                  <a:rPr lang="en-US" sz="2200" dirty="0" err="1" smtClean="0">
                    <a:latin typeface="Avenir Book" charset="0"/>
                    <a:ea typeface="Avenir Book" charset="0"/>
                    <a:cs typeface="Avenir Book" charset="0"/>
                  </a:rPr>
                  <a:t>ReLU</a:t>
                </a:r>
                <a:r>
                  <a:rPr lang="en-US" sz="2200" dirty="0" smtClean="0">
                    <a:latin typeface="Avenir Book" charset="0"/>
                    <a:ea typeface="Avenir Book" charset="0"/>
                    <a:cs typeface="Avenir Book" charset="0"/>
                  </a:rPr>
                  <a:t>) have become more common.</a:t>
                </a:r>
              </a:p>
            </p:txBody>
          </p:sp>
        </mc:Choice>
        <mc:Fallback xmlns="">
          <p:sp>
            <p:nvSpPr>
              <p:cNvPr id="7" name="Rectangle 6"/>
              <p:cNvSpPr>
                <a:spLocks noRot="1" noChangeAspect="1" noMove="1" noResize="1" noEditPoints="1" noAdjustHandles="1" noChangeArrowheads="1" noChangeShapeType="1" noTextEdit="1"/>
              </p:cNvSpPr>
              <p:nvPr/>
            </p:nvSpPr>
            <p:spPr>
              <a:xfrm>
                <a:off x="398352" y="2570063"/>
                <a:ext cx="8089156" cy="2132507"/>
              </a:xfrm>
              <a:prstGeom prst="rect">
                <a:avLst/>
              </a:prstGeom>
              <a:blipFill rotWithShape="0">
                <a:blip r:embed="rId4"/>
                <a:stretch>
                  <a:fillRect l="-829" t="-1719" r="-603" b="-5158"/>
                </a:stretch>
              </a:blipFill>
            </p:spPr>
            <p:txBody>
              <a:bodyPr/>
              <a:lstStyle/>
              <a:p>
                <a:r>
                  <a:rPr lang="en-US">
                    <a:noFill/>
                  </a:rPr>
                  <a:t> </a:t>
                </a:r>
              </a:p>
            </p:txBody>
          </p:sp>
        </mc:Fallback>
      </mc:AlternateContent>
      <p:sp>
        <p:nvSpPr>
          <p:cNvPr id="8" name="Rectangle 7"/>
          <p:cNvSpPr/>
          <p:nvPr/>
        </p:nvSpPr>
        <p:spPr>
          <a:xfrm>
            <a:off x="398352" y="987447"/>
            <a:ext cx="8089156" cy="430887"/>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None/>
              <a:tabLst/>
              <a:defRPr/>
            </a:pPr>
            <a:r>
              <a:rPr lang="en-US" sz="2200" dirty="0" smtClean="0">
                <a:latin typeface="Avenir Book" charset="0"/>
                <a:ea typeface="Avenir Book" charset="0"/>
                <a:cs typeface="Avenir Book" charset="0"/>
              </a:rPr>
              <a:t>Recall that:</a:t>
            </a:r>
          </a:p>
        </p:txBody>
      </p:sp>
    </p:spTree>
    <p:extLst>
      <p:ext uri="{BB962C8B-B14F-4D97-AF65-F5344CB8AC3E}">
        <p14:creationId xmlns:p14="http://schemas.microsoft.com/office/powerpoint/2010/main" val="4932713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Other Activation Functions</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11906249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Hyperbolic Tangent Function</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4" name="TextBox 3"/>
              <p:cNvSpPr txBox="1"/>
              <p:nvPr/>
            </p:nvSpPr>
            <p:spPr>
              <a:xfrm>
                <a:off x="1071821" y="2031448"/>
                <a:ext cx="5911683" cy="12098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charset="0"/>
                          <a:ea typeface="Cambria Math" charset="0"/>
                          <a:cs typeface="Cambria Math" charset="0"/>
                        </a:rPr>
                        <m:t>𝑡𝑎𝑛h</m:t>
                      </m:r>
                      <m:d>
                        <m:dPr>
                          <m:ctrlPr>
                            <a:rPr lang="en-US" sz="3600" b="0" i="1" smtClean="0">
                              <a:latin typeface="Cambria Math" panose="02040503050406030204" pitchFamily="18" charset="0"/>
                              <a:ea typeface="Cambria Math" charset="0"/>
                              <a:cs typeface="Cambria Math" charset="0"/>
                            </a:rPr>
                          </m:ctrlPr>
                        </m:dPr>
                        <m:e>
                          <m:r>
                            <a:rPr lang="en-US" sz="3600" b="0" i="1" smtClean="0">
                              <a:latin typeface="Cambria Math" charset="0"/>
                              <a:ea typeface="Cambria Math" charset="0"/>
                              <a:cs typeface="Cambria Math" charset="0"/>
                            </a:rPr>
                            <m:t>𝑧</m:t>
                          </m:r>
                        </m:e>
                      </m:d>
                      <m:r>
                        <a:rPr lang="en-US" sz="3600" b="0" i="1" smtClean="0">
                          <a:latin typeface="Cambria Math" charset="0"/>
                          <a:ea typeface="Cambria Math" charset="0"/>
                          <a:cs typeface="Cambria Math" charset="0"/>
                        </a:rPr>
                        <m:t>=</m:t>
                      </m:r>
                      <m:f>
                        <m:fPr>
                          <m:ctrlPr>
                            <a:rPr lang="mr-IN" sz="3600" b="0" i="1" smtClean="0">
                              <a:latin typeface="Cambria Math" panose="02040503050406030204" pitchFamily="18" charset="0"/>
                              <a:ea typeface="Cambria Math" charset="0"/>
                              <a:cs typeface="Cambria Math" charset="0"/>
                            </a:rPr>
                          </m:ctrlPr>
                        </m:fPr>
                        <m:num>
                          <m:r>
                            <m:rPr>
                              <m:sty m:val="p"/>
                            </m:rPr>
                            <a:rPr lang="en-US" sz="3600" b="0" i="0" smtClean="0">
                              <a:latin typeface="Cambria Math" charset="0"/>
                              <a:ea typeface="Cambria Math" charset="0"/>
                              <a:cs typeface="Cambria Math" charset="0"/>
                            </a:rPr>
                            <m:t>sinh</m:t>
                          </m:r>
                          <m:r>
                            <a:rPr lang="en-US" sz="3600" b="0" i="1" smtClean="0">
                              <a:latin typeface="Cambria Math" charset="0"/>
                              <a:ea typeface="Cambria Math" charset="0"/>
                              <a:cs typeface="Cambria Math" charset="0"/>
                            </a:rPr>
                            <m:t>⁡(</m:t>
                          </m:r>
                          <m:r>
                            <a:rPr lang="en-US" sz="3600" b="0" i="1" smtClean="0">
                              <a:latin typeface="Cambria Math" charset="0"/>
                              <a:ea typeface="Cambria Math" charset="0"/>
                              <a:cs typeface="Cambria Math" charset="0"/>
                            </a:rPr>
                            <m:t>𝑧</m:t>
                          </m:r>
                          <m:r>
                            <a:rPr lang="en-US" sz="3600" b="0" i="1" smtClean="0">
                              <a:latin typeface="Cambria Math" charset="0"/>
                              <a:ea typeface="Cambria Math" charset="0"/>
                              <a:cs typeface="Cambria Math" charset="0"/>
                            </a:rPr>
                            <m:t>)</m:t>
                          </m:r>
                        </m:num>
                        <m:den>
                          <m:r>
                            <m:rPr>
                              <m:sty m:val="p"/>
                            </m:rPr>
                            <a:rPr lang="en-US" sz="3600" b="0" i="0" smtClean="0">
                              <a:latin typeface="Cambria Math" charset="0"/>
                              <a:ea typeface="Cambria Math" charset="0"/>
                              <a:cs typeface="Cambria Math" charset="0"/>
                            </a:rPr>
                            <m:t>cosh</m:t>
                          </m:r>
                          <m:r>
                            <a:rPr lang="en-US" sz="3600" b="0" i="1" smtClean="0">
                              <a:latin typeface="Cambria Math" charset="0"/>
                              <a:ea typeface="Cambria Math" charset="0"/>
                              <a:cs typeface="Cambria Math" charset="0"/>
                            </a:rPr>
                            <m:t>⁡(</m:t>
                          </m:r>
                          <m:r>
                            <a:rPr lang="en-US" sz="3600" b="0" i="1" smtClean="0">
                              <a:latin typeface="Cambria Math" charset="0"/>
                              <a:ea typeface="Cambria Math" charset="0"/>
                              <a:cs typeface="Cambria Math" charset="0"/>
                            </a:rPr>
                            <m:t>𝑧</m:t>
                          </m:r>
                          <m:r>
                            <a:rPr lang="en-US" sz="3600" b="0" i="1" smtClean="0">
                              <a:latin typeface="Cambria Math" charset="0"/>
                              <a:ea typeface="Cambria Math" charset="0"/>
                              <a:cs typeface="Cambria Math" charset="0"/>
                            </a:rPr>
                            <m:t>)</m:t>
                          </m:r>
                        </m:den>
                      </m:f>
                      <m:r>
                        <a:rPr lang="en-US" sz="3600" b="0" i="1" smtClean="0">
                          <a:latin typeface="Cambria Math" charset="0"/>
                          <a:ea typeface="Cambria Math" charset="0"/>
                          <a:cs typeface="Cambria Math" charset="0"/>
                        </a:rPr>
                        <m:t>=</m:t>
                      </m:r>
                      <m:f>
                        <m:fPr>
                          <m:ctrlPr>
                            <a:rPr lang="mr-IN" sz="3600" b="0" i="1" smtClean="0">
                              <a:latin typeface="Cambria Math" panose="02040503050406030204" pitchFamily="18" charset="0"/>
                              <a:ea typeface="Cambria Math" charset="0"/>
                              <a:cs typeface="Cambria Math" charset="0"/>
                            </a:rPr>
                          </m:ctrlPr>
                        </m:fPr>
                        <m:num>
                          <m:sSup>
                            <m:sSupPr>
                              <m:ctrlPr>
                                <a:rPr lang="en-US" sz="3600" b="0" i="1" smtClean="0">
                                  <a:latin typeface="Cambria Math" panose="02040503050406030204" pitchFamily="18" charset="0"/>
                                  <a:ea typeface="Cambria Math" charset="0"/>
                                  <a:cs typeface="Cambria Math" charset="0"/>
                                </a:rPr>
                              </m:ctrlPr>
                            </m:sSupPr>
                            <m:e>
                              <m:r>
                                <a:rPr lang="en-US" sz="3600" b="0" i="1" smtClean="0">
                                  <a:latin typeface="Cambria Math" charset="0"/>
                                  <a:ea typeface="Cambria Math" charset="0"/>
                                  <a:cs typeface="Cambria Math" charset="0"/>
                                </a:rPr>
                                <m:t>𝑒</m:t>
                              </m:r>
                            </m:e>
                            <m:sup>
                              <m:r>
                                <a:rPr lang="en-US" sz="3600" b="0" i="1" smtClean="0">
                                  <a:latin typeface="Cambria Math" charset="0"/>
                                  <a:ea typeface="Cambria Math" charset="0"/>
                                  <a:cs typeface="Cambria Math" charset="0"/>
                                </a:rPr>
                                <m:t>2</m:t>
                              </m:r>
                              <m:r>
                                <a:rPr lang="en-US" sz="3600" b="0" i="1" smtClean="0">
                                  <a:latin typeface="Cambria Math" charset="0"/>
                                  <a:ea typeface="Cambria Math" charset="0"/>
                                  <a:cs typeface="Cambria Math" charset="0"/>
                                </a:rPr>
                                <m:t>𝑥</m:t>
                              </m:r>
                            </m:sup>
                          </m:sSup>
                          <m:r>
                            <a:rPr lang="en-US" sz="3600" b="0" i="1" smtClean="0">
                              <a:latin typeface="Cambria Math" charset="0"/>
                              <a:ea typeface="Cambria Math" charset="0"/>
                              <a:cs typeface="Cambria Math" charset="0"/>
                            </a:rPr>
                            <m:t>−1</m:t>
                          </m:r>
                        </m:num>
                        <m:den>
                          <m:sSup>
                            <m:sSupPr>
                              <m:ctrlPr>
                                <a:rPr lang="en-US" sz="3600" b="0" i="1" smtClean="0">
                                  <a:latin typeface="Cambria Math" panose="02040503050406030204" pitchFamily="18" charset="0"/>
                                  <a:ea typeface="Cambria Math" charset="0"/>
                                  <a:cs typeface="Cambria Math" charset="0"/>
                                </a:rPr>
                              </m:ctrlPr>
                            </m:sSupPr>
                            <m:e>
                              <m:r>
                                <a:rPr lang="en-US" sz="3600" b="0" i="1" smtClean="0">
                                  <a:latin typeface="Cambria Math" charset="0"/>
                                  <a:ea typeface="Cambria Math" charset="0"/>
                                  <a:cs typeface="Cambria Math" charset="0"/>
                                </a:rPr>
                                <m:t>𝑒</m:t>
                              </m:r>
                            </m:e>
                            <m:sup>
                              <m:r>
                                <a:rPr lang="en-US" sz="3600" b="0" i="1" smtClean="0">
                                  <a:latin typeface="Cambria Math" charset="0"/>
                                  <a:ea typeface="Cambria Math" charset="0"/>
                                  <a:cs typeface="Cambria Math" charset="0"/>
                                </a:rPr>
                                <m:t>2</m:t>
                              </m:r>
                              <m:r>
                                <a:rPr lang="en-US" sz="3600" b="0" i="1" smtClean="0">
                                  <a:latin typeface="Cambria Math" charset="0"/>
                                  <a:ea typeface="Cambria Math" charset="0"/>
                                  <a:cs typeface="Cambria Math" charset="0"/>
                                </a:rPr>
                                <m:t>𝑥</m:t>
                              </m:r>
                            </m:sup>
                          </m:sSup>
                          <m:r>
                            <a:rPr lang="en-US" sz="3600" b="0" i="1" smtClean="0">
                              <a:latin typeface="Cambria Math" charset="0"/>
                              <a:ea typeface="Cambria Math" charset="0"/>
                              <a:cs typeface="Cambria Math" charset="0"/>
                            </a:rPr>
                            <m:t>+1</m:t>
                          </m:r>
                        </m:den>
                      </m:f>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1071821" y="2031448"/>
                <a:ext cx="5911683" cy="1209883"/>
              </a:xfrm>
              <a:prstGeom prst="rect">
                <a:avLst/>
              </a:prstGeom>
              <a:blipFill rotWithShape="0">
                <a:blip r:embed="rId3"/>
                <a:stretch>
                  <a:fillRect/>
                </a:stretch>
              </a:blipFill>
            </p:spPr>
            <p:txBody>
              <a:bodyPr/>
              <a:lstStyle/>
              <a:p>
                <a:r>
                  <a:rPr lang="en-US">
                    <a:noFill/>
                  </a:rPr>
                  <a:t> </a:t>
                </a:r>
              </a:p>
            </p:txBody>
          </p:sp>
        </mc:Fallback>
      </mc:AlternateContent>
      <p:sp>
        <p:nvSpPr>
          <p:cNvPr id="5" name="Rectangle 4"/>
          <p:cNvSpPr/>
          <p:nvPr/>
        </p:nvSpPr>
        <p:spPr>
          <a:xfrm>
            <a:off x="398352" y="1009922"/>
            <a:ext cx="8192764" cy="76944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Hyperbolic tangent function</a:t>
            </a: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Pronounced “</a:t>
            </a:r>
            <a:r>
              <a:rPr lang="en-US" sz="2200" dirty="0" err="1" smtClean="0">
                <a:latin typeface="Avenir Book" charset="0"/>
                <a:ea typeface="Avenir Book" charset="0"/>
                <a:cs typeface="Avenir Book" charset="0"/>
              </a:rPr>
              <a:t>tanch</a:t>
            </a:r>
            <a:r>
              <a:rPr lang="en-US" sz="2200" dirty="0" smtClean="0">
                <a:latin typeface="Avenir Book" charset="0"/>
                <a:ea typeface="Avenir Book" charset="0"/>
                <a:cs typeface="Avenir Book" charset="0"/>
              </a:rPr>
              <a:t>”</a:t>
            </a:r>
          </a:p>
        </p:txBody>
      </p:sp>
      <mc:AlternateContent xmlns:mc="http://schemas.openxmlformats.org/markup-compatibility/2006" xmlns:a14="http://schemas.microsoft.com/office/drawing/2010/main">
        <mc:Choice Requires="a14">
          <p:sp>
            <p:nvSpPr>
              <p:cNvPr id="6" name="TextBox 5"/>
              <p:cNvSpPr txBox="1"/>
              <p:nvPr/>
            </p:nvSpPr>
            <p:spPr>
              <a:xfrm>
                <a:off x="2759944" y="3516862"/>
                <a:ext cx="2276714"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𝑡𝑎𝑛h</m:t>
                      </m:r>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0</m:t>
                          </m:r>
                        </m:e>
                      </m:d>
                      <m:r>
                        <a:rPr lang="en-US" sz="2400" i="1">
                          <a:latin typeface="Cambria Math" charset="0"/>
                          <a:ea typeface="Cambria Math" charset="0"/>
                          <a:cs typeface="Cambria Math" charset="0"/>
                        </a:rPr>
                        <m:t>=0</m:t>
                      </m:r>
                    </m:oMath>
                  </m:oMathPara>
                </a14:m>
                <a:endParaRPr lang="en-US" sz="2400" dirty="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sz="2400" i="1">
                          <a:latin typeface="Cambria Math" charset="0"/>
                          <a:ea typeface="Cambria Math" charset="0"/>
                          <a:cs typeface="Cambria Math" charset="0"/>
                        </a:rPr>
                        <m:t>𝑡𝑎𝑛h</m:t>
                      </m:r>
                      <m:d>
                        <m:dPr>
                          <m:ctrlPr>
                            <a:rPr lang="en-US" sz="2400" i="1">
                              <a:latin typeface="Cambria Math" panose="02040503050406030204" pitchFamily="18" charset="0"/>
                              <a:ea typeface="Cambria Math" charset="0"/>
                              <a:cs typeface="Cambria Math" charset="0"/>
                            </a:rPr>
                          </m:ctrlPr>
                        </m:dPr>
                        <m:e>
                          <m:r>
                            <a:rPr lang="en-US" sz="2400" i="1" smtClean="0">
                              <a:latin typeface="Cambria Math" charset="0"/>
                              <a:ea typeface="Cambria Math" charset="0"/>
                              <a:cs typeface="Cambria Math" charset="0"/>
                            </a:rPr>
                            <m:t>∞</m:t>
                          </m:r>
                        </m:e>
                      </m:d>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1</m:t>
                      </m:r>
                    </m:oMath>
                  </m:oMathPara>
                </a14:m>
                <a:endParaRPr lang="en-US" sz="2400" dirty="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sz="2400" i="1">
                          <a:latin typeface="Cambria Math" charset="0"/>
                          <a:ea typeface="Cambria Math" charset="0"/>
                          <a:cs typeface="Cambria Math" charset="0"/>
                        </a:rPr>
                        <m:t>𝑡𝑎𝑛h</m:t>
                      </m:r>
                      <m:d>
                        <m:dPr>
                          <m:ctrlPr>
                            <a:rPr lang="en-US" sz="2400" i="1">
                              <a:latin typeface="Cambria Math" panose="02040503050406030204" pitchFamily="18" charset="0"/>
                              <a:ea typeface="Cambria Math" charset="0"/>
                              <a:cs typeface="Cambria Math" charset="0"/>
                            </a:rPr>
                          </m:ctrlPr>
                        </m:dPr>
                        <m:e>
                          <m:r>
                            <a:rPr lang="en-US" sz="2400" b="0" i="1" smtClean="0">
                              <a:latin typeface="Cambria Math" charset="0"/>
                              <a:ea typeface="Cambria Math" charset="0"/>
                              <a:cs typeface="Cambria Math" charset="0"/>
                            </a:rPr>
                            <m:t>−</m:t>
                          </m:r>
                          <m:r>
                            <a:rPr lang="en-US" sz="2400" i="1" smtClean="0">
                              <a:latin typeface="Cambria Math" charset="0"/>
                              <a:ea typeface="Cambria Math" charset="0"/>
                              <a:cs typeface="Cambria Math" charset="0"/>
                            </a:rPr>
                            <m:t>∞</m:t>
                          </m:r>
                        </m:e>
                      </m:d>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−1</m:t>
                      </m:r>
                    </m:oMath>
                  </m:oMathPara>
                </a14:m>
                <a:endParaRPr lang="en-US" sz="2400" dirty="0">
                  <a:ea typeface="Cambria Math" charset="0"/>
                  <a:cs typeface="Cambria Math"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759944" y="3516862"/>
                <a:ext cx="2276714" cy="1107996"/>
              </a:xfrm>
              <a:prstGeom prst="rect">
                <a:avLst/>
              </a:prstGeom>
              <a:blipFill rotWithShape="0">
                <a:blip r:embed="rId4"/>
                <a:stretch>
                  <a:fillRect l="-2681" r="-2413" b="-3297"/>
                </a:stretch>
              </a:blipFill>
            </p:spPr>
            <p:txBody>
              <a:bodyPr/>
              <a:lstStyle/>
              <a:p>
                <a:r>
                  <a:rPr lang="en-US">
                    <a:noFill/>
                  </a:rPr>
                  <a:t> </a:t>
                </a:r>
              </a:p>
            </p:txBody>
          </p:sp>
        </mc:Fallback>
      </mc:AlternateContent>
    </p:spTree>
    <p:extLst>
      <p:ext uri="{BB962C8B-B14F-4D97-AF65-F5344CB8AC3E}">
        <p14:creationId xmlns:p14="http://schemas.microsoft.com/office/powerpoint/2010/main" val="4498794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a:latin typeface="Avenir Book" charset="0"/>
                <a:ea typeface="Avenir Book" charset="0"/>
                <a:cs typeface="Avenir Book" charset="0"/>
              </a:rPr>
              <a:t>Hyperbolic Tangent Function</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511" y="1004562"/>
            <a:ext cx="7204341" cy="3647386"/>
          </a:xfrm>
          <a:prstGeom prst="rect">
            <a:avLst/>
          </a:prstGeom>
        </p:spPr>
      </p:pic>
    </p:spTree>
    <p:extLst>
      <p:ext uri="{BB962C8B-B14F-4D97-AF65-F5344CB8AC3E}">
        <p14:creationId xmlns:p14="http://schemas.microsoft.com/office/powerpoint/2010/main" val="9420839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Rectified Linear Unit (</a:t>
            </a:r>
            <a:r>
              <a:rPr lang="en-US" dirty="0" err="1" smtClean="0">
                <a:latin typeface="Avenir Book" charset="0"/>
                <a:ea typeface="Avenir Book" charset="0"/>
                <a:cs typeface="Avenir Book" charset="0"/>
              </a:rPr>
              <a:t>ReLU</a:t>
            </a:r>
            <a:r>
              <a:rPr lang="en-US" dirty="0" smtClean="0">
                <a:latin typeface="Avenir Book" charset="0"/>
                <a:ea typeface="Avenir Book" charset="0"/>
                <a:cs typeface="Avenir Book" charset="0"/>
              </a:rPr>
              <a:t>)</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4" name="TextBox 3"/>
              <p:cNvSpPr txBox="1"/>
              <p:nvPr/>
            </p:nvSpPr>
            <p:spPr>
              <a:xfrm>
                <a:off x="1021339" y="1053914"/>
                <a:ext cx="5030160" cy="123578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3600" b="0" i="1" smtClean="0">
                          <a:latin typeface="Cambria Math" charset="0"/>
                          <a:ea typeface="Cambria Math" charset="0"/>
                          <a:cs typeface="Cambria Math" charset="0"/>
                        </a:rPr>
                        <m:t>𝑅𝑒𝐿𝑈</m:t>
                      </m:r>
                      <m:d>
                        <m:dPr>
                          <m:ctrlPr>
                            <a:rPr lang="en-US" sz="3600" b="0" i="1" smtClean="0">
                              <a:latin typeface="Cambria Math" panose="02040503050406030204" pitchFamily="18" charset="0"/>
                              <a:ea typeface="Cambria Math" charset="0"/>
                              <a:cs typeface="Cambria Math" charset="0"/>
                            </a:rPr>
                          </m:ctrlPr>
                        </m:dPr>
                        <m:e>
                          <m:r>
                            <a:rPr lang="en-US" sz="3600" b="0" i="1" smtClean="0">
                              <a:latin typeface="Cambria Math" charset="0"/>
                              <a:ea typeface="Cambria Math" charset="0"/>
                              <a:cs typeface="Cambria Math" charset="0"/>
                            </a:rPr>
                            <m:t>𝑧</m:t>
                          </m:r>
                        </m:e>
                      </m:d>
                      <m:r>
                        <a:rPr lang="en-US" sz="3600" b="0" i="1" smtClean="0">
                          <a:latin typeface="Cambria Math" charset="0"/>
                          <a:ea typeface="Cambria Math" charset="0"/>
                          <a:cs typeface="Cambria Math" charset="0"/>
                        </a:rPr>
                        <m:t>=</m:t>
                      </m:r>
                      <m:d>
                        <m:dPr>
                          <m:begChr m:val="{"/>
                          <m:endChr m:val=""/>
                          <m:ctrlPr>
                            <a:rPr lang="mr-IN" sz="3600" i="1">
                              <a:latin typeface="Cambria Math" panose="02040503050406030204" pitchFamily="18" charset="0"/>
                              <a:ea typeface="Cambria Math" charset="0"/>
                              <a:cs typeface="Cambria Math" charset="0"/>
                            </a:rPr>
                          </m:ctrlPr>
                        </m:dPr>
                        <m:e>
                          <m:eqArr>
                            <m:eqArrPr>
                              <m:ctrlPr>
                                <a:rPr lang="mr-IN" sz="3600" i="1">
                                  <a:latin typeface="Cambria Math" panose="02040503050406030204" pitchFamily="18" charset="0"/>
                                  <a:ea typeface="Cambria Math" charset="0"/>
                                  <a:cs typeface="Cambria Math" charset="0"/>
                                </a:rPr>
                              </m:ctrlPr>
                            </m:eqArrPr>
                            <m:e>
                              <m:r>
                                <a:rPr lang="en-US" sz="3600" i="1">
                                  <a:latin typeface="Cambria Math" charset="0"/>
                                  <a:ea typeface="Cambria Math" charset="0"/>
                                  <a:cs typeface="Cambria Math" charset="0"/>
                                </a:rPr>
                                <m:t>0</m:t>
                              </m:r>
                              <m:r>
                                <a:rPr lang="mr-IN" sz="3600" i="1">
                                  <a:latin typeface="Cambria Math" charset="0"/>
                                  <a:ea typeface="Cambria Math" charset="0"/>
                                  <a:cs typeface="Cambria Math" charset="0"/>
                                </a:rPr>
                                <m:t>,  </m:t>
                              </m:r>
                              <m:r>
                                <a:rPr lang="en-US" sz="3600" i="1">
                                  <a:latin typeface="Cambria Math" charset="0"/>
                                  <a:ea typeface="Cambria Math" charset="0"/>
                                  <a:cs typeface="Cambria Math" charset="0"/>
                                </a:rPr>
                                <m:t>𝑧</m:t>
                              </m:r>
                              <m:r>
                                <a:rPr lang="mr-IN" sz="3600" i="1">
                                  <a:latin typeface="Cambria Math" charset="0"/>
                                  <a:ea typeface="Cambria Math" charset="0"/>
                                  <a:cs typeface="Cambria Math" charset="0"/>
                                </a:rPr>
                                <m:t>&lt;0</m:t>
                              </m:r>
                            </m:e>
                            <m:e>
                              <m:r>
                                <a:rPr lang="mr-IN" sz="3600" i="1">
                                  <a:latin typeface="Cambria Math" charset="0"/>
                                  <a:ea typeface="Cambria Math" charset="0"/>
                                  <a:cs typeface="Cambria Math" charset="0"/>
                                </a:rPr>
                                <m:t>&amp;</m:t>
                              </m:r>
                              <m:r>
                                <a:rPr lang="en-US" sz="3600" i="1">
                                  <a:latin typeface="Cambria Math" charset="0"/>
                                  <a:ea typeface="Cambria Math" charset="0"/>
                                  <a:cs typeface="Cambria Math" charset="0"/>
                                </a:rPr>
                                <m:t>𝑧</m:t>
                              </m:r>
                              <m:r>
                                <a:rPr lang="mr-IN" sz="3600" i="1">
                                  <a:latin typeface="Cambria Math" charset="0"/>
                                  <a:ea typeface="Cambria Math" charset="0"/>
                                  <a:cs typeface="Cambria Math" charset="0"/>
                                </a:rPr>
                                <m:t>,  </m:t>
                              </m:r>
                              <m:r>
                                <a:rPr lang="en-US" sz="3600" i="1">
                                  <a:latin typeface="Cambria Math" charset="0"/>
                                  <a:ea typeface="Cambria Math" charset="0"/>
                                  <a:cs typeface="Cambria Math" charset="0"/>
                                </a:rPr>
                                <m:t>𝑧</m:t>
                              </m:r>
                              <m:r>
                                <a:rPr lang="mr-IN" sz="3600" i="1">
                                  <a:latin typeface="Cambria Math" charset="0"/>
                                  <a:ea typeface="Cambria Math" charset="0"/>
                                  <a:cs typeface="Cambria Math" charset="0"/>
                                </a:rPr>
                                <m:t>≥0</m:t>
                              </m:r>
                            </m:e>
                          </m:eqArr>
                        </m:e>
                      </m:d>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1021339" y="1053914"/>
                <a:ext cx="5030160" cy="1235788"/>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714368" y="2350614"/>
                <a:ext cx="2659638"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3600" i="1" smtClean="0">
                              <a:latin typeface="Cambria Math" panose="02040503050406030204" pitchFamily="18" charset="0"/>
                              <a:ea typeface="Cambria Math" charset="0"/>
                              <a:cs typeface="Cambria Math" charset="0"/>
                            </a:rPr>
                          </m:ctrlPr>
                        </m:funcPr>
                        <m:fName>
                          <m:r>
                            <a:rPr lang="en-US" sz="3600" b="0" i="0" smtClean="0">
                              <a:latin typeface="Cambria Math" charset="0"/>
                              <a:ea typeface="Cambria Math" charset="0"/>
                              <a:cs typeface="Cambria Math" charset="0"/>
                            </a:rPr>
                            <m:t>=</m:t>
                          </m:r>
                          <m:r>
                            <m:rPr>
                              <m:sty m:val="p"/>
                            </m:rPr>
                            <a:rPr lang="en-US" sz="3600">
                              <a:latin typeface="Cambria Math" charset="0"/>
                              <a:ea typeface="Cambria Math" charset="0"/>
                              <a:cs typeface="Cambria Math" charset="0"/>
                            </a:rPr>
                            <m:t>max</m:t>
                          </m:r>
                        </m:fName>
                        <m:e>
                          <m:d>
                            <m:dPr>
                              <m:ctrlPr>
                                <a:rPr lang="en-US" sz="3600" i="1">
                                  <a:latin typeface="Cambria Math" panose="02040503050406030204" pitchFamily="18" charset="0"/>
                                  <a:ea typeface="Cambria Math" charset="0"/>
                                  <a:cs typeface="Cambria Math" charset="0"/>
                                </a:rPr>
                              </m:ctrlPr>
                            </m:dPr>
                            <m:e>
                              <m:r>
                                <a:rPr lang="en-US" sz="3600" i="1">
                                  <a:latin typeface="Cambria Math" charset="0"/>
                                  <a:ea typeface="Cambria Math" charset="0"/>
                                  <a:cs typeface="Cambria Math" charset="0"/>
                                </a:rPr>
                                <m:t>0, </m:t>
                              </m:r>
                              <m:r>
                                <a:rPr lang="en-US" sz="3600" i="1">
                                  <a:latin typeface="Cambria Math" charset="0"/>
                                  <a:ea typeface="Cambria Math" charset="0"/>
                                  <a:cs typeface="Cambria Math" charset="0"/>
                                </a:rPr>
                                <m:t>𝑧</m:t>
                              </m:r>
                            </m:e>
                          </m:d>
                        </m:e>
                      </m:func>
                    </m:oMath>
                  </m:oMathPara>
                </a14:m>
                <a:endParaRPr lang="en-US" sz="3600" dirty="0"/>
              </a:p>
            </p:txBody>
          </p:sp>
        </mc:Choice>
        <mc:Fallback xmlns="">
          <p:sp>
            <p:nvSpPr>
              <p:cNvPr id="6" name="Rectangle 5"/>
              <p:cNvSpPr>
                <a:spLocks noRot="1" noChangeAspect="1" noMove="1" noResize="1" noEditPoints="1" noAdjustHandles="1" noChangeArrowheads="1" noChangeShapeType="1" noTextEdit="1"/>
              </p:cNvSpPr>
              <p:nvPr/>
            </p:nvSpPr>
            <p:spPr>
              <a:xfrm>
                <a:off x="2714368" y="2350614"/>
                <a:ext cx="2659638" cy="64633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343594" y="3267664"/>
                <a:ext cx="3401185" cy="11079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𝑅𝑒𝐿𝑈</m:t>
                      </m:r>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0</m:t>
                          </m:r>
                        </m:e>
                      </m:d>
                      <m:r>
                        <a:rPr lang="en-US" sz="2400" i="1">
                          <a:latin typeface="Cambria Math" charset="0"/>
                          <a:ea typeface="Cambria Math" charset="0"/>
                          <a:cs typeface="Cambria Math" charset="0"/>
                        </a:rPr>
                        <m:t>=0</m:t>
                      </m:r>
                    </m:oMath>
                  </m:oMathPara>
                </a14:m>
                <a:endParaRPr lang="en-US" sz="2400" dirty="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𝑅𝑒𝐿𝑈</m:t>
                      </m:r>
                      <m:d>
                        <m:dPr>
                          <m:ctrlPr>
                            <a:rPr lang="en-US" sz="2400" i="1">
                              <a:latin typeface="Cambria Math" panose="02040503050406030204" pitchFamily="18" charset="0"/>
                              <a:ea typeface="Cambria Math" charset="0"/>
                              <a:cs typeface="Cambria Math" charset="0"/>
                            </a:rPr>
                          </m:ctrlPr>
                        </m:dPr>
                        <m:e>
                          <m:r>
                            <a:rPr lang="en-US" sz="2400" b="0" i="1" smtClean="0">
                              <a:latin typeface="Cambria Math" charset="0"/>
                              <a:ea typeface="Cambria Math" charset="0"/>
                              <a:cs typeface="Cambria Math" charset="0"/>
                            </a:rPr>
                            <m:t>𝑧</m:t>
                          </m:r>
                        </m:e>
                      </m:d>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r>
                        <a:rPr lang="en-US" sz="2400" b="0" i="1" smtClean="0">
                          <a:latin typeface="Cambria Math" charset="0"/>
                          <a:ea typeface="Cambria Math" charset="0"/>
                          <a:cs typeface="Cambria Math" charset="0"/>
                        </a:rPr>
                        <m:t> </m:t>
                      </m:r>
                    </m:oMath>
                  </m:oMathPara>
                </a14:m>
                <a:endParaRPr lang="en-US" sz="2400" dirty="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𝑅𝑒𝐿𝑈</m:t>
                      </m:r>
                      <m:d>
                        <m:dPr>
                          <m:ctrlPr>
                            <a:rPr lang="en-US" sz="2400" i="1">
                              <a:latin typeface="Cambria Math" panose="02040503050406030204" pitchFamily="18" charset="0"/>
                              <a:ea typeface="Cambria Math" charset="0"/>
                              <a:cs typeface="Cambria Math" charset="0"/>
                            </a:rPr>
                          </m:ctrlPr>
                        </m:dPr>
                        <m:e>
                          <m:r>
                            <a:rPr lang="en-US" sz="2400" b="0" i="1" smtClean="0">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e>
                      </m:d>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0</m:t>
                      </m:r>
                    </m:oMath>
                  </m:oMathPara>
                </a14:m>
                <a:endParaRPr lang="en-US" sz="2400" dirty="0">
                  <a:ea typeface="Cambria Math" charset="0"/>
                  <a:cs typeface="Cambria Math"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343594" y="3267664"/>
                <a:ext cx="3401185" cy="1107996"/>
              </a:xfrm>
              <a:prstGeom prst="rect">
                <a:avLst/>
              </a:prstGeom>
              <a:blipFill rotWithShape="0">
                <a:blip r:embed="rId5"/>
                <a:stretch>
                  <a:fillRect t="-13187" b="-263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265413" y="3560052"/>
                <a:ext cx="20077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dirty="0" smtClean="0">
                          <a:latin typeface="Cambria Math" charset="0"/>
                          <a:ea typeface="Cambria Math" charset="0"/>
                          <a:cs typeface="Cambria Math" charset="0"/>
                        </a:rPr>
                        <m:t>f</m:t>
                      </m:r>
                      <m:r>
                        <m:rPr>
                          <m:sty m:val="p"/>
                        </m:rPr>
                        <a:rPr lang="en-US" sz="2800">
                          <a:latin typeface="Cambria Math" charset="0"/>
                          <a:ea typeface="Cambria Math" charset="0"/>
                          <a:cs typeface="Cambria Math" charset="0"/>
                        </a:rPr>
                        <m:t>or</m:t>
                      </m:r>
                      <m:r>
                        <a:rPr lang="en-US" sz="2800">
                          <a:latin typeface="Cambria Math" charset="0"/>
                          <a:ea typeface="Cambria Math" charset="0"/>
                          <a:cs typeface="Cambria Math" charset="0"/>
                        </a:rPr>
                        <m:t> (</m:t>
                      </m:r>
                      <m:r>
                        <a:rPr lang="en-US" sz="2800" b="0" i="1" smtClean="0">
                          <a:latin typeface="Cambria Math" charset="0"/>
                          <a:ea typeface="Cambria Math" charset="0"/>
                          <a:cs typeface="Cambria Math" charset="0"/>
                        </a:rPr>
                        <m:t>𝑧</m:t>
                      </m:r>
                      <m:r>
                        <a:rPr lang="en-US" sz="2800" b="0" i="1" smtClean="0">
                          <a:latin typeface="Cambria Math" charset="0"/>
                          <a:ea typeface="Cambria Math" charset="0"/>
                          <a:cs typeface="Cambria Math" charset="0"/>
                        </a:rPr>
                        <m:t>≫0)</m:t>
                      </m:r>
                    </m:oMath>
                  </m:oMathPara>
                </a14:m>
                <a:endParaRPr lang="en-US" sz="2800" dirty="0"/>
              </a:p>
            </p:txBody>
          </p:sp>
        </mc:Choice>
        <mc:Fallback xmlns="">
          <p:sp>
            <p:nvSpPr>
              <p:cNvPr id="9" name="Rectangle 8"/>
              <p:cNvSpPr>
                <a:spLocks noRot="1" noChangeAspect="1" noMove="1" noResize="1" noEditPoints="1" noAdjustHandles="1" noChangeArrowheads="1" noChangeShapeType="1" noTextEdit="1"/>
              </p:cNvSpPr>
              <p:nvPr/>
            </p:nvSpPr>
            <p:spPr>
              <a:xfrm>
                <a:off x="6265413" y="3560052"/>
                <a:ext cx="2007794" cy="523220"/>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161304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Rectified Linear Unit (</a:t>
            </a:r>
            <a:r>
              <a:rPr lang="en-US" dirty="0" err="1" smtClean="0">
                <a:latin typeface="Avenir Book" charset="0"/>
                <a:ea typeface="Avenir Book" charset="0"/>
                <a:cs typeface="Avenir Book" charset="0"/>
              </a:rPr>
              <a:t>ReLU</a:t>
            </a:r>
            <a:r>
              <a:rPr lang="en-US" dirty="0" smtClean="0">
                <a:latin typeface="Avenir Book" charset="0"/>
                <a:ea typeface="Avenir Book" charset="0"/>
                <a:cs typeface="Avenir Book" charset="0"/>
              </a:rPr>
              <a:t>)</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832" y="920638"/>
            <a:ext cx="7210673" cy="3672007"/>
          </a:xfrm>
          <a:prstGeom prst="rect">
            <a:avLst/>
          </a:prstGeom>
        </p:spPr>
      </p:pic>
    </p:spTree>
    <p:extLst>
      <p:ext uri="{BB962C8B-B14F-4D97-AF65-F5344CB8AC3E}">
        <p14:creationId xmlns:p14="http://schemas.microsoft.com/office/powerpoint/2010/main" val="13238053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“Leaky” Rectified Linear Unit (</a:t>
            </a:r>
            <a:r>
              <a:rPr lang="en-US" dirty="0" err="1" smtClean="0">
                <a:latin typeface="Avenir Book" charset="0"/>
                <a:ea typeface="Avenir Book" charset="0"/>
                <a:cs typeface="Avenir Book" charset="0"/>
              </a:rPr>
              <a:t>ReLU</a:t>
            </a:r>
            <a:r>
              <a:rPr lang="en-US" dirty="0" smtClean="0">
                <a:latin typeface="Avenir Book" charset="0"/>
                <a:ea typeface="Avenir Book" charset="0"/>
                <a:cs typeface="Avenir Book" charset="0"/>
              </a:rPr>
              <a:t>)</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4" name="TextBox 3"/>
              <p:cNvSpPr txBox="1"/>
              <p:nvPr/>
            </p:nvSpPr>
            <p:spPr>
              <a:xfrm>
                <a:off x="1021339" y="1053914"/>
                <a:ext cx="5629554" cy="123578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3600" b="0" i="1" smtClean="0">
                          <a:latin typeface="Cambria Math" charset="0"/>
                          <a:ea typeface="Cambria Math" charset="0"/>
                          <a:cs typeface="Cambria Math" charset="0"/>
                        </a:rPr>
                        <m:t>𝐿𝑅𝑒𝐿𝑈</m:t>
                      </m:r>
                      <m:d>
                        <m:dPr>
                          <m:ctrlPr>
                            <a:rPr lang="en-US" sz="3600" b="0" i="1" smtClean="0">
                              <a:latin typeface="Cambria Math" panose="02040503050406030204" pitchFamily="18" charset="0"/>
                              <a:ea typeface="Cambria Math" charset="0"/>
                              <a:cs typeface="Cambria Math" charset="0"/>
                            </a:rPr>
                          </m:ctrlPr>
                        </m:dPr>
                        <m:e>
                          <m:r>
                            <a:rPr lang="en-US" sz="3600" b="0" i="1" smtClean="0">
                              <a:latin typeface="Cambria Math" charset="0"/>
                              <a:ea typeface="Cambria Math" charset="0"/>
                              <a:cs typeface="Cambria Math" charset="0"/>
                            </a:rPr>
                            <m:t>𝑧</m:t>
                          </m:r>
                        </m:e>
                      </m:d>
                      <m:r>
                        <a:rPr lang="en-US" sz="3600" b="0" i="1" smtClean="0">
                          <a:latin typeface="Cambria Math" charset="0"/>
                          <a:ea typeface="Cambria Math" charset="0"/>
                          <a:cs typeface="Cambria Math" charset="0"/>
                        </a:rPr>
                        <m:t>=</m:t>
                      </m:r>
                      <m:d>
                        <m:dPr>
                          <m:begChr m:val="{"/>
                          <m:endChr m:val=""/>
                          <m:ctrlPr>
                            <a:rPr lang="mr-IN" sz="3600" i="1">
                              <a:latin typeface="Cambria Math" panose="02040503050406030204" pitchFamily="18" charset="0"/>
                              <a:ea typeface="Cambria Math" charset="0"/>
                              <a:cs typeface="Cambria Math" charset="0"/>
                            </a:rPr>
                          </m:ctrlPr>
                        </m:dPr>
                        <m:e>
                          <m:eqArr>
                            <m:eqArrPr>
                              <m:ctrlPr>
                                <a:rPr lang="mr-IN" sz="3600" i="1">
                                  <a:latin typeface="Cambria Math" panose="02040503050406030204" pitchFamily="18" charset="0"/>
                                  <a:ea typeface="Cambria Math" charset="0"/>
                                  <a:cs typeface="Cambria Math" charset="0"/>
                                </a:rPr>
                              </m:ctrlPr>
                            </m:eqArrPr>
                            <m:e>
                              <m:r>
                                <a:rPr lang="mr-IN" sz="3600" i="1" smtClean="0">
                                  <a:latin typeface="Cambria Math" charset="0"/>
                                  <a:ea typeface="Cambria Math" charset="0"/>
                                  <a:cs typeface="Cambria Math" charset="0"/>
                                </a:rPr>
                                <m:t>𝛼</m:t>
                              </m:r>
                              <m:r>
                                <a:rPr lang="en-US" sz="3600" b="0" i="1" smtClean="0">
                                  <a:latin typeface="Cambria Math" charset="0"/>
                                  <a:ea typeface="Cambria Math" charset="0"/>
                                  <a:cs typeface="Cambria Math" charset="0"/>
                                </a:rPr>
                                <m:t>𝑧</m:t>
                              </m:r>
                              <m:r>
                                <a:rPr lang="mr-IN" sz="3600" i="1">
                                  <a:latin typeface="Cambria Math" charset="0"/>
                                  <a:ea typeface="Cambria Math" charset="0"/>
                                  <a:cs typeface="Cambria Math" charset="0"/>
                                </a:rPr>
                                <m:t>, </m:t>
                              </m:r>
                              <m:r>
                                <a:rPr lang="mr-IN" sz="3600" i="1" smtClean="0">
                                  <a:latin typeface="Cambria Math" charset="0"/>
                                  <a:ea typeface="Cambria Math" charset="0"/>
                                  <a:cs typeface="Cambria Math" charset="0"/>
                                </a:rPr>
                                <m:t> </m:t>
                              </m:r>
                              <m:r>
                                <a:rPr lang="en-US" sz="3600" i="1">
                                  <a:latin typeface="Cambria Math" charset="0"/>
                                  <a:ea typeface="Cambria Math" charset="0"/>
                                  <a:cs typeface="Cambria Math" charset="0"/>
                                </a:rPr>
                                <m:t>𝑧</m:t>
                              </m:r>
                              <m:r>
                                <a:rPr lang="mr-IN" sz="3600" i="1">
                                  <a:latin typeface="Cambria Math" charset="0"/>
                                  <a:ea typeface="Cambria Math" charset="0"/>
                                  <a:cs typeface="Cambria Math" charset="0"/>
                                </a:rPr>
                                <m:t>&lt;0</m:t>
                              </m:r>
                            </m:e>
                            <m:e>
                              <m:r>
                                <a:rPr lang="mr-IN" sz="3600" i="1">
                                  <a:latin typeface="Cambria Math" charset="0"/>
                                  <a:ea typeface="Cambria Math" charset="0"/>
                                  <a:cs typeface="Cambria Math" charset="0"/>
                                </a:rPr>
                                <m:t>&amp;</m:t>
                              </m:r>
                              <m:r>
                                <a:rPr lang="en-US" sz="3600" i="1">
                                  <a:latin typeface="Cambria Math" charset="0"/>
                                  <a:ea typeface="Cambria Math" charset="0"/>
                                  <a:cs typeface="Cambria Math" charset="0"/>
                                </a:rPr>
                                <m:t>𝑧</m:t>
                              </m:r>
                              <m:r>
                                <a:rPr lang="mr-IN" sz="3600" i="1">
                                  <a:latin typeface="Cambria Math" charset="0"/>
                                  <a:ea typeface="Cambria Math" charset="0"/>
                                  <a:cs typeface="Cambria Math" charset="0"/>
                                </a:rPr>
                                <m:t>,  </m:t>
                              </m:r>
                              <m:r>
                                <a:rPr lang="en-US" sz="3600" b="0" i="1" smtClean="0">
                                  <a:latin typeface="Cambria Math" charset="0"/>
                                  <a:ea typeface="Cambria Math" charset="0"/>
                                  <a:cs typeface="Cambria Math" charset="0"/>
                                </a:rPr>
                                <m:t>    </m:t>
                              </m:r>
                              <m:r>
                                <a:rPr lang="en-US" sz="3600" i="1">
                                  <a:latin typeface="Cambria Math" charset="0"/>
                                  <a:ea typeface="Cambria Math" charset="0"/>
                                  <a:cs typeface="Cambria Math" charset="0"/>
                                </a:rPr>
                                <m:t>𝑧</m:t>
                              </m:r>
                              <m:r>
                                <a:rPr lang="mr-IN" sz="3600" i="1">
                                  <a:latin typeface="Cambria Math" charset="0"/>
                                  <a:ea typeface="Cambria Math" charset="0"/>
                                  <a:cs typeface="Cambria Math" charset="0"/>
                                </a:rPr>
                                <m:t>≥0</m:t>
                              </m:r>
                            </m:e>
                          </m:eqArr>
                        </m:e>
                      </m:d>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1021339" y="1053914"/>
                <a:ext cx="5629554" cy="1235788"/>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714368" y="2350614"/>
                <a:ext cx="5596853" cy="646331"/>
              </a:xfrm>
              <a:prstGeom prst="rect">
                <a:avLst/>
              </a:prstGeom>
            </p:spPr>
            <p:txBody>
              <a:bodyPr wrap="none">
                <a:spAutoFit/>
              </a:bodyPr>
              <a:lstStyle/>
              <a:p>
                <a14:m>
                  <m:oMath xmlns:m="http://schemas.openxmlformats.org/officeDocument/2006/math">
                    <m:func>
                      <m:funcPr>
                        <m:ctrlPr>
                          <a:rPr lang="en-US" sz="3600" i="1" smtClean="0">
                            <a:latin typeface="Cambria Math" panose="02040503050406030204" pitchFamily="18" charset="0"/>
                            <a:ea typeface="Cambria Math" charset="0"/>
                            <a:cs typeface="Cambria Math" charset="0"/>
                          </a:rPr>
                        </m:ctrlPr>
                      </m:funcPr>
                      <m:fName>
                        <m:r>
                          <a:rPr lang="en-US" sz="3600" b="0" i="0" smtClean="0">
                            <a:latin typeface="Cambria Math" charset="0"/>
                            <a:ea typeface="Cambria Math" charset="0"/>
                            <a:cs typeface="Cambria Math" charset="0"/>
                          </a:rPr>
                          <m:t>=</m:t>
                        </m:r>
                        <m:r>
                          <m:rPr>
                            <m:sty m:val="p"/>
                          </m:rPr>
                          <a:rPr lang="en-US" sz="3600">
                            <a:latin typeface="Cambria Math" charset="0"/>
                            <a:ea typeface="Cambria Math" charset="0"/>
                            <a:cs typeface="Cambria Math" charset="0"/>
                          </a:rPr>
                          <m:t>max</m:t>
                        </m:r>
                      </m:fName>
                      <m:e>
                        <m:d>
                          <m:dPr>
                            <m:ctrlPr>
                              <a:rPr lang="en-US" sz="3600" i="1">
                                <a:latin typeface="Cambria Math" panose="02040503050406030204" pitchFamily="18" charset="0"/>
                                <a:ea typeface="Cambria Math" charset="0"/>
                                <a:cs typeface="Cambria Math" charset="0"/>
                              </a:rPr>
                            </m:ctrlPr>
                          </m:dPr>
                          <m:e>
                            <m:r>
                              <a:rPr lang="mr-IN" sz="3600" i="1">
                                <a:latin typeface="Cambria Math" charset="0"/>
                                <a:ea typeface="Cambria Math" charset="0"/>
                                <a:cs typeface="Cambria Math" charset="0"/>
                              </a:rPr>
                              <m:t>𝛼</m:t>
                            </m:r>
                            <m:r>
                              <a:rPr lang="en-US" sz="3600" i="1">
                                <a:latin typeface="Cambria Math" charset="0"/>
                                <a:ea typeface="Cambria Math" charset="0"/>
                                <a:cs typeface="Cambria Math" charset="0"/>
                              </a:rPr>
                              <m:t>𝑧</m:t>
                            </m:r>
                            <m:r>
                              <a:rPr lang="en-US" sz="3600" i="1">
                                <a:latin typeface="Cambria Math" charset="0"/>
                                <a:ea typeface="Cambria Math" charset="0"/>
                                <a:cs typeface="Cambria Math" charset="0"/>
                              </a:rPr>
                              <m:t>, </m:t>
                            </m:r>
                            <m:r>
                              <a:rPr lang="en-US" sz="3600" i="1">
                                <a:latin typeface="Cambria Math" charset="0"/>
                                <a:ea typeface="Cambria Math" charset="0"/>
                                <a:cs typeface="Cambria Math" charset="0"/>
                              </a:rPr>
                              <m:t>𝑧</m:t>
                            </m:r>
                          </m:e>
                        </m:d>
                      </m:e>
                    </m:func>
                  </m:oMath>
                </a14:m>
                <a:r>
                  <a:rPr lang="en-US" sz="3600" dirty="0" smtClean="0"/>
                  <a:t>	</a:t>
                </a:r>
                <a:r>
                  <a:rPr lang="en-US" sz="3600" dirty="0">
                    <a:latin typeface="Avenir Book" charset="0"/>
                    <a:ea typeface="Avenir Book" charset="0"/>
                    <a:cs typeface="Avenir Book" charset="0"/>
                  </a:rPr>
                  <a:t>	</a:t>
                </a:r>
                <a14:m>
                  <m:oMath xmlns:m="http://schemas.openxmlformats.org/officeDocument/2006/math">
                    <m:r>
                      <m:rPr>
                        <m:sty m:val="p"/>
                      </m:rPr>
                      <a:rPr lang="en-US" sz="2800" dirty="0">
                        <a:latin typeface="Cambria Math" charset="0"/>
                        <a:ea typeface="Cambria Math" charset="0"/>
                        <a:cs typeface="Cambria Math" charset="0"/>
                      </a:rPr>
                      <m:t>f</m:t>
                    </m:r>
                    <m:r>
                      <m:rPr>
                        <m:sty m:val="p"/>
                      </m:rPr>
                      <a:rPr lang="en-US" sz="2800" b="0" i="0" smtClean="0">
                        <a:latin typeface="Cambria Math" charset="0"/>
                        <a:ea typeface="Cambria Math" charset="0"/>
                        <a:cs typeface="Cambria Math" charset="0"/>
                      </a:rPr>
                      <m:t>or</m:t>
                    </m:r>
                    <m:r>
                      <a:rPr lang="en-US" sz="2800" b="0" i="0" smtClean="0">
                        <a:latin typeface="Cambria Math" charset="0"/>
                        <a:ea typeface="Cambria Math" charset="0"/>
                        <a:cs typeface="Cambria Math" charset="0"/>
                      </a:rPr>
                      <m:t> (</m:t>
                    </m:r>
                    <m:r>
                      <a:rPr lang="mr-IN" sz="2800" i="1">
                        <a:latin typeface="Cambria Math" charset="0"/>
                        <a:ea typeface="Cambria Math" charset="0"/>
                        <a:cs typeface="Cambria Math" charset="0"/>
                      </a:rPr>
                      <m:t>𝛼</m:t>
                    </m:r>
                    <m:r>
                      <a:rPr lang="en-US" sz="2800" b="0" i="1" smtClean="0">
                        <a:latin typeface="Cambria Math" charset="0"/>
                        <a:ea typeface="Cambria Math" charset="0"/>
                        <a:cs typeface="Cambria Math" charset="0"/>
                      </a:rPr>
                      <m:t>&lt;1)</m:t>
                    </m:r>
                  </m:oMath>
                </a14:m>
                <a:endParaRPr lang="en-US" sz="2800" dirty="0"/>
              </a:p>
            </p:txBody>
          </p:sp>
        </mc:Choice>
        <mc:Fallback xmlns="">
          <p:sp>
            <p:nvSpPr>
              <p:cNvPr id="6" name="Rectangle 5"/>
              <p:cNvSpPr>
                <a:spLocks noRot="1" noChangeAspect="1" noMove="1" noResize="1" noEditPoints="1" noAdjustHandles="1" noChangeArrowheads="1" noChangeShapeType="1" noTextEdit="1"/>
              </p:cNvSpPr>
              <p:nvPr/>
            </p:nvSpPr>
            <p:spPr>
              <a:xfrm>
                <a:off x="2714368" y="2350614"/>
                <a:ext cx="5596853" cy="64633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905829" y="3352739"/>
                <a:ext cx="3401185" cy="11079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𝐿𝑅𝑒𝐿𝑈</m:t>
                      </m:r>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0</m:t>
                          </m:r>
                        </m:e>
                      </m:d>
                      <m:r>
                        <a:rPr lang="en-US" sz="2400" i="1">
                          <a:latin typeface="Cambria Math" charset="0"/>
                          <a:ea typeface="Cambria Math" charset="0"/>
                          <a:cs typeface="Cambria Math" charset="0"/>
                        </a:rPr>
                        <m:t>=0</m:t>
                      </m:r>
                    </m:oMath>
                  </m:oMathPara>
                </a14:m>
                <a:endParaRPr lang="en-US" sz="2400" dirty="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𝐿𝑅𝑒𝐿𝑈</m:t>
                      </m:r>
                      <m:d>
                        <m:dPr>
                          <m:ctrlPr>
                            <a:rPr lang="en-US" sz="2400" i="1">
                              <a:latin typeface="Cambria Math" panose="02040503050406030204" pitchFamily="18" charset="0"/>
                              <a:ea typeface="Cambria Math" charset="0"/>
                              <a:cs typeface="Cambria Math" charset="0"/>
                            </a:rPr>
                          </m:ctrlPr>
                        </m:dPr>
                        <m:e>
                          <m:r>
                            <a:rPr lang="en-US" sz="2400" b="0" i="1" smtClean="0">
                              <a:latin typeface="Cambria Math" charset="0"/>
                              <a:ea typeface="Cambria Math" charset="0"/>
                              <a:cs typeface="Cambria Math" charset="0"/>
                            </a:rPr>
                            <m:t>𝑧</m:t>
                          </m:r>
                        </m:e>
                      </m:d>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r>
                        <a:rPr lang="en-US" sz="2400" b="0" i="1" smtClean="0">
                          <a:latin typeface="Cambria Math" charset="0"/>
                          <a:ea typeface="Cambria Math" charset="0"/>
                          <a:cs typeface="Cambria Math" charset="0"/>
                        </a:rPr>
                        <m:t> </m:t>
                      </m:r>
                    </m:oMath>
                  </m:oMathPara>
                </a14:m>
                <a:endParaRPr lang="en-US" sz="2400" dirty="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𝐿𝑅𝑒𝐿𝑈</m:t>
                      </m:r>
                      <m:d>
                        <m:dPr>
                          <m:ctrlPr>
                            <a:rPr lang="en-US" sz="2400" i="1">
                              <a:latin typeface="Cambria Math" panose="02040503050406030204" pitchFamily="18" charset="0"/>
                              <a:ea typeface="Cambria Math" charset="0"/>
                              <a:cs typeface="Cambria Math" charset="0"/>
                            </a:rPr>
                          </m:ctrlPr>
                        </m:dPr>
                        <m:e>
                          <m:r>
                            <a:rPr lang="en-US" sz="2400" b="0" i="1" smtClean="0">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e>
                      </m:d>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m:t>
                      </m:r>
                      <m:r>
                        <a:rPr lang="en-US" sz="2400" b="0" i="1" smtClean="0">
                          <a:latin typeface="Cambria Math" charset="0"/>
                          <a:ea typeface="Cambria Math" charset="0"/>
                          <a:cs typeface="Cambria Math" charset="0"/>
                        </a:rPr>
                        <m:t>𝛼</m:t>
                      </m:r>
                      <m:r>
                        <a:rPr lang="en-US" sz="2400" b="0" i="1" smtClean="0">
                          <a:latin typeface="Cambria Math" charset="0"/>
                          <a:ea typeface="Cambria Math" charset="0"/>
                          <a:cs typeface="Cambria Math" charset="0"/>
                        </a:rPr>
                        <m:t>𝑧</m:t>
                      </m:r>
                    </m:oMath>
                  </m:oMathPara>
                </a14:m>
                <a:endParaRPr lang="en-US" sz="2400" dirty="0">
                  <a:ea typeface="Cambria Math" charset="0"/>
                  <a:cs typeface="Cambria Math"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905829" y="3352739"/>
                <a:ext cx="3401185" cy="1107996"/>
              </a:xfrm>
              <a:prstGeom prst="rect">
                <a:avLst/>
              </a:prstGeom>
              <a:blipFill rotWithShape="0">
                <a:blip r:embed="rId5"/>
                <a:stretch>
                  <a:fillRect t="-13187" b="-25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429536" y="3645127"/>
                <a:ext cx="20077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dirty="0" smtClean="0">
                          <a:latin typeface="Cambria Math" charset="0"/>
                          <a:ea typeface="Cambria Math" charset="0"/>
                          <a:cs typeface="Cambria Math" charset="0"/>
                        </a:rPr>
                        <m:t>f</m:t>
                      </m:r>
                      <m:r>
                        <m:rPr>
                          <m:sty m:val="p"/>
                        </m:rPr>
                        <a:rPr lang="en-US" sz="2800">
                          <a:latin typeface="Cambria Math" charset="0"/>
                          <a:ea typeface="Cambria Math" charset="0"/>
                          <a:cs typeface="Cambria Math" charset="0"/>
                        </a:rPr>
                        <m:t>or</m:t>
                      </m:r>
                      <m:r>
                        <a:rPr lang="en-US" sz="2800">
                          <a:latin typeface="Cambria Math" charset="0"/>
                          <a:ea typeface="Cambria Math" charset="0"/>
                          <a:cs typeface="Cambria Math" charset="0"/>
                        </a:rPr>
                        <m:t> (</m:t>
                      </m:r>
                      <m:r>
                        <a:rPr lang="en-US" sz="2800" b="0" i="1" smtClean="0">
                          <a:latin typeface="Cambria Math" charset="0"/>
                          <a:ea typeface="Cambria Math" charset="0"/>
                          <a:cs typeface="Cambria Math" charset="0"/>
                        </a:rPr>
                        <m:t>𝑧</m:t>
                      </m:r>
                      <m:r>
                        <a:rPr lang="en-US" sz="2800" b="0" i="1" smtClean="0">
                          <a:latin typeface="Cambria Math" charset="0"/>
                          <a:ea typeface="Cambria Math" charset="0"/>
                          <a:cs typeface="Cambria Math" charset="0"/>
                        </a:rPr>
                        <m:t>≫0)</m:t>
                      </m:r>
                    </m:oMath>
                  </m:oMathPara>
                </a14:m>
                <a:endParaRPr lang="en-US" sz="2800" dirty="0"/>
              </a:p>
            </p:txBody>
          </p:sp>
        </mc:Choice>
        <mc:Fallback xmlns="">
          <p:sp>
            <p:nvSpPr>
              <p:cNvPr id="3" name="Rectangle 2"/>
              <p:cNvSpPr>
                <a:spLocks noRot="1" noChangeAspect="1" noMove="1" noResize="1" noEditPoints="1" noAdjustHandles="1" noChangeArrowheads="1" noChangeShapeType="1" noTextEdit="1"/>
              </p:cNvSpPr>
              <p:nvPr/>
            </p:nvSpPr>
            <p:spPr>
              <a:xfrm>
                <a:off x="6429536" y="3645127"/>
                <a:ext cx="2007794" cy="523220"/>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941143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“Leaky” Rectified Linear Unit (</a:t>
            </a:r>
            <a:r>
              <a:rPr lang="en-US" dirty="0" err="1" smtClean="0">
                <a:latin typeface="Avenir Book" charset="0"/>
                <a:ea typeface="Avenir Book" charset="0"/>
                <a:cs typeface="Avenir Book" charset="0"/>
              </a:rPr>
              <a:t>ReLU</a:t>
            </a:r>
            <a:r>
              <a:rPr lang="en-US" dirty="0" smtClean="0">
                <a:latin typeface="Avenir Book" charset="0"/>
                <a:ea typeface="Avenir Book" charset="0"/>
                <a:cs typeface="Avenir Book" charset="0"/>
              </a:rPr>
              <a:t>)</a:t>
            </a:r>
            <a:endParaRPr lang="en-US" dirty="0">
              <a:latin typeface="Avenir Book" charset="0"/>
              <a:ea typeface="Avenir Book" charset="0"/>
              <a:cs typeface="Avenir Book"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955" y="858126"/>
            <a:ext cx="7178916" cy="3690855"/>
          </a:xfrm>
          <a:prstGeom prst="rect">
            <a:avLst/>
          </a:prstGeom>
        </p:spPr>
      </p:pic>
    </p:spTree>
    <p:extLst>
      <p:ext uri="{BB962C8B-B14F-4D97-AF65-F5344CB8AC3E}">
        <p14:creationId xmlns:p14="http://schemas.microsoft.com/office/powerpoint/2010/main" val="17880647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What next?</a:t>
            </a:r>
            <a:endParaRPr lang="en-US" dirty="0">
              <a:latin typeface="Avenir Book" charset="0"/>
              <a:ea typeface="Avenir Book" charset="0"/>
              <a:cs typeface="Avenir Book" charset="0"/>
            </a:endParaRPr>
          </a:p>
        </p:txBody>
      </p:sp>
      <p:sp>
        <p:nvSpPr>
          <p:cNvPr id="75" name="Rectangle 74"/>
          <p:cNvSpPr/>
          <p:nvPr/>
        </p:nvSpPr>
        <p:spPr>
          <a:xfrm>
            <a:off x="398352" y="1227244"/>
            <a:ext cx="8192764" cy="1446550"/>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We now know how to make a single update to a model given some data.</a:t>
            </a:r>
          </a:p>
          <a:p>
            <a:pPr marL="457200" lvl="0" indent="-457200">
              <a:buFont typeface="Arial" charset="0"/>
              <a:buChar char="•"/>
            </a:pPr>
            <a:r>
              <a:rPr lang="en-US" sz="2200" dirty="0" smtClean="0">
                <a:latin typeface="Avenir Book" charset="0"/>
                <a:ea typeface="Avenir Book" charset="0"/>
                <a:cs typeface="Avenir Book" charset="0"/>
              </a:rPr>
              <a:t>But how do we do the full training?</a:t>
            </a:r>
          </a:p>
          <a:p>
            <a:pPr marL="457200" lvl="0" indent="-457200">
              <a:buFont typeface="Arial" charset="0"/>
              <a:buChar char="•"/>
            </a:pPr>
            <a:r>
              <a:rPr lang="en-US" sz="2200" dirty="0" smtClean="0">
                <a:latin typeface="Avenir Book" charset="0"/>
                <a:ea typeface="Avenir Book" charset="0"/>
                <a:cs typeface="Avenir Book" charset="0"/>
              </a:rPr>
              <a:t>We will dive into these details in the next lecture.</a:t>
            </a:r>
          </a:p>
        </p:txBody>
      </p:sp>
    </p:spTree>
    <p:extLst>
      <p:ext uri="{BB962C8B-B14F-4D97-AF65-F5344CB8AC3E}">
        <p14:creationId xmlns:p14="http://schemas.microsoft.com/office/powerpoint/2010/main" val="19819174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32</a:t>
            </a:fld>
            <a:endParaRPr lang="en-US"/>
          </a:p>
        </p:txBody>
      </p:sp>
    </p:spTree>
    <p:extLst>
      <p:ext uri="{BB962C8B-B14F-4D97-AF65-F5344CB8AC3E}">
        <p14:creationId xmlns:p14="http://schemas.microsoft.com/office/powerpoint/2010/main" val="11718538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35400</TotalTime>
  <Words>1294</Words>
  <Application>Microsoft Office PowerPoint</Application>
  <PresentationFormat>On-screen Show (16:9)</PresentationFormat>
  <Paragraphs>357</Paragraphs>
  <Slides>32</Slides>
  <Notes>31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Arial</vt:lpstr>
      <vt:lpstr>Avenir Book</vt:lpstr>
      <vt:lpstr>Calibri</vt:lpstr>
      <vt:lpstr>Calibri Light</vt:lpstr>
      <vt:lpstr>Cambria Math</vt:lpstr>
      <vt:lpstr>Euphemia</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Backpropagation in Neural Nets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calculate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458</cp:revision>
  <cp:lastPrinted>2017-04-25T03:21:35Z</cp:lastPrinted>
  <dcterms:modified xsi:type="dcterms:W3CDTF">2017-08-25T19:37:49Z</dcterms:modified>
</cp:coreProperties>
</file>
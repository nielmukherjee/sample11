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43"/>
  </p:notesMasterIdLst>
  <p:handoutMasterIdLst>
    <p:handoutMasterId r:id="rId44"/>
  </p:handoutMasterIdLst>
  <p:sldIdLst>
    <p:sldId id="389" r:id="rId4"/>
    <p:sldId id="681" r:id="rId5"/>
    <p:sldId id="585" r:id="rId6"/>
    <p:sldId id="599" r:id="rId7"/>
    <p:sldId id="600" r:id="rId8"/>
    <p:sldId id="602" r:id="rId9"/>
    <p:sldId id="621" r:id="rId10"/>
    <p:sldId id="679" r:id="rId11"/>
    <p:sldId id="622" r:id="rId12"/>
    <p:sldId id="624" r:id="rId13"/>
    <p:sldId id="628" r:id="rId14"/>
    <p:sldId id="629" r:id="rId15"/>
    <p:sldId id="630" r:id="rId16"/>
    <p:sldId id="631" r:id="rId17"/>
    <p:sldId id="632" r:id="rId18"/>
    <p:sldId id="635" r:id="rId19"/>
    <p:sldId id="636" r:id="rId20"/>
    <p:sldId id="637" r:id="rId21"/>
    <p:sldId id="638" r:id="rId22"/>
    <p:sldId id="639" r:id="rId23"/>
    <p:sldId id="640" r:id="rId24"/>
    <p:sldId id="641" r:id="rId25"/>
    <p:sldId id="642" r:id="rId26"/>
    <p:sldId id="643" r:id="rId27"/>
    <p:sldId id="644" r:id="rId28"/>
    <p:sldId id="645" r:id="rId29"/>
    <p:sldId id="646" r:id="rId30"/>
    <p:sldId id="666" r:id="rId31"/>
    <p:sldId id="672" r:id="rId32"/>
    <p:sldId id="673" r:id="rId33"/>
    <p:sldId id="674" r:id="rId34"/>
    <p:sldId id="667" r:id="rId35"/>
    <p:sldId id="675" r:id="rId36"/>
    <p:sldId id="671" r:id="rId37"/>
    <p:sldId id="676" r:id="rId38"/>
    <p:sldId id="668" r:id="rId39"/>
    <p:sldId id="677" r:id="rId40"/>
    <p:sldId id="678" r:id="rId41"/>
    <p:sldId id="680" r:id="rId4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88"/>
    <p:restoredTop sz="80851"/>
  </p:normalViewPr>
  <p:slideViewPr>
    <p:cSldViewPr snapToGrid="0" snapToObjects="1">
      <p:cViewPr varScale="1">
        <p:scale>
          <a:sx n="141" d="100"/>
          <a:sy n="141" d="100"/>
        </p:scale>
        <p:origin x="1188"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401846669"/>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 would emphasize these two points:</a:t>
            </a:r>
          </a:p>
          <a:p>
            <a:pPr marL="457200" marR="0" lvl="0" indent="-457200" algn="l" defTabSz="914400" rtl="0" eaLnBrk="1" fontAlgn="auto" latinLnBrk="0" hangingPunct="1">
              <a:lnSpc>
                <a:spcPct val="100000"/>
              </a:lnSpc>
              <a:spcBef>
                <a:spcPts val="0"/>
              </a:spcBef>
              <a:spcAft>
                <a:spcPts val="0"/>
              </a:spcAft>
              <a:buClrTx/>
              <a:buSzTx/>
              <a:buFont typeface="Arial" charset="0"/>
              <a:buAutoNum type="arabicParenR"/>
              <a:tabLst/>
              <a:defRPr/>
            </a:pPr>
            <a:r>
              <a:rPr lang="en-US" sz="2400" baseline="0" dirty="0" smtClean="0">
                <a:latin typeface="Arial" charset="0"/>
                <a:ea typeface="Arial" charset="0"/>
                <a:cs typeface="Arial" charset="0"/>
              </a:rPr>
              <a:t>This was WAY better than anything before</a:t>
            </a:r>
          </a:p>
          <a:p>
            <a:pPr marL="457200" marR="0" lvl="0" indent="-457200" algn="l" defTabSz="914400" rtl="0" eaLnBrk="1" fontAlgn="auto" latinLnBrk="0" hangingPunct="1">
              <a:lnSpc>
                <a:spcPct val="100000"/>
              </a:lnSpc>
              <a:spcBef>
                <a:spcPts val="0"/>
              </a:spcBef>
              <a:spcAft>
                <a:spcPts val="0"/>
              </a:spcAft>
              <a:buClrTx/>
              <a:buSzTx/>
              <a:buFont typeface="Arial" charset="0"/>
              <a:buAutoNum type="arabicParenR"/>
              <a:tabLst/>
              <a:defRPr/>
            </a:pPr>
            <a:r>
              <a:rPr lang="en-US" sz="2400" baseline="0" dirty="0" smtClean="0">
                <a:latin typeface="Arial" charset="0"/>
                <a:ea typeface="Arial" charset="0"/>
                <a:cs typeface="Arial" charset="0"/>
              </a:rPr>
              <a:t>Still not super great – Top 5 error metric is VERY forgiving.  Don’t have to get the right answer, just have the right answer in your top 5 list.</a:t>
            </a:r>
          </a:p>
          <a:p>
            <a:pPr marL="457200" marR="0" lvl="0" indent="-457200" algn="l" defTabSz="914400" rtl="0" eaLnBrk="1" fontAlgn="auto" latinLnBrk="0" hangingPunct="1">
              <a:lnSpc>
                <a:spcPct val="100000"/>
              </a:lnSpc>
              <a:spcBef>
                <a:spcPts val="0"/>
              </a:spcBef>
              <a:spcAft>
                <a:spcPts val="0"/>
              </a:spcAft>
              <a:buClrTx/>
              <a:buSzTx/>
              <a:buFont typeface="Arial" charset="0"/>
              <a:buAutoNum type="arabicParenR"/>
              <a:tabLst/>
              <a:defRPr/>
            </a:pPr>
            <a:r>
              <a:rPr lang="en-US" sz="2400" baseline="0" dirty="0" smtClean="0">
                <a:latin typeface="Arial" charset="0"/>
                <a:ea typeface="Arial" charset="0"/>
                <a:cs typeface="Arial" charset="0"/>
              </a:rPr>
              <a:t>Still was a huge jump</a:t>
            </a:r>
          </a:p>
          <a:p>
            <a:pPr marL="457200" marR="0" lvl="0" indent="-457200" algn="l" defTabSz="914400" rtl="0" eaLnBrk="1" fontAlgn="auto" latinLnBrk="0" hangingPunct="1">
              <a:lnSpc>
                <a:spcPct val="100000"/>
              </a:lnSpc>
              <a:spcBef>
                <a:spcPts val="0"/>
              </a:spcBef>
              <a:spcAft>
                <a:spcPts val="0"/>
              </a:spcAft>
              <a:buClrTx/>
              <a:buSzTx/>
              <a:buFont typeface="Arial" charset="0"/>
              <a:buAutoNum type="arabicParenR"/>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11142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For some reason even the version of this diagram from the paper is cut off on top</a:t>
            </a:r>
            <a:r>
              <a:rPr lang="is-IS" sz="2400" baseline="0" dirty="0" smtClean="0">
                <a:latin typeface="Arial" charset="0"/>
                <a:ea typeface="Arial" charset="0"/>
                <a:cs typeface="Arial" charset="0"/>
              </a:rPr>
              <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83079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7042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01765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46988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Don’t have to walk through the details. Just to show how deep it is.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Same concepts and ideas from </a:t>
            </a:r>
            <a:r>
              <a:rPr lang="en-US" sz="2400" baseline="0" dirty="0" err="1" smtClean="0">
                <a:latin typeface="Arial" charset="0"/>
                <a:ea typeface="Arial" charset="0"/>
                <a:cs typeface="Arial" charset="0"/>
              </a:rPr>
              <a:t>LeNet</a:t>
            </a:r>
            <a:r>
              <a:rPr lang="en-US" sz="2400" baseline="0" dirty="0" smtClean="0">
                <a:latin typeface="Arial" charset="0"/>
                <a:ea typeface="Arial" charset="0"/>
                <a:cs typeface="Arial" charset="0"/>
              </a:rPr>
              <a:t>.</a:t>
            </a:r>
          </a:p>
        </p:txBody>
      </p:sp>
    </p:spTree>
    <p:extLst>
      <p:ext uri="{BB962C8B-B14F-4D97-AF65-F5344CB8AC3E}">
        <p14:creationId xmlns:p14="http://schemas.microsoft.com/office/powerpoint/2010/main" val="344462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Don’t get too bogged down in the next series of slides. It’s an animation that shows the basic process.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key is to make sure students get the general idea.</a:t>
            </a:r>
          </a:p>
        </p:txBody>
      </p:sp>
    </p:spTree>
    <p:extLst>
      <p:ext uri="{BB962C8B-B14F-4D97-AF65-F5344CB8AC3E}">
        <p14:creationId xmlns:p14="http://schemas.microsoft.com/office/powerpoint/2010/main" val="829291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84063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35662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120658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597932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Again, this animation may be a bit overkill but it’s worth showing them the kernels and convolutions again to reinforce the concepts.</a:t>
            </a:r>
          </a:p>
        </p:txBody>
      </p:sp>
    </p:spTree>
    <p:extLst>
      <p:ext uri="{BB962C8B-B14F-4D97-AF65-F5344CB8AC3E}">
        <p14:creationId xmlns:p14="http://schemas.microsoft.com/office/powerpoint/2010/main" val="12577838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55359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31788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09663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048004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02889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056369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14575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4651089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130009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847703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772193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972933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625362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499688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Remember that convolutions act on the entire depth of the input.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a 5x5 convolution learns 5x5x (input depth) weights</a:t>
            </a:r>
          </a:p>
        </p:txBody>
      </p:sp>
    </p:spTree>
    <p:extLst>
      <p:ext uri="{BB962C8B-B14F-4D97-AF65-F5344CB8AC3E}">
        <p14:creationId xmlns:p14="http://schemas.microsoft.com/office/powerpoint/2010/main" val="8628277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792329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 1x1 convolution sounds meaningless, but remember the depth.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1x1 convolution basically “compresses” the depth so that the subsequent 3x3 and 5x5 layers have fewer inputs.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Therefore fewer weights</a:t>
            </a:r>
          </a:p>
        </p:txBody>
      </p:sp>
    </p:spTree>
    <p:extLst>
      <p:ext uri="{BB962C8B-B14F-4D97-AF65-F5344CB8AC3E}">
        <p14:creationId xmlns:p14="http://schemas.microsoft.com/office/powerpoint/2010/main" val="3637157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Similarly, we “compress” the depth of the output from the 3x3 max pooling component.</a:t>
            </a:r>
          </a:p>
        </p:txBody>
      </p:sp>
    </p:spTree>
    <p:extLst>
      <p:ext uri="{BB962C8B-B14F-4D97-AF65-F5344CB8AC3E}">
        <p14:creationId xmlns:p14="http://schemas.microsoft.com/office/powerpoint/2010/main" val="14777172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0065596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a much later version using the same concept.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Key is to point out that the previously described “block” serves the role of a layer in earlier architectures.</a:t>
            </a:r>
          </a:p>
        </p:txBody>
      </p:sp>
    </p:spTree>
    <p:extLst>
      <p:ext uri="{BB962C8B-B14F-4D97-AF65-F5344CB8AC3E}">
        <p14:creationId xmlns:p14="http://schemas.microsoft.com/office/powerpoint/2010/main" val="6114614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85000" lnSpcReduction="10000"/>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history to set up the motivation for the idea behind </a:t>
            </a:r>
            <a:r>
              <a:rPr lang="en-US" sz="2400" baseline="0" dirty="0" err="1" smtClean="0">
                <a:latin typeface="Arial" charset="0"/>
                <a:ea typeface="Arial" charset="0"/>
                <a:cs typeface="Arial" charset="0"/>
              </a:rPr>
              <a:t>ResNet</a:t>
            </a:r>
            <a:r>
              <a:rPr lang="en-US" sz="2400" baseline="0" dirty="0" smtClean="0">
                <a:latin typeface="Arial" charset="0"/>
                <a:ea typeface="Arial" charset="0"/>
                <a:cs typeface="Arial" charset="0"/>
              </a:rPr>
              <a:t>.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Researchers were building deeper and deeper networks but started finding these issues.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very deep (56-layer) networks should (in concept) be fitting the training data better (even if they </a:t>
            </a:r>
            <a:r>
              <a:rPr lang="en-US" sz="2400" baseline="0" dirty="0" err="1" smtClean="0">
                <a:latin typeface="Arial" charset="0"/>
                <a:ea typeface="Arial" charset="0"/>
                <a:cs typeface="Arial" charset="0"/>
              </a:rPr>
              <a:t>overfit</a:t>
            </a:r>
            <a:r>
              <a:rPr lang="en-US" sz="2400" baseline="0" dirty="0" smtClean="0">
                <a:latin typeface="Arial" charset="0"/>
                <a:ea typeface="Arial" charset="0"/>
                <a:cs typeface="Arial" charset="0"/>
              </a:rPr>
              <a:t>) but that was not happening.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Seemed that the early layers were just not getting updated.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signal got lost (due to vanishing gradient type issues).</a:t>
            </a:r>
          </a:p>
        </p:txBody>
      </p:sp>
    </p:spTree>
    <p:extLst>
      <p:ext uri="{BB962C8B-B14F-4D97-AF65-F5344CB8AC3E}">
        <p14:creationId xmlns:p14="http://schemas.microsoft.com/office/powerpoint/2010/main" val="13815776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0453236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Idea: basically, keep passing the initial information (unchanged) to the next layer (as well as all the transformed info).</a:t>
            </a:r>
          </a:p>
        </p:txBody>
      </p:sp>
    </p:spTree>
    <p:extLst>
      <p:ext uri="{BB962C8B-B14F-4D97-AF65-F5344CB8AC3E}">
        <p14:creationId xmlns:p14="http://schemas.microsoft.com/office/powerpoint/2010/main" val="1324885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Similar to the idea of boosting – can keep going back to raw data.</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4058217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843479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72471066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083696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5.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5.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5.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5.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5.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4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4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4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4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4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45.xml"/><Relationship Id="rId5" Type="http://schemas.openxmlformats.org/officeDocument/2006/relationships/image" Target="../media/image13.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4.xml"/><Relationship Id="rId1" Type="http://schemas.openxmlformats.org/officeDocument/2006/relationships/slideLayout" Target="../slideLayouts/slideLayout45.xml"/><Relationship Id="rId6" Type="http://schemas.openxmlformats.org/officeDocument/2006/relationships/image" Target="../media/image15.png"/><Relationship Id="rId5" Type="http://schemas.openxmlformats.org/officeDocument/2006/relationships/image" Target="../media/image140.png"/><Relationship Id="rId4" Type="http://schemas.openxmlformats.org/officeDocument/2006/relationships/image" Target="../media/image1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45.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45.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45.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45.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45.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45.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4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5.xml"/></Relationships>
</file>

<file path=ppt/slides/_rels/slide3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6.xml"/><Relationship Id="rId1" Type="http://schemas.openxmlformats.org/officeDocument/2006/relationships/slideLayout" Target="../slideLayouts/slideLayout45.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4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455613" y="2263209"/>
            <a:ext cx="8212886" cy="1102519"/>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4000" b="0" i="0" u="none" strike="noStrike" cap="none" dirty="0" smtClean="0">
                <a:solidFill>
                  <a:srgbClr val="FFFFFF"/>
                </a:solidFill>
                <a:latin typeface="Avenir Book" charset="0"/>
                <a:ea typeface="Avenir Book" charset="0"/>
                <a:cs typeface="Avenir Book" charset="0"/>
                <a:sym typeface="Source Code Pro"/>
              </a:rPr>
              <a:t>Convolutional Neural Net Architectures</a:t>
            </a:r>
            <a:endParaRPr lang="en" sz="4000" b="0" i="0" u="none" strike="noStrike" cap="none"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454886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AlexNet</a:t>
            </a:r>
            <a:endParaRPr lang="en-US" dirty="0">
              <a:latin typeface="Avenir Book" charset="0"/>
              <a:ea typeface="Avenir Book" charset="0"/>
              <a:cs typeface="Avenir Book" charset="0"/>
            </a:endParaRPr>
          </a:p>
        </p:txBody>
      </p:sp>
      <p:sp>
        <p:nvSpPr>
          <p:cNvPr id="75" name="Rectangle 74"/>
          <p:cNvSpPr/>
          <p:nvPr/>
        </p:nvSpPr>
        <p:spPr>
          <a:xfrm>
            <a:off x="398352" y="1227244"/>
            <a:ext cx="8192764" cy="3477875"/>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Created in 2012 for the ImageNet Large Scale Visual Recognition Challenge (ILSVRC)</a:t>
            </a:r>
          </a:p>
          <a:p>
            <a:pPr marL="457200" lvl="0" indent="-457200">
              <a:buFont typeface="Arial" charset="0"/>
              <a:buChar char="•"/>
            </a:pPr>
            <a:r>
              <a:rPr lang="en-US" sz="2200" dirty="0" smtClean="0">
                <a:latin typeface="Avenir Book" charset="0"/>
                <a:ea typeface="Avenir Book" charset="0"/>
                <a:cs typeface="Avenir Book" charset="0"/>
              </a:rPr>
              <a:t>Task</a:t>
            </a:r>
            <a:r>
              <a:rPr lang="en-US" sz="2200" dirty="0">
                <a:latin typeface="Avenir Book" charset="0"/>
                <a:ea typeface="Avenir Book" charset="0"/>
                <a:cs typeface="Avenir Book" charset="0"/>
              </a:rPr>
              <a:t>: predict the correct label from among 1000 </a:t>
            </a:r>
            <a:r>
              <a:rPr lang="en-US" sz="2200" dirty="0" smtClean="0">
                <a:latin typeface="Avenir Book" charset="0"/>
                <a:ea typeface="Avenir Book" charset="0"/>
                <a:cs typeface="Avenir Book" charset="0"/>
              </a:rPr>
              <a:t>classes</a:t>
            </a:r>
          </a:p>
          <a:p>
            <a:pPr marL="457200" lvl="0" indent="-457200">
              <a:buFont typeface="Arial" charset="0"/>
              <a:buChar char="•"/>
            </a:pPr>
            <a:r>
              <a:rPr lang="en-US" sz="2200" dirty="0" smtClean="0">
                <a:latin typeface="Avenir Book" charset="0"/>
                <a:ea typeface="Avenir Book" charset="0"/>
                <a:cs typeface="Avenir Book" charset="0"/>
              </a:rPr>
              <a:t>Dataset</a:t>
            </a:r>
            <a:r>
              <a:rPr lang="en-US" sz="2200" dirty="0">
                <a:latin typeface="Avenir Book" charset="0"/>
                <a:ea typeface="Avenir Book" charset="0"/>
                <a:cs typeface="Avenir Book" charset="0"/>
              </a:rPr>
              <a:t>: around 1.2 million </a:t>
            </a:r>
            <a:r>
              <a:rPr lang="en-US" sz="2200" dirty="0" smtClean="0">
                <a:latin typeface="Avenir Book" charset="0"/>
                <a:ea typeface="Avenir Book" charset="0"/>
                <a:cs typeface="Avenir Book" charset="0"/>
              </a:rPr>
              <a:t>images</a:t>
            </a:r>
          </a:p>
          <a:p>
            <a:pPr marL="457200" lvl="0" indent="-457200">
              <a:buFont typeface="Arial" charset="0"/>
              <a:buChar char="•"/>
            </a:pPr>
            <a:r>
              <a:rPr lang="en-US" sz="2200" dirty="0" smtClean="0">
                <a:latin typeface="Avenir Book" charset="0"/>
                <a:ea typeface="Avenir Book" charset="0"/>
                <a:cs typeface="Avenir Book" charset="0"/>
              </a:rPr>
              <a:t>Considered </a:t>
            </a:r>
            <a:r>
              <a:rPr lang="en-US" sz="2200" dirty="0">
                <a:latin typeface="Avenir Book" charset="0"/>
                <a:ea typeface="Avenir Book" charset="0"/>
                <a:cs typeface="Avenir Book" charset="0"/>
              </a:rPr>
              <a:t>the “flash point” for modern deep </a:t>
            </a:r>
            <a:r>
              <a:rPr lang="en-US" sz="2200" dirty="0" smtClean="0">
                <a:latin typeface="Avenir Book" charset="0"/>
                <a:ea typeface="Avenir Book" charset="0"/>
                <a:cs typeface="Avenir Book" charset="0"/>
              </a:rPr>
              <a:t>learning</a:t>
            </a:r>
          </a:p>
          <a:p>
            <a:pPr marL="457200" lvl="0" indent="-457200">
              <a:buFont typeface="Arial" charset="0"/>
              <a:buChar char="•"/>
            </a:pPr>
            <a:r>
              <a:rPr lang="en-US" sz="2200" dirty="0" smtClean="0">
                <a:latin typeface="Avenir Book" charset="0"/>
                <a:ea typeface="Avenir Book" charset="0"/>
                <a:cs typeface="Avenir Book" charset="0"/>
              </a:rPr>
              <a:t>Demolished </a:t>
            </a:r>
            <a:r>
              <a:rPr lang="en-US" sz="2200" dirty="0">
                <a:latin typeface="Avenir Book" charset="0"/>
                <a:ea typeface="Avenir Book" charset="0"/>
                <a:cs typeface="Avenir Book" charset="0"/>
              </a:rPr>
              <a:t>the </a:t>
            </a:r>
            <a:r>
              <a:rPr lang="en-US" sz="2200" dirty="0" smtClean="0">
                <a:latin typeface="Avenir Book" charset="0"/>
                <a:ea typeface="Avenir Book" charset="0"/>
                <a:cs typeface="Avenir Book" charset="0"/>
              </a:rPr>
              <a:t>competition.</a:t>
            </a:r>
          </a:p>
          <a:p>
            <a:pPr marL="457200" lvl="0" indent="-457200">
              <a:buFont typeface="Arial" charset="0"/>
              <a:buChar char="•"/>
            </a:pPr>
            <a:r>
              <a:rPr lang="en-US" sz="2200" dirty="0" smtClean="0">
                <a:latin typeface="Avenir Book" charset="0"/>
                <a:ea typeface="Avenir Book" charset="0"/>
                <a:cs typeface="Avenir Book" charset="0"/>
              </a:rPr>
              <a:t>Top </a:t>
            </a:r>
            <a:r>
              <a:rPr lang="en-US" sz="2200" dirty="0">
                <a:latin typeface="Avenir Book" charset="0"/>
                <a:ea typeface="Avenir Book" charset="0"/>
                <a:cs typeface="Avenir Book" charset="0"/>
              </a:rPr>
              <a:t>5 error rate of </a:t>
            </a:r>
            <a:r>
              <a:rPr lang="en-US" sz="2200" dirty="0" smtClean="0">
                <a:latin typeface="Avenir Book" charset="0"/>
                <a:ea typeface="Avenir Book" charset="0"/>
                <a:cs typeface="Avenir Book" charset="0"/>
              </a:rPr>
              <a:t>15.4%</a:t>
            </a:r>
          </a:p>
          <a:p>
            <a:pPr marL="457200" lvl="0" indent="-457200">
              <a:buFont typeface="Arial" charset="0"/>
              <a:buChar char="•"/>
            </a:pPr>
            <a:r>
              <a:rPr lang="en-US" sz="2200" dirty="0" smtClean="0">
                <a:latin typeface="Avenir Book" charset="0"/>
                <a:ea typeface="Avenir Book" charset="0"/>
                <a:cs typeface="Avenir Book" charset="0"/>
              </a:rPr>
              <a:t>Next </a:t>
            </a:r>
            <a:r>
              <a:rPr lang="en-US" sz="2200" dirty="0">
                <a:latin typeface="Avenir Book" charset="0"/>
                <a:ea typeface="Avenir Book" charset="0"/>
                <a:cs typeface="Avenir Book" charset="0"/>
              </a:rPr>
              <a:t>best: 26.2%</a:t>
            </a: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5334032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AlexNet</a:t>
            </a:r>
            <a:r>
              <a:rPr lang="en-US" dirty="0" smtClean="0">
                <a:latin typeface="Avenir Book" charset="0"/>
                <a:ea typeface="Avenir Book" charset="0"/>
                <a:cs typeface="Avenir Book" charset="0"/>
              </a:rPr>
              <a:t> - Model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342" y="1406769"/>
            <a:ext cx="7855627" cy="2772575"/>
          </a:xfrm>
          <a:prstGeom prst="rect">
            <a:avLst/>
          </a:prstGeom>
        </p:spPr>
      </p:pic>
    </p:spTree>
    <p:extLst>
      <p:ext uri="{BB962C8B-B14F-4D97-AF65-F5344CB8AC3E}">
        <p14:creationId xmlns:p14="http://schemas.microsoft.com/office/powerpoint/2010/main" val="20238517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AlexNet</a:t>
            </a:r>
            <a:r>
              <a:rPr lang="en-US" dirty="0" smtClean="0">
                <a:latin typeface="Avenir Book" charset="0"/>
                <a:ea typeface="Avenir Book" charset="0"/>
                <a:cs typeface="Avenir Book" charset="0"/>
              </a:rPr>
              <a:t> - Details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They performed </a:t>
            </a:r>
            <a:r>
              <a:rPr lang="en-US" sz="2200" i="1" dirty="0">
                <a:latin typeface="Avenir Book" charset="0"/>
                <a:ea typeface="Avenir Book" charset="0"/>
                <a:cs typeface="Avenir Book" charset="0"/>
              </a:rPr>
              <a:t>data augmentation </a:t>
            </a:r>
            <a:r>
              <a:rPr lang="en-US" sz="2200" dirty="0">
                <a:latin typeface="Avenir Book" charset="0"/>
                <a:ea typeface="Avenir Book" charset="0"/>
                <a:cs typeface="Avenir Book" charset="0"/>
              </a:rPr>
              <a:t>for </a:t>
            </a:r>
            <a:r>
              <a:rPr lang="en-US" sz="2200" dirty="0" smtClean="0">
                <a:latin typeface="Avenir Book" charset="0"/>
                <a:ea typeface="Avenir Book" charset="0"/>
                <a:cs typeface="Avenir Book" charset="0"/>
              </a:rPr>
              <a:t>training</a:t>
            </a:r>
          </a:p>
          <a:p>
            <a:pPr marL="457200" lvl="0" indent="-457200">
              <a:buFont typeface="Arial" charset="0"/>
              <a:buChar char="•"/>
            </a:pPr>
            <a:r>
              <a:rPr lang="en-US" sz="2200" dirty="0" smtClean="0">
                <a:latin typeface="Avenir Book" charset="0"/>
                <a:ea typeface="Avenir Book" charset="0"/>
                <a:cs typeface="Avenir Book" charset="0"/>
              </a:rPr>
              <a:t>Includes Cropping</a:t>
            </a:r>
            <a:r>
              <a:rPr lang="en-US" sz="2200" dirty="0">
                <a:latin typeface="Avenir Book" charset="0"/>
                <a:ea typeface="Avenir Book" charset="0"/>
                <a:cs typeface="Avenir Book" charset="0"/>
              </a:rPr>
              <a:t>, horizontal flipping, and </a:t>
            </a:r>
            <a:r>
              <a:rPr lang="en-US" sz="2200" dirty="0" smtClean="0">
                <a:latin typeface="Avenir Book" charset="0"/>
                <a:ea typeface="Avenir Book" charset="0"/>
                <a:cs typeface="Avenir Book" charset="0"/>
              </a:rPr>
              <a:t>other manipulations</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3632339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AlexNet</a:t>
            </a:r>
            <a:r>
              <a:rPr lang="en-US" dirty="0" smtClean="0">
                <a:latin typeface="Avenir Book" charset="0"/>
                <a:ea typeface="Avenir Book" charset="0"/>
                <a:cs typeface="Avenir Book" charset="0"/>
              </a:rPr>
              <a:t> - Details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They performed </a:t>
            </a:r>
            <a:r>
              <a:rPr lang="en-US" sz="2200" i="1" dirty="0">
                <a:latin typeface="Avenir Book" charset="0"/>
                <a:ea typeface="Avenir Book" charset="0"/>
                <a:cs typeface="Avenir Book" charset="0"/>
              </a:rPr>
              <a:t>data augmentation </a:t>
            </a:r>
            <a:r>
              <a:rPr lang="en-US" sz="2200" dirty="0">
                <a:latin typeface="Avenir Book" charset="0"/>
                <a:ea typeface="Avenir Book" charset="0"/>
                <a:cs typeface="Avenir Book" charset="0"/>
              </a:rPr>
              <a:t>for </a:t>
            </a:r>
            <a:r>
              <a:rPr lang="en-US" sz="2200" dirty="0" smtClean="0">
                <a:latin typeface="Avenir Book" charset="0"/>
                <a:ea typeface="Avenir Book" charset="0"/>
                <a:cs typeface="Avenir Book" charset="0"/>
              </a:rPr>
              <a:t>training</a:t>
            </a:r>
          </a:p>
          <a:p>
            <a:pPr marL="919163" lvl="6" indent="-454025">
              <a:buFont typeface="Arial" charset="0"/>
              <a:buChar char="•"/>
            </a:pPr>
            <a:r>
              <a:rPr lang="en-US" sz="2200" dirty="0" smtClean="0">
                <a:latin typeface="Avenir Book" charset="0"/>
                <a:ea typeface="Avenir Book" charset="0"/>
                <a:cs typeface="Avenir Book" charset="0"/>
              </a:rPr>
              <a:t>Cropping</a:t>
            </a:r>
            <a:r>
              <a:rPr lang="en-US" sz="2200" dirty="0">
                <a:latin typeface="Avenir Book" charset="0"/>
                <a:ea typeface="Avenir Book" charset="0"/>
                <a:cs typeface="Avenir Book" charset="0"/>
              </a:rPr>
              <a:t>, horizontal flipping, and </a:t>
            </a:r>
            <a:r>
              <a:rPr lang="en-US" sz="2200" dirty="0" smtClean="0">
                <a:latin typeface="Avenir Book" charset="0"/>
                <a:ea typeface="Avenir Book" charset="0"/>
                <a:cs typeface="Avenir Book" charset="0"/>
              </a:rPr>
              <a:t>other manipulations</a:t>
            </a:r>
          </a:p>
          <a:p>
            <a:pPr marL="457200" lvl="1" indent="-457200">
              <a:buFont typeface="Wingdings" charset="2"/>
              <a:buChar char="§"/>
            </a:pPr>
            <a:endParaRPr lang="en-US" sz="22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Basic Template:</a:t>
            </a:r>
          </a:p>
          <a:p>
            <a:pPr marL="919163" lvl="1" indent="-454025">
              <a:buFont typeface="Arial" charset="0"/>
              <a:buChar char="•"/>
            </a:pPr>
            <a:r>
              <a:rPr lang="en-US" sz="2200" dirty="0">
                <a:latin typeface="Avenir Book" charset="0"/>
                <a:ea typeface="Avenir Book" charset="0"/>
                <a:cs typeface="Avenir Book" charset="0"/>
              </a:rPr>
              <a:t>Convolutions with </a:t>
            </a:r>
            <a:r>
              <a:rPr lang="en-US" sz="2200" dirty="0" err="1">
                <a:latin typeface="Avenir Book" charset="0"/>
                <a:ea typeface="Avenir Book" charset="0"/>
                <a:cs typeface="Avenir Book" charset="0"/>
              </a:rPr>
              <a:t>ReLUs</a:t>
            </a:r>
            <a:endParaRPr lang="en-US" sz="2200" dirty="0">
              <a:latin typeface="Avenir Book" charset="0"/>
              <a:ea typeface="Avenir Book" charset="0"/>
              <a:cs typeface="Avenir Book" charset="0"/>
            </a:endParaRPr>
          </a:p>
          <a:p>
            <a:pPr marL="919163" lvl="1" indent="-454025">
              <a:buFont typeface="Arial" charset="0"/>
              <a:buChar char="•"/>
            </a:pPr>
            <a:r>
              <a:rPr lang="en-US" sz="2200" dirty="0">
                <a:latin typeface="Avenir Book" charset="0"/>
                <a:ea typeface="Avenir Book" charset="0"/>
                <a:cs typeface="Avenir Book" charset="0"/>
              </a:rPr>
              <a:t>Sometimes add </a:t>
            </a:r>
            <a:r>
              <a:rPr lang="en-US" sz="2200" dirty="0" err="1">
                <a:latin typeface="Avenir Book" charset="0"/>
                <a:ea typeface="Avenir Book" charset="0"/>
                <a:cs typeface="Avenir Book" charset="0"/>
              </a:rPr>
              <a:t>maxpool</a:t>
            </a:r>
            <a:r>
              <a:rPr lang="en-US" sz="2200" dirty="0">
                <a:latin typeface="Avenir Book" charset="0"/>
                <a:ea typeface="Avenir Book" charset="0"/>
                <a:cs typeface="Avenir Book" charset="0"/>
              </a:rPr>
              <a:t> after convolutional layer</a:t>
            </a:r>
          </a:p>
          <a:p>
            <a:pPr marL="919163" lvl="1" indent="-454025">
              <a:buFont typeface="Arial" charset="0"/>
              <a:buChar char="•"/>
            </a:pPr>
            <a:r>
              <a:rPr lang="en-US" sz="2200" dirty="0">
                <a:latin typeface="Avenir Book" charset="0"/>
                <a:ea typeface="Avenir Book" charset="0"/>
                <a:cs typeface="Avenir Book" charset="0"/>
              </a:rPr>
              <a:t>Fully connected layers at the end before a </a:t>
            </a:r>
            <a:r>
              <a:rPr lang="en-US" sz="2200" dirty="0" err="1">
                <a:latin typeface="Avenir Book" charset="0"/>
                <a:ea typeface="Avenir Book" charset="0"/>
                <a:cs typeface="Avenir Book" charset="0"/>
              </a:rPr>
              <a:t>softmax</a:t>
            </a:r>
            <a:r>
              <a:rPr lang="en-US" sz="2200" dirty="0">
                <a:latin typeface="Avenir Book" charset="0"/>
                <a:ea typeface="Avenir Book" charset="0"/>
                <a:cs typeface="Avenir Book" charset="0"/>
              </a:rPr>
              <a:t> </a:t>
            </a:r>
            <a:r>
              <a:rPr lang="en-US" sz="2200" dirty="0" smtClean="0">
                <a:latin typeface="Avenir Book" charset="0"/>
                <a:ea typeface="Avenir Book" charset="0"/>
                <a:cs typeface="Avenir Book" charset="0"/>
              </a:rPr>
              <a:t>classifier</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7696644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sp>
        <p:nvSpPr>
          <p:cNvPr id="75" name="Rectangle 74"/>
          <p:cNvSpPr/>
          <p:nvPr/>
        </p:nvSpPr>
        <p:spPr>
          <a:xfrm>
            <a:off x="398352" y="1227244"/>
            <a:ext cx="8192764" cy="2908489"/>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Simplify Network Structure</a:t>
            </a:r>
          </a:p>
          <a:p>
            <a:pPr marL="457200" lvl="0" indent="-457200">
              <a:buFont typeface="Arial" charset="0"/>
              <a:buChar char="•"/>
            </a:pPr>
            <a:r>
              <a:rPr lang="en-US" sz="2200" dirty="0" smtClean="0">
                <a:latin typeface="Avenir Book" charset="0"/>
                <a:ea typeface="Avenir Book" charset="0"/>
                <a:cs typeface="Avenir Book" charset="0"/>
              </a:rPr>
              <a:t>Avoid Manual Choices of Convolution Size</a:t>
            </a:r>
          </a:p>
          <a:p>
            <a:pPr marL="457200" lvl="0" indent="-457200">
              <a:buFont typeface="Arial" charset="0"/>
              <a:buChar char="•"/>
            </a:pPr>
            <a:r>
              <a:rPr lang="en-US" sz="2200" dirty="0" smtClean="0">
                <a:latin typeface="Avenir Book" charset="0"/>
                <a:ea typeface="Avenir Book" charset="0"/>
                <a:cs typeface="Avenir Book" charset="0"/>
              </a:rPr>
              <a:t>Very Deep Network with 3x3 Convolutions</a:t>
            </a:r>
          </a:p>
          <a:p>
            <a:pPr marL="457200" lvl="0" indent="-457200">
              <a:buFont typeface="Arial" charset="0"/>
              <a:buChar char="•"/>
            </a:pPr>
            <a:r>
              <a:rPr lang="en-US" sz="2200" dirty="0" smtClean="0">
                <a:latin typeface="Avenir Book" charset="0"/>
                <a:ea typeface="Avenir Book" charset="0"/>
                <a:cs typeface="Avenir Book" charset="0"/>
              </a:rPr>
              <a:t>These “effectively” give rise to larger convolutions</a:t>
            </a:r>
          </a:p>
          <a:p>
            <a:pPr marL="457200" lvl="0" indent="-457200">
              <a:buFont typeface="Arial" charset="0"/>
              <a:buChar char="•"/>
            </a:pPr>
            <a:endParaRPr lang="en-US" sz="2200" dirty="0">
              <a:latin typeface="Avenir Book" charset="0"/>
              <a:ea typeface="Avenir Book" charset="0"/>
              <a:cs typeface="Avenir Book" charset="0"/>
            </a:endParaRPr>
          </a:p>
          <a:p>
            <a:r>
              <a:rPr lang="en-US" sz="1800" dirty="0" smtClean="0">
                <a:latin typeface="Avenir Book" charset="0"/>
                <a:ea typeface="Avenir Book" charset="0"/>
                <a:cs typeface="Avenir Book" charset="0"/>
              </a:rPr>
              <a:t>Reference:</a:t>
            </a:r>
          </a:p>
          <a:p>
            <a:r>
              <a:rPr lang="en-US" sz="1800" i="1" dirty="0" smtClean="0">
                <a:latin typeface="Avenir Book" charset="0"/>
                <a:ea typeface="Avenir Book" charset="0"/>
                <a:cs typeface="Avenir Book" charset="0"/>
              </a:rPr>
              <a:t>Very </a:t>
            </a:r>
            <a:r>
              <a:rPr lang="en-US" sz="1800" i="1" dirty="0">
                <a:latin typeface="Avenir Book" charset="0"/>
                <a:ea typeface="Avenir Book" charset="0"/>
                <a:cs typeface="Avenir Book" charset="0"/>
              </a:rPr>
              <a:t>Deep Convolutional Networks for Large-Scale Image Recognition</a:t>
            </a:r>
          </a:p>
          <a:p>
            <a:pPr lvl="1"/>
            <a:r>
              <a:rPr lang="en-US" sz="1500" dirty="0">
                <a:latin typeface="Avenir Book" charset="0"/>
                <a:ea typeface="Avenir Book" charset="0"/>
                <a:cs typeface="Avenir Book" charset="0"/>
              </a:rPr>
              <a:t>Karen </a:t>
            </a:r>
            <a:r>
              <a:rPr lang="en-US" sz="1500" dirty="0" err="1">
                <a:latin typeface="Avenir Book" charset="0"/>
                <a:ea typeface="Avenir Book" charset="0"/>
                <a:cs typeface="Avenir Book" charset="0"/>
              </a:rPr>
              <a:t>Simonyan</a:t>
            </a:r>
            <a:r>
              <a:rPr lang="en-US" sz="1500" dirty="0">
                <a:latin typeface="Avenir Book" charset="0"/>
                <a:ea typeface="Avenir Book" charset="0"/>
                <a:cs typeface="Avenir Book" charset="0"/>
              </a:rPr>
              <a:t> and Andrew Zisserman, </a:t>
            </a:r>
            <a:r>
              <a:rPr lang="en-US" sz="1500" dirty="0" smtClean="0">
                <a:latin typeface="Avenir Book" charset="0"/>
                <a:ea typeface="Avenir Book" charset="0"/>
                <a:cs typeface="Avenir Book" charset="0"/>
              </a:rPr>
              <a:t>2014</a:t>
            </a: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511299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VGG16 Diagram</a:t>
            </a:r>
            <a:endParaRPr lang="en-US" dirty="0">
              <a:latin typeface="Avenir Book" charset="0"/>
              <a:ea typeface="Avenir Book" charset="0"/>
              <a:cs typeface="Avenir Book"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2766" y="941754"/>
            <a:ext cx="5969000" cy="3505200"/>
          </a:xfrm>
          <a:prstGeom prst="rect">
            <a:avLst/>
          </a:prstGeom>
        </p:spPr>
      </p:pic>
    </p:spTree>
    <p:extLst>
      <p:ext uri="{BB962C8B-B14F-4D97-AF65-F5344CB8AC3E}">
        <p14:creationId xmlns:p14="http://schemas.microsoft.com/office/powerpoint/2010/main" val="12334148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sp>
        <p:nvSpPr>
          <p:cNvPr id="5" name="TextBox 4"/>
          <p:cNvSpPr txBox="1"/>
          <p:nvPr/>
        </p:nvSpPr>
        <p:spPr>
          <a:xfrm>
            <a:off x="1779410" y="4283833"/>
            <a:ext cx="635110" cy="253916"/>
          </a:xfrm>
          <a:prstGeom prst="rect">
            <a:avLst/>
          </a:prstGeom>
          <a:noFill/>
        </p:spPr>
        <p:txBody>
          <a:bodyPr wrap="none" rtlCol="0">
            <a:spAutoFit/>
          </a:bodyPr>
          <a:lstStyle/>
          <a:p>
            <a:r>
              <a:rPr lang="en-US" sz="1050" dirty="0"/>
              <a:t>Layer 1</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sp>
        <p:nvSpPr>
          <p:cNvPr id="8" name="TextBox 7"/>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9" name="TextBox 8"/>
          <p:cNvSpPr txBox="1"/>
          <p:nvPr/>
        </p:nvSpPr>
        <p:spPr>
          <a:xfrm>
            <a:off x="7327935" y="4267308"/>
            <a:ext cx="635110" cy="253916"/>
          </a:xfrm>
          <a:prstGeom prst="rect">
            <a:avLst/>
          </a:prstGeom>
          <a:noFill/>
        </p:spPr>
        <p:txBody>
          <a:bodyPr wrap="none" rtlCol="0">
            <a:spAutoFit/>
          </a:bodyPr>
          <a:lstStyle/>
          <a:p>
            <a:r>
              <a:rPr lang="en-US" sz="1050" dirty="0"/>
              <a:t>Layer 3</a:t>
            </a:r>
          </a:p>
        </p:txBody>
      </p:sp>
      <p:cxnSp>
        <p:nvCxnSpPr>
          <p:cNvPr id="10" name="Straight Arrow Connector 9"/>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821681" y="4544307"/>
            <a:ext cx="574196" cy="253916"/>
          </a:xfrm>
          <a:prstGeom prst="rect">
            <a:avLst/>
          </a:prstGeom>
          <a:noFill/>
        </p:spPr>
        <p:txBody>
          <a:bodyPr wrap="none" rtlCol="0">
            <a:spAutoFit/>
          </a:bodyPr>
          <a:lstStyle/>
          <a:p>
            <a:r>
              <a:rPr lang="en-US" sz="1050" dirty="0"/>
              <a:t>(Input)</a:t>
            </a:r>
          </a:p>
        </p:txBody>
      </p:sp>
    </p:spTree>
    <p:extLst>
      <p:ext uri="{BB962C8B-B14F-4D97-AF65-F5344CB8AC3E}">
        <p14:creationId xmlns:p14="http://schemas.microsoft.com/office/powerpoint/2010/main" val="14258701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sp>
        <p:nvSpPr>
          <p:cNvPr id="14" name="TextBox 13"/>
          <p:cNvSpPr txBox="1"/>
          <p:nvPr/>
        </p:nvSpPr>
        <p:spPr>
          <a:xfrm>
            <a:off x="1779410" y="4283833"/>
            <a:ext cx="635110" cy="253916"/>
          </a:xfrm>
          <a:prstGeom prst="rect">
            <a:avLst/>
          </a:prstGeom>
          <a:noFill/>
        </p:spPr>
        <p:txBody>
          <a:bodyPr wrap="none" rtlCol="0">
            <a:spAutoFit/>
          </a:bodyPr>
          <a:lstStyle/>
          <a:p>
            <a:r>
              <a:rPr lang="en-US" sz="1050" dirty="0"/>
              <a:t>Layer 1</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sp>
        <p:nvSpPr>
          <p:cNvPr id="17" name="TextBox 16"/>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18" name="TextBox 17"/>
          <p:cNvSpPr txBox="1"/>
          <p:nvPr/>
        </p:nvSpPr>
        <p:spPr>
          <a:xfrm>
            <a:off x="7327935" y="4267308"/>
            <a:ext cx="635110" cy="253916"/>
          </a:xfrm>
          <a:prstGeom prst="rect">
            <a:avLst/>
          </a:prstGeom>
          <a:noFill/>
        </p:spPr>
        <p:txBody>
          <a:bodyPr wrap="none" rtlCol="0">
            <a:spAutoFit/>
          </a:bodyPr>
          <a:lstStyle/>
          <a:p>
            <a:r>
              <a:rPr lang="en-US" sz="1050" dirty="0"/>
              <a:t>Layer 3</a:t>
            </a:r>
          </a:p>
        </p:txBody>
      </p:sp>
      <p:cxnSp>
        <p:nvCxnSpPr>
          <p:cNvPr id="19" name="Straight Arrow Connector 18"/>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821681" y="4544307"/>
            <a:ext cx="574196" cy="253916"/>
          </a:xfrm>
          <a:prstGeom prst="rect">
            <a:avLst/>
          </a:prstGeom>
          <a:noFill/>
        </p:spPr>
        <p:txBody>
          <a:bodyPr wrap="none" rtlCol="0">
            <a:spAutoFit/>
          </a:bodyPr>
          <a:lstStyle/>
          <a:p>
            <a:r>
              <a:rPr lang="en-US" sz="1050" dirty="0"/>
              <a:t>(Input)</a:t>
            </a:r>
          </a:p>
        </p:txBody>
      </p:sp>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450" y="2228242"/>
            <a:ext cx="800743" cy="800743"/>
          </a:xfrm>
          <a:prstGeom prst="rect">
            <a:avLst/>
          </a:prstGeom>
        </p:spPr>
      </p:pic>
      <p:pic>
        <p:nvPicPr>
          <p:cNvPr id="23" name="Picture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4995" y="2496169"/>
            <a:ext cx="264861" cy="266093"/>
          </a:xfrm>
          <a:prstGeom prst="rect">
            <a:avLst/>
          </a:prstGeom>
        </p:spPr>
      </p:pic>
      <p:cxnSp>
        <p:nvCxnSpPr>
          <p:cNvPr id="24" name="Straight Arrow Connector 23"/>
          <p:cNvCxnSpPr/>
          <p:nvPr/>
        </p:nvCxnSpPr>
        <p:spPr>
          <a:xfrm>
            <a:off x="2452883"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5" name="Right Brace 24"/>
          <p:cNvSpPr/>
          <p:nvPr/>
        </p:nvSpPr>
        <p:spPr>
          <a:xfrm>
            <a:off x="2274314"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Tree>
    <p:extLst>
      <p:ext uri="{BB962C8B-B14F-4D97-AF65-F5344CB8AC3E}">
        <p14:creationId xmlns:p14="http://schemas.microsoft.com/office/powerpoint/2010/main" val="4006155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sp>
        <p:nvSpPr>
          <p:cNvPr id="14" name="TextBox 13"/>
          <p:cNvSpPr txBox="1"/>
          <p:nvPr/>
        </p:nvSpPr>
        <p:spPr>
          <a:xfrm>
            <a:off x="1779410" y="4283833"/>
            <a:ext cx="635110" cy="253916"/>
          </a:xfrm>
          <a:prstGeom prst="rect">
            <a:avLst/>
          </a:prstGeom>
          <a:noFill/>
        </p:spPr>
        <p:txBody>
          <a:bodyPr wrap="none" rtlCol="0">
            <a:spAutoFit/>
          </a:bodyPr>
          <a:lstStyle/>
          <a:p>
            <a:r>
              <a:rPr lang="en-US" sz="1050" dirty="0"/>
              <a:t>Layer 1</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sp>
        <p:nvSpPr>
          <p:cNvPr id="17" name="TextBox 16"/>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18" name="TextBox 17"/>
          <p:cNvSpPr txBox="1"/>
          <p:nvPr/>
        </p:nvSpPr>
        <p:spPr>
          <a:xfrm>
            <a:off x="7327935" y="4267308"/>
            <a:ext cx="635110" cy="253916"/>
          </a:xfrm>
          <a:prstGeom prst="rect">
            <a:avLst/>
          </a:prstGeom>
          <a:noFill/>
        </p:spPr>
        <p:txBody>
          <a:bodyPr wrap="none" rtlCol="0">
            <a:spAutoFit/>
          </a:bodyPr>
          <a:lstStyle/>
          <a:p>
            <a:r>
              <a:rPr lang="en-US" sz="1050" dirty="0"/>
              <a:t>Layer 3</a:t>
            </a:r>
          </a:p>
        </p:txBody>
      </p:sp>
      <p:cxnSp>
        <p:nvCxnSpPr>
          <p:cNvPr id="19" name="Straight Arrow Connector 18"/>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821681" y="4544307"/>
            <a:ext cx="574196" cy="253916"/>
          </a:xfrm>
          <a:prstGeom prst="rect">
            <a:avLst/>
          </a:prstGeom>
          <a:noFill/>
        </p:spPr>
        <p:txBody>
          <a:bodyPr wrap="none" rtlCol="0">
            <a:spAutoFit/>
          </a:bodyPr>
          <a:lstStyle/>
          <a:p>
            <a:r>
              <a:rPr lang="en-US" sz="1050" dirty="0"/>
              <a:t>(Input)</a:t>
            </a:r>
          </a:p>
        </p:txBody>
      </p:sp>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450" y="2228242"/>
            <a:ext cx="800743" cy="800743"/>
          </a:xfrm>
          <a:prstGeom prst="rect">
            <a:avLst/>
          </a:prstGeom>
        </p:spPr>
      </p:pic>
      <p:pic>
        <p:nvPicPr>
          <p:cNvPr id="23" name="Picture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4995" y="2496169"/>
            <a:ext cx="264861" cy="266093"/>
          </a:xfrm>
          <a:prstGeom prst="rect">
            <a:avLst/>
          </a:prstGeom>
        </p:spPr>
      </p:pic>
      <p:cxnSp>
        <p:nvCxnSpPr>
          <p:cNvPr id="24" name="Straight Arrow Connector 23"/>
          <p:cNvCxnSpPr/>
          <p:nvPr/>
        </p:nvCxnSpPr>
        <p:spPr>
          <a:xfrm>
            <a:off x="2452883"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5" name="Right Brace 24"/>
          <p:cNvSpPr/>
          <p:nvPr/>
        </p:nvSpPr>
        <p:spPr>
          <a:xfrm>
            <a:off x="2274314"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Tree>
    <p:extLst>
      <p:ext uri="{BB962C8B-B14F-4D97-AF65-F5344CB8AC3E}">
        <p14:creationId xmlns:p14="http://schemas.microsoft.com/office/powerpoint/2010/main" val="11281530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sp>
        <p:nvSpPr>
          <p:cNvPr id="14" name="TextBox 13"/>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17" name="TextBox 16"/>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18" name="TextBox 17"/>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21" name="TextBox 20"/>
          <p:cNvSpPr txBox="1"/>
          <p:nvPr/>
        </p:nvSpPr>
        <p:spPr>
          <a:xfrm>
            <a:off x="1821681" y="4544307"/>
            <a:ext cx="574196" cy="253916"/>
          </a:xfrm>
          <a:prstGeom prst="rect">
            <a:avLst/>
          </a:prstGeom>
          <a:noFill/>
        </p:spPr>
        <p:txBody>
          <a:bodyPr wrap="none" rtlCol="0">
            <a:spAutoFit/>
          </a:bodyPr>
          <a:lstStyle/>
          <a:p>
            <a:r>
              <a:rPr lang="en-US" sz="1050" dirty="0"/>
              <a:t>(Input)</a:t>
            </a: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sp>
        <p:nvSpPr>
          <p:cNvPr id="27" name="TextBox 26"/>
          <p:cNvSpPr txBox="1"/>
          <p:nvPr/>
        </p:nvSpPr>
        <p:spPr>
          <a:xfrm>
            <a:off x="1779410" y="4283833"/>
            <a:ext cx="635110" cy="253916"/>
          </a:xfrm>
          <a:prstGeom prst="rect">
            <a:avLst/>
          </a:prstGeom>
          <a:noFill/>
        </p:spPr>
        <p:txBody>
          <a:bodyPr wrap="none" rtlCol="0">
            <a:spAutoFit/>
          </a:bodyPr>
          <a:lstStyle/>
          <a:p>
            <a:r>
              <a:rPr lang="en-US" sz="1050" dirty="0"/>
              <a:t>Layer 1</a:t>
            </a:r>
          </a:p>
        </p:txBody>
      </p:sp>
      <p:pic>
        <p:nvPicPr>
          <p:cNvPr id="28"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sp>
        <p:nvSpPr>
          <p:cNvPr id="30" name="TextBox 29"/>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1" name="TextBox 30"/>
          <p:cNvSpPr txBox="1"/>
          <p:nvPr/>
        </p:nvSpPr>
        <p:spPr>
          <a:xfrm>
            <a:off x="7327935" y="4267308"/>
            <a:ext cx="635110" cy="253916"/>
          </a:xfrm>
          <a:prstGeom prst="rect">
            <a:avLst/>
          </a:prstGeom>
          <a:noFill/>
        </p:spPr>
        <p:txBody>
          <a:bodyPr wrap="none" rtlCol="0">
            <a:spAutoFit/>
          </a:bodyPr>
          <a:lstStyle/>
          <a:p>
            <a:r>
              <a:rPr lang="en-US" sz="1050" dirty="0"/>
              <a:t>Layer 3</a:t>
            </a:r>
          </a:p>
        </p:txBody>
      </p:sp>
      <p:cxnSp>
        <p:nvCxnSpPr>
          <p:cNvPr id="32" name="Straight Arrow Connector 31"/>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379038" y="1076386"/>
            <a:ext cx="4719562" cy="323165"/>
          </a:xfrm>
          <a:prstGeom prst="rect">
            <a:avLst/>
          </a:prstGeom>
          <a:noFill/>
        </p:spPr>
        <p:txBody>
          <a:bodyPr wrap="none" rtlCol="0">
            <a:spAutoFit/>
          </a:bodyPr>
          <a:lstStyle/>
          <a:p>
            <a:r>
              <a:rPr lang="en-US" sz="1500" dirty="0"/>
              <a:t>We can say that the “receptive field” of Layer 2 </a:t>
            </a:r>
            <a:r>
              <a:rPr lang="en-US" sz="1500"/>
              <a:t>is 3x3</a:t>
            </a:r>
            <a:endParaRPr lang="en-US" sz="1500" dirty="0"/>
          </a:p>
        </p:txBody>
      </p:sp>
      <p:sp>
        <p:nvSpPr>
          <p:cNvPr id="35" name="TextBox 34"/>
          <p:cNvSpPr txBox="1"/>
          <p:nvPr/>
        </p:nvSpPr>
        <p:spPr>
          <a:xfrm>
            <a:off x="1379038" y="1356500"/>
            <a:ext cx="5129930" cy="323165"/>
          </a:xfrm>
          <a:prstGeom prst="rect">
            <a:avLst/>
          </a:prstGeom>
          <a:noFill/>
        </p:spPr>
        <p:txBody>
          <a:bodyPr wrap="none" rtlCol="0">
            <a:spAutoFit/>
          </a:bodyPr>
          <a:lstStyle/>
          <a:p>
            <a:r>
              <a:rPr lang="en-US" sz="1500" dirty="0"/>
              <a:t>Each output has been influenced by a 3x3 patch of inputs </a:t>
            </a:r>
          </a:p>
        </p:txBody>
      </p:sp>
      <p:pic>
        <p:nvPicPr>
          <p:cNvPr id="36" name="Picture 3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7209" y="2228850"/>
            <a:ext cx="800743" cy="800743"/>
          </a:xfrm>
          <a:prstGeom prst="rect">
            <a:avLst/>
          </a:prstGeom>
          <a:solidFill>
            <a:srgbClr val="0000FF">
              <a:alpha val="12000"/>
            </a:srgbClr>
          </a:solidFill>
        </p:spPr>
      </p:pic>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5818" y="2497400"/>
            <a:ext cx="264861" cy="264861"/>
          </a:xfrm>
          <a:prstGeom prst="rect">
            <a:avLst/>
          </a:prstGeom>
          <a:solidFill>
            <a:srgbClr val="0000FF">
              <a:alpha val="12000"/>
            </a:srgbClr>
          </a:solidFill>
        </p:spPr>
      </p:pic>
    </p:spTree>
    <p:extLst>
      <p:ext uri="{BB962C8B-B14F-4D97-AF65-F5344CB8AC3E}">
        <p14:creationId xmlns:p14="http://schemas.microsoft.com/office/powerpoint/2010/main" val="12176767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28"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32" name="Straight Arrow Connector 31"/>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379039" y="1262773"/>
            <a:ext cx="2239716" cy="323165"/>
          </a:xfrm>
          <a:prstGeom prst="rect">
            <a:avLst/>
          </a:prstGeom>
          <a:noFill/>
        </p:spPr>
        <p:txBody>
          <a:bodyPr wrap="none" rtlCol="0">
            <a:spAutoFit/>
          </a:bodyPr>
          <a:lstStyle/>
          <a:p>
            <a:r>
              <a:rPr lang="en-US" sz="1500" dirty="0"/>
              <a:t>What about on Layer 3?</a:t>
            </a:r>
          </a:p>
        </p:txBody>
      </p:sp>
      <p:pic>
        <p:nvPicPr>
          <p:cNvPr id="36" name="Picture 3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7209" y="2228850"/>
            <a:ext cx="800743" cy="800743"/>
          </a:xfrm>
          <a:prstGeom prst="rect">
            <a:avLst/>
          </a:prstGeom>
          <a:solidFill>
            <a:srgbClr val="0000FF">
              <a:alpha val="12000"/>
            </a:srgbClr>
          </a:solidFill>
        </p:spPr>
      </p:pic>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5818" y="2497400"/>
            <a:ext cx="264861" cy="264861"/>
          </a:xfrm>
          <a:prstGeom prst="rect">
            <a:avLst/>
          </a:prstGeom>
          <a:solidFill>
            <a:srgbClr val="0000FF">
              <a:alpha val="12000"/>
            </a:srgbClr>
          </a:solidFill>
        </p:spPr>
      </p:pic>
      <p:sp>
        <p:nvSpPr>
          <p:cNvPr id="25" name="TextBox 24"/>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27" name="TextBox 26"/>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0" name="TextBox 29"/>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31" name="TextBox 30"/>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34" name="TextBox 33"/>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8" name="TextBox 37"/>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9" name="TextBox 38"/>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171352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28"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29" name="Straight Arrow Connector 28"/>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379039" y="1262773"/>
            <a:ext cx="4742004" cy="323165"/>
          </a:xfrm>
          <a:prstGeom prst="rect">
            <a:avLst/>
          </a:prstGeom>
          <a:noFill/>
        </p:spPr>
        <p:txBody>
          <a:bodyPr wrap="none" rtlCol="0">
            <a:spAutoFit/>
          </a:bodyPr>
          <a:lstStyle/>
          <a:p>
            <a:r>
              <a:rPr lang="en-US" sz="1500" dirty="0"/>
              <a:t>This output on Layer 3 uses a 3x3 patch from Layer 2</a:t>
            </a:r>
          </a:p>
        </p:txBody>
      </p:sp>
      <p:pic>
        <p:nvPicPr>
          <p:cNvPr id="32" name="Pictur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cxnSp>
        <p:nvCxnSpPr>
          <p:cNvPr id="34" name="Straight Arrow Connector 33"/>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5" name="Right Brace 34"/>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36" name="TextBox 35"/>
          <p:cNvSpPr txBox="1"/>
          <p:nvPr/>
        </p:nvSpPr>
        <p:spPr>
          <a:xfrm>
            <a:off x="1379039" y="1597065"/>
            <a:ext cx="3320140" cy="323165"/>
          </a:xfrm>
          <a:prstGeom prst="rect">
            <a:avLst/>
          </a:prstGeom>
          <a:noFill/>
        </p:spPr>
        <p:txBody>
          <a:bodyPr wrap="none" rtlCol="0">
            <a:spAutoFit/>
          </a:bodyPr>
          <a:lstStyle/>
          <a:p>
            <a:r>
              <a:rPr lang="en-US" sz="1500" dirty="0"/>
              <a:t>How much from Layer 1 does it use?</a:t>
            </a:r>
          </a:p>
        </p:txBody>
      </p:sp>
      <p:sp>
        <p:nvSpPr>
          <p:cNvPr id="19" name="TextBox 18"/>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20" name="TextBox 19"/>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22" name="TextBox 21"/>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23" name="TextBox 22"/>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24" name="TextBox 23"/>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25" name="TextBox 24"/>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7" name="TextBox 36"/>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266516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28"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29" name="Straight Arrow Connector 28"/>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32" name="Picture 3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33" name="Picture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pic>
        <p:nvPicPr>
          <p:cNvPr id="34" name="Picture 3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cxnSp>
        <p:nvCxnSpPr>
          <p:cNvPr id="35" name="Straight Arrow Connector 34"/>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6" name="Right Brace 35"/>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37" name="Picture 3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8725" y="1984182"/>
            <a:ext cx="800743" cy="800743"/>
          </a:xfrm>
          <a:prstGeom prst="rect">
            <a:avLst/>
          </a:prstGeom>
        </p:spPr>
      </p:pic>
      <p:cxnSp>
        <p:nvCxnSpPr>
          <p:cNvPr id="38" name="Straight Arrow Connector 37"/>
          <p:cNvCxnSpPr/>
          <p:nvPr/>
        </p:nvCxnSpPr>
        <p:spPr>
          <a:xfrm>
            <a:off x="2206746" y="237621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9" name="Right Brace 38"/>
          <p:cNvSpPr/>
          <p:nvPr/>
        </p:nvSpPr>
        <p:spPr>
          <a:xfrm>
            <a:off x="2028176" y="197999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22" name="TextBox 21"/>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23" name="TextBox 22"/>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24" name="TextBox 23"/>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25" name="TextBox 24"/>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40" name="TextBox 39"/>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41" name="TextBox 40"/>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42" name="TextBox 41"/>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8910580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11" name="Straight Arrow Connector 10"/>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16" name="Pictur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cxnSp>
        <p:nvCxnSpPr>
          <p:cNvPr id="19" name="Straight Arrow Connector 18"/>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22" name="Picture 2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24" name="Picture 2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5455" y="1979420"/>
            <a:ext cx="800743" cy="800743"/>
          </a:xfrm>
          <a:prstGeom prst="rect">
            <a:avLst/>
          </a:prstGeom>
        </p:spPr>
      </p:pic>
      <p:cxnSp>
        <p:nvCxnSpPr>
          <p:cNvPr id="25" name="Straight Arrow Connector 24"/>
          <p:cNvCxnSpPr/>
          <p:nvPr/>
        </p:nvCxnSpPr>
        <p:spPr>
          <a:xfrm>
            <a:off x="2463475" y="2371453"/>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6" name="Right Brace 25"/>
          <p:cNvSpPr/>
          <p:nvPr/>
        </p:nvSpPr>
        <p:spPr>
          <a:xfrm>
            <a:off x="2284906" y="1975230"/>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27" name="TextBox 26"/>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28" name="TextBox 27"/>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29" name="TextBox 28"/>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30" name="TextBox 29"/>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31" name="TextBox 30"/>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2" name="TextBox 31"/>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3" name="TextBox 32"/>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8843204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12" name="Straight Arrow Connector 11"/>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cxnSp>
        <p:nvCxnSpPr>
          <p:cNvPr id="20" name="Straight Arrow Connector 19"/>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23" name="Picture 2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250397"/>
            <a:ext cx="264861" cy="264861"/>
          </a:xfrm>
          <a:prstGeom prst="rect">
            <a:avLst/>
          </a:prstGeom>
          <a:solidFill>
            <a:srgbClr val="0000FF">
              <a:alpha val="12000"/>
            </a:srgbClr>
          </a:solidFill>
        </p:spPr>
      </p:pic>
      <p:pic>
        <p:nvPicPr>
          <p:cNvPr id="25" name="Picture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1979224"/>
            <a:ext cx="800743" cy="800743"/>
          </a:xfrm>
          <a:prstGeom prst="rect">
            <a:avLst/>
          </a:prstGeom>
          <a:solidFill>
            <a:srgbClr val="0000FF">
              <a:alpha val="12000"/>
            </a:srgbClr>
          </a:solidFill>
        </p:spPr>
      </p:pic>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2630" y="1979420"/>
            <a:ext cx="800743" cy="800743"/>
          </a:xfrm>
          <a:prstGeom prst="rect">
            <a:avLst/>
          </a:prstGeom>
        </p:spPr>
      </p:pic>
      <p:cxnSp>
        <p:nvCxnSpPr>
          <p:cNvPr id="27" name="Straight Arrow Connector 26"/>
          <p:cNvCxnSpPr/>
          <p:nvPr/>
        </p:nvCxnSpPr>
        <p:spPr>
          <a:xfrm>
            <a:off x="2720650" y="2371453"/>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8" name="Right Brace 27"/>
          <p:cNvSpPr/>
          <p:nvPr/>
        </p:nvSpPr>
        <p:spPr>
          <a:xfrm>
            <a:off x="2542081" y="1975230"/>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29" name="TextBox 28"/>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0" name="TextBox 29"/>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1" name="TextBox 30"/>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32" name="TextBox 31"/>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33" name="TextBox 32"/>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4" name="TextBox 33"/>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5" name="TextBox 34"/>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8992864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250397"/>
            <a:ext cx="264861" cy="264861"/>
          </a:xfrm>
          <a:prstGeom prst="rect">
            <a:avLst/>
          </a:prstGeom>
          <a:solidFill>
            <a:srgbClr val="0000FF">
              <a:alpha val="12000"/>
            </a:srgbClr>
          </a:solidFill>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13" name="Straight Arrow Connector 12"/>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cxnSp>
        <p:nvCxnSpPr>
          <p:cNvPr id="22" name="Straight Arrow Connector 21"/>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24" name="Picture 2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25" name="Picture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1979224"/>
            <a:ext cx="800743" cy="800743"/>
          </a:xfrm>
          <a:prstGeom prst="rect">
            <a:avLst/>
          </a:prstGeom>
          <a:solidFill>
            <a:srgbClr val="0000FF">
              <a:alpha val="12000"/>
            </a:srgbClr>
          </a:solidFill>
        </p:spPr>
      </p:pic>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505711"/>
            <a:ext cx="264861" cy="264861"/>
          </a:xfrm>
          <a:prstGeom prst="rect">
            <a:avLst/>
          </a:prstGeom>
          <a:solidFill>
            <a:srgbClr val="0000FF">
              <a:alpha val="12000"/>
            </a:srgbClr>
          </a:solidFill>
        </p:spPr>
      </p:pic>
      <p:pic>
        <p:nvPicPr>
          <p:cNvPr id="27" name="Picture 2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231608"/>
            <a:ext cx="800743" cy="800743"/>
          </a:xfrm>
          <a:prstGeom prst="rect">
            <a:avLst/>
          </a:prstGeom>
          <a:solidFill>
            <a:srgbClr val="0000FF">
              <a:alpha val="12000"/>
            </a:srgbClr>
          </a:solidFill>
        </p:spPr>
      </p:pic>
      <p:pic>
        <p:nvPicPr>
          <p:cNvPr id="28" name="Picture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8280" y="2236371"/>
            <a:ext cx="800743" cy="800743"/>
          </a:xfrm>
          <a:prstGeom prst="rect">
            <a:avLst/>
          </a:prstGeom>
        </p:spPr>
      </p:pic>
      <p:cxnSp>
        <p:nvCxnSpPr>
          <p:cNvPr id="29" name="Straight Arrow Connector 28"/>
          <p:cNvCxnSpPr/>
          <p:nvPr/>
        </p:nvCxnSpPr>
        <p:spPr>
          <a:xfrm>
            <a:off x="2206300" y="2628404"/>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0" name="Right Brace 29"/>
          <p:cNvSpPr/>
          <p:nvPr/>
        </p:nvSpPr>
        <p:spPr>
          <a:xfrm>
            <a:off x="2027731" y="2232180"/>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31" name="TextBox 30"/>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2" name="TextBox 31"/>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3" name="TextBox 32"/>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34" name="TextBox 33"/>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35" name="TextBox 34"/>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6" name="TextBox 35"/>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7" name="TextBox 36"/>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3583865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250397"/>
            <a:ext cx="264861" cy="264861"/>
          </a:xfrm>
          <a:prstGeom prst="rect">
            <a:avLst/>
          </a:prstGeom>
          <a:solidFill>
            <a:srgbClr val="0000FF">
              <a:alpha val="12000"/>
            </a:srgbClr>
          </a:solidFill>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505711"/>
            <a:ext cx="264861" cy="264861"/>
          </a:xfrm>
          <a:prstGeom prst="rect">
            <a:avLst/>
          </a:prstGeom>
          <a:solidFill>
            <a:srgbClr val="0000FF">
              <a:alpha val="12000"/>
            </a:srgbClr>
          </a:solidFill>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15" name="Straight Arrow Connector 14"/>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20" name="Picture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22" name="Picture 2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cxnSp>
        <p:nvCxnSpPr>
          <p:cNvPr id="23" name="Straight Arrow Connector 22"/>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25" name="Picture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26" name="Picture 2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1979224"/>
            <a:ext cx="800743" cy="800743"/>
          </a:xfrm>
          <a:prstGeom prst="rect">
            <a:avLst/>
          </a:prstGeom>
          <a:solidFill>
            <a:srgbClr val="0000FF">
              <a:alpha val="12000"/>
            </a:srgbClr>
          </a:solidFill>
        </p:spPr>
      </p:pic>
      <p:pic>
        <p:nvPicPr>
          <p:cNvPr id="27" name="Picture 2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231608"/>
            <a:ext cx="800743" cy="800743"/>
          </a:xfrm>
          <a:prstGeom prst="rect">
            <a:avLst/>
          </a:prstGeom>
          <a:solidFill>
            <a:srgbClr val="0000FF">
              <a:alpha val="12000"/>
            </a:srgbClr>
          </a:solidFill>
        </p:spPr>
      </p:pic>
      <p:pic>
        <p:nvPicPr>
          <p:cNvPr id="28"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7640" y="2505711"/>
            <a:ext cx="264861" cy="264861"/>
          </a:xfrm>
          <a:prstGeom prst="rect">
            <a:avLst/>
          </a:prstGeom>
          <a:solidFill>
            <a:srgbClr val="0000FF">
              <a:alpha val="12000"/>
            </a:srgbClr>
          </a:solidFill>
        </p:spPr>
      </p:pic>
      <p:pic>
        <p:nvPicPr>
          <p:cNvPr id="29" name="Picture 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8653" y="2231608"/>
            <a:ext cx="800743" cy="800743"/>
          </a:xfrm>
          <a:prstGeom prst="rect">
            <a:avLst/>
          </a:prstGeom>
          <a:solidFill>
            <a:srgbClr val="0000FF">
              <a:alpha val="12000"/>
            </a:srgbClr>
          </a:solidFill>
        </p:spPr>
      </p:pic>
      <p:pic>
        <p:nvPicPr>
          <p:cNvPr id="30" name="Picture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5900" y="2233041"/>
            <a:ext cx="800743" cy="800743"/>
          </a:xfrm>
          <a:prstGeom prst="rect">
            <a:avLst/>
          </a:prstGeom>
        </p:spPr>
      </p:pic>
      <p:cxnSp>
        <p:nvCxnSpPr>
          <p:cNvPr id="31" name="Straight Arrow Connector 30"/>
          <p:cNvCxnSpPr/>
          <p:nvPr/>
        </p:nvCxnSpPr>
        <p:spPr>
          <a:xfrm>
            <a:off x="2463921" y="2625074"/>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2" name="Right Brace 31"/>
          <p:cNvSpPr/>
          <p:nvPr/>
        </p:nvSpPr>
        <p:spPr>
          <a:xfrm>
            <a:off x="2285351" y="2228850"/>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33" name="TextBox 32"/>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4" name="TextBox 33"/>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5" name="TextBox 34"/>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36" name="TextBox 35"/>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37" name="TextBox 36"/>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8" name="TextBox 37"/>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9" name="TextBox 38"/>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6213793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250397"/>
            <a:ext cx="264861" cy="264861"/>
          </a:xfrm>
          <a:prstGeom prst="rect">
            <a:avLst/>
          </a:prstGeom>
          <a:solidFill>
            <a:srgbClr val="0000FF">
              <a:alpha val="12000"/>
            </a:srgbClr>
          </a:solidFill>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505711"/>
            <a:ext cx="264861" cy="264861"/>
          </a:xfrm>
          <a:prstGeom prst="rect">
            <a:avLst/>
          </a:prstGeom>
          <a:solidFill>
            <a:srgbClr val="0000FF">
              <a:alpha val="12000"/>
            </a:srgbClr>
          </a:solidFill>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7640" y="2505711"/>
            <a:ext cx="264861" cy="264861"/>
          </a:xfrm>
          <a:prstGeom prst="rect">
            <a:avLst/>
          </a:prstGeom>
          <a:solidFill>
            <a:srgbClr val="0000FF">
              <a:alpha val="12000"/>
            </a:srgbClr>
          </a:solidFill>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16" name="Straight Arrow Connector 15"/>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22" name="Picture 2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23" name="Picture 2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cxnSp>
        <p:nvCxnSpPr>
          <p:cNvPr id="24" name="Straight Arrow Connector 23"/>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5" name="Right Brace 24"/>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26" name="Picture 2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27" name="Picture 2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1979224"/>
            <a:ext cx="800743" cy="800743"/>
          </a:xfrm>
          <a:prstGeom prst="rect">
            <a:avLst/>
          </a:prstGeom>
          <a:solidFill>
            <a:srgbClr val="0000FF">
              <a:alpha val="12000"/>
            </a:srgbClr>
          </a:solidFill>
        </p:spPr>
      </p:pic>
      <p:pic>
        <p:nvPicPr>
          <p:cNvPr id="28" name="Picture 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231608"/>
            <a:ext cx="800743" cy="800743"/>
          </a:xfrm>
          <a:prstGeom prst="rect">
            <a:avLst/>
          </a:prstGeom>
          <a:solidFill>
            <a:srgbClr val="0000FF">
              <a:alpha val="12000"/>
            </a:srgbClr>
          </a:solidFill>
        </p:spPr>
      </p:pic>
      <p:pic>
        <p:nvPicPr>
          <p:cNvPr id="29" name="Picture 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8653" y="2231608"/>
            <a:ext cx="800743" cy="800743"/>
          </a:xfrm>
          <a:prstGeom prst="rect">
            <a:avLst/>
          </a:prstGeom>
          <a:solidFill>
            <a:srgbClr val="0000FF">
              <a:alpha val="12000"/>
            </a:srgbClr>
          </a:solidFill>
        </p:spPr>
      </p:pic>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505711"/>
            <a:ext cx="264861" cy="264861"/>
          </a:xfrm>
          <a:prstGeom prst="rect">
            <a:avLst/>
          </a:prstGeom>
          <a:solidFill>
            <a:srgbClr val="0000FF">
              <a:alpha val="12000"/>
            </a:srgbClr>
          </a:solidFill>
        </p:spPr>
      </p:pic>
      <p:pic>
        <p:nvPicPr>
          <p:cNvPr id="31" name="Picture 3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2231608"/>
            <a:ext cx="800743" cy="800743"/>
          </a:xfrm>
          <a:prstGeom prst="rect">
            <a:avLst/>
          </a:prstGeom>
          <a:solidFill>
            <a:srgbClr val="0000FF">
              <a:alpha val="12000"/>
            </a:srgbClr>
          </a:solidFill>
        </p:spPr>
      </p:pic>
      <p:pic>
        <p:nvPicPr>
          <p:cNvPr id="32" name="Picture 3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2630" y="2233041"/>
            <a:ext cx="800743" cy="800743"/>
          </a:xfrm>
          <a:prstGeom prst="rect">
            <a:avLst/>
          </a:prstGeom>
        </p:spPr>
      </p:pic>
      <p:cxnSp>
        <p:nvCxnSpPr>
          <p:cNvPr id="33" name="Straight Arrow Connector 32"/>
          <p:cNvCxnSpPr/>
          <p:nvPr/>
        </p:nvCxnSpPr>
        <p:spPr>
          <a:xfrm>
            <a:off x="2720650" y="2625074"/>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4" name="Right Brace 33"/>
          <p:cNvSpPr/>
          <p:nvPr/>
        </p:nvSpPr>
        <p:spPr>
          <a:xfrm>
            <a:off x="2542081" y="2228850"/>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35" name="TextBox 34"/>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6" name="TextBox 35"/>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7" name="TextBox 36"/>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38" name="TextBox 37"/>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39" name="TextBox 38"/>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40" name="TextBox 39"/>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41" name="TextBox 40"/>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3396962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250397"/>
            <a:ext cx="264861" cy="264861"/>
          </a:xfrm>
          <a:prstGeom prst="rect">
            <a:avLst/>
          </a:prstGeom>
          <a:solidFill>
            <a:srgbClr val="0000FF">
              <a:alpha val="12000"/>
            </a:srgbClr>
          </a:solidFill>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505711"/>
            <a:ext cx="264861" cy="264861"/>
          </a:xfrm>
          <a:prstGeom prst="rect">
            <a:avLst/>
          </a:prstGeom>
          <a:solidFill>
            <a:srgbClr val="0000FF">
              <a:alpha val="12000"/>
            </a:srgbClr>
          </a:solidFill>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7640" y="2505711"/>
            <a:ext cx="264861" cy="264861"/>
          </a:xfrm>
          <a:prstGeom prst="rect">
            <a:avLst/>
          </a:prstGeom>
          <a:solidFill>
            <a:srgbClr val="0000FF">
              <a:alpha val="12000"/>
            </a:srgbClr>
          </a:solidFill>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505711"/>
            <a:ext cx="264861" cy="264861"/>
          </a:xfrm>
          <a:prstGeom prst="rect">
            <a:avLst/>
          </a:prstGeom>
          <a:solidFill>
            <a:srgbClr val="0000FF">
              <a:alpha val="12000"/>
            </a:srgbClr>
          </a:solidFill>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19" name="Straight Arrow Connector 18"/>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2" name="Picture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23" name="Picture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24" name="Picture 2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cxnSp>
        <p:nvCxnSpPr>
          <p:cNvPr id="25" name="Straight Arrow Connector 24"/>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6" name="Right Brace 25"/>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27" name="Picture 2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28" name="Picture 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1979224"/>
            <a:ext cx="800743" cy="800743"/>
          </a:xfrm>
          <a:prstGeom prst="rect">
            <a:avLst/>
          </a:prstGeom>
          <a:solidFill>
            <a:srgbClr val="0000FF">
              <a:alpha val="12000"/>
            </a:srgbClr>
          </a:solidFill>
        </p:spPr>
      </p:pic>
      <p:pic>
        <p:nvPicPr>
          <p:cNvPr id="29" name="Picture 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231608"/>
            <a:ext cx="800743" cy="800743"/>
          </a:xfrm>
          <a:prstGeom prst="rect">
            <a:avLst/>
          </a:prstGeom>
          <a:solidFill>
            <a:srgbClr val="0000FF">
              <a:alpha val="12000"/>
            </a:srgbClr>
          </a:solidFill>
        </p:spPr>
      </p:pic>
      <p:pic>
        <p:nvPicPr>
          <p:cNvPr id="30" name="Pictur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8653" y="2231608"/>
            <a:ext cx="800743" cy="800743"/>
          </a:xfrm>
          <a:prstGeom prst="rect">
            <a:avLst/>
          </a:prstGeom>
          <a:solidFill>
            <a:srgbClr val="0000FF">
              <a:alpha val="12000"/>
            </a:srgbClr>
          </a:solidFill>
        </p:spPr>
      </p:pic>
      <p:pic>
        <p:nvPicPr>
          <p:cNvPr id="31" name="Picture 3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2231608"/>
            <a:ext cx="800743" cy="800743"/>
          </a:xfrm>
          <a:prstGeom prst="rect">
            <a:avLst/>
          </a:prstGeom>
          <a:solidFill>
            <a:srgbClr val="0000FF">
              <a:alpha val="12000"/>
            </a:srgbClr>
          </a:solidFill>
        </p:spPr>
      </p:pic>
      <p:pic>
        <p:nvPicPr>
          <p:cNvPr id="32" name="Picture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964" y="2759711"/>
            <a:ext cx="264861" cy="264861"/>
          </a:xfrm>
          <a:prstGeom prst="rect">
            <a:avLst/>
          </a:prstGeom>
          <a:solidFill>
            <a:srgbClr val="0000FF">
              <a:alpha val="12000"/>
            </a:srgbClr>
          </a:solidFill>
        </p:spPr>
      </p:pic>
      <p:pic>
        <p:nvPicPr>
          <p:cNvPr id="33" name="Picture 3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488008"/>
            <a:ext cx="800743" cy="800743"/>
          </a:xfrm>
          <a:prstGeom prst="rect">
            <a:avLst/>
          </a:prstGeom>
          <a:solidFill>
            <a:srgbClr val="0000FF">
              <a:alpha val="12000"/>
            </a:srgbClr>
          </a:solidFill>
        </p:spPr>
      </p:pic>
      <p:pic>
        <p:nvPicPr>
          <p:cNvPr id="34" name="Picture 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7757" y="2491168"/>
            <a:ext cx="800743" cy="800743"/>
          </a:xfrm>
          <a:prstGeom prst="rect">
            <a:avLst/>
          </a:prstGeom>
        </p:spPr>
      </p:pic>
      <p:cxnSp>
        <p:nvCxnSpPr>
          <p:cNvPr id="35" name="Straight Arrow Connector 34"/>
          <p:cNvCxnSpPr/>
          <p:nvPr/>
        </p:nvCxnSpPr>
        <p:spPr>
          <a:xfrm>
            <a:off x="2205777" y="2883201"/>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6" name="Right Brace 35"/>
          <p:cNvSpPr/>
          <p:nvPr/>
        </p:nvSpPr>
        <p:spPr>
          <a:xfrm>
            <a:off x="2027208" y="2486978"/>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37" name="TextBox 36"/>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8" name="TextBox 37"/>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9" name="TextBox 38"/>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40" name="TextBox 39"/>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41" name="TextBox 40"/>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42" name="TextBox 41"/>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43" name="TextBox 42"/>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9398383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250397"/>
            <a:ext cx="264861" cy="264861"/>
          </a:xfrm>
          <a:prstGeom prst="rect">
            <a:avLst/>
          </a:prstGeom>
          <a:solidFill>
            <a:srgbClr val="0000FF">
              <a:alpha val="12000"/>
            </a:srgbClr>
          </a:solidFill>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505711"/>
            <a:ext cx="264861" cy="264861"/>
          </a:xfrm>
          <a:prstGeom prst="rect">
            <a:avLst/>
          </a:prstGeom>
          <a:solidFill>
            <a:srgbClr val="0000FF">
              <a:alpha val="12000"/>
            </a:srgbClr>
          </a:solidFill>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7640" y="2505711"/>
            <a:ext cx="264861" cy="264861"/>
          </a:xfrm>
          <a:prstGeom prst="rect">
            <a:avLst/>
          </a:prstGeom>
          <a:solidFill>
            <a:srgbClr val="0000FF">
              <a:alpha val="12000"/>
            </a:srgbClr>
          </a:solidFill>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505711"/>
            <a:ext cx="264861" cy="264861"/>
          </a:xfrm>
          <a:prstGeom prst="rect">
            <a:avLst/>
          </a:prstGeom>
          <a:solidFill>
            <a:srgbClr val="0000FF">
              <a:alpha val="12000"/>
            </a:srgbClr>
          </a:solidFill>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964" y="2759711"/>
            <a:ext cx="264861" cy="264861"/>
          </a:xfrm>
          <a:prstGeom prst="rect">
            <a:avLst/>
          </a:prstGeom>
          <a:solidFill>
            <a:srgbClr val="0000FF">
              <a:alpha val="12000"/>
            </a:srgbClr>
          </a:solidFill>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20" name="Straight Arrow Connector 19"/>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24" name="Picture 2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25" name="Picture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cxnSp>
        <p:nvCxnSpPr>
          <p:cNvPr id="26" name="Straight Arrow Connector 25"/>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7" name="Right Brace 26"/>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28" name="Picture 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29" name="Picture 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1979224"/>
            <a:ext cx="800743" cy="800743"/>
          </a:xfrm>
          <a:prstGeom prst="rect">
            <a:avLst/>
          </a:prstGeom>
          <a:solidFill>
            <a:srgbClr val="0000FF">
              <a:alpha val="12000"/>
            </a:srgbClr>
          </a:solidFill>
        </p:spPr>
      </p:pic>
      <p:pic>
        <p:nvPicPr>
          <p:cNvPr id="30" name="Pictur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231608"/>
            <a:ext cx="800743" cy="800743"/>
          </a:xfrm>
          <a:prstGeom prst="rect">
            <a:avLst/>
          </a:prstGeom>
          <a:solidFill>
            <a:srgbClr val="0000FF">
              <a:alpha val="12000"/>
            </a:srgbClr>
          </a:solidFill>
        </p:spPr>
      </p:pic>
      <p:pic>
        <p:nvPicPr>
          <p:cNvPr id="31" name="Picture 3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8653" y="2231608"/>
            <a:ext cx="800743" cy="800743"/>
          </a:xfrm>
          <a:prstGeom prst="rect">
            <a:avLst/>
          </a:prstGeom>
          <a:solidFill>
            <a:srgbClr val="0000FF">
              <a:alpha val="12000"/>
            </a:srgbClr>
          </a:solidFill>
        </p:spPr>
      </p:pic>
      <p:pic>
        <p:nvPicPr>
          <p:cNvPr id="32" name="Picture 3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2231608"/>
            <a:ext cx="800743" cy="800743"/>
          </a:xfrm>
          <a:prstGeom prst="rect">
            <a:avLst/>
          </a:prstGeom>
          <a:solidFill>
            <a:srgbClr val="0000FF">
              <a:alpha val="12000"/>
            </a:srgbClr>
          </a:solidFill>
        </p:spPr>
      </p:pic>
      <p:pic>
        <p:nvPicPr>
          <p:cNvPr id="33" name="Picture 3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488008"/>
            <a:ext cx="800743" cy="800743"/>
          </a:xfrm>
          <a:prstGeom prst="rect">
            <a:avLst/>
          </a:prstGeom>
          <a:solidFill>
            <a:srgbClr val="0000FF">
              <a:alpha val="12000"/>
            </a:srgbClr>
          </a:solidFill>
        </p:spPr>
      </p:pic>
      <p:pic>
        <p:nvPicPr>
          <p:cNvPr id="34" name="Pictur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759711"/>
            <a:ext cx="264861" cy="264861"/>
          </a:xfrm>
          <a:prstGeom prst="rect">
            <a:avLst/>
          </a:prstGeom>
          <a:solidFill>
            <a:srgbClr val="0000FF">
              <a:alpha val="12000"/>
            </a:srgbClr>
          </a:solidFill>
        </p:spPr>
      </p:pic>
      <p:pic>
        <p:nvPicPr>
          <p:cNvPr id="35" name="Picture 3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8653" y="2488008"/>
            <a:ext cx="800743" cy="800743"/>
          </a:xfrm>
          <a:prstGeom prst="rect">
            <a:avLst/>
          </a:prstGeom>
          <a:solidFill>
            <a:srgbClr val="0000FF">
              <a:alpha val="12000"/>
            </a:srgbClr>
          </a:solidFill>
        </p:spPr>
      </p:pic>
      <p:pic>
        <p:nvPicPr>
          <p:cNvPr id="36" name="Picture 3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5900" y="2491168"/>
            <a:ext cx="800743" cy="800743"/>
          </a:xfrm>
          <a:prstGeom prst="rect">
            <a:avLst/>
          </a:prstGeom>
        </p:spPr>
      </p:pic>
      <p:cxnSp>
        <p:nvCxnSpPr>
          <p:cNvPr id="37" name="Straight Arrow Connector 36"/>
          <p:cNvCxnSpPr/>
          <p:nvPr/>
        </p:nvCxnSpPr>
        <p:spPr>
          <a:xfrm>
            <a:off x="2463921" y="2883201"/>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Right Brace 37"/>
          <p:cNvSpPr/>
          <p:nvPr/>
        </p:nvSpPr>
        <p:spPr>
          <a:xfrm>
            <a:off x="2285351" y="2486978"/>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39" name="TextBox 38"/>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40" name="TextBox 39"/>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41" name="TextBox 40"/>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42" name="TextBox 41"/>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43" name="TextBox 42"/>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44" name="TextBox 43"/>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45" name="TextBox 44"/>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3775291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250397"/>
            <a:ext cx="264861" cy="264861"/>
          </a:xfrm>
          <a:prstGeom prst="rect">
            <a:avLst/>
          </a:prstGeom>
          <a:solidFill>
            <a:srgbClr val="0000FF">
              <a:alpha val="12000"/>
            </a:srgbClr>
          </a:solidFill>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375" y="2505711"/>
            <a:ext cx="264861" cy="264861"/>
          </a:xfrm>
          <a:prstGeom prst="rect">
            <a:avLst/>
          </a:prstGeom>
          <a:solidFill>
            <a:srgbClr val="0000FF">
              <a:alpha val="12000"/>
            </a:srgbClr>
          </a:solidFill>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7640" y="2505711"/>
            <a:ext cx="264861" cy="264861"/>
          </a:xfrm>
          <a:prstGeom prst="rect">
            <a:avLst/>
          </a:prstGeom>
          <a:solidFill>
            <a:srgbClr val="0000FF">
              <a:alpha val="12000"/>
            </a:srgbClr>
          </a:solidFill>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4364" y="2505711"/>
            <a:ext cx="264861" cy="264861"/>
          </a:xfrm>
          <a:prstGeom prst="rect">
            <a:avLst/>
          </a:prstGeom>
          <a:solidFill>
            <a:srgbClr val="0000FF">
              <a:alpha val="12000"/>
            </a:srgbClr>
          </a:solidFill>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964" y="2759711"/>
            <a:ext cx="264861" cy="264861"/>
          </a:xfrm>
          <a:prstGeom prst="rect">
            <a:avLst/>
          </a:prstGeom>
          <a:solidFill>
            <a:srgbClr val="0000FF">
              <a:alpha val="12000"/>
            </a:srgbClr>
          </a:solidFill>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17" y="2759711"/>
            <a:ext cx="264861" cy="264861"/>
          </a:xfrm>
          <a:prstGeom prst="rect">
            <a:avLst/>
          </a:prstGeom>
          <a:solidFill>
            <a:srgbClr val="0000FF">
              <a:alpha val="12000"/>
            </a:srgbClr>
          </a:solidFill>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20" name="Pictur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22" name="Straight Arrow Connector 21"/>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4" name="Picture 2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877" y="2237317"/>
            <a:ext cx="800743" cy="800743"/>
          </a:xfrm>
          <a:prstGeom prst="rect">
            <a:avLst/>
          </a:prstGeom>
        </p:spPr>
      </p:pic>
      <p:pic>
        <p:nvPicPr>
          <p:cNvPr id="25" name="Picture 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97712" y="2499782"/>
            <a:ext cx="264861" cy="266093"/>
          </a:xfrm>
          <a:prstGeom prst="rect">
            <a:avLst/>
          </a:prstGeom>
        </p:spPr>
      </p:pic>
      <p:pic>
        <p:nvPicPr>
          <p:cNvPr id="26" name="Picture 2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cxnSp>
        <p:nvCxnSpPr>
          <p:cNvPr id="27" name="Straight Arrow Connector 26"/>
          <p:cNvCxnSpPr/>
          <p:nvPr/>
        </p:nvCxnSpPr>
        <p:spPr>
          <a:xfrm>
            <a:off x="5246581" y="2624465"/>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8" name="Right Brace 27"/>
          <p:cNvSpPr/>
          <p:nvPr/>
        </p:nvSpPr>
        <p:spPr>
          <a:xfrm>
            <a:off x="5068012" y="2228242"/>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pic>
        <p:nvPicPr>
          <p:cNvPr id="29" name="Picture 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30" name="Pictur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1979224"/>
            <a:ext cx="800743" cy="800743"/>
          </a:xfrm>
          <a:prstGeom prst="rect">
            <a:avLst/>
          </a:prstGeom>
          <a:solidFill>
            <a:srgbClr val="0000FF">
              <a:alpha val="12000"/>
            </a:srgbClr>
          </a:solidFill>
        </p:spPr>
      </p:pic>
      <p:pic>
        <p:nvPicPr>
          <p:cNvPr id="31" name="Picture 3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231608"/>
            <a:ext cx="800743" cy="800743"/>
          </a:xfrm>
          <a:prstGeom prst="rect">
            <a:avLst/>
          </a:prstGeom>
          <a:solidFill>
            <a:srgbClr val="0000FF">
              <a:alpha val="12000"/>
            </a:srgbClr>
          </a:solidFill>
        </p:spPr>
      </p:pic>
      <p:pic>
        <p:nvPicPr>
          <p:cNvPr id="32" name="Picture 3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8653" y="2231608"/>
            <a:ext cx="800743" cy="800743"/>
          </a:xfrm>
          <a:prstGeom prst="rect">
            <a:avLst/>
          </a:prstGeom>
          <a:solidFill>
            <a:srgbClr val="0000FF">
              <a:alpha val="12000"/>
            </a:srgbClr>
          </a:solidFill>
        </p:spPr>
      </p:pic>
      <p:pic>
        <p:nvPicPr>
          <p:cNvPr id="33" name="Picture 3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824" y="2231608"/>
            <a:ext cx="800743" cy="800743"/>
          </a:xfrm>
          <a:prstGeom prst="rect">
            <a:avLst/>
          </a:prstGeom>
          <a:solidFill>
            <a:srgbClr val="0000FF">
              <a:alpha val="12000"/>
            </a:srgbClr>
          </a:solidFill>
        </p:spPr>
      </p:pic>
      <p:pic>
        <p:nvPicPr>
          <p:cNvPr id="34" name="Picture 3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1554" y="2488008"/>
            <a:ext cx="800743" cy="800743"/>
          </a:xfrm>
          <a:prstGeom prst="rect">
            <a:avLst/>
          </a:prstGeom>
          <a:solidFill>
            <a:srgbClr val="0000FF">
              <a:alpha val="12000"/>
            </a:srgbClr>
          </a:solidFill>
        </p:spPr>
      </p:pic>
      <p:pic>
        <p:nvPicPr>
          <p:cNvPr id="35" name="Picture 3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8653" y="2488008"/>
            <a:ext cx="800743" cy="800743"/>
          </a:xfrm>
          <a:prstGeom prst="rect">
            <a:avLst/>
          </a:prstGeom>
          <a:solidFill>
            <a:srgbClr val="0000FF">
              <a:alpha val="12000"/>
            </a:srgbClr>
          </a:solidFill>
        </p:spPr>
      </p:pic>
      <p:pic>
        <p:nvPicPr>
          <p:cNvPr id="36" name="Picture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746" y="2759711"/>
            <a:ext cx="264861" cy="264861"/>
          </a:xfrm>
          <a:prstGeom prst="rect">
            <a:avLst/>
          </a:prstGeom>
          <a:solidFill>
            <a:srgbClr val="0000FF">
              <a:alpha val="12000"/>
            </a:srgbClr>
          </a:solidFill>
        </p:spPr>
      </p:pic>
      <p:pic>
        <p:nvPicPr>
          <p:cNvPr id="37" name="Picture 3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3846" y="2488008"/>
            <a:ext cx="800743" cy="800743"/>
          </a:xfrm>
          <a:prstGeom prst="rect">
            <a:avLst/>
          </a:prstGeom>
          <a:solidFill>
            <a:srgbClr val="0000FF">
              <a:alpha val="12000"/>
            </a:srgbClr>
          </a:solidFill>
        </p:spPr>
      </p:pic>
      <p:pic>
        <p:nvPicPr>
          <p:cNvPr id="38" name="Picture 3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2630" y="2491168"/>
            <a:ext cx="800743" cy="800743"/>
          </a:xfrm>
          <a:prstGeom prst="rect">
            <a:avLst/>
          </a:prstGeom>
        </p:spPr>
      </p:pic>
      <p:cxnSp>
        <p:nvCxnSpPr>
          <p:cNvPr id="39" name="Straight Arrow Connector 38"/>
          <p:cNvCxnSpPr/>
          <p:nvPr/>
        </p:nvCxnSpPr>
        <p:spPr>
          <a:xfrm>
            <a:off x="2720650" y="2883201"/>
            <a:ext cx="203708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0" name="Right Brace 39"/>
          <p:cNvSpPr/>
          <p:nvPr/>
        </p:nvSpPr>
        <p:spPr>
          <a:xfrm>
            <a:off x="2542081" y="2486978"/>
            <a:ext cx="121419" cy="800743"/>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41" name="TextBox 40"/>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42" name="TextBox 41"/>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43" name="TextBox 42"/>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44" name="TextBox 43"/>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45" name="TextBox 44"/>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46" name="TextBox 45"/>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47" name="TextBox 46"/>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4128065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188" y="1962275"/>
            <a:ext cx="1867579" cy="186511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1375" y="2250397"/>
            <a:ext cx="264861" cy="264861"/>
          </a:xfrm>
          <a:prstGeom prst="rect">
            <a:avLst/>
          </a:prstGeom>
          <a:solidFill>
            <a:srgbClr val="0000FF">
              <a:alpha val="12000"/>
            </a:srgbClr>
          </a:solidFill>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5817" y="2250397"/>
            <a:ext cx="264861" cy="264861"/>
          </a:xfrm>
          <a:prstGeom prst="rect">
            <a:avLst/>
          </a:prstGeom>
          <a:solidFill>
            <a:srgbClr val="0000FF">
              <a:alpha val="12000"/>
            </a:srgbClr>
          </a:solidFill>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4364" y="2250397"/>
            <a:ext cx="264861" cy="264861"/>
          </a:xfrm>
          <a:prstGeom prst="rect">
            <a:avLst/>
          </a:prstGeom>
          <a:solidFill>
            <a:srgbClr val="0000FF">
              <a:alpha val="12000"/>
            </a:srgbClr>
          </a:solidFill>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1375" y="2505711"/>
            <a:ext cx="264861" cy="264861"/>
          </a:xfrm>
          <a:prstGeom prst="rect">
            <a:avLst/>
          </a:prstGeom>
          <a:solidFill>
            <a:srgbClr val="0000FF">
              <a:alpha val="12000"/>
            </a:srgbClr>
          </a:solidFill>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7640" y="2505711"/>
            <a:ext cx="264861" cy="264861"/>
          </a:xfrm>
          <a:prstGeom prst="rect">
            <a:avLst/>
          </a:prstGeom>
          <a:solidFill>
            <a:srgbClr val="0000FF">
              <a:alpha val="12000"/>
            </a:srgbClr>
          </a:solidFill>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4364" y="2505711"/>
            <a:ext cx="264861" cy="264861"/>
          </a:xfrm>
          <a:prstGeom prst="rect">
            <a:avLst/>
          </a:prstGeom>
          <a:solidFill>
            <a:srgbClr val="0000FF">
              <a:alpha val="12000"/>
            </a:srgbClr>
          </a:solidFill>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1964" y="2759711"/>
            <a:ext cx="264861" cy="264861"/>
          </a:xfrm>
          <a:prstGeom prst="rect">
            <a:avLst/>
          </a:prstGeom>
          <a:solidFill>
            <a:srgbClr val="0000FF">
              <a:alpha val="12000"/>
            </a:srgbClr>
          </a:solidFill>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5817" y="2759711"/>
            <a:ext cx="264861" cy="264861"/>
          </a:xfrm>
          <a:prstGeom prst="rect">
            <a:avLst/>
          </a:prstGeom>
          <a:solidFill>
            <a:srgbClr val="0000FF">
              <a:alpha val="12000"/>
            </a:srgbClr>
          </a:solidFill>
        </p:spPr>
      </p:pic>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413" y="1962275"/>
            <a:ext cx="1867579" cy="1865115"/>
          </a:xfrm>
          <a:prstGeom prst="rect">
            <a:avLst/>
          </a:prstGeom>
        </p:spPr>
      </p:pic>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963" y="1962275"/>
            <a:ext cx="1867579" cy="1865115"/>
          </a:xfrm>
          <a:prstGeom prst="rect">
            <a:avLst/>
          </a:prstGeom>
        </p:spPr>
      </p:pic>
      <p:cxnSp>
        <p:nvCxnSpPr>
          <p:cNvPr id="22" name="Straight Arrow Connector 21"/>
          <p:cNvCxnSpPr/>
          <p:nvPr/>
        </p:nvCxnSpPr>
        <p:spPr>
          <a:xfrm>
            <a:off x="3183875"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943600" y="291465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4" name="Picture 2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1554" y="1979224"/>
            <a:ext cx="800743" cy="800743"/>
          </a:xfrm>
          <a:prstGeom prst="rect">
            <a:avLst/>
          </a:prstGeom>
          <a:solidFill>
            <a:srgbClr val="0000FF">
              <a:alpha val="12000"/>
            </a:srgbClr>
          </a:solidFill>
        </p:spPr>
      </p:pic>
      <p:pic>
        <p:nvPicPr>
          <p:cNvPr id="25" name="Picture 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5900" y="1979224"/>
            <a:ext cx="800743" cy="800743"/>
          </a:xfrm>
          <a:prstGeom prst="rect">
            <a:avLst/>
          </a:prstGeom>
          <a:solidFill>
            <a:srgbClr val="0000FF">
              <a:alpha val="12000"/>
            </a:srgbClr>
          </a:solidFill>
        </p:spPr>
      </p:pic>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2824" y="1979224"/>
            <a:ext cx="800743" cy="800743"/>
          </a:xfrm>
          <a:prstGeom prst="rect">
            <a:avLst/>
          </a:prstGeom>
          <a:solidFill>
            <a:srgbClr val="0000FF">
              <a:alpha val="12000"/>
            </a:srgbClr>
          </a:solidFill>
        </p:spPr>
      </p:pic>
      <p:pic>
        <p:nvPicPr>
          <p:cNvPr id="27" name="Picture 2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1554" y="2231608"/>
            <a:ext cx="800743" cy="800743"/>
          </a:xfrm>
          <a:prstGeom prst="rect">
            <a:avLst/>
          </a:prstGeom>
          <a:solidFill>
            <a:srgbClr val="0000FF">
              <a:alpha val="12000"/>
            </a:srgbClr>
          </a:solidFill>
        </p:spPr>
      </p:pic>
      <p:pic>
        <p:nvPicPr>
          <p:cNvPr id="28" name="Picture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8653" y="2231608"/>
            <a:ext cx="800743" cy="800743"/>
          </a:xfrm>
          <a:prstGeom prst="rect">
            <a:avLst/>
          </a:prstGeom>
          <a:solidFill>
            <a:srgbClr val="0000FF">
              <a:alpha val="12000"/>
            </a:srgbClr>
          </a:solidFill>
        </p:spPr>
      </p:pic>
      <p:pic>
        <p:nvPicPr>
          <p:cNvPr id="29" name="Picture 2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2824" y="2231608"/>
            <a:ext cx="800743" cy="800743"/>
          </a:xfrm>
          <a:prstGeom prst="rect">
            <a:avLst/>
          </a:prstGeom>
          <a:solidFill>
            <a:srgbClr val="0000FF">
              <a:alpha val="12000"/>
            </a:srgbClr>
          </a:solidFill>
        </p:spPr>
      </p:pic>
      <p:pic>
        <p:nvPicPr>
          <p:cNvPr id="30" name="Picture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1554" y="2488008"/>
            <a:ext cx="800743" cy="800743"/>
          </a:xfrm>
          <a:prstGeom prst="rect">
            <a:avLst/>
          </a:prstGeom>
          <a:solidFill>
            <a:srgbClr val="0000FF">
              <a:alpha val="12000"/>
            </a:srgbClr>
          </a:solidFill>
        </p:spPr>
      </p:pic>
      <p:pic>
        <p:nvPicPr>
          <p:cNvPr id="31" name="Picture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8653" y="2488008"/>
            <a:ext cx="800743" cy="800743"/>
          </a:xfrm>
          <a:prstGeom prst="rect">
            <a:avLst/>
          </a:prstGeom>
          <a:solidFill>
            <a:srgbClr val="0000FF">
              <a:alpha val="12000"/>
            </a:srgbClr>
          </a:solidFill>
        </p:spPr>
      </p:pic>
      <p:pic>
        <p:nvPicPr>
          <p:cNvPr id="32" name="Pictur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0746" y="2759711"/>
            <a:ext cx="264861" cy="264861"/>
          </a:xfrm>
          <a:prstGeom prst="rect">
            <a:avLst/>
          </a:prstGeom>
          <a:solidFill>
            <a:srgbClr val="0000FF">
              <a:alpha val="12000"/>
            </a:srgbClr>
          </a:solidFill>
        </p:spPr>
      </p:pic>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3846" y="2488008"/>
            <a:ext cx="800743" cy="800743"/>
          </a:xfrm>
          <a:prstGeom prst="rect">
            <a:avLst/>
          </a:prstGeom>
          <a:solidFill>
            <a:srgbClr val="0000FF">
              <a:alpha val="12000"/>
            </a:srgbClr>
          </a:solidFill>
        </p:spPr>
      </p:pic>
      <p:pic>
        <p:nvPicPr>
          <p:cNvPr id="34" name="Picture 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98698" y="2501108"/>
            <a:ext cx="264861" cy="264861"/>
          </a:xfrm>
          <a:prstGeom prst="rect">
            <a:avLst/>
          </a:prstGeom>
          <a:solidFill>
            <a:srgbClr val="0000FF">
              <a:alpha val="12000"/>
            </a:srgbClr>
          </a:solidFill>
        </p:spPr>
      </p:pic>
      <p:cxnSp>
        <p:nvCxnSpPr>
          <p:cNvPr id="35" name="Straight Arrow Connector 34"/>
          <p:cNvCxnSpPr/>
          <p:nvPr/>
        </p:nvCxnSpPr>
        <p:spPr>
          <a:xfrm>
            <a:off x="6509888" y="1692343"/>
            <a:ext cx="768569" cy="79566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3869675" y="1374252"/>
            <a:ext cx="4786888" cy="323165"/>
          </a:xfrm>
          <a:prstGeom prst="rect">
            <a:avLst/>
          </a:prstGeom>
          <a:noFill/>
        </p:spPr>
        <p:txBody>
          <a:bodyPr wrap="none" rtlCol="0">
            <a:spAutoFit/>
          </a:bodyPr>
          <a:lstStyle/>
          <a:p>
            <a:r>
              <a:rPr lang="en-US" sz="1500" dirty="0">
                <a:solidFill>
                  <a:srgbClr val="FF0000"/>
                </a:solidFill>
              </a:rPr>
              <a:t>Each square </a:t>
            </a:r>
            <a:r>
              <a:rPr lang="en-US" sz="1500">
                <a:solidFill>
                  <a:srgbClr val="FF0000"/>
                </a:solidFill>
              </a:rPr>
              <a:t>in Layer 3 “sees</a:t>
            </a:r>
            <a:r>
              <a:rPr lang="en-US" sz="1500" dirty="0">
                <a:solidFill>
                  <a:srgbClr val="FF0000"/>
                </a:solidFill>
              </a:rPr>
              <a:t>” a 5x5 grid from Layer 1</a:t>
            </a:r>
          </a:p>
        </p:txBody>
      </p:sp>
      <p:sp>
        <p:nvSpPr>
          <p:cNvPr id="37" name="TextBox 36"/>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38" name="TextBox 37"/>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39" name="TextBox 38"/>
          <p:cNvSpPr txBox="1"/>
          <p:nvPr/>
        </p:nvSpPr>
        <p:spPr>
          <a:xfrm>
            <a:off x="7327935" y="4267308"/>
            <a:ext cx="635110" cy="253916"/>
          </a:xfrm>
          <a:prstGeom prst="rect">
            <a:avLst/>
          </a:prstGeom>
          <a:noFill/>
        </p:spPr>
        <p:txBody>
          <a:bodyPr wrap="none" rtlCol="0">
            <a:spAutoFit/>
          </a:bodyPr>
          <a:lstStyle/>
          <a:p>
            <a:r>
              <a:rPr lang="en-US" sz="1050" dirty="0"/>
              <a:t>Layer 3</a:t>
            </a:r>
          </a:p>
        </p:txBody>
      </p:sp>
      <p:sp>
        <p:nvSpPr>
          <p:cNvPr id="40" name="TextBox 39"/>
          <p:cNvSpPr txBox="1"/>
          <p:nvPr/>
        </p:nvSpPr>
        <p:spPr>
          <a:xfrm>
            <a:off x="1821681" y="4544307"/>
            <a:ext cx="574196" cy="253916"/>
          </a:xfrm>
          <a:prstGeom prst="rect">
            <a:avLst/>
          </a:prstGeom>
          <a:noFill/>
        </p:spPr>
        <p:txBody>
          <a:bodyPr wrap="none" rtlCol="0">
            <a:spAutoFit/>
          </a:bodyPr>
          <a:lstStyle/>
          <a:p>
            <a:r>
              <a:rPr lang="en-US" sz="1050" dirty="0"/>
              <a:t>(Input)</a:t>
            </a:r>
          </a:p>
        </p:txBody>
      </p:sp>
      <p:sp>
        <p:nvSpPr>
          <p:cNvPr id="41" name="TextBox 40"/>
          <p:cNvSpPr txBox="1"/>
          <p:nvPr/>
        </p:nvSpPr>
        <p:spPr>
          <a:xfrm>
            <a:off x="1779410" y="4283833"/>
            <a:ext cx="635110" cy="253916"/>
          </a:xfrm>
          <a:prstGeom prst="rect">
            <a:avLst/>
          </a:prstGeom>
          <a:noFill/>
        </p:spPr>
        <p:txBody>
          <a:bodyPr wrap="none" rtlCol="0">
            <a:spAutoFit/>
          </a:bodyPr>
          <a:lstStyle/>
          <a:p>
            <a:r>
              <a:rPr lang="en-US" sz="1050" dirty="0"/>
              <a:t>Layer 1</a:t>
            </a:r>
          </a:p>
        </p:txBody>
      </p:sp>
      <p:sp>
        <p:nvSpPr>
          <p:cNvPr id="42" name="TextBox 41"/>
          <p:cNvSpPr txBox="1"/>
          <p:nvPr/>
        </p:nvSpPr>
        <p:spPr>
          <a:xfrm>
            <a:off x="4553672" y="4267308"/>
            <a:ext cx="635110" cy="253916"/>
          </a:xfrm>
          <a:prstGeom prst="rect">
            <a:avLst/>
          </a:prstGeom>
          <a:noFill/>
        </p:spPr>
        <p:txBody>
          <a:bodyPr wrap="none" rtlCol="0">
            <a:spAutoFit/>
          </a:bodyPr>
          <a:lstStyle/>
          <a:p>
            <a:r>
              <a:rPr lang="en-US" sz="1050" dirty="0"/>
              <a:t>Layer 2</a:t>
            </a:r>
          </a:p>
        </p:txBody>
      </p:sp>
      <p:sp>
        <p:nvSpPr>
          <p:cNvPr id="43" name="TextBox 42"/>
          <p:cNvSpPr txBox="1"/>
          <p:nvPr/>
        </p:nvSpPr>
        <p:spPr>
          <a:xfrm>
            <a:off x="7327935" y="4267308"/>
            <a:ext cx="635110" cy="253916"/>
          </a:xfrm>
          <a:prstGeom prst="rect">
            <a:avLst/>
          </a:prstGeom>
          <a:noFill/>
        </p:spPr>
        <p:txBody>
          <a:bodyPr wrap="none" rtlCol="0">
            <a:spAutoFit/>
          </a:bodyPr>
          <a:lstStyle/>
          <a:p>
            <a:r>
              <a:rPr lang="en-US" sz="1050" dirty="0"/>
              <a:t>Layer 3</a:t>
            </a:r>
          </a:p>
        </p:txBody>
      </p:sp>
    </p:spTree>
    <p:extLst>
      <p:ext uri="{BB962C8B-B14F-4D97-AF65-F5344CB8AC3E}">
        <p14:creationId xmlns:p14="http://schemas.microsoft.com/office/powerpoint/2010/main" val="14198680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7" name="TextBox 6"/>
              <p:cNvSpPr txBox="1"/>
              <p:nvPr/>
            </p:nvSpPr>
            <p:spPr>
              <a:xfrm>
                <a:off x="926574" y="3067106"/>
                <a:ext cx="23944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charset="0"/>
                        </a:rPr>
                        <m:t>3×3×</m:t>
                      </m:r>
                      <m:r>
                        <a:rPr lang="en-US" sz="2400" i="1">
                          <a:latin typeface="Cambria Math" charset="0"/>
                        </a:rPr>
                        <m:t>𝐶</m:t>
                      </m:r>
                      <m:r>
                        <a:rPr lang="en-US" sz="2400" i="1">
                          <a:latin typeface="Cambria Math" charset="0"/>
                        </a:rPr>
                        <m:t>×</m:t>
                      </m:r>
                      <m:r>
                        <a:rPr lang="en-US" sz="2400" i="1">
                          <a:latin typeface="Cambria Math" charset="0"/>
                        </a:rPr>
                        <m:t>𝐶</m:t>
                      </m:r>
                      <m:r>
                        <a:rPr lang="en-US" sz="2400" i="1">
                          <a:latin typeface="Cambria Math" charset="0"/>
                        </a:rPr>
                        <m:t>=9</m:t>
                      </m:r>
                      <m:sSup>
                        <m:sSupPr>
                          <m:ctrlPr>
                            <a:rPr lang="en-US" sz="2400" i="1">
                              <a:latin typeface="Cambria Math" panose="02040503050406030204" pitchFamily="18" charset="0"/>
                            </a:rPr>
                          </m:ctrlPr>
                        </m:sSupPr>
                        <m:e>
                          <m:r>
                            <a:rPr lang="en-US" sz="2400" i="1">
                              <a:latin typeface="Cambria Math" charset="0"/>
                            </a:rPr>
                            <m:t>𝐶</m:t>
                          </m:r>
                        </m:e>
                        <m:sup>
                          <m:r>
                            <a:rPr lang="en-US" sz="2400" i="1">
                              <a:latin typeface="Cambria Math" charset="0"/>
                            </a:rPr>
                            <m:t>2</m:t>
                          </m:r>
                        </m:sup>
                      </m:sSup>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926574" y="3067106"/>
                <a:ext cx="2394438" cy="369332"/>
              </a:xfrm>
              <a:prstGeom prst="rect">
                <a:avLst/>
              </a:prstGeom>
              <a:blipFill rotWithShape="0">
                <a:blip r:embed="rId3"/>
                <a:stretch>
                  <a:fillRect l="-2290" r="-254" b="-9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412725" y="3067106"/>
                <a:ext cx="25643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charset="0"/>
                        </a:rPr>
                        <m:t>7×7×</m:t>
                      </m:r>
                      <m:r>
                        <a:rPr lang="en-US" sz="2400" i="1">
                          <a:latin typeface="Cambria Math" charset="0"/>
                        </a:rPr>
                        <m:t>𝐶</m:t>
                      </m:r>
                      <m:r>
                        <a:rPr lang="en-US" sz="2400" i="1">
                          <a:latin typeface="Cambria Math" charset="0"/>
                        </a:rPr>
                        <m:t>×</m:t>
                      </m:r>
                      <m:r>
                        <a:rPr lang="en-US" sz="2400" i="1">
                          <a:latin typeface="Cambria Math" charset="0"/>
                        </a:rPr>
                        <m:t>𝐶</m:t>
                      </m:r>
                      <m:r>
                        <a:rPr lang="en-US" sz="2400" i="1">
                          <a:latin typeface="Cambria Math" charset="0"/>
                        </a:rPr>
                        <m:t>=49</m:t>
                      </m:r>
                      <m:sSup>
                        <m:sSupPr>
                          <m:ctrlPr>
                            <a:rPr lang="en-US" sz="2400" i="1">
                              <a:latin typeface="Cambria Math" panose="02040503050406030204" pitchFamily="18" charset="0"/>
                            </a:rPr>
                          </m:ctrlPr>
                        </m:sSupPr>
                        <m:e>
                          <m:r>
                            <a:rPr lang="en-US" sz="2400" i="1">
                              <a:latin typeface="Cambria Math" charset="0"/>
                            </a:rPr>
                            <m:t>𝐶</m:t>
                          </m:r>
                        </m:e>
                        <m:sup>
                          <m:r>
                            <a:rPr lang="en-US" sz="2400" i="1">
                              <a:latin typeface="Cambria Math" charset="0"/>
                            </a:rPr>
                            <m:t>2</m:t>
                          </m:r>
                        </m:sup>
                      </m:sSup>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4412725" y="3067106"/>
                <a:ext cx="2564356" cy="369332"/>
              </a:xfrm>
              <a:prstGeom prst="rect">
                <a:avLst/>
              </a:prstGeom>
              <a:blipFill rotWithShape="0">
                <a:blip r:embed="rId4"/>
                <a:stretch>
                  <a:fillRect l="-1900" r="-238" b="-9836"/>
                </a:stretch>
              </a:blipFill>
            </p:spPr>
            <p:txBody>
              <a:bodyPr/>
              <a:lstStyle/>
              <a:p>
                <a:r>
                  <a:rPr lang="en-US">
                    <a:noFill/>
                  </a:rPr>
                  <a:t> </a:t>
                </a:r>
              </a:p>
            </p:txBody>
          </p:sp>
        </mc:Fallback>
      </mc:AlternateContent>
      <p:sp>
        <p:nvSpPr>
          <p:cNvPr id="9" name="TextBox 8"/>
          <p:cNvSpPr txBox="1"/>
          <p:nvPr/>
        </p:nvSpPr>
        <p:spPr>
          <a:xfrm>
            <a:off x="1326624" y="2720857"/>
            <a:ext cx="1620957" cy="369332"/>
          </a:xfrm>
          <a:prstGeom prst="rect">
            <a:avLst/>
          </a:prstGeom>
          <a:noFill/>
        </p:spPr>
        <p:txBody>
          <a:bodyPr wrap="none" rtlCol="0">
            <a:spAutoFit/>
          </a:bodyPr>
          <a:lstStyle/>
          <a:p>
            <a:r>
              <a:rPr lang="en-US" sz="1800" dirty="0"/>
              <a:t>One 3x3 layer</a:t>
            </a:r>
          </a:p>
        </p:txBody>
      </p:sp>
      <p:sp>
        <p:nvSpPr>
          <p:cNvPr id="10" name="TextBox 9"/>
          <p:cNvSpPr txBox="1"/>
          <p:nvPr/>
        </p:nvSpPr>
        <p:spPr>
          <a:xfrm>
            <a:off x="4924450" y="2720857"/>
            <a:ext cx="1620957" cy="369332"/>
          </a:xfrm>
          <a:prstGeom prst="rect">
            <a:avLst/>
          </a:prstGeom>
          <a:noFill/>
        </p:spPr>
        <p:txBody>
          <a:bodyPr wrap="none" rtlCol="0">
            <a:spAutoFit/>
          </a:bodyPr>
          <a:lstStyle/>
          <a:p>
            <a:r>
              <a:rPr lang="en-US" sz="1800" dirty="0"/>
              <a:t>One 7x7 layer</a:t>
            </a:r>
          </a:p>
        </p:txBody>
      </p:sp>
      <mc:AlternateContent xmlns:mc="http://schemas.openxmlformats.org/markup-compatibility/2006" xmlns:a14="http://schemas.microsoft.com/office/drawing/2010/main">
        <mc:Choice Requires="a14">
          <p:sp>
            <p:nvSpPr>
              <p:cNvPr id="11" name="TextBox 10"/>
              <p:cNvSpPr txBox="1"/>
              <p:nvPr/>
            </p:nvSpPr>
            <p:spPr>
              <a:xfrm>
                <a:off x="926575" y="4038187"/>
                <a:ext cx="233083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charset="0"/>
                        </a:rPr>
                        <m:t>3×(9</m:t>
                      </m:r>
                      <m:sSup>
                        <m:sSupPr>
                          <m:ctrlPr>
                            <a:rPr lang="en-US" sz="2400" i="1">
                              <a:latin typeface="Cambria Math" panose="02040503050406030204" pitchFamily="18" charset="0"/>
                            </a:rPr>
                          </m:ctrlPr>
                        </m:sSupPr>
                        <m:e>
                          <m:r>
                            <a:rPr lang="en-US" sz="2400" i="1">
                              <a:latin typeface="Cambria Math" charset="0"/>
                            </a:rPr>
                            <m:t>𝐶</m:t>
                          </m:r>
                        </m:e>
                        <m:sup>
                          <m:r>
                            <a:rPr lang="en-US" sz="2400" i="1">
                              <a:latin typeface="Cambria Math" charset="0"/>
                            </a:rPr>
                            <m:t>2</m:t>
                          </m:r>
                        </m:sup>
                      </m:sSup>
                      <m:r>
                        <a:rPr lang="en-US" sz="2400" i="1">
                          <a:latin typeface="Cambria Math" charset="0"/>
                        </a:rPr>
                        <m:t>)=27</m:t>
                      </m:r>
                      <m:sSup>
                        <m:sSupPr>
                          <m:ctrlPr>
                            <a:rPr lang="en-US" sz="2400" i="1">
                              <a:latin typeface="Cambria Math" panose="02040503050406030204" pitchFamily="18" charset="0"/>
                            </a:rPr>
                          </m:ctrlPr>
                        </m:sSupPr>
                        <m:e>
                          <m:r>
                            <a:rPr lang="en-US" sz="2400" i="1">
                              <a:latin typeface="Cambria Math" charset="0"/>
                            </a:rPr>
                            <m:t>𝐶</m:t>
                          </m:r>
                        </m:e>
                        <m:sup>
                          <m:r>
                            <a:rPr lang="en-US" sz="2400" i="1">
                              <a:latin typeface="Cambria Math" charset="0"/>
                            </a:rPr>
                            <m:t>2</m:t>
                          </m:r>
                        </m:sup>
                      </m:sSup>
                    </m:oMath>
                  </m:oMathPara>
                </a14:m>
                <a:endParaRPr lang="en-US"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926575" y="4038187"/>
                <a:ext cx="2330831" cy="369332"/>
              </a:xfrm>
              <a:prstGeom prst="rect">
                <a:avLst/>
              </a:prstGeom>
              <a:blipFill rotWithShape="0">
                <a:blip r:embed="rId5"/>
                <a:stretch>
                  <a:fillRect l="-2356" r="-524" b="-37705"/>
                </a:stretch>
              </a:blipFill>
            </p:spPr>
            <p:txBody>
              <a:bodyPr/>
              <a:lstStyle/>
              <a:p>
                <a:r>
                  <a:rPr lang="en-US">
                    <a:noFill/>
                  </a:rPr>
                  <a:t> </a:t>
                </a:r>
              </a:p>
            </p:txBody>
          </p:sp>
        </mc:Fallback>
      </mc:AlternateContent>
      <p:sp>
        <p:nvSpPr>
          <p:cNvPr id="12" name="TextBox 11"/>
          <p:cNvSpPr txBox="1"/>
          <p:nvPr/>
        </p:nvSpPr>
        <p:spPr>
          <a:xfrm>
            <a:off x="1064390" y="3691938"/>
            <a:ext cx="1903085" cy="369332"/>
          </a:xfrm>
          <a:prstGeom prst="rect">
            <a:avLst/>
          </a:prstGeom>
          <a:noFill/>
        </p:spPr>
        <p:txBody>
          <a:bodyPr wrap="none" rtlCol="0">
            <a:spAutoFit/>
          </a:bodyPr>
          <a:lstStyle/>
          <a:p>
            <a:r>
              <a:rPr lang="en-US" sz="1800" dirty="0"/>
              <a:t>Three 3x3 layers</a:t>
            </a:r>
          </a:p>
        </p:txBody>
      </p:sp>
      <mc:AlternateContent xmlns:mc="http://schemas.openxmlformats.org/markup-compatibility/2006" xmlns:a14="http://schemas.microsoft.com/office/drawing/2010/main">
        <mc:Choice Requires="a14">
          <p:sp>
            <p:nvSpPr>
              <p:cNvPr id="13" name="Rectangle 12"/>
              <p:cNvSpPr/>
              <p:nvPr/>
            </p:nvSpPr>
            <p:spPr>
              <a:xfrm>
                <a:off x="3758561" y="3903289"/>
                <a:ext cx="4204484" cy="415498"/>
              </a:xfrm>
              <a:prstGeom prst="rect">
                <a:avLst/>
              </a:prstGeom>
            </p:spPr>
            <p:txBody>
              <a:bodyPr wrap="none">
                <a:spAutoFit/>
              </a:bodyPr>
              <a:lstStyle/>
              <a:p>
                <a14:m>
                  <m:oMath xmlns:m="http://schemas.openxmlformats.org/officeDocument/2006/math">
                    <m:r>
                      <a:rPr lang="en-US" sz="2100" i="1">
                        <a:latin typeface="Cambria Math" charset="0"/>
                      </a:rPr>
                      <m:t>49</m:t>
                    </m:r>
                    <m:sSup>
                      <m:sSupPr>
                        <m:ctrlPr>
                          <a:rPr lang="en-US" sz="2100" i="1">
                            <a:latin typeface="Cambria Math" panose="02040503050406030204" pitchFamily="18" charset="0"/>
                          </a:rPr>
                        </m:ctrlPr>
                      </m:sSupPr>
                      <m:e>
                        <m:r>
                          <a:rPr lang="en-US" sz="2100" i="1">
                            <a:latin typeface="Cambria Math" charset="0"/>
                          </a:rPr>
                          <m:t>𝐶</m:t>
                        </m:r>
                      </m:e>
                      <m:sup>
                        <m:r>
                          <a:rPr lang="en-US" sz="2100" i="1">
                            <a:latin typeface="Cambria Math" charset="0"/>
                          </a:rPr>
                          <m:t>2</m:t>
                        </m:r>
                      </m:sup>
                    </m:sSup>
                  </m:oMath>
                </a14:m>
                <a:r>
                  <a:rPr lang="en-US" sz="2100" dirty="0">
                    <a:sym typeface="Wingdings"/>
                  </a:rPr>
                  <a:t>  </a:t>
                </a:r>
                <a14:m>
                  <m:oMath xmlns:m="http://schemas.openxmlformats.org/officeDocument/2006/math">
                    <m:r>
                      <a:rPr lang="en-US" sz="2100" i="1">
                        <a:latin typeface="Cambria Math" charset="0"/>
                      </a:rPr>
                      <m:t>27</m:t>
                    </m:r>
                    <m:sSup>
                      <m:sSupPr>
                        <m:ctrlPr>
                          <a:rPr lang="en-US" sz="2100" i="1">
                            <a:latin typeface="Cambria Math" panose="02040503050406030204" pitchFamily="18" charset="0"/>
                          </a:rPr>
                        </m:ctrlPr>
                      </m:sSupPr>
                      <m:e>
                        <m:r>
                          <a:rPr lang="en-US" sz="2100" i="1">
                            <a:latin typeface="Cambria Math" charset="0"/>
                          </a:rPr>
                          <m:t>𝐶</m:t>
                        </m:r>
                      </m:e>
                      <m:sup>
                        <m:r>
                          <a:rPr lang="en-US" sz="2100" i="1">
                            <a:latin typeface="Cambria Math" charset="0"/>
                          </a:rPr>
                          <m:t>2</m:t>
                        </m:r>
                      </m:sup>
                    </m:sSup>
                  </m:oMath>
                </a14:m>
                <a:r>
                  <a:rPr lang="en-US" sz="2100" dirty="0"/>
                  <a:t> </a:t>
                </a:r>
                <a:r>
                  <a:rPr lang="en-US" sz="2100" dirty="0">
                    <a:sym typeface="Wingdings"/>
                  </a:rPr>
                  <a:t> </a:t>
                </a:r>
                <a14:m>
                  <m:oMath xmlns:m="http://schemas.openxmlformats.org/officeDocument/2006/math">
                    <m:r>
                      <a:rPr lang="en-US" sz="2100" i="1">
                        <a:latin typeface="Cambria Math" charset="0"/>
                        <a:ea typeface="Cambria Math" charset="0"/>
                        <a:cs typeface="Cambria Math" charset="0"/>
                        <a:sym typeface="Wingdings"/>
                      </a:rPr>
                      <m:t>≈</m:t>
                    </m:r>
                  </m:oMath>
                </a14:m>
                <a:r>
                  <a:rPr lang="en-US" sz="2100" dirty="0">
                    <a:sym typeface="Wingdings"/>
                  </a:rPr>
                  <a:t>45% reduction!</a:t>
                </a:r>
                <a:endParaRPr lang="en-US" sz="2100" dirty="0"/>
              </a:p>
            </p:txBody>
          </p:sp>
        </mc:Choice>
        <mc:Fallback xmlns="">
          <p:sp>
            <p:nvSpPr>
              <p:cNvPr id="13" name="Rectangle 12"/>
              <p:cNvSpPr>
                <a:spLocks noRot="1" noChangeAspect="1" noMove="1" noResize="1" noEditPoints="1" noAdjustHandles="1" noChangeArrowheads="1" noChangeShapeType="1" noTextEdit="1"/>
              </p:cNvSpPr>
              <p:nvPr/>
            </p:nvSpPr>
            <p:spPr>
              <a:xfrm>
                <a:off x="3758561" y="3903289"/>
                <a:ext cx="4204484" cy="415498"/>
              </a:xfrm>
              <a:prstGeom prst="rect">
                <a:avLst/>
              </a:prstGeom>
              <a:blipFill rotWithShape="0">
                <a:blip r:embed="rId6"/>
                <a:stretch>
                  <a:fillRect l="-145" t="-8824" r="-581" b="-29412"/>
                </a:stretch>
              </a:blipFill>
            </p:spPr>
            <p:txBody>
              <a:bodyPr/>
              <a:lstStyle/>
              <a:p>
                <a:r>
                  <a:rPr lang="en-US">
                    <a:noFill/>
                  </a:rPr>
                  <a:t> </a:t>
                </a:r>
              </a:p>
            </p:txBody>
          </p:sp>
        </mc:Fallback>
      </mc:AlternateContent>
      <p:sp>
        <p:nvSpPr>
          <p:cNvPr id="15" name="Content Placeholder 2"/>
          <p:cNvSpPr txBox="1">
            <a:spLocks/>
          </p:cNvSpPr>
          <p:nvPr/>
        </p:nvSpPr>
        <p:spPr>
          <a:xfrm>
            <a:off x="926574" y="928251"/>
            <a:ext cx="7361641" cy="1190857"/>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2200" dirty="0" smtClean="0">
                <a:latin typeface="Avenir Book" charset="0"/>
                <a:ea typeface="Avenir Book" charset="0"/>
                <a:cs typeface="Avenir Book" charset="0"/>
              </a:rPr>
              <a:t>Two 3x3, stride 1 convolutions in a row </a:t>
            </a:r>
            <a:r>
              <a:rPr lang="en-US" sz="2200" dirty="0" smtClean="0">
                <a:latin typeface="Avenir Book" charset="0"/>
                <a:ea typeface="Avenir Book" charset="0"/>
                <a:cs typeface="Avenir Book" charset="0"/>
                <a:sym typeface="Wingdings"/>
              </a:rPr>
              <a:t> one 5x5</a:t>
            </a:r>
          </a:p>
          <a:p>
            <a:r>
              <a:rPr lang="en-US" sz="2200" dirty="0" smtClean="0">
                <a:latin typeface="Avenir Book" charset="0"/>
                <a:ea typeface="Avenir Book" charset="0"/>
                <a:cs typeface="Avenir Book" charset="0"/>
                <a:sym typeface="Wingdings"/>
              </a:rPr>
              <a:t>Three 3x3 convolutions  one 7x7 convolution</a:t>
            </a:r>
          </a:p>
          <a:p>
            <a:r>
              <a:rPr lang="en-US" sz="2200" dirty="0" smtClean="0">
                <a:latin typeface="Avenir Book" charset="0"/>
                <a:ea typeface="Avenir Book" charset="0"/>
                <a:cs typeface="Avenir Book" charset="0"/>
              </a:rPr>
              <a:t>Benefit: fewer parameters</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15924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VGG</a:t>
            </a:r>
            <a:endParaRPr lang="en-US" dirty="0">
              <a:latin typeface="Avenir Book" charset="0"/>
              <a:ea typeface="Avenir Book" charset="0"/>
              <a:cs typeface="Avenir Book" charset="0"/>
            </a:endParaRPr>
          </a:p>
        </p:txBody>
      </p:sp>
      <p:sp>
        <p:nvSpPr>
          <p:cNvPr id="7" name="Content Placeholder 2"/>
          <p:cNvSpPr txBox="1">
            <a:spLocks/>
          </p:cNvSpPr>
          <p:nvPr/>
        </p:nvSpPr>
        <p:spPr>
          <a:xfrm>
            <a:off x="1195389" y="1063228"/>
            <a:ext cx="7339012" cy="254748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342900" indent="-342900">
              <a:buFont typeface="Arial" charset="0"/>
              <a:buChar char="•"/>
            </a:pPr>
            <a:r>
              <a:rPr lang="en-US" sz="2200" dirty="0" smtClean="0">
                <a:latin typeface="Avenir Book" charset="0"/>
                <a:ea typeface="Avenir Book" charset="0"/>
                <a:cs typeface="Avenir Book" charset="0"/>
              </a:rPr>
              <a:t>One of the first architectures to experiment with many layers (More is better!)</a:t>
            </a:r>
          </a:p>
          <a:p>
            <a:pPr marL="342900" indent="-342900">
              <a:buFont typeface="Arial" charset="0"/>
              <a:buChar char="•"/>
            </a:pPr>
            <a:endParaRPr lang="en-US" sz="2200" dirty="0" smtClean="0">
              <a:latin typeface="Avenir Book" charset="0"/>
              <a:ea typeface="Avenir Book" charset="0"/>
              <a:cs typeface="Avenir Book" charset="0"/>
            </a:endParaRPr>
          </a:p>
          <a:p>
            <a:pPr marL="342900" indent="-342900">
              <a:buFont typeface="Arial" charset="0"/>
              <a:buChar char="•"/>
            </a:pPr>
            <a:r>
              <a:rPr lang="en-US" sz="2200" dirty="0" smtClean="0">
                <a:latin typeface="Avenir Book" charset="0"/>
                <a:ea typeface="Avenir Book" charset="0"/>
                <a:cs typeface="Avenir Book" charset="0"/>
              </a:rPr>
              <a:t>Can use multiple 3x3 convolutions to simulate larger kernels with fewer parameters</a:t>
            </a:r>
          </a:p>
          <a:p>
            <a:pPr marL="342900" indent="-342900">
              <a:buFont typeface="Arial" charset="0"/>
              <a:buChar char="•"/>
            </a:pPr>
            <a:endParaRPr lang="en-US" sz="2200" dirty="0" smtClean="0">
              <a:latin typeface="Avenir Book" charset="0"/>
              <a:ea typeface="Avenir Book" charset="0"/>
              <a:cs typeface="Avenir Book" charset="0"/>
            </a:endParaRPr>
          </a:p>
          <a:p>
            <a:pPr marL="342900" indent="-342900">
              <a:buFont typeface="Arial" charset="0"/>
              <a:buChar char="•"/>
            </a:pPr>
            <a:r>
              <a:rPr lang="en-US" sz="2200" dirty="0" smtClean="0">
                <a:latin typeface="Avenir Book" charset="0"/>
                <a:ea typeface="Avenir Book" charset="0"/>
                <a:cs typeface="Avenir Book" charset="0"/>
              </a:rPr>
              <a:t>Served as ”base model” for future works</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34646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Inception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342900" indent="-342900">
              <a:buFont typeface="Arial" charset="0"/>
              <a:buChar char="•"/>
            </a:pPr>
            <a:r>
              <a:rPr lang="en-US" sz="2200" dirty="0" err="1" smtClean="0">
                <a:latin typeface="Avenir Book" charset="0"/>
                <a:ea typeface="Avenir Book" charset="0"/>
                <a:cs typeface="Avenir Book" charset="0"/>
              </a:rPr>
              <a:t>Szegedy</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et al </a:t>
            </a:r>
            <a:r>
              <a:rPr lang="en-US" sz="2200" dirty="0" smtClean="0">
                <a:latin typeface="Avenir Book" charset="0"/>
                <a:ea typeface="Avenir Book" charset="0"/>
                <a:cs typeface="Avenir Book" charset="0"/>
              </a:rPr>
              <a:t>2014</a:t>
            </a:r>
          </a:p>
          <a:p>
            <a:pPr marL="342900" indent="-342900">
              <a:buFont typeface="Arial" charset="0"/>
              <a:buChar char="•"/>
            </a:pPr>
            <a:r>
              <a:rPr lang="en-US" sz="2200" dirty="0" smtClean="0">
                <a:latin typeface="Avenir Book" charset="0"/>
                <a:ea typeface="Avenir Book" charset="0"/>
                <a:cs typeface="Avenir Book" charset="0"/>
              </a:rPr>
              <a:t>Idea</a:t>
            </a:r>
            <a:r>
              <a:rPr lang="en-US" sz="2200" dirty="0">
                <a:latin typeface="Avenir Book" charset="0"/>
                <a:ea typeface="Avenir Book" charset="0"/>
                <a:cs typeface="Avenir Book" charset="0"/>
              </a:rPr>
              <a:t>: network would want to use different receptive </a:t>
            </a:r>
            <a:r>
              <a:rPr lang="en-US" sz="2200" dirty="0" smtClean="0">
                <a:latin typeface="Avenir Book" charset="0"/>
                <a:ea typeface="Avenir Book" charset="0"/>
                <a:cs typeface="Avenir Book" charset="0"/>
              </a:rPr>
              <a:t>fields</a:t>
            </a:r>
          </a:p>
          <a:p>
            <a:pPr marL="342900" indent="-342900">
              <a:buFont typeface="Arial" charset="0"/>
              <a:buChar char="•"/>
            </a:pPr>
            <a:r>
              <a:rPr lang="en-US" sz="2200" dirty="0" smtClean="0">
                <a:latin typeface="Avenir Book" charset="0"/>
                <a:ea typeface="Avenir Book" charset="0"/>
                <a:cs typeface="Avenir Book" charset="0"/>
              </a:rPr>
              <a:t>Want </a:t>
            </a:r>
            <a:r>
              <a:rPr lang="en-US" sz="2200" dirty="0">
                <a:latin typeface="Avenir Book" charset="0"/>
                <a:ea typeface="Avenir Book" charset="0"/>
                <a:cs typeface="Avenir Book" charset="0"/>
              </a:rPr>
              <a:t>computational </a:t>
            </a:r>
            <a:r>
              <a:rPr lang="en-US" sz="2200" dirty="0" smtClean="0">
                <a:latin typeface="Avenir Book" charset="0"/>
                <a:ea typeface="Avenir Book" charset="0"/>
                <a:cs typeface="Avenir Book" charset="0"/>
              </a:rPr>
              <a:t>efficiency</a:t>
            </a:r>
          </a:p>
          <a:p>
            <a:pPr marL="342900" indent="-342900">
              <a:buFont typeface="Arial" charset="0"/>
              <a:buChar char="•"/>
            </a:pPr>
            <a:r>
              <a:rPr lang="en-US" sz="2200" dirty="0" smtClean="0">
                <a:latin typeface="Avenir Book" charset="0"/>
                <a:ea typeface="Avenir Book" charset="0"/>
                <a:cs typeface="Avenir Book" charset="0"/>
              </a:rPr>
              <a:t>Also </a:t>
            </a:r>
            <a:r>
              <a:rPr lang="en-US" sz="2200" dirty="0">
                <a:latin typeface="Avenir Book" charset="0"/>
                <a:ea typeface="Avenir Book" charset="0"/>
                <a:cs typeface="Avenir Book" charset="0"/>
              </a:rPr>
              <a:t>want to have sparse activations of groups of </a:t>
            </a:r>
            <a:r>
              <a:rPr lang="en-US" sz="2200" dirty="0" smtClean="0">
                <a:latin typeface="Avenir Book" charset="0"/>
                <a:ea typeface="Avenir Book" charset="0"/>
                <a:cs typeface="Avenir Book" charset="0"/>
              </a:rPr>
              <a:t>neurons</a:t>
            </a:r>
          </a:p>
          <a:p>
            <a:pPr marL="342900" indent="-342900">
              <a:buFont typeface="Arial" charset="0"/>
              <a:buChar char="•"/>
            </a:pPr>
            <a:r>
              <a:rPr lang="en-US" sz="2200" dirty="0" err="1" smtClean="0">
                <a:latin typeface="Avenir Book" charset="0"/>
                <a:ea typeface="Avenir Book" charset="0"/>
                <a:cs typeface="Avenir Book" charset="0"/>
              </a:rPr>
              <a:t>Hebbian</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principle: “Fire together, wire </a:t>
            </a:r>
            <a:r>
              <a:rPr lang="en-US" sz="2200" dirty="0" smtClean="0">
                <a:latin typeface="Avenir Book" charset="0"/>
                <a:ea typeface="Avenir Book" charset="0"/>
                <a:cs typeface="Avenir Book" charset="0"/>
              </a:rPr>
              <a:t>together”</a:t>
            </a:r>
          </a:p>
          <a:p>
            <a:pPr marL="342900" indent="-342900">
              <a:buFont typeface="Arial" charset="0"/>
              <a:buChar char="•"/>
            </a:pPr>
            <a:r>
              <a:rPr lang="en-US" sz="2200" dirty="0" smtClean="0">
                <a:latin typeface="Avenir Book" charset="0"/>
                <a:ea typeface="Avenir Book" charset="0"/>
                <a:cs typeface="Avenir Book" charset="0"/>
              </a:rPr>
              <a:t>Solution</a:t>
            </a:r>
            <a:r>
              <a:rPr lang="en-US" sz="2200" dirty="0">
                <a:latin typeface="Avenir Book" charset="0"/>
                <a:ea typeface="Avenir Book" charset="0"/>
                <a:cs typeface="Avenir Book" charset="0"/>
              </a:rPr>
              <a:t>: Turn each layer into branches of </a:t>
            </a:r>
            <a:r>
              <a:rPr lang="en-US" sz="2200" dirty="0" smtClean="0">
                <a:latin typeface="Avenir Book" charset="0"/>
                <a:ea typeface="Avenir Book" charset="0"/>
                <a:cs typeface="Avenir Book" charset="0"/>
              </a:rPr>
              <a:t>convolutions</a:t>
            </a:r>
          </a:p>
          <a:p>
            <a:pPr marL="342900" indent="-342900">
              <a:buFont typeface="Arial" charset="0"/>
              <a:buChar char="•"/>
            </a:pPr>
            <a:r>
              <a:rPr lang="en-US" sz="2200" dirty="0" smtClean="0">
                <a:latin typeface="Avenir Book" charset="0"/>
                <a:ea typeface="Avenir Book" charset="0"/>
                <a:cs typeface="Avenir Book" charset="0"/>
              </a:rPr>
              <a:t>Each </a:t>
            </a:r>
            <a:r>
              <a:rPr lang="en-US" sz="2200" dirty="0">
                <a:latin typeface="Avenir Book" charset="0"/>
                <a:ea typeface="Avenir Book" charset="0"/>
                <a:cs typeface="Avenir Book" charset="0"/>
              </a:rPr>
              <a:t>branch handles smaller portion of </a:t>
            </a:r>
            <a:r>
              <a:rPr lang="en-US" sz="2200" dirty="0" smtClean="0">
                <a:latin typeface="Avenir Book" charset="0"/>
                <a:ea typeface="Avenir Book" charset="0"/>
                <a:cs typeface="Avenir Book" charset="0"/>
              </a:rPr>
              <a:t>workload</a:t>
            </a:r>
          </a:p>
          <a:p>
            <a:pPr marL="342900" indent="-342900">
              <a:buFont typeface="Arial" charset="0"/>
              <a:buChar char="•"/>
            </a:pPr>
            <a:r>
              <a:rPr lang="en-US" sz="2200" dirty="0" smtClean="0">
                <a:latin typeface="Avenir Book" charset="0"/>
                <a:ea typeface="Avenir Book" charset="0"/>
                <a:cs typeface="Avenir Book" charset="0"/>
              </a:rPr>
              <a:t>Concatenate </a:t>
            </a:r>
            <a:r>
              <a:rPr lang="en-US" sz="2200" dirty="0">
                <a:latin typeface="Avenir Book" charset="0"/>
                <a:ea typeface="Avenir Book" charset="0"/>
                <a:cs typeface="Avenir Book" charset="0"/>
              </a:rPr>
              <a:t>different branches at the </a:t>
            </a:r>
            <a:r>
              <a:rPr lang="en-US" sz="2200" dirty="0" smtClean="0">
                <a:latin typeface="Avenir Book" charset="0"/>
                <a:ea typeface="Avenir Book" charset="0"/>
                <a:cs typeface="Avenir Book" charset="0"/>
              </a:rPr>
              <a:t>end</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8773277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Inception</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2378" y="1063228"/>
            <a:ext cx="7485460" cy="3684618"/>
          </a:xfrm>
          <a:prstGeom prst="rect">
            <a:avLst/>
          </a:prstGeom>
        </p:spPr>
      </p:pic>
      <p:sp>
        <p:nvSpPr>
          <p:cNvPr id="3" name="Rectangle 2"/>
          <p:cNvSpPr/>
          <p:nvPr/>
        </p:nvSpPr>
        <p:spPr>
          <a:xfrm>
            <a:off x="1016761" y="847784"/>
            <a:ext cx="7201010" cy="430887"/>
          </a:xfrm>
          <a:prstGeom prst="rect">
            <a:avLst/>
          </a:prstGeom>
        </p:spPr>
        <p:txBody>
          <a:bodyPr wrap="none">
            <a:spAutoFit/>
          </a:bodyPr>
          <a:lstStyle/>
          <a:p>
            <a:r>
              <a:rPr lang="en-US" sz="2200" dirty="0">
                <a:latin typeface="Avenir Book" charset="0"/>
                <a:ea typeface="Avenir Book" charset="0"/>
                <a:cs typeface="Avenir Book" charset="0"/>
              </a:rPr>
              <a:t>Basic idea: replace single 3x3 convolutions with module</a:t>
            </a:r>
          </a:p>
        </p:txBody>
      </p:sp>
    </p:spTree>
    <p:extLst>
      <p:ext uri="{BB962C8B-B14F-4D97-AF65-F5344CB8AC3E}">
        <p14:creationId xmlns:p14="http://schemas.microsoft.com/office/powerpoint/2010/main" val="15454194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2378" y="1063228"/>
            <a:ext cx="7485460" cy="3684618"/>
          </a:xfrm>
          <a:prstGeom prst="rect">
            <a:avLst/>
          </a:prstGeom>
        </p:spPr>
      </p:pic>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Inception</a:t>
            </a:r>
            <a:endParaRPr lang="en-US" dirty="0">
              <a:latin typeface="Avenir Book" charset="0"/>
              <a:ea typeface="Avenir Book" charset="0"/>
              <a:cs typeface="Avenir Book" charset="0"/>
            </a:endParaRPr>
          </a:p>
        </p:txBody>
      </p:sp>
      <p:cxnSp>
        <p:nvCxnSpPr>
          <p:cNvPr id="4" name="Straight Arrow Connector 3"/>
          <p:cNvCxnSpPr/>
          <p:nvPr/>
        </p:nvCxnSpPr>
        <p:spPr>
          <a:xfrm flipH="1">
            <a:off x="4595446" y="1997320"/>
            <a:ext cx="833804" cy="7458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5429250" y="1997320"/>
            <a:ext cx="537796" cy="7458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4925108" y="1127224"/>
            <a:ext cx="3828874" cy="923330"/>
          </a:xfrm>
          <a:prstGeom prst="rect">
            <a:avLst/>
          </a:prstGeom>
        </p:spPr>
        <p:txBody>
          <a:bodyPr wrap="square">
            <a:spAutoFit/>
          </a:bodyPr>
          <a:lstStyle/>
          <a:p>
            <a:r>
              <a:rPr lang="en-US" sz="1800" dirty="0">
                <a:solidFill>
                  <a:srgbClr val="FF0000"/>
                </a:solidFill>
                <a:latin typeface="Avenir Book" charset="0"/>
                <a:ea typeface="Avenir Book" charset="0"/>
                <a:cs typeface="Avenir Book" charset="0"/>
              </a:rPr>
              <a:t>Problem: reducing filters from </a:t>
            </a:r>
            <a:r>
              <a:rPr lang="en-US" sz="1800">
                <a:solidFill>
                  <a:srgbClr val="FF0000"/>
                </a:solidFill>
                <a:latin typeface="Avenir Book" charset="0"/>
                <a:ea typeface="Avenir Book" charset="0"/>
                <a:cs typeface="Avenir Book" charset="0"/>
              </a:rPr>
              <a:t>previous </a:t>
            </a:r>
            <a:r>
              <a:rPr lang="en-US" sz="1800" smtClean="0">
                <a:solidFill>
                  <a:srgbClr val="FF0000"/>
                </a:solidFill>
                <a:latin typeface="Avenir Book" charset="0"/>
                <a:ea typeface="Avenir Book" charset="0"/>
                <a:cs typeface="Avenir Book" charset="0"/>
              </a:rPr>
              <a:t>layer via </a:t>
            </a:r>
            <a:r>
              <a:rPr lang="en-US" sz="1800" dirty="0">
                <a:solidFill>
                  <a:srgbClr val="FF0000"/>
                </a:solidFill>
                <a:latin typeface="Avenir Book" charset="0"/>
                <a:ea typeface="Avenir Book" charset="0"/>
                <a:cs typeface="Avenir Book" charset="0"/>
              </a:rPr>
              <a:t>3x3 and 5x5 convolutions is inefficient</a:t>
            </a:r>
          </a:p>
        </p:txBody>
      </p:sp>
    </p:spTree>
    <p:extLst>
      <p:ext uri="{BB962C8B-B14F-4D97-AF65-F5344CB8AC3E}">
        <p14:creationId xmlns:p14="http://schemas.microsoft.com/office/powerpoint/2010/main" val="8175440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Inception</a:t>
            </a:r>
            <a:endParaRPr lang="en-US" dirty="0">
              <a:latin typeface="Avenir Book" charset="0"/>
              <a:ea typeface="Avenir Book" charset="0"/>
              <a:cs typeface="Avenir Book"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027" y="1200151"/>
            <a:ext cx="7316391" cy="3571141"/>
          </a:xfrm>
          <a:prstGeom prst="rect">
            <a:avLst/>
          </a:prstGeom>
        </p:spPr>
      </p:pic>
    </p:spTree>
    <p:extLst>
      <p:ext uri="{BB962C8B-B14F-4D97-AF65-F5344CB8AC3E}">
        <p14:creationId xmlns:p14="http://schemas.microsoft.com/office/powerpoint/2010/main" val="17370987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027" y="1200151"/>
            <a:ext cx="7316391" cy="3571141"/>
          </a:xfrm>
          <a:prstGeom prst="rect">
            <a:avLst/>
          </a:prstGeom>
        </p:spPr>
      </p:pic>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Inception</a:t>
            </a:r>
            <a:endParaRPr lang="en-US" dirty="0">
              <a:latin typeface="Avenir Book" charset="0"/>
              <a:ea typeface="Avenir Book" charset="0"/>
              <a:cs typeface="Avenir Book" charset="0"/>
            </a:endParaRPr>
          </a:p>
        </p:txBody>
      </p:sp>
      <p:cxnSp>
        <p:nvCxnSpPr>
          <p:cNvPr id="4" name="Straight Arrow Connector 3"/>
          <p:cNvCxnSpPr/>
          <p:nvPr/>
        </p:nvCxnSpPr>
        <p:spPr>
          <a:xfrm flipH="1">
            <a:off x="4171950" y="1485900"/>
            <a:ext cx="1657350" cy="18288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5829300" y="1485900"/>
            <a:ext cx="0" cy="18288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5092726" y="562570"/>
            <a:ext cx="3399692" cy="923330"/>
          </a:xfrm>
          <a:prstGeom prst="rect">
            <a:avLst/>
          </a:prstGeom>
        </p:spPr>
        <p:txBody>
          <a:bodyPr wrap="square">
            <a:spAutoFit/>
          </a:bodyPr>
          <a:lstStyle/>
          <a:p>
            <a:r>
              <a:rPr lang="en-US" sz="1800" smtClean="0">
                <a:latin typeface="Avenir Book" charset="0"/>
                <a:ea typeface="Avenir Book" charset="0"/>
                <a:cs typeface="Avenir Book" charset="0"/>
              </a:rPr>
              <a:t>Instead, reduce </a:t>
            </a:r>
            <a:r>
              <a:rPr lang="en-US" sz="1800" dirty="0">
                <a:latin typeface="Avenir Book" charset="0"/>
                <a:ea typeface="Avenir Book" charset="0"/>
                <a:cs typeface="Avenir Book" charset="0"/>
              </a:rPr>
              <a:t>parameters by reducing filter depth with 1x1 convolutions</a:t>
            </a:r>
          </a:p>
        </p:txBody>
      </p:sp>
    </p:spTree>
    <p:extLst>
      <p:ext uri="{BB962C8B-B14F-4D97-AF65-F5344CB8AC3E}">
        <p14:creationId xmlns:p14="http://schemas.microsoft.com/office/powerpoint/2010/main" val="373314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027" y="1200151"/>
            <a:ext cx="7316391" cy="3571141"/>
          </a:xfrm>
          <a:prstGeom prst="rect">
            <a:avLst/>
          </a:prstGeom>
        </p:spPr>
      </p:pic>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Inception</a:t>
            </a:r>
            <a:endParaRPr lang="en-US" dirty="0">
              <a:latin typeface="Avenir Book" charset="0"/>
              <a:ea typeface="Avenir Book" charset="0"/>
              <a:cs typeface="Avenir Book" charset="0"/>
            </a:endParaRPr>
          </a:p>
        </p:txBody>
      </p:sp>
      <p:cxnSp>
        <p:nvCxnSpPr>
          <p:cNvPr id="5" name="Straight Arrow Connector 4"/>
          <p:cNvCxnSpPr/>
          <p:nvPr/>
        </p:nvCxnSpPr>
        <p:spPr>
          <a:xfrm>
            <a:off x="6482862" y="1200151"/>
            <a:ext cx="718038" cy="85724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021016" y="296172"/>
            <a:ext cx="3179884" cy="923330"/>
          </a:xfrm>
          <a:prstGeom prst="rect">
            <a:avLst/>
          </a:prstGeom>
        </p:spPr>
        <p:txBody>
          <a:bodyPr wrap="square">
            <a:spAutoFit/>
          </a:bodyPr>
          <a:lstStyle/>
          <a:p>
            <a:r>
              <a:rPr lang="en-US" sz="1800" dirty="0">
                <a:latin typeface="Avenir Book" charset="0"/>
                <a:ea typeface="Avenir Book" charset="0"/>
                <a:cs typeface="Avenir Book" charset="0"/>
              </a:rPr>
              <a:t>We also control the number of filters from max pool branch with a 1x1 conv</a:t>
            </a:r>
          </a:p>
        </p:txBody>
      </p:sp>
    </p:spTree>
    <p:extLst>
      <p:ext uri="{BB962C8B-B14F-4D97-AF65-F5344CB8AC3E}">
        <p14:creationId xmlns:p14="http://schemas.microsoft.com/office/powerpoint/2010/main" val="1608265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027" y="1200151"/>
            <a:ext cx="7316391" cy="3571141"/>
          </a:xfrm>
          <a:prstGeom prst="rect">
            <a:avLst/>
          </a:prstGeom>
        </p:spPr>
      </p:pic>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Inception</a:t>
            </a:r>
            <a:endParaRPr lang="en-US" dirty="0">
              <a:latin typeface="Avenir Book" charset="0"/>
              <a:ea typeface="Avenir Book" charset="0"/>
              <a:cs typeface="Avenir Book" charset="0"/>
            </a:endParaRPr>
          </a:p>
        </p:txBody>
      </p:sp>
      <p:cxnSp>
        <p:nvCxnSpPr>
          <p:cNvPr id="4" name="Straight Arrow Connector 3"/>
          <p:cNvCxnSpPr/>
          <p:nvPr/>
        </p:nvCxnSpPr>
        <p:spPr>
          <a:xfrm flipH="1">
            <a:off x="4724400" y="1314451"/>
            <a:ext cx="1047750" cy="29175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H="1">
            <a:off x="4865077" y="1314450"/>
            <a:ext cx="907073" cy="1861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72150" y="914401"/>
            <a:ext cx="3053073" cy="923330"/>
          </a:xfrm>
          <a:prstGeom prst="rect">
            <a:avLst/>
          </a:prstGeom>
          <a:noFill/>
        </p:spPr>
        <p:txBody>
          <a:bodyPr wrap="square" rtlCol="0">
            <a:spAutoFit/>
          </a:bodyPr>
          <a:lstStyle/>
          <a:p>
            <a:r>
              <a:rPr lang="en-US" sz="1800" dirty="0" smtClean="0">
                <a:solidFill>
                  <a:srgbClr val="FF0000"/>
                </a:solidFill>
                <a:latin typeface="Avenir Book" charset="0"/>
                <a:ea typeface="Avenir Book" charset="0"/>
                <a:cs typeface="Avenir Book" charset="0"/>
              </a:rPr>
              <a:t>This whole “block” serves the function of a previous convolutional layer.</a:t>
            </a:r>
            <a:endParaRPr lang="en-US" sz="18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62482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Inception V3 schematic</a:t>
            </a:r>
            <a:endParaRPr lang="en-US" dirty="0">
              <a:latin typeface="Avenir Book" charset="0"/>
              <a:ea typeface="Avenir Book" charset="0"/>
              <a:cs typeface="Avenir Book"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081" y="1310111"/>
            <a:ext cx="7350369" cy="2742606"/>
          </a:xfrm>
          <a:prstGeom prst="rect">
            <a:avLst/>
          </a:prstGeom>
        </p:spPr>
      </p:pic>
    </p:spTree>
    <p:extLst>
      <p:ext uri="{BB962C8B-B14F-4D97-AF65-F5344CB8AC3E}">
        <p14:creationId xmlns:p14="http://schemas.microsoft.com/office/powerpoint/2010/main" val="4919630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ResNet</a:t>
            </a:r>
            <a:r>
              <a:rPr lang="en-US" dirty="0" smtClean="0">
                <a:latin typeface="Avenir Book" charset="0"/>
                <a:ea typeface="Avenir Book" charset="0"/>
                <a:cs typeface="Avenir Book" charset="0"/>
              </a:rPr>
              <a:t> - Motivation</a:t>
            </a:r>
            <a:endParaRPr lang="en-US" dirty="0">
              <a:latin typeface="Avenir Book" charset="0"/>
              <a:ea typeface="Avenir Book" charset="0"/>
              <a:cs typeface="Avenir Book"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251" y="1885126"/>
            <a:ext cx="7591425" cy="2695575"/>
          </a:xfrm>
          <a:prstGeom prst="rect">
            <a:avLst/>
          </a:prstGeom>
        </p:spPr>
      </p:pic>
      <p:sp>
        <p:nvSpPr>
          <p:cNvPr id="7" name="Rectangle 6"/>
          <p:cNvSpPr/>
          <p:nvPr/>
        </p:nvSpPr>
        <p:spPr>
          <a:xfrm>
            <a:off x="398352" y="992783"/>
            <a:ext cx="8192764" cy="769441"/>
          </a:xfrm>
          <a:prstGeom prst="rect">
            <a:avLst/>
          </a:prstGeom>
        </p:spPr>
        <p:txBody>
          <a:bodyPr wrap="square">
            <a:spAutoFit/>
          </a:bodyPr>
          <a:lstStyle/>
          <a:p>
            <a:pPr lvl="0"/>
            <a:r>
              <a:rPr lang="en-US" sz="2200" dirty="0" smtClean="0">
                <a:latin typeface="Avenir Book" charset="0"/>
                <a:ea typeface="Avenir Book" charset="0"/>
                <a:cs typeface="Avenir Book" charset="0"/>
              </a:rPr>
              <a:t>Issue: Deeper Networks performing worse on </a:t>
            </a:r>
            <a:r>
              <a:rPr lang="en-US" sz="2200" b="1" dirty="0" smtClean="0">
                <a:latin typeface="Avenir Book" charset="0"/>
                <a:ea typeface="Avenir Book" charset="0"/>
                <a:cs typeface="Avenir Book" charset="0"/>
              </a:rPr>
              <a:t>training</a:t>
            </a:r>
            <a:r>
              <a:rPr lang="en-US" sz="2200" dirty="0" smtClean="0">
                <a:latin typeface="Avenir Book" charset="0"/>
                <a:ea typeface="Avenir Book" charset="0"/>
                <a:cs typeface="Avenir Book" charset="0"/>
              </a:rPr>
              <a:t> data!</a:t>
            </a:r>
          </a:p>
          <a:p>
            <a:pPr lvl="0"/>
            <a:r>
              <a:rPr lang="en-US" sz="2200" dirty="0">
                <a:latin typeface="Avenir Book" charset="0"/>
                <a:ea typeface="Avenir Book" charset="0"/>
                <a:cs typeface="Avenir Book" charset="0"/>
              </a:rPr>
              <a:t>	</a:t>
            </a:r>
            <a:r>
              <a:rPr lang="en-US" sz="2200" dirty="0" smtClean="0">
                <a:latin typeface="Avenir Book" charset="0"/>
                <a:ea typeface="Avenir Book" charset="0"/>
                <a:cs typeface="Avenir Book" charset="0"/>
              </a:rPr>
              <a:t>(as well as test data)</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468707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ResNet</a:t>
            </a:r>
            <a:endParaRPr lang="en-US" dirty="0">
              <a:latin typeface="Avenir Book" charset="0"/>
              <a:ea typeface="Avenir Book" charset="0"/>
              <a:cs typeface="Avenir Book" charset="0"/>
            </a:endParaRPr>
          </a:p>
        </p:txBody>
      </p:sp>
      <p:sp>
        <p:nvSpPr>
          <p:cNvPr id="7" name="Rectangle 6"/>
          <p:cNvSpPr/>
          <p:nvPr/>
        </p:nvSpPr>
        <p:spPr>
          <a:xfrm>
            <a:off x="398352" y="992783"/>
            <a:ext cx="8192764" cy="2462213"/>
          </a:xfrm>
          <a:prstGeom prst="rect">
            <a:avLst/>
          </a:prstGeom>
        </p:spPr>
        <p:txBody>
          <a:bodyPr wrap="square">
            <a:spAutoFit/>
          </a:bodyPr>
          <a:lstStyle/>
          <a:p>
            <a:pPr marL="342900" lvl="0" indent="-342900">
              <a:buFont typeface="Arial" charset="0"/>
              <a:buChar char="•"/>
            </a:pPr>
            <a:r>
              <a:rPr lang="en-US" sz="2200" dirty="0" smtClean="0">
                <a:latin typeface="Avenir Book" charset="0"/>
                <a:ea typeface="Avenir Book" charset="0"/>
                <a:cs typeface="Avenir Book" charset="0"/>
              </a:rPr>
              <a:t>Surprising because deeper networks should </a:t>
            </a:r>
            <a:r>
              <a:rPr lang="en-US" sz="2200" dirty="0" err="1" smtClean="0">
                <a:latin typeface="Avenir Book" charset="0"/>
                <a:ea typeface="Avenir Book" charset="0"/>
                <a:cs typeface="Avenir Book" charset="0"/>
              </a:rPr>
              <a:t>overfit</a:t>
            </a:r>
            <a:r>
              <a:rPr lang="en-US" sz="2200" dirty="0" smtClean="0">
                <a:latin typeface="Avenir Book" charset="0"/>
                <a:ea typeface="Avenir Book" charset="0"/>
                <a:cs typeface="Avenir Book" charset="0"/>
              </a:rPr>
              <a:t> more.</a:t>
            </a:r>
          </a:p>
          <a:p>
            <a:pPr marL="342900" lvl="0" indent="-342900">
              <a:buFont typeface="Arial" charset="0"/>
              <a:buChar char="•"/>
            </a:pPr>
            <a:r>
              <a:rPr lang="en-US" sz="2200" dirty="0" smtClean="0">
                <a:latin typeface="Avenir Book" charset="0"/>
                <a:ea typeface="Avenir Book" charset="0"/>
                <a:cs typeface="Avenir Book" charset="0"/>
              </a:rPr>
              <a:t>So what’s happening?</a:t>
            </a:r>
          </a:p>
          <a:p>
            <a:pPr marL="342900" lvl="0" indent="-342900">
              <a:buFont typeface="Arial" charset="0"/>
              <a:buChar char="•"/>
            </a:pPr>
            <a:r>
              <a:rPr lang="en-US" sz="2200" dirty="0" smtClean="0">
                <a:latin typeface="Avenir Book" charset="0"/>
                <a:ea typeface="Avenir Book" charset="0"/>
                <a:cs typeface="Avenir Book" charset="0"/>
              </a:rPr>
              <a:t>Early layers of Deep Networks are very slow to adjust.</a:t>
            </a:r>
          </a:p>
          <a:p>
            <a:pPr marL="342900" lvl="0" indent="-342900">
              <a:buFont typeface="Arial" charset="0"/>
              <a:buChar char="•"/>
            </a:pPr>
            <a:r>
              <a:rPr lang="en-US" sz="2200" dirty="0" smtClean="0">
                <a:latin typeface="Avenir Book" charset="0"/>
                <a:ea typeface="Avenir Book" charset="0"/>
                <a:cs typeface="Avenir Book" charset="0"/>
              </a:rPr>
              <a:t>Analogous to “Vanishing Gradient” issue.</a:t>
            </a:r>
          </a:p>
          <a:p>
            <a:pPr marL="342900" lvl="0" indent="-342900">
              <a:buFont typeface="Arial" charset="0"/>
              <a:buChar char="•"/>
            </a:pPr>
            <a:r>
              <a:rPr lang="en-US" sz="2200" dirty="0" smtClean="0">
                <a:latin typeface="Avenir Book" charset="0"/>
                <a:ea typeface="Avenir Book" charset="0"/>
                <a:cs typeface="Avenir Book" charset="0"/>
              </a:rPr>
              <a:t>In theory, should be able to just have an “identity” transformation that makes the deeper network behave like a shallower one</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3455608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ResNet</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7" name="Rectangle 6"/>
              <p:cNvSpPr/>
              <p:nvPr/>
            </p:nvSpPr>
            <p:spPr>
              <a:xfrm>
                <a:off x="398352" y="992783"/>
                <a:ext cx="8192764" cy="2800767"/>
              </a:xfrm>
              <a:prstGeom prst="rect">
                <a:avLst/>
              </a:prstGeom>
            </p:spPr>
            <p:txBody>
              <a:bodyPr wrap="square">
                <a:spAutoFit/>
              </a:bodyPr>
              <a:lstStyle/>
              <a:p>
                <a:pPr marL="342900" indent="-342900">
                  <a:buFont typeface="Arial" charset="0"/>
                  <a:buChar char="•"/>
                </a:pPr>
                <a:r>
                  <a:rPr lang="en-US" sz="2200" dirty="0" smtClean="0">
                    <a:latin typeface="Avenir Book" charset="0"/>
                    <a:ea typeface="Avenir Book" charset="0"/>
                    <a:cs typeface="Avenir Book" charset="0"/>
                  </a:rPr>
                  <a:t>Assumption</a:t>
                </a:r>
                <a:r>
                  <a:rPr lang="en-US" sz="2200" dirty="0">
                    <a:latin typeface="Avenir Book" charset="0"/>
                    <a:ea typeface="Avenir Book" charset="0"/>
                    <a:cs typeface="Avenir Book" charset="0"/>
                  </a:rPr>
                  <a:t>: best transformation over multiple layers is close to </a:t>
                </a:r>
                <a14:m>
                  <m:oMath xmlns:m="http://schemas.openxmlformats.org/officeDocument/2006/math">
                    <m:r>
                      <a:rPr lang="en-US" sz="2200" i="1">
                        <a:latin typeface="Cambria Math" charset="0"/>
                        <a:ea typeface="Cambria Math" charset="0"/>
                        <a:cs typeface="Cambria Math" charset="0"/>
                      </a:rPr>
                      <m:t>ℱ</m:t>
                    </m:r>
                    <m:d>
                      <m:dPr>
                        <m:ctrlPr>
                          <a:rPr lang="en-US" sz="2200" i="1">
                            <a:latin typeface="Cambria Math" panose="02040503050406030204" pitchFamily="18" charset="0"/>
                            <a:ea typeface="Cambria Math" charset="0"/>
                            <a:cs typeface="Cambria Math" charset="0"/>
                          </a:rPr>
                        </m:ctrlPr>
                      </m:dPr>
                      <m:e>
                        <m:r>
                          <a:rPr lang="en-US" sz="2200" i="1">
                            <a:latin typeface="Cambria Math" charset="0"/>
                            <a:ea typeface="Cambria Math" charset="0"/>
                            <a:cs typeface="Cambria Math" charset="0"/>
                          </a:rPr>
                          <m:t>𝑥</m:t>
                        </m:r>
                      </m:e>
                    </m:d>
                    <m:r>
                      <a:rPr lang="en-US" sz="2200" i="1">
                        <a:latin typeface="Cambria Math" charset="0"/>
                        <a:ea typeface="Cambria Math" charset="0"/>
                        <a:cs typeface="Cambria Math" charset="0"/>
                      </a:rPr>
                      <m:t>+</m:t>
                    </m:r>
                    <m:r>
                      <a:rPr lang="en-US" sz="2200" i="1">
                        <a:latin typeface="Cambria Math" charset="0"/>
                        <a:ea typeface="Cambria Math" charset="0"/>
                        <a:cs typeface="Cambria Math" charset="0"/>
                      </a:rPr>
                      <m:t>𝑥</m:t>
                    </m:r>
                  </m:oMath>
                </a14:m>
                <a:endParaRPr lang="en-US" sz="2200" i="1" dirty="0" smtClean="0">
                  <a:latin typeface="Cambria Math" charset="0"/>
                  <a:ea typeface="Cambria Math" charset="0"/>
                  <a:cs typeface="Cambria Math" charset="0"/>
                </a:endParaRPr>
              </a:p>
              <a:p>
                <a:pPr marL="342900" indent="-342900">
                  <a:buFont typeface="Arial" charset="0"/>
                  <a:buChar char="•"/>
                </a:pPr>
                <a14:m>
                  <m:oMath xmlns:m="http://schemas.openxmlformats.org/officeDocument/2006/math">
                    <m:r>
                      <a:rPr lang="en-US" sz="2200" i="1">
                        <a:latin typeface="Cambria Math" charset="0"/>
                        <a:ea typeface="Cambria Math" charset="0"/>
                        <a:cs typeface="Cambria Math" charset="0"/>
                      </a:rPr>
                      <m:t>𝑥</m:t>
                    </m:r>
                  </m:oMath>
                </a14:m>
                <a:r>
                  <a:rPr lang="en-US" sz="2200" dirty="0"/>
                  <a:t> </a:t>
                </a:r>
                <a:r>
                  <a:rPr lang="en-US" sz="2200" dirty="0">
                    <a:sym typeface="Wingdings"/>
                  </a:rPr>
                  <a:t> </a:t>
                </a:r>
                <a:r>
                  <a:rPr lang="en-US" sz="2200" dirty="0">
                    <a:latin typeface="Avenir Book" charset="0"/>
                    <a:ea typeface="Avenir Book" charset="0"/>
                    <a:cs typeface="Avenir Book" charset="0"/>
                    <a:sym typeface="Wingdings"/>
                  </a:rPr>
                  <a:t>input to series of layers</a:t>
                </a:r>
                <a:endParaRPr lang="en-US" sz="2200" i="1" dirty="0" smtClean="0">
                  <a:latin typeface="Cambria Math" charset="0"/>
                  <a:ea typeface="Cambria Math" charset="0"/>
                  <a:cs typeface="Cambria Math" charset="0"/>
                </a:endParaRPr>
              </a:p>
              <a:p>
                <a:pPr marL="342900" indent="-342900">
                  <a:buFont typeface="Arial" charset="0"/>
                  <a:buChar char="•"/>
                </a:pPr>
                <a14:m>
                  <m:oMath xmlns:m="http://schemas.openxmlformats.org/officeDocument/2006/math">
                    <m:r>
                      <a:rPr lang="en-US" sz="2200" i="1">
                        <a:latin typeface="Cambria Math" charset="0"/>
                        <a:ea typeface="Cambria Math" charset="0"/>
                        <a:cs typeface="Cambria Math" charset="0"/>
                      </a:rPr>
                      <m:t>ℱ</m:t>
                    </m:r>
                    <m:d>
                      <m:dPr>
                        <m:ctrlPr>
                          <a:rPr lang="en-US" sz="2200" i="1">
                            <a:latin typeface="Cambria Math" panose="02040503050406030204" pitchFamily="18" charset="0"/>
                            <a:ea typeface="Cambria Math" charset="0"/>
                            <a:cs typeface="Cambria Math" charset="0"/>
                          </a:rPr>
                        </m:ctrlPr>
                      </m:dPr>
                      <m:e>
                        <m:r>
                          <a:rPr lang="en-US" sz="2200" i="1">
                            <a:latin typeface="Cambria Math" charset="0"/>
                            <a:ea typeface="Cambria Math" charset="0"/>
                            <a:cs typeface="Cambria Math" charset="0"/>
                          </a:rPr>
                          <m:t>𝑥</m:t>
                        </m:r>
                      </m:e>
                    </m:d>
                  </m:oMath>
                </a14:m>
                <a:r>
                  <a:rPr lang="en-US" sz="2200" dirty="0"/>
                  <a:t> </a:t>
                </a:r>
                <a:r>
                  <a:rPr lang="en-US" sz="2200" dirty="0">
                    <a:sym typeface="Wingdings"/>
                  </a:rPr>
                  <a:t> </a:t>
                </a:r>
                <a:r>
                  <a:rPr lang="en-US" sz="2200" dirty="0">
                    <a:latin typeface="Avenir Book" charset="0"/>
                    <a:ea typeface="Avenir Book" charset="0"/>
                    <a:cs typeface="Avenir Book" charset="0"/>
                    <a:sym typeface="Wingdings"/>
                  </a:rPr>
                  <a:t>function represented by several layers (such as </a:t>
                </a:r>
                <a:r>
                  <a:rPr lang="en-US" sz="2200" dirty="0" err="1" smtClean="0">
                    <a:latin typeface="Avenir Book" charset="0"/>
                    <a:ea typeface="Avenir Book" charset="0"/>
                    <a:cs typeface="Avenir Book" charset="0"/>
                    <a:sym typeface="Wingdings"/>
                  </a:rPr>
                  <a:t>convs</a:t>
                </a:r>
                <a:r>
                  <a:rPr lang="en-US" sz="2200" dirty="0" smtClean="0">
                    <a:latin typeface="Avenir Book" charset="0"/>
                    <a:ea typeface="Avenir Book" charset="0"/>
                    <a:cs typeface="Avenir Book" charset="0"/>
                    <a:sym typeface="Wingdings"/>
                  </a:rPr>
                  <a:t>)</a:t>
                </a:r>
              </a:p>
              <a:p>
                <a:pPr marL="342900" indent="-342900">
                  <a:buFont typeface="Arial" charset="0"/>
                  <a:buChar char="•"/>
                </a:pPr>
                <a:r>
                  <a:rPr lang="en-US" sz="2200" dirty="0" smtClean="0">
                    <a:latin typeface="Avenir Book" charset="0"/>
                    <a:ea typeface="Avenir Book" charset="0"/>
                    <a:cs typeface="Avenir Book" charset="0"/>
                    <a:sym typeface="Wingdings"/>
                  </a:rPr>
                  <a:t>Enforce </a:t>
                </a:r>
                <a:r>
                  <a:rPr lang="en-US" sz="2200" dirty="0">
                    <a:latin typeface="Avenir Book" charset="0"/>
                    <a:ea typeface="Avenir Book" charset="0"/>
                    <a:cs typeface="Avenir Book" charset="0"/>
                    <a:sym typeface="Wingdings"/>
                  </a:rPr>
                  <a:t>this by adding “shortcut </a:t>
                </a:r>
                <a:r>
                  <a:rPr lang="en-US" sz="2200" dirty="0" smtClean="0">
                    <a:latin typeface="Avenir Book" charset="0"/>
                    <a:ea typeface="Avenir Book" charset="0"/>
                    <a:cs typeface="Avenir Book" charset="0"/>
                    <a:sym typeface="Wingdings"/>
                  </a:rPr>
                  <a:t>connections”</a:t>
                </a:r>
              </a:p>
              <a:p>
                <a:pPr marL="342900" indent="-342900">
                  <a:buFont typeface="Arial" charset="0"/>
                  <a:buChar char="•"/>
                </a:pPr>
                <a:r>
                  <a:rPr lang="en-US" sz="2200" dirty="0" smtClean="0">
                    <a:latin typeface="Avenir Book" charset="0"/>
                    <a:ea typeface="Avenir Book" charset="0"/>
                    <a:cs typeface="Avenir Book" charset="0"/>
                    <a:sym typeface="Wingdings"/>
                  </a:rPr>
                  <a:t>Add </a:t>
                </a:r>
                <a:r>
                  <a:rPr lang="en-US" sz="2200" dirty="0">
                    <a:latin typeface="Avenir Book" charset="0"/>
                    <a:ea typeface="Avenir Book" charset="0"/>
                    <a:cs typeface="Avenir Book" charset="0"/>
                    <a:sym typeface="Wingdings"/>
                  </a:rPr>
                  <a:t>the inputs from an earlier layer to the output of current layer</a:t>
                </a:r>
                <a:endParaRPr lang="en-US" sz="2200" dirty="0">
                  <a:latin typeface="Avenir Book" charset="0"/>
                  <a:ea typeface="Avenir Book" charset="0"/>
                  <a:cs typeface="Avenir Book" charset="0"/>
                </a:endParaRPr>
              </a:p>
              <a:p>
                <a:pPr marL="342900" lvl="0" indent="-342900">
                  <a:buFont typeface="Arial" charset="0"/>
                  <a:buChar char="•"/>
                </a:pPr>
                <a:endParaRPr lang="en-US" sz="2200" dirty="0">
                  <a:latin typeface="Avenir Book" charset="0"/>
                  <a:ea typeface="Avenir Book" charset="0"/>
                  <a:cs typeface="Avenir Book"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98352" y="992783"/>
                <a:ext cx="8192764" cy="2800767"/>
              </a:xfrm>
              <a:prstGeom prst="rect">
                <a:avLst/>
              </a:prstGeom>
              <a:blipFill rotWithShape="0">
                <a:blip r:embed="rId3"/>
                <a:stretch>
                  <a:fillRect l="-818" t="-1743" r="-967"/>
                </a:stretch>
              </a:blipFill>
            </p:spPr>
            <p:txBody>
              <a:bodyPr/>
              <a:lstStyle/>
              <a:p>
                <a:r>
                  <a:rPr lang="en-US">
                    <a:noFill/>
                  </a:rPr>
                  <a:t> </a:t>
                </a:r>
              </a:p>
            </p:txBody>
          </p:sp>
        </mc:Fallback>
      </mc:AlternateContent>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1210" y="3118857"/>
            <a:ext cx="2774797" cy="1645920"/>
          </a:xfrm>
          <a:prstGeom prst="rect">
            <a:avLst/>
          </a:prstGeom>
        </p:spPr>
      </p:pic>
    </p:spTree>
    <p:extLst>
      <p:ext uri="{BB962C8B-B14F-4D97-AF65-F5344CB8AC3E}">
        <p14:creationId xmlns:p14="http://schemas.microsoft.com/office/powerpoint/2010/main" val="209983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ResNet</a:t>
            </a:r>
            <a:endParaRPr lang="en-US" dirty="0">
              <a:latin typeface="Avenir Book" charset="0"/>
              <a:ea typeface="Avenir Book" charset="0"/>
              <a:cs typeface="Avenir Book" charset="0"/>
            </a:endParaRPr>
          </a:p>
        </p:txBody>
      </p:sp>
      <p:sp>
        <p:nvSpPr>
          <p:cNvPr id="7" name="Rectangle 6"/>
          <p:cNvSpPr/>
          <p:nvPr/>
        </p:nvSpPr>
        <p:spPr>
          <a:xfrm>
            <a:off x="398352" y="992783"/>
            <a:ext cx="8192764" cy="769441"/>
          </a:xfrm>
          <a:prstGeom prst="rect">
            <a:avLst/>
          </a:prstGeom>
        </p:spPr>
        <p:txBody>
          <a:bodyPr wrap="square">
            <a:spAutoFit/>
          </a:bodyPr>
          <a:lstStyle/>
          <a:p>
            <a:pPr marL="342900" lvl="0" indent="-342900">
              <a:buFont typeface="Arial" charset="0"/>
              <a:buChar char="•"/>
            </a:pPr>
            <a:r>
              <a:rPr lang="en-US" sz="2200" dirty="0" smtClean="0">
                <a:latin typeface="Avenir Book" charset="0"/>
                <a:ea typeface="Avenir Book" charset="0"/>
                <a:cs typeface="Avenir Book" charset="0"/>
              </a:rPr>
              <a:t>Add previous layer back in to current layer!</a:t>
            </a:r>
          </a:p>
          <a:p>
            <a:pPr marL="342900" lvl="0" indent="-342900">
              <a:buFont typeface="Arial" charset="0"/>
              <a:buChar char="•"/>
            </a:pPr>
            <a:r>
              <a:rPr lang="en-US" sz="2200" dirty="0" smtClean="0">
                <a:latin typeface="Avenir Book" charset="0"/>
                <a:ea typeface="Avenir Book" charset="0"/>
                <a:cs typeface="Avenir Book" charset="0"/>
              </a:rPr>
              <a:t>Similar idea to “boosting”</a:t>
            </a:r>
            <a:endParaRPr lang="en-US" sz="2200"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4650" y="1885950"/>
            <a:ext cx="3200400" cy="2798064"/>
          </a:xfrm>
          <a:prstGeom prst="rect">
            <a:avLst/>
          </a:prstGeom>
        </p:spPr>
      </p:pic>
    </p:spTree>
    <p:extLst>
      <p:ext uri="{BB962C8B-B14F-4D97-AF65-F5344CB8AC3E}">
        <p14:creationId xmlns:p14="http://schemas.microsoft.com/office/powerpoint/2010/main" val="19423040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8882063" y="4779963"/>
            <a:ext cx="261937" cy="246062"/>
          </a:xfrm>
        </p:spPr>
        <p:txBody>
          <a:bodyPr/>
          <a:lstStyle/>
          <a:p>
            <a:fld id="{BDF01D69-A501-704B-80CB-1B3152437FD0}" type="slidenum">
              <a:rPr lang="en-US" smtClean="0"/>
              <a:t>39</a:t>
            </a:fld>
            <a:endParaRPr lang="en-US"/>
          </a:p>
        </p:txBody>
      </p:sp>
    </p:spTree>
    <p:extLst>
      <p:ext uri="{BB962C8B-B14F-4D97-AF65-F5344CB8AC3E}">
        <p14:creationId xmlns:p14="http://schemas.microsoft.com/office/powerpoint/2010/main" val="12598936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31794</TotalTime>
  <Words>1291</Words>
  <Application>Microsoft Office PowerPoint</Application>
  <PresentationFormat>On-screen Show (16:9)</PresentationFormat>
  <Paragraphs>251</Paragraphs>
  <Slides>39</Slides>
  <Notes>38</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39</vt:i4>
      </vt:variant>
    </vt:vector>
  </HeadingPairs>
  <TitlesOfParts>
    <vt:vector size="54" baseType="lpstr">
      <vt:lpstr>Arial</vt:lpstr>
      <vt:lpstr>Avenir Book</vt:lpstr>
      <vt:lpstr>Calibri</vt:lpstr>
      <vt:lpstr>Calibri Light</vt:lpstr>
      <vt:lpstr>Cambria Math</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Convolutional Neural Net Architectures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466</cp:revision>
  <cp:lastPrinted>2017-03-21T10:33:11Z</cp:lastPrinted>
  <dcterms:modified xsi:type="dcterms:W3CDTF">2017-08-25T19:40:38Z</dcterms:modified>
</cp:coreProperties>
</file>
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94" r:id="rId2"/>
    <p:sldMasterId id="2147483707" r:id="rId3"/>
  </p:sldMasterIdLst>
  <p:notesMasterIdLst>
    <p:notesMasterId r:id="rId22"/>
  </p:notesMasterIdLst>
  <p:handoutMasterIdLst>
    <p:handoutMasterId r:id="rId23"/>
  </p:handoutMasterIdLst>
  <p:sldIdLst>
    <p:sldId id="389" r:id="rId4"/>
    <p:sldId id="642" r:id="rId5"/>
    <p:sldId id="585" r:id="rId6"/>
    <p:sldId id="616" r:id="rId7"/>
    <p:sldId id="615" r:id="rId8"/>
    <p:sldId id="618" r:id="rId9"/>
    <p:sldId id="617" r:id="rId10"/>
    <p:sldId id="619" r:id="rId11"/>
    <p:sldId id="620" r:id="rId12"/>
    <p:sldId id="633" r:id="rId13"/>
    <p:sldId id="632" r:id="rId14"/>
    <p:sldId id="635" r:id="rId15"/>
    <p:sldId id="636" r:id="rId16"/>
    <p:sldId id="634" r:id="rId17"/>
    <p:sldId id="637" r:id="rId18"/>
    <p:sldId id="640" r:id="rId19"/>
    <p:sldId id="641" r:id="rId20"/>
    <p:sldId id="394"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Gill" initials="MG" lastIdx="2" clrIdx="0">
    <p:extLst/>
  </p:cmAuthor>
  <p:cmAuthor id="2" name="Michelle Gill" initials="MG [2]" lastIdx="1" clrIdx="1">
    <p:extLst/>
  </p:cmAuthor>
  <p:cmAuthor id="3" name="Michelle Gill" initials="MG [3]" lastIdx="1" clrIdx="2">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883FF"/>
    <a:srgbClr val="235F83"/>
    <a:srgbClr val="8EFA00"/>
    <a:srgbClr val="76D6FF"/>
    <a:srgbClr val="2B73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13"/>
    <p:restoredTop sz="80849"/>
  </p:normalViewPr>
  <p:slideViewPr>
    <p:cSldViewPr snapToGrid="0" snapToObjects="1">
      <p:cViewPr varScale="1">
        <p:scale>
          <a:sx n="141" d="100"/>
          <a:sy n="141" d="100"/>
        </p:scale>
        <p:origin x="844" y="72"/>
      </p:cViewPr>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150" d="100"/>
        <a:sy n="150" d="100"/>
      </p:scale>
      <p:origin x="0" y="0"/>
    </p:cViewPr>
  </p:sorterViewPr>
  <p:notesViewPr>
    <p:cSldViewPr snapToGrid="0" snapToObjects="1">
      <p:cViewPr varScale="1">
        <p:scale>
          <a:sx n="85" d="100"/>
          <a:sy n="85" d="100"/>
        </p:scale>
        <p:origin x="3696"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18DF2D-D537-FE4F-BE4D-E5BCACB16283}" type="datetimeFigureOut">
              <a:rPr lang="en-US" smtClean="0"/>
              <a:t>8/25/2017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7B0C4D-3AAF-FB40-9304-EA5AE39FC038}" type="slidenum">
              <a:rPr lang="en-US" smtClean="0"/>
              <a:t>‹#›</a:t>
            </a:fld>
            <a:endParaRPr lang="en-US"/>
          </a:p>
        </p:txBody>
      </p:sp>
    </p:spTree>
    <p:extLst>
      <p:ext uri="{BB962C8B-B14F-4D97-AF65-F5344CB8AC3E}">
        <p14:creationId xmlns:p14="http://schemas.microsoft.com/office/powerpoint/2010/main" val="127651850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100" b="0" i="0" u="none" strike="noStrike" cap="none"/>
            </a:lvl1pPr>
            <a:lvl2pPr marL="457200" marR="0" lvl="1" indent="0" algn="l" rtl="0">
              <a:spcBef>
                <a:spcPts val="0"/>
              </a:spcBef>
              <a:buNone/>
              <a:defRPr sz="1100" b="0" i="0" u="none" strike="noStrike" cap="none"/>
            </a:lvl2pPr>
            <a:lvl3pPr marL="914400" marR="0" lvl="2" indent="0" algn="l" rtl="0">
              <a:spcBef>
                <a:spcPts val="0"/>
              </a:spcBef>
              <a:buNone/>
              <a:defRPr sz="1100" b="0" i="0" u="none" strike="noStrike" cap="none"/>
            </a:lvl3pPr>
            <a:lvl4pPr marL="1371600" marR="0" lvl="3" indent="0" algn="l" rtl="0">
              <a:spcBef>
                <a:spcPts val="0"/>
              </a:spcBef>
              <a:buNone/>
              <a:defRPr sz="1100" b="0" i="0" u="none" strike="noStrike" cap="none"/>
            </a:lvl4pPr>
            <a:lvl5pPr marL="1828800" marR="0" lvl="4" indent="0" algn="l" rtl="0">
              <a:spcBef>
                <a:spcPts val="0"/>
              </a:spcBef>
              <a:buNone/>
              <a:defRPr sz="1100" b="0" i="0" u="none" strike="noStrike" cap="none"/>
            </a:lvl5pPr>
            <a:lvl6pPr marL="2286000" marR="0" lvl="5" indent="0" algn="l" rtl="0">
              <a:spcBef>
                <a:spcPts val="0"/>
              </a:spcBef>
              <a:buNone/>
              <a:defRPr sz="1100" b="0" i="0" u="none" strike="noStrike" cap="none"/>
            </a:lvl6pPr>
            <a:lvl7pPr marL="2743200" marR="0" lvl="6" indent="0" algn="l" rtl="0">
              <a:spcBef>
                <a:spcPts val="0"/>
              </a:spcBef>
              <a:buNone/>
              <a:defRPr sz="1100" b="0" i="0" u="none" strike="noStrike" cap="none"/>
            </a:lvl7pPr>
            <a:lvl8pPr marL="3200400" marR="0" lvl="7" indent="0" algn="l" rtl="0">
              <a:spcBef>
                <a:spcPts val="0"/>
              </a:spcBef>
              <a:buNone/>
              <a:defRPr sz="1100" b="0" i="0" u="none" strike="noStrike" cap="none"/>
            </a:lvl8pPr>
            <a:lvl9pPr marL="3657600" marR="0" lvl="8" indent="0" algn="l" rtl="0">
              <a:spcBef>
                <a:spcPts val="0"/>
              </a:spcBef>
              <a:buNone/>
              <a:defRPr sz="1100" b="0" i="0" u="none" strike="noStrike" cap="none"/>
            </a:lvl9pPr>
          </a:lstStyle>
          <a:p>
            <a:endParaRPr dirty="0"/>
          </a:p>
        </p:txBody>
      </p:sp>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Tree>
    <p:extLst>
      <p:ext uri="{BB962C8B-B14F-4D97-AF65-F5344CB8AC3E}">
        <p14:creationId xmlns:p14="http://schemas.microsoft.com/office/powerpoint/2010/main" val="1497464262"/>
      </p:ext>
    </p:extLst>
  </p:cSld>
  <p:clrMap bg1="lt1" tx1="dk1" bg2="dk2" tx2="lt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dirty="0"/>
          </a:p>
        </p:txBody>
      </p:sp>
    </p:spTree>
    <p:extLst>
      <p:ext uri="{BB962C8B-B14F-4D97-AF65-F5344CB8AC3E}">
        <p14:creationId xmlns:p14="http://schemas.microsoft.com/office/powerpoint/2010/main" val="1387326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Basically – how to turn blobs of text into input vectors in a meaningful way.</a:t>
            </a:r>
          </a:p>
        </p:txBody>
      </p:sp>
    </p:spTree>
    <p:extLst>
      <p:ext uri="{BB962C8B-B14F-4D97-AF65-F5344CB8AC3E}">
        <p14:creationId xmlns:p14="http://schemas.microsoft.com/office/powerpoint/2010/main" val="1311142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120391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75842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Worth emphasizing that one would *not* want to use these indices as actual numbers.  In plain tokenization we would one-hot encode them.</a:t>
            </a:r>
          </a:p>
        </p:txBody>
      </p:sp>
    </p:spTree>
    <p:extLst>
      <p:ext uri="{BB962C8B-B14F-4D97-AF65-F5344CB8AC3E}">
        <p14:creationId xmlns:p14="http://schemas.microsoft.com/office/powerpoint/2010/main" val="7387174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Each word is just a different “thing” with no relationships between which ones are similar or not.  </a:t>
            </a:r>
          </a:p>
        </p:txBody>
      </p:sp>
    </p:spTree>
    <p:extLst>
      <p:ext uri="{BB962C8B-B14F-4D97-AF65-F5344CB8AC3E}">
        <p14:creationId xmlns:p14="http://schemas.microsoft.com/office/powerpoint/2010/main" val="19707693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5687129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436020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r>
              <a:rPr lang="en-US" sz="2400" baseline="0" dirty="0" smtClean="0">
                <a:latin typeface="Arial" charset="0"/>
                <a:ea typeface="Arial" charset="0"/>
                <a:cs typeface="Arial" charset="0"/>
              </a:rPr>
              <a:t>Optional point: this is a “quick and dirty” way to get similarity, but it is powerful when you bring tons of data to bear on it.</a:t>
            </a:r>
          </a:p>
        </p:txBody>
      </p:sp>
    </p:spTree>
    <p:extLst>
      <p:ext uri="{BB962C8B-B14F-4D97-AF65-F5344CB8AC3E}">
        <p14:creationId xmlns:p14="http://schemas.microsoft.com/office/powerpoint/2010/main" val="763246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9729865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440148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7369327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4325847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80634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19212087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171450" marR="0" lvl="0" indent="-171450" algn="l" defTabSz="914400" rtl="0" eaLnBrk="1" fontAlgn="auto" latinLnBrk="0" hangingPunct="1">
              <a:lnSpc>
                <a:spcPct val="100000"/>
              </a:lnSpc>
              <a:spcBef>
                <a:spcPts val="0"/>
              </a:spcBef>
              <a:spcAft>
                <a:spcPts val="0"/>
              </a:spcAft>
              <a:buClrTx/>
              <a:buSzTx/>
              <a:buFont typeface="Arial" charset="0"/>
              <a:buNone/>
              <a:tabLst/>
              <a:defRPr/>
            </a:pPr>
            <a:endParaRPr lang="en-US" sz="2400" baseline="0" dirty="0" smtClean="0">
              <a:latin typeface="Arial" charset="0"/>
              <a:ea typeface="Arial" charset="0"/>
              <a:cs typeface="Arial" charset="0"/>
            </a:endParaRPr>
          </a:p>
        </p:txBody>
      </p:sp>
    </p:spTree>
    <p:extLst>
      <p:ext uri="{BB962C8B-B14F-4D97-AF65-F5344CB8AC3E}">
        <p14:creationId xmlns:p14="http://schemas.microsoft.com/office/powerpoint/2010/main" val="343834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Shape 25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60" name="Shape 260"/>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buSzPct val="25000"/>
              <a:buFont typeface="Arial"/>
              <a:buNone/>
            </a:pPr>
            <a:endParaRPr sz="1100" b="0" i="0" u="none" strike="noStrike" cap="none"/>
          </a:p>
        </p:txBody>
      </p:sp>
    </p:spTree>
    <p:extLst>
      <p:ext uri="{BB962C8B-B14F-4D97-AF65-F5344CB8AC3E}">
        <p14:creationId xmlns:p14="http://schemas.microsoft.com/office/powerpoint/2010/main" val="7745420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body">
    <p:spTree>
      <p:nvGrpSpPr>
        <p:cNvPr id="1" name="Shape 13"/>
        <p:cNvGrpSpPr/>
        <p:nvPr/>
      </p:nvGrpSpPr>
      <p:grpSpPr>
        <a:xfrm>
          <a:off x="0" y="0"/>
          <a:ext cx="0" cy="0"/>
          <a:chOff x="0" y="0"/>
          <a:chExt cx="0" cy="0"/>
        </a:xfrm>
      </p:grpSpPr>
      <p:sp>
        <p:nvSpPr>
          <p:cNvPr id="2"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4"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ody">
    <p:spTree>
      <p:nvGrpSpPr>
        <p:cNvPr id="1" name="Shape 13"/>
        <p:cNvGrpSpPr/>
        <p:nvPr/>
      </p:nvGrpSpPr>
      <p:grpSpPr>
        <a:xfrm>
          <a:off x="0" y="0"/>
          <a:ext cx="0" cy="0"/>
          <a:chOff x="0" y="0"/>
          <a:chExt cx="0" cy="0"/>
        </a:xfrm>
      </p:grpSpPr>
      <p:sp>
        <p:nvSpPr>
          <p:cNvPr id="7" name="Shape 99"/>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cxnSp>
        <p:nvCxnSpPr>
          <p:cNvPr id="6" name="Shape 98"/>
          <p:cNvCxnSpPr/>
          <p:nvPr userDrawn="1"/>
        </p:nvCxnSpPr>
        <p:spPr>
          <a:xfrm>
            <a:off x="0" y="1024800"/>
            <a:ext cx="4178099" cy="0"/>
          </a:xfrm>
          <a:prstGeom prst="straightConnector1">
            <a:avLst/>
          </a:prstGeom>
          <a:noFill/>
          <a:ln w="19050" cap="flat" cmpd="sng">
            <a:solidFill>
              <a:srgbClr val="3A9ED9"/>
            </a:solidFill>
            <a:prstDash val="solid"/>
            <a:round/>
            <a:headEnd type="none" w="med" len="med"/>
            <a:tailEnd type="none" w="med" len="med"/>
          </a:ln>
        </p:spPr>
      </p:cxnSp>
      <p:pic>
        <p:nvPicPr>
          <p:cNvPr id="9" name="Shape 10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 name="Title 1"/>
          <p:cNvSpPr>
            <a:spLocks noGrp="1"/>
          </p:cNvSpPr>
          <p:nvPr>
            <p:ph type="title" hasCustomPrompt="1"/>
          </p:nvPr>
        </p:nvSpPr>
        <p:spPr>
          <a:xfrm>
            <a:off x="311700" y="192126"/>
            <a:ext cx="7766550" cy="690525"/>
          </a:xfrm>
          <a:prstGeom prst="rect">
            <a:avLst/>
          </a:prstGeom>
        </p:spPr>
        <p:txBody>
          <a:bodyPr/>
          <a:lstStyle>
            <a:lvl1pPr>
              <a:buSzPct val="25000"/>
              <a:buFont typeface="Source Code Pro"/>
              <a:buNone/>
              <a:defRPr sz="2800" baseline="0"/>
            </a:lvl1pPr>
          </a:lstStyle>
          <a:p>
            <a:pPr>
              <a:buSzPct val="25000"/>
              <a:buFont typeface="Source Code Pro"/>
              <a:buNone/>
            </a:pPr>
            <a:r>
              <a:rPr lang="en-US" b="1" dirty="0" smtClean="0">
                <a:solidFill>
                  <a:srgbClr val="3A9ED9"/>
                </a:solidFill>
                <a:latin typeface="Source Code Pro"/>
                <a:ea typeface="Source Code Pro"/>
                <a:cs typeface="Source Code Pro"/>
                <a:sym typeface="Source Code Pro"/>
              </a:rPr>
              <a:t>Title</a:t>
            </a:r>
            <a:endParaRPr lang="en" b="1" dirty="0">
              <a:solidFill>
                <a:srgbClr val="3A9ED9"/>
              </a:solidFill>
              <a:latin typeface="Source Code Pro"/>
              <a:ea typeface="Source Code Pro"/>
              <a:cs typeface="Source Code Pro"/>
              <a:sym typeface="Source Code Pro"/>
            </a:endParaRPr>
          </a:p>
        </p:txBody>
      </p:sp>
      <p:sp>
        <p:nvSpPr>
          <p:cNvPr id="4" name="Text Placeholder 3"/>
          <p:cNvSpPr>
            <a:spLocks noGrp="1"/>
          </p:cNvSpPr>
          <p:nvPr>
            <p:ph type="body" sz="quarter" idx="10" hasCustomPrompt="1"/>
          </p:nvPr>
        </p:nvSpPr>
        <p:spPr>
          <a:xfrm>
            <a:off x="311700" y="1295930"/>
            <a:ext cx="8527498" cy="3542769"/>
          </a:xfrm>
          <a:prstGeom prst="rect">
            <a:avLst/>
          </a:prstGeom>
        </p:spPr>
        <p:txBody>
          <a:bodyPr/>
          <a:lstStyle>
            <a:lvl1pPr marL="457200" marR="0" indent="-381000" algn="l" rtl="0">
              <a:lnSpc>
                <a:spcPct val="115000"/>
              </a:lnSpc>
              <a:spcBef>
                <a:spcPts val="0"/>
              </a:spcBef>
              <a:spcAft>
                <a:spcPts val="0"/>
              </a:spcAft>
              <a:buClr>
                <a:srgbClr val="434343"/>
              </a:buClr>
              <a:buSzPct val="100000"/>
              <a:buFont typeface="Calibri"/>
              <a:buChar char="●"/>
              <a:defRPr sz="1400"/>
            </a:lvl1pPr>
          </a:lstStyle>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100000"/>
              <a:buFont typeface="Calibri"/>
              <a:buChar char="●"/>
            </a:pPr>
            <a:r>
              <a:rPr lang="en" sz="2400" b="0" i="0" u="none" strike="noStrike" cap="none" dirty="0" smtClean="0">
                <a:solidFill>
                  <a:srgbClr val="434343"/>
                </a:solidFill>
                <a:latin typeface="Calibri"/>
                <a:ea typeface="Calibri"/>
                <a:cs typeface="Calibri"/>
                <a:sym typeface="Calibri"/>
              </a:rPr>
              <a:t>Bullet point</a:t>
            </a: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20"/>
        <p:cNvGrpSpPr/>
        <p:nvPr/>
      </p:nvGrpSpPr>
      <p:grpSpPr>
        <a:xfrm>
          <a:off x="0" y="0"/>
          <a:ext cx="0" cy="0"/>
          <a:chOff x="0" y="0"/>
          <a:chExt cx="0" cy="0"/>
        </a:xfrm>
      </p:grpSpPr>
      <p:sp>
        <p:nvSpPr>
          <p:cNvPr id="6" name="Shape 113"/>
          <p:cNvSpPr txBox="1">
            <a:spLocks noGrp="1"/>
          </p:cNvSpPr>
          <p:nvPr>
            <p:ph type="title"/>
          </p:nvPr>
        </p:nvSpPr>
        <p:spPr>
          <a:xfrm>
            <a:off x="1028550" y="1135100"/>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dirty="0">
                <a:solidFill>
                  <a:srgbClr val="3A9ED9"/>
                </a:solidFill>
                <a:latin typeface="Source Code Pro"/>
                <a:ea typeface="Source Code Pro"/>
                <a:cs typeface="Source Code Pro"/>
                <a:sym typeface="Source Code Pro"/>
              </a:rPr>
              <a:t>Heading</a:t>
            </a:r>
          </a:p>
        </p:txBody>
      </p:sp>
      <p:sp>
        <p:nvSpPr>
          <p:cNvPr id="7" name="Shape 114"/>
          <p:cNvSpPr txBox="1">
            <a:spLocks noGrp="1"/>
          </p:cNvSpPr>
          <p:nvPr>
            <p:ph type="body" idx="1"/>
          </p:nvPr>
        </p:nvSpPr>
        <p:spPr>
          <a:xfrm>
            <a:off x="9121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8" name="Shape 11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9" name="Shape 116"/>
          <p:cNvCxnSpPr/>
          <p:nvPr userDrawn="1"/>
        </p:nvCxnSpPr>
        <p:spPr>
          <a:xfrm>
            <a:off x="959550" y="1701550"/>
            <a:ext cx="1951199" cy="0"/>
          </a:xfrm>
          <a:prstGeom prst="straightConnector1">
            <a:avLst/>
          </a:prstGeom>
          <a:noFill/>
          <a:ln w="19050" cap="flat" cmpd="sng">
            <a:solidFill>
              <a:srgbClr val="3A9ED9"/>
            </a:solidFill>
            <a:prstDash val="solid"/>
            <a:round/>
            <a:headEnd type="none" w="med" len="med"/>
            <a:tailEnd type="none" w="med" len="med"/>
          </a:ln>
        </p:spPr>
      </p:cxnSp>
      <p:sp>
        <p:nvSpPr>
          <p:cNvPr id="10" name="Shape 117"/>
          <p:cNvSpPr txBox="1">
            <a:spLocks/>
          </p:cNvSpPr>
          <p:nvPr userDrawn="1"/>
        </p:nvSpPr>
        <p:spPr>
          <a:xfrm>
            <a:off x="360720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dirty="0" smtClean="0">
                <a:solidFill>
                  <a:srgbClr val="ED0096"/>
                </a:solidFill>
                <a:latin typeface="Source Code Pro"/>
                <a:ea typeface="Source Code Pro"/>
                <a:cs typeface="Source Code Pro"/>
                <a:sym typeface="Source Code Pro"/>
              </a:rPr>
              <a:t>Heading</a:t>
            </a:r>
            <a:endParaRPr lang="en" sz="1800" b="1" dirty="0">
              <a:solidFill>
                <a:srgbClr val="ED0096"/>
              </a:solidFill>
              <a:latin typeface="Source Code Pro"/>
              <a:ea typeface="Source Code Pro"/>
              <a:cs typeface="Source Code Pro"/>
              <a:sym typeface="Source Code Pro"/>
            </a:endParaRPr>
          </a:p>
        </p:txBody>
      </p:sp>
      <p:sp>
        <p:nvSpPr>
          <p:cNvPr id="11" name="Shape 118"/>
          <p:cNvSpPr txBox="1">
            <a:spLocks noGrp="1"/>
          </p:cNvSpPr>
          <p:nvPr>
            <p:ph type="body" idx="10"/>
          </p:nvPr>
        </p:nvSpPr>
        <p:spPr>
          <a:xfrm>
            <a:off x="349080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2" name="Shape 119"/>
          <p:cNvCxnSpPr/>
          <p:nvPr userDrawn="1"/>
        </p:nvCxnSpPr>
        <p:spPr>
          <a:xfrm>
            <a:off x="3538200" y="1701550"/>
            <a:ext cx="1951199" cy="0"/>
          </a:xfrm>
          <a:prstGeom prst="straightConnector1">
            <a:avLst/>
          </a:prstGeom>
          <a:noFill/>
          <a:ln w="19050" cap="flat" cmpd="sng">
            <a:solidFill>
              <a:srgbClr val="ED0096"/>
            </a:solidFill>
            <a:prstDash val="solid"/>
            <a:round/>
            <a:headEnd type="none" w="med" len="med"/>
            <a:tailEnd type="none" w="med" len="med"/>
          </a:ln>
        </p:spPr>
      </p:cxnSp>
      <p:sp>
        <p:nvSpPr>
          <p:cNvPr id="13" name="Shape 120"/>
          <p:cNvSpPr txBox="1">
            <a:spLocks/>
          </p:cNvSpPr>
          <p:nvPr userDrawn="1"/>
        </p:nvSpPr>
        <p:spPr>
          <a:xfrm>
            <a:off x="6302250" y="1135100"/>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4" name="Shape 121"/>
          <p:cNvSpPr txBox="1">
            <a:spLocks noGrp="1"/>
          </p:cNvSpPr>
          <p:nvPr>
            <p:ph type="body" idx="11"/>
          </p:nvPr>
        </p:nvSpPr>
        <p:spPr>
          <a:xfrm>
            <a:off x="6185850" y="1981550"/>
            <a:ext cx="2045999" cy="17007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5" name="Shape 122"/>
          <p:cNvCxnSpPr/>
          <p:nvPr userDrawn="1"/>
        </p:nvCxnSpPr>
        <p:spPr>
          <a:xfrm>
            <a:off x="6233250" y="1701550"/>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6" name="Shape 123"/>
          <p:cNvCxnSpPr/>
          <p:nvPr userDrawn="1"/>
        </p:nvCxnSpPr>
        <p:spPr>
          <a:xfrm>
            <a:off x="959550" y="3763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7" name="Shape 124"/>
          <p:cNvCxnSpPr/>
          <p:nvPr userDrawn="1"/>
        </p:nvCxnSpPr>
        <p:spPr>
          <a:xfrm>
            <a:off x="3538200" y="3763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8" name="Shape 125"/>
          <p:cNvCxnSpPr/>
          <p:nvPr userDrawn="1"/>
        </p:nvCxnSpPr>
        <p:spPr>
          <a:xfrm>
            <a:off x="6233250" y="3763075"/>
            <a:ext cx="1951199" cy="0"/>
          </a:xfrm>
          <a:prstGeom prst="straightConnector1">
            <a:avLst/>
          </a:prstGeom>
          <a:noFill/>
          <a:ln w="19050" cap="flat" cmpd="sng">
            <a:solidFill>
              <a:srgbClr val="EF3969"/>
            </a:solidFill>
            <a:prstDash val="solid"/>
            <a:round/>
            <a:headEnd type="none" w="med" len="med"/>
            <a:tailEnd type="none" w="med" len="med"/>
          </a:ln>
        </p:spPr>
      </p:cxnSp>
      <p:sp>
        <p:nvSpPr>
          <p:cNvPr id="19" name="Shape 12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Shape 25"/>
        <p:cNvGrpSpPr/>
        <p:nvPr/>
      </p:nvGrpSpPr>
      <p:grpSpPr>
        <a:xfrm>
          <a:off x="0" y="0"/>
          <a:ext cx="0" cy="0"/>
          <a:chOff x="0" y="0"/>
          <a:chExt cx="0" cy="0"/>
        </a:xfrm>
      </p:grpSpPr>
      <p:sp>
        <p:nvSpPr>
          <p:cNvPr id="4" name="Shape 131"/>
          <p:cNvSpPr txBox="1">
            <a:spLocks noGrp="1"/>
          </p:cNvSpPr>
          <p:nvPr>
            <p:ph type="title"/>
          </p:nvPr>
        </p:nvSpPr>
        <p:spPr>
          <a:xfrm>
            <a:off x="1028550" y="1917783"/>
            <a:ext cx="1813199" cy="4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1800" b="1" i="0" u="none" strike="noStrike" cap="none">
                <a:solidFill>
                  <a:srgbClr val="3A9ED9"/>
                </a:solidFill>
                <a:latin typeface="Source Code Pro"/>
                <a:ea typeface="Source Code Pro"/>
                <a:cs typeface="Source Code Pro"/>
                <a:sym typeface="Source Code Pro"/>
              </a:rPr>
              <a:t>Heading</a:t>
            </a:r>
          </a:p>
        </p:txBody>
      </p:sp>
      <p:sp>
        <p:nvSpPr>
          <p:cNvPr id="5" name="Shape 132"/>
          <p:cNvSpPr txBox="1">
            <a:spLocks noGrp="1"/>
          </p:cNvSpPr>
          <p:nvPr>
            <p:ph type="body" idx="1"/>
          </p:nvPr>
        </p:nvSpPr>
        <p:spPr>
          <a:xfrm>
            <a:off x="9121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pic>
        <p:nvPicPr>
          <p:cNvPr id="6" name="Shape 13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7" name="Shape 134"/>
          <p:cNvSpPr txBox="1">
            <a:spLocks/>
          </p:cNvSpPr>
          <p:nvPr userDrawn="1"/>
        </p:nvSpPr>
        <p:spPr>
          <a:xfrm>
            <a:off x="360720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D0096"/>
                </a:solidFill>
                <a:latin typeface="Source Code Pro"/>
                <a:ea typeface="Source Code Pro"/>
                <a:cs typeface="Source Code Pro"/>
                <a:sym typeface="Source Code Pro"/>
              </a:rPr>
              <a:t>Heading</a:t>
            </a:r>
            <a:endParaRPr lang="en" sz="1800" b="1">
              <a:solidFill>
                <a:srgbClr val="ED0096"/>
              </a:solidFill>
              <a:latin typeface="Source Code Pro"/>
              <a:ea typeface="Source Code Pro"/>
              <a:cs typeface="Source Code Pro"/>
              <a:sym typeface="Source Code Pro"/>
            </a:endParaRPr>
          </a:p>
        </p:txBody>
      </p:sp>
      <p:sp>
        <p:nvSpPr>
          <p:cNvPr id="8" name="Shape 135"/>
          <p:cNvSpPr txBox="1">
            <a:spLocks noGrp="1"/>
          </p:cNvSpPr>
          <p:nvPr>
            <p:ph type="body" idx="10"/>
          </p:nvPr>
        </p:nvSpPr>
        <p:spPr>
          <a:xfrm>
            <a:off x="349080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sp>
        <p:nvSpPr>
          <p:cNvPr id="9" name="Shape 136"/>
          <p:cNvSpPr txBox="1">
            <a:spLocks/>
          </p:cNvSpPr>
          <p:nvPr userDrawn="1"/>
        </p:nvSpPr>
        <p:spPr>
          <a:xfrm>
            <a:off x="6302250" y="1917783"/>
            <a:ext cx="1813199" cy="4724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lgn="ctr">
              <a:buSzPct val="25000"/>
              <a:buFont typeface="Source Code Pro"/>
              <a:buNone/>
            </a:pPr>
            <a:r>
              <a:rPr lang="en" sz="1800" b="1" smtClean="0">
                <a:solidFill>
                  <a:srgbClr val="EF3969"/>
                </a:solidFill>
                <a:latin typeface="Source Code Pro"/>
                <a:ea typeface="Source Code Pro"/>
                <a:cs typeface="Source Code Pro"/>
                <a:sym typeface="Source Code Pro"/>
              </a:rPr>
              <a:t>Heading</a:t>
            </a:r>
            <a:endParaRPr lang="en" sz="1800" b="1">
              <a:solidFill>
                <a:srgbClr val="EF3969"/>
              </a:solidFill>
              <a:latin typeface="Source Code Pro"/>
              <a:ea typeface="Source Code Pro"/>
              <a:cs typeface="Source Code Pro"/>
              <a:sym typeface="Source Code Pro"/>
            </a:endParaRPr>
          </a:p>
        </p:txBody>
      </p:sp>
      <p:sp>
        <p:nvSpPr>
          <p:cNvPr id="10" name="Shape 137"/>
          <p:cNvSpPr txBox="1">
            <a:spLocks noGrp="1"/>
          </p:cNvSpPr>
          <p:nvPr>
            <p:ph type="body" idx="11"/>
          </p:nvPr>
        </p:nvSpPr>
        <p:spPr>
          <a:xfrm>
            <a:off x="6185850" y="2438750"/>
            <a:ext cx="2045999" cy="1470600"/>
          </a:xfrm>
          <a:prstGeom prst="rect">
            <a:avLst/>
          </a:prstGeom>
          <a:noFill/>
          <a:ln>
            <a:noFill/>
          </a:ln>
        </p:spPr>
        <p:txBody>
          <a:bodyPr lIns="91425" tIns="91425" rIns="91425" bIns="91425" anchor="t" anchorCtr="0">
            <a:noAutofit/>
          </a:bodyPr>
          <a:lstStyle/>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a:p>
            <a:pPr marL="457200" marR="0" lvl="0" indent="-342900" algn="l" rtl="0">
              <a:lnSpc>
                <a:spcPct val="115000"/>
              </a:lnSpc>
              <a:spcBef>
                <a:spcPts val="0"/>
              </a:spcBef>
              <a:spcAft>
                <a:spcPts val="0"/>
              </a:spcAft>
              <a:buClr>
                <a:srgbClr val="434343"/>
              </a:buClr>
              <a:buSzPct val="100000"/>
              <a:buFont typeface="Calibri"/>
              <a:buChar char="●"/>
            </a:pPr>
            <a:r>
              <a:rPr lang="en" sz="1800" b="0" i="0" u="none" strike="noStrike" cap="none">
                <a:solidFill>
                  <a:srgbClr val="434343"/>
                </a:solidFill>
                <a:latin typeface="Calibri"/>
                <a:ea typeface="Calibri"/>
                <a:cs typeface="Calibri"/>
                <a:sym typeface="Calibri"/>
              </a:rPr>
              <a:t>Bullet point</a:t>
            </a:r>
          </a:p>
        </p:txBody>
      </p:sp>
      <p:cxnSp>
        <p:nvCxnSpPr>
          <p:cNvPr id="11" name="Shape 138"/>
          <p:cNvCxnSpPr/>
          <p:nvPr userDrawn="1"/>
        </p:nvCxnSpPr>
        <p:spPr>
          <a:xfrm>
            <a:off x="959550" y="41440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2" name="Shape 139"/>
          <p:cNvCxnSpPr/>
          <p:nvPr userDrawn="1"/>
        </p:nvCxnSpPr>
        <p:spPr>
          <a:xfrm>
            <a:off x="3538200" y="41440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3" name="Shape 140"/>
          <p:cNvCxnSpPr/>
          <p:nvPr userDrawn="1"/>
        </p:nvCxnSpPr>
        <p:spPr>
          <a:xfrm>
            <a:off x="6233250" y="4144075"/>
            <a:ext cx="1951199" cy="0"/>
          </a:xfrm>
          <a:prstGeom prst="straightConnector1">
            <a:avLst/>
          </a:prstGeom>
          <a:noFill/>
          <a:ln w="19050" cap="flat" cmpd="sng">
            <a:solidFill>
              <a:srgbClr val="EF3969"/>
            </a:solidFill>
            <a:prstDash val="solid"/>
            <a:round/>
            <a:headEnd type="none" w="med" len="med"/>
            <a:tailEnd type="none" w="med" len="med"/>
          </a:ln>
        </p:spPr>
      </p:cxnSp>
      <p:cxnSp>
        <p:nvCxnSpPr>
          <p:cNvPr id="14" name="Shape 141"/>
          <p:cNvCxnSpPr/>
          <p:nvPr userDrawn="1"/>
        </p:nvCxnSpPr>
        <p:spPr>
          <a:xfrm>
            <a:off x="959550" y="1316850"/>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15" name="Shape 142"/>
          <p:cNvCxnSpPr/>
          <p:nvPr userDrawn="1"/>
        </p:nvCxnSpPr>
        <p:spPr>
          <a:xfrm>
            <a:off x="3538200" y="1316850"/>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16" name="Shape 143"/>
          <p:cNvCxnSpPr/>
          <p:nvPr userDrawn="1"/>
        </p:nvCxnSpPr>
        <p:spPr>
          <a:xfrm>
            <a:off x="6233250" y="1316850"/>
            <a:ext cx="1951199" cy="0"/>
          </a:xfrm>
          <a:prstGeom prst="straightConnector1">
            <a:avLst/>
          </a:prstGeom>
          <a:noFill/>
          <a:ln w="19050" cap="flat" cmpd="sng">
            <a:solidFill>
              <a:srgbClr val="EF3969"/>
            </a:solidFill>
            <a:prstDash val="solid"/>
            <a:round/>
            <a:headEnd type="none" w="med" len="med"/>
            <a:tailEnd type="none" w="med" len="med"/>
          </a:ln>
        </p:spPr>
      </p:cxnSp>
      <p:sp>
        <p:nvSpPr>
          <p:cNvPr id="17" name="Shape 144"/>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145"/>
          <p:cNvSpPr/>
          <p:nvPr userDrawn="1"/>
        </p:nvSpPr>
        <p:spPr>
          <a:xfrm>
            <a:off x="1500750" y="882450"/>
            <a:ext cx="868800" cy="868800"/>
          </a:xfrm>
          <a:prstGeom prst="ellipse">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146"/>
          <p:cNvSpPr/>
          <p:nvPr userDrawn="1"/>
        </p:nvSpPr>
        <p:spPr>
          <a:xfrm>
            <a:off x="4079400" y="882450"/>
            <a:ext cx="868800" cy="868800"/>
          </a:xfrm>
          <a:prstGeom prst="ellipse">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0" name="Shape 147"/>
          <p:cNvSpPr/>
          <p:nvPr userDrawn="1"/>
        </p:nvSpPr>
        <p:spPr>
          <a:xfrm>
            <a:off x="6774450" y="882450"/>
            <a:ext cx="868800" cy="868800"/>
          </a:xfrm>
          <a:prstGeom prst="ellipse">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Shape 25"/>
        <p:cNvGrpSpPr/>
        <p:nvPr/>
      </p:nvGrpSpPr>
      <p:grpSpPr>
        <a:xfrm>
          <a:off x="0" y="0"/>
          <a:ext cx="0" cy="0"/>
          <a:chOff x="0" y="0"/>
          <a:chExt cx="0" cy="0"/>
        </a:xfrm>
      </p:grpSpPr>
      <p:sp>
        <p:nvSpPr>
          <p:cNvPr id="21" name="Shape 152"/>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3A9ED9"/>
                </a:solidFill>
                <a:latin typeface="Source Code Pro"/>
                <a:ea typeface="Source Code Pro"/>
                <a:cs typeface="Source Code Pro"/>
                <a:sym typeface="Source Code Pro"/>
              </a:rPr>
              <a:t>/ Heading goes here /</a:t>
            </a:r>
          </a:p>
        </p:txBody>
      </p:sp>
      <p:pic>
        <p:nvPicPr>
          <p:cNvPr id="22" name="Shape 153"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54"/>
          <p:cNvCxnSpPr/>
          <p:nvPr userDrawn="1"/>
        </p:nvCxnSpPr>
        <p:spPr>
          <a:xfrm>
            <a:off x="3596400" y="4372675"/>
            <a:ext cx="1951199" cy="0"/>
          </a:xfrm>
          <a:prstGeom prst="straightConnector1">
            <a:avLst/>
          </a:prstGeom>
          <a:noFill/>
          <a:ln w="19050" cap="flat" cmpd="sng">
            <a:solidFill>
              <a:srgbClr val="3A9ED9"/>
            </a:solidFill>
            <a:prstDash val="solid"/>
            <a:round/>
            <a:headEnd type="none" w="med" len="med"/>
            <a:tailEnd type="none" w="med" len="med"/>
          </a:ln>
        </p:spPr>
      </p:cxnSp>
      <p:cxnSp>
        <p:nvCxnSpPr>
          <p:cNvPr id="24" name="Shape 155"/>
          <p:cNvCxnSpPr/>
          <p:nvPr userDrawn="1"/>
        </p:nvCxnSpPr>
        <p:spPr>
          <a:xfrm>
            <a:off x="3596400" y="935850"/>
            <a:ext cx="1951199" cy="0"/>
          </a:xfrm>
          <a:prstGeom prst="straightConnector1">
            <a:avLst/>
          </a:prstGeom>
          <a:noFill/>
          <a:ln w="19050" cap="flat" cmpd="sng">
            <a:solidFill>
              <a:srgbClr val="3A9ED9"/>
            </a:solidFill>
            <a:prstDash val="solid"/>
            <a:round/>
            <a:headEnd type="none" w="med" len="med"/>
            <a:tailEnd type="none" w="med" len="med"/>
          </a:ln>
        </p:spPr>
      </p:cxnSp>
      <p:sp>
        <p:nvSpPr>
          <p:cNvPr id="25" name="Shape 156"/>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57"/>
          <p:cNvSpPr/>
          <p:nvPr userDrawn="1"/>
        </p:nvSpPr>
        <p:spPr>
          <a:xfrm>
            <a:off x="4137600" y="501450"/>
            <a:ext cx="868800" cy="868800"/>
          </a:xfrm>
          <a:prstGeom prst="ellipse">
            <a:avLst/>
          </a:prstGeom>
          <a:solidFill>
            <a:srgbClr val="3A9ED9"/>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1</a:t>
            </a:r>
          </a:p>
        </p:txBody>
      </p:sp>
      <p:sp>
        <p:nvSpPr>
          <p:cNvPr id="27" name="Shape 158"/>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Shape 25"/>
        <p:cNvGrpSpPr/>
        <p:nvPr/>
      </p:nvGrpSpPr>
      <p:grpSpPr>
        <a:xfrm>
          <a:off x="0" y="0"/>
          <a:ext cx="0" cy="0"/>
          <a:chOff x="0" y="0"/>
          <a:chExt cx="0" cy="0"/>
        </a:xfrm>
      </p:grpSpPr>
      <p:sp>
        <p:nvSpPr>
          <p:cNvPr id="21" name="Shape 163"/>
          <p:cNvSpPr txBox="1">
            <a:spLocks noGrp="1"/>
          </p:cNvSpPr>
          <p:nvPr>
            <p:ph type="title"/>
          </p:nvPr>
        </p:nvSpPr>
        <p:spPr>
          <a:xfrm>
            <a:off x="1666500" y="1612975"/>
            <a:ext cx="5811000" cy="7724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3000" b="1" i="0" u="none" strike="noStrike" cap="none">
                <a:solidFill>
                  <a:srgbClr val="ED0096"/>
                </a:solidFill>
                <a:latin typeface="Source Code Pro"/>
                <a:ea typeface="Source Code Pro"/>
                <a:cs typeface="Source Code Pro"/>
                <a:sym typeface="Source Code Pro"/>
              </a:rPr>
              <a:t>/ Heading goes here /</a:t>
            </a:r>
          </a:p>
        </p:txBody>
      </p:sp>
      <p:pic>
        <p:nvPicPr>
          <p:cNvPr id="22" name="Shape 16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23" name="Shape 165"/>
          <p:cNvCxnSpPr/>
          <p:nvPr userDrawn="1"/>
        </p:nvCxnSpPr>
        <p:spPr>
          <a:xfrm>
            <a:off x="3596400" y="4372675"/>
            <a:ext cx="1951199" cy="0"/>
          </a:xfrm>
          <a:prstGeom prst="straightConnector1">
            <a:avLst/>
          </a:prstGeom>
          <a:noFill/>
          <a:ln w="19050" cap="flat" cmpd="sng">
            <a:solidFill>
              <a:srgbClr val="ED0096"/>
            </a:solidFill>
            <a:prstDash val="solid"/>
            <a:round/>
            <a:headEnd type="none" w="med" len="med"/>
            <a:tailEnd type="none" w="med" len="med"/>
          </a:ln>
        </p:spPr>
      </p:cxnSp>
      <p:cxnSp>
        <p:nvCxnSpPr>
          <p:cNvPr id="24" name="Shape 166"/>
          <p:cNvCxnSpPr/>
          <p:nvPr userDrawn="1"/>
        </p:nvCxnSpPr>
        <p:spPr>
          <a:xfrm>
            <a:off x="3596400" y="935850"/>
            <a:ext cx="1951199" cy="0"/>
          </a:xfrm>
          <a:prstGeom prst="straightConnector1">
            <a:avLst/>
          </a:prstGeom>
          <a:noFill/>
          <a:ln w="19050" cap="flat" cmpd="sng">
            <a:solidFill>
              <a:srgbClr val="ED0096"/>
            </a:solidFill>
            <a:prstDash val="solid"/>
            <a:round/>
            <a:headEnd type="none" w="med" len="med"/>
            <a:tailEnd type="none" w="med" len="med"/>
          </a:ln>
        </p:spPr>
      </p:cxnSp>
      <p:sp>
        <p:nvSpPr>
          <p:cNvPr id="25" name="Shape 16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26" name="Shape 168"/>
          <p:cNvSpPr/>
          <p:nvPr userDrawn="1"/>
        </p:nvSpPr>
        <p:spPr>
          <a:xfrm>
            <a:off x="4137600" y="501450"/>
            <a:ext cx="868800" cy="868800"/>
          </a:xfrm>
          <a:prstGeom prst="ellipse">
            <a:avLst/>
          </a:prstGeom>
          <a:solidFill>
            <a:srgbClr val="ED0096"/>
          </a:solidFill>
          <a:ln>
            <a:noFill/>
          </a:ln>
        </p:spPr>
        <p:txBody>
          <a:bodyPr lIns="91425" tIns="91425" rIns="91425" bIns="91425" anchor="ctr" anchorCtr="0">
            <a:noAutofit/>
          </a:bodyPr>
          <a:lstStyle/>
          <a:p>
            <a:pPr marL="0" marR="0" lvl="0" indent="0" algn="ctr" rtl="0">
              <a:lnSpc>
                <a:spcPct val="100000"/>
              </a:lnSpc>
              <a:spcBef>
                <a:spcPts val="0"/>
              </a:spcBef>
              <a:spcAft>
                <a:spcPts val="0"/>
              </a:spcAft>
              <a:buClr>
                <a:srgbClr val="FFFFFF"/>
              </a:buClr>
              <a:buSzPct val="25000"/>
              <a:buFont typeface="Source Code Pro"/>
              <a:buNone/>
            </a:pPr>
            <a:r>
              <a:rPr lang="en" sz="3000" b="1" i="0" u="none" strike="noStrike" cap="none">
                <a:solidFill>
                  <a:srgbClr val="FFFFFF"/>
                </a:solidFill>
                <a:latin typeface="Source Code Pro"/>
                <a:ea typeface="Source Code Pro"/>
                <a:cs typeface="Source Code Pro"/>
                <a:sym typeface="Source Code Pro"/>
              </a:rPr>
              <a:t>2</a:t>
            </a:r>
          </a:p>
        </p:txBody>
      </p:sp>
      <p:sp>
        <p:nvSpPr>
          <p:cNvPr id="27" name="Shape 169"/>
          <p:cNvSpPr txBox="1">
            <a:spLocks noGrp="1"/>
          </p:cNvSpPr>
          <p:nvPr>
            <p:ph type="body" idx="1"/>
          </p:nvPr>
        </p:nvSpPr>
        <p:spPr>
          <a:xfrm>
            <a:off x="770400" y="2422475"/>
            <a:ext cx="7603199" cy="1535099"/>
          </a:xfrm>
          <a:prstGeom prst="rect">
            <a:avLst/>
          </a:prstGeom>
          <a:noFill/>
          <a:ln>
            <a:noFill/>
          </a:ln>
        </p:spPr>
        <p:txBody>
          <a:bodyPr lIns="91425" tIns="91425" rIns="91425" bIns="91425" anchor="t" anchorCtr="0">
            <a:noAutofit/>
          </a:bodyPr>
          <a:lstStyle/>
          <a:p>
            <a:pPr marL="0" marR="0" lvl="0" indent="0" algn="ctr"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Fusce dapibus, tellus ac cursus commodo, tortor mauris condimentum nibh, ut fermentum massa justo sit amet risus. Aenean eu leo quam. Pellentesque ornare sem.</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and description">
    <p:spTree>
      <p:nvGrpSpPr>
        <p:cNvPr id="1" name="Shape 35"/>
        <p:cNvGrpSpPr/>
        <p:nvPr/>
      </p:nvGrpSpPr>
      <p:grpSpPr>
        <a:xfrm>
          <a:off x="0" y="0"/>
          <a:ext cx="0" cy="0"/>
          <a:chOff x="0" y="0"/>
          <a:chExt cx="0" cy="0"/>
        </a:xfrm>
      </p:grpSpPr>
      <p:sp>
        <p:nvSpPr>
          <p:cNvPr id="7" name="Shape 174"/>
          <p:cNvSpPr/>
          <p:nvPr userDrawn="1"/>
        </p:nvSpPr>
        <p:spPr>
          <a:xfrm>
            <a:off x="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8" name="Shape 176"/>
          <p:cNvSpPr txBox="1">
            <a:spLocks noGrp="1"/>
          </p:cNvSpPr>
          <p:nvPr>
            <p:ph type="title"/>
          </p:nvPr>
        </p:nvSpPr>
        <p:spPr>
          <a:xfrm>
            <a:off x="525200" y="590275"/>
            <a:ext cx="3390900" cy="22848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l"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9" name="Shape 177"/>
          <p:cNvSpPr/>
          <p:nvPr userDrawn="1"/>
        </p:nvSpPr>
        <p:spPr>
          <a:xfrm>
            <a:off x="3592175"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0" name="Shape 178"/>
          <p:cNvSpPr txBox="1">
            <a:spLocks noGrp="1"/>
          </p:cNvSpPr>
          <p:nvPr>
            <p:ph type="body" idx="1"/>
          </p:nvPr>
        </p:nvSpPr>
        <p:spPr>
          <a:xfrm>
            <a:off x="5365125"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11" name="Shape 17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aption">
    <p:spTree>
      <p:nvGrpSpPr>
        <p:cNvPr id="1" name="Shape 41"/>
        <p:cNvGrpSpPr/>
        <p:nvPr/>
      </p:nvGrpSpPr>
      <p:grpSpPr>
        <a:xfrm>
          <a:off x="0" y="0"/>
          <a:ext cx="0" cy="0"/>
          <a:chOff x="0" y="0"/>
          <a:chExt cx="0" cy="0"/>
        </a:xfrm>
      </p:grpSpPr>
      <p:sp>
        <p:nvSpPr>
          <p:cNvPr id="4" name="Shape 184"/>
          <p:cNvSpPr/>
          <p:nvPr userDrawn="1"/>
        </p:nvSpPr>
        <p:spPr>
          <a:xfrm>
            <a:off x="4350200" y="0"/>
            <a:ext cx="4793700" cy="5151300"/>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186"/>
          <p:cNvSpPr txBox="1">
            <a:spLocks noGrp="1"/>
          </p:cNvSpPr>
          <p:nvPr>
            <p:ph type="title"/>
          </p:nvPr>
        </p:nvSpPr>
        <p:spPr>
          <a:xfrm>
            <a:off x="5310889" y="590275"/>
            <a:ext cx="3390900" cy="2284800"/>
          </a:xfrm>
          <a:prstGeom prst="rect">
            <a:avLst/>
          </a:prstGeom>
          <a:noFill/>
          <a:ln>
            <a:noFill/>
          </a:ln>
        </p:spPr>
        <p:txBody>
          <a:bodyPr lIns="91425" tIns="91425" rIns="91425" bIns="91425" anchor="t" anchorCtr="0">
            <a:noAutofit/>
          </a:bodyPr>
          <a:lstStyle/>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Add a</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&lt;headline&gt;</a:t>
            </a:r>
          </a:p>
          <a:p>
            <a:pPr marL="0" marR="0" lvl="0" indent="0" algn="r" rtl="0">
              <a:lnSpc>
                <a:spcPct val="100000"/>
              </a:lnSpc>
              <a:spcBef>
                <a:spcPts val="0"/>
              </a:spcBef>
              <a:spcAft>
                <a:spcPts val="0"/>
              </a:spcAft>
              <a:buClr>
                <a:schemeClr val="dk1"/>
              </a:buClr>
              <a:buSzPct val="25000"/>
              <a:buFont typeface="Source Code Pro"/>
              <a:buNone/>
            </a:pPr>
            <a:r>
              <a:rPr lang="en" sz="4000" b="0" i="0" u="none" strike="noStrike" cap="none">
                <a:solidFill>
                  <a:srgbClr val="FFFFFF"/>
                </a:solidFill>
                <a:latin typeface="Source Code Pro"/>
                <a:ea typeface="Source Code Pro"/>
                <a:cs typeface="Source Code Pro"/>
                <a:sym typeface="Source Code Pro"/>
              </a:rPr>
              <a:t>here</a:t>
            </a:r>
          </a:p>
        </p:txBody>
      </p:sp>
      <p:sp>
        <p:nvSpPr>
          <p:cNvPr id="6" name="Shape 187"/>
          <p:cNvSpPr/>
          <p:nvPr userDrawn="1"/>
        </p:nvSpPr>
        <p:spPr>
          <a:xfrm>
            <a:off x="3150900" y="0"/>
            <a:ext cx="2399399" cy="5151300"/>
          </a:xfrm>
          <a:prstGeom prst="triangle">
            <a:avLst>
              <a:gd name="adj" fmla="val 50000"/>
            </a:avLst>
          </a:prstGeom>
          <a:solidFill>
            <a:srgbClr val="FFFFFF"/>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188"/>
          <p:cNvSpPr txBox="1">
            <a:spLocks noGrp="1"/>
          </p:cNvSpPr>
          <p:nvPr>
            <p:ph type="body" idx="1"/>
          </p:nvPr>
        </p:nvSpPr>
        <p:spPr>
          <a:xfrm>
            <a:off x="677600" y="771400"/>
            <a:ext cx="2995199" cy="3169499"/>
          </a:xfrm>
          <a:prstGeom prst="rect">
            <a:avLst/>
          </a:prstGeom>
          <a:noFill/>
          <a:ln>
            <a:noFill/>
          </a:ln>
        </p:spPr>
        <p:txBody>
          <a:bodyPr lIns="91425" tIns="91425" rIns="91425" bIns="91425" anchor="t" anchorCtr="0">
            <a:noAutofit/>
          </a:bodyPr>
          <a:lstStyle/>
          <a:p>
            <a:pPr marL="0" marR="0" lvl="0" indent="0" algn="l" rtl="0">
              <a:lnSpc>
                <a:spcPct val="115000"/>
              </a:lnSpc>
              <a:spcBef>
                <a:spcPts val="0"/>
              </a:spcBef>
              <a:spcAft>
                <a:spcPts val="0"/>
              </a:spcAft>
              <a:buClr>
                <a:schemeClr val="lt2"/>
              </a:buClr>
              <a:buSzPct val="25000"/>
              <a:buFont typeface="Calibri"/>
              <a:buNone/>
            </a:pPr>
            <a:r>
              <a:rPr lang="en" sz="2400" b="0" i="0" u="none" strike="noStrike" cap="none">
                <a:solidFill>
                  <a:srgbClr val="434343"/>
                </a:solidFill>
                <a:latin typeface="Calibri"/>
                <a:ea typeface="Calibri"/>
                <a:cs typeface="Calibri"/>
                <a:sym typeface="Calibri"/>
              </a:rPr>
              <a:t>Cras mattis cons ctetur purus sit amet fermentum adon:</a:t>
            </a:r>
          </a:p>
          <a:p>
            <a:pPr marL="0" marR="0" lvl="0" indent="0" algn="l" rtl="0">
              <a:lnSpc>
                <a:spcPct val="115000"/>
              </a:lnSpc>
              <a:spcBef>
                <a:spcPts val="0"/>
              </a:spcBef>
              <a:spcAft>
                <a:spcPts val="0"/>
              </a:spcAft>
              <a:buClr>
                <a:schemeClr val="lt2"/>
              </a:buClr>
              <a:buSzPct val="25000"/>
              <a:buFont typeface="Arial"/>
              <a:buNone/>
            </a:pPr>
            <a:endParaRPr sz="2400" b="0" i="0" u="none" strike="noStrike" cap="none">
              <a:solidFill>
                <a:srgbClr val="434343"/>
              </a:solidFill>
              <a:latin typeface="Calibri"/>
              <a:ea typeface="Calibri"/>
              <a:cs typeface="Calibri"/>
              <a:sym typeface="Calibri"/>
            </a:endParaRP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a:p>
            <a:pPr marL="457200" marR="0" lvl="0" indent="-381000" algn="l" rtl="0">
              <a:lnSpc>
                <a:spcPct val="115000"/>
              </a:lnSpc>
              <a:spcBef>
                <a:spcPts val="0"/>
              </a:spcBef>
              <a:spcAft>
                <a:spcPts val="0"/>
              </a:spcAft>
              <a:buClr>
                <a:srgbClr val="434343"/>
              </a:buClr>
              <a:buSzPct val="25000"/>
              <a:buFont typeface="Calibri"/>
              <a:buNone/>
            </a:pPr>
            <a:r>
              <a:rPr lang="en" sz="2400" b="0" i="0" u="none" strike="noStrike" cap="none">
                <a:solidFill>
                  <a:srgbClr val="434343"/>
                </a:solidFill>
                <a:latin typeface="Calibri"/>
                <a:ea typeface="Calibri"/>
                <a:cs typeface="Calibri"/>
                <a:sym typeface="Calibri"/>
              </a:rPr>
              <a:t>Bullet point</a:t>
            </a:r>
          </a:p>
        </p:txBody>
      </p:sp>
      <p:pic>
        <p:nvPicPr>
          <p:cNvPr id="8" name="Shape 189"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ig number">
    <p:spTree>
      <p:nvGrpSpPr>
        <p:cNvPr id="1" name="Shape 44"/>
        <p:cNvGrpSpPr/>
        <p:nvPr/>
      </p:nvGrpSpPr>
      <p:grpSpPr>
        <a:xfrm>
          <a:off x="0" y="0"/>
          <a:ext cx="0" cy="0"/>
          <a:chOff x="0" y="0"/>
          <a:chExt cx="0" cy="0"/>
        </a:xfrm>
      </p:grpSpPr>
      <p:sp>
        <p:nvSpPr>
          <p:cNvPr id="5" name="Shape 68"/>
          <p:cNvSpPr/>
          <p:nvPr userDrawn="1"/>
        </p:nvSpPr>
        <p:spPr>
          <a:xfrm>
            <a:off x="0" y="2206325"/>
            <a:ext cx="9144000" cy="2936999"/>
          </a:xfrm>
          <a:prstGeom prst="rect">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69"/>
          <p:cNvSpPr txBox="1">
            <a:spLocks noGrp="1"/>
          </p:cNvSpPr>
          <p:nvPr>
            <p:ph type="title"/>
          </p:nvPr>
        </p:nvSpPr>
        <p:spPr>
          <a:xfrm>
            <a:off x="720000" y="308200"/>
            <a:ext cx="7704000" cy="5726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chemeClr val="dk1"/>
              </a:buClr>
              <a:buSzPct val="25000"/>
              <a:buFont typeface="Source Code Pro"/>
              <a:buNone/>
            </a:pPr>
            <a:r>
              <a:rPr lang="en" sz="2800" b="0" i="0" u="none" strike="noStrike" cap="none">
                <a:solidFill>
                  <a:srgbClr val="3A9ED9"/>
                </a:solidFill>
                <a:latin typeface="Source Code Pro"/>
                <a:ea typeface="Source Code Pro"/>
                <a:cs typeface="Source Code Pro"/>
                <a:sym typeface="Source Code Pro"/>
              </a:rPr>
              <a:t>/ meet your team /</a:t>
            </a:r>
          </a:p>
        </p:txBody>
      </p:sp>
      <p:pic>
        <p:nvPicPr>
          <p:cNvPr id="7" name="Shape 70" descr="megan.png"/>
          <p:cNvPicPr preferRelativeResize="0"/>
          <p:nvPr userDrawn="1"/>
        </p:nvPicPr>
        <p:blipFill rotWithShape="1">
          <a:blip r:embed="rId2">
            <a:alphaModFix/>
          </a:blip>
          <a:srcRect/>
          <a:stretch/>
        </p:blipFill>
        <p:spPr>
          <a:xfrm>
            <a:off x="1520895" y="1427375"/>
            <a:ext cx="1544624" cy="1544624"/>
          </a:xfrm>
          <a:prstGeom prst="rect">
            <a:avLst/>
          </a:prstGeom>
          <a:noFill/>
          <a:ln>
            <a:noFill/>
          </a:ln>
        </p:spPr>
      </p:pic>
      <p:pic>
        <p:nvPicPr>
          <p:cNvPr id="8" name="Shape 71" descr="jennifer.png"/>
          <p:cNvPicPr preferRelativeResize="0"/>
          <p:nvPr userDrawn="1"/>
        </p:nvPicPr>
        <p:blipFill rotWithShape="1">
          <a:blip r:embed="rId3">
            <a:alphaModFix/>
          </a:blip>
          <a:srcRect/>
          <a:stretch/>
        </p:blipFill>
        <p:spPr>
          <a:xfrm>
            <a:off x="3799691" y="1427374"/>
            <a:ext cx="1544624" cy="1544624"/>
          </a:xfrm>
          <a:prstGeom prst="rect">
            <a:avLst/>
          </a:prstGeom>
          <a:noFill/>
          <a:ln>
            <a:noFill/>
          </a:ln>
        </p:spPr>
      </p:pic>
      <p:sp>
        <p:nvSpPr>
          <p:cNvPr id="9" name="Shape 72"/>
          <p:cNvSpPr txBox="1"/>
          <p:nvPr userDrawn="1"/>
        </p:nvSpPr>
        <p:spPr>
          <a:xfrm>
            <a:off x="133456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rgbClr val="FFFFFF"/>
              </a:buClr>
              <a:buSzPct val="25000"/>
              <a:buFont typeface="Arial"/>
              <a:buNone/>
            </a:pPr>
            <a:r>
              <a:rPr lang="en" sz="1200" b="0" i="0" u="none" strike="noStrike" cap="none">
                <a:solidFill>
                  <a:srgbClr val="FFFFFF"/>
                </a:solidFill>
                <a:latin typeface="Calibri"/>
                <a:ea typeface="Calibri"/>
                <a:cs typeface="Calibri"/>
                <a:sym typeface="Calibri"/>
              </a:rPr>
              <a:t>Title Here</a:t>
            </a:r>
          </a:p>
        </p:txBody>
      </p:sp>
      <p:sp>
        <p:nvSpPr>
          <p:cNvPr id="10" name="Shape 73"/>
          <p:cNvSpPr txBox="1"/>
          <p:nvPr userDrawn="1"/>
        </p:nvSpPr>
        <p:spPr>
          <a:xfrm>
            <a:off x="3455689" y="3288050"/>
            <a:ext cx="2232599"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3F3F3"/>
              </a:buClr>
              <a:buSzPct val="25000"/>
              <a:buFont typeface="Arial"/>
              <a:buNone/>
            </a:pPr>
            <a:r>
              <a:rPr lang="en" sz="1600" b="1" i="0" u="none" strike="noStrike" cap="none">
                <a:solidFill>
                  <a:srgbClr val="F3F3F3"/>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1" name="Shape 74" descr="megan.png"/>
          <p:cNvPicPr preferRelativeResize="0"/>
          <p:nvPr userDrawn="1"/>
        </p:nvPicPr>
        <p:blipFill rotWithShape="1">
          <a:blip r:embed="rId2">
            <a:alphaModFix/>
          </a:blip>
          <a:srcRect/>
          <a:stretch/>
        </p:blipFill>
        <p:spPr>
          <a:xfrm>
            <a:off x="6078496" y="1427375"/>
            <a:ext cx="1544624" cy="1544624"/>
          </a:xfrm>
          <a:prstGeom prst="rect">
            <a:avLst/>
          </a:prstGeom>
          <a:noFill/>
          <a:ln>
            <a:noFill/>
          </a:ln>
        </p:spPr>
      </p:pic>
      <p:sp>
        <p:nvSpPr>
          <p:cNvPr id="12" name="Shape 75"/>
          <p:cNvSpPr txBox="1"/>
          <p:nvPr userDrawn="1"/>
        </p:nvSpPr>
        <p:spPr>
          <a:xfrm>
            <a:off x="5892112" y="3288050"/>
            <a:ext cx="1917300" cy="648899"/>
          </a:xfrm>
          <a:prstGeom prst="rect">
            <a:avLst/>
          </a:prstGeom>
          <a:no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FFFFFF"/>
              </a:buClr>
              <a:buSzPct val="25000"/>
              <a:buFont typeface="Arial"/>
              <a:buNone/>
            </a:pPr>
            <a:r>
              <a:rPr lang="en" sz="1600" b="1" i="0" u="none" strike="noStrike" cap="none">
                <a:solidFill>
                  <a:srgbClr val="FFFFFF"/>
                </a:solidFill>
                <a:latin typeface="Calibri"/>
                <a:ea typeface="Calibri"/>
                <a:cs typeface="Calibri"/>
                <a:sym typeface="Calibri"/>
              </a:rPr>
              <a:t>NAME</a:t>
            </a:r>
          </a:p>
          <a:p>
            <a:pPr marL="0" marR="0" lvl="0" indent="0" algn="ctr" rtl="0">
              <a:lnSpc>
                <a:spcPct val="100000"/>
              </a:lnSpc>
              <a:spcBef>
                <a:spcPts val="0"/>
              </a:spcBef>
              <a:spcAft>
                <a:spcPts val="0"/>
              </a:spcAft>
              <a:buClr>
                <a:schemeClr val="dk1"/>
              </a:buClr>
              <a:buSzPct val="25000"/>
              <a:buFont typeface="Arial"/>
              <a:buNone/>
            </a:pPr>
            <a:r>
              <a:rPr lang="en" sz="1200" b="0" i="0" u="none" strike="noStrike" cap="none">
                <a:solidFill>
                  <a:schemeClr val="dk1"/>
                </a:solidFill>
                <a:latin typeface="Calibri"/>
                <a:ea typeface="Calibri"/>
                <a:cs typeface="Calibri"/>
                <a:sym typeface="Calibri"/>
              </a:rPr>
              <a:t>Title Here</a:t>
            </a:r>
          </a:p>
        </p:txBody>
      </p:sp>
      <p:pic>
        <p:nvPicPr>
          <p:cNvPr id="13" name="Shape 76" descr="metis-mini.png"/>
          <p:cNvPicPr preferRelativeResize="0"/>
          <p:nvPr userDrawn="1"/>
        </p:nvPicPr>
        <p:blipFill rotWithShape="1">
          <a:blip r:embed="rId4">
            <a:alphaModFix amt="25000"/>
          </a:blip>
          <a:srcRect/>
          <a:stretch/>
        </p:blipFill>
        <p:spPr>
          <a:xfrm>
            <a:off x="4408787" y="4444075"/>
            <a:ext cx="326424" cy="384999"/>
          </a:xfrm>
          <a:prstGeom prst="rect">
            <a:avLst/>
          </a:prstGeom>
          <a:noFill/>
          <a:ln>
            <a:noFill/>
          </a:ln>
        </p:spPr>
      </p:pic>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Shape 48"/>
        <p:cNvGrpSpPr/>
        <p:nvPr/>
      </p:nvGrpSpPr>
      <p:grpSpPr>
        <a:xfrm>
          <a:off x="0" y="0"/>
          <a:ext cx="0" cy="0"/>
          <a:chOff x="0" y="0"/>
          <a:chExt cx="0" cy="0"/>
        </a:xfrm>
      </p:grpSpPr>
      <p:sp>
        <p:nvSpPr>
          <p:cNvPr id="3"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5"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7"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8"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9"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Shape 48"/>
        <p:cNvGrpSpPr/>
        <p:nvPr/>
      </p:nvGrpSpPr>
      <p:grpSpPr>
        <a:xfrm>
          <a:off x="0" y="0"/>
          <a:ext cx="0" cy="0"/>
          <a:chOff x="0" y="0"/>
          <a:chExt cx="0" cy="0"/>
        </a:xfrm>
      </p:grpSpPr>
      <p:sp>
        <p:nvSpPr>
          <p:cNvPr id="10" name="Shape 221"/>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2" name="Shape 223"/>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3" name="Shape 224"/>
          <p:cNvSpPr/>
          <p:nvPr userDrawn="1"/>
        </p:nvSpPr>
        <p:spPr>
          <a:xfrm>
            <a:off x="0" y="0"/>
            <a:ext cx="3048000" cy="13239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14" name="Shape 22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15" name="Shape 22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
        <p:nvSpPr>
          <p:cNvPr id="16" name="Shape 227"/>
          <p:cNvSpPr txBox="1">
            <a:spLocks/>
          </p:cNvSpPr>
          <p:nvPr userDrawn="1"/>
        </p:nvSpPr>
        <p:spPr>
          <a:xfrm>
            <a:off x="2666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001</a:t>
            </a:r>
            <a:endParaRPr lang="en" sz="2400">
              <a:solidFill>
                <a:srgbClr val="FFFFFF"/>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Shape 48"/>
        <p:cNvGrpSpPr/>
        <p:nvPr/>
      </p:nvGrpSpPr>
      <p:grpSpPr>
        <a:xfrm>
          <a:off x="0" y="0"/>
          <a:ext cx="0" cy="0"/>
          <a:chOff x="0" y="0"/>
          <a:chExt cx="0" cy="0"/>
        </a:xfrm>
      </p:grpSpPr>
      <p:sp>
        <p:nvSpPr>
          <p:cNvPr id="9" name="Shape 232"/>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34"/>
          <p:cNvSpPr/>
          <p:nvPr userDrawn="1"/>
        </p:nvSpPr>
        <p:spPr>
          <a:xfrm>
            <a:off x="3048000" y="0"/>
            <a:ext cx="3048000" cy="13239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35"/>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36"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37"/>
          <p:cNvSpPr txBox="1">
            <a:spLocks/>
          </p:cNvSpPr>
          <p:nvPr userDrawn="1"/>
        </p:nvSpPr>
        <p:spPr>
          <a:xfrm>
            <a:off x="332105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002</a:t>
            </a:r>
            <a:endParaRPr lang="en" sz="2400">
              <a:solidFill>
                <a:srgbClr val="FFFFFF"/>
              </a:solidFill>
              <a:latin typeface="Source Code Pro"/>
              <a:ea typeface="Source Code Pro"/>
              <a:cs typeface="Source Code Pro"/>
              <a:sym typeface="Source Code Pro"/>
            </a:endParaRPr>
          </a:p>
        </p:txBody>
      </p:sp>
      <p:sp>
        <p:nvSpPr>
          <p:cNvPr id="22" name="Shape 238"/>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Shape 48"/>
        <p:cNvGrpSpPr/>
        <p:nvPr/>
      </p:nvGrpSpPr>
      <p:grpSpPr>
        <a:xfrm>
          <a:off x="0" y="0"/>
          <a:ext cx="0" cy="0"/>
          <a:chOff x="0" y="0"/>
          <a:chExt cx="0" cy="0"/>
        </a:xfrm>
      </p:grpSpPr>
      <p:sp>
        <p:nvSpPr>
          <p:cNvPr id="9" name="Shape 243"/>
          <p:cNvSpPr/>
          <p:nvPr userDrawn="1"/>
        </p:nvSpPr>
        <p:spPr>
          <a:xfrm>
            <a:off x="6096000" y="0"/>
            <a:ext cx="3048000" cy="13239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8" name="Shape 245"/>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19" name="Shape 246"/>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20" name="Shape 247"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21" name="Shape 248"/>
          <p:cNvSpPr txBox="1">
            <a:spLocks/>
          </p:cNvSpPr>
          <p:nvPr userDrawn="1"/>
        </p:nvSpPr>
        <p:spPr>
          <a:xfrm>
            <a:off x="6319900" y="170500"/>
            <a:ext cx="2415300" cy="9668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rgbClr val="FFFFFF"/>
                </a:solidFill>
                <a:latin typeface="Source Code Pro"/>
                <a:ea typeface="Source Code Pro"/>
                <a:cs typeface="Source Code Pro"/>
                <a:sym typeface="Source Code Pro"/>
              </a:rPr>
              <a:t>Section </a:t>
            </a:r>
          </a:p>
          <a:p>
            <a:pPr>
              <a:buSzPct val="25000"/>
              <a:buFont typeface="Source Code Pro"/>
              <a:buNone/>
            </a:pPr>
            <a:r>
              <a:rPr lang="en" sz="2400" smtClean="0">
                <a:solidFill>
                  <a:srgbClr val="FFFFFF"/>
                </a:solidFill>
                <a:latin typeface="Source Code Pro"/>
                <a:ea typeface="Source Code Pro"/>
                <a:cs typeface="Source Code Pro"/>
                <a:sym typeface="Source Code Pro"/>
              </a:rPr>
              <a:t>003</a:t>
            </a:r>
            <a:endParaRPr lang="en" sz="2400">
              <a:solidFill>
                <a:srgbClr val="FFFFFF"/>
              </a:solidFill>
              <a:latin typeface="Source Code Pro"/>
              <a:ea typeface="Source Code Pro"/>
              <a:cs typeface="Source Code Pro"/>
              <a:sym typeface="Source Code Pro"/>
            </a:endParaRPr>
          </a:p>
        </p:txBody>
      </p:sp>
      <p:sp>
        <p:nvSpPr>
          <p:cNvPr id="22" name="Shape 249"/>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Shape 48"/>
        <p:cNvGrpSpPr/>
        <p:nvPr/>
      </p:nvGrpSpPr>
      <p:grpSpPr>
        <a:xfrm>
          <a:off x="0" y="0"/>
          <a:ext cx="0" cy="0"/>
          <a:chOff x="0" y="0"/>
          <a:chExt cx="0" cy="0"/>
        </a:xfrm>
      </p:grpSpPr>
      <p:sp>
        <p:nvSpPr>
          <p:cNvPr id="8" name="Shape 254"/>
          <p:cNvSpPr txBox="1">
            <a:spLocks noGrp="1"/>
          </p:cNvSpPr>
          <p:nvPr>
            <p:ph type="title"/>
          </p:nvPr>
        </p:nvSpPr>
        <p:spPr>
          <a:xfrm>
            <a:off x="464100" y="1644150"/>
            <a:ext cx="4900499" cy="1279200"/>
          </a:xfrm>
          <a:prstGeom prst="rect">
            <a:avLst/>
          </a:prstGeom>
          <a:noFill/>
          <a:ln>
            <a:noFill/>
          </a:ln>
        </p:spPr>
        <p:txBody>
          <a:bodyPr lIns="91425" tIns="91425" rIns="91425" bIns="91425" anchor="t"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 sz="6000" b="1" i="0" u="none" strike="noStrike" cap="none">
                <a:solidFill>
                  <a:srgbClr val="ED0096"/>
                </a:solidFill>
                <a:latin typeface="Source Code Pro"/>
                <a:ea typeface="Source Code Pro"/>
                <a:cs typeface="Source Code Pro"/>
                <a:sym typeface="Source Code Pro"/>
              </a:rPr>
              <a:t>Questions?</a:t>
            </a:r>
          </a:p>
        </p:txBody>
      </p:sp>
      <p:pic>
        <p:nvPicPr>
          <p:cNvPr id="10" name="Shape 255"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cxnSp>
        <p:nvCxnSpPr>
          <p:cNvPr id="11" name="Shape 256"/>
          <p:cNvCxnSpPr/>
          <p:nvPr userDrawn="1"/>
        </p:nvCxnSpPr>
        <p:spPr>
          <a:xfrm>
            <a:off x="0" y="3082200"/>
            <a:ext cx="5322899" cy="0"/>
          </a:xfrm>
          <a:prstGeom prst="straightConnector1">
            <a:avLst/>
          </a:prstGeom>
          <a:noFill/>
          <a:ln w="19050" cap="flat" cmpd="sng">
            <a:solidFill>
              <a:srgbClr val="ED0096"/>
            </a:solidFill>
            <a:prstDash val="solid"/>
            <a:round/>
            <a:headEnd type="none" w="med" len="med"/>
            <a:tailEnd type="none" w="med" len="med"/>
          </a:ln>
        </p:spPr>
      </p:cxnSp>
      <p:sp>
        <p:nvSpPr>
          <p:cNvPr id="12" name="Shape 257"/>
          <p:cNvSpPr/>
          <p:nvPr userDrawn="1"/>
        </p:nvSpPr>
        <p:spPr>
          <a:xfrm rot="10800000">
            <a:off x="7958099" y="0"/>
            <a:ext cx="1185900" cy="1185900"/>
          </a:xfrm>
          <a:prstGeom prst="rtTriangle">
            <a:avLst/>
          </a:prstGeom>
          <a:solidFill>
            <a:srgbClr val="235F83"/>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599" cy="2052599"/>
          </a:xfrm>
          <a:prstGeom prst="rect">
            <a:avLst/>
          </a:prstGeom>
          <a:noFill/>
          <a:ln>
            <a:noFill/>
          </a:ln>
        </p:spPr>
        <p:txBody>
          <a:bodyPr lIns="91425" tIns="91425" rIns="91425" bIns="91425" anchor="b" anchorCtr="0"/>
          <a:lstStyle>
            <a:lvl1pPr marL="0" marR="0" lvl="0" indent="0" algn="ctr" rtl="0">
              <a:lnSpc>
                <a:spcPct val="100000"/>
              </a:lnSpc>
              <a:spcBef>
                <a:spcPts val="0"/>
              </a:spcBef>
              <a:spcAft>
                <a:spcPts val="0"/>
              </a:spcAft>
              <a:buClr>
                <a:schemeClr val="dk1"/>
              </a:buClr>
              <a:buFont typeface="Arial"/>
              <a:buNone/>
              <a:defRPr sz="5200" b="0" i="0" u="none" strike="noStrike" cap="none">
                <a:solidFill>
                  <a:schemeClr val="dk1"/>
                </a:solidFill>
                <a:latin typeface="Arial"/>
                <a:ea typeface="Arial"/>
                <a:cs typeface="Arial"/>
                <a:sym typeface="Arial"/>
              </a:defRPr>
            </a:lvl1pPr>
            <a:lvl2pPr lvl="1" indent="0" algn="ctr">
              <a:spcBef>
                <a:spcPts val="0"/>
              </a:spcBef>
              <a:buClr>
                <a:schemeClr val="dk1"/>
              </a:buClr>
              <a:buFont typeface="Arial"/>
              <a:buNone/>
              <a:defRPr sz="5200">
                <a:solidFill>
                  <a:schemeClr val="dk1"/>
                </a:solidFill>
              </a:defRPr>
            </a:lvl2pPr>
            <a:lvl3pPr lvl="2" indent="0" algn="ctr">
              <a:spcBef>
                <a:spcPts val="0"/>
              </a:spcBef>
              <a:buClr>
                <a:schemeClr val="dk1"/>
              </a:buClr>
              <a:buFont typeface="Arial"/>
              <a:buNone/>
              <a:defRPr sz="5200">
                <a:solidFill>
                  <a:schemeClr val="dk1"/>
                </a:solidFill>
              </a:defRPr>
            </a:lvl3pPr>
            <a:lvl4pPr lvl="3" indent="0" algn="ctr">
              <a:spcBef>
                <a:spcPts val="0"/>
              </a:spcBef>
              <a:buClr>
                <a:schemeClr val="dk1"/>
              </a:buClr>
              <a:buFont typeface="Arial"/>
              <a:buNone/>
              <a:defRPr sz="5200">
                <a:solidFill>
                  <a:schemeClr val="dk1"/>
                </a:solidFill>
              </a:defRPr>
            </a:lvl4pPr>
            <a:lvl5pPr lvl="4" indent="0" algn="ctr">
              <a:spcBef>
                <a:spcPts val="0"/>
              </a:spcBef>
              <a:buClr>
                <a:schemeClr val="dk1"/>
              </a:buClr>
              <a:buFont typeface="Arial"/>
              <a:buNone/>
              <a:defRPr sz="5200">
                <a:solidFill>
                  <a:schemeClr val="dk1"/>
                </a:solidFill>
              </a:defRPr>
            </a:lvl5pPr>
            <a:lvl6pPr lvl="5" indent="0" algn="ctr">
              <a:spcBef>
                <a:spcPts val="0"/>
              </a:spcBef>
              <a:buClr>
                <a:schemeClr val="dk1"/>
              </a:buClr>
              <a:buFont typeface="Arial"/>
              <a:buNone/>
              <a:defRPr sz="5200">
                <a:solidFill>
                  <a:schemeClr val="dk1"/>
                </a:solidFill>
              </a:defRPr>
            </a:lvl6pPr>
            <a:lvl7pPr lvl="6" indent="0" algn="ctr">
              <a:spcBef>
                <a:spcPts val="0"/>
              </a:spcBef>
              <a:buClr>
                <a:schemeClr val="dk1"/>
              </a:buClr>
              <a:buFont typeface="Arial"/>
              <a:buNone/>
              <a:defRPr sz="5200">
                <a:solidFill>
                  <a:schemeClr val="dk1"/>
                </a:solidFill>
              </a:defRPr>
            </a:lvl7pPr>
            <a:lvl8pPr lvl="7" indent="0" algn="ctr">
              <a:spcBef>
                <a:spcPts val="0"/>
              </a:spcBef>
              <a:buClr>
                <a:schemeClr val="dk1"/>
              </a:buClr>
              <a:buFont typeface="Arial"/>
              <a:buNone/>
              <a:defRPr sz="5200">
                <a:solidFill>
                  <a:schemeClr val="dk1"/>
                </a:solidFill>
              </a:defRPr>
            </a:lvl8pPr>
            <a:lvl9pPr lvl="8" indent="0" algn="ctr">
              <a:spcBef>
                <a:spcPts val="0"/>
              </a:spcBef>
              <a:buClr>
                <a:schemeClr val="dk1"/>
              </a:buClr>
              <a:buFont typeface="Arial"/>
              <a:buNone/>
              <a:defRPr sz="5200">
                <a:solidFill>
                  <a:schemeClr val="dk1"/>
                </a:solidFill>
              </a:defRPr>
            </a:lvl9pPr>
          </a:lstStyle>
          <a:p>
            <a:endParaRPr/>
          </a:p>
        </p:txBody>
      </p:sp>
      <p:sp>
        <p:nvSpPr>
          <p:cNvPr id="11" name="Shape 11"/>
          <p:cNvSpPr txBox="1">
            <a:spLocks noGrp="1"/>
          </p:cNvSpPr>
          <p:nvPr>
            <p:ph type="subTitle" idx="1"/>
          </p:nvPr>
        </p:nvSpPr>
        <p:spPr>
          <a:xfrm>
            <a:off x="311700" y="2834125"/>
            <a:ext cx="8520599" cy="792600"/>
          </a:xfrm>
          <a:prstGeom prst="rect">
            <a:avLst/>
          </a:prstGeom>
          <a:noFill/>
          <a:ln>
            <a:noFill/>
          </a:ln>
        </p:spPr>
        <p:txBody>
          <a:bodyPr lIns="91425" tIns="91425" rIns="91425" bIns="91425" anchor="t" anchorCtr="0"/>
          <a:lstStyle>
            <a:lvl1pPr marL="0" marR="0" lvl="0"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1pPr>
            <a:lvl2pPr marL="457200" marR="0" lvl="1"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2pPr>
            <a:lvl3pPr marL="914400" marR="0" lvl="2"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3pPr>
            <a:lvl4pPr marL="1371600" marR="0" lvl="3"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4pPr>
            <a:lvl5pPr marL="1828800" marR="0" lvl="4"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5pPr>
            <a:lvl6pPr marL="2286000" marR="0" lvl="5"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6pPr>
            <a:lvl7pPr marL="2743200" marR="0" lvl="6"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7pPr>
            <a:lvl8pPr marL="3200400" marR="0" lvl="7"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8pPr>
            <a:lvl9pPr marL="3657600" marR="0" lvl="8" indent="0" algn="ctr" rtl="0">
              <a:lnSpc>
                <a:spcPct val="100000"/>
              </a:lnSpc>
              <a:spcBef>
                <a:spcPts val="0"/>
              </a:spcBef>
              <a:spcAft>
                <a:spcPts val="0"/>
              </a:spcAft>
              <a:buClr>
                <a:schemeClr val="lt2"/>
              </a:buClr>
              <a:buFont typeface="Arial"/>
              <a:buNone/>
              <a:defRPr sz="2800" b="0" i="0" u="none" strike="noStrike" cap="none">
                <a:solidFill>
                  <a:schemeClr val="lt2"/>
                </a:solidFill>
                <a:latin typeface="Arial"/>
                <a:ea typeface="Arial"/>
                <a:cs typeface="Arial"/>
                <a:sym typeface="Arial"/>
              </a:defRPr>
            </a:lvl9pPr>
          </a:lstStyle>
          <a:p>
            <a:endParaRPr/>
          </a:p>
        </p:txBody>
      </p:sp>
      <p:sp>
        <p:nvSpPr>
          <p:cNvPr id="12" name="Shape 12"/>
          <p:cNvSpPr txBox="1">
            <a:spLocks noGrp="1"/>
          </p:cNvSpPr>
          <p:nvPr>
            <p:ph type="sldNum" idx="12"/>
          </p:nvPr>
        </p:nvSpPr>
        <p:spPr>
          <a:xfrm>
            <a:off x="8472457" y="4663216"/>
            <a:ext cx="548699" cy="393600"/>
          </a:xfrm>
          <a:prstGeom prst="rect">
            <a:avLst/>
          </a:prstGeom>
          <a:no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pPr>
            <a:fld id="{00000000-1234-1234-1234-123412341234}" type="slidenum">
              <a:rPr lang="en" sz="1400" b="0" i="0" u="none" strike="noStrike" cap="none">
                <a:solidFill>
                  <a:srgbClr val="000000"/>
                </a:solidFill>
                <a:latin typeface="Arial"/>
                <a:ea typeface="Arial"/>
                <a:cs typeface="Arial"/>
                <a:sym typeface="Arial"/>
              </a:rPr>
              <a:t>‹#›</a:t>
            </a:fld>
            <a:endParaRPr lang="en"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2587228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375"/>
            <a:ext cx="6858000" cy="17907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146199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248531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700"/>
            <a:ext cx="7886700" cy="2139950"/>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0092309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0013"/>
            <a:ext cx="3867150" cy="32623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3182788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4638"/>
            <a:ext cx="7886700" cy="993775"/>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1879600"/>
            <a:ext cx="3868737"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1879600"/>
            <a:ext cx="3887788" cy="276225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7239298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94733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2094171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6270274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5402345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9541841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435768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4638"/>
            <a:ext cx="5762625" cy="435768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01D69-A501-704B-80CB-1B3152437FD0}" type="slidenum">
              <a:rPr lang="en-US" smtClean="0"/>
              <a:t>‹#›</a:t>
            </a:fld>
            <a:endParaRPr lang="en-US"/>
          </a:p>
        </p:txBody>
      </p:sp>
    </p:spTree>
    <p:extLst>
      <p:ext uri="{BB962C8B-B14F-4D97-AF65-F5344CB8AC3E}">
        <p14:creationId xmlns:p14="http://schemas.microsoft.com/office/powerpoint/2010/main" val="17118605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1_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6"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radial gradient</a:t>
            </a:r>
            <a:endParaRPr lang="en-US" dirty="0"/>
          </a:p>
        </p:txBody>
      </p:sp>
      <p:sp>
        <p:nvSpPr>
          <p:cNvPr id="9"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11" name="Picture 10" descr="StackedISWhite.png"/>
          <p:cNvPicPr>
            <a:picLocks noChangeAspect="1"/>
          </p:cNvPicPr>
          <p:nvPr/>
        </p:nvPicPr>
        <p:blipFill>
          <a:blip r:embed="rId3"/>
          <a:stretch>
            <a:fillRect/>
          </a:stretch>
        </p:blipFill>
        <p:spPr>
          <a:xfrm>
            <a:off x="462619" y="399798"/>
            <a:ext cx="1230751" cy="1157248"/>
          </a:xfrm>
          <a:prstGeom prst="rect">
            <a:avLst/>
          </a:prstGeom>
        </p:spPr>
      </p:pic>
    </p:spTree>
    <p:extLst/>
  </p:cSld>
  <p:clrMapOvr>
    <a:masterClrMapping/>
  </p:clrMapOvr>
  <p:timing>
    <p:tnLst>
      <p:par>
        <p:cTn id="1" dur="indefinite" restart="never" nodeType="tmRoot"/>
      </p:par>
    </p:tnLst>
  </p:timing>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Title Slide with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Picture Placeholder 8"/>
          <p:cNvSpPr>
            <a:spLocks noGrp="1"/>
          </p:cNvSpPr>
          <p:nvPr>
            <p:ph type="pic" sz="quarter" idx="13" hasCustomPrompt="1"/>
          </p:nvPr>
        </p:nvSpPr>
        <p:spPr>
          <a:xfrm>
            <a:off x="0" y="0"/>
            <a:ext cx="9144000" cy="4768850"/>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13" name="Title 1"/>
          <p:cNvSpPr>
            <a:spLocks noGrp="1"/>
          </p:cNvSpPr>
          <p:nvPr>
            <p:ph type="ctrTitle" hasCustomPrompt="1"/>
          </p:nvPr>
        </p:nvSpPr>
        <p:spPr>
          <a:xfrm>
            <a:off x="444687" y="2479422"/>
            <a:ext cx="8212886" cy="1102519"/>
          </a:xfrm>
        </p:spPr>
        <p:txBody>
          <a:bodyPr lIns="0" rIns="0" anchor="b" anchorCtr="0">
            <a:noAutofit/>
          </a:bodyPr>
          <a:lstStyle>
            <a:lvl1pPr>
              <a:lnSpc>
                <a:spcPct val="80000"/>
              </a:lnSpc>
              <a:defRPr sz="6500" b="0"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65pt Intel Clear pro Title</a:t>
            </a:r>
            <a:br>
              <a:rPr lang="en-US" dirty="0" smtClean="0"/>
            </a:br>
            <a:r>
              <a:rPr lang="en-US" dirty="0" smtClean="0"/>
              <a:t>with image</a:t>
            </a:r>
            <a:endParaRPr lang="en-US" dirty="0"/>
          </a:p>
        </p:txBody>
      </p:sp>
      <p:sp>
        <p:nvSpPr>
          <p:cNvPr id="14" name="Subtitle 2"/>
          <p:cNvSpPr>
            <a:spLocks noGrp="1"/>
          </p:cNvSpPr>
          <p:nvPr>
            <p:ph type="subTitle" idx="1" hasCustomPrompt="1"/>
          </p:nvPr>
        </p:nvSpPr>
        <p:spPr>
          <a:xfrm>
            <a:off x="455613" y="3493008"/>
            <a:ext cx="6330212" cy="925360"/>
          </a:xfrm>
        </p:spPr>
        <p:txBody>
          <a:bodyPr lIns="0" rIns="0">
            <a:noAutofit/>
          </a:bodyPr>
          <a:lstStyle>
            <a:lvl1pPr marL="0" indent="0" algn="l">
              <a:buNone/>
              <a:defRPr sz="1600" b="0" i="0" baseline="0">
                <a:solidFill>
                  <a:srgbClr val="F3D54E"/>
                </a:solidFill>
                <a:latin typeface="Intel Clear"/>
                <a:cs typeface="Intel Clear"/>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16pt Intel Clear Subhead, Date, Etc.</a:t>
            </a:r>
            <a:endParaRPr lang="en-US" dirty="0"/>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a:ext>
            </a:extLst>
          </a:blip>
          <a:stretch>
            <a:fillRect/>
          </a:stretch>
        </p:blipFill>
        <p:spPr bwMode="auto">
          <a:xfrm>
            <a:off x="219394" y="225843"/>
            <a:ext cx="1406758" cy="1153858"/>
          </a:xfrm>
          <a:prstGeom prst="rect">
            <a:avLst/>
          </a:prstGeom>
          <a:noFill/>
          <a:extLst>
            <a:ext uri="{909E8E84-426E-40dd-AFC4-6F175D3DCCD1}">
              <a14:hiddenFill xmlns:a14="http://schemas.microsoft.com/office/drawing/2010/main" xmlns="">
                <a:solidFill>
                  <a:srgbClr val="FFFFFF"/>
                </a:solidFill>
              </a14:hiddenFill>
            </a:ext>
          </a:extLst>
        </p:spPr>
      </p:pic>
      <p:sp>
        <p:nvSpPr>
          <p:cNvPr id="30" name="Rectangle 29"/>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2"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3"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58" name="Picture 57" descr="StackedISWhite.png"/>
          <p:cNvPicPr>
            <a:picLocks noChangeAspect="1"/>
          </p:cNvPicPr>
          <p:nvPr/>
        </p:nvPicPr>
        <p:blipFill>
          <a:blip r:embed="rId3"/>
          <a:stretch>
            <a:fillRect/>
          </a:stretch>
        </p:blipFill>
        <p:spPr>
          <a:xfrm>
            <a:off x="8294375" y="4805888"/>
            <a:ext cx="314741" cy="295944"/>
          </a:xfrm>
          <a:prstGeom prst="rect">
            <a:avLst/>
          </a:prstGeom>
        </p:spPr>
      </p:pic>
      <p:cxnSp>
        <p:nvCxnSpPr>
          <p:cNvPr id="74" name="Straight Connector 73"/>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cSld>
  <p:clrMapOvr>
    <a:masterClrMapping/>
  </p:clrMapOvr>
  <p:timing>
    <p:tnLst>
      <p:par>
        <p:cTn id="1" dur="indefinite" restart="never" nodeType="tmRoot"/>
      </p:par>
    </p:tnLst>
  </p:timing>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Content Placeholder 8"/>
          <p:cNvSpPr>
            <a:spLocks noGrp="1"/>
          </p:cNvSpPr>
          <p:nvPr>
            <p:ph sz="quarter" idx="13" hasCustomPrompt="1"/>
          </p:nvPr>
        </p:nvSpPr>
        <p:spPr>
          <a:xfrm>
            <a:off x="455613" y="1203325"/>
            <a:ext cx="8228012" cy="3425825"/>
          </a:xfrm>
        </p:spPr>
        <p:txBody>
          <a:bodyPr/>
          <a:lstStyle>
            <a:lvl1pPr>
              <a:defRPr>
                <a:solidFill>
                  <a:srgbClr val="0071C5"/>
                </a:solidFill>
              </a:defRPr>
            </a:lvl1pPr>
            <a:lvl2pPr>
              <a:defRPr sz="1800"/>
            </a:lvl2pPr>
            <a:lvl3pPr>
              <a:defRPr sz="1800"/>
            </a:lvl3pPr>
            <a:lvl4pPr>
              <a:defRPr sz="1600"/>
            </a:lvl4pPr>
          </a:lstStyle>
          <a:p>
            <a:pPr lvl="0"/>
            <a:r>
              <a:rPr lang="en-US" dirty="0" smtClean="0"/>
              <a:t>18pt Intel Clear body text</a:t>
            </a:r>
          </a:p>
          <a:p>
            <a:pPr lvl="1"/>
            <a:r>
              <a:rPr lang="en-US" dirty="0" smtClean="0"/>
              <a:t>18pt Intel Clear bullet one</a:t>
            </a:r>
          </a:p>
          <a:p>
            <a:pPr lvl="2"/>
            <a:r>
              <a:rPr lang="en-US" dirty="0" smtClean="0"/>
              <a:t>18pt Intel Clear sub-bullet</a:t>
            </a:r>
          </a:p>
          <a:p>
            <a:pPr lvl="3"/>
            <a:r>
              <a:rPr lang="en-US" dirty="0" smtClean="0"/>
              <a:t>16pt Intel Clear fourth level</a:t>
            </a:r>
          </a:p>
          <a:p>
            <a:pPr lvl="4"/>
            <a:r>
              <a:rPr lang="en-US" dirty="0" err="1" smtClean="0"/>
              <a:t>14pt</a:t>
            </a:r>
            <a:r>
              <a:rPr lang="en-US" dirty="0" smtClean="0"/>
              <a:t> Intel Clear fifth level</a:t>
            </a:r>
            <a:endParaRPr lang="en-US" dirty="0"/>
          </a:p>
        </p:txBody>
      </p:sp>
    </p:spTree>
    <p:extLst/>
  </p:cSld>
  <p:clrMapOvr>
    <a:masterClrMapping/>
  </p:clrMapOvr>
  <p:timing>
    <p:tnLst>
      <p:par>
        <p:cTn id="1" dur="indefinite" restart="never" nodeType="tmRoot"/>
      </p:par>
    </p:tnLst>
  </p:timing>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wo Content with Image">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9" name="Picture Placeholder 8"/>
          <p:cNvSpPr>
            <a:spLocks noGrp="1"/>
          </p:cNvSpPr>
          <p:nvPr>
            <p:ph type="pic" sz="quarter" idx="13"/>
          </p:nvPr>
        </p:nvSpPr>
        <p:spPr>
          <a:xfrm>
            <a:off x="4830763" y="943430"/>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
        <p:nvSpPr>
          <p:cNvPr id="10" name="Picture Placeholder 8"/>
          <p:cNvSpPr>
            <a:spLocks noGrp="1"/>
          </p:cNvSpPr>
          <p:nvPr>
            <p:ph type="pic" sz="quarter" idx="14"/>
          </p:nvPr>
        </p:nvSpPr>
        <p:spPr>
          <a:xfrm>
            <a:off x="4830763" y="2843897"/>
            <a:ext cx="3181123" cy="1670950"/>
          </a:xfrm>
          <a:solidFill>
            <a:schemeClr val="bg2">
              <a:lumMod val="60000"/>
              <a:lumOff val="40000"/>
            </a:schemeClr>
          </a:solidFill>
        </p:spPr>
        <p:txBody>
          <a:bodyPr/>
          <a:lstStyle>
            <a:lvl1pPr>
              <a:defRPr sz="1800">
                <a:latin typeface="Intel Clear"/>
              </a:defRPr>
            </a:lvl1pPr>
          </a:lstStyle>
          <a:p>
            <a:r>
              <a:rPr lang="en-US" sz="1100" smtClean="0">
                <a:latin typeface="Arial"/>
              </a:rPr>
              <a:t>Drag picture to placeholder or click icon to add</a:t>
            </a:r>
            <a:endParaRPr lang="en-US" sz="1100" dirty="0">
              <a:latin typeface="Arial"/>
            </a:endParaRPr>
          </a:p>
        </p:txBody>
      </p:sp>
    </p:spTree>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E2556C5-CE8C-6547-B838-EA80C61A4AF7}" type="slidenum">
              <a:rPr lang="en-US" smtClean="0"/>
              <a:pPr/>
              <a:t>‹#›</a:t>
            </a:fld>
            <a:endParaRPr lang="en-US" dirty="0"/>
          </a:p>
        </p:txBody>
      </p:sp>
      <p:sp>
        <p:nvSpPr>
          <p:cNvPr id="15" name="Content Placeholder 2"/>
          <p:cNvSpPr>
            <a:spLocks noGrp="1"/>
          </p:cNvSpPr>
          <p:nvPr>
            <p:ph sz="half" idx="1" hasCustomPrompt="1"/>
          </p:nvPr>
        </p:nvSpPr>
        <p:spPr>
          <a:xfrm>
            <a:off x="455613" y="1203324"/>
            <a:ext cx="4006851"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6" name="Content Placeholder 2"/>
          <p:cNvSpPr>
            <a:spLocks noGrp="1"/>
          </p:cNvSpPr>
          <p:nvPr>
            <p:ph sz="half" idx="13" hasCustomPrompt="1"/>
          </p:nvPr>
        </p:nvSpPr>
        <p:spPr>
          <a:xfrm>
            <a:off x="4678363" y="1203324"/>
            <a:ext cx="4005264"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8"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Attribut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55613" y="1203325"/>
            <a:ext cx="8228013" cy="3425825"/>
          </a:xfrm>
        </p:spPr>
        <p:txBody>
          <a:bodyPr anchor="ctr" anchorCtr="0"/>
          <a:lstStyle>
            <a:lvl1pPr marL="190500" indent="-190500">
              <a:defRPr sz="3600" b="1" baseline="0">
                <a:solidFill>
                  <a:schemeClr val="accent2"/>
                </a:solidFill>
                <a:latin typeface="+mn-lt"/>
                <a:cs typeface="Intel Clear Light" panose="020B0404020203020204" pitchFamily="34" charset="0"/>
              </a:defRPr>
            </a:lvl1pPr>
            <a:lvl2pPr marL="417513" indent="-225425">
              <a:buFont typeface="Lucida Grande"/>
              <a:buChar char="−"/>
              <a:defRPr sz="1200" baseline="0">
                <a:latin typeface="+mn-lt"/>
                <a:cs typeface="Intel Clear" panose="020B0604020203020204" pitchFamily="34" charset="0"/>
              </a:defRPr>
            </a:lvl2pPr>
            <a:lvl3pPr marL="685800" indent="-228600">
              <a:defRPr sz="1200">
                <a:latin typeface="+mn-lt"/>
              </a:defRPr>
            </a:lvl3pPr>
            <a:lvl4pPr>
              <a:defRPr sz="1100">
                <a:latin typeface="+mn-lt"/>
              </a:defRPr>
            </a:lvl4pPr>
            <a:lvl5pPr>
              <a:defRPr sz="1050">
                <a:latin typeface="+mn-lt"/>
              </a:defRPr>
            </a:lvl5pPr>
          </a:lstStyle>
          <a:p>
            <a:pPr lvl="0"/>
            <a:r>
              <a:rPr lang="en-US" dirty="0" smtClean="0"/>
              <a:t>“36pt Intel Clear Bold Text”</a:t>
            </a:r>
          </a:p>
          <a:p>
            <a:pPr lvl="1"/>
            <a:r>
              <a:rPr lang="en-US" dirty="0" err="1" smtClean="0"/>
              <a:t>12pt</a:t>
            </a:r>
            <a:r>
              <a:rPr lang="en-US" dirty="0" smtClean="0"/>
              <a:t> Attribution</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Tree>
    <p:extLst/>
  </p:cSld>
  <p:clrMapOvr>
    <a:masterClrMapping/>
  </p:clrMapOvr>
  <p:timing>
    <p:tnLst>
      <p:par>
        <p:cTn id="1" dur="indefinite" restart="never" nodeType="tmRoot"/>
      </p:par>
    </p:tnLst>
  </p:timing>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Full Bleed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0"/>
            <a:ext cx="9144000" cy="4762834"/>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endParaRPr lang="en-US" dirty="0"/>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7"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8"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and Bottom Half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0" y="2574131"/>
            <a:ext cx="9144000" cy="2188703"/>
          </a:xfrm>
          <a:solidFill>
            <a:schemeClr val="bg2">
              <a:lumMod val="60000"/>
              <a:lumOff val="40000"/>
            </a:schemeClr>
          </a:solidFill>
        </p:spPr>
        <p:txBody>
          <a:bodyPr/>
          <a:lstStyle>
            <a:lvl1pPr marL="0" marR="0" indent="0" algn="l" defTabSz="457200" rtl="0" eaLnBrk="1" fontAlgn="auto" latinLnBrk="0" hangingPunct="1">
              <a:lnSpc>
                <a:spcPct val="100000"/>
              </a:lnSpc>
              <a:spcBef>
                <a:spcPts val="1200"/>
              </a:spcBef>
              <a:spcAft>
                <a:spcPts val="0"/>
              </a:spcAft>
              <a:buClrTx/>
              <a:buSzTx/>
              <a:buFont typeface="Wingdings" panose="05000000000000000000" pitchFamily="2" charset="2"/>
              <a:buNone/>
              <a:tabLst/>
              <a:defRPr baseline="0"/>
            </a:lvl1pPr>
          </a:lstStyle>
          <a:p>
            <a:r>
              <a:rPr lang="en-US" dirty="0" smtClean="0"/>
              <a:t>Insert photo here. Drag picture to placeholder or click icon to add.</a:t>
            </a:r>
          </a:p>
        </p:txBody>
      </p:sp>
      <p:sp>
        <p:nvSpPr>
          <p:cNvPr id="6" name="Slide Number Placeholder 5"/>
          <p:cNvSpPr>
            <a:spLocks noGrp="1"/>
          </p:cNvSpPr>
          <p:nvPr>
            <p:ph type="sldNum" sz="quarter" idx="12"/>
          </p:nvPr>
        </p:nvSpPr>
        <p:spPr>
          <a:xfrm>
            <a:off x="8717718" y="4795523"/>
            <a:ext cx="288234" cy="273844"/>
          </a:xfrm>
        </p:spPr>
        <p:txBody>
          <a:bodyPr/>
          <a:lstStyle/>
          <a:p>
            <a:fld id="{EE2556C5-CE8C-6547-B838-EA80C61A4AF7}" type="slidenum">
              <a:rPr lang="en-US" smtClean="0"/>
              <a:pPr/>
              <a:t>‹#›</a:t>
            </a:fld>
            <a:endParaRPr lang="en-US" dirty="0"/>
          </a:p>
        </p:txBody>
      </p:sp>
      <p:sp>
        <p:nvSpPr>
          <p:cNvPr id="18" name="Content Placeholder 2"/>
          <p:cNvSpPr>
            <a:spLocks noGrp="1"/>
          </p:cNvSpPr>
          <p:nvPr>
            <p:ph sz="half" idx="1" hasCustomPrompt="1"/>
          </p:nvPr>
        </p:nvSpPr>
        <p:spPr>
          <a:xfrm>
            <a:off x="455613" y="1203325"/>
            <a:ext cx="4006851"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19" name="Content Placeholder 2"/>
          <p:cNvSpPr>
            <a:spLocks noGrp="1"/>
          </p:cNvSpPr>
          <p:nvPr>
            <p:ph sz="half" idx="15" hasCustomPrompt="1"/>
          </p:nvPr>
        </p:nvSpPr>
        <p:spPr>
          <a:xfrm>
            <a:off x="4678363" y="1203325"/>
            <a:ext cx="4005264" cy="1309290"/>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3" name="TextBox 2"/>
          <p:cNvSpPr txBox="1"/>
          <p:nvPr/>
        </p:nvSpPr>
        <p:spPr>
          <a:xfrm>
            <a:off x="1009487" y="4975795"/>
            <a:ext cx="184666" cy="246221"/>
          </a:xfrm>
          <a:prstGeom prst="rect">
            <a:avLst/>
          </a:prstGeom>
          <a:noFill/>
        </p:spPr>
        <p:txBody>
          <a:bodyPr wrap="none" rtlCol="0">
            <a:spAutoFit/>
          </a:bodyPr>
          <a:lstStyle/>
          <a:p>
            <a:endParaRPr lang="en-US" sz="1000" dirty="0" smtClean="0">
              <a:solidFill>
                <a:schemeClr val="tx2"/>
              </a:solidFill>
              <a:cs typeface="Neo Sans Intel"/>
            </a:endParaRPr>
          </a:p>
        </p:txBody>
      </p:sp>
      <p:sp>
        <p:nvSpPr>
          <p:cNvPr id="10" name="Title 6"/>
          <p:cNvSpPr>
            <a:spLocks noGrp="1"/>
          </p:cNvSpPr>
          <p:nvPr>
            <p:ph type="title" hasCustomPrompt="1"/>
          </p:nvPr>
        </p:nvSpPr>
        <p:spPr>
          <a:xfrm>
            <a:off x="455613" y="308848"/>
            <a:ext cx="8229600" cy="868680"/>
          </a:xfrm>
        </p:spPr>
        <p:txBody>
          <a:bodyPr/>
          <a:lstStyle>
            <a:lvl1pPr>
              <a:defRPr b="0" i="0" baseline="0">
                <a:solidFill>
                  <a:srgbClr val="003C71"/>
                </a:solidFill>
                <a:latin typeface="Intel Clear"/>
                <a:cs typeface="Intel Clear"/>
              </a:defRPr>
            </a:lvl1pPr>
          </a:lstStyle>
          <a:p>
            <a:r>
              <a:rPr lang="en-US" dirty="0" smtClean="0"/>
              <a:t>28pt Intel Clear Headline</a:t>
            </a:r>
            <a:endParaRPr lang="en-US" dirty="0"/>
          </a:p>
        </p:txBody>
      </p:sp>
      <p:sp>
        <p:nvSpPr>
          <p:cNvPr id="11"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and Right Image">
    <p:spTree>
      <p:nvGrpSpPr>
        <p:cNvPr id="1" name=""/>
        <p:cNvGrpSpPr/>
        <p:nvPr/>
      </p:nvGrpSpPr>
      <p:grpSpPr>
        <a:xfrm>
          <a:off x="0" y="0"/>
          <a:ext cx="0" cy="0"/>
          <a:chOff x="0" y="0"/>
          <a:chExt cx="0" cy="0"/>
        </a:xfrm>
      </p:grpSpPr>
      <p:sp>
        <p:nvSpPr>
          <p:cNvPr id="9" name="Picture Placeholder 8"/>
          <p:cNvSpPr>
            <a:spLocks noGrp="1"/>
          </p:cNvSpPr>
          <p:nvPr>
            <p:ph type="pic" sz="quarter" idx="13" hasCustomPrompt="1"/>
          </p:nvPr>
        </p:nvSpPr>
        <p:spPr>
          <a:xfrm>
            <a:off x="4678363" y="2"/>
            <a:ext cx="4465637" cy="4755616"/>
          </a:xfrm>
          <a:solidFill>
            <a:schemeClr val="bg2">
              <a:lumMod val="60000"/>
              <a:lumOff val="40000"/>
            </a:schemeClr>
          </a:solidFill>
        </p:spPr>
        <p:txBody>
          <a:bodyPr/>
          <a:lstStyle>
            <a:lvl1pPr>
              <a:defRPr baseline="0"/>
            </a:lvl1pPr>
          </a:lstStyle>
          <a:p>
            <a:r>
              <a:rPr lang="en-US" dirty="0" smtClean="0"/>
              <a:t>Insert photo here. Drag picture to placeholder or click icon to add.</a:t>
            </a:r>
            <a:endParaRPr lang="en-US" dirty="0"/>
          </a:p>
        </p:txBody>
      </p:sp>
      <p:sp>
        <p:nvSpPr>
          <p:cNvPr id="2" name="Title 1"/>
          <p:cNvSpPr>
            <a:spLocks noGrp="1"/>
          </p:cNvSpPr>
          <p:nvPr>
            <p:ph type="title" hasCustomPrompt="1"/>
          </p:nvPr>
        </p:nvSpPr>
        <p:spPr>
          <a:xfrm>
            <a:off x="455613" y="308848"/>
            <a:ext cx="4006850" cy="868680"/>
          </a:xfrm>
        </p:spPr>
        <p:txBody>
          <a:bodyPr>
            <a:noAutofit/>
          </a:bodyPr>
          <a:lstStyle>
            <a:lvl1pPr>
              <a:defRPr sz="2800" b="0" i="0" baseline="0">
                <a:latin typeface="Intel Clear"/>
                <a:cs typeface="Intel Clear"/>
              </a:defRPr>
            </a:lvl1pPr>
          </a:lstStyle>
          <a:p>
            <a:r>
              <a:rPr lang="en-US" dirty="0" smtClean="0"/>
              <a:t>28pt Intel Clear Headline</a:t>
            </a:r>
            <a:endParaRPr lang="en-US" dirty="0"/>
          </a:p>
        </p:txBody>
      </p:sp>
      <p:sp>
        <p:nvSpPr>
          <p:cNvPr id="6" name="Slide Number Placeholder 5"/>
          <p:cNvSpPr>
            <a:spLocks noGrp="1"/>
          </p:cNvSpPr>
          <p:nvPr>
            <p:ph type="sldNum" sz="quarter" idx="12"/>
          </p:nvPr>
        </p:nvSpPr>
        <p:spPr>
          <a:xfrm>
            <a:off x="8725556" y="4795523"/>
            <a:ext cx="280395" cy="273844"/>
          </a:xfrm>
        </p:spPr>
        <p:txBody>
          <a:bodyPr/>
          <a:lstStyle/>
          <a:p>
            <a:fld id="{EE2556C5-CE8C-6547-B838-EA80C61A4AF7}" type="slidenum">
              <a:rPr lang="en-US" smtClean="0"/>
              <a:pPr/>
              <a:t>‹#›</a:t>
            </a:fld>
            <a:endParaRPr lang="en-US" dirty="0"/>
          </a:p>
        </p:txBody>
      </p:sp>
      <p:sp>
        <p:nvSpPr>
          <p:cNvPr id="17" name="Content Placeholder 2"/>
          <p:cNvSpPr>
            <a:spLocks noGrp="1"/>
          </p:cNvSpPr>
          <p:nvPr>
            <p:ph sz="half" idx="1" hasCustomPrompt="1"/>
          </p:nvPr>
        </p:nvSpPr>
        <p:spPr>
          <a:xfrm>
            <a:off x="455614" y="1325244"/>
            <a:ext cx="4006850" cy="3425825"/>
          </a:xfrm>
        </p:spPr>
        <p:txBody>
          <a:bodyPr vert="horz" lIns="0" tIns="0" rIns="0" bIns="0" rtlCol="0">
            <a:noAutofit/>
          </a:bodyPr>
          <a:lstStyle>
            <a:lvl1pPr>
              <a:defRPr lang="en-US" dirty="0" smtClean="0"/>
            </a:lvl1pPr>
            <a:lvl2pPr>
              <a:defRPr lang="en-US" dirty="0" smtClean="0"/>
            </a:lvl2pPr>
            <a:lvl3pPr>
              <a:defRPr lang="en-US" sz="1400" dirty="0" smtClean="0"/>
            </a:lvl3pPr>
            <a:lvl4pPr>
              <a:defRPr lang="en-US" sz="1200" dirty="0" smtClean="0"/>
            </a:lvl4pPr>
            <a:lvl5pPr>
              <a:defRPr lang="en-US" sz="1200" dirty="0"/>
            </a:lvl5pPr>
          </a:lstStyle>
          <a:p>
            <a:pPr marR="0" lvl="0" fontAlgn="auto">
              <a:lnSpc>
                <a:spcPct val="100000"/>
              </a:lnSpc>
              <a:buClrTx/>
              <a:buSzTx/>
              <a:tabLst/>
            </a:pPr>
            <a:r>
              <a:rPr lang="en-US" dirty="0" smtClean="0"/>
              <a:t>18pt Intel Clear body text</a:t>
            </a:r>
          </a:p>
          <a:p>
            <a:pPr marR="0" lvl="1" fontAlgn="auto">
              <a:lnSpc>
                <a:spcPct val="100000"/>
              </a:lnSpc>
              <a:spcAft>
                <a:spcPts val="0"/>
              </a:spcAft>
              <a:buClrTx/>
              <a:buSzTx/>
              <a:tabLst/>
            </a:pPr>
            <a:r>
              <a:rPr lang="en-US" dirty="0" smtClean="0"/>
              <a:t>16pt Intel Clear bullet one</a:t>
            </a:r>
          </a:p>
          <a:p>
            <a:pPr lvl="2"/>
            <a:r>
              <a:rPr lang="en-US" dirty="0" err="1" smtClean="0"/>
              <a:t>14pt</a:t>
            </a:r>
            <a:r>
              <a:rPr lang="en-US" dirty="0" smtClean="0"/>
              <a:t> Intel Clear third level</a:t>
            </a:r>
          </a:p>
          <a:p>
            <a:pPr lvl="3"/>
            <a:r>
              <a:rPr lang="en-US" dirty="0" err="1" smtClean="0"/>
              <a:t>12pt</a:t>
            </a:r>
            <a:r>
              <a:rPr lang="en-US" dirty="0" smtClean="0"/>
              <a:t> Intel Clear fourth level</a:t>
            </a:r>
          </a:p>
          <a:p>
            <a:pPr lvl="4"/>
            <a:r>
              <a:rPr lang="en-US" dirty="0" err="1" smtClean="0"/>
              <a:t>12pt</a:t>
            </a:r>
            <a:r>
              <a:rPr lang="en-US" dirty="0" smtClean="0"/>
              <a:t> Intel Clear fifth level</a:t>
            </a:r>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White Section Brea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rgbClr val="003C7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white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baseline="0">
                <a:solidFill>
                  <a:schemeClr val="accent2"/>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secHead" preserve="1">
  <p:cSld name="Blue Section Break">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108062"/>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a:t>
            </a:r>
            <a:br>
              <a:rPr lang="en-US" dirty="0" smtClean="0"/>
            </a:br>
            <a:r>
              <a:rPr lang="en-US" dirty="0" smtClean="0"/>
              <a:t>blue section break</a:t>
            </a:r>
            <a:endParaRPr lang="en-US" dirty="0"/>
          </a:p>
        </p:txBody>
      </p:sp>
      <p:sp>
        <p:nvSpPr>
          <p:cNvPr id="3" name="Text Placeholder 2"/>
          <p:cNvSpPr>
            <a:spLocks noGrp="1"/>
          </p:cNvSpPr>
          <p:nvPr>
            <p:ph type="body" idx="1" hasCustomPrompt="1"/>
          </p:nvPr>
        </p:nvSpPr>
        <p:spPr>
          <a:xfrm>
            <a:off x="455613" y="3241150"/>
            <a:ext cx="7772400" cy="1125140"/>
          </a:xfrm>
        </p:spPr>
        <p:txBody>
          <a:bodyPr anchor="t" anchorCtr="0">
            <a:noAutofit/>
          </a:bodyPr>
          <a:lstStyle>
            <a:lvl1pPr marL="0" indent="0">
              <a:buNone/>
              <a:defRPr sz="1600" b="0" i="0" baseline="0">
                <a:solidFill>
                  <a:srgbClr val="F3D54E"/>
                </a:solidFill>
                <a:latin typeface="Intel Clear"/>
                <a:cs typeface="Intel Clear"/>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Tree>
    <p:extLst/>
  </p:cSld>
  <p:clrMapOvr>
    <a:masterClrMapping/>
  </p:clrMapOvr>
  <p:timing>
    <p:tnLst>
      <p:par>
        <p:cTn id="1" dur="indefinite" restart="never" nodeType="tmRoot"/>
      </p:par>
    </p:tnLst>
  </p:timing>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Hero Text">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5613" y="2234882"/>
            <a:ext cx="7772400" cy="1125140"/>
          </a:xfrm>
        </p:spPr>
        <p:txBody>
          <a:bodyPr anchor="t" anchorCtr="0">
            <a:noAutofit/>
          </a:bodyPr>
          <a:lstStyle>
            <a:lvl1pPr marL="0" indent="0">
              <a:buNone/>
              <a:defRPr sz="4000" b="0" baseline="0">
                <a:solidFill>
                  <a:schemeClr val="accent2"/>
                </a:solidFill>
                <a:latin typeface="Intel Clear Light" panose="020B0404020203020204" pitchFamily="34" charset="0"/>
                <a:ea typeface="Intel Clear Light" panose="020B0404020203020204" pitchFamily="34" charset="0"/>
                <a:cs typeface="Intel Clear Light" panose="020B04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40pt Intel Clear Light Body.</a:t>
            </a:r>
            <a:br>
              <a:rPr lang="en-US" dirty="0" smtClean="0"/>
            </a:br>
            <a:r>
              <a:rPr lang="en-US" dirty="0" smtClean="0"/>
              <a:t>For content that is not a section, but has a big idea in text only.</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EE2556C5-CE8C-6547-B838-EA80C61A4AF7}" type="slidenum">
              <a:rPr lang="en-US" smtClean="0"/>
              <a:pPr/>
              <a:t>‹#›</a:t>
            </a:fld>
            <a:endParaRPr lang="en-US" dirty="0"/>
          </a:p>
        </p:txBody>
      </p:sp>
      <p:sp>
        <p:nvSpPr>
          <p:cNvPr id="7" name="Title 1"/>
          <p:cNvSpPr>
            <a:spLocks noGrp="1"/>
          </p:cNvSpPr>
          <p:nvPr>
            <p:ph type="title" hasCustomPrompt="1"/>
          </p:nvPr>
        </p:nvSpPr>
        <p:spPr>
          <a:xfrm>
            <a:off x="455613" y="1101794"/>
            <a:ext cx="7772400" cy="1021556"/>
          </a:xfrm>
        </p:spPr>
        <p:txBody>
          <a:bodyPr anchor="b" anchorCtr="0">
            <a:noAutofit/>
          </a:bodyPr>
          <a:lstStyle>
            <a:lvl1pPr algn="l">
              <a:lnSpc>
                <a:spcPct val="80000"/>
              </a:lnSpc>
              <a:defRPr sz="4000" b="0" cap="none" spc="0" baseline="0">
                <a:solidFill>
                  <a:srgbClr val="003C7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smtClean="0"/>
              <a:t>40pt Intel Clear Heading</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Tree>
    <p:extLst/>
  </p:cSld>
  <p:clrMapOvr>
    <a:masterClrMapping/>
  </p:clrMapOvr>
  <p:timing>
    <p:tnLst>
      <p:par>
        <p:cTn id="1" dur="indefinite" restart="never" nodeType="tmRoot"/>
      </p:par>
    </p:tnLst>
  </p:timing>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Blue Section Break Image">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613" y="2260088"/>
            <a:ext cx="7772400" cy="1021556"/>
          </a:xfrm>
        </p:spPr>
        <p:txBody>
          <a:bodyPr anchor="b" anchorCtr="0">
            <a:noAutofit/>
          </a:bodyPr>
          <a:lstStyle>
            <a:lvl1pPr algn="l">
              <a:lnSpc>
                <a:spcPct val="80000"/>
              </a:lnSpc>
              <a:defRPr sz="5400" b="0" cap="none" spc="0" baseline="0">
                <a:solidFill>
                  <a:schemeClr val="bg1"/>
                </a:solidFill>
                <a:latin typeface="Intel Clear Pro" panose="020B0804020202060201" pitchFamily="34" charset="0"/>
                <a:cs typeface="Intel Clear Pro" panose="020B0804020202060201" pitchFamily="34" charset="0"/>
              </a:defRPr>
            </a:lvl1pPr>
          </a:lstStyle>
          <a:p>
            <a:r>
              <a:rPr lang="en-US" dirty="0" smtClean="0"/>
              <a:t>54pt Intel Clear Pro blue section</a:t>
            </a:r>
            <a:endParaRPr lang="en-US" dirty="0"/>
          </a:p>
        </p:txBody>
      </p:sp>
      <p:sp>
        <p:nvSpPr>
          <p:cNvPr id="3" name="Text Placeholder 2"/>
          <p:cNvSpPr>
            <a:spLocks noGrp="1"/>
          </p:cNvSpPr>
          <p:nvPr>
            <p:ph type="body" idx="1" hasCustomPrompt="1"/>
          </p:nvPr>
        </p:nvSpPr>
        <p:spPr>
          <a:xfrm>
            <a:off x="455613" y="3348787"/>
            <a:ext cx="7772400" cy="1125140"/>
          </a:xfrm>
        </p:spPr>
        <p:txBody>
          <a:bodyPr anchor="t" anchorCtr="0">
            <a:noAutofit/>
          </a:bodyPr>
          <a:lstStyle>
            <a:lvl1pPr marL="0" indent="0">
              <a:buNone/>
              <a:defRPr sz="1600" b="0" baseline="0">
                <a:solidFill>
                  <a:srgbClr val="F3D54E"/>
                </a:solidFill>
                <a:latin typeface="+mn-lt"/>
                <a:cs typeface="Intel Clear" panose="020B0604020203020204" pitchFamily="34"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dirty="0" smtClean="0"/>
              <a:t>16pt Intel Clear Subhead</a:t>
            </a:r>
            <a:endParaRPr lang="en-US" dirty="0"/>
          </a:p>
        </p:txBody>
      </p:sp>
      <p:sp>
        <p:nvSpPr>
          <p:cNvPr id="5" name="Picture Placeholder 4"/>
          <p:cNvSpPr>
            <a:spLocks noGrp="1"/>
          </p:cNvSpPr>
          <p:nvPr>
            <p:ph type="pic" sz="quarter" idx="13" hasCustomPrompt="1"/>
          </p:nvPr>
        </p:nvSpPr>
        <p:spPr>
          <a:xfrm>
            <a:off x="0" y="1"/>
            <a:ext cx="9144000" cy="2574131"/>
          </a:xfrm>
          <a:solidFill>
            <a:schemeClr val="bg2">
              <a:lumMod val="60000"/>
              <a:lumOff val="40000"/>
            </a:schemeClr>
          </a:solidFill>
        </p:spPr>
        <p:txBody>
          <a:bodyPr/>
          <a:lstStyle>
            <a:lvl1pPr>
              <a:defRPr baseline="0">
                <a:solidFill>
                  <a:srgbClr val="0071C5"/>
                </a:solidFill>
              </a:defRPr>
            </a:lvl1pPr>
          </a:lstStyle>
          <a:p>
            <a:r>
              <a:rPr lang="en-US" dirty="0" smtClean="0"/>
              <a:t>Insert photo here. Drag picture to placeholder or click icon to add.</a:t>
            </a:r>
            <a:endParaRPr lang="en-US" dirty="0"/>
          </a:p>
        </p:txBody>
      </p:sp>
    </p:spTree>
    <p:extLst/>
  </p:cSld>
  <p:clrMapOvr>
    <a:masterClrMapping/>
  </p:clrMapOvr>
  <p:timing>
    <p:tnLst>
      <p:par>
        <p:cTn id="1" dur="indefinite" restart="never" nodeType="tmRoot"/>
      </p:par>
    </p:tnLst>
  </p:timing>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E2556C5-CE8C-6547-B838-EA80C61A4AF7}" type="slidenum">
              <a:rPr lang="en-US" smtClean="0"/>
              <a:pPr/>
              <a:t>‹#›</a:t>
            </a:fld>
            <a:endParaRPr lang="en-US" dirty="0"/>
          </a:p>
        </p:txBody>
      </p:sp>
      <p:sp>
        <p:nvSpPr>
          <p:cNvPr id="7"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3" name="Title 2"/>
          <p:cNvSpPr>
            <a:spLocks noGrp="1"/>
          </p:cNvSpPr>
          <p:nvPr>
            <p:ph type="title"/>
          </p:nvPr>
        </p:nvSpPr>
        <p:spPr/>
        <p:txBody>
          <a:bodyPr/>
          <a:lstStyle/>
          <a:p>
            <a:r>
              <a:rPr lang="en-US" smtClean="0"/>
              <a:t>Click to edit Master title style</a:t>
            </a:r>
            <a:endParaRPr lang="en-US"/>
          </a:p>
        </p:txBody>
      </p:sp>
    </p:spTree>
    <p:extLst/>
  </p:cSld>
  <p:clrMapOvr>
    <a:masterClrMapping/>
  </p:clrMapOvr>
  <p:timing>
    <p:tnLst>
      <p:par>
        <p:cTn id="1" dur="indefinite" restart="never" nodeType="tmRoot"/>
      </p:par>
    </p:tnLst>
  </p:timing>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3124200" y="4842365"/>
            <a:ext cx="2895600" cy="250826"/>
          </a:xfrm>
        </p:spPr>
        <p:txBody>
          <a:bodyPr/>
          <a:lstStyle/>
          <a:p>
            <a:endParaRPr lang="en-US" dirty="0"/>
          </a:p>
        </p:txBody>
      </p:sp>
      <p:sp>
        <p:nvSpPr>
          <p:cNvPr id="4" name="Slide Number Placeholder 3"/>
          <p:cNvSpPr>
            <a:spLocks noGrp="1"/>
          </p:cNvSpPr>
          <p:nvPr>
            <p:ph type="sldNum" sz="quarter" idx="12"/>
          </p:nvPr>
        </p:nvSpPr>
        <p:spPr>
          <a:xfrm>
            <a:off x="8743950" y="4779605"/>
            <a:ext cx="262001" cy="247085"/>
          </a:xfrm>
        </p:spPr>
        <p:txBody>
          <a:bodyPr/>
          <a:lstStyle/>
          <a:p>
            <a:fld id="{EE2556C5-CE8C-6547-B838-EA80C61A4AF7}" type="slidenum">
              <a:rPr lang="en-US" smtClean="0"/>
              <a:pPr/>
              <a:t>‹#›</a:t>
            </a:fld>
            <a:endParaRPr lang="en-US" dirty="0"/>
          </a:p>
        </p:txBody>
      </p:sp>
      <p:sp>
        <p:nvSpPr>
          <p:cNvPr id="5" name="Shape 210"/>
          <p:cNvSpPr/>
          <p:nvPr userDrawn="1"/>
        </p:nvSpPr>
        <p:spPr>
          <a:xfrm>
            <a:off x="6096000" y="0"/>
            <a:ext cx="3048000" cy="118200"/>
          </a:xfrm>
          <a:prstGeom prst="rect">
            <a:avLst/>
          </a:prstGeom>
          <a:solidFill>
            <a:srgbClr val="EF396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6" name="Shape 212"/>
          <p:cNvSpPr/>
          <p:nvPr userDrawn="1"/>
        </p:nvSpPr>
        <p:spPr>
          <a:xfrm>
            <a:off x="3048000" y="0"/>
            <a:ext cx="3048000" cy="118200"/>
          </a:xfrm>
          <a:prstGeom prst="rect">
            <a:avLst/>
          </a:prstGeom>
          <a:solidFill>
            <a:srgbClr val="ED0096"/>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
        <p:nvSpPr>
          <p:cNvPr id="7" name="Shape 213"/>
          <p:cNvSpPr/>
          <p:nvPr userDrawn="1"/>
        </p:nvSpPr>
        <p:spPr>
          <a:xfrm>
            <a:off x="0" y="0"/>
            <a:ext cx="3048000" cy="118200"/>
          </a:xfrm>
          <a:prstGeom prst="rect">
            <a:avLst/>
          </a:prstGeom>
          <a:solidFill>
            <a:srgbClr val="3A9ED9"/>
          </a:solidFill>
          <a:ln>
            <a:noFill/>
          </a:ln>
        </p:spPr>
        <p:txBody>
          <a:bodyPr lIns="91425" tIns="91425" rIns="91425" bIns="91425" anchor="ctr" anchorCtr="0">
            <a:noAutofit/>
          </a:bodyPr>
          <a:lstStyle/>
          <a:p>
            <a:pPr marL="0" marR="0" lvl="0"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pic>
        <p:nvPicPr>
          <p:cNvPr id="8" name="Shape 214" descr="metis-mini.png"/>
          <p:cNvPicPr preferRelativeResize="0"/>
          <p:nvPr userDrawn="1"/>
        </p:nvPicPr>
        <p:blipFill rotWithShape="1">
          <a:blip r:embed="rId2">
            <a:alphaModFix amt="25000"/>
          </a:blip>
          <a:srcRect/>
          <a:stretch/>
        </p:blipFill>
        <p:spPr>
          <a:xfrm>
            <a:off x="8512774" y="4453700"/>
            <a:ext cx="326424" cy="384999"/>
          </a:xfrm>
          <a:prstGeom prst="rect">
            <a:avLst/>
          </a:prstGeom>
          <a:noFill/>
          <a:ln>
            <a:noFill/>
          </a:ln>
        </p:spPr>
      </p:pic>
      <p:sp>
        <p:nvSpPr>
          <p:cNvPr id="9" name="Shape 215"/>
          <p:cNvSpPr txBox="1">
            <a:spLocks/>
          </p:cNvSpPr>
          <p:nvPr userDrawn="1"/>
        </p:nvSpPr>
        <p:spPr>
          <a:xfrm>
            <a:off x="1038875" y="874125"/>
            <a:ext cx="6703800" cy="842700"/>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3600" smtClean="0">
                <a:solidFill>
                  <a:srgbClr val="3A9ED9"/>
                </a:solidFill>
                <a:latin typeface="Source Code Pro"/>
                <a:ea typeface="Source Code Pro"/>
                <a:cs typeface="Source Code Pro"/>
                <a:sym typeface="Source Code Pro"/>
              </a:rPr>
              <a:t>/ headline goes here /</a:t>
            </a:r>
            <a:endParaRPr lang="en" sz="3600">
              <a:solidFill>
                <a:srgbClr val="3A9ED9"/>
              </a:solidFill>
              <a:latin typeface="Source Code Pro"/>
              <a:ea typeface="Source Code Pro"/>
              <a:cs typeface="Source Code Pro"/>
              <a:sym typeface="Source Code Pro"/>
            </a:endParaRPr>
          </a:p>
        </p:txBody>
      </p:sp>
      <p:sp>
        <p:nvSpPr>
          <p:cNvPr id="10" name="Shape 216"/>
          <p:cNvSpPr txBox="1">
            <a:spLocks/>
          </p:cNvSpPr>
          <p:nvPr userDrawn="1"/>
        </p:nvSpPr>
        <p:spPr>
          <a:xfrm>
            <a:off x="1038875" y="1951700"/>
            <a:ext cx="6703800" cy="2281799"/>
          </a:xfrm>
          <a:prstGeom prst="rect">
            <a:avLst/>
          </a:prstGeom>
          <a:noFill/>
          <a:ln>
            <a:noFill/>
          </a:ln>
        </p:spPr>
        <p:txBody>
          <a:bodyPr lIns="91425" tIns="91425" rIns="91425" bIns="91425"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Font typeface="Arial"/>
              <a:buNone/>
              <a:defRPr sz="2800" b="0" i="0" u="none" strike="noStrike" cap="none">
                <a:solidFill>
                  <a:schemeClr val="dk1"/>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pPr>
              <a:buSzPct val="25000"/>
              <a:buFont typeface="Source Code Pro"/>
              <a:buNone/>
            </a:pPr>
            <a:r>
              <a:rPr lang="en" sz="2400" smtClean="0">
                <a:solidFill>
                  <a:schemeClr val="lt1"/>
                </a:solidFill>
                <a:latin typeface="Source Code Pro"/>
                <a:ea typeface="Source Code Pro"/>
                <a:cs typeface="Source Code Pro"/>
                <a:sym typeface="Source Code Pro"/>
              </a:rPr>
              <a:t>Curabitur blandit tempus porttitor. Donec id elit non mi porta gravida at eget metus ipsum lorem. Cras mattis consectetur purus sit amet fermentum lorem ipsum dolor.</a:t>
            </a:r>
            <a:endParaRPr lang="en" sz="2400">
              <a:solidFill>
                <a:schemeClr val="lt1"/>
              </a:solidFill>
              <a:latin typeface="Source Code Pro"/>
              <a:ea typeface="Source Code Pro"/>
              <a:cs typeface="Source Code Pro"/>
              <a:sym typeface="Source Code Pro"/>
            </a:endParaRPr>
          </a:p>
        </p:txBody>
      </p:sp>
    </p:spTree>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descr="StackedISWhite.png"/>
          <p:cNvPicPr>
            <a:picLocks noChangeAspect="1"/>
          </p:cNvPicPr>
          <p:nvPr/>
        </p:nvPicPr>
        <p:blipFill>
          <a:blip r:embed="rId3"/>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2_Title Slide with Photo">
    <p:bg>
      <p:bgPr>
        <a:gradFill>
          <a:gsLst>
            <a:gs pos="0">
              <a:schemeClr val="tx2"/>
            </a:gs>
            <a:gs pos="50000">
              <a:schemeClr val="accent2"/>
            </a:gs>
          </a:gsLst>
          <a:lin ang="18900000" scaled="1"/>
        </a:gradFill>
        <a:effectLst/>
      </p:bgPr>
    </p:bg>
    <p:spTree>
      <p:nvGrpSpPr>
        <p:cNvPr id="1" name=""/>
        <p:cNvGrpSpPr/>
        <p:nvPr/>
      </p:nvGrpSpPr>
      <p:grpSpPr>
        <a:xfrm>
          <a:off x="0" y="0"/>
          <a:ext cx="0" cy="0"/>
          <a:chOff x="0" y="0"/>
          <a:chExt cx="0" cy="0"/>
        </a:xfrm>
      </p:grpSpPr>
      <p:sp>
        <p:nvSpPr>
          <p:cNvPr id="10" name="Rectangle 9"/>
          <p:cNvSpPr/>
          <p:nvPr/>
        </p:nvSpPr>
        <p:spPr>
          <a:xfrm>
            <a:off x="0" y="0"/>
            <a:ext cx="9144000" cy="4768850"/>
          </a:xfrm>
          <a:prstGeom prst="rect">
            <a:avLst/>
          </a:prstGeom>
          <a:solidFill>
            <a:srgbClr val="0071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071C5"/>
              </a:solidFill>
            </a:endParaRPr>
          </a:p>
        </p:txBody>
      </p:sp>
      <p:pic>
        <p:nvPicPr>
          <p:cNvPr id="5" name="Picture 4" descr="StackedISWhite.png"/>
          <p:cNvPicPr>
            <a:picLocks noChangeAspect="1"/>
          </p:cNvPicPr>
          <p:nvPr/>
        </p:nvPicPr>
        <p:blipFill>
          <a:blip r:embed="rId2"/>
          <a:stretch>
            <a:fillRect/>
          </a:stretch>
        </p:blipFill>
        <p:spPr>
          <a:xfrm>
            <a:off x="3488733" y="1881408"/>
            <a:ext cx="2085275" cy="1960738"/>
          </a:xfrm>
          <a:prstGeom prst="rect">
            <a:avLst/>
          </a:prstGeom>
        </p:spPr>
      </p:pic>
    </p:spTree>
    <p:extLst/>
  </p:cSld>
  <p:clrMapOvr>
    <a:masterClrMapping/>
  </p:clrMapOvr>
  <p:timing>
    <p:tnLst>
      <p:par>
        <p:cTn id="1" dur="indefinite" restart="never" nodeType="tmRoot"/>
      </p:par>
    </p:tnLst>
  </p:timing>
  <p:hf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a:xfrm>
            <a:off x="628650" y="4767263"/>
            <a:ext cx="2057400" cy="273844"/>
          </a:xfrm>
          <a:prstGeom prst="rect">
            <a:avLst/>
          </a:prstGeom>
        </p:spPr>
        <p:txBody>
          <a:bodyPr/>
          <a:lstStyle/>
          <a:p>
            <a:fld id="{5695EFAE-97D9-482A-8603-BDA4FE5A83E6}" type="datetimeFigureOut">
              <a:rPr lang="en-US" smtClean="0"/>
              <a:t>8/25/2017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15E00A-457A-4DC3-AA03-374ABBD35A5E}" type="slidenum">
              <a:rPr lang="en-US" smtClean="0"/>
              <a:t>‹#›</a:t>
            </a:fld>
            <a:endParaRPr lang="en-US"/>
          </a:p>
        </p:txBody>
      </p:sp>
    </p:spTree>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191146038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 Type="http://schemas.openxmlformats.org/officeDocument/2006/relationships/slideLayout" Target="../slideLayouts/slideLayout29.xml"/><Relationship Id="rId21" Type="http://schemas.openxmlformats.org/officeDocument/2006/relationships/image" Target="../media/image4.png"/><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theme" Target="../theme/theme3.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562381577"/>
      </p:ext>
    </p:extLst>
  </p:cSld>
  <p:clrMap bg1="lt1" tx1="dk1" bg2="dk2" tx2="lt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706" r:id="rId15"/>
  </p:sldLayoutIdLst>
  <p:timing>
    <p:tnLst>
      <p:par>
        <p:cTn id="1" dur="indefinite" restart="never" nodeType="tmRoot"/>
      </p:par>
    </p:tnLst>
  </p:timing>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BDF01D69-A501-704B-80CB-1B3152437FD0}" type="slidenum">
              <a:rPr lang="en-US" smtClean="0"/>
              <a:t>‹#›</a:t>
            </a:fld>
            <a:endParaRPr lang="en-US"/>
          </a:p>
        </p:txBody>
      </p:sp>
    </p:spTree>
    <p:extLst>
      <p:ext uri="{BB962C8B-B14F-4D97-AF65-F5344CB8AC3E}">
        <p14:creationId xmlns:p14="http://schemas.microsoft.com/office/powerpoint/2010/main" val="135114168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4766102"/>
            <a:ext cx="9144000" cy="384048"/>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455613" y="310130"/>
            <a:ext cx="8229600" cy="868680"/>
          </a:xfrm>
          <a:prstGeom prst="rect">
            <a:avLst/>
          </a:prstGeom>
        </p:spPr>
        <p:txBody>
          <a:bodyPr vert="horz" lIns="0" tIns="0" rIns="0" bIns="0" rtlCol="0" anchor="t" anchorCtr="0">
            <a:noAutofit/>
          </a:bodyPr>
          <a:lstStyle/>
          <a:p>
            <a:r>
              <a:rPr lang="en-US" dirty="0" smtClean="0"/>
              <a:t>28pt Intel Clear Headline</a:t>
            </a:r>
            <a:endParaRPr lang="en-US" dirty="0"/>
          </a:p>
        </p:txBody>
      </p:sp>
      <p:sp>
        <p:nvSpPr>
          <p:cNvPr id="3" name="Text Placeholder 2"/>
          <p:cNvSpPr>
            <a:spLocks noGrp="1"/>
          </p:cNvSpPr>
          <p:nvPr>
            <p:ph type="body" idx="1"/>
          </p:nvPr>
        </p:nvSpPr>
        <p:spPr>
          <a:xfrm>
            <a:off x="455613" y="1203325"/>
            <a:ext cx="8228012" cy="3425825"/>
          </a:xfrm>
          <a:prstGeom prst="rect">
            <a:avLst/>
          </a:prstGeom>
        </p:spPr>
        <p:txBody>
          <a:bodyPr vert="horz" lIns="0" tIns="0" rIns="0" bIns="0" rtlCol="0">
            <a:noAutofit/>
          </a:bodyPr>
          <a:lstStyle/>
          <a:p>
            <a:pPr lvl="0"/>
            <a:r>
              <a:rPr lang="en-US" dirty="0" smtClean="0"/>
              <a:t>18pt Intel Clear body text</a:t>
            </a:r>
          </a:p>
          <a:p>
            <a:pPr lvl="1"/>
            <a:r>
              <a:rPr lang="en-US" dirty="0" smtClean="0"/>
              <a:t>16pt Intel Clear bullet one</a:t>
            </a:r>
          </a:p>
          <a:p>
            <a:pPr lvl="2"/>
            <a:r>
              <a:rPr lang="en-US" dirty="0" smtClean="0"/>
              <a:t>16pt Intel Clear sub-bullet</a:t>
            </a:r>
          </a:p>
          <a:p>
            <a:pPr lvl="3"/>
            <a:r>
              <a:rPr lang="en-US" dirty="0" err="1" smtClean="0"/>
              <a:t>14pt</a:t>
            </a:r>
            <a:r>
              <a:rPr lang="en-US" dirty="0" smtClean="0"/>
              <a:t> Intel Clear fourth level</a:t>
            </a:r>
          </a:p>
          <a:p>
            <a:pPr lvl="4"/>
            <a:r>
              <a:rPr lang="en-US" dirty="0" err="1" smtClean="0"/>
              <a:t>14pt</a:t>
            </a:r>
            <a:r>
              <a:rPr lang="en-US" dirty="0" smtClean="0"/>
              <a:t> Intel Clear fifth level</a:t>
            </a:r>
            <a:endParaRPr lang="en-US" dirty="0"/>
          </a:p>
        </p:txBody>
      </p:sp>
      <p:sp>
        <p:nvSpPr>
          <p:cNvPr id="5" name="Footer Placeholder 4"/>
          <p:cNvSpPr>
            <a:spLocks noGrp="1"/>
          </p:cNvSpPr>
          <p:nvPr>
            <p:ph type="ftr" sz="quarter" idx="3"/>
          </p:nvPr>
        </p:nvSpPr>
        <p:spPr>
          <a:xfrm>
            <a:off x="3124200" y="4876231"/>
            <a:ext cx="2895600" cy="250826"/>
          </a:xfrm>
          <a:prstGeom prst="rect">
            <a:avLst/>
          </a:prstGeom>
        </p:spPr>
        <p:txBody>
          <a:bodyPr vert="horz" lIns="91440" tIns="45720" rIns="91440" bIns="45720" rtlCol="0" anchor="ctr"/>
          <a:lstStyle>
            <a:lvl1pPr algn="ctr">
              <a:defRPr sz="800">
                <a:solidFill>
                  <a:schemeClr val="bg1"/>
                </a:solidFill>
                <a:latin typeface="+mn-lt"/>
              </a:defRPr>
            </a:lvl1pPr>
          </a:lstStyle>
          <a:p>
            <a:endParaRPr lang="en-US" dirty="0"/>
          </a:p>
        </p:txBody>
      </p:sp>
      <p:sp>
        <p:nvSpPr>
          <p:cNvPr id="6" name="Slide Number Placeholder 5"/>
          <p:cNvSpPr>
            <a:spLocks noGrp="1"/>
          </p:cNvSpPr>
          <p:nvPr>
            <p:ph type="sldNum" sz="quarter" idx="4"/>
          </p:nvPr>
        </p:nvSpPr>
        <p:spPr>
          <a:xfrm>
            <a:off x="8743950" y="4813471"/>
            <a:ext cx="262001" cy="247085"/>
          </a:xfrm>
          <a:prstGeom prst="rect">
            <a:avLst/>
          </a:prstGeom>
        </p:spPr>
        <p:txBody>
          <a:bodyPr vert="horz" lIns="0" tIns="0" rIns="0" bIns="0" rtlCol="0" anchor="ctr"/>
          <a:lstStyle>
            <a:lvl1pPr algn="r">
              <a:defRPr sz="800">
                <a:solidFill>
                  <a:schemeClr val="bg1"/>
                </a:solidFill>
                <a:latin typeface="+mn-lt"/>
                <a:cs typeface="Intel Clear Light" panose="020B0404020203020204" pitchFamily="34" charset="0"/>
              </a:defRPr>
            </a:lvl1pPr>
          </a:lstStyle>
          <a:p>
            <a:fld id="{EE2556C5-CE8C-6547-B838-EA80C61A4AF7}" type="slidenum">
              <a:rPr lang="en-US" smtClean="0"/>
              <a:pPr/>
              <a:t>‹#›</a:t>
            </a:fld>
            <a:endParaRPr lang="en-US" dirty="0"/>
          </a:p>
        </p:txBody>
      </p:sp>
      <p:pic>
        <p:nvPicPr>
          <p:cNvPr id="16" name="Picture 15" descr="StackedISWhite.png"/>
          <p:cNvPicPr>
            <a:picLocks noChangeAspect="1"/>
          </p:cNvPicPr>
          <p:nvPr/>
        </p:nvPicPr>
        <p:blipFill>
          <a:blip r:embed="rId21"/>
          <a:stretch>
            <a:fillRect/>
          </a:stretch>
        </p:blipFill>
        <p:spPr>
          <a:xfrm>
            <a:off x="8294375" y="4805888"/>
            <a:ext cx="314741" cy="295944"/>
          </a:xfrm>
          <a:prstGeom prst="rect">
            <a:avLst/>
          </a:prstGeom>
        </p:spPr>
      </p:pic>
      <p:cxnSp>
        <p:nvCxnSpPr>
          <p:cNvPr id="37" name="Straight Connector 36"/>
          <p:cNvCxnSpPr/>
          <p:nvPr/>
        </p:nvCxnSpPr>
        <p:spPr>
          <a:xfrm rot="5400000">
            <a:off x="8588375" y="4956176"/>
            <a:ext cx="285753" cy="1"/>
          </a:xfrm>
          <a:prstGeom prst="line">
            <a:avLst/>
          </a:prstGeom>
          <a:ln w="9525" cap="flat" cmpd="sng" algn="ctr">
            <a:solidFill>
              <a:schemeClr val="bg1"/>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6168564"/>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Lst>
  <p:timing>
    <p:tnLst>
      <p:par>
        <p:cTn id="1" dur="indefinite" restart="never" nodeType="tmRoot"/>
      </p:par>
    </p:tnLst>
  </p:timing>
  <p:hf hdr="0" ftr="0" dt="0"/>
  <p:txStyles>
    <p:titleStyle>
      <a:lvl1pPr algn="l" defTabSz="457200" rtl="0" eaLnBrk="1" latinLnBrk="0" hangingPunct="1">
        <a:lnSpc>
          <a:spcPct val="100000"/>
        </a:lnSpc>
        <a:spcBef>
          <a:spcPct val="0"/>
        </a:spcBef>
        <a:buNone/>
        <a:defRPr sz="2800" b="0" i="0" kern="1200" spc="0" baseline="0">
          <a:solidFill>
            <a:srgbClr val="003C71"/>
          </a:solidFill>
          <a:latin typeface="Intel Clear"/>
          <a:ea typeface="Intel Clear Light" panose="020B0404020203020204" pitchFamily="34" charset="0"/>
          <a:cs typeface="Intel Clear"/>
        </a:defRPr>
      </a:lvl1pPr>
    </p:titleStyle>
    <p:bodyStyle>
      <a:lvl1pPr marL="0" indent="0" algn="l" defTabSz="457200" rtl="0" eaLnBrk="1" latinLnBrk="0" hangingPunct="1">
        <a:spcBef>
          <a:spcPts val="1200"/>
        </a:spcBef>
        <a:spcAft>
          <a:spcPts val="0"/>
        </a:spcAft>
        <a:buFont typeface="Wingdings" panose="05000000000000000000" pitchFamily="2" charset="2"/>
        <a:buNone/>
        <a:defRPr sz="18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600" kern="1200" baseline="0">
          <a:solidFill>
            <a:srgbClr val="003C71"/>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Intel Clear" panose="020B0604020203020204" pitchFamily="34" charset="0"/>
        <a:buChar char="–"/>
        <a:defRPr sz="1600" kern="1200">
          <a:solidFill>
            <a:srgbClr val="003C71"/>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400" kern="1200">
          <a:solidFill>
            <a:srgbClr val="003C71"/>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rgbClr val="003C71"/>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3" Type="http://schemas.openxmlformats.org/officeDocument/2006/relationships/hyperlink" Target="https://software.intel.com/en-us/articles/intel-sample-source-code-license-agreement" TargetMode="External"/><Relationship Id="rId2" Type="http://schemas.openxmlformats.org/officeDocument/2006/relationships/hyperlink" Target="http://www.intel.com/" TargetMode="Externa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5.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45.xml"/><Relationship Id="rId4" Type="http://schemas.openxmlformats.org/officeDocument/2006/relationships/image" Target="../media/image60.png"/></Relationships>
</file>

<file path=ppt/slides/_rels/slide17.xml.rels><?xml version="1.0" encoding="UTF-8" standalone="yes"?>
<Relationships xmlns="http://schemas.openxmlformats.org/package/2006/relationships"><Relationship Id="rId3" Type="http://schemas.openxmlformats.org/officeDocument/2006/relationships/hyperlink" Target="https://nlp.stanford.edu/projects/glove/" TargetMode="External"/><Relationship Id="rId2" Type="http://schemas.openxmlformats.org/officeDocument/2006/relationships/notesSlide" Target="../notesSlides/notesSlide16.xml"/><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Shape 53"/>
        <p:cNvGrpSpPr/>
        <p:nvPr/>
      </p:nvGrpSpPr>
      <p:grpSpPr>
        <a:xfrm>
          <a:off x="0" y="0"/>
          <a:ext cx="0" cy="0"/>
          <a:chOff x="0" y="0"/>
          <a:chExt cx="0" cy="0"/>
        </a:xfrm>
      </p:grpSpPr>
      <p:sp>
        <p:nvSpPr>
          <p:cNvPr id="54" name="Shape 54"/>
          <p:cNvSpPr txBox="1">
            <a:spLocks noGrp="1"/>
          </p:cNvSpPr>
          <p:nvPr>
            <p:ph type="ctrTitle"/>
          </p:nvPr>
        </p:nvSpPr>
        <p:spPr>
          <a:prstGeom prst="rect">
            <a:avLst/>
          </a:prstGeom>
          <a:noFill/>
          <a:ln>
            <a:noFill/>
          </a:ln>
        </p:spPr>
        <p:txBody>
          <a:bodyPr lIns="91425" tIns="91425" rIns="91425" bIns="91425" anchor="b" anchorCtr="0">
            <a:noAutofit/>
          </a:bodyPr>
          <a:lstStyle/>
          <a:p>
            <a:pPr marL="0" marR="0" lvl="0" indent="0" algn="l" rtl="0">
              <a:lnSpc>
                <a:spcPct val="100000"/>
              </a:lnSpc>
              <a:spcBef>
                <a:spcPts val="0"/>
              </a:spcBef>
              <a:spcAft>
                <a:spcPts val="0"/>
              </a:spcAft>
              <a:buClr>
                <a:schemeClr val="dk1"/>
              </a:buClr>
              <a:buSzPct val="25000"/>
              <a:buFont typeface="Source Code Pro"/>
              <a:buNone/>
            </a:pPr>
            <a:r>
              <a:rPr lang="en-US" sz="4000" b="0" i="0" u="none" strike="noStrike" cap="none" dirty="0" smtClean="0">
                <a:solidFill>
                  <a:srgbClr val="FFFFFF"/>
                </a:solidFill>
                <a:latin typeface="Avenir Book" charset="0"/>
                <a:ea typeface="Avenir Book" charset="0"/>
                <a:cs typeface="Avenir Book" charset="0"/>
                <a:sym typeface="Source Code Pro"/>
              </a:rPr>
              <a:t>Text / Word Vectors</a:t>
            </a:r>
            <a:endParaRPr lang="en" sz="4000" b="0" i="0" u="none" strike="noStrike" cap="none" dirty="0">
              <a:solidFill>
                <a:srgbClr val="FFFFFF"/>
              </a:solidFill>
              <a:latin typeface="Avenir Book" charset="0"/>
              <a:ea typeface="Avenir Book" charset="0"/>
              <a:cs typeface="Avenir Book" charset="0"/>
              <a:sym typeface="Source Code Pro"/>
            </a:endParaRPr>
          </a:p>
        </p:txBody>
      </p:sp>
      <p:cxnSp>
        <p:nvCxnSpPr>
          <p:cNvPr id="56" name="Shape 56"/>
          <p:cNvCxnSpPr/>
          <p:nvPr/>
        </p:nvCxnSpPr>
        <p:spPr>
          <a:xfrm>
            <a:off x="609600" y="2679200"/>
            <a:ext cx="6264600" cy="0"/>
          </a:xfrm>
          <a:prstGeom prst="straightConnector1">
            <a:avLst/>
          </a:prstGeom>
          <a:noFill/>
          <a:ln w="19050" cap="flat" cmpd="sng">
            <a:solidFill>
              <a:srgbClr val="3A9ED9"/>
            </a:solidFill>
            <a:prstDash val="solid"/>
            <a:round/>
            <a:headEnd type="none" w="med" len="med"/>
            <a:tailEnd type="none" w="med" len="med"/>
          </a:ln>
        </p:spPr>
      </p:cxnSp>
    </p:spTree>
    <p:extLst>
      <p:ext uri="{BB962C8B-B14F-4D97-AF65-F5344CB8AC3E}">
        <p14:creationId xmlns:p14="http://schemas.microsoft.com/office/powerpoint/2010/main" val="145350233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smtClean="0"/>
              <a:t>Legal Notices and Disclaimers</a:t>
            </a:r>
            <a:endParaRPr lang="en-US" dirty="0"/>
          </a:p>
        </p:txBody>
      </p:sp>
      <p:sp>
        <p:nvSpPr>
          <p:cNvPr id="9" name="Content Placeholder 8"/>
          <p:cNvSpPr>
            <a:spLocks noGrp="1"/>
          </p:cNvSpPr>
          <p:nvPr>
            <p:ph sz="quarter" idx="13"/>
          </p:nvPr>
        </p:nvSpPr>
        <p:spPr/>
        <p:txBody>
          <a:bodyPr/>
          <a:lstStyle/>
          <a:p>
            <a:r>
              <a:rPr lang="en-US" sz="1500" dirty="0" smtClean="0"/>
              <a:t>This presentation is for informational purposes only. INTEL MAKES NO WARRANTIES, EXPRESS OR IMPLIED, IN THIS SUMMARY. </a:t>
            </a:r>
          </a:p>
          <a:p>
            <a:r>
              <a:rPr lang="en-US" sz="1500" dirty="0" smtClean="0"/>
              <a:t>Intel technologies’ features and benefits depend on system configuration and may require enabled hardware, software or service activation. Performance varies depending on system configuration. Check with your system manufacturer or retailer or learn more at </a:t>
            </a:r>
            <a:r>
              <a:rPr lang="en-US" sz="1500" dirty="0" smtClean="0">
                <a:hlinkClick r:id="rId2"/>
              </a:rPr>
              <a:t>intel.com</a:t>
            </a:r>
            <a:r>
              <a:rPr lang="en-US" sz="1500" dirty="0" smtClean="0"/>
              <a:t>. </a:t>
            </a:r>
          </a:p>
          <a:p>
            <a:r>
              <a:rPr lang="en-US" sz="1500" dirty="0" smtClean="0"/>
              <a:t>This sample source code is released under the </a:t>
            </a:r>
            <a:r>
              <a:rPr lang="en-US" sz="1500" dirty="0" smtClean="0">
                <a:hlinkClick r:id="rId3"/>
              </a:rPr>
              <a:t>Intel Sample Source Code License Agreement</a:t>
            </a:r>
            <a:r>
              <a:rPr lang="en-US" sz="1500" dirty="0" smtClean="0"/>
              <a:t>. </a:t>
            </a:r>
          </a:p>
          <a:p>
            <a:r>
              <a:rPr lang="en-US" sz="1500" dirty="0" smtClean="0"/>
              <a:t>Intel and the Intel logo are trademarks of Intel Corporation in the U.S. and/or other countries. </a:t>
            </a:r>
          </a:p>
          <a:p>
            <a:r>
              <a:rPr lang="en-US" sz="1500" dirty="0" smtClean="0"/>
              <a:t>*Other names and brands may be claimed as the property of others. </a:t>
            </a:r>
          </a:p>
          <a:p>
            <a:r>
              <a:rPr lang="en-US" sz="1500" dirty="0" smtClean="0"/>
              <a:t>Copyright © 2017, Intel Corporation. All rights reserved. </a:t>
            </a:r>
            <a:endParaRPr lang="en-US" sz="1500" dirty="0"/>
          </a:p>
        </p:txBody>
      </p:sp>
    </p:spTree>
    <p:extLst>
      <p:ext uri="{BB962C8B-B14F-4D97-AF65-F5344CB8AC3E}">
        <p14:creationId xmlns:p14="http://schemas.microsoft.com/office/powerpoint/2010/main" val="986242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Motivation</a:t>
            </a:r>
            <a:endParaRPr lang="en-US" dirty="0">
              <a:latin typeface="Avenir Book" charset="0"/>
              <a:ea typeface="Avenir Book" charset="0"/>
              <a:cs typeface="Avenir Book" charset="0"/>
            </a:endParaRPr>
          </a:p>
        </p:txBody>
      </p:sp>
      <p:sp>
        <p:nvSpPr>
          <p:cNvPr id="75" name="Rectangle 74"/>
          <p:cNvSpPr/>
          <p:nvPr/>
        </p:nvSpPr>
        <p:spPr>
          <a:xfrm>
            <a:off x="398352" y="1227244"/>
            <a:ext cx="8192764" cy="3139321"/>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Have shown how to use Neural Networks with structured numerical data.</a:t>
            </a:r>
          </a:p>
          <a:p>
            <a:pPr marL="457200" lvl="0" indent="-457200">
              <a:buFont typeface="Arial" charset="0"/>
              <a:buChar char="•"/>
            </a:pPr>
            <a:r>
              <a:rPr lang="en-US" sz="2200" dirty="0" smtClean="0">
                <a:latin typeface="Avenir Book" charset="0"/>
                <a:ea typeface="Avenir Book" charset="0"/>
                <a:cs typeface="Avenir Book" charset="0"/>
              </a:rPr>
              <a:t>Images can be </a:t>
            </a:r>
            <a:r>
              <a:rPr lang="en-US" sz="2200" dirty="0" err="1" smtClean="0">
                <a:latin typeface="Avenir Book" charset="0"/>
                <a:ea typeface="Avenir Book" charset="0"/>
                <a:cs typeface="Avenir Book" charset="0"/>
              </a:rPr>
              <a:t>upsampled</a:t>
            </a:r>
            <a:r>
              <a:rPr lang="en-US" sz="2200" dirty="0" smtClean="0">
                <a:latin typeface="Avenir Book" charset="0"/>
                <a:ea typeface="Avenir Book" charset="0"/>
                <a:cs typeface="Avenir Book" charset="0"/>
              </a:rPr>
              <a:t> / </a:t>
            </a:r>
            <a:r>
              <a:rPr lang="en-US" sz="2200" dirty="0" err="1" smtClean="0">
                <a:latin typeface="Avenir Book" charset="0"/>
                <a:ea typeface="Avenir Book" charset="0"/>
                <a:cs typeface="Avenir Book" charset="0"/>
              </a:rPr>
              <a:t>downsampled</a:t>
            </a:r>
            <a:r>
              <a:rPr lang="en-US" sz="2200" dirty="0" smtClean="0">
                <a:latin typeface="Avenir Book" charset="0"/>
                <a:ea typeface="Avenir Book" charset="0"/>
                <a:cs typeface="Avenir Book" charset="0"/>
              </a:rPr>
              <a:t> to be a certain size.</a:t>
            </a:r>
          </a:p>
          <a:p>
            <a:pPr marL="457200" lvl="0" indent="-457200">
              <a:buFont typeface="Arial" charset="0"/>
              <a:buChar char="•"/>
            </a:pPr>
            <a:r>
              <a:rPr lang="en-US" sz="2200" dirty="0" smtClean="0">
                <a:latin typeface="Avenir Book" charset="0"/>
                <a:ea typeface="Avenir Book" charset="0"/>
                <a:cs typeface="Avenir Book" charset="0"/>
              </a:rPr>
              <a:t>Image values are numbers (greyscale, RGB)</a:t>
            </a:r>
          </a:p>
          <a:p>
            <a:pPr marL="457200" lvl="0" indent="-457200">
              <a:buFont typeface="Arial" charset="0"/>
              <a:buChar char="•"/>
            </a:pPr>
            <a:r>
              <a:rPr lang="en-US" sz="2200" dirty="0" smtClean="0">
                <a:latin typeface="Avenir Book" charset="0"/>
                <a:ea typeface="Avenir Book" charset="0"/>
                <a:cs typeface="Avenir Book" charset="0"/>
              </a:rPr>
              <a:t>But how do we work with text?</a:t>
            </a:r>
          </a:p>
          <a:p>
            <a:pPr marL="457200" indent="-457200">
              <a:buFont typeface="Arial" charset="0"/>
              <a:buChar char="•"/>
            </a:pPr>
            <a:r>
              <a:rPr lang="en-US" sz="2200" dirty="0">
                <a:latin typeface="Avenir Book" charset="0"/>
                <a:ea typeface="Avenir Book" charset="0"/>
                <a:cs typeface="Avenir Book" charset="0"/>
              </a:rPr>
              <a:t>Issue </a:t>
            </a:r>
            <a:r>
              <a:rPr lang="en-US" sz="2200" dirty="0" smtClean="0">
                <a:latin typeface="Avenir Book" charset="0"/>
                <a:ea typeface="Avenir Book" charset="0"/>
                <a:cs typeface="Avenir Book" charset="0"/>
              </a:rPr>
              <a:t>1: </a:t>
            </a:r>
            <a:r>
              <a:rPr lang="en-US" sz="2200" dirty="0">
                <a:latin typeface="Avenir Book" charset="0"/>
                <a:ea typeface="Avenir Book" charset="0"/>
                <a:cs typeface="Avenir Book" charset="0"/>
              </a:rPr>
              <a:t>How to deal with pieces of text (sequences of words that vary in length)?</a:t>
            </a:r>
          </a:p>
          <a:p>
            <a:pPr marL="457200" lvl="0" indent="-457200">
              <a:buFont typeface="Arial" charset="0"/>
              <a:buChar char="•"/>
            </a:pPr>
            <a:r>
              <a:rPr lang="en-US" sz="2200" dirty="0" smtClean="0">
                <a:latin typeface="Avenir Book" charset="0"/>
                <a:ea typeface="Avenir Book" charset="0"/>
                <a:cs typeface="Avenir Book" charset="0"/>
              </a:rPr>
              <a:t>Issue 2: How to convert words into something numerical?</a:t>
            </a:r>
          </a:p>
        </p:txBody>
      </p:sp>
    </p:spTree>
    <p:extLst>
      <p:ext uri="{BB962C8B-B14F-4D97-AF65-F5344CB8AC3E}">
        <p14:creationId xmlns:p14="http://schemas.microsoft.com/office/powerpoint/2010/main" val="5334032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Issue: Variable length sequences of words</a:t>
            </a:r>
            <a:endParaRPr lang="en-US" dirty="0">
              <a:latin typeface="Avenir Book" charset="0"/>
              <a:ea typeface="Avenir Book" charset="0"/>
              <a:cs typeface="Avenir Book" charset="0"/>
            </a:endParaRPr>
          </a:p>
        </p:txBody>
      </p:sp>
      <p:sp>
        <p:nvSpPr>
          <p:cNvPr id="75" name="Rectangle 74"/>
          <p:cNvSpPr/>
          <p:nvPr/>
        </p:nvSpPr>
        <p:spPr>
          <a:xfrm>
            <a:off x="398352" y="1227244"/>
            <a:ext cx="8192764" cy="1446550"/>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With images, we forced them into a specific input dimension</a:t>
            </a:r>
          </a:p>
          <a:p>
            <a:pPr marL="457200" lvl="0" indent="-457200">
              <a:buFont typeface="Arial" charset="0"/>
              <a:buChar char="•"/>
            </a:pPr>
            <a:r>
              <a:rPr lang="en-US" sz="2200" dirty="0" smtClean="0">
                <a:latin typeface="Avenir Book" charset="0"/>
                <a:ea typeface="Avenir Book" charset="0"/>
                <a:cs typeface="Avenir Book" charset="0"/>
              </a:rPr>
              <a:t>Not obvious how to do this with text</a:t>
            </a:r>
          </a:p>
          <a:p>
            <a:pPr marL="457200" lvl="0" indent="-457200">
              <a:buFont typeface="Arial" charset="0"/>
              <a:buChar char="•"/>
            </a:pPr>
            <a:r>
              <a:rPr lang="en-US" sz="2200" dirty="0" smtClean="0">
                <a:latin typeface="Avenir Book" charset="0"/>
                <a:ea typeface="Avenir Book" charset="0"/>
                <a:cs typeface="Avenir Book" charset="0"/>
              </a:rPr>
              <a:t>We will use a new structure of network called a “Recurrent Neural Network” which will be discussed next lecture</a:t>
            </a:r>
          </a:p>
        </p:txBody>
      </p:sp>
    </p:spTree>
    <p:extLst>
      <p:ext uri="{BB962C8B-B14F-4D97-AF65-F5344CB8AC3E}">
        <p14:creationId xmlns:p14="http://schemas.microsoft.com/office/powerpoint/2010/main" val="19808063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mtClean="0">
                <a:latin typeface="Avenir Book" charset="0"/>
                <a:ea typeface="Avenir Book" charset="0"/>
                <a:cs typeface="Avenir Book" charset="0"/>
              </a:rPr>
              <a:t>Tokenization</a:t>
            </a:r>
            <a:endParaRPr lang="en-US" dirty="0">
              <a:latin typeface="Avenir Book" charset="0"/>
              <a:ea typeface="Avenir Book" charset="0"/>
              <a:cs typeface="Avenir Book" charset="0"/>
            </a:endParaRPr>
          </a:p>
        </p:txBody>
      </p:sp>
      <p:sp>
        <p:nvSpPr>
          <p:cNvPr id="75" name="Rectangle 74"/>
          <p:cNvSpPr/>
          <p:nvPr/>
        </p:nvSpPr>
        <p:spPr>
          <a:xfrm>
            <a:off x="398352" y="1227244"/>
            <a:ext cx="8192764" cy="1785104"/>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Need to convert word into something numerical</a:t>
            </a:r>
          </a:p>
          <a:p>
            <a:pPr marL="457200" lvl="0" indent="-457200">
              <a:buFont typeface="Arial" charset="0"/>
              <a:buChar char="•"/>
            </a:pPr>
            <a:r>
              <a:rPr lang="en-US" sz="2200" dirty="0" smtClean="0">
                <a:latin typeface="Avenir Book" charset="0"/>
                <a:ea typeface="Avenir Book" charset="0"/>
                <a:cs typeface="Avenir Book" charset="0"/>
              </a:rPr>
              <a:t>First approach: Tokenization</a:t>
            </a:r>
          </a:p>
          <a:p>
            <a:pPr marL="457200" indent="-457200">
              <a:buFont typeface="Arial" charset="0"/>
              <a:buChar char="•"/>
            </a:pPr>
            <a:r>
              <a:rPr lang="en-US" sz="2200" dirty="0" smtClean="0">
                <a:latin typeface="Avenir Book" charset="0"/>
                <a:ea typeface="Avenir Book" charset="0"/>
                <a:cs typeface="Avenir Book" charset="0"/>
              </a:rPr>
              <a:t>Treat </a:t>
            </a:r>
            <a:r>
              <a:rPr lang="en-US" sz="2200" dirty="0">
                <a:latin typeface="Avenir Book" charset="0"/>
                <a:ea typeface="Avenir Book" charset="0"/>
                <a:cs typeface="Avenir Book" charset="0"/>
              </a:rPr>
              <a:t>as a categorical variable with huge number of categories (one hot encoding</a:t>
            </a:r>
            <a:r>
              <a:rPr lang="en-US" sz="2200" dirty="0" smtClean="0">
                <a:latin typeface="Avenir Book" charset="0"/>
                <a:ea typeface="Avenir Book" charset="0"/>
                <a:cs typeface="Avenir Book" charset="0"/>
              </a:rPr>
              <a:t>)</a:t>
            </a:r>
          </a:p>
          <a:p>
            <a:pPr marL="457200" indent="-457200">
              <a:buFont typeface="Arial" charset="0"/>
              <a:buChar char="•"/>
            </a:pPr>
            <a:r>
              <a:rPr lang="en-US" sz="2200" dirty="0" smtClean="0">
                <a:latin typeface="Avenir Book" charset="0"/>
                <a:ea typeface="Avenir Book" charset="0"/>
                <a:cs typeface="Avenir Book" charset="0"/>
              </a:rPr>
              <a:t>Deal with some details around casing, punctuation, etc.</a:t>
            </a:r>
            <a:endParaRPr lang="en-US" sz="2200" dirty="0">
              <a:latin typeface="Avenir Book" charset="0"/>
              <a:ea typeface="Avenir Book" charset="0"/>
              <a:cs typeface="Avenir Book" charset="0"/>
            </a:endParaRPr>
          </a:p>
        </p:txBody>
      </p:sp>
      <p:sp>
        <p:nvSpPr>
          <p:cNvPr id="4" name="object 2"/>
          <p:cNvSpPr txBox="1"/>
          <p:nvPr/>
        </p:nvSpPr>
        <p:spPr>
          <a:xfrm>
            <a:off x="398351" y="3143201"/>
            <a:ext cx="8437829" cy="430887"/>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pPr algn="ctr"/>
            <a:r>
              <a:rPr lang="en-US" sz="2800" smtClean="0">
                <a:latin typeface="Avenir Book" charset="0"/>
                <a:ea typeface="Avenir Book" charset="0"/>
                <a:cs typeface="Avenir Book" charset="0"/>
              </a:rPr>
              <a:t>“The </a:t>
            </a:r>
            <a:r>
              <a:rPr lang="en-US" sz="2800" dirty="0" smtClean="0">
                <a:latin typeface="Avenir Book" charset="0"/>
                <a:ea typeface="Avenir Book" charset="0"/>
                <a:cs typeface="Avenir Book" charset="0"/>
              </a:rPr>
              <a:t>cat in </a:t>
            </a:r>
            <a:r>
              <a:rPr lang="en-US" sz="2800" smtClean="0">
                <a:latin typeface="Avenir Book" charset="0"/>
                <a:ea typeface="Avenir Book" charset="0"/>
                <a:cs typeface="Avenir Book" charset="0"/>
              </a:rPr>
              <a:t>the hat.”</a:t>
            </a:r>
          </a:p>
        </p:txBody>
      </p:sp>
      <p:sp>
        <p:nvSpPr>
          <p:cNvPr id="5" name="object 2"/>
          <p:cNvSpPr txBox="1"/>
          <p:nvPr/>
        </p:nvSpPr>
        <p:spPr>
          <a:xfrm>
            <a:off x="398350" y="4042045"/>
            <a:ext cx="8437829" cy="369332"/>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pPr algn="ctr"/>
            <a:r>
              <a:rPr lang="en-US" sz="2400" dirty="0" smtClean="0">
                <a:latin typeface="Consolas" charset="0"/>
                <a:ea typeface="Consolas" charset="0"/>
                <a:cs typeface="Consolas" charset="0"/>
              </a:rPr>
              <a:t>[‘</a:t>
            </a:r>
            <a:r>
              <a:rPr lang="en-US" sz="2400" dirty="0" err="1" smtClean="0">
                <a:latin typeface="Consolas" charset="0"/>
                <a:ea typeface="Consolas" charset="0"/>
                <a:cs typeface="Consolas" charset="0"/>
              </a:rPr>
              <a:t>the’,’cat’,’in’,’the’,’hat</a:t>
            </a:r>
            <a:r>
              <a:rPr lang="en-US" sz="2400" dirty="0" smtClean="0">
                <a:latin typeface="Consolas" charset="0"/>
                <a:ea typeface="Consolas" charset="0"/>
                <a:cs typeface="Consolas" charset="0"/>
              </a:rPr>
              <a:t>’,’&lt;EOS&gt;’]</a:t>
            </a:r>
          </a:p>
        </p:txBody>
      </p:sp>
      <p:cxnSp>
        <p:nvCxnSpPr>
          <p:cNvPr id="6" name="Straight Arrow Connector 5"/>
          <p:cNvCxnSpPr/>
          <p:nvPr/>
        </p:nvCxnSpPr>
        <p:spPr>
          <a:xfrm>
            <a:off x="4492029" y="3531663"/>
            <a:ext cx="0" cy="51038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71877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mtClean="0">
                <a:latin typeface="Avenir Book" charset="0"/>
                <a:ea typeface="Avenir Book" charset="0"/>
                <a:cs typeface="Avenir Book" charset="0"/>
              </a:rPr>
              <a:t>Tokenization</a:t>
            </a:r>
            <a:endParaRPr lang="en-US" dirty="0">
              <a:latin typeface="Avenir Book" charset="0"/>
              <a:ea typeface="Avenir Book" charset="0"/>
              <a:cs typeface="Avenir Book" charset="0"/>
            </a:endParaRPr>
          </a:p>
        </p:txBody>
      </p:sp>
      <p:sp>
        <p:nvSpPr>
          <p:cNvPr id="75" name="Rectangle 74"/>
          <p:cNvSpPr/>
          <p:nvPr/>
        </p:nvSpPr>
        <p:spPr>
          <a:xfrm>
            <a:off x="398352" y="821939"/>
            <a:ext cx="8192764" cy="1107996"/>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Use tokens to build a vocabulary</a:t>
            </a:r>
          </a:p>
          <a:p>
            <a:pPr marL="457200" lvl="0" indent="-457200">
              <a:buFont typeface="Arial" charset="0"/>
              <a:buChar char="•"/>
            </a:pPr>
            <a:r>
              <a:rPr lang="en-US" sz="2200" dirty="0" smtClean="0">
                <a:latin typeface="Avenir Book" charset="0"/>
                <a:ea typeface="Avenir Book" charset="0"/>
                <a:cs typeface="Avenir Book" charset="0"/>
              </a:rPr>
              <a:t>Vocabulary is a one-to-one mapping from index # to a token</a:t>
            </a:r>
          </a:p>
          <a:p>
            <a:pPr marL="457200" lvl="0" indent="-457200">
              <a:buFont typeface="Arial" charset="0"/>
              <a:buChar char="•"/>
            </a:pPr>
            <a:r>
              <a:rPr lang="en-US" sz="2200" dirty="0" smtClean="0">
                <a:latin typeface="Avenir Book" charset="0"/>
                <a:ea typeface="Avenir Book" charset="0"/>
                <a:cs typeface="Avenir Book" charset="0"/>
              </a:rPr>
              <a:t>Usually represented by a list and a dictionary.</a:t>
            </a:r>
            <a:endParaRPr lang="en-US" sz="2200" dirty="0">
              <a:latin typeface="Avenir Book" charset="0"/>
              <a:ea typeface="Avenir Book" charset="0"/>
              <a:cs typeface="Avenir Book" charset="0"/>
            </a:endParaRPr>
          </a:p>
        </p:txBody>
      </p:sp>
      <p:sp>
        <p:nvSpPr>
          <p:cNvPr id="6" name="Rectangle 5"/>
          <p:cNvSpPr/>
          <p:nvPr/>
        </p:nvSpPr>
        <p:spPr>
          <a:xfrm>
            <a:off x="5497318" y="2489026"/>
            <a:ext cx="2040621" cy="2308324"/>
          </a:xfrm>
          <a:prstGeom prst="rect">
            <a:avLst/>
          </a:prstGeom>
        </p:spPr>
        <p:txBody>
          <a:bodyPr wrap="square">
            <a:spAutoFit/>
          </a:bodyPr>
          <a:lstStyle/>
          <a:p>
            <a:r>
              <a:rPr lang="en-US" sz="1800" dirty="0" smtClean="0">
                <a:latin typeface="Consolas" charset="0"/>
                <a:ea typeface="Consolas" charset="0"/>
                <a:cs typeface="Consolas" charset="0"/>
              </a:rPr>
              <a:t>{</a:t>
            </a:r>
          </a:p>
          <a:p>
            <a:r>
              <a:rPr lang="en-US" sz="1800" dirty="0" smtClean="0">
                <a:latin typeface="Consolas" charset="0"/>
                <a:ea typeface="Consolas" charset="0"/>
                <a:cs typeface="Consolas" charset="0"/>
              </a:rPr>
              <a:t>  ‘&lt;</a:t>
            </a:r>
            <a:r>
              <a:rPr lang="en-US" sz="1800" dirty="0">
                <a:latin typeface="Consolas" charset="0"/>
                <a:ea typeface="Consolas" charset="0"/>
                <a:cs typeface="Consolas" charset="0"/>
              </a:rPr>
              <a:t>EOS</a:t>
            </a:r>
            <a:r>
              <a:rPr lang="en-US" sz="1800" dirty="0" smtClean="0">
                <a:latin typeface="Consolas" charset="0"/>
                <a:ea typeface="Consolas" charset="0"/>
                <a:cs typeface="Consolas" charset="0"/>
              </a:rPr>
              <a:t>&gt;’: 0,</a:t>
            </a:r>
          </a:p>
          <a:p>
            <a:r>
              <a:rPr lang="en-US" sz="1800" dirty="0" smtClean="0">
                <a:latin typeface="Consolas" charset="0"/>
                <a:ea typeface="Consolas" charset="0"/>
                <a:cs typeface="Consolas" charset="0"/>
              </a:rPr>
              <a:t>  ‘the’:   1, </a:t>
            </a:r>
          </a:p>
          <a:p>
            <a:r>
              <a:rPr lang="en-US" sz="1800" dirty="0" smtClean="0">
                <a:latin typeface="Consolas" charset="0"/>
                <a:ea typeface="Consolas" charset="0"/>
                <a:cs typeface="Consolas" charset="0"/>
              </a:rPr>
              <a:t>  ‘cat’:   2, </a:t>
            </a:r>
          </a:p>
          <a:p>
            <a:r>
              <a:rPr lang="en-US" sz="1800" dirty="0" smtClean="0">
                <a:latin typeface="Consolas" charset="0"/>
                <a:ea typeface="Consolas" charset="0"/>
                <a:cs typeface="Consolas" charset="0"/>
              </a:rPr>
              <a:t>  ‘in’:    3, </a:t>
            </a:r>
          </a:p>
          <a:p>
            <a:r>
              <a:rPr lang="en-US" sz="1800" dirty="0" smtClean="0">
                <a:latin typeface="Consolas" charset="0"/>
                <a:ea typeface="Consolas" charset="0"/>
                <a:cs typeface="Consolas" charset="0"/>
              </a:rPr>
              <a:t>  ‘hat’:   4, </a:t>
            </a:r>
          </a:p>
          <a:p>
            <a:r>
              <a:rPr lang="en-US" sz="1800" dirty="0" smtClean="0">
                <a:latin typeface="Consolas" charset="0"/>
                <a:ea typeface="Consolas" charset="0"/>
                <a:cs typeface="Consolas" charset="0"/>
              </a:rPr>
              <a:t>  ‘.’:     5</a:t>
            </a:r>
          </a:p>
          <a:p>
            <a:r>
              <a:rPr lang="en-US" sz="1800" dirty="0" smtClean="0">
                <a:latin typeface="Consolas" charset="0"/>
                <a:ea typeface="Consolas" charset="0"/>
                <a:cs typeface="Consolas" charset="0"/>
              </a:rPr>
              <a:t>}</a:t>
            </a:r>
            <a:endParaRPr lang="en-US" sz="1800" dirty="0">
              <a:latin typeface="Consolas" charset="0"/>
              <a:ea typeface="Consolas" charset="0"/>
              <a:cs typeface="Consolas" charset="0"/>
            </a:endParaRPr>
          </a:p>
        </p:txBody>
      </p:sp>
      <p:sp>
        <p:nvSpPr>
          <p:cNvPr id="7" name="Rectangle 6"/>
          <p:cNvSpPr/>
          <p:nvPr/>
        </p:nvSpPr>
        <p:spPr>
          <a:xfrm>
            <a:off x="1187101" y="2463445"/>
            <a:ext cx="1601788" cy="2308324"/>
          </a:xfrm>
          <a:prstGeom prst="rect">
            <a:avLst/>
          </a:prstGeom>
        </p:spPr>
        <p:txBody>
          <a:bodyPr wrap="square">
            <a:spAutoFit/>
          </a:bodyPr>
          <a:lstStyle/>
          <a:p>
            <a:r>
              <a:rPr lang="en-US" sz="1800" dirty="0">
                <a:latin typeface="Consolas" charset="0"/>
                <a:ea typeface="Consolas" charset="0"/>
                <a:cs typeface="Consolas" charset="0"/>
              </a:rPr>
              <a:t>[</a:t>
            </a:r>
            <a:endParaRPr lang="en-US" sz="1800" dirty="0" smtClean="0">
              <a:latin typeface="Consolas" charset="0"/>
              <a:ea typeface="Consolas" charset="0"/>
              <a:cs typeface="Consolas" charset="0"/>
            </a:endParaRPr>
          </a:p>
          <a:p>
            <a:r>
              <a:rPr lang="en-US" sz="1800" dirty="0" smtClean="0">
                <a:latin typeface="Consolas" charset="0"/>
                <a:ea typeface="Consolas" charset="0"/>
                <a:cs typeface="Consolas" charset="0"/>
              </a:rPr>
              <a:t>  ‘&lt;</a:t>
            </a:r>
            <a:r>
              <a:rPr lang="en-US" sz="1800" dirty="0">
                <a:latin typeface="Consolas" charset="0"/>
                <a:ea typeface="Consolas" charset="0"/>
                <a:cs typeface="Consolas" charset="0"/>
              </a:rPr>
              <a:t>EOS</a:t>
            </a:r>
            <a:r>
              <a:rPr lang="en-US" sz="1800" dirty="0" smtClean="0">
                <a:latin typeface="Consolas" charset="0"/>
                <a:ea typeface="Consolas" charset="0"/>
                <a:cs typeface="Consolas" charset="0"/>
              </a:rPr>
              <a:t>&gt;’,</a:t>
            </a:r>
          </a:p>
          <a:p>
            <a:r>
              <a:rPr lang="en-US" sz="1800" dirty="0" smtClean="0">
                <a:latin typeface="Consolas" charset="0"/>
                <a:ea typeface="Consolas" charset="0"/>
                <a:cs typeface="Consolas" charset="0"/>
              </a:rPr>
              <a:t>  ‘the’, </a:t>
            </a:r>
          </a:p>
          <a:p>
            <a:r>
              <a:rPr lang="en-US" sz="1800" dirty="0" smtClean="0">
                <a:latin typeface="Consolas" charset="0"/>
                <a:ea typeface="Consolas" charset="0"/>
                <a:cs typeface="Consolas" charset="0"/>
              </a:rPr>
              <a:t>  ‘cat’, </a:t>
            </a:r>
          </a:p>
          <a:p>
            <a:r>
              <a:rPr lang="en-US" sz="1800" dirty="0" smtClean="0">
                <a:latin typeface="Consolas" charset="0"/>
                <a:ea typeface="Consolas" charset="0"/>
                <a:cs typeface="Consolas" charset="0"/>
              </a:rPr>
              <a:t>  ‘in’, </a:t>
            </a:r>
          </a:p>
          <a:p>
            <a:r>
              <a:rPr lang="en-US" sz="1800" dirty="0" smtClean="0">
                <a:latin typeface="Consolas" charset="0"/>
                <a:ea typeface="Consolas" charset="0"/>
                <a:cs typeface="Consolas" charset="0"/>
              </a:rPr>
              <a:t>  ‘hat’, </a:t>
            </a:r>
          </a:p>
          <a:p>
            <a:r>
              <a:rPr lang="en-US" sz="1800" dirty="0" smtClean="0">
                <a:latin typeface="Consolas" charset="0"/>
                <a:ea typeface="Consolas" charset="0"/>
                <a:cs typeface="Consolas" charset="0"/>
              </a:rPr>
              <a:t>  ‘.’</a:t>
            </a:r>
          </a:p>
          <a:p>
            <a:r>
              <a:rPr lang="en-US" sz="1800" dirty="0">
                <a:latin typeface="Consolas" charset="0"/>
                <a:ea typeface="Consolas" charset="0"/>
                <a:cs typeface="Consolas" charset="0"/>
              </a:rPr>
              <a:t>]</a:t>
            </a:r>
          </a:p>
        </p:txBody>
      </p:sp>
      <p:sp>
        <p:nvSpPr>
          <p:cNvPr id="8" name="TextBox 7"/>
          <p:cNvSpPr txBox="1"/>
          <p:nvPr/>
        </p:nvSpPr>
        <p:spPr>
          <a:xfrm>
            <a:off x="1187101" y="2013298"/>
            <a:ext cx="1944763" cy="430887"/>
          </a:xfrm>
          <a:prstGeom prst="rect">
            <a:avLst/>
          </a:prstGeom>
          <a:noFill/>
        </p:spPr>
        <p:txBody>
          <a:bodyPr wrap="none" rtlCol="0">
            <a:spAutoFit/>
          </a:bodyPr>
          <a:lstStyle/>
          <a:p>
            <a:r>
              <a:rPr lang="en-US" sz="2200" dirty="0" smtClean="0">
                <a:latin typeface="Avenir Book" charset="0"/>
                <a:ea typeface="Avenir Book" charset="0"/>
                <a:cs typeface="Avenir Book" charset="0"/>
              </a:rPr>
              <a:t>index </a:t>
            </a:r>
            <a:r>
              <a:rPr lang="en-US" sz="2200" dirty="0" smtClean="0">
                <a:latin typeface="Avenir Book" charset="0"/>
                <a:ea typeface="Avenir Book" charset="0"/>
                <a:cs typeface="Avenir Book" charset="0"/>
                <a:sym typeface="Wingdings"/>
              </a:rPr>
              <a:t> word</a:t>
            </a:r>
            <a:endParaRPr lang="en-US" sz="2200" dirty="0">
              <a:latin typeface="Avenir Book" charset="0"/>
              <a:ea typeface="Avenir Book" charset="0"/>
              <a:cs typeface="Avenir Book" charset="0"/>
            </a:endParaRPr>
          </a:p>
        </p:txBody>
      </p:sp>
      <p:sp>
        <p:nvSpPr>
          <p:cNvPr id="9" name="TextBox 8"/>
          <p:cNvSpPr txBox="1"/>
          <p:nvPr/>
        </p:nvSpPr>
        <p:spPr>
          <a:xfrm>
            <a:off x="5497318" y="1994037"/>
            <a:ext cx="1944763" cy="430887"/>
          </a:xfrm>
          <a:prstGeom prst="rect">
            <a:avLst/>
          </a:prstGeom>
          <a:noFill/>
        </p:spPr>
        <p:txBody>
          <a:bodyPr wrap="none" rtlCol="0">
            <a:spAutoFit/>
          </a:bodyPr>
          <a:lstStyle/>
          <a:p>
            <a:r>
              <a:rPr lang="en-US" sz="2200" dirty="0" smtClean="0">
                <a:latin typeface="Avenir Book" charset="0"/>
                <a:ea typeface="Avenir Book" charset="0"/>
                <a:cs typeface="Avenir Book" charset="0"/>
                <a:sym typeface="Wingdings"/>
              </a:rPr>
              <a:t>word  index</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2696453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Issues with Tokenization</a:t>
            </a:r>
            <a:endParaRPr lang="en-US" dirty="0">
              <a:latin typeface="Avenir Book" charset="0"/>
              <a:ea typeface="Avenir Book" charset="0"/>
              <a:cs typeface="Avenir Book" charset="0"/>
            </a:endParaRPr>
          </a:p>
        </p:txBody>
      </p:sp>
      <p:sp>
        <p:nvSpPr>
          <p:cNvPr id="75" name="Rectangle 74"/>
          <p:cNvSpPr/>
          <p:nvPr/>
        </p:nvSpPr>
        <p:spPr>
          <a:xfrm>
            <a:off x="398352" y="1227244"/>
            <a:ext cx="8192764" cy="3416320"/>
          </a:xfrm>
          <a:prstGeom prst="rect">
            <a:avLst/>
          </a:prstGeom>
        </p:spPr>
        <p:txBody>
          <a:bodyPr wrap="square">
            <a:spAutoFit/>
          </a:bodyPr>
          <a:lstStyle/>
          <a:p>
            <a:pPr marL="457200" lvl="0" indent="-457200">
              <a:buFont typeface="Arial" charset="0"/>
              <a:buChar char="•"/>
            </a:pPr>
            <a:r>
              <a:rPr lang="en-US" sz="2200" dirty="0">
                <a:latin typeface="Avenir Book" charset="0"/>
                <a:ea typeface="Avenir Book" charset="0"/>
                <a:cs typeface="Avenir Book" charset="0"/>
              </a:rPr>
              <a:t>Tokenization loses a lot of information about words:</a:t>
            </a:r>
          </a:p>
          <a:p>
            <a:pPr marL="800100" lvl="0" indent="-342900">
              <a:buFont typeface="Courier New" charset="0"/>
              <a:buChar char="o"/>
            </a:pPr>
            <a:r>
              <a:rPr lang="en-US" sz="2200" dirty="0">
                <a:latin typeface="Avenir Book" charset="0"/>
                <a:ea typeface="Avenir Book" charset="0"/>
                <a:cs typeface="Avenir Book" charset="0"/>
              </a:rPr>
              <a:t>Part of speech</a:t>
            </a:r>
          </a:p>
          <a:p>
            <a:pPr marL="800100" lvl="0" indent="-342900">
              <a:buFont typeface="Courier New" charset="0"/>
              <a:buChar char="o"/>
            </a:pPr>
            <a:r>
              <a:rPr lang="en-US" sz="2200" dirty="0">
                <a:latin typeface="Avenir Book" charset="0"/>
                <a:ea typeface="Avenir Book" charset="0"/>
                <a:cs typeface="Avenir Book" charset="0"/>
              </a:rPr>
              <a:t>Synonymy (distinct words with same or similar meaning)</a:t>
            </a:r>
          </a:p>
          <a:p>
            <a:pPr marL="800100" lvl="0" indent="-342900">
              <a:buFont typeface="Courier New" charset="0"/>
              <a:buChar char="o"/>
            </a:pPr>
            <a:r>
              <a:rPr lang="en-US" sz="2200" dirty="0">
                <a:latin typeface="Avenir Book" charset="0"/>
                <a:ea typeface="Avenir Book" charset="0"/>
                <a:cs typeface="Avenir Book" charset="0"/>
              </a:rPr>
              <a:t>Polysemy (single word with multiple meanings</a:t>
            </a:r>
            <a:r>
              <a:rPr lang="en-US" sz="2200" dirty="0" smtClean="0">
                <a:latin typeface="Avenir Book" charset="0"/>
                <a:ea typeface="Avenir Book" charset="0"/>
                <a:cs typeface="Avenir Book" charset="0"/>
              </a:rPr>
              <a:t>)</a:t>
            </a:r>
            <a:r>
              <a:rPr lang="en-US" sz="2200" dirty="0">
                <a:latin typeface="Avenir Book" charset="0"/>
                <a:ea typeface="Avenir Book" charset="0"/>
                <a:cs typeface="Avenir Book" charset="0"/>
              </a:rPr>
              <a:t> </a:t>
            </a:r>
            <a:endParaRPr lang="en-US" sz="2200" dirty="0" smtClean="0">
              <a:latin typeface="Avenir Book" charset="0"/>
              <a:ea typeface="Avenir Book" charset="0"/>
              <a:cs typeface="Avenir Book" charset="0"/>
            </a:endParaRPr>
          </a:p>
          <a:p>
            <a:pPr marL="800100" lvl="0" indent="-342900">
              <a:buFont typeface="Courier New" charset="0"/>
              <a:buChar char="o"/>
            </a:pPr>
            <a:r>
              <a:rPr lang="en-US" sz="2200" dirty="0" smtClean="0">
                <a:latin typeface="Avenir Book" charset="0"/>
                <a:ea typeface="Avenir Book" charset="0"/>
                <a:cs typeface="Avenir Book" charset="0"/>
              </a:rPr>
              <a:t>General context </a:t>
            </a:r>
            <a:r>
              <a:rPr lang="en-US" sz="2200" dirty="0">
                <a:latin typeface="Avenir Book" charset="0"/>
                <a:ea typeface="Avenir Book" charset="0"/>
                <a:cs typeface="Avenir Book" charset="0"/>
              </a:rPr>
              <a:t>in which word is likely to </a:t>
            </a:r>
            <a:r>
              <a:rPr lang="en-US" sz="2200" dirty="0" smtClean="0">
                <a:latin typeface="Avenir Book" charset="0"/>
                <a:ea typeface="Avenir Book" charset="0"/>
                <a:cs typeface="Avenir Book" charset="0"/>
              </a:rPr>
              <a:t>appear</a:t>
            </a:r>
            <a:r>
              <a:rPr lang="en-US" sz="1800" dirty="0" smtClean="0">
                <a:latin typeface="Avenir Book" charset="0"/>
                <a:ea typeface="Avenir Book" charset="0"/>
                <a:cs typeface="Avenir Book" charset="0"/>
              </a:rPr>
              <a:t>		(</a:t>
            </a:r>
            <a:r>
              <a:rPr lang="en-US" sz="1800" dirty="0">
                <a:latin typeface="Avenir Book" charset="0"/>
                <a:ea typeface="Avenir Book" charset="0"/>
                <a:cs typeface="Avenir Book" charset="0"/>
              </a:rPr>
              <a:t>e.g. “unemployment” and “inflation” ) are both about economics</a:t>
            </a:r>
            <a:endParaRPr lang="en-US" sz="1800" dirty="0" smtClean="0">
              <a:latin typeface="Avenir Book" charset="0"/>
              <a:ea typeface="Avenir Book" charset="0"/>
              <a:cs typeface="Avenir Book" charset="0"/>
            </a:endParaRPr>
          </a:p>
          <a:p>
            <a:pPr marL="457200" lvl="0" indent="-457200">
              <a:buFont typeface="Arial" charset="0"/>
              <a:buChar char="•"/>
            </a:pPr>
            <a:r>
              <a:rPr lang="en-US" sz="2200" dirty="0" smtClean="0">
                <a:latin typeface="Avenir Book" charset="0"/>
                <a:ea typeface="Avenir Book" charset="0"/>
                <a:cs typeface="Avenir Book" charset="0"/>
              </a:rPr>
              <a:t>Increasing vocabulary size is difficult (would require re-training the model)</a:t>
            </a:r>
          </a:p>
          <a:p>
            <a:pPr marL="457200" lvl="0" indent="-457200">
              <a:buFont typeface="Arial" charset="0"/>
              <a:buChar char="•"/>
            </a:pPr>
            <a:r>
              <a:rPr lang="en-US" sz="2200" dirty="0" smtClean="0">
                <a:latin typeface="Avenir Book" charset="0"/>
                <a:ea typeface="Avenir Book" charset="0"/>
                <a:cs typeface="Avenir Book" charset="0"/>
              </a:rPr>
              <a:t>Vector length is huge -&gt; large number of weights</a:t>
            </a:r>
          </a:p>
          <a:p>
            <a:pPr marL="457200" lvl="0" indent="-457200">
              <a:buFont typeface="Arial" charset="0"/>
              <a:buChar char="•"/>
            </a:pPr>
            <a:r>
              <a:rPr lang="en-US" sz="2200" dirty="0" smtClean="0">
                <a:latin typeface="Avenir Book" charset="0"/>
                <a:ea typeface="Avenir Book" charset="0"/>
                <a:cs typeface="Avenir Book" charset="0"/>
              </a:rPr>
              <a:t>Yet information in vector is very sparse</a:t>
            </a:r>
          </a:p>
        </p:txBody>
      </p:sp>
    </p:spTree>
    <p:extLst>
      <p:ext uri="{BB962C8B-B14F-4D97-AF65-F5344CB8AC3E}">
        <p14:creationId xmlns:p14="http://schemas.microsoft.com/office/powerpoint/2010/main" val="12943316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Word Vectors</a:t>
            </a:r>
            <a:endParaRPr lang="en-US" dirty="0">
              <a:latin typeface="Avenir Book" charset="0"/>
              <a:ea typeface="Avenir Book" charset="0"/>
              <a:cs typeface="Avenir Book" charset="0"/>
            </a:endParaRPr>
          </a:p>
        </p:txBody>
      </p:sp>
      <p:sp>
        <p:nvSpPr>
          <p:cNvPr id="75" name="Rectangle 74"/>
          <p:cNvSpPr/>
          <p:nvPr/>
        </p:nvSpPr>
        <p:spPr>
          <a:xfrm>
            <a:off x="398352" y="1121736"/>
            <a:ext cx="8192764" cy="3754874"/>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Goal: represent a word by an m-dimensional vector (for medium-sized m, say, m=300)</a:t>
            </a:r>
          </a:p>
          <a:p>
            <a:pPr marL="457200" lvl="0" indent="-457200">
              <a:buFont typeface="Arial" charset="0"/>
              <a:buChar char="•"/>
            </a:pPr>
            <a:r>
              <a:rPr lang="en-US" sz="2200" dirty="0" smtClean="0">
                <a:latin typeface="Avenir Book" charset="0"/>
                <a:ea typeface="Avenir Book" charset="0"/>
                <a:cs typeface="Avenir Book" charset="0"/>
              </a:rPr>
              <a:t>Have “similar” words be represented by “nearby” vectors in this m-dimensional space</a:t>
            </a:r>
          </a:p>
          <a:p>
            <a:pPr marL="457200" lvl="0" indent="-457200">
              <a:buFont typeface="Arial" charset="0"/>
              <a:buChar char="•"/>
            </a:pPr>
            <a:r>
              <a:rPr lang="en-US" sz="2200" dirty="0" smtClean="0">
                <a:latin typeface="Avenir Book" charset="0"/>
                <a:ea typeface="Avenir Book" charset="0"/>
                <a:cs typeface="Avenir Book" charset="0"/>
              </a:rPr>
              <a:t>Words in a particular domain (economics, science, sports) could be closer to one another than words in other domains.</a:t>
            </a:r>
          </a:p>
          <a:p>
            <a:pPr marL="457200" lvl="0" indent="-457200">
              <a:buFont typeface="Arial" charset="0"/>
              <a:buChar char="•"/>
            </a:pPr>
            <a:r>
              <a:rPr lang="en-US" sz="2200" dirty="0" smtClean="0">
                <a:latin typeface="Avenir Book" charset="0"/>
                <a:ea typeface="Avenir Book" charset="0"/>
                <a:cs typeface="Avenir Book" charset="0"/>
              </a:rPr>
              <a:t>Could help with synonymy </a:t>
            </a:r>
          </a:p>
          <a:p>
            <a:pPr marL="800100" lvl="0" indent="-342900">
              <a:buFont typeface="Courier New" charset="0"/>
              <a:buChar char="o"/>
            </a:pPr>
            <a:r>
              <a:rPr lang="en-US" sz="2000" dirty="0" smtClean="0">
                <a:latin typeface="Avenir Book" charset="0"/>
                <a:ea typeface="Avenir Book" charset="0"/>
                <a:cs typeface="Avenir Book" charset="0"/>
              </a:rPr>
              <a:t>e.g. “big” and ”large” have nearby vectors</a:t>
            </a:r>
          </a:p>
          <a:p>
            <a:pPr marL="457200" lvl="0" indent="-457200">
              <a:buFont typeface="Arial" charset="0"/>
              <a:buChar char="•"/>
            </a:pPr>
            <a:r>
              <a:rPr lang="en-US" sz="2200" dirty="0" smtClean="0">
                <a:latin typeface="Avenir Book" charset="0"/>
                <a:ea typeface="Avenir Book" charset="0"/>
                <a:cs typeface="Avenir Book" charset="0"/>
              </a:rPr>
              <a:t>Could help with polysemy </a:t>
            </a:r>
          </a:p>
          <a:p>
            <a:pPr marL="800100" lvl="0" indent="-342900">
              <a:buFont typeface="Courier New" charset="0"/>
              <a:buChar char="o"/>
            </a:pPr>
            <a:r>
              <a:rPr lang="en-US" sz="2000" dirty="0" smtClean="0">
                <a:latin typeface="Avenir Book" charset="0"/>
                <a:ea typeface="Avenir Book" charset="0"/>
                <a:cs typeface="Avenir Book" charset="0"/>
              </a:rPr>
              <a:t>“Java” and ”Indonesia” could be close in some dimensions</a:t>
            </a:r>
          </a:p>
          <a:p>
            <a:pPr marL="800100" lvl="0" indent="-342900">
              <a:buFont typeface="Courier New" charset="0"/>
              <a:buChar char="o"/>
            </a:pPr>
            <a:r>
              <a:rPr lang="en-US" sz="2000" dirty="0" smtClean="0">
                <a:latin typeface="Avenir Book" charset="0"/>
                <a:ea typeface="Avenir Book" charset="0"/>
                <a:cs typeface="Avenir Book" charset="0"/>
              </a:rPr>
              <a:t>“Java” and “Python” are close in other dimensions</a:t>
            </a:r>
          </a:p>
        </p:txBody>
      </p:sp>
    </p:spTree>
    <p:extLst>
      <p:ext uri="{BB962C8B-B14F-4D97-AF65-F5344CB8AC3E}">
        <p14:creationId xmlns:p14="http://schemas.microsoft.com/office/powerpoint/2010/main" val="3166557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Word Vectors</a:t>
            </a:r>
            <a:endParaRPr lang="en-US" dirty="0">
              <a:latin typeface="Avenir Book" charset="0"/>
              <a:ea typeface="Avenir Book" charset="0"/>
              <a:cs typeface="Avenir Book" charset="0"/>
            </a:endParaRPr>
          </a:p>
        </p:txBody>
      </p:sp>
      <p:sp>
        <p:nvSpPr>
          <p:cNvPr id="75" name="Rectangle 74"/>
          <p:cNvSpPr/>
          <p:nvPr/>
        </p:nvSpPr>
        <p:spPr>
          <a:xfrm>
            <a:off x="398352" y="1227244"/>
            <a:ext cx="8192764" cy="1107996"/>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Vectors would be shorter length and information-dense, rather than very long and information-sparse</a:t>
            </a:r>
          </a:p>
          <a:p>
            <a:pPr marL="457200" lvl="0" indent="-457200">
              <a:buFont typeface="Arial" charset="0"/>
              <a:buChar char="•"/>
            </a:pPr>
            <a:r>
              <a:rPr lang="en-US" sz="2200" dirty="0" smtClean="0">
                <a:latin typeface="Avenir Book" charset="0"/>
                <a:ea typeface="Avenir Book" charset="0"/>
                <a:cs typeface="Avenir Book" charset="0"/>
              </a:rPr>
              <a:t>Would require fewer weights and parameters</a:t>
            </a:r>
          </a:p>
        </p:txBody>
      </p:sp>
      <p:sp>
        <p:nvSpPr>
          <p:cNvPr id="4" name="Rectangle 3"/>
          <p:cNvSpPr/>
          <p:nvPr/>
        </p:nvSpPr>
        <p:spPr>
          <a:xfrm>
            <a:off x="398352" y="2669183"/>
            <a:ext cx="8192764" cy="1446550"/>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Fortunately, there are existing mappings which can be downloaded and used</a:t>
            </a:r>
          </a:p>
          <a:p>
            <a:pPr marL="457200" lvl="0" indent="-457200">
              <a:buFont typeface="Arial" charset="0"/>
              <a:buChar char="•"/>
            </a:pPr>
            <a:r>
              <a:rPr lang="en-US" sz="2200" dirty="0" smtClean="0">
                <a:latin typeface="Avenir Book" charset="0"/>
                <a:ea typeface="Avenir Book" charset="0"/>
                <a:cs typeface="Avenir Book" charset="0"/>
              </a:rPr>
              <a:t>These were trained on big corpora for a long time</a:t>
            </a:r>
          </a:p>
          <a:p>
            <a:pPr marL="457200" lvl="0" indent="-457200">
              <a:buFont typeface="Arial" charset="0"/>
              <a:buChar char="•"/>
            </a:pPr>
            <a:r>
              <a:rPr lang="en-US" sz="2200" dirty="0" smtClean="0">
                <a:latin typeface="Avenir Book" charset="0"/>
                <a:ea typeface="Avenir Book" charset="0"/>
                <a:cs typeface="Avenir Book" charset="0"/>
              </a:rPr>
              <a:t>Let’s understand how they were developed and trained</a:t>
            </a:r>
          </a:p>
        </p:txBody>
      </p:sp>
    </p:spTree>
    <p:extLst>
      <p:ext uri="{BB962C8B-B14F-4D97-AF65-F5344CB8AC3E}">
        <p14:creationId xmlns:p14="http://schemas.microsoft.com/office/powerpoint/2010/main" val="98611098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What makes two words similar?</a:t>
            </a:r>
            <a:endParaRPr lang="en-US" dirty="0">
              <a:latin typeface="Avenir Book" charset="0"/>
              <a:ea typeface="Avenir Book" charset="0"/>
              <a:cs typeface="Avenir Book" charset="0"/>
            </a:endParaRPr>
          </a:p>
        </p:txBody>
      </p:sp>
      <p:sp>
        <p:nvSpPr>
          <p:cNvPr id="75" name="Rectangle 74"/>
          <p:cNvSpPr/>
          <p:nvPr/>
        </p:nvSpPr>
        <p:spPr>
          <a:xfrm>
            <a:off x="393736" y="969051"/>
            <a:ext cx="8192764" cy="1446550"/>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Idea: similar words occur in similar contexts</a:t>
            </a:r>
          </a:p>
          <a:p>
            <a:pPr marL="457200" lvl="0" indent="-457200">
              <a:buFont typeface="Arial" charset="0"/>
              <a:buChar char="•"/>
            </a:pPr>
            <a:r>
              <a:rPr lang="en-US" sz="2200" dirty="0" smtClean="0">
                <a:latin typeface="Avenir Book" charset="0"/>
                <a:ea typeface="Avenir Book" charset="0"/>
                <a:cs typeface="Avenir Book" charset="0"/>
              </a:rPr>
              <a:t>For a given word, look at the words in a “window” around it.</a:t>
            </a:r>
          </a:p>
          <a:p>
            <a:pPr marL="457200" lvl="0" indent="-457200">
              <a:buFont typeface="Arial" charset="0"/>
              <a:buChar char="•"/>
            </a:pPr>
            <a:r>
              <a:rPr lang="en-US" sz="2200" dirty="0" smtClean="0">
                <a:latin typeface="Avenir Book" charset="0"/>
                <a:ea typeface="Avenir Book" charset="0"/>
                <a:cs typeface="Avenir Book" charset="0"/>
              </a:rPr>
              <a:t>Consider trying to predict a word given the context.</a:t>
            </a:r>
          </a:p>
          <a:p>
            <a:pPr marL="457200" lvl="0" indent="-457200">
              <a:buFont typeface="Arial" charset="0"/>
              <a:buChar char="•"/>
            </a:pPr>
            <a:r>
              <a:rPr lang="en-US" sz="2200" dirty="0" smtClean="0">
                <a:latin typeface="Avenir Book" charset="0"/>
                <a:ea typeface="Avenir Book" charset="0"/>
                <a:cs typeface="Avenir Book" charset="0"/>
              </a:rPr>
              <a:t>This is exactly the CBOW (continuous bag of words) model</a:t>
            </a:r>
          </a:p>
        </p:txBody>
      </p:sp>
      <p:sp>
        <p:nvSpPr>
          <p:cNvPr id="12" name="TextBox 11"/>
          <p:cNvSpPr txBox="1"/>
          <p:nvPr/>
        </p:nvSpPr>
        <p:spPr>
          <a:xfrm>
            <a:off x="452585" y="2449373"/>
            <a:ext cx="7455887" cy="369332"/>
          </a:xfrm>
          <a:prstGeom prst="rect">
            <a:avLst/>
          </a:prstGeom>
          <a:noFill/>
        </p:spPr>
        <p:txBody>
          <a:bodyPr wrap="none" rtlCol="0">
            <a:spAutoFit/>
          </a:bodyPr>
          <a:lstStyle/>
          <a:p>
            <a:r>
              <a:rPr lang="en-US" sz="1800" dirty="0"/>
              <a:t>“We hold these truths to be </a:t>
            </a:r>
            <a:r>
              <a:rPr lang="en-US" sz="1800" dirty="0">
                <a:solidFill>
                  <a:srgbClr val="FF0000"/>
                </a:solidFill>
              </a:rPr>
              <a:t>self-evident</a:t>
            </a:r>
            <a:r>
              <a:rPr lang="en-US" sz="1800" dirty="0"/>
              <a:t>, that all men are created equal”</a:t>
            </a:r>
          </a:p>
        </p:txBody>
      </p:sp>
      <p:sp>
        <p:nvSpPr>
          <p:cNvPr id="13" name="Right Brace 12"/>
          <p:cNvSpPr/>
          <p:nvPr/>
        </p:nvSpPr>
        <p:spPr>
          <a:xfrm rot="5400000">
            <a:off x="2546030" y="2371896"/>
            <a:ext cx="342900" cy="1129811"/>
          </a:xfrm>
          <a:prstGeom prst="rightBrace">
            <a:avLst>
              <a:gd name="adj1" fmla="val 118678"/>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14" name="Right Brace 13"/>
          <p:cNvSpPr/>
          <p:nvPr/>
        </p:nvSpPr>
        <p:spPr>
          <a:xfrm rot="5400000">
            <a:off x="5075672" y="2354699"/>
            <a:ext cx="342900" cy="1164207"/>
          </a:xfrm>
          <a:prstGeom prst="rightBrace">
            <a:avLst>
              <a:gd name="adj1" fmla="val 118678"/>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15" name="Right Brace 14"/>
          <p:cNvSpPr/>
          <p:nvPr/>
        </p:nvSpPr>
        <p:spPr>
          <a:xfrm rot="5400000">
            <a:off x="3809926" y="2013610"/>
            <a:ext cx="342900" cy="2532185"/>
          </a:xfrm>
          <a:prstGeom prst="rightBrace">
            <a:avLst>
              <a:gd name="adj1" fmla="val 118678"/>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16" name="TextBox 15"/>
          <p:cNvSpPr txBox="1"/>
          <p:nvPr/>
        </p:nvSpPr>
        <p:spPr>
          <a:xfrm>
            <a:off x="3376618" y="3451153"/>
            <a:ext cx="1170513" cy="253916"/>
          </a:xfrm>
          <a:prstGeom prst="rect">
            <a:avLst/>
          </a:prstGeom>
          <a:noFill/>
        </p:spPr>
        <p:txBody>
          <a:bodyPr wrap="none" rtlCol="0">
            <a:spAutoFit/>
          </a:bodyPr>
          <a:lstStyle/>
          <a:p>
            <a:r>
              <a:rPr lang="en-US" sz="1050"/>
              <a:t>Window size = 3</a:t>
            </a:r>
          </a:p>
        </p:txBody>
      </p:sp>
      <p:sp>
        <p:nvSpPr>
          <p:cNvPr id="17" name="Rectangle 16"/>
          <p:cNvSpPr/>
          <p:nvPr/>
        </p:nvSpPr>
        <p:spPr>
          <a:xfrm>
            <a:off x="393736" y="3884468"/>
            <a:ext cx="8039534" cy="369332"/>
          </a:xfrm>
          <a:prstGeom prst="rect">
            <a:avLst/>
          </a:prstGeom>
        </p:spPr>
        <p:txBody>
          <a:bodyPr wrap="square">
            <a:spAutoFit/>
          </a:bodyPr>
          <a:lstStyle/>
          <a:p>
            <a:r>
              <a:rPr lang="en-US" sz="1800" dirty="0">
                <a:latin typeface="Consolas" charset="0"/>
                <a:ea typeface="Consolas" charset="0"/>
                <a:cs typeface="Consolas" charset="0"/>
              </a:rPr>
              <a:t>([‘truths’, ‘to’, ‘be’, ‘that’, ’all’, ‘</a:t>
            </a:r>
            <a:r>
              <a:rPr lang="en-US" sz="1800">
                <a:latin typeface="Consolas" charset="0"/>
                <a:ea typeface="Consolas" charset="0"/>
                <a:cs typeface="Consolas" charset="0"/>
              </a:rPr>
              <a:t>men’], ‘</a:t>
            </a:r>
            <a:r>
              <a:rPr lang="en-US" sz="1800" smtClean="0">
                <a:latin typeface="Consolas" charset="0"/>
                <a:ea typeface="Consolas" charset="0"/>
                <a:cs typeface="Consolas" charset="0"/>
              </a:rPr>
              <a:t>self-evident’)</a:t>
            </a:r>
            <a:endParaRPr lang="en-US" sz="2700" dirty="0">
              <a:latin typeface="Consolas" charset="0"/>
              <a:ea typeface="Consolas" charset="0"/>
              <a:cs typeface="Consolas" charset="0"/>
            </a:endParaRPr>
          </a:p>
        </p:txBody>
      </p:sp>
      <p:sp>
        <p:nvSpPr>
          <p:cNvPr id="18" name="Right Brace 17"/>
          <p:cNvSpPr/>
          <p:nvPr/>
        </p:nvSpPr>
        <p:spPr>
          <a:xfrm rot="5400000">
            <a:off x="3301003" y="1716567"/>
            <a:ext cx="342900" cy="5257800"/>
          </a:xfrm>
          <a:prstGeom prst="rightBrace">
            <a:avLst>
              <a:gd name="adj1" fmla="val 118678"/>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050"/>
          </a:p>
        </p:txBody>
      </p:sp>
      <p:sp>
        <p:nvSpPr>
          <p:cNvPr id="19" name="TextBox 18"/>
          <p:cNvSpPr txBox="1"/>
          <p:nvPr/>
        </p:nvSpPr>
        <p:spPr>
          <a:xfrm>
            <a:off x="3109252" y="4550632"/>
            <a:ext cx="619080" cy="253916"/>
          </a:xfrm>
          <a:prstGeom prst="rect">
            <a:avLst/>
          </a:prstGeom>
          <a:noFill/>
        </p:spPr>
        <p:txBody>
          <a:bodyPr wrap="none" rtlCol="0">
            <a:spAutoFit/>
          </a:bodyPr>
          <a:lstStyle/>
          <a:p>
            <a:r>
              <a:rPr lang="en-US" sz="1050">
                <a:solidFill>
                  <a:srgbClr val="FF0000"/>
                </a:solidFill>
              </a:rPr>
              <a:t>context</a:t>
            </a:r>
          </a:p>
        </p:txBody>
      </p:sp>
      <p:sp>
        <p:nvSpPr>
          <p:cNvPr id="20" name="TextBox 19"/>
          <p:cNvSpPr txBox="1"/>
          <p:nvPr/>
        </p:nvSpPr>
        <p:spPr>
          <a:xfrm>
            <a:off x="6787154" y="4550632"/>
            <a:ext cx="859531" cy="253916"/>
          </a:xfrm>
          <a:prstGeom prst="rect">
            <a:avLst/>
          </a:prstGeom>
          <a:noFill/>
        </p:spPr>
        <p:txBody>
          <a:bodyPr wrap="none" rtlCol="0">
            <a:spAutoFit/>
          </a:bodyPr>
          <a:lstStyle/>
          <a:p>
            <a:r>
              <a:rPr lang="en-US" sz="1050" dirty="0">
                <a:solidFill>
                  <a:srgbClr val="FF0000"/>
                </a:solidFill>
              </a:rPr>
              <a:t>target word</a:t>
            </a:r>
          </a:p>
        </p:txBody>
      </p:sp>
      <p:cxnSp>
        <p:nvCxnSpPr>
          <p:cNvPr id="21" name="Straight Arrow Connector 20"/>
          <p:cNvCxnSpPr/>
          <p:nvPr/>
        </p:nvCxnSpPr>
        <p:spPr>
          <a:xfrm flipV="1">
            <a:off x="7216920" y="4209554"/>
            <a:ext cx="84583" cy="34107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8623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CBOW Model</a:t>
            </a:r>
            <a:endParaRPr lang="en-US" dirty="0">
              <a:latin typeface="Avenir Book" charset="0"/>
              <a:ea typeface="Avenir Book" charset="0"/>
              <a:cs typeface="Avenir Book" charset="0"/>
            </a:endParaRPr>
          </a:p>
        </p:txBody>
      </p:sp>
      <p:sp>
        <p:nvSpPr>
          <p:cNvPr id="22" name="Rectangle 21"/>
          <p:cNvSpPr/>
          <p:nvPr/>
        </p:nvSpPr>
        <p:spPr>
          <a:xfrm>
            <a:off x="2725568" y="1368649"/>
            <a:ext cx="228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23" name="TextBox 22"/>
          <p:cNvSpPr txBox="1"/>
          <p:nvPr/>
        </p:nvSpPr>
        <p:spPr>
          <a:xfrm>
            <a:off x="2137437" y="1573050"/>
            <a:ext cx="625492" cy="307777"/>
          </a:xfrm>
          <a:prstGeom prst="rect">
            <a:avLst/>
          </a:prstGeom>
          <a:noFill/>
        </p:spPr>
        <p:txBody>
          <a:bodyPr wrap="none" rtlCol="0">
            <a:spAutoFit/>
          </a:bodyPr>
          <a:lstStyle/>
          <a:p>
            <a:r>
              <a:rPr lang="en-US" dirty="0">
                <a:latin typeface="Avenir Book" charset="0"/>
                <a:ea typeface="Avenir Book" charset="0"/>
                <a:cs typeface="Avenir Book" charset="0"/>
              </a:rPr>
              <a:t>w(t-2)</a:t>
            </a:r>
          </a:p>
        </p:txBody>
      </p:sp>
      <p:sp>
        <p:nvSpPr>
          <p:cNvPr id="24" name="Rectangle 23"/>
          <p:cNvSpPr/>
          <p:nvPr/>
        </p:nvSpPr>
        <p:spPr>
          <a:xfrm>
            <a:off x="2725568" y="2260427"/>
            <a:ext cx="228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25" name="TextBox 24"/>
          <p:cNvSpPr txBox="1"/>
          <p:nvPr/>
        </p:nvSpPr>
        <p:spPr>
          <a:xfrm>
            <a:off x="2137437" y="2464828"/>
            <a:ext cx="625492" cy="307777"/>
          </a:xfrm>
          <a:prstGeom prst="rect">
            <a:avLst/>
          </a:prstGeom>
          <a:noFill/>
        </p:spPr>
        <p:txBody>
          <a:bodyPr wrap="none" rtlCol="0">
            <a:spAutoFit/>
          </a:bodyPr>
          <a:lstStyle/>
          <a:p>
            <a:r>
              <a:rPr lang="en-US" dirty="0">
                <a:latin typeface="Avenir Book" charset="0"/>
                <a:ea typeface="Avenir Book" charset="0"/>
                <a:cs typeface="Avenir Book" charset="0"/>
              </a:rPr>
              <a:t>w(t-1)</a:t>
            </a:r>
          </a:p>
        </p:txBody>
      </p:sp>
      <p:sp>
        <p:nvSpPr>
          <p:cNvPr id="26" name="Rectangle 25"/>
          <p:cNvSpPr/>
          <p:nvPr/>
        </p:nvSpPr>
        <p:spPr>
          <a:xfrm>
            <a:off x="2725568" y="3158158"/>
            <a:ext cx="228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27" name="TextBox 26"/>
          <p:cNvSpPr txBox="1"/>
          <p:nvPr/>
        </p:nvSpPr>
        <p:spPr>
          <a:xfrm>
            <a:off x="2137437" y="3362559"/>
            <a:ext cx="686406" cy="307777"/>
          </a:xfrm>
          <a:prstGeom prst="rect">
            <a:avLst/>
          </a:prstGeom>
          <a:noFill/>
        </p:spPr>
        <p:txBody>
          <a:bodyPr wrap="none" rtlCol="0">
            <a:spAutoFit/>
          </a:bodyPr>
          <a:lstStyle/>
          <a:p>
            <a:r>
              <a:rPr lang="en-US" dirty="0">
                <a:latin typeface="Avenir Book" charset="0"/>
                <a:ea typeface="Avenir Book" charset="0"/>
                <a:cs typeface="Avenir Book" charset="0"/>
              </a:rPr>
              <a:t>w(t+1)</a:t>
            </a:r>
          </a:p>
        </p:txBody>
      </p:sp>
      <p:sp>
        <p:nvSpPr>
          <p:cNvPr id="28" name="Rectangle 27"/>
          <p:cNvSpPr/>
          <p:nvPr/>
        </p:nvSpPr>
        <p:spPr>
          <a:xfrm>
            <a:off x="2725568" y="4049936"/>
            <a:ext cx="228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29" name="TextBox 28"/>
          <p:cNvSpPr txBox="1"/>
          <p:nvPr/>
        </p:nvSpPr>
        <p:spPr>
          <a:xfrm>
            <a:off x="2137437" y="4254337"/>
            <a:ext cx="686406" cy="307777"/>
          </a:xfrm>
          <a:prstGeom prst="rect">
            <a:avLst/>
          </a:prstGeom>
          <a:noFill/>
        </p:spPr>
        <p:txBody>
          <a:bodyPr wrap="none" rtlCol="0">
            <a:spAutoFit/>
          </a:bodyPr>
          <a:lstStyle/>
          <a:p>
            <a:r>
              <a:rPr lang="en-US" dirty="0">
                <a:latin typeface="Avenir Book" charset="0"/>
                <a:ea typeface="Avenir Book" charset="0"/>
                <a:cs typeface="Avenir Book" charset="0"/>
              </a:rPr>
              <a:t>w(t+2)</a:t>
            </a:r>
          </a:p>
        </p:txBody>
      </p:sp>
      <p:sp>
        <p:nvSpPr>
          <p:cNvPr id="30" name="Rectangle 29"/>
          <p:cNvSpPr/>
          <p:nvPr/>
        </p:nvSpPr>
        <p:spPr>
          <a:xfrm>
            <a:off x="4382918" y="2054449"/>
            <a:ext cx="171450" cy="178950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050" dirty="0"/>
          </a:p>
        </p:txBody>
      </p:sp>
      <p:sp>
        <p:nvSpPr>
          <p:cNvPr id="31" name="Rectangle 30"/>
          <p:cNvSpPr/>
          <p:nvPr/>
        </p:nvSpPr>
        <p:spPr>
          <a:xfrm>
            <a:off x="5811668" y="2603327"/>
            <a:ext cx="228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32" name="TextBox 31"/>
          <p:cNvSpPr txBox="1"/>
          <p:nvPr/>
        </p:nvSpPr>
        <p:spPr>
          <a:xfrm>
            <a:off x="6211718" y="2807728"/>
            <a:ext cx="466794" cy="307777"/>
          </a:xfrm>
          <a:prstGeom prst="rect">
            <a:avLst/>
          </a:prstGeom>
          <a:noFill/>
        </p:spPr>
        <p:txBody>
          <a:bodyPr wrap="none" rtlCol="0">
            <a:spAutoFit/>
          </a:bodyPr>
          <a:lstStyle/>
          <a:p>
            <a:r>
              <a:rPr lang="en-US" dirty="0">
                <a:latin typeface="Avenir Book" charset="0"/>
                <a:ea typeface="Avenir Book" charset="0"/>
                <a:cs typeface="Avenir Book" charset="0"/>
              </a:rPr>
              <a:t>w(t)</a:t>
            </a:r>
          </a:p>
        </p:txBody>
      </p:sp>
      <p:sp>
        <p:nvSpPr>
          <p:cNvPr id="33" name="TextBox 32"/>
          <p:cNvSpPr txBox="1"/>
          <p:nvPr/>
        </p:nvSpPr>
        <p:spPr>
          <a:xfrm>
            <a:off x="4599021" y="1364672"/>
            <a:ext cx="1795684" cy="523220"/>
          </a:xfrm>
          <a:prstGeom prst="rect">
            <a:avLst/>
          </a:prstGeom>
          <a:noFill/>
        </p:spPr>
        <p:txBody>
          <a:bodyPr wrap="none" rtlCol="0">
            <a:spAutoFit/>
          </a:bodyPr>
          <a:lstStyle/>
          <a:p>
            <a:r>
              <a:rPr lang="en-US" dirty="0" smtClean="0">
                <a:latin typeface="Avenir Book" charset="0"/>
                <a:ea typeface="Avenir Book" charset="0"/>
                <a:cs typeface="Avenir Book" charset="0"/>
              </a:rPr>
              <a:t>Single Hidden Layer</a:t>
            </a:r>
          </a:p>
          <a:p>
            <a:r>
              <a:rPr lang="en-US" dirty="0" smtClean="0">
                <a:latin typeface="Avenir Book" charset="0"/>
                <a:ea typeface="Avenir Book" charset="0"/>
                <a:cs typeface="Avenir Book" charset="0"/>
              </a:rPr>
              <a:t>(with dimension </a:t>
            </a:r>
            <a:r>
              <a:rPr lang="en-US" i="1" dirty="0" smtClean="0">
                <a:latin typeface="Avenir Book" charset="0"/>
                <a:ea typeface="Avenir Book" charset="0"/>
                <a:cs typeface="Avenir Book" charset="0"/>
              </a:rPr>
              <a:t>m</a:t>
            </a:r>
            <a:r>
              <a:rPr lang="en-US" dirty="0" smtClean="0">
                <a:latin typeface="Avenir Book" charset="0"/>
                <a:ea typeface="Avenir Book" charset="0"/>
                <a:cs typeface="Avenir Book" charset="0"/>
              </a:rPr>
              <a:t>)</a:t>
            </a:r>
            <a:endParaRPr lang="en-US" dirty="0">
              <a:latin typeface="Avenir Book" charset="0"/>
              <a:ea typeface="Avenir Book" charset="0"/>
              <a:cs typeface="Avenir Book" charset="0"/>
            </a:endParaRPr>
          </a:p>
        </p:txBody>
      </p:sp>
      <p:cxnSp>
        <p:nvCxnSpPr>
          <p:cNvPr id="34" name="Straight Arrow Connector 33"/>
          <p:cNvCxnSpPr>
            <a:stCxn id="24" idx="3"/>
          </p:cNvCxnSpPr>
          <p:nvPr/>
        </p:nvCxnSpPr>
        <p:spPr>
          <a:xfrm>
            <a:off x="2954168" y="1711550"/>
            <a:ext cx="1428750" cy="7532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6" idx="3"/>
          </p:cNvCxnSpPr>
          <p:nvPr/>
        </p:nvCxnSpPr>
        <p:spPr>
          <a:xfrm>
            <a:off x="2954168" y="2603327"/>
            <a:ext cx="1428750" cy="1385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28" idx="3"/>
          </p:cNvCxnSpPr>
          <p:nvPr/>
        </p:nvCxnSpPr>
        <p:spPr>
          <a:xfrm flipV="1">
            <a:off x="2954168" y="3084727"/>
            <a:ext cx="1428750" cy="41633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30" idx="3"/>
          </p:cNvCxnSpPr>
          <p:nvPr/>
        </p:nvCxnSpPr>
        <p:spPr>
          <a:xfrm flipV="1">
            <a:off x="2954168" y="3362559"/>
            <a:ext cx="1428750" cy="103027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34" idx="3"/>
            <a:endCxn id="35" idx="1"/>
          </p:cNvCxnSpPr>
          <p:nvPr/>
        </p:nvCxnSpPr>
        <p:spPr>
          <a:xfrm flipV="1">
            <a:off x="4554368" y="2946227"/>
            <a:ext cx="1257300" cy="297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140168" y="2718002"/>
            <a:ext cx="1871025" cy="584775"/>
          </a:xfrm>
          <a:prstGeom prst="rect">
            <a:avLst/>
          </a:prstGeom>
          <a:noFill/>
        </p:spPr>
        <p:txBody>
          <a:bodyPr wrap="none" rtlCol="0">
            <a:spAutoFit/>
          </a:bodyPr>
          <a:lstStyle/>
          <a:p>
            <a:r>
              <a:rPr lang="en-US" sz="1600" dirty="0" smtClean="0">
                <a:latin typeface="Avenir Book" charset="0"/>
                <a:ea typeface="Avenir Book" charset="0"/>
                <a:cs typeface="Avenir Book" charset="0"/>
              </a:rPr>
              <a:t>Context words</a:t>
            </a:r>
          </a:p>
          <a:p>
            <a:r>
              <a:rPr lang="en-US" sz="1600" dirty="0" smtClean="0">
                <a:latin typeface="Avenir Book" charset="0"/>
                <a:ea typeface="Avenir Book" charset="0"/>
                <a:cs typeface="Avenir Book" charset="0"/>
              </a:rPr>
              <a:t>(one hot encoded)</a:t>
            </a:r>
            <a:endParaRPr lang="en-US" sz="1600" dirty="0">
              <a:latin typeface="Avenir Book" charset="0"/>
              <a:ea typeface="Avenir Book" charset="0"/>
              <a:cs typeface="Avenir Book" charset="0"/>
            </a:endParaRPr>
          </a:p>
        </p:txBody>
      </p:sp>
      <p:sp>
        <p:nvSpPr>
          <p:cNvPr id="40" name="TextBox 39"/>
          <p:cNvSpPr txBox="1"/>
          <p:nvPr/>
        </p:nvSpPr>
        <p:spPr>
          <a:xfrm>
            <a:off x="6849962" y="2677285"/>
            <a:ext cx="1871025" cy="584775"/>
          </a:xfrm>
          <a:prstGeom prst="rect">
            <a:avLst/>
          </a:prstGeom>
          <a:noFill/>
        </p:spPr>
        <p:txBody>
          <a:bodyPr wrap="none" rtlCol="0">
            <a:spAutoFit/>
          </a:bodyPr>
          <a:lstStyle/>
          <a:p>
            <a:r>
              <a:rPr lang="en-US" sz="1600" dirty="0" smtClean="0">
                <a:latin typeface="Avenir Book" charset="0"/>
                <a:ea typeface="Avenir Book" charset="0"/>
                <a:cs typeface="Avenir Book" charset="0"/>
              </a:rPr>
              <a:t>Target word</a:t>
            </a:r>
          </a:p>
          <a:p>
            <a:r>
              <a:rPr lang="en-US" sz="1600" dirty="0" smtClean="0">
                <a:latin typeface="Avenir Book" charset="0"/>
                <a:ea typeface="Avenir Book" charset="0"/>
                <a:cs typeface="Avenir Book" charset="0"/>
              </a:rPr>
              <a:t>(one hot encoded)</a:t>
            </a:r>
            <a:endParaRPr lang="en-US" sz="1600" dirty="0">
              <a:latin typeface="Avenir Book" charset="0"/>
              <a:ea typeface="Avenir Book" charset="0"/>
              <a:cs typeface="Avenir Book" charset="0"/>
            </a:endParaRPr>
          </a:p>
        </p:txBody>
      </p:sp>
      <p:sp>
        <p:nvSpPr>
          <p:cNvPr id="41" name="object 2"/>
          <p:cNvSpPr txBox="1"/>
          <p:nvPr/>
        </p:nvSpPr>
        <p:spPr>
          <a:xfrm>
            <a:off x="398352" y="831643"/>
            <a:ext cx="8437829" cy="338554"/>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z="2200" dirty="0" smtClean="0">
                <a:latin typeface="Avenir Book" charset="0"/>
                <a:ea typeface="Avenir Book" charset="0"/>
                <a:cs typeface="Avenir Book" charset="0"/>
              </a:rPr>
              <a:t>Train a neural network on a large corpus of data</a:t>
            </a:r>
            <a:endParaRPr lang="en-US" sz="2200" dirty="0">
              <a:latin typeface="Avenir Book" charset="0"/>
              <a:ea typeface="Avenir Book" charset="0"/>
              <a:cs typeface="Avenir Book" charset="0"/>
            </a:endParaRPr>
          </a:p>
        </p:txBody>
      </p:sp>
    </p:spTree>
    <p:extLst>
      <p:ext uri="{BB962C8B-B14F-4D97-AF65-F5344CB8AC3E}">
        <p14:creationId xmlns:p14="http://schemas.microsoft.com/office/powerpoint/2010/main" val="18652906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CBOW Model</a:t>
            </a:r>
            <a:endParaRPr lang="en-US" dirty="0">
              <a:latin typeface="Avenir Book" charset="0"/>
              <a:ea typeface="Avenir Book" charset="0"/>
              <a:cs typeface="Avenir Book" charset="0"/>
            </a:endParaRPr>
          </a:p>
        </p:txBody>
      </p:sp>
      <p:sp>
        <p:nvSpPr>
          <p:cNvPr id="41" name="object 2"/>
          <p:cNvSpPr txBox="1"/>
          <p:nvPr/>
        </p:nvSpPr>
        <p:spPr>
          <a:xfrm>
            <a:off x="398352" y="821390"/>
            <a:ext cx="8437829" cy="338554"/>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z="2200" dirty="0" smtClean="0">
                <a:latin typeface="Avenir Book" charset="0"/>
                <a:ea typeface="Avenir Book" charset="0"/>
                <a:cs typeface="Avenir Book" charset="0"/>
              </a:rPr>
              <a:t>Once the network is trained, weights -&gt; word vectors</a:t>
            </a:r>
            <a:endParaRPr lang="en-US" sz="2200" dirty="0">
              <a:latin typeface="Avenir Book" charset="0"/>
              <a:ea typeface="Avenir Book" charset="0"/>
              <a:cs typeface="Avenir Book" charset="0"/>
            </a:endParaRPr>
          </a:p>
        </p:txBody>
      </p:sp>
      <p:sp>
        <p:nvSpPr>
          <p:cNvPr id="42" name="Rectangle 41"/>
          <p:cNvSpPr/>
          <p:nvPr/>
        </p:nvSpPr>
        <p:spPr>
          <a:xfrm>
            <a:off x="2725568" y="1368649"/>
            <a:ext cx="228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43" name="TextBox 42"/>
          <p:cNvSpPr txBox="1"/>
          <p:nvPr/>
        </p:nvSpPr>
        <p:spPr>
          <a:xfrm>
            <a:off x="2137437" y="1573050"/>
            <a:ext cx="625492" cy="307777"/>
          </a:xfrm>
          <a:prstGeom prst="rect">
            <a:avLst/>
          </a:prstGeom>
          <a:noFill/>
        </p:spPr>
        <p:txBody>
          <a:bodyPr wrap="none" rtlCol="0">
            <a:spAutoFit/>
          </a:bodyPr>
          <a:lstStyle/>
          <a:p>
            <a:r>
              <a:rPr lang="en-US" dirty="0">
                <a:latin typeface="Avenir Book" charset="0"/>
                <a:ea typeface="Avenir Book" charset="0"/>
                <a:cs typeface="Avenir Book" charset="0"/>
              </a:rPr>
              <a:t>w(t-2)</a:t>
            </a:r>
          </a:p>
        </p:txBody>
      </p:sp>
      <p:sp>
        <p:nvSpPr>
          <p:cNvPr id="44" name="Rectangle 43"/>
          <p:cNvSpPr/>
          <p:nvPr/>
        </p:nvSpPr>
        <p:spPr>
          <a:xfrm>
            <a:off x="2725568" y="2260427"/>
            <a:ext cx="228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45" name="TextBox 44"/>
          <p:cNvSpPr txBox="1"/>
          <p:nvPr/>
        </p:nvSpPr>
        <p:spPr>
          <a:xfrm>
            <a:off x="2137437" y="2464828"/>
            <a:ext cx="625492" cy="307777"/>
          </a:xfrm>
          <a:prstGeom prst="rect">
            <a:avLst/>
          </a:prstGeom>
          <a:noFill/>
        </p:spPr>
        <p:txBody>
          <a:bodyPr wrap="none" rtlCol="0">
            <a:spAutoFit/>
          </a:bodyPr>
          <a:lstStyle/>
          <a:p>
            <a:r>
              <a:rPr lang="en-US" dirty="0">
                <a:latin typeface="Avenir Book" charset="0"/>
                <a:ea typeface="Avenir Book" charset="0"/>
                <a:cs typeface="Avenir Book" charset="0"/>
              </a:rPr>
              <a:t>w(t-1)</a:t>
            </a:r>
          </a:p>
        </p:txBody>
      </p:sp>
      <p:sp>
        <p:nvSpPr>
          <p:cNvPr id="46" name="Rectangle 45"/>
          <p:cNvSpPr/>
          <p:nvPr/>
        </p:nvSpPr>
        <p:spPr>
          <a:xfrm>
            <a:off x="2725568" y="3158158"/>
            <a:ext cx="228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47" name="TextBox 46"/>
          <p:cNvSpPr txBox="1"/>
          <p:nvPr/>
        </p:nvSpPr>
        <p:spPr>
          <a:xfrm>
            <a:off x="2137437" y="3362559"/>
            <a:ext cx="686406" cy="307777"/>
          </a:xfrm>
          <a:prstGeom prst="rect">
            <a:avLst/>
          </a:prstGeom>
          <a:noFill/>
        </p:spPr>
        <p:txBody>
          <a:bodyPr wrap="none" rtlCol="0">
            <a:spAutoFit/>
          </a:bodyPr>
          <a:lstStyle/>
          <a:p>
            <a:r>
              <a:rPr lang="en-US" dirty="0">
                <a:latin typeface="Avenir Book" charset="0"/>
                <a:ea typeface="Avenir Book" charset="0"/>
                <a:cs typeface="Avenir Book" charset="0"/>
              </a:rPr>
              <a:t>w(t+1)</a:t>
            </a:r>
          </a:p>
        </p:txBody>
      </p:sp>
      <p:sp>
        <p:nvSpPr>
          <p:cNvPr id="48" name="Rectangle 47"/>
          <p:cNvSpPr/>
          <p:nvPr/>
        </p:nvSpPr>
        <p:spPr>
          <a:xfrm>
            <a:off x="2725568" y="4049936"/>
            <a:ext cx="228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49" name="TextBox 48"/>
          <p:cNvSpPr txBox="1"/>
          <p:nvPr/>
        </p:nvSpPr>
        <p:spPr>
          <a:xfrm>
            <a:off x="2137437" y="4254337"/>
            <a:ext cx="686406" cy="307777"/>
          </a:xfrm>
          <a:prstGeom prst="rect">
            <a:avLst/>
          </a:prstGeom>
          <a:noFill/>
        </p:spPr>
        <p:txBody>
          <a:bodyPr wrap="none" rtlCol="0">
            <a:spAutoFit/>
          </a:bodyPr>
          <a:lstStyle/>
          <a:p>
            <a:r>
              <a:rPr lang="en-US" dirty="0">
                <a:latin typeface="Avenir Book" charset="0"/>
                <a:ea typeface="Avenir Book" charset="0"/>
                <a:cs typeface="Avenir Book" charset="0"/>
              </a:rPr>
              <a:t>w(t+2)</a:t>
            </a:r>
          </a:p>
        </p:txBody>
      </p:sp>
      <p:sp>
        <p:nvSpPr>
          <p:cNvPr id="50" name="Rectangle 49"/>
          <p:cNvSpPr/>
          <p:nvPr/>
        </p:nvSpPr>
        <p:spPr>
          <a:xfrm>
            <a:off x="4382918" y="2054449"/>
            <a:ext cx="171450" cy="178950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050" dirty="0"/>
          </a:p>
        </p:txBody>
      </p:sp>
      <p:sp>
        <p:nvSpPr>
          <p:cNvPr id="51" name="Rectangle 50"/>
          <p:cNvSpPr/>
          <p:nvPr/>
        </p:nvSpPr>
        <p:spPr>
          <a:xfrm>
            <a:off x="5811668" y="2603327"/>
            <a:ext cx="228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52" name="TextBox 51"/>
          <p:cNvSpPr txBox="1"/>
          <p:nvPr/>
        </p:nvSpPr>
        <p:spPr>
          <a:xfrm>
            <a:off x="6211718" y="2807728"/>
            <a:ext cx="466794" cy="307777"/>
          </a:xfrm>
          <a:prstGeom prst="rect">
            <a:avLst/>
          </a:prstGeom>
          <a:noFill/>
        </p:spPr>
        <p:txBody>
          <a:bodyPr wrap="none" rtlCol="0">
            <a:spAutoFit/>
          </a:bodyPr>
          <a:lstStyle/>
          <a:p>
            <a:r>
              <a:rPr lang="en-US" dirty="0">
                <a:latin typeface="Avenir Book" charset="0"/>
                <a:ea typeface="Avenir Book" charset="0"/>
                <a:cs typeface="Avenir Book" charset="0"/>
              </a:rPr>
              <a:t>w(t)</a:t>
            </a:r>
          </a:p>
        </p:txBody>
      </p:sp>
      <p:sp>
        <p:nvSpPr>
          <p:cNvPr id="53" name="TextBox 52"/>
          <p:cNvSpPr txBox="1"/>
          <p:nvPr/>
        </p:nvSpPr>
        <p:spPr>
          <a:xfrm>
            <a:off x="4599021" y="1364672"/>
            <a:ext cx="1795684" cy="523220"/>
          </a:xfrm>
          <a:prstGeom prst="rect">
            <a:avLst/>
          </a:prstGeom>
          <a:noFill/>
        </p:spPr>
        <p:txBody>
          <a:bodyPr wrap="none" rtlCol="0">
            <a:spAutoFit/>
          </a:bodyPr>
          <a:lstStyle/>
          <a:p>
            <a:r>
              <a:rPr lang="en-US" dirty="0" smtClean="0">
                <a:latin typeface="Avenir Book" charset="0"/>
                <a:ea typeface="Avenir Book" charset="0"/>
                <a:cs typeface="Avenir Book" charset="0"/>
              </a:rPr>
              <a:t>Single Hidden Layer</a:t>
            </a:r>
          </a:p>
          <a:p>
            <a:r>
              <a:rPr lang="en-US" dirty="0" smtClean="0">
                <a:latin typeface="Avenir Book" charset="0"/>
                <a:ea typeface="Avenir Book" charset="0"/>
                <a:cs typeface="Avenir Book" charset="0"/>
              </a:rPr>
              <a:t>(with dimension </a:t>
            </a:r>
            <a:r>
              <a:rPr lang="en-US" i="1" dirty="0" smtClean="0">
                <a:latin typeface="Avenir Book" charset="0"/>
                <a:ea typeface="Avenir Book" charset="0"/>
                <a:cs typeface="Avenir Book" charset="0"/>
              </a:rPr>
              <a:t>m</a:t>
            </a:r>
            <a:r>
              <a:rPr lang="en-US" dirty="0" smtClean="0">
                <a:latin typeface="Avenir Book" charset="0"/>
                <a:ea typeface="Avenir Book" charset="0"/>
                <a:cs typeface="Avenir Book" charset="0"/>
              </a:rPr>
              <a:t>)</a:t>
            </a:r>
            <a:endParaRPr lang="en-US" dirty="0">
              <a:latin typeface="Avenir Book" charset="0"/>
              <a:ea typeface="Avenir Book" charset="0"/>
              <a:cs typeface="Avenir Book" charset="0"/>
            </a:endParaRPr>
          </a:p>
        </p:txBody>
      </p:sp>
      <p:cxnSp>
        <p:nvCxnSpPr>
          <p:cNvPr id="54" name="Straight Arrow Connector 53"/>
          <p:cNvCxnSpPr/>
          <p:nvPr/>
        </p:nvCxnSpPr>
        <p:spPr>
          <a:xfrm>
            <a:off x="2954168" y="1711550"/>
            <a:ext cx="1428750" cy="7532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2954168" y="2603327"/>
            <a:ext cx="1428750" cy="1385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V="1">
            <a:off x="2954168" y="3084727"/>
            <a:ext cx="1428750" cy="41633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V="1">
            <a:off x="2954168" y="3362559"/>
            <a:ext cx="1428750" cy="103027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4554368" y="2946227"/>
            <a:ext cx="1257300" cy="297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140168" y="2718002"/>
            <a:ext cx="1871025" cy="584775"/>
          </a:xfrm>
          <a:prstGeom prst="rect">
            <a:avLst/>
          </a:prstGeom>
          <a:noFill/>
        </p:spPr>
        <p:txBody>
          <a:bodyPr wrap="none" rtlCol="0">
            <a:spAutoFit/>
          </a:bodyPr>
          <a:lstStyle/>
          <a:p>
            <a:r>
              <a:rPr lang="en-US" sz="1600" dirty="0" smtClean="0">
                <a:latin typeface="Avenir Book" charset="0"/>
                <a:ea typeface="Avenir Book" charset="0"/>
                <a:cs typeface="Avenir Book" charset="0"/>
              </a:rPr>
              <a:t>Context words</a:t>
            </a:r>
          </a:p>
          <a:p>
            <a:r>
              <a:rPr lang="en-US" sz="1600" dirty="0" smtClean="0">
                <a:latin typeface="Avenir Book" charset="0"/>
                <a:ea typeface="Avenir Book" charset="0"/>
                <a:cs typeface="Avenir Book" charset="0"/>
              </a:rPr>
              <a:t>(one hot encoded)</a:t>
            </a:r>
            <a:endParaRPr lang="en-US" sz="1600" dirty="0">
              <a:latin typeface="Avenir Book" charset="0"/>
              <a:ea typeface="Avenir Book" charset="0"/>
              <a:cs typeface="Avenir Book" charset="0"/>
            </a:endParaRPr>
          </a:p>
        </p:txBody>
      </p:sp>
      <p:sp>
        <p:nvSpPr>
          <p:cNvPr id="60" name="TextBox 59"/>
          <p:cNvSpPr txBox="1"/>
          <p:nvPr/>
        </p:nvSpPr>
        <p:spPr>
          <a:xfrm>
            <a:off x="6849962" y="2677285"/>
            <a:ext cx="1871025" cy="584775"/>
          </a:xfrm>
          <a:prstGeom prst="rect">
            <a:avLst/>
          </a:prstGeom>
          <a:noFill/>
        </p:spPr>
        <p:txBody>
          <a:bodyPr wrap="none" rtlCol="0">
            <a:spAutoFit/>
          </a:bodyPr>
          <a:lstStyle/>
          <a:p>
            <a:r>
              <a:rPr lang="en-US" sz="1600" dirty="0" smtClean="0">
                <a:latin typeface="Avenir Book" charset="0"/>
                <a:ea typeface="Avenir Book" charset="0"/>
                <a:cs typeface="Avenir Book" charset="0"/>
              </a:rPr>
              <a:t>Target word</a:t>
            </a:r>
          </a:p>
          <a:p>
            <a:r>
              <a:rPr lang="en-US" sz="1600" dirty="0" smtClean="0">
                <a:latin typeface="Avenir Book" charset="0"/>
                <a:ea typeface="Avenir Book" charset="0"/>
                <a:cs typeface="Avenir Book" charset="0"/>
              </a:rPr>
              <a:t>(one hot encoded)</a:t>
            </a:r>
            <a:endParaRPr lang="en-US" sz="1600" dirty="0">
              <a:latin typeface="Avenir Book" charset="0"/>
              <a:ea typeface="Avenir Book" charset="0"/>
              <a:cs typeface="Avenir Book" charset="0"/>
            </a:endParaRPr>
          </a:p>
        </p:txBody>
      </p:sp>
    </p:spTree>
    <p:extLst>
      <p:ext uri="{BB962C8B-B14F-4D97-AF65-F5344CB8AC3E}">
        <p14:creationId xmlns:p14="http://schemas.microsoft.com/office/powerpoint/2010/main" val="12900835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CBOW Model</a:t>
            </a:r>
            <a:endParaRPr lang="en-US" dirty="0">
              <a:latin typeface="Avenir Book" charset="0"/>
              <a:ea typeface="Avenir Book" charset="0"/>
              <a:cs typeface="Avenir Book" charset="0"/>
            </a:endParaRPr>
          </a:p>
        </p:txBody>
      </p:sp>
      <p:sp>
        <p:nvSpPr>
          <p:cNvPr id="41" name="object 2"/>
          <p:cNvSpPr txBox="1"/>
          <p:nvPr/>
        </p:nvSpPr>
        <p:spPr>
          <a:xfrm>
            <a:off x="398352" y="821390"/>
            <a:ext cx="8437829" cy="338554"/>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z="2200" dirty="0" smtClean="0">
                <a:latin typeface="Avenir Book" charset="0"/>
                <a:ea typeface="Avenir Book" charset="0"/>
                <a:cs typeface="Avenir Book" charset="0"/>
              </a:rPr>
              <a:t>Once the network is trained, weights -&gt; word vectors</a:t>
            </a:r>
            <a:endParaRPr lang="en-US" sz="2200" dirty="0">
              <a:latin typeface="Avenir Book" charset="0"/>
              <a:ea typeface="Avenir Book" charset="0"/>
              <a:cs typeface="Avenir Book" charset="0"/>
            </a:endParaRPr>
          </a:p>
        </p:txBody>
      </p:sp>
      <p:sp>
        <p:nvSpPr>
          <p:cNvPr id="42" name="Rectangle 41"/>
          <p:cNvSpPr/>
          <p:nvPr/>
        </p:nvSpPr>
        <p:spPr>
          <a:xfrm>
            <a:off x="2725568" y="1368649"/>
            <a:ext cx="228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43" name="TextBox 42"/>
          <p:cNvSpPr txBox="1"/>
          <p:nvPr/>
        </p:nvSpPr>
        <p:spPr>
          <a:xfrm>
            <a:off x="2137437" y="1573050"/>
            <a:ext cx="625492" cy="307777"/>
          </a:xfrm>
          <a:prstGeom prst="rect">
            <a:avLst/>
          </a:prstGeom>
          <a:noFill/>
        </p:spPr>
        <p:txBody>
          <a:bodyPr wrap="none" rtlCol="0">
            <a:spAutoFit/>
          </a:bodyPr>
          <a:lstStyle/>
          <a:p>
            <a:r>
              <a:rPr lang="en-US" dirty="0">
                <a:latin typeface="Avenir Book" charset="0"/>
                <a:ea typeface="Avenir Book" charset="0"/>
                <a:cs typeface="Avenir Book" charset="0"/>
              </a:rPr>
              <a:t>w(t-2)</a:t>
            </a:r>
          </a:p>
        </p:txBody>
      </p:sp>
      <p:sp>
        <p:nvSpPr>
          <p:cNvPr id="44" name="Rectangle 43"/>
          <p:cNvSpPr/>
          <p:nvPr/>
        </p:nvSpPr>
        <p:spPr>
          <a:xfrm>
            <a:off x="2725568" y="2260427"/>
            <a:ext cx="228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45" name="TextBox 44"/>
          <p:cNvSpPr txBox="1"/>
          <p:nvPr/>
        </p:nvSpPr>
        <p:spPr>
          <a:xfrm>
            <a:off x="2137437" y="2464828"/>
            <a:ext cx="625492" cy="307777"/>
          </a:xfrm>
          <a:prstGeom prst="rect">
            <a:avLst/>
          </a:prstGeom>
          <a:noFill/>
        </p:spPr>
        <p:txBody>
          <a:bodyPr wrap="none" rtlCol="0">
            <a:spAutoFit/>
          </a:bodyPr>
          <a:lstStyle/>
          <a:p>
            <a:r>
              <a:rPr lang="en-US" dirty="0">
                <a:latin typeface="Avenir Book" charset="0"/>
                <a:ea typeface="Avenir Book" charset="0"/>
                <a:cs typeface="Avenir Book" charset="0"/>
              </a:rPr>
              <a:t>w(t-1)</a:t>
            </a:r>
          </a:p>
        </p:txBody>
      </p:sp>
      <p:sp>
        <p:nvSpPr>
          <p:cNvPr id="46" name="Rectangle 45"/>
          <p:cNvSpPr/>
          <p:nvPr/>
        </p:nvSpPr>
        <p:spPr>
          <a:xfrm>
            <a:off x="2725568" y="3158158"/>
            <a:ext cx="228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47" name="TextBox 46"/>
          <p:cNvSpPr txBox="1"/>
          <p:nvPr/>
        </p:nvSpPr>
        <p:spPr>
          <a:xfrm>
            <a:off x="2137437" y="3362559"/>
            <a:ext cx="686406" cy="307777"/>
          </a:xfrm>
          <a:prstGeom prst="rect">
            <a:avLst/>
          </a:prstGeom>
          <a:noFill/>
        </p:spPr>
        <p:txBody>
          <a:bodyPr wrap="none" rtlCol="0">
            <a:spAutoFit/>
          </a:bodyPr>
          <a:lstStyle/>
          <a:p>
            <a:r>
              <a:rPr lang="en-US" dirty="0">
                <a:latin typeface="Avenir Book" charset="0"/>
                <a:ea typeface="Avenir Book" charset="0"/>
                <a:cs typeface="Avenir Book" charset="0"/>
              </a:rPr>
              <a:t>w(t+1)</a:t>
            </a:r>
          </a:p>
        </p:txBody>
      </p:sp>
      <p:sp>
        <p:nvSpPr>
          <p:cNvPr id="48" name="Rectangle 47"/>
          <p:cNvSpPr/>
          <p:nvPr/>
        </p:nvSpPr>
        <p:spPr>
          <a:xfrm>
            <a:off x="2725568" y="4049936"/>
            <a:ext cx="228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49" name="TextBox 48"/>
          <p:cNvSpPr txBox="1"/>
          <p:nvPr/>
        </p:nvSpPr>
        <p:spPr>
          <a:xfrm>
            <a:off x="2137437" y="4254337"/>
            <a:ext cx="686406" cy="307777"/>
          </a:xfrm>
          <a:prstGeom prst="rect">
            <a:avLst/>
          </a:prstGeom>
          <a:noFill/>
        </p:spPr>
        <p:txBody>
          <a:bodyPr wrap="none" rtlCol="0">
            <a:spAutoFit/>
          </a:bodyPr>
          <a:lstStyle/>
          <a:p>
            <a:r>
              <a:rPr lang="en-US" dirty="0">
                <a:latin typeface="Avenir Book" charset="0"/>
                <a:ea typeface="Avenir Book" charset="0"/>
                <a:cs typeface="Avenir Book" charset="0"/>
              </a:rPr>
              <a:t>w(t+2)</a:t>
            </a:r>
          </a:p>
        </p:txBody>
      </p:sp>
      <p:sp>
        <p:nvSpPr>
          <p:cNvPr id="50" name="Rectangle 49"/>
          <p:cNvSpPr/>
          <p:nvPr/>
        </p:nvSpPr>
        <p:spPr>
          <a:xfrm>
            <a:off x="4382918" y="2054449"/>
            <a:ext cx="171450" cy="178950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050" dirty="0"/>
          </a:p>
        </p:txBody>
      </p:sp>
      <p:sp>
        <p:nvSpPr>
          <p:cNvPr id="51" name="Rectangle 50"/>
          <p:cNvSpPr/>
          <p:nvPr/>
        </p:nvSpPr>
        <p:spPr>
          <a:xfrm>
            <a:off x="5811668" y="2603327"/>
            <a:ext cx="228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52" name="TextBox 51"/>
          <p:cNvSpPr txBox="1"/>
          <p:nvPr/>
        </p:nvSpPr>
        <p:spPr>
          <a:xfrm>
            <a:off x="6211718" y="2807728"/>
            <a:ext cx="466794" cy="307777"/>
          </a:xfrm>
          <a:prstGeom prst="rect">
            <a:avLst/>
          </a:prstGeom>
          <a:noFill/>
        </p:spPr>
        <p:txBody>
          <a:bodyPr wrap="none" rtlCol="0">
            <a:spAutoFit/>
          </a:bodyPr>
          <a:lstStyle/>
          <a:p>
            <a:r>
              <a:rPr lang="en-US" dirty="0">
                <a:latin typeface="Avenir Book" charset="0"/>
                <a:ea typeface="Avenir Book" charset="0"/>
                <a:cs typeface="Avenir Book" charset="0"/>
              </a:rPr>
              <a:t>w(t)</a:t>
            </a:r>
          </a:p>
        </p:txBody>
      </p:sp>
      <p:sp>
        <p:nvSpPr>
          <p:cNvPr id="53" name="TextBox 52"/>
          <p:cNvSpPr txBox="1"/>
          <p:nvPr/>
        </p:nvSpPr>
        <p:spPr>
          <a:xfrm>
            <a:off x="4599021" y="1364672"/>
            <a:ext cx="1795684" cy="523220"/>
          </a:xfrm>
          <a:prstGeom prst="rect">
            <a:avLst/>
          </a:prstGeom>
          <a:noFill/>
        </p:spPr>
        <p:txBody>
          <a:bodyPr wrap="none" rtlCol="0">
            <a:spAutoFit/>
          </a:bodyPr>
          <a:lstStyle/>
          <a:p>
            <a:r>
              <a:rPr lang="en-US" dirty="0" smtClean="0">
                <a:latin typeface="Avenir Book" charset="0"/>
                <a:ea typeface="Avenir Book" charset="0"/>
                <a:cs typeface="Avenir Book" charset="0"/>
              </a:rPr>
              <a:t>Single Hidden Layer</a:t>
            </a:r>
          </a:p>
          <a:p>
            <a:r>
              <a:rPr lang="en-US" dirty="0" smtClean="0">
                <a:latin typeface="Avenir Book" charset="0"/>
                <a:ea typeface="Avenir Book" charset="0"/>
                <a:cs typeface="Avenir Book" charset="0"/>
              </a:rPr>
              <a:t>(with dimension </a:t>
            </a:r>
            <a:r>
              <a:rPr lang="en-US" i="1" dirty="0" smtClean="0">
                <a:latin typeface="Avenir Book" charset="0"/>
                <a:ea typeface="Avenir Book" charset="0"/>
                <a:cs typeface="Avenir Book" charset="0"/>
              </a:rPr>
              <a:t>m</a:t>
            </a:r>
            <a:r>
              <a:rPr lang="en-US" dirty="0" smtClean="0">
                <a:latin typeface="Avenir Book" charset="0"/>
                <a:ea typeface="Avenir Book" charset="0"/>
                <a:cs typeface="Avenir Book" charset="0"/>
              </a:rPr>
              <a:t>)</a:t>
            </a:r>
            <a:endParaRPr lang="en-US" dirty="0">
              <a:latin typeface="Avenir Book" charset="0"/>
              <a:ea typeface="Avenir Book" charset="0"/>
              <a:cs typeface="Avenir Book" charset="0"/>
            </a:endParaRPr>
          </a:p>
        </p:txBody>
      </p:sp>
      <p:cxnSp>
        <p:nvCxnSpPr>
          <p:cNvPr id="54" name="Straight Arrow Connector 53"/>
          <p:cNvCxnSpPr/>
          <p:nvPr/>
        </p:nvCxnSpPr>
        <p:spPr>
          <a:xfrm>
            <a:off x="2954168" y="1711550"/>
            <a:ext cx="1428750" cy="75327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2954168" y="2603327"/>
            <a:ext cx="1428750" cy="13850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V="1">
            <a:off x="2954168" y="3084727"/>
            <a:ext cx="1428750" cy="41633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V="1">
            <a:off x="2954168" y="3362559"/>
            <a:ext cx="1428750" cy="103027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4554368" y="2946227"/>
            <a:ext cx="1257300" cy="297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140168" y="2718002"/>
            <a:ext cx="1871025" cy="584775"/>
          </a:xfrm>
          <a:prstGeom prst="rect">
            <a:avLst/>
          </a:prstGeom>
          <a:noFill/>
        </p:spPr>
        <p:txBody>
          <a:bodyPr wrap="none" rtlCol="0">
            <a:spAutoFit/>
          </a:bodyPr>
          <a:lstStyle/>
          <a:p>
            <a:r>
              <a:rPr lang="en-US" sz="1600" dirty="0" smtClean="0">
                <a:latin typeface="Avenir Book" charset="0"/>
                <a:ea typeface="Avenir Book" charset="0"/>
                <a:cs typeface="Avenir Book" charset="0"/>
              </a:rPr>
              <a:t>Context words</a:t>
            </a:r>
          </a:p>
          <a:p>
            <a:r>
              <a:rPr lang="en-US" sz="1600" dirty="0" smtClean="0">
                <a:latin typeface="Avenir Book" charset="0"/>
                <a:ea typeface="Avenir Book" charset="0"/>
                <a:cs typeface="Avenir Book" charset="0"/>
              </a:rPr>
              <a:t>(one hot encoded)</a:t>
            </a:r>
            <a:endParaRPr lang="en-US" sz="1600" dirty="0">
              <a:latin typeface="Avenir Book" charset="0"/>
              <a:ea typeface="Avenir Book" charset="0"/>
              <a:cs typeface="Avenir Book" charset="0"/>
            </a:endParaRPr>
          </a:p>
        </p:txBody>
      </p:sp>
      <p:sp>
        <p:nvSpPr>
          <p:cNvPr id="60" name="TextBox 59"/>
          <p:cNvSpPr txBox="1"/>
          <p:nvPr/>
        </p:nvSpPr>
        <p:spPr>
          <a:xfrm>
            <a:off x="6849962" y="2677285"/>
            <a:ext cx="1871025" cy="584775"/>
          </a:xfrm>
          <a:prstGeom prst="rect">
            <a:avLst/>
          </a:prstGeom>
          <a:noFill/>
        </p:spPr>
        <p:txBody>
          <a:bodyPr wrap="none" rtlCol="0">
            <a:spAutoFit/>
          </a:bodyPr>
          <a:lstStyle/>
          <a:p>
            <a:r>
              <a:rPr lang="en-US" sz="1600" dirty="0" smtClean="0">
                <a:latin typeface="Avenir Book" charset="0"/>
                <a:ea typeface="Avenir Book" charset="0"/>
                <a:cs typeface="Avenir Book" charset="0"/>
              </a:rPr>
              <a:t>Target word</a:t>
            </a:r>
          </a:p>
          <a:p>
            <a:r>
              <a:rPr lang="en-US" sz="1600" dirty="0" smtClean="0">
                <a:latin typeface="Avenir Book" charset="0"/>
                <a:ea typeface="Avenir Book" charset="0"/>
                <a:cs typeface="Avenir Book" charset="0"/>
              </a:rPr>
              <a:t>(one hot encoded)</a:t>
            </a:r>
            <a:endParaRPr lang="en-US" sz="1600" dirty="0">
              <a:latin typeface="Avenir Book" charset="0"/>
              <a:ea typeface="Avenir Book" charset="0"/>
              <a:cs typeface="Avenir Book" charset="0"/>
            </a:endParaRPr>
          </a:p>
        </p:txBody>
      </p:sp>
    </p:spTree>
    <p:extLst>
      <p:ext uri="{BB962C8B-B14F-4D97-AF65-F5344CB8AC3E}">
        <p14:creationId xmlns:p14="http://schemas.microsoft.com/office/powerpoint/2010/main" val="117395544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 name="Group 65"/>
          <p:cNvGrpSpPr/>
          <p:nvPr/>
        </p:nvGrpSpPr>
        <p:grpSpPr>
          <a:xfrm rot="10800000">
            <a:off x="2544912" y="1360958"/>
            <a:ext cx="3314700" cy="3367087"/>
            <a:chOff x="3808412" y="2216151"/>
            <a:chExt cx="4419600" cy="4489449"/>
          </a:xfrm>
        </p:grpSpPr>
        <p:sp>
          <p:nvSpPr>
            <p:cNvPr id="67" name="Rectangle 66"/>
            <p:cNvSpPr/>
            <p:nvPr/>
          </p:nvSpPr>
          <p:spPr>
            <a:xfrm>
              <a:off x="3808412" y="2216151"/>
              <a:ext cx="304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68" name="Rectangle 67"/>
            <p:cNvSpPr/>
            <p:nvPr/>
          </p:nvSpPr>
          <p:spPr>
            <a:xfrm>
              <a:off x="3808412" y="3405188"/>
              <a:ext cx="304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69" name="Rectangle 68"/>
            <p:cNvSpPr/>
            <p:nvPr/>
          </p:nvSpPr>
          <p:spPr>
            <a:xfrm>
              <a:off x="3808412" y="4602163"/>
              <a:ext cx="304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70" name="Rectangle 69"/>
            <p:cNvSpPr/>
            <p:nvPr/>
          </p:nvSpPr>
          <p:spPr>
            <a:xfrm>
              <a:off x="3808412" y="5791200"/>
              <a:ext cx="304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71" name="Rectangle 70"/>
            <p:cNvSpPr/>
            <p:nvPr/>
          </p:nvSpPr>
          <p:spPr>
            <a:xfrm>
              <a:off x="6018212" y="3130551"/>
              <a:ext cx="228600" cy="23860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050" dirty="0"/>
            </a:p>
          </p:txBody>
        </p:sp>
        <p:sp>
          <p:nvSpPr>
            <p:cNvPr id="72" name="Rectangle 71"/>
            <p:cNvSpPr/>
            <p:nvPr/>
          </p:nvSpPr>
          <p:spPr>
            <a:xfrm>
              <a:off x="7923212" y="3862388"/>
              <a:ext cx="304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cxnSp>
          <p:nvCxnSpPr>
            <p:cNvPr id="74" name="Straight Arrow Connector 73"/>
            <p:cNvCxnSpPr/>
            <p:nvPr/>
          </p:nvCxnSpPr>
          <p:spPr>
            <a:xfrm>
              <a:off x="4113212" y="4051864"/>
              <a:ext cx="1905000" cy="184667"/>
            </a:xfrm>
            <a:prstGeom prst="straightConnector1">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flipV="1">
              <a:off x="4113212" y="4652104"/>
              <a:ext cx="1905000" cy="555109"/>
            </a:xfrm>
            <a:prstGeom prst="straightConnector1">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68" idx="3"/>
            </p:cNvCxnSpPr>
            <p:nvPr/>
          </p:nvCxnSpPr>
          <p:spPr>
            <a:xfrm flipV="1">
              <a:off x="4113212" y="4874697"/>
              <a:ext cx="1905000" cy="1373703"/>
            </a:xfrm>
            <a:prstGeom prst="straightConnector1">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stCxn id="72" idx="3"/>
            </p:cNvCxnSpPr>
            <p:nvPr/>
          </p:nvCxnSpPr>
          <p:spPr>
            <a:xfrm flipV="1">
              <a:off x="6246812" y="4319588"/>
              <a:ext cx="1676400" cy="3969"/>
            </a:xfrm>
            <a:prstGeom prst="straightConnector1">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Skip-gram Model</a:t>
            </a:r>
            <a:endParaRPr lang="en-US" dirty="0">
              <a:latin typeface="Avenir Book" charset="0"/>
              <a:ea typeface="Avenir Book" charset="0"/>
              <a:cs typeface="Avenir Book" charset="0"/>
            </a:endParaRPr>
          </a:p>
        </p:txBody>
      </p:sp>
      <p:sp>
        <p:nvSpPr>
          <p:cNvPr id="23" name="TextBox 22"/>
          <p:cNvSpPr txBox="1"/>
          <p:nvPr/>
        </p:nvSpPr>
        <p:spPr>
          <a:xfrm>
            <a:off x="5892498" y="1664507"/>
            <a:ext cx="625492" cy="307777"/>
          </a:xfrm>
          <a:prstGeom prst="rect">
            <a:avLst/>
          </a:prstGeom>
          <a:noFill/>
        </p:spPr>
        <p:txBody>
          <a:bodyPr wrap="none" rtlCol="0">
            <a:spAutoFit/>
          </a:bodyPr>
          <a:lstStyle/>
          <a:p>
            <a:r>
              <a:rPr lang="en-US" dirty="0">
                <a:latin typeface="Avenir Book" charset="0"/>
                <a:ea typeface="Avenir Book" charset="0"/>
                <a:cs typeface="Avenir Book" charset="0"/>
              </a:rPr>
              <a:t>w(t-2)</a:t>
            </a:r>
          </a:p>
        </p:txBody>
      </p:sp>
      <p:sp>
        <p:nvSpPr>
          <p:cNvPr id="25" name="TextBox 24"/>
          <p:cNvSpPr txBox="1"/>
          <p:nvPr/>
        </p:nvSpPr>
        <p:spPr>
          <a:xfrm>
            <a:off x="5912343" y="2453946"/>
            <a:ext cx="625492" cy="307777"/>
          </a:xfrm>
          <a:prstGeom prst="rect">
            <a:avLst/>
          </a:prstGeom>
          <a:noFill/>
        </p:spPr>
        <p:txBody>
          <a:bodyPr wrap="none" rtlCol="0">
            <a:spAutoFit/>
          </a:bodyPr>
          <a:lstStyle/>
          <a:p>
            <a:r>
              <a:rPr lang="en-US" dirty="0">
                <a:latin typeface="Avenir Book" charset="0"/>
                <a:ea typeface="Avenir Book" charset="0"/>
                <a:cs typeface="Avenir Book" charset="0"/>
              </a:rPr>
              <a:t>w(t-1)</a:t>
            </a:r>
          </a:p>
        </p:txBody>
      </p:sp>
      <p:sp>
        <p:nvSpPr>
          <p:cNvPr id="27" name="TextBox 26"/>
          <p:cNvSpPr txBox="1"/>
          <p:nvPr/>
        </p:nvSpPr>
        <p:spPr>
          <a:xfrm>
            <a:off x="5862041" y="3465334"/>
            <a:ext cx="686406" cy="307777"/>
          </a:xfrm>
          <a:prstGeom prst="rect">
            <a:avLst/>
          </a:prstGeom>
          <a:noFill/>
        </p:spPr>
        <p:txBody>
          <a:bodyPr wrap="none" rtlCol="0">
            <a:spAutoFit/>
          </a:bodyPr>
          <a:lstStyle/>
          <a:p>
            <a:r>
              <a:rPr lang="en-US" dirty="0">
                <a:latin typeface="Avenir Book" charset="0"/>
                <a:ea typeface="Avenir Book" charset="0"/>
                <a:cs typeface="Avenir Book" charset="0"/>
              </a:rPr>
              <a:t>w(t+1)</a:t>
            </a:r>
          </a:p>
        </p:txBody>
      </p:sp>
      <p:sp>
        <p:nvSpPr>
          <p:cNvPr id="29" name="TextBox 28"/>
          <p:cNvSpPr txBox="1"/>
          <p:nvPr/>
        </p:nvSpPr>
        <p:spPr>
          <a:xfrm>
            <a:off x="5912343" y="4299786"/>
            <a:ext cx="686406" cy="307777"/>
          </a:xfrm>
          <a:prstGeom prst="rect">
            <a:avLst/>
          </a:prstGeom>
          <a:noFill/>
        </p:spPr>
        <p:txBody>
          <a:bodyPr wrap="none" rtlCol="0">
            <a:spAutoFit/>
          </a:bodyPr>
          <a:lstStyle/>
          <a:p>
            <a:r>
              <a:rPr lang="en-US" dirty="0">
                <a:latin typeface="Avenir Book" charset="0"/>
                <a:ea typeface="Avenir Book" charset="0"/>
                <a:cs typeface="Avenir Book" charset="0"/>
              </a:rPr>
              <a:t>w(t+2)</a:t>
            </a:r>
          </a:p>
        </p:txBody>
      </p:sp>
      <p:sp>
        <p:nvSpPr>
          <p:cNvPr id="32" name="TextBox 31"/>
          <p:cNvSpPr txBox="1"/>
          <p:nvPr/>
        </p:nvSpPr>
        <p:spPr>
          <a:xfrm>
            <a:off x="1823606" y="3026798"/>
            <a:ext cx="466794" cy="307777"/>
          </a:xfrm>
          <a:prstGeom prst="rect">
            <a:avLst/>
          </a:prstGeom>
          <a:noFill/>
        </p:spPr>
        <p:txBody>
          <a:bodyPr wrap="none" rtlCol="0">
            <a:spAutoFit/>
          </a:bodyPr>
          <a:lstStyle/>
          <a:p>
            <a:r>
              <a:rPr lang="en-US" dirty="0">
                <a:latin typeface="Avenir Book" charset="0"/>
                <a:ea typeface="Avenir Book" charset="0"/>
                <a:cs typeface="Avenir Book" charset="0"/>
              </a:rPr>
              <a:t>w(t)</a:t>
            </a:r>
          </a:p>
        </p:txBody>
      </p:sp>
      <p:sp>
        <p:nvSpPr>
          <p:cNvPr id="33" name="TextBox 32"/>
          <p:cNvSpPr txBox="1"/>
          <p:nvPr/>
        </p:nvSpPr>
        <p:spPr>
          <a:xfrm>
            <a:off x="2667763" y="1455717"/>
            <a:ext cx="1795684" cy="523220"/>
          </a:xfrm>
          <a:prstGeom prst="rect">
            <a:avLst/>
          </a:prstGeom>
          <a:noFill/>
        </p:spPr>
        <p:txBody>
          <a:bodyPr wrap="none" rtlCol="0">
            <a:spAutoFit/>
          </a:bodyPr>
          <a:lstStyle/>
          <a:p>
            <a:r>
              <a:rPr lang="en-US" dirty="0" smtClean="0">
                <a:latin typeface="Avenir Book" charset="0"/>
                <a:ea typeface="Avenir Book" charset="0"/>
                <a:cs typeface="Avenir Book" charset="0"/>
              </a:rPr>
              <a:t>Single Hidden Layer</a:t>
            </a:r>
          </a:p>
          <a:p>
            <a:r>
              <a:rPr lang="en-US" dirty="0" smtClean="0">
                <a:latin typeface="Avenir Book" charset="0"/>
                <a:ea typeface="Avenir Book" charset="0"/>
                <a:cs typeface="Avenir Book" charset="0"/>
              </a:rPr>
              <a:t>Neural Network</a:t>
            </a:r>
            <a:endParaRPr lang="en-US" dirty="0">
              <a:latin typeface="Avenir Book" charset="0"/>
              <a:ea typeface="Avenir Book" charset="0"/>
              <a:cs typeface="Avenir Book" charset="0"/>
            </a:endParaRPr>
          </a:p>
        </p:txBody>
      </p:sp>
      <p:sp>
        <p:nvSpPr>
          <p:cNvPr id="39" name="TextBox 38"/>
          <p:cNvSpPr txBox="1"/>
          <p:nvPr/>
        </p:nvSpPr>
        <p:spPr>
          <a:xfrm>
            <a:off x="6828733" y="2908591"/>
            <a:ext cx="1871025" cy="584775"/>
          </a:xfrm>
          <a:prstGeom prst="rect">
            <a:avLst/>
          </a:prstGeom>
          <a:noFill/>
        </p:spPr>
        <p:txBody>
          <a:bodyPr wrap="none" rtlCol="0">
            <a:spAutoFit/>
          </a:bodyPr>
          <a:lstStyle/>
          <a:p>
            <a:r>
              <a:rPr lang="en-US" sz="1600" dirty="0" smtClean="0">
                <a:latin typeface="Avenir Book" charset="0"/>
                <a:ea typeface="Avenir Book" charset="0"/>
                <a:cs typeface="Avenir Book" charset="0"/>
              </a:rPr>
              <a:t>Context words</a:t>
            </a:r>
          </a:p>
          <a:p>
            <a:r>
              <a:rPr lang="en-US" sz="1600" dirty="0" smtClean="0">
                <a:latin typeface="Avenir Book" charset="0"/>
                <a:ea typeface="Avenir Book" charset="0"/>
                <a:cs typeface="Avenir Book" charset="0"/>
              </a:rPr>
              <a:t>(one hot encoded)</a:t>
            </a:r>
            <a:endParaRPr lang="en-US" sz="1600" dirty="0">
              <a:latin typeface="Avenir Book" charset="0"/>
              <a:ea typeface="Avenir Book" charset="0"/>
              <a:cs typeface="Avenir Book" charset="0"/>
            </a:endParaRPr>
          </a:p>
        </p:txBody>
      </p:sp>
      <p:sp>
        <p:nvSpPr>
          <p:cNvPr id="40" name="TextBox 39"/>
          <p:cNvSpPr txBox="1"/>
          <p:nvPr/>
        </p:nvSpPr>
        <p:spPr>
          <a:xfrm>
            <a:off x="66149" y="2909485"/>
            <a:ext cx="1871025" cy="584775"/>
          </a:xfrm>
          <a:prstGeom prst="rect">
            <a:avLst/>
          </a:prstGeom>
          <a:noFill/>
        </p:spPr>
        <p:txBody>
          <a:bodyPr wrap="none" rtlCol="0">
            <a:spAutoFit/>
          </a:bodyPr>
          <a:lstStyle/>
          <a:p>
            <a:r>
              <a:rPr lang="en-US" sz="1600" dirty="0" smtClean="0">
                <a:latin typeface="Avenir Book" charset="0"/>
                <a:ea typeface="Avenir Book" charset="0"/>
                <a:cs typeface="Avenir Book" charset="0"/>
              </a:rPr>
              <a:t>Target word</a:t>
            </a:r>
          </a:p>
          <a:p>
            <a:r>
              <a:rPr lang="en-US" sz="1600" dirty="0" smtClean="0">
                <a:latin typeface="Avenir Book" charset="0"/>
                <a:ea typeface="Avenir Book" charset="0"/>
                <a:cs typeface="Avenir Book" charset="0"/>
              </a:rPr>
              <a:t>(one hot encoded)</a:t>
            </a:r>
            <a:endParaRPr lang="en-US" sz="1600" dirty="0">
              <a:latin typeface="Avenir Book" charset="0"/>
              <a:ea typeface="Avenir Book" charset="0"/>
              <a:cs typeface="Avenir Book" charset="0"/>
            </a:endParaRPr>
          </a:p>
        </p:txBody>
      </p:sp>
      <p:sp>
        <p:nvSpPr>
          <p:cNvPr id="376" name="object 2"/>
          <p:cNvSpPr txBox="1"/>
          <p:nvPr/>
        </p:nvSpPr>
        <p:spPr>
          <a:xfrm>
            <a:off x="398352" y="821390"/>
            <a:ext cx="8437829" cy="338554"/>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sz="2200" dirty="0" smtClean="0">
                <a:latin typeface="Avenir Book" charset="0"/>
                <a:ea typeface="Avenir Book" charset="0"/>
                <a:cs typeface="Avenir Book" charset="0"/>
              </a:rPr>
              <a:t>Same idea, except we predict the context from the target.</a:t>
            </a:r>
            <a:endParaRPr lang="en-US" sz="2200" dirty="0">
              <a:latin typeface="Avenir Book" charset="0"/>
              <a:ea typeface="Avenir Book" charset="0"/>
              <a:cs typeface="Avenir Book" charset="0"/>
            </a:endParaRPr>
          </a:p>
        </p:txBody>
      </p:sp>
      <p:cxnSp>
        <p:nvCxnSpPr>
          <p:cNvPr id="6" name="Straight Arrow Connector 5"/>
          <p:cNvCxnSpPr>
            <a:endCxn id="67" idx="3"/>
          </p:cNvCxnSpPr>
          <p:nvPr/>
        </p:nvCxnSpPr>
        <p:spPr>
          <a:xfrm>
            <a:off x="4202261" y="3426754"/>
            <a:ext cx="1428751" cy="958391"/>
          </a:xfrm>
          <a:prstGeom prst="straightConnector1">
            <a:avLst/>
          </a:prstGeom>
          <a:ln>
            <a:solidFill>
              <a:schemeClr val="accent6"/>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88627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smtClean="0">
                <a:latin typeface="Avenir Book" charset="0"/>
                <a:ea typeface="Avenir Book" charset="0"/>
                <a:cs typeface="Avenir Book" charset="0"/>
              </a:rPr>
              <a:t>Word2Vec</a:t>
            </a:r>
            <a:endParaRPr lang="en-US" dirty="0">
              <a:latin typeface="Avenir Book" charset="0"/>
              <a:ea typeface="Avenir Book" charset="0"/>
              <a:cs typeface="Avenir Book" charset="0"/>
            </a:endParaRPr>
          </a:p>
        </p:txBody>
      </p:sp>
      <p:sp>
        <p:nvSpPr>
          <p:cNvPr id="24" name="Rectangle 23"/>
          <p:cNvSpPr/>
          <p:nvPr/>
        </p:nvSpPr>
        <p:spPr>
          <a:xfrm>
            <a:off x="398352" y="1227244"/>
            <a:ext cx="8192764" cy="2800767"/>
          </a:xfrm>
          <a:prstGeom prst="rect">
            <a:avLst/>
          </a:prstGeom>
        </p:spPr>
        <p:txBody>
          <a:bodyPr wrap="square">
            <a:spAutoFit/>
          </a:bodyPr>
          <a:lstStyle/>
          <a:p>
            <a:pPr marL="457200" lvl="0" indent="-457200">
              <a:buFont typeface="Arial" charset="0"/>
              <a:buChar char="•"/>
            </a:pPr>
            <a:r>
              <a:rPr lang="en-US" sz="2200" i="1" dirty="0">
                <a:latin typeface="Avenir Book" charset="0"/>
                <a:ea typeface="Avenir Book" charset="0"/>
                <a:cs typeface="Avenir Book" charset="0"/>
              </a:rPr>
              <a:t>Distributed Representations of Words and Phrases and Their Compositionality </a:t>
            </a:r>
            <a:r>
              <a:rPr lang="en-US" sz="2200" dirty="0" smtClean="0">
                <a:latin typeface="Avenir Book" charset="0"/>
                <a:ea typeface="Avenir Book" charset="0"/>
                <a:cs typeface="Avenir Book" charset="0"/>
              </a:rPr>
              <a:t>– </a:t>
            </a:r>
            <a:r>
              <a:rPr lang="en-US" sz="2200" dirty="0" err="1" smtClean="0">
                <a:latin typeface="Avenir Book" charset="0"/>
                <a:ea typeface="Avenir Book" charset="0"/>
                <a:cs typeface="Avenir Book" charset="0"/>
              </a:rPr>
              <a:t>Mikolov</a:t>
            </a:r>
            <a:r>
              <a:rPr lang="en-US" sz="2200" dirty="0" smtClean="0">
                <a:latin typeface="Avenir Book" charset="0"/>
                <a:ea typeface="Avenir Book" charset="0"/>
                <a:cs typeface="Avenir Book" charset="0"/>
              </a:rPr>
              <a:t> et al.</a:t>
            </a:r>
          </a:p>
          <a:p>
            <a:pPr marL="457200" lvl="0" indent="-457200">
              <a:buFont typeface="Arial" charset="0"/>
              <a:buChar char="•"/>
            </a:pPr>
            <a:r>
              <a:rPr lang="en-US" sz="2200" dirty="0" smtClean="0">
                <a:latin typeface="Avenir Book" charset="0"/>
                <a:ea typeface="Avenir Book" charset="0"/>
                <a:cs typeface="Avenir Book" charset="0"/>
              </a:rPr>
              <a:t>Uses a Skip-gram model to train on a large corpus</a:t>
            </a:r>
          </a:p>
          <a:p>
            <a:pPr marL="457200" lvl="0" indent="-457200">
              <a:buFont typeface="Arial" charset="0"/>
              <a:buChar char="•"/>
            </a:pPr>
            <a:r>
              <a:rPr lang="en-US" sz="2200" dirty="0" smtClean="0">
                <a:latin typeface="Avenir Book" charset="0"/>
                <a:ea typeface="Avenir Book" charset="0"/>
                <a:cs typeface="Avenir Book" charset="0"/>
              </a:rPr>
              <a:t>Lots of details to make it work better</a:t>
            </a:r>
          </a:p>
          <a:p>
            <a:pPr marL="800100" lvl="0" indent="-342900">
              <a:buFont typeface="Courier New" charset="0"/>
              <a:buChar char="o"/>
            </a:pPr>
            <a:r>
              <a:rPr lang="en-US" sz="2200" dirty="0" smtClean="0">
                <a:latin typeface="Avenir Book" charset="0"/>
                <a:ea typeface="Avenir Book" charset="0"/>
                <a:cs typeface="Avenir Book" charset="0"/>
              </a:rPr>
              <a:t>Aggregation of multi-word phrases (e.g. Boston Globe)</a:t>
            </a:r>
          </a:p>
          <a:p>
            <a:pPr marL="800100" lvl="0" indent="-342900">
              <a:buFont typeface="Courier New" charset="0"/>
              <a:buChar char="o"/>
            </a:pPr>
            <a:r>
              <a:rPr lang="en-US" sz="2200" dirty="0" smtClean="0">
                <a:latin typeface="Avenir Book" charset="0"/>
                <a:ea typeface="Avenir Book" charset="0"/>
                <a:cs typeface="Avenir Book" charset="0"/>
              </a:rPr>
              <a:t>Subsampling (i.e. oversample less common words)</a:t>
            </a:r>
          </a:p>
          <a:p>
            <a:pPr marL="800100" lvl="0" indent="-342900">
              <a:buFont typeface="Courier New" charset="0"/>
              <a:buChar char="o"/>
            </a:pPr>
            <a:r>
              <a:rPr lang="en-US" sz="2200" dirty="0" smtClean="0">
                <a:latin typeface="Avenir Book" charset="0"/>
                <a:ea typeface="Avenir Book" charset="0"/>
                <a:cs typeface="Avenir Book" charset="0"/>
              </a:rPr>
              <a:t>Negative Sampling (give network examples of wrong words)</a:t>
            </a:r>
          </a:p>
        </p:txBody>
      </p:sp>
    </p:spTree>
    <p:extLst>
      <p:ext uri="{BB962C8B-B14F-4D97-AF65-F5344CB8AC3E}">
        <p14:creationId xmlns:p14="http://schemas.microsoft.com/office/powerpoint/2010/main" val="11307973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GloVe</a:t>
            </a:r>
            <a:endParaRPr lang="en-US" dirty="0">
              <a:latin typeface="Avenir Book" charset="0"/>
              <a:ea typeface="Avenir Book" charset="0"/>
              <a:cs typeface="Avenir Book" charset="0"/>
            </a:endParaRPr>
          </a:p>
        </p:txBody>
      </p:sp>
      <p:sp>
        <p:nvSpPr>
          <p:cNvPr id="24" name="Rectangle 23"/>
          <p:cNvSpPr/>
          <p:nvPr/>
        </p:nvSpPr>
        <p:spPr>
          <a:xfrm>
            <a:off x="398352" y="871847"/>
            <a:ext cx="8192764" cy="1107996"/>
          </a:xfrm>
          <a:prstGeom prst="rect">
            <a:avLst/>
          </a:prstGeom>
        </p:spPr>
        <p:txBody>
          <a:bodyPr wrap="square">
            <a:spAutoFit/>
          </a:bodyPr>
          <a:lstStyle/>
          <a:p>
            <a:pPr marL="457200" lvl="0" indent="-457200">
              <a:buFont typeface="Arial" charset="0"/>
              <a:buChar char="•"/>
            </a:pPr>
            <a:r>
              <a:rPr lang="en-US" sz="2200" dirty="0" smtClean="0">
                <a:latin typeface="Avenir Book" charset="0"/>
                <a:ea typeface="Avenir Book" charset="0"/>
                <a:cs typeface="Avenir Book" charset="0"/>
              </a:rPr>
              <a:t>Global Vectors for Word Representation (</a:t>
            </a:r>
            <a:r>
              <a:rPr lang="en-US" sz="2200" dirty="0" err="1" smtClean="0">
                <a:latin typeface="Avenir Book" charset="0"/>
                <a:ea typeface="Avenir Book" charset="0"/>
                <a:cs typeface="Avenir Book" charset="0"/>
              </a:rPr>
              <a:t>GloVe</a:t>
            </a:r>
            <a:r>
              <a:rPr lang="en-US" sz="2200" dirty="0" smtClean="0">
                <a:latin typeface="Avenir Book" charset="0"/>
                <a:ea typeface="Avenir Book" charset="0"/>
                <a:cs typeface="Avenir Book" charset="0"/>
              </a:rPr>
              <a:t>)</a:t>
            </a:r>
          </a:p>
          <a:p>
            <a:pPr marL="457200" indent="-457200">
              <a:buFont typeface="Arial" charset="0"/>
              <a:buChar char="•"/>
            </a:pPr>
            <a:r>
              <a:rPr lang="en-US" sz="2200" dirty="0">
                <a:latin typeface="Avenir Book" charset="0"/>
                <a:ea typeface="Avenir Book" charset="0"/>
                <a:cs typeface="Avenir Book" charset="0"/>
              </a:rPr>
              <a:t>Use co-occurrence matrix with neighboring words to determine </a:t>
            </a:r>
            <a:r>
              <a:rPr lang="en-US" sz="2200" dirty="0" smtClean="0">
                <a:latin typeface="Avenir Book" charset="0"/>
                <a:ea typeface="Avenir Book" charset="0"/>
                <a:cs typeface="Avenir Book" charset="0"/>
              </a:rPr>
              <a:t>similarity</a:t>
            </a:r>
          </a:p>
        </p:txBody>
      </p:sp>
      <mc:AlternateContent xmlns:mc="http://schemas.openxmlformats.org/markup-compatibility/2006" xmlns:a14="http://schemas.microsoft.com/office/drawing/2010/main">
        <mc:Choice Requires="a14">
          <p:sp>
            <p:nvSpPr>
              <p:cNvPr id="4" name="TextBox 3"/>
              <p:cNvSpPr txBox="1"/>
              <p:nvPr/>
            </p:nvSpPr>
            <p:spPr>
              <a:xfrm>
                <a:off x="1992316" y="2271551"/>
                <a:ext cx="5249899" cy="121533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700" i="1">
                          <a:latin typeface="Cambria Math" charset="0"/>
                        </a:rPr>
                        <m:t>𝐽</m:t>
                      </m:r>
                      <m:r>
                        <a:rPr lang="en-US" sz="2700" i="1">
                          <a:latin typeface="Cambria Math" charset="0"/>
                        </a:rPr>
                        <m:t>=</m:t>
                      </m:r>
                      <m:f>
                        <m:fPr>
                          <m:ctrlPr>
                            <a:rPr lang="mr-IN" sz="2700" i="1">
                              <a:latin typeface="Cambria Math" panose="02040503050406030204" pitchFamily="18" charset="0"/>
                            </a:rPr>
                          </m:ctrlPr>
                        </m:fPr>
                        <m:num>
                          <m:r>
                            <a:rPr lang="en-US" sz="2700" i="1">
                              <a:latin typeface="Cambria Math" charset="0"/>
                            </a:rPr>
                            <m:t>1</m:t>
                          </m:r>
                        </m:num>
                        <m:den>
                          <m:r>
                            <a:rPr lang="en-US" sz="2700" i="1">
                              <a:latin typeface="Cambria Math" charset="0"/>
                            </a:rPr>
                            <m:t>2</m:t>
                          </m:r>
                        </m:den>
                      </m:f>
                      <m:nary>
                        <m:naryPr>
                          <m:chr m:val="∑"/>
                          <m:ctrlPr>
                            <a:rPr lang="is-IS" sz="2700" i="1">
                              <a:latin typeface="Cambria Math" panose="02040503050406030204" pitchFamily="18" charset="0"/>
                            </a:rPr>
                          </m:ctrlPr>
                        </m:naryPr>
                        <m:sub>
                          <m:r>
                            <m:rPr>
                              <m:brk m:alnAt="23"/>
                            </m:rPr>
                            <a:rPr lang="en-US" sz="2700" i="1">
                              <a:latin typeface="Cambria Math" charset="0"/>
                            </a:rPr>
                            <m:t>𝑖</m:t>
                          </m:r>
                          <m:r>
                            <a:rPr lang="en-US" sz="2700" i="1">
                              <a:latin typeface="Cambria Math" charset="0"/>
                            </a:rPr>
                            <m:t>,</m:t>
                          </m:r>
                          <m:r>
                            <a:rPr lang="en-US" sz="2700" i="1">
                              <a:latin typeface="Cambria Math" charset="0"/>
                            </a:rPr>
                            <m:t>𝑗</m:t>
                          </m:r>
                          <m:r>
                            <a:rPr lang="en-US" sz="2700" i="1">
                              <a:latin typeface="Cambria Math" charset="0"/>
                            </a:rPr>
                            <m:t>=1</m:t>
                          </m:r>
                        </m:sub>
                        <m:sup>
                          <m:r>
                            <a:rPr lang="en-US" sz="2700" i="1">
                              <a:latin typeface="Cambria Math" charset="0"/>
                            </a:rPr>
                            <m:t>𝑊</m:t>
                          </m:r>
                        </m:sup>
                        <m:e>
                          <m:r>
                            <a:rPr lang="en-US" sz="2700" i="1">
                              <a:latin typeface="Cambria Math" charset="0"/>
                            </a:rPr>
                            <m:t>𝑓</m:t>
                          </m:r>
                          <m:d>
                            <m:dPr>
                              <m:ctrlPr>
                                <a:rPr lang="en-US" sz="2700" i="1">
                                  <a:latin typeface="Cambria Math" panose="02040503050406030204" pitchFamily="18" charset="0"/>
                                </a:rPr>
                              </m:ctrlPr>
                            </m:dPr>
                            <m:e>
                              <m:sSub>
                                <m:sSubPr>
                                  <m:ctrlPr>
                                    <a:rPr lang="en-US" sz="2700" i="1">
                                      <a:latin typeface="Cambria Math" panose="02040503050406030204" pitchFamily="18" charset="0"/>
                                    </a:rPr>
                                  </m:ctrlPr>
                                </m:sSubPr>
                                <m:e>
                                  <m:r>
                                    <a:rPr lang="en-US" sz="2700" i="1">
                                      <a:latin typeface="Cambria Math" charset="0"/>
                                    </a:rPr>
                                    <m:t>𝑃</m:t>
                                  </m:r>
                                </m:e>
                                <m:sub>
                                  <m:r>
                                    <a:rPr lang="en-US" sz="2700" i="1">
                                      <a:latin typeface="Cambria Math" charset="0"/>
                                    </a:rPr>
                                    <m:t>𝑖𝑗</m:t>
                                  </m:r>
                                </m:sub>
                              </m:sSub>
                            </m:e>
                          </m:d>
                          <m:sSup>
                            <m:sSupPr>
                              <m:ctrlPr>
                                <a:rPr lang="en-US" sz="2700" i="1">
                                  <a:latin typeface="Cambria Math" panose="02040503050406030204" pitchFamily="18" charset="0"/>
                                </a:rPr>
                              </m:ctrlPr>
                            </m:sSupPr>
                            <m:e>
                              <m:d>
                                <m:dPr>
                                  <m:ctrlPr>
                                    <a:rPr lang="en-US" sz="2700" i="1">
                                      <a:latin typeface="Cambria Math" panose="02040503050406030204" pitchFamily="18" charset="0"/>
                                    </a:rPr>
                                  </m:ctrlPr>
                                </m:dPr>
                                <m:e>
                                  <m:sSubSup>
                                    <m:sSubSupPr>
                                      <m:ctrlPr>
                                        <a:rPr lang="en-US" sz="2700" i="1">
                                          <a:latin typeface="Cambria Math" panose="02040503050406030204" pitchFamily="18" charset="0"/>
                                        </a:rPr>
                                      </m:ctrlPr>
                                    </m:sSubSupPr>
                                    <m:e>
                                      <m:r>
                                        <a:rPr lang="en-US" sz="2700" i="1">
                                          <a:latin typeface="Cambria Math" charset="0"/>
                                        </a:rPr>
                                        <m:t>𝑢</m:t>
                                      </m:r>
                                    </m:e>
                                    <m:sub>
                                      <m:r>
                                        <a:rPr lang="en-US" sz="2700" i="1">
                                          <a:latin typeface="Cambria Math" charset="0"/>
                                        </a:rPr>
                                        <m:t>𝑖</m:t>
                                      </m:r>
                                    </m:sub>
                                    <m:sup>
                                      <m:r>
                                        <a:rPr lang="en-US" sz="2700" i="1">
                                          <a:latin typeface="Cambria Math" charset="0"/>
                                        </a:rPr>
                                        <m:t>𝑇</m:t>
                                      </m:r>
                                    </m:sup>
                                  </m:sSubSup>
                                  <m:sSub>
                                    <m:sSubPr>
                                      <m:ctrlPr>
                                        <a:rPr lang="en-US" sz="2700" i="1">
                                          <a:latin typeface="Cambria Math" panose="02040503050406030204" pitchFamily="18" charset="0"/>
                                        </a:rPr>
                                      </m:ctrlPr>
                                    </m:sSubPr>
                                    <m:e>
                                      <m:r>
                                        <a:rPr lang="en-US" sz="2700" i="1">
                                          <a:latin typeface="Cambria Math" charset="0"/>
                                        </a:rPr>
                                        <m:t>𝑣</m:t>
                                      </m:r>
                                    </m:e>
                                    <m:sub>
                                      <m:r>
                                        <a:rPr lang="en-US" sz="2700" i="1">
                                          <a:latin typeface="Cambria Math" charset="0"/>
                                        </a:rPr>
                                        <m:t>𝑗</m:t>
                                      </m:r>
                                    </m:sub>
                                  </m:sSub>
                                  <m:r>
                                    <a:rPr lang="en-US" sz="2700" i="1">
                                      <a:latin typeface="Cambria Math" charset="0"/>
                                    </a:rPr>
                                    <m:t>−</m:t>
                                  </m:r>
                                  <m:func>
                                    <m:funcPr>
                                      <m:ctrlPr>
                                        <a:rPr lang="en-US" sz="2700" i="1">
                                          <a:latin typeface="Cambria Math" panose="02040503050406030204" pitchFamily="18" charset="0"/>
                                        </a:rPr>
                                      </m:ctrlPr>
                                    </m:funcPr>
                                    <m:fName>
                                      <m:r>
                                        <m:rPr>
                                          <m:sty m:val="p"/>
                                        </m:rPr>
                                        <a:rPr lang="en-US" sz="2700">
                                          <a:latin typeface="Cambria Math" charset="0"/>
                                        </a:rPr>
                                        <m:t>log</m:t>
                                      </m:r>
                                    </m:fName>
                                    <m:e>
                                      <m:d>
                                        <m:dPr>
                                          <m:ctrlPr>
                                            <a:rPr lang="en-US" sz="2700" i="1">
                                              <a:latin typeface="Cambria Math" panose="02040503050406030204" pitchFamily="18" charset="0"/>
                                            </a:rPr>
                                          </m:ctrlPr>
                                        </m:dPr>
                                        <m:e>
                                          <m:sSub>
                                            <m:sSubPr>
                                              <m:ctrlPr>
                                                <a:rPr lang="en-US" sz="2700" i="1">
                                                  <a:latin typeface="Cambria Math" panose="02040503050406030204" pitchFamily="18" charset="0"/>
                                                </a:rPr>
                                              </m:ctrlPr>
                                            </m:sSubPr>
                                            <m:e>
                                              <m:r>
                                                <a:rPr lang="en-US" sz="2700" i="1">
                                                  <a:latin typeface="Cambria Math" charset="0"/>
                                                </a:rPr>
                                                <m:t>𝑃</m:t>
                                              </m:r>
                                            </m:e>
                                            <m:sub>
                                              <m:r>
                                                <a:rPr lang="en-US" sz="2700" i="1">
                                                  <a:latin typeface="Cambria Math" charset="0"/>
                                                </a:rPr>
                                                <m:t>𝑖𝑗</m:t>
                                              </m:r>
                                            </m:sub>
                                          </m:sSub>
                                        </m:e>
                                      </m:d>
                                    </m:e>
                                  </m:func>
                                </m:e>
                              </m:d>
                            </m:e>
                            <m:sup>
                              <m:r>
                                <a:rPr lang="en-US" sz="2700" i="1">
                                  <a:latin typeface="Cambria Math" charset="0"/>
                                </a:rPr>
                                <m:t>2</m:t>
                              </m:r>
                            </m:sup>
                          </m:sSup>
                        </m:e>
                      </m:nary>
                    </m:oMath>
                  </m:oMathPara>
                </a14:m>
                <a:endParaRPr lang="en-US" sz="2700" dirty="0"/>
              </a:p>
            </p:txBody>
          </p:sp>
        </mc:Choice>
        <mc:Fallback xmlns="">
          <p:sp>
            <p:nvSpPr>
              <p:cNvPr id="4" name="TextBox 3"/>
              <p:cNvSpPr txBox="1">
                <a:spLocks noRot="1" noChangeAspect="1" noMove="1" noResize="1" noEditPoints="1" noAdjustHandles="1" noChangeArrowheads="1" noChangeShapeType="1" noTextEdit="1"/>
              </p:cNvSpPr>
              <p:nvPr/>
            </p:nvSpPr>
            <p:spPr>
              <a:xfrm>
                <a:off x="1992316" y="2271551"/>
                <a:ext cx="5249899" cy="1215333"/>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844062" y="3778592"/>
                <a:ext cx="6305116" cy="801438"/>
              </a:xfrm>
              <a:prstGeom prst="rect">
                <a:avLst/>
              </a:prstGeom>
            </p:spPr>
            <p:txBody>
              <a:bodyPr wrap="square">
                <a:spAutoFit/>
              </a:bodyPr>
              <a:lstStyle/>
              <a:p>
                <a14:m>
                  <m:oMath xmlns:m="http://schemas.openxmlformats.org/officeDocument/2006/math">
                    <m:r>
                      <a:rPr lang="en-US" sz="2200" i="1">
                        <a:latin typeface="Cambria Math" charset="0"/>
                        <a:ea typeface="Avenir Book" charset="0"/>
                        <a:cs typeface="Avenir Book" charset="0"/>
                      </a:rPr>
                      <m:t>𝑓</m:t>
                    </m:r>
                  </m:oMath>
                </a14:m>
                <a:r>
                  <a:rPr lang="en-US" sz="2200" dirty="0">
                    <a:latin typeface="Avenir Book" charset="0"/>
                    <a:ea typeface="Avenir Book" charset="0"/>
                    <a:cs typeface="Avenir Book" charset="0"/>
                  </a:rPr>
                  <a:t> </a:t>
                </a:r>
                <a:r>
                  <a:rPr lang="en-US" sz="2200" dirty="0">
                    <a:latin typeface="Avenir Book" charset="0"/>
                    <a:ea typeface="Avenir Book" charset="0"/>
                    <a:cs typeface="Avenir Book" charset="0"/>
                    <a:sym typeface="Wingdings"/>
                  </a:rPr>
                  <a:t> frequency of a word, with a maximum cap</a:t>
                </a:r>
              </a:p>
              <a:p>
                <a14:m>
                  <m:oMath xmlns:m="http://schemas.openxmlformats.org/officeDocument/2006/math">
                    <m:sSub>
                      <m:sSubPr>
                        <m:ctrlPr>
                          <a:rPr lang="en-US" sz="2200" i="1">
                            <a:latin typeface="Cambria Math" panose="02040503050406030204" pitchFamily="18" charset="0"/>
                            <a:ea typeface="Avenir Book" charset="0"/>
                            <a:cs typeface="Avenir Book" charset="0"/>
                          </a:rPr>
                        </m:ctrlPr>
                      </m:sSubPr>
                      <m:e>
                        <m:r>
                          <a:rPr lang="en-US" sz="2200" i="1">
                            <a:latin typeface="Cambria Math" charset="0"/>
                            <a:ea typeface="Avenir Book" charset="0"/>
                            <a:cs typeface="Avenir Book" charset="0"/>
                          </a:rPr>
                          <m:t>𝑃</m:t>
                        </m:r>
                      </m:e>
                      <m:sub>
                        <m:r>
                          <a:rPr lang="en-US" sz="2200" i="1">
                            <a:latin typeface="Cambria Math" charset="0"/>
                            <a:ea typeface="Avenir Book" charset="0"/>
                            <a:cs typeface="Avenir Book" charset="0"/>
                          </a:rPr>
                          <m:t>𝑖𝑗</m:t>
                        </m:r>
                      </m:sub>
                    </m:sSub>
                  </m:oMath>
                </a14:m>
                <a:r>
                  <a:rPr lang="en-US" sz="2200" dirty="0">
                    <a:latin typeface="Avenir Book" charset="0"/>
                    <a:ea typeface="Avenir Book" charset="0"/>
                    <a:cs typeface="Avenir Book" charset="0"/>
                  </a:rPr>
                  <a:t> </a:t>
                </a:r>
                <a:r>
                  <a:rPr lang="en-US" sz="2200" dirty="0">
                    <a:latin typeface="Avenir Book" charset="0"/>
                    <a:ea typeface="Avenir Book" charset="0"/>
                    <a:cs typeface="Avenir Book" charset="0"/>
                    <a:sym typeface="Wingdings"/>
                  </a:rPr>
                  <a:t> probability words </a:t>
                </a:r>
                <a:r>
                  <a:rPr lang="en-US" sz="2200" dirty="0" err="1">
                    <a:latin typeface="Avenir Book" charset="0"/>
                    <a:ea typeface="Avenir Book" charset="0"/>
                    <a:cs typeface="Avenir Book" charset="0"/>
                    <a:sym typeface="Wingdings"/>
                  </a:rPr>
                  <a:t>i</a:t>
                </a:r>
                <a:r>
                  <a:rPr lang="en-US" sz="2200" dirty="0">
                    <a:latin typeface="Avenir Book" charset="0"/>
                    <a:ea typeface="Avenir Book" charset="0"/>
                    <a:cs typeface="Avenir Book" charset="0"/>
                    <a:sym typeface="Wingdings"/>
                  </a:rPr>
                  <a:t> and j occur together</a:t>
                </a:r>
                <a:endParaRPr lang="en-US" sz="2200" dirty="0">
                  <a:latin typeface="Avenir Book" charset="0"/>
                  <a:ea typeface="Avenir Book" charset="0"/>
                  <a:cs typeface="Avenir Book"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844062" y="3778592"/>
                <a:ext cx="6305116" cy="801438"/>
              </a:xfrm>
              <a:prstGeom prst="rect">
                <a:avLst/>
              </a:prstGeom>
              <a:blipFill rotWithShape="0">
                <a:blip r:embed="rId4"/>
                <a:stretch>
                  <a:fillRect l="-580" t="-7634" b="-13740"/>
                </a:stretch>
              </a:blipFill>
            </p:spPr>
            <p:txBody>
              <a:bodyPr/>
              <a:lstStyle/>
              <a:p>
                <a:r>
                  <a:rPr lang="en-US">
                    <a:noFill/>
                  </a:rPr>
                  <a:t> </a:t>
                </a:r>
              </a:p>
            </p:txBody>
          </p:sp>
        </mc:Fallback>
      </mc:AlternateContent>
    </p:spTree>
    <p:extLst>
      <p:ext uri="{BB962C8B-B14F-4D97-AF65-F5344CB8AC3E}">
        <p14:creationId xmlns:p14="http://schemas.microsoft.com/office/powerpoint/2010/main" val="16932365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8352" y="296172"/>
            <a:ext cx="8437829" cy="461665"/>
          </a:xfrm>
          <a:prstGeom prst="rect">
            <a:avLst/>
          </a:prstGeom>
        </p:spPr>
        <p:txBody>
          <a:bodyPr vert="horz" wrap="square" lIns="0" tIns="0" rIns="0" bIns="0" rtlCol="0">
            <a:spAutoFit/>
          </a:bodyPr>
          <a:lstStyle>
            <a:defPPr marR="0" lvl="0" algn="l" rtl="0">
              <a:lnSpc>
                <a:spcPct val="100000"/>
              </a:lnSpc>
              <a:spcBef>
                <a:spcPts val="0"/>
              </a:spcBef>
              <a:spcAft>
                <a:spcPts val="0"/>
              </a:spcAft>
            </a:defPPr>
            <a:lvl1pPr marL="9525">
              <a:defRPr sz="3000" spc="-26">
                <a:latin typeface="Avenir Black"/>
                <a:cs typeface="Avenir Black"/>
              </a:defRPr>
            </a:lvl1pPr>
          </a:lstStyle>
          <a:p>
            <a:r>
              <a:rPr lang="en-US" dirty="0" err="1" smtClean="0">
                <a:latin typeface="Avenir Book" charset="0"/>
                <a:ea typeface="Avenir Book" charset="0"/>
                <a:cs typeface="Avenir Book" charset="0"/>
              </a:rPr>
              <a:t>GloVe</a:t>
            </a:r>
            <a:endParaRPr lang="en-US" dirty="0">
              <a:latin typeface="Avenir Book" charset="0"/>
              <a:ea typeface="Avenir Book" charset="0"/>
              <a:cs typeface="Avenir Book" charset="0"/>
            </a:endParaRPr>
          </a:p>
        </p:txBody>
      </p:sp>
      <p:sp>
        <p:nvSpPr>
          <p:cNvPr id="24" name="Rectangle 23"/>
          <p:cNvSpPr/>
          <p:nvPr/>
        </p:nvSpPr>
        <p:spPr>
          <a:xfrm>
            <a:off x="398352" y="1223539"/>
            <a:ext cx="8065711" cy="1815882"/>
          </a:xfrm>
          <a:prstGeom prst="rect">
            <a:avLst/>
          </a:prstGeom>
        </p:spPr>
        <p:txBody>
          <a:bodyPr wrap="square">
            <a:spAutoFit/>
          </a:bodyPr>
          <a:lstStyle/>
          <a:p>
            <a:pPr marL="457200" lvl="0" indent="-457200">
              <a:buFont typeface="Arial" charset="0"/>
              <a:buChar char="•"/>
            </a:pPr>
            <a:r>
              <a:rPr lang="en-US" sz="2200" dirty="0" err="1" smtClean="0">
                <a:latin typeface="Avenir Book" charset="0"/>
                <a:ea typeface="Avenir Book" charset="0"/>
                <a:cs typeface="Avenir Book" charset="0"/>
              </a:rPr>
              <a:t>GloVe</a:t>
            </a:r>
            <a:r>
              <a:rPr lang="en-US" sz="2200" dirty="0" smtClean="0">
                <a:latin typeface="Avenir Book" charset="0"/>
                <a:ea typeface="Avenir Book" charset="0"/>
                <a:cs typeface="Avenir Book" charset="0"/>
              </a:rPr>
              <a:t> is publicly available</a:t>
            </a:r>
          </a:p>
          <a:p>
            <a:pPr marL="457200" indent="-457200">
              <a:buFont typeface="Arial" charset="0"/>
              <a:buChar char="•"/>
            </a:pPr>
            <a:r>
              <a:rPr lang="en-US" sz="2200" dirty="0" smtClean="0">
                <a:latin typeface="Avenir Book" charset="0"/>
                <a:ea typeface="Avenir Book" charset="0"/>
                <a:cs typeface="Avenir Book" charset="0"/>
              </a:rPr>
              <a:t>Developed at Stanford: </a:t>
            </a:r>
            <a:r>
              <a:rPr lang="en-US" sz="2400" dirty="0">
                <a:hlinkClick r:id="rId3"/>
              </a:rPr>
              <a:t>https://nlp.stanford.edu/projects/glove/</a:t>
            </a:r>
            <a:endParaRPr lang="en-US" sz="2400" dirty="0"/>
          </a:p>
          <a:p>
            <a:pPr marL="457200" lvl="0" indent="-457200">
              <a:buFont typeface="Arial" charset="0"/>
              <a:buChar char="•"/>
            </a:pPr>
            <a:r>
              <a:rPr lang="en-US" sz="2200" dirty="0" smtClean="0">
                <a:latin typeface="Avenir Book" charset="0"/>
                <a:ea typeface="Avenir Book" charset="0"/>
                <a:cs typeface="Avenir Book" charset="0"/>
              </a:rPr>
              <a:t>Trained on huge corpora</a:t>
            </a:r>
          </a:p>
          <a:p>
            <a:pPr marL="457200" lvl="0" indent="-457200">
              <a:buFont typeface="Arial" charset="0"/>
              <a:buChar char="•"/>
            </a:pPr>
            <a:endParaRPr lang="en-US" sz="2200" dirty="0" smtClean="0">
              <a:latin typeface="Avenir Book" charset="0"/>
              <a:ea typeface="Avenir Book" charset="0"/>
              <a:cs typeface="Avenir Book" charset="0"/>
            </a:endParaRPr>
          </a:p>
        </p:txBody>
      </p:sp>
    </p:spTree>
    <p:extLst>
      <p:ext uri="{BB962C8B-B14F-4D97-AF65-F5344CB8AC3E}">
        <p14:creationId xmlns:p14="http://schemas.microsoft.com/office/powerpoint/2010/main" val="21400932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effectLst/>
      </p:bgPr>
    </p:bg>
    <p:spTree>
      <p:nvGrpSpPr>
        <p:cNvPr id="1" name="Shape 261"/>
        <p:cNvGrpSpPr/>
        <p:nvPr/>
      </p:nvGrpSpPr>
      <p:grpSpPr>
        <a:xfrm>
          <a:off x="0" y="0"/>
          <a:ext cx="0" cy="0"/>
          <a:chOff x="0" y="0"/>
          <a:chExt cx="0" cy="0"/>
        </a:xfrm>
      </p:grpSpPr>
      <p:sp>
        <p:nvSpPr>
          <p:cNvPr id="2" name="Slide Number Placeholder 1"/>
          <p:cNvSpPr>
            <a:spLocks noGrp="1"/>
          </p:cNvSpPr>
          <p:nvPr>
            <p:ph type="sldNum" sz="quarter" idx="4294967295"/>
          </p:nvPr>
        </p:nvSpPr>
        <p:spPr>
          <a:xfrm>
            <a:off x="7086600" y="4767263"/>
            <a:ext cx="2057400" cy="274637"/>
          </a:xfrm>
        </p:spPr>
        <p:txBody>
          <a:bodyPr/>
          <a:lstStyle/>
          <a:p>
            <a:fld id="{BDF01D69-A501-704B-80CB-1B3152437FD0}" type="slidenum">
              <a:rPr lang="en-US" smtClean="0"/>
              <a:t>18</a:t>
            </a:fld>
            <a:endParaRPr lang="en-US"/>
          </a:p>
        </p:txBody>
      </p:sp>
    </p:spTree>
    <p:extLst>
      <p:ext uri="{BB962C8B-B14F-4D97-AF65-F5344CB8AC3E}">
        <p14:creationId xmlns:p14="http://schemas.microsoft.com/office/powerpoint/2010/main" val="117185381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simple-dark-2">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tel_theme">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extLst>
    <a:ext uri="{05A4C25C-085E-4340-85A3-A5531E510DB2}">
      <thm15:themeFamily xmlns:thm15="http://schemas.microsoft.com/office/thememl/2012/main" name="intel_theme" id="{7CD40ED6-13F2-774E-8C9C-E2A351ABAE7C}" vid="{A60F4A55-6349-6E4D-A6AA-B84EBE13CF51}"/>
    </a:ext>
  </a:extLst>
</a:theme>
</file>

<file path=ppt/theme/theme4.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28590</TotalTime>
  <Words>1071</Words>
  <Application>Microsoft Office PowerPoint</Application>
  <PresentationFormat>On-screen Show (16:9)</PresentationFormat>
  <Paragraphs>156</Paragraphs>
  <Slides>18</Slides>
  <Notes>17</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18</vt:i4>
      </vt:variant>
    </vt:vector>
  </HeadingPairs>
  <TitlesOfParts>
    <vt:vector size="35" baseType="lpstr">
      <vt:lpstr>Arial</vt:lpstr>
      <vt:lpstr>Avenir Book</vt:lpstr>
      <vt:lpstr>Calibri</vt:lpstr>
      <vt:lpstr>Calibri Light</vt:lpstr>
      <vt:lpstr>Cambria Math</vt:lpstr>
      <vt:lpstr>Consolas</vt:lpstr>
      <vt:lpstr>Courier New</vt:lpstr>
      <vt:lpstr>Intel Clear</vt:lpstr>
      <vt:lpstr>Intel Clear Light</vt:lpstr>
      <vt:lpstr>Intel Clear Pro</vt:lpstr>
      <vt:lpstr>Lucida Grande</vt:lpstr>
      <vt:lpstr>Neo Sans Intel</vt:lpstr>
      <vt:lpstr>Source Code Pro</vt:lpstr>
      <vt:lpstr>Wingdings</vt:lpstr>
      <vt:lpstr>1_simple-dark-2</vt:lpstr>
      <vt:lpstr>Custom Design</vt:lpstr>
      <vt:lpstr>intel_theme</vt:lpstr>
      <vt:lpstr>Text / Word Vectors</vt:lpstr>
      <vt:lpstr>Legal Notices and Disclaimers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&lt;Title&gt;</dc:title>
  <cp:lastModifiedBy>Oberoi, Daman</cp:lastModifiedBy>
  <cp:revision>479</cp:revision>
  <cp:lastPrinted>2017-03-21T10:33:11Z</cp:lastPrinted>
  <dcterms:modified xsi:type="dcterms:W3CDTF">2017-08-25T19:42:05Z</dcterms:modified>
</cp:coreProperties>
</file>
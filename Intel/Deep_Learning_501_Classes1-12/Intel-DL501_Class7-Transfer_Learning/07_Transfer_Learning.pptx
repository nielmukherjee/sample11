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46"/>
  </p:notesMasterIdLst>
  <p:handoutMasterIdLst>
    <p:handoutMasterId r:id="rId47"/>
  </p:handoutMasterIdLst>
  <p:sldIdLst>
    <p:sldId id="389" r:id="rId4"/>
    <p:sldId id="669" r:id="rId5"/>
    <p:sldId id="619" r:id="rId6"/>
    <p:sldId id="620" r:id="rId7"/>
    <p:sldId id="640" r:id="rId8"/>
    <p:sldId id="638" r:id="rId9"/>
    <p:sldId id="641" r:id="rId10"/>
    <p:sldId id="642" r:id="rId11"/>
    <p:sldId id="643" r:id="rId12"/>
    <p:sldId id="647" r:id="rId13"/>
    <p:sldId id="644" r:id="rId14"/>
    <p:sldId id="645" r:id="rId15"/>
    <p:sldId id="646" r:id="rId16"/>
    <p:sldId id="648" r:id="rId17"/>
    <p:sldId id="649" r:id="rId18"/>
    <p:sldId id="654" r:id="rId19"/>
    <p:sldId id="650" r:id="rId20"/>
    <p:sldId id="651" r:id="rId21"/>
    <p:sldId id="652" r:id="rId22"/>
    <p:sldId id="653" r:id="rId23"/>
    <p:sldId id="655" r:id="rId24"/>
    <p:sldId id="656" r:id="rId25"/>
    <p:sldId id="657" r:id="rId26"/>
    <p:sldId id="658" r:id="rId27"/>
    <p:sldId id="659" r:id="rId28"/>
    <p:sldId id="660" r:id="rId29"/>
    <p:sldId id="661" r:id="rId30"/>
    <p:sldId id="639" r:id="rId31"/>
    <p:sldId id="662" r:id="rId32"/>
    <p:sldId id="616" r:id="rId33"/>
    <p:sldId id="618" r:id="rId34"/>
    <p:sldId id="585" r:id="rId35"/>
    <p:sldId id="597" r:id="rId36"/>
    <p:sldId id="599" r:id="rId37"/>
    <p:sldId id="613" r:id="rId38"/>
    <p:sldId id="608" r:id="rId39"/>
    <p:sldId id="614" r:id="rId40"/>
    <p:sldId id="663" r:id="rId41"/>
    <p:sldId id="664" r:id="rId42"/>
    <p:sldId id="665" r:id="rId43"/>
    <p:sldId id="667" r:id="rId44"/>
    <p:sldId id="668"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10"/>
    <p:restoredTop sz="80851"/>
  </p:normalViewPr>
  <p:slideViewPr>
    <p:cSldViewPr snapToGrid="0" snapToObjects="1">
      <p:cViewPr varScale="1">
        <p:scale>
          <a:sx n="141" d="100"/>
          <a:sy n="141" d="100"/>
        </p:scale>
        <p:origin x="964"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commentAuthors" Target="commentAuthors.xml"/><Relationship Id="rId8" Type="http://schemas.openxmlformats.org/officeDocument/2006/relationships/slide" Target="slides/slide5.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2502950800"/>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previous lecture covered lots of material, so the goal now is to review and reinforce those concepts as well as to introduce the </a:t>
            </a:r>
            <a:r>
              <a:rPr lang="en-US" sz="2400" baseline="0" dirty="0" err="1" smtClean="0">
                <a:latin typeface="Arial" charset="0"/>
                <a:ea typeface="Arial" charset="0"/>
                <a:cs typeface="Arial" charset="0"/>
              </a:rPr>
              <a:t>LeNet</a:t>
            </a:r>
            <a:r>
              <a:rPr lang="en-US" sz="2400" baseline="0" dirty="0" smtClean="0">
                <a:latin typeface="Arial" charset="0"/>
                <a:ea typeface="Arial" charset="0"/>
                <a:cs typeface="Arial" charset="0"/>
              </a:rPr>
              <a:t> model.</a:t>
            </a:r>
          </a:p>
        </p:txBody>
      </p:sp>
    </p:spTree>
    <p:extLst>
      <p:ext uri="{BB962C8B-B14F-4D97-AF65-F5344CB8AC3E}">
        <p14:creationId xmlns:p14="http://schemas.microsoft.com/office/powerpoint/2010/main" val="1034562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810710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18086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00658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7415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92500" lnSpcReduction="20000"/>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Answer: because the 32x32 pixels included padding.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centers of the 5x5 kernels will be in 28x28 different places.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Or another way to think about this conceptually is that the dimension will be (32 - </a:t>
            </a:r>
            <a:r>
              <a:rPr lang="en-US" sz="2400" baseline="0" dirty="0" err="1" smtClean="0">
                <a:latin typeface="Arial" charset="0"/>
                <a:ea typeface="Arial" charset="0"/>
                <a:cs typeface="Arial" charset="0"/>
              </a:rPr>
              <a:t>grid_size_height</a:t>
            </a:r>
            <a:r>
              <a:rPr lang="en-US" sz="2400" baseline="0" dirty="0" smtClean="0">
                <a:latin typeface="Arial" charset="0"/>
                <a:ea typeface="Arial" charset="0"/>
                <a:cs typeface="Arial" charset="0"/>
              </a:rPr>
              <a:t> + 1) which is 32-5+1=28.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You can draw a few simple examples to show how this works if the students find it confusing.</a:t>
            </a:r>
          </a:p>
        </p:txBody>
      </p:sp>
    </p:spTree>
    <p:extLst>
      <p:ext uri="{BB962C8B-B14F-4D97-AF65-F5344CB8AC3E}">
        <p14:creationId xmlns:p14="http://schemas.microsoft.com/office/powerpoint/2010/main" val="560542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402528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250920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53952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628195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89475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18349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560427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716649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Rehash that we drop from 14x14 to 10x10 because the centers of the 5x5 kernels will only visit 10x10 places. Or 14-5+1=10.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do not add padding to the 14x14 outputs.</a:t>
            </a:r>
          </a:p>
        </p:txBody>
      </p:sp>
    </p:spTree>
    <p:extLst>
      <p:ext uri="{BB962C8B-B14F-4D97-AF65-F5344CB8AC3E}">
        <p14:creationId xmlns:p14="http://schemas.microsoft.com/office/powerpoint/2010/main" val="16373960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Don’t forget that the kernels go across the depth of the input channel!</a:t>
            </a:r>
          </a:p>
        </p:txBody>
      </p:sp>
    </p:spTree>
    <p:extLst>
      <p:ext uri="{BB962C8B-B14F-4D97-AF65-F5344CB8AC3E}">
        <p14:creationId xmlns:p14="http://schemas.microsoft.com/office/powerpoint/2010/main" val="1353273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91685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3587027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9820100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16*5*5=400</a:t>
            </a:r>
          </a:p>
        </p:txBody>
      </p:sp>
    </p:spTree>
    <p:extLst>
      <p:ext uri="{BB962C8B-B14F-4D97-AF65-F5344CB8AC3E}">
        <p14:creationId xmlns:p14="http://schemas.microsoft.com/office/powerpoint/2010/main" val="1391584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705941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9493201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2426689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9697395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5240121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Be sure to point out just how few weights the convolutional networks have. This is the real power of these techniques.</a:t>
            </a:r>
          </a:p>
        </p:txBody>
      </p:sp>
    </p:spTree>
    <p:extLst>
      <p:ext uri="{BB962C8B-B14F-4D97-AF65-F5344CB8AC3E}">
        <p14:creationId xmlns:p14="http://schemas.microsoft.com/office/powerpoint/2010/main" val="15278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268315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921139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704396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3111423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4110701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3068247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7568245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0175370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Can mention that this is more art than science right now: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 How long to train the last layer</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 </a:t>
            </a:r>
            <a:r>
              <a:rPr lang="is-IS" sz="2400" baseline="0" dirty="0" smtClean="0">
                <a:latin typeface="Arial" charset="0"/>
                <a:ea typeface="Arial" charset="0"/>
                <a:cs typeface="Arial" charset="0"/>
              </a:rPr>
              <a:t>Whether or not to go back further and retrain more layers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is-IS" sz="2400" baseline="0" dirty="0" smtClean="0">
                <a:latin typeface="Arial" charset="0"/>
                <a:ea typeface="Arial" charset="0"/>
                <a:cs typeface="Arial" charset="0"/>
              </a:rPr>
              <a:t>	- And so on</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277197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Again, something of an art; we will give some guidelines.</a:t>
            </a:r>
          </a:p>
        </p:txBody>
      </p:sp>
    </p:spTree>
    <p:extLst>
      <p:ext uri="{BB962C8B-B14F-4D97-AF65-F5344CB8AC3E}">
        <p14:creationId xmlns:p14="http://schemas.microsoft.com/office/powerpoint/2010/main" val="10010754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016265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750649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708571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7488203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88041610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image" Target="../media/image4.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1"/>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283682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5.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45.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4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4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4000" b="0" i="0" u="none" strike="noStrike" cap="none" dirty="0" err="1" smtClean="0">
                <a:solidFill>
                  <a:srgbClr val="FFFFFF"/>
                </a:solidFill>
                <a:latin typeface="Avenir Book" charset="0"/>
                <a:ea typeface="Avenir Book" charset="0"/>
                <a:cs typeface="Avenir Book" charset="0"/>
                <a:sym typeface="Source Code Pro"/>
              </a:rPr>
              <a:t>ConvNets</a:t>
            </a:r>
            <a:r>
              <a:rPr lang="en-US" sz="4000" b="0" i="0" u="none" strike="noStrike" cap="none" dirty="0" smtClean="0">
                <a:solidFill>
                  <a:srgbClr val="FFFFFF"/>
                </a:solidFill>
                <a:latin typeface="Avenir Book" charset="0"/>
                <a:ea typeface="Avenir Book" charset="0"/>
                <a:cs typeface="Avenir Book" charset="0"/>
                <a:sym typeface="Source Code Pro"/>
              </a:rPr>
              <a:t> and Transfer Learning</a:t>
            </a:r>
            <a:endParaRPr lang="en" sz="4000" b="0" i="0" u="none" strike="noStrike" cap="none" dirty="0">
              <a:solidFill>
                <a:srgbClr val="FFFFFF"/>
              </a:solidFill>
              <a:latin typeface="Avenir Book" charset="0"/>
              <a:ea typeface="Avenir Book" charset="0"/>
              <a:cs typeface="Avenir Book" charset="0"/>
              <a:sym typeface="Source Code Pro"/>
            </a:endParaRPr>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4232840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Review</a:t>
            </a:r>
            <a:endParaRPr lang="en-US" dirty="0">
              <a:latin typeface="Avenir Book" charset="0"/>
              <a:ea typeface="Avenir Book" charset="0"/>
              <a:cs typeface="Avenir Book" charset="0"/>
            </a:endParaRPr>
          </a:p>
        </p:txBody>
      </p:sp>
      <p:sp>
        <p:nvSpPr>
          <p:cNvPr id="75" name="Rectangle 74"/>
          <p:cNvSpPr/>
          <p:nvPr/>
        </p:nvSpPr>
        <p:spPr>
          <a:xfrm>
            <a:off x="398352" y="1227244"/>
            <a:ext cx="8192764" cy="1107996"/>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Do some review of concepts from the last lecture</a:t>
            </a:r>
          </a:p>
          <a:p>
            <a:pPr marL="457200" lvl="0" indent="-457200">
              <a:buFont typeface="Arial" charset="0"/>
              <a:buChar char="•"/>
            </a:pPr>
            <a:r>
              <a:rPr lang="en-US" sz="2200" dirty="0" smtClean="0">
                <a:latin typeface="Avenir Book" charset="0"/>
                <a:ea typeface="Avenir Book" charset="0"/>
                <a:cs typeface="Avenir Book" charset="0"/>
              </a:rPr>
              <a:t>We will revisit kernel, stride, and pooling in the context of the Le-Net 5 model.</a:t>
            </a:r>
          </a:p>
        </p:txBody>
      </p:sp>
    </p:spTree>
    <p:extLst>
      <p:ext uri="{BB962C8B-B14F-4D97-AF65-F5344CB8AC3E}">
        <p14:creationId xmlns:p14="http://schemas.microsoft.com/office/powerpoint/2010/main" val="19949840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LeNet-5</a:t>
            </a:r>
            <a:endParaRPr lang="en-US" dirty="0">
              <a:latin typeface="Avenir Book" charset="0"/>
              <a:ea typeface="Avenir Book" charset="0"/>
              <a:cs typeface="Avenir Book" charset="0"/>
            </a:endParaRPr>
          </a:p>
        </p:txBody>
      </p:sp>
      <p:sp>
        <p:nvSpPr>
          <p:cNvPr id="75" name="Rectangle 74"/>
          <p:cNvSpPr/>
          <p:nvPr/>
        </p:nvSpPr>
        <p:spPr>
          <a:xfrm>
            <a:off x="398352" y="1227244"/>
            <a:ext cx="8192764" cy="2123658"/>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Created by Yann </a:t>
            </a:r>
            <a:r>
              <a:rPr lang="en-US" sz="2200" dirty="0" err="1" smtClean="0">
                <a:latin typeface="Avenir Book" charset="0"/>
                <a:ea typeface="Avenir Book" charset="0"/>
                <a:cs typeface="Avenir Book" charset="0"/>
              </a:rPr>
              <a:t>LeCun</a:t>
            </a:r>
            <a:r>
              <a:rPr lang="en-US" sz="2200" dirty="0" smtClean="0">
                <a:latin typeface="Avenir Book" charset="0"/>
                <a:ea typeface="Avenir Book" charset="0"/>
                <a:cs typeface="Avenir Book" charset="0"/>
              </a:rPr>
              <a:t> in the 1990s</a:t>
            </a:r>
          </a:p>
          <a:p>
            <a:pPr marL="457200" lvl="0" indent="-457200">
              <a:buFont typeface="Arial" charset="0"/>
              <a:buChar char="•"/>
            </a:pPr>
            <a:r>
              <a:rPr lang="en-US" sz="2200" dirty="0" smtClean="0">
                <a:latin typeface="Avenir Book" charset="0"/>
                <a:ea typeface="Avenir Book" charset="0"/>
                <a:cs typeface="Avenir Book" charset="0"/>
              </a:rPr>
              <a:t>Used on the MNIST data set.</a:t>
            </a:r>
          </a:p>
          <a:p>
            <a:pPr marL="457200" lvl="0" indent="-457200">
              <a:buFont typeface="Arial" charset="0"/>
              <a:buChar char="•"/>
            </a:pPr>
            <a:r>
              <a:rPr lang="en-US" sz="2200" dirty="0" smtClean="0">
                <a:latin typeface="Avenir Book" charset="0"/>
                <a:ea typeface="Avenir Book" charset="0"/>
                <a:cs typeface="Avenir Book" charset="0"/>
              </a:rPr>
              <a:t>Novel Idea: Use convolutions to efficiently learn features on data set.</a:t>
            </a:r>
            <a:endParaRPr lang="en-US" sz="2200" dirty="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12453850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sp>
        <p:nvSpPr>
          <p:cNvPr id="5" name="TextBox 4"/>
          <p:cNvSpPr txBox="1"/>
          <p:nvPr/>
        </p:nvSpPr>
        <p:spPr>
          <a:xfrm>
            <a:off x="821296" y="887627"/>
            <a:ext cx="2836303" cy="1200329"/>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Input: A 32 x </a:t>
            </a:r>
            <a:r>
              <a:rPr lang="en-US" sz="1800" smtClean="0">
                <a:solidFill>
                  <a:srgbClr val="FF0000"/>
                </a:solidFill>
                <a:latin typeface="Avenir Book" charset="0"/>
                <a:ea typeface="Avenir Book" charset="0"/>
                <a:cs typeface="Avenir Book" charset="0"/>
              </a:rPr>
              <a:t>32 grayscale image </a:t>
            </a:r>
            <a:r>
              <a:rPr lang="en-US" sz="1800" dirty="0" smtClean="0">
                <a:solidFill>
                  <a:srgbClr val="FF0000"/>
                </a:solidFill>
                <a:latin typeface="Avenir Book" charset="0"/>
                <a:ea typeface="Avenir Book" charset="0"/>
                <a:cs typeface="Avenir Book" charset="0"/>
              </a:rPr>
              <a:t>(28 x 28) with 2 pixels of padding all around.</a:t>
            </a:r>
            <a:endParaRPr lang="en-US" sz="1800" dirty="0">
              <a:solidFill>
                <a:srgbClr val="FF0000"/>
              </a:solidFill>
              <a:latin typeface="Avenir Book" charset="0"/>
              <a:ea typeface="Avenir Book" charset="0"/>
              <a:cs typeface="Avenir Book" charset="0"/>
            </a:endParaRPr>
          </a:p>
        </p:txBody>
      </p:sp>
      <p:cxnSp>
        <p:nvCxnSpPr>
          <p:cNvPr id="6" name="Straight Arrow Connector 5"/>
          <p:cNvCxnSpPr/>
          <p:nvPr/>
        </p:nvCxnSpPr>
        <p:spPr>
          <a:xfrm>
            <a:off x="1078523" y="2087956"/>
            <a:ext cx="187569" cy="3381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5301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2142919" y="3256654"/>
            <a:ext cx="318584" cy="7039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78522" y="3960565"/>
            <a:ext cx="2719072"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Next, we have a convolutional layer.</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03173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2142919" y="3256654"/>
            <a:ext cx="318584" cy="7039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78521" y="3960565"/>
            <a:ext cx="3024555"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This is a 5x5 convolutional layer with stride 1.</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52037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2142919" y="3256654"/>
            <a:ext cx="318584" cy="7039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78520" y="3960565"/>
            <a:ext cx="3575541"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This means the resulting “filter” has dimension 28x28. (Why?)</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158041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2142919" y="3256654"/>
            <a:ext cx="318584" cy="7039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78520" y="3937119"/>
            <a:ext cx="3798280" cy="923330"/>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They use a depth of 6.  This means there are 6 different kernels that are learned. </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60983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2142919" y="3256654"/>
            <a:ext cx="318584" cy="7039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78520" y="3937415"/>
            <a:ext cx="3798280" cy="923330"/>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They use a depth of 6.  This means there are 6 different kernels that are learned. </a:t>
            </a:r>
            <a:endParaRPr lang="en-US" sz="1800" dirty="0">
              <a:solidFill>
                <a:srgbClr val="FF0000"/>
              </a:solidFill>
              <a:latin typeface="Avenir Book" charset="0"/>
              <a:ea typeface="Avenir Book" charset="0"/>
              <a:cs typeface="Avenir Book" charset="0"/>
            </a:endParaRPr>
          </a:p>
        </p:txBody>
      </p:sp>
      <p:sp>
        <p:nvSpPr>
          <p:cNvPr id="7" name="TextBox 6"/>
          <p:cNvSpPr txBox="1"/>
          <p:nvPr/>
        </p:nvSpPr>
        <p:spPr>
          <a:xfrm>
            <a:off x="5404339" y="3960565"/>
            <a:ext cx="2778369"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So the output </a:t>
            </a:r>
            <a:r>
              <a:rPr lang="en-US" sz="1800" smtClean="0">
                <a:solidFill>
                  <a:srgbClr val="FF0000"/>
                </a:solidFill>
                <a:latin typeface="Avenir Book" charset="0"/>
                <a:ea typeface="Avenir Book" charset="0"/>
                <a:cs typeface="Avenir Book" charset="0"/>
              </a:rPr>
              <a:t>of this layer is 6x28x28.</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054458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2142919" y="3256654"/>
            <a:ext cx="318584" cy="7039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78520" y="3960565"/>
            <a:ext cx="3798280"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What is the total number of weights in this layer?</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98177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2142919" y="3256654"/>
            <a:ext cx="318584" cy="7039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78520" y="3960565"/>
            <a:ext cx="3001111"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What is the total number of weights in this </a:t>
            </a:r>
            <a:r>
              <a:rPr lang="en-US" sz="1800" smtClean="0">
                <a:solidFill>
                  <a:srgbClr val="FF0000"/>
                </a:solidFill>
                <a:latin typeface="Avenir Book" charset="0"/>
                <a:ea typeface="Avenir Book" charset="0"/>
                <a:cs typeface="Avenir Book" charset="0"/>
              </a:rPr>
              <a:t>layer?</a:t>
            </a:r>
            <a:endParaRPr lang="en-US" sz="1800" dirty="0" smtClean="0">
              <a:solidFill>
                <a:srgbClr val="FF0000"/>
              </a:solidFill>
              <a:latin typeface="Avenir Book" charset="0"/>
              <a:ea typeface="Avenir Book" charset="0"/>
              <a:cs typeface="Avenir Book" charset="0"/>
            </a:endParaRPr>
          </a:p>
        </p:txBody>
      </p:sp>
      <p:sp>
        <p:nvSpPr>
          <p:cNvPr id="7" name="TextBox 6"/>
          <p:cNvSpPr txBox="1"/>
          <p:nvPr/>
        </p:nvSpPr>
        <p:spPr>
          <a:xfrm>
            <a:off x="4466489" y="3937118"/>
            <a:ext cx="4369691" cy="923330"/>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Answer: Each kernel has 5x5=25 weights</a:t>
            </a:r>
          </a:p>
          <a:p>
            <a:r>
              <a:rPr lang="en-US" sz="1800" dirty="0" smtClean="0">
                <a:solidFill>
                  <a:srgbClr val="FF0000"/>
                </a:solidFill>
                <a:latin typeface="Avenir Book" charset="0"/>
                <a:ea typeface="Avenir Book" charset="0"/>
                <a:cs typeface="Avenir Book" charset="0"/>
              </a:rPr>
              <a:t>(plus a bias term, so actually 26 weights).</a:t>
            </a:r>
          </a:p>
          <a:p>
            <a:r>
              <a:rPr lang="en-US" sz="1800" dirty="0" smtClean="0">
                <a:solidFill>
                  <a:srgbClr val="FF0000"/>
                </a:solidFill>
                <a:latin typeface="Avenir Book" charset="0"/>
                <a:ea typeface="Avenir Book" charset="0"/>
                <a:cs typeface="Avenir Book" charset="0"/>
              </a:rPr>
              <a:t>So total weights = 6x26 = 156.  </a:t>
            </a:r>
          </a:p>
        </p:txBody>
      </p:sp>
    </p:spTree>
    <p:extLst>
      <p:ext uri="{BB962C8B-B14F-4D97-AF65-F5344CB8AC3E}">
        <p14:creationId xmlns:p14="http://schemas.microsoft.com/office/powerpoint/2010/main" val="85343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sp>
        <p:nvSpPr>
          <p:cNvPr id="5" name="TextBox 4"/>
          <p:cNvSpPr txBox="1"/>
          <p:nvPr/>
        </p:nvSpPr>
        <p:spPr>
          <a:xfrm>
            <a:off x="2849388" y="896144"/>
            <a:ext cx="2953535"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Next is a 2x2 pooling layer (with stride 2)</a:t>
            </a:r>
            <a:endParaRPr lang="en-US" sz="1800" dirty="0">
              <a:solidFill>
                <a:srgbClr val="FF0000"/>
              </a:solidFill>
              <a:latin typeface="Avenir Book" charset="0"/>
              <a:ea typeface="Avenir Book" charset="0"/>
              <a:cs typeface="Avenir Book" charset="0"/>
            </a:endParaRPr>
          </a:p>
        </p:txBody>
      </p:sp>
      <p:cxnSp>
        <p:nvCxnSpPr>
          <p:cNvPr id="6" name="Straight Arrow Connector 5"/>
          <p:cNvCxnSpPr/>
          <p:nvPr/>
        </p:nvCxnSpPr>
        <p:spPr>
          <a:xfrm>
            <a:off x="3118338" y="1542475"/>
            <a:ext cx="257908" cy="48064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8431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sp>
        <p:nvSpPr>
          <p:cNvPr id="5" name="TextBox 4"/>
          <p:cNvSpPr txBox="1"/>
          <p:nvPr/>
        </p:nvSpPr>
        <p:spPr>
          <a:xfrm>
            <a:off x="2849388" y="896144"/>
            <a:ext cx="3469350"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So output size is 6x14x14 (we </a:t>
            </a:r>
            <a:r>
              <a:rPr lang="en-US" sz="1800" dirty="0" err="1" smtClean="0">
                <a:solidFill>
                  <a:srgbClr val="FF0000"/>
                </a:solidFill>
                <a:latin typeface="Avenir Book" charset="0"/>
                <a:ea typeface="Avenir Book" charset="0"/>
                <a:cs typeface="Avenir Book" charset="0"/>
              </a:rPr>
              <a:t>downsample</a:t>
            </a:r>
            <a:r>
              <a:rPr lang="en-US" sz="1800" dirty="0" smtClean="0">
                <a:solidFill>
                  <a:srgbClr val="FF0000"/>
                </a:solidFill>
                <a:latin typeface="Avenir Book" charset="0"/>
                <a:ea typeface="Avenir Book" charset="0"/>
                <a:cs typeface="Avenir Book" charset="0"/>
              </a:rPr>
              <a:t> by a factor of 2)</a:t>
            </a:r>
            <a:endParaRPr lang="en-US" sz="1800" dirty="0">
              <a:solidFill>
                <a:srgbClr val="FF0000"/>
              </a:solidFill>
              <a:latin typeface="Avenir Book" charset="0"/>
              <a:ea typeface="Avenir Book" charset="0"/>
              <a:cs typeface="Avenir Book" charset="0"/>
            </a:endParaRPr>
          </a:p>
        </p:txBody>
      </p:sp>
      <p:cxnSp>
        <p:nvCxnSpPr>
          <p:cNvPr id="6" name="Straight Arrow Connector 5"/>
          <p:cNvCxnSpPr/>
          <p:nvPr/>
        </p:nvCxnSpPr>
        <p:spPr>
          <a:xfrm>
            <a:off x="3118338" y="1542475"/>
            <a:ext cx="257908" cy="48064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49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sp>
        <p:nvSpPr>
          <p:cNvPr id="5" name="TextBox 4"/>
          <p:cNvSpPr txBox="1"/>
          <p:nvPr/>
        </p:nvSpPr>
        <p:spPr>
          <a:xfrm>
            <a:off x="2849388" y="896144"/>
            <a:ext cx="3469350"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So output size is 6x14x14 (we </a:t>
            </a:r>
            <a:r>
              <a:rPr lang="en-US" sz="1800" dirty="0" err="1" smtClean="0">
                <a:solidFill>
                  <a:srgbClr val="FF0000"/>
                </a:solidFill>
                <a:latin typeface="Avenir Book" charset="0"/>
                <a:ea typeface="Avenir Book" charset="0"/>
                <a:cs typeface="Avenir Book" charset="0"/>
              </a:rPr>
              <a:t>downsample</a:t>
            </a:r>
            <a:r>
              <a:rPr lang="en-US" sz="1800" dirty="0" smtClean="0">
                <a:solidFill>
                  <a:srgbClr val="FF0000"/>
                </a:solidFill>
                <a:latin typeface="Avenir Book" charset="0"/>
                <a:ea typeface="Avenir Book" charset="0"/>
                <a:cs typeface="Avenir Book" charset="0"/>
              </a:rPr>
              <a:t> by a factor of 2)</a:t>
            </a:r>
            <a:endParaRPr lang="en-US" sz="1800" dirty="0">
              <a:solidFill>
                <a:srgbClr val="FF0000"/>
              </a:solidFill>
              <a:latin typeface="Avenir Book" charset="0"/>
              <a:ea typeface="Avenir Book" charset="0"/>
              <a:cs typeface="Avenir Book" charset="0"/>
            </a:endParaRPr>
          </a:p>
        </p:txBody>
      </p:sp>
      <p:cxnSp>
        <p:nvCxnSpPr>
          <p:cNvPr id="6" name="Straight Arrow Connector 5"/>
          <p:cNvCxnSpPr/>
          <p:nvPr/>
        </p:nvCxnSpPr>
        <p:spPr>
          <a:xfrm>
            <a:off x="3118338" y="1542475"/>
            <a:ext cx="257908" cy="48064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83662" y="3935135"/>
            <a:ext cx="6459075" cy="923330"/>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Note: The original paper actually does a more complicated pooling then max or </a:t>
            </a:r>
            <a:r>
              <a:rPr lang="en-US" sz="1800" dirty="0" err="1" smtClean="0">
                <a:solidFill>
                  <a:srgbClr val="FF0000"/>
                </a:solidFill>
                <a:latin typeface="Avenir Book" charset="0"/>
                <a:ea typeface="Avenir Book" charset="0"/>
                <a:cs typeface="Avenir Book" charset="0"/>
              </a:rPr>
              <a:t>avg</a:t>
            </a:r>
            <a:r>
              <a:rPr lang="en-US" sz="1800" dirty="0" smtClean="0">
                <a:solidFill>
                  <a:srgbClr val="FF0000"/>
                </a:solidFill>
                <a:latin typeface="Avenir Book" charset="0"/>
                <a:ea typeface="Avenir Book" charset="0"/>
                <a:cs typeface="Avenir Book" charset="0"/>
              </a:rPr>
              <a:t> pooling, but this is considered obsolete now. </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73269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sp>
        <p:nvSpPr>
          <p:cNvPr id="5" name="TextBox 4"/>
          <p:cNvSpPr txBox="1"/>
          <p:nvPr/>
        </p:nvSpPr>
        <p:spPr>
          <a:xfrm>
            <a:off x="3118338" y="803811"/>
            <a:ext cx="3656920" cy="923330"/>
          </a:xfrm>
          <a:prstGeom prst="rect">
            <a:avLst/>
          </a:prstGeom>
          <a:noFill/>
        </p:spPr>
        <p:txBody>
          <a:bodyPr wrap="square" rtlCol="0">
            <a:spAutoFit/>
          </a:bodyPr>
          <a:lstStyle/>
          <a:p>
            <a:r>
              <a:rPr lang="en-US" sz="1800" smtClean="0">
                <a:solidFill>
                  <a:srgbClr val="FF0000"/>
                </a:solidFill>
                <a:latin typeface="Avenir Book" charset="0"/>
                <a:ea typeface="Avenir Book" charset="0"/>
                <a:cs typeface="Avenir Book" charset="0"/>
              </a:rPr>
              <a:t>No weights! </a:t>
            </a:r>
            <a:r>
              <a:rPr lang="en-US" sz="1800" dirty="0" smtClean="0">
                <a:solidFill>
                  <a:srgbClr val="FF0000"/>
                </a:solidFill>
                <a:latin typeface="Avenir Book" charset="0"/>
                <a:ea typeface="Avenir Book" charset="0"/>
                <a:cs typeface="Avenir Book" charset="0"/>
              </a:rPr>
              <a:t>(pooling layers have no weights to be learned – it is a fixed operation.)</a:t>
            </a:r>
            <a:endParaRPr lang="en-US" sz="1800" dirty="0">
              <a:solidFill>
                <a:srgbClr val="FF0000"/>
              </a:solidFill>
              <a:latin typeface="Avenir Book" charset="0"/>
              <a:ea typeface="Avenir Book" charset="0"/>
              <a:cs typeface="Avenir Book" charset="0"/>
            </a:endParaRPr>
          </a:p>
        </p:txBody>
      </p:sp>
      <p:cxnSp>
        <p:nvCxnSpPr>
          <p:cNvPr id="6" name="Straight Arrow Connector 5"/>
          <p:cNvCxnSpPr/>
          <p:nvPr/>
        </p:nvCxnSpPr>
        <p:spPr>
          <a:xfrm>
            <a:off x="3368233" y="1727141"/>
            <a:ext cx="8013" cy="2959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48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4419600" y="3223846"/>
            <a:ext cx="386862" cy="644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83663" y="4099257"/>
            <a:ext cx="4888184"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Another 5x5 convolutional layer with stride 2.</a:t>
            </a:r>
          </a:p>
          <a:p>
            <a:r>
              <a:rPr lang="en-US" sz="1800" dirty="0" smtClean="0">
                <a:solidFill>
                  <a:srgbClr val="FF0000"/>
                </a:solidFill>
                <a:latin typeface="Avenir Book" charset="0"/>
                <a:ea typeface="Avenir Book" charset="0"/>
                <a:cs typeface="Avenir Book" charset="0"/>
              </a:rPr>
              <a:t>This time the depth is 16. </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200639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4419600" y="3223846"/>
            <a:ext cx="386862" cy="644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83663" y="4099257"/>
            <a:ext cx="4888184"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Output size: 16 x 10 x 10</a:t>
            </a:r>
          </a:p>
          <a:p>
            <a:r>
              <a:rPr lang="en-US" sz="1800" dirty="0" smtClean="0">
                <a:solidFill>
                  <a:srgbClr val="FF0000"/>
                </a:solidFill>
                <a:latin typeface="Avenir Book" charset="0"/>
                <a:ea typeface="Avenir Book" charset="0"/>
                <a:cs typeface="Avenir Book" charset="0"/>
              </a:rPr>
              <a:t>How many weights? (tricky!)</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062897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4419600" y="3223846"/>
            <a:ext cx="386862" cy="644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83662" y="3899966"/>
            <a:ext cx="6330123" cy="923330"/>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The kernels “take in” the full depth of the previous layer.</a:t>
            </a:r>
          </a:p>
          <a:p>
            <a:r>
              <a:rPr lang="en-US" sz="1800" dirty="0" smtClean="0">
                <a:solidFill>
                  <a:srgbClr val="FF0000"/>
                </a:solidFill>
                <a:latin typeface="Avenir Book" charset="0"/>
                <a:ea typeface="Avenir Book" charset="0"/>
                <a:cs typeface="Avenir Book" charset="0"/>
              </a:rPr>
              <a:t>So each 5x5 kernel now “looks at” 6x5x5 pixels.</a:t>
            </a:r>
          </a:p>
          <a:p>
            <a:r>
              <a:rPr lang="en-US" sz="1800" dirty="0" smtClean="0">
                <a:solidFill>
                  <a:srgbClr val="FF0000"/>
                </a:solidFill>
                <a:latin typeface="Avenir Book" charset="0"/>
                <a:ea typeface="Avenir Book" charset="0"/>
                <a:cs typeface="Avenir Book" charset="0"/>
              </a:rPr>
              <a:t>Each kernel has 6x5x5 = 150 weights + bias term = 151.</a:t>
            </a:r>
          </a:p>
        </p:txBody>
      </p:sp>
    </p:spTree>
    <p:extLst>
      <p:ext uri="{BB962C8B-B14F-4D97-AF65-F5344CB8AC3E}">
        <p14:creationId xmlns:p14="http://schemas.microsoft.com/office/powerpoint/2010/main" val="381601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V="1">
            <a:off x="4419600" y="3223846"/>
            <a:ext cx="386862" cy="644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83662" y="4099257"/>
            <a:ext cx="6330123" cy="369332"/>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So, total weights for this layer = 16*151 = 2416. </a:t>
            </a:r>
          </a:p>
        </p:txBody>
      </p:sp>
    </p:spTree>
    <p:extLst>
      <p:ext uri="{BB962C8B-B14F-4D97-AF65-F5344CB8AC3E}">
        <p14:creationId xmlns:p14="http://schemas.microsoft.com/office/powerpoint/2010/main" val="169665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flipH="1" flipV="1">
            <a:off x="5660020" y="3414532"/>
            <a:ext cx="509289" cy="5903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223232" y="4004842"/>
            <a:ext cx="3063791"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Another 2x2 pooling layer.</a:t>
            </a:r>
          </a:p>
          <a:p>
            <a:r>
              <a:rPr lang="en-US" sz="1800" dirty="0" smtClean="0">
                <a:solidFill>
                  <a:srgbClr val="FF0000"/>
                </a:solidFill>
                <a:latin typeface="Avenir Book" charset="0"/>
                <a:ea typeface="Avenir Book" charset="0"/>
                <a:cs typeface="Avenir Book" charset="0"/>
              </a:rPr>
              <a:t>Output is 16 x 5 x 5.</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245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cxnSp>
        <p:nvCxnSpPr>
          <p:cNvPr id="6" name="Straight Arrow Connector 5"/>
          <p:cNvCxnSpPr/>
          <p:nvPr/>
        </p:nvCxnSpPr>
        <p:spPr>
          <a:xfrm>
            <a:off x="5092050" y="1402607"/>
            <a:ext cx="89550" cy="5551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966619" y="804400"/>
            <a:ext cx="3305227"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We “flatten” this to a</a:t>
            </a:r>
          </a:p>
          <a:p>
            <a:r>
              <a:rPr lang="en-US" sz="1800" dirty="0" smtClean="0">
                <a:solidFill>
                  <a:srgbClr val="FF0000"/>
                </a:solidFill>
                <a:latin typeface="Avenir Book" charset="0"/>
                <a:ea typeface="Avenir Book" charset="0"/>
                <a:cs typeface="Avenir Book" charset="0"/>
              </a:rPr>
              <a:t>length 400 vector (not shown)</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033001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sp>
        <p:nvSpPr>
          <p:cNvPr id="8" name="TextBox 7"/>
          <p:cNvSpPr txBox="1"/>
          <p:nvPr/>
        </p:nvSpPr>
        <p:spPr>
          <a:xfrm>
            <a:off x="2966619" y="804400"/>
            <a:ext cx="3105935" cy="646331"/>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The following layers are just fully connected layers! </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2124328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sp>
        <p:nvSpPr>
          <p:cNvPr id="8" name="TextBox 7"/>
          <p:cNvSpPr txBox="1"/>
          <p:nvPr/>
        </p:nvSpPr>
        <p:spPr>
          <a:xfrm>
            <a:off x="2966619" y="804400"/>
            <a:ext cx="3574858" cy="369332"/>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From 400 to 120</a:t>
            </a:r>
            <a:endParaRPr lang="en-US" sz="1800" dirty="0">
              <a:solidFill>
                <a:srgbClr val="FF0000"/>
              </a:solidFill>
              <a:latin typeface="Avenir Book" charset="0"/>
              <a:ea typeface="Avenir Book" charset="0"/>
              <a:cs typeface="Avenir Book" charset="0"/>
            </a:endParaRPr>
          </a:p>
        </p:txBody>
      </p:sp>
      <p:cxnSp>
        <p:nvCxnSpPr>
          <p:cNvPr id="5" name="Straight Arrow Connector 4"/>
          <p:cNvCxnSpPr/>
          <p:nvPr/>
        </p:nvCxnSpPr>
        <p:spPr>
          <a:xfrm>
            <a:off x="4548554" y="1173732"/>
            <a:ext cx="644769" cy="10419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70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sp>
        <p:nvSpPr>
          <p:cNvPr id="8" name="TextBox 7"/>
          <p:cNvSpPr txBox="1"/>
          <p:nvPr/>
        </p:nvSpPr>
        <p:spPr>
          <a:xfrm>
            <a:off x="4256157" y="804400"/>
            <a:ext cx="3574858" cy="369332"/>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Then from 120 to 84</a:t>
            </a:r>
            <a:endParaRPr lang="en-US" sz="1800" dirty="0">
              <a:solidFill>
                <a:srgbClr val="FF0000"/>
              </a:solidFill>
              <a:latin typeface="Avenir Book" charset="0"/>
              <a:ea typeface="Avenir Book" charset="0"/>
              <a:cs typeface="Avenir Book" charset="0"/>
            </a:endParaRPr>
          </a:p>
        </p:txBody>
      </p:sp>
      <p:cxnSp>
        <p:nvCxnSpPr>
          <p:cNvPr id="5" name="Straight Arrow Connector 4"/>
          <p:cNvCxnSpPr/>
          <p:nvPr/>
        </p:nvCxnSpPr>
        <p:spPr>
          <a:xfrm>
            <a:off x="5767754" y="1220295"/>
            <a:ext cx="117231" cy="10419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333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sp>
        <p:nvSpPr>
          <p:cNvPr id="8" name="TextBox 7"/>
          <p:cNvSpPr txBox="1"/>
          <p:nvPr/>
        </p:nvSpPr>
        <p:spPr>
          <a:xfrm>
            <a:off x="4777494" y="804400"/>
            <a:ext cx="2214981" cy="369332"/>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Then </a:t>
            </a:r>
            <a:r>
              <a:rPr lang="en-US" sz="1800" smtClean="0">
                <a:solidFill>
                  <a:srgbClr val="FF0000"/>
                </a:solidFill>
                <a:latin typeface="Avenir Book" charset="0"/>
                <a:ea typeface="Avenir Book" charset="0"/>
                <a:cs typeface="Avenir Book" charset="0"/>
              </a:rPr>
              <a:t>from 84 to 10</a:t>
            </a:r>
            <a:endParaRPr lang="en-US" sz="1800" dirty="0">
              <a:solidFill>
                <a:srgbClr val="FF0000"/>
              </a:solidFill>
              <a:latin typeface="Avenir Book" charset="0"/>
              <a:ea typeface="Avenir Book" charset="0"/>
              <a:cs typeface="Avenir Book" charset="0"/>
            </a:endParaRPr>
          </a:p>
        </p:txBody>
      </p:sp>
      <p:cxnSp>
        <p:nvCxnSpPr>
          <p:cNvPr id="5" name="Straight Arrow Connector 4"/>
          <p:cNvCxnSpPr/>
          <p:nvPr/>
        </p:nvCxnSpPr>
        <p:spPr>
          <a:xfrm>
            <a:off x="5767754" y="1220295"/>
            <a:ext cx="633046" cy="96871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565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LeNet</a:t>
            </a:r>
            <a:r>
              <a:rPr lang="en-US" dirty="0" smtClean="0">
                <a:latin typeface="Avenir Book" charset="0"/>
                <a:ea typeface="Avenir Book" charset="0"/>
                <a:cs typeface="Avenir Book" charset="0"/>
              </a:rPr>
              <a:t> – Structure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508" y="1773116"/>
            <a:ext cx="7339515" cy="2095500"/>
          </a:xfrm>
          <a:prstGeom prst="rect">
            <a:avLst/>
          </a:prstGeom>
        </p:spPr>
      </p:pic>
      <p:sp>
        <p:nvSpPr>
          <p:cNvPr id="8" name="TextBox 7"/>
          <p:cNvSpPr txBox="1"/>
          <p:nvPr/>
        </p:nvSpPr>
        <p:spPr>
          <a:xfrm>
            <a:off x="4777494" y="804400"/>
            <a:ext cx="2214981" cy="923330"/>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And a </a:t>
            </a:r>
            <a:r>
              <a:rPr lang="en-US" sz="1800" dirty="0" err="1" smtClean="0">
                <a:solidFill>
                  <a:srgbClr val="FF0000"/>
                </a:solidFill>
                <a:latin typeface="Avenir Book" charset="0"/>
                <a:ea typeface="Avenir Book" charset="0"/>
                <a:cs typeface="Avenir Book" charset="0"/>
              </a:rPr>
              <a:t>softmax</a:t>
            </a:r>
            <a:r>
              <a:rPr lang="en-US" sz="1800" dirty="0" smtClean="0">
                <a:solidFill>
                  <a:srgbClr val="FF0000"/>
                </a:solidFill>
                <a:latin typeface="Avenir Book" charset="0"/>
                <a:ea typeface="Avenir Book" charset="0"/>
                <a:cs typeface="Avenir Book" charset="0"/>
              </a:rPr>
              <a:t> output of size 10 for the 10 digits</a:t>
            </a:r>
            <a:endParaRPr lang="en-US" sz="1800" dirty="0">
              <a:solidFill>
                <a:srgbClr val="FF0000"/>
              </a:solidFill>
              <a:latin typeface="Avenir Book" charset="0"/>
              <a:ea typeface="Avenir Book" charset="0"/>
              <a:cs typeface="Avenir Book" charset="0"/>
            </a:endParaRPr>
          </a:p>
        </p:txBody>
      </p:sp>
      <p:cxnSp>
        <p:nvCxnSpPr>
          <p:cNvPr id="5" name="Straight Arrow Connector 4"/>
          <p:cNvCxnSpPr/>
          <p:nvPr/>
        </p:nvCxnSpPr>
        <p:spPr>
          <a:xfrm>
            <a:off x="6353908" y="1773116"/>
            <a:ext cx="234461" cy="4308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0539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LeNet-5</a:t>
            </a:r>
            <a:endParaRPr lang="en-US" dirty="0">
              <a:latin typeface="Avenir Book" charset="0"/>
              <a:ea typeface="Avenir Book" charset="0"/>
              <a:cs typeface="Avenir Book" charset="0"/>
            </a:endParaRPr>
          </a:p>
        </p:txBody>
      </p:sp>
      <p:sp>
        <p:nvSpPr>
          <p:cNvPr id="5" name="Rectangle 4"/>
          <p:cNvSpPr/>
          <p:nvPr/>
        </p:nvSpPr>
        <p:spPr>
          <a:xfrm>
            <a:off x="398352" y="1227244"/>
            <a:ext cx="8192764" cy="3323987"/>
          </a:xfrm>
          <a:prstGeom prst="rect">
            <a:avLst/>
          </a:prstGeom>
        </p:spPr>
        <p:txBody>
          <a:bodyPr wrap="square">
            <a:spAutoFit/>
          </a:bodyPr>
          <a:lstStyle/>
          <a:p>
            <a:pPr lvl="0"/>
            <a:r>
              <a:rPr lang="en-US" sz="2200" dirty="0" smtClean="0">
                <a:latin typeface="Avenir Book" charset="0"/>
                <a:ea typeface="Avenir Book" charset="0"/>
                <a:cs typeface="Avenir Book" charset="0"/>
              </a:rPr>
              <a:t>How many total weights in the network?</a:t>
            </a:r>
          </a:p>
          <a:p>
            <a:pPr lvl="0"/>
            <a:endParaRPr lang="en-US" sz="1800" dirty="0">
              <a:latin typeface="Avenir Book" charset="0"/>
              <a:ea typeface="Avenir Book" charset="0"/>
              <a:cs typeface="Avenir Book" charset="0"/>
            </a:endParaRPr>
          </a:p>
          <a:p>
            <a:r>
              <a:rPr lang="en-US" sz="1800" dirty="0">
                <a:latin typeface="Avenir Book" charset="0"/>
                <a:ea typeface="Avenir Book" charset="0"/>
                <a:cs typeface="Avenir Book" charset="0"/>
              </a:rPr>
              <a:t>Conv1: 1*6*5*5 + 6   </a:t>
            </a:r>
            <a:r>
              <a:rPr lang="en-US" sz="1800" dirty="0" smtClean="0">
                <a:latin typeface="Avenir Book" charset="0"/>
                <a:ea typeface="Avenir Book" charset="0"/>
                <a:cs typeface="Avenir Book" charset="0"/>
              </a:rPr>
              <a:t>	=   </a:t>
            </a:r>
            <a:r>
              <a:rPr lang="en-US" sz="1800" dirty="0">
                <a:latin typeface="Avenir Book" charset="0"/>
                <a:ea typeface="Avenir Book" charset="0"/>
                <a:cs typeface="Avenir Book" charset="0"/>
              </a:rPr>
              <a:t>156</a:t>
            </a:r>
          </a:p>
          <a:p>
            <a:r>
              <a:rPr lang="en-US" sz="1800" dirty="0" smtClean="0">
                <a:latin typeface="Avenir Book" charset="0"/>
                <a:ea typeface="Avenir Book" charset="0"/>
                <a:cs typeface="Avenir Book" charset="0"/>
              </a:rPr>
              <a:t>Conv3</a:t>
            </a:r>
            <a:r>
              <a:rPr lang="en-US" sz="1800" dirty="0">
                <a:latin typeface="Avenir Book" charset="0"/>
                <a:ea typeface="Avenir Book" charset="0"/>
                <a:cs typeface="Avenir Book" charset="0"/>
              </a:rPr>
              <a:t>: 6*16*5*5 + 16 </a:t>
            </a:r>
            <a:r>
              <a:rPr lang="en-US" sz="1800" dirty="0" smtClean="0">
                <a:latin typeface="Avenir Book" charset="0"/>
                <a:ea typeface="Avenir Book" charset="0"/>
                <a:cs typeface="Avenir Book" charset="0"/>
              </a:rPr>
              <a:t>	=  </a:t>
            </a:r>
            <a:r>
              <a:rPr lang="en-US" sz="1800" dirty="0">
                <a:latin typeface="Avenir Book" charset="0"/>
                <a:ea typeface="Avenir Book" charset="0"/>
                <a:cs typeface="Avenir Book" charset="0"/>
              </a:rPr>
              <a:t>2416</a:t>
            </a:r>
          </a:p>
          <a:p>
            <a:r>
              <a:rPr lang="en-US" sz="1800" dirty="0" smtClean="0">
                <a:latin typeface="Avenir Book" charset="0"/>
                <a:ea typeface="Avenir Book" charset="0"/>
                <a:cs typeface="Avenir Book" charset="0"/>
              </a:rPr>
              <a:t>FC1</a:t>
            </a:r>
            <a:r>
              <a:rPr lang="en-US" sz="1800" dirty="0">
                <a:latin typeface="Avenir Book" charset="0"/>
                <a:ea typeface="Avenir Book" charset="0"/>
                <a:cs typeface="Avenir Book" charset="0"/>
              </a:rPr>
              <a:t>: 400*120 + 120   </a:t>
            </a:r>
            <a:r>
              <a:rPr lang="en-US" sz="1800" dirty="0" smtClean="0">
                <a:latin typeface="Avenir Book" charset="0"/>
                <a:ea typeface="Avenir Book" charset="0"/>
                <a:cs typeface="Avenir Book" charset="0"/>
              </a:rPr>
              <a:t>	= </a:t>
            </a:r>
            <a:r>
              <a:rPr lang="en-US" sz="1800" dirty="0">
                <a:latin typeface="Avenir Book" charset="0"/>
                <a:ea typeface="Avenir Book" charset="0"/>
                <a:cs typeface="Avenir Book" charset="0"/>
              </a:rPr>
              <a:t>48120</a:t>
            </a:r>
          </a:p>
          <a:p>
            <a:r>
              <a:rPr lang="en-US" sz="1800" dirty="0">
                <a:latin typeface="Avenir Book" charset="0"/>
                <a:ea typeface="Avenir Book" charset="0"/>
                <a:cs typeface="Avenir Book" charset="0"/>
              </a:rPr>
              <a:t>FC2: 120*84  + 84    </a:t>
            </a:r>
            <a:r>
              <a:rPr lang="en-US" sz="1800" dirty="0" smtClean="0">
                <a:latin typeface="Avenir Book" charset="0"/>
                <a:ea typeface="Avenir Book" charset="0"/>
                <a:cs typeface="Avenir Book" charset="0"/>
              </a:rPr>
              <a:t>	= </a:t>
            </a:r>
            <a:r>
              <a:rPr lang="en-US" sz="1800" dirty="0">
                <a:latin typeface="Avenir Book" charset="0"/>
                <a:ea typeface="Avenir Book" charset="0"/>
                <a:cs typeface="Avenir Book" charset="0"/>
              </a:rPr>
              <a:t>10164</a:t>
            </a:r>
          </a:p>
          <a:p>
            <a:r>
              <a:rPr lang="en-US" sz="1800" dirty="0">
                <a:latin typeface="Avenir Book" charset="0"/>
                <a:ea typeface="Avenir Book" charset="0"/>
                <a:cs typeface="Avenir Book" charset="0"/>
              </a:rPr>
              <a:t>FC3: 84*10 + 10      </a:t>
            </a:r>
            <a:r>
              <a:rPr lang="en-US" sz="1800" dirty="0" smtClean="0">
                <a:latin typeface="Avenir Book" charset="0"/>
                <a:ea typeface="Avenir Book" charset="0"/>
                <a:cs typeface="Avenir Book" charset="0"/>
              </a:rPr>
              <a:t>	=   </a:t>
            </a:r>
            <a:r>
              <a:rPr lang="en-US" sz="1800" dirty="0">
                <a:latin typeface="Avenir Book" charset="0"/>
                <a:ea typeface="Avenir Book" charset="0"/>
                <a:cs typeface="Avenir Book" charset="0"/>
              </a:rPr>
              <a:t>850</a:t>
            </a:r>
          </a:p>
          <a:p>
            <a:r>
              <a:rPr lang="en-US" sz="1800" dirty="0">
                <a:latin typeface="Avenir Book" charset="0"/>
                <a:ea typeface="Avenir Book" charset="0"/>
                <a:cs typeface="Avenir Book" charset="0"/>
              </a:rPr>
              <a:t>Total:               </a:t>
            </a:r>
            <a:r>
              <a:rPr lang="en-US" sz="1800" dirty="0" smtClean="0">
                <a:latin typeface="Avenir Book" charset="0"/>
                <a:ea typeface="Avenir Book" charset="0"/>
                <a:cs typeface="Avenir Book" charset="0"/>
              </a:rPr>
              <a:t>		= 61706</a:t>
            </a:r>
          </a:p>
          <a:p>
            <a:endParaRPr lang="en-US" sz="1800" dirty="0">
              <a:latin typeface="Avenir Book" charset="0"/>
              <a:ea typeface="Avenir Book" charset="0"/>
              <a:cs typeface="Avenir Book" charset="0"/>
            </a:endParaRPr>
          </a:p>
          <a:p>
            <a:r>
              <a:rPr lang="en-US" sz="2200" dirty="0">
                <a:latin typeface="Avenir Book" charset="0"/>
                <a:ea typeface="Avenir Book" charset="0"/>
                <a:cs typeface="Avenir Book" charset="0"/>
              </a:rPr>
              <a:t>Less than a single FC layer with [1200x1200] weights</a:t>
            </a:r>
            <a:r>
              <a:rPr lang="en-US" sz="2200" dirty="0" smtClean="0">
                <a:latin typeface="Avenir Book" charset="0"/>
                <a:ea typeface="Avenir Book" charset="0"/>
                <a:cs typeface="Avenir Book" charset="0"/>
              </a:rPr>
              <a:t>!</a:t>
            </a:r>
          </a:p>
          <a:p>
            <a:r>
              <a:rPr lang="en-US" sz="2200" dirty="0" smtClean="0">
                <a:latin typeface="Avenir Book" charset="0"/>
                <a:ea typeface="Avenir Book" charset="0"/>
                <a:cs typeface="Avenir Book" charset="0"/>
              </a:rPr>
              <a:t>Note that Convolutional Layers have relatively few weights.</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20847101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Transfer Learning</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93179741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Motivation</a:t>
            </a:r>
            <a:endParaRPr lang="en-US" dirty="0">
              <a:latin typeface="Avenir Book" charset="0"/>
              <a:ea typeface="Avenir Book" charset="0"/>
              <a:cs typeface="Avenir Book" charset="0"/>
            </a:endParaRPr>
          </a:p>
        </p:txBody>
      </p:sp>
      <p:sp>
        <p:nvSpPr>
          <p:cNvPr id="75" name="Rectangle 74"/>
          <p:cNvSpPr/>
          <p:nvPr/>
        </p:nvSpPr>
        <p:spPr>
          <a:xfrm>
            <a:off x="293077" y="1227244"/>
            <a:ext cx="4507523" cy="2800767"/>
          </a:xfrm>
          <a:prstGeom prst="rect">
            <a:avLst/>
          </a:prstGeom>
        </p:spPr>
        <p:txBody>
          <a:bodyPr wrap="square">
            <a:spAutoFit/>
          </a:bodyPr>
          <a:lstStyle/>
          <a:p>
            <a:pPr marL="457200" lvl="0" indent="-342900">
              <a:buFont typeface="Arial" charset="0"/>
              <a:buChar char="•"/>
            </a:pPr>
            <a:r>
              <a:rPr lang="en-US" sz="2200" dirty="0" smtClean="0">
                <a:latin typeface="Avenir Book" charset="0"/>
                <a:ea typeface="Avenir Book" charset="0"/>
                <a:cs typeface="Avenir Book" charset="0"/>
              </a:rPr>
              <a:t>Early layers in a Neural Network are the hardest (i.e. slowest) to train</a:t>
            </a:r>
          </a:p>
          <a:p>
            <a:pPr marL="457200" lvl="0" indent="-342900">
              <a:buFont typeface="Arial" charset="0"/>
              <a:buChar char="•"/>
            </a:pPr>
            <a:r>
              <a:rPr lang="en-US" sz="2200" dirty="0" smtClean="0">
                <a:latin typeface="Avenir Book" charset="0"/>
                <a:ea typeface="Avenir Book" charset="0"/>
                <a:cs typeface="Avenir Book" charset="0"/>
              </a:rPr>
              <a:t>Due to vanishing gradient property</a:t>
            </a:r>
          </a:p>
          <a:p>
            <a:pPr marL="457200" lvl="0" indent="-342900">
              <a:buFont typeface="Arial" charset="0"/>
              <a:buChar char="•"/>
            </a:pPr>
            <a:r>
              <a:rPr lang="en-US" sz="2200" dirty="0" smtClean="0">
                <a:latin typeface="Avenir Book" charset="0"/>
                <a:ea typeface="Avenir Book" charset="0"/>
                <a:cs typeface="Avenir Book" charset="0"/>
              </a:rPr>
              <a:t>But these ”primitive” features should be general across many image classification tasks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9892" y="1227244"/>
            <a:ext cx="3200400" cy="3187700"/>
          </a:xfrm>
          <a:prstGeom prst="rect">
            <a:avLst/>
          </a:prstGeom>
        </p:spPr>
      </p:pic>
    </p:spTree>
    <p:extLst>
      <p:ext uri="{BB962C8B-B14F-4D97-AF65-F5344CB8AC3E}">
        <p14:creationId xmlns:p14="http://schemas.microsoft.com/office/powerpoint/2010/main" val="14625626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Motivation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1785104"/>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Later layers in the network are capturing features that are more particular to the specific image classification problem.</a:t>
            </a: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Later layers are easier (quicker) to train since adjusting their weights has a more immediate impact on the final result.</a:t>
            </a:r>
          </a:p>
        </p:txBody>
      </p:sp>
    </p:spTree>
    <p:extLst>
      <p:ext uri="{BB962C8B-B14F-4D97-AF65-F5344CB8AC3E}">
        <p14:creationId xmlns:p14="http://schemas.microsoft.com/office/powerpoint/2010/main" val="2556457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Motivation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2123658"/>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Famous, Competition-Winning Models are difficult to train from scratch</a:t>
            </a:r>
          </a:p>
          <a:p>
            <a:pPr marL="457200" lvl="0" indent="457200">
              <a:buFont typeface="Courier New" charset="0"/>
              <a:buChar char="o"/>
            </a:pPr>
            <a:r>
              <a:rPr lang="en-US" sz="2200" dirty="0" smtClean="0">
                <a:latin typeface="Avenir Book" charset="0"/>
                <a:ea typeface="Avenir Book" charset="0"/>
                <a:cs typeface="Avenir Book" charset="0"/>
              </a:rPr>
              <a:t>Huge datasets (like ImageNet)</a:t>
            </a:r>
          </a:p>
          <a:p>
            <a:pPr marL="457200" lvl="0" indent="457200">
              <a:buFont typeface="Courier New" charset="0"/>
              <a:buChar char="o"/>
            </a:pPr>
            <a:r>
              <a:rPr lang="en-US" sz="2200" dirty="0" smtClean="0">
                <a:latin typeface="Avenir Book" charset="0"/>
                <a:ea typeface="Avenir Book" charset="0"/>
                <a:cs typeface="Avenir Book" charset="0"/>
              </a:rPr>
              <a:t>Long number of training iterations</a:t>
            </a:r>
          </a:p>
          <a:p>
            <a:pPr marL="457200" lvl="0" indent="457200">
              <a:buFont typeface="Courier New" charset="0"/>
              <a:buChar char="o"/>
            </a:pPr>
            <a:r>
              <a:rPr lang="en-US" sz="2200" dirty="0" smtClean="0">
                <a:latin typeface="Avenir Book" charset="0"/>
                <a:ea typeface="Avenir Book" charset="0"/>
                <a:cs typeface="Avenir Book" charset="0"/>
              </a:rPr>
              <a:t>Very heavy computing machinery</a:t>
            </a:r>
          </a:p>
          <a:p>
            <a:pPr marL="457200" lvl="0" indent="457200">
              <a:buFont typeface="Courier New" charset="0"/>
              <a:buChar char="o"/>
            </a:pPr>
            <a:r>
              <a:rPr lang="en-US" sz="2200" dirty="0" smtClean="0">
                <a:latin typeface="Avenir Book" charset="0"/>
                <a:ea typeface="Avenir Book" charset="0"/>
                <a:cs typeface="Avenir Book" charset="0"/>
              </a:rPr>
              <a:t>Time experimenting to get hyper-parameters just right</a:t>
            </a:r>
          </a:p>
        </p:txBody>
      </p:sp>
    </p:spTree>
    <p:extLst>
      <p:ext uri="{BB962C8B-B14F-4D97-AF65-F5344CB8AC3E}">
        <p14:creationId xmlns:p14="http://schemas.microsoft.com/office/powerpoint/2010/main" val="53340321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Transfer Learning</a:t>
            </a:r>
          </a:p>
        </p:txBody>
      </p:sp>
      <p:sp>
        <p:nvSpPr>
          <p:cNvPr id="75" name="Rectangle 74"/>
          <p:cNvSpPr/>
          <p:nvPr/>
        </p:nvSpPr>
        <p:spPr>
          <a:xfrm>
            <a:off x="398352" y="1227244"/>
            <a:ext cx="8192764" cy="2462213"/>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However, the basic features (edges, shapes) learned in the early layers of the network </a:t>
            </a:r>
            <a:r>
              <a:rPr lang="en-US" sz="2200" i="1" dirty="0" smtClean="0">
                <a:latin typeface="Avenir Book" charset="0"/>
                <a:ea typeface="Avenir Book" charset="0"/>
                <a:cs typeface="Avenir Book" charset="0"/>
              </a:rPr>
              <a:t>should</a:t>
            </a:r>
            <a:r>
              <a:rPr lang="en-US" sz="2200" dirty="0" smtClean="0">
                <a:latin typeface="Avenir Book" charset="0"/>
                <a:ea typeface="Avenir Book" charset="0"/>
                <a:cs typeface="Avenir Book" charset="0"/>
              </a:rPr>
              <a:t> generalize.</a:t>
            </a:r>
          </a:p>
          <a:p>
            <a:pPr marL="457200" lvl="0" indent="-457200">
              <a:buFont typeface="Arial" charset="0"/>
              <a:buChar char="•"/>
            </a:pPr>
            <a:r>
              <a:rPr lang="en-US" sz="2200" dirty="0" smtClean="0">
                <a:latin typeface="Avenir Book" charset="0"/>
                <a:ea typeface="Avenir Book" charset="0"/>
                <a:cs typeface="Avenir Book" charset="0"/>
              </a:rPr>
              <a:t>Results of the training are just weights (numbers) that are easy to store.</a:t>
            </a:r>
          </a:p>
          <a:p>
            <a:pPr marL="457200" lvl="0" indent="-457200">
              <a:buFont typeface="Arial" charset="0"/>
              <a:buChar char="•"/>
            </a:pPr>
            <a:r>
              <a:rPr lang="en-US" sz="2200" dirty="0" smtClean="0">
                <a:latin typeface="Avenir Book" charset="0"/>
                <a:ea typeface="Avenir Book" charset="0"/>
                <a:cs typeface="Avenir Book" charset="0"/>
              </a:rPr>
              <a:t>Idea: keep the early layers of a pre-trained network, and re-train the later layers for a specific application</a:t>
            </a:r>
          </a:p>
          <a:p>
            <a:pPr marL="457200" lvl="0" indent="-457200">
              <a:buFont typeface="Arial" charset="0"/>
              <a:buChar char="•"/>
            </a:pPr>
            <a:r>
              <a:rPr lang="en-US" sz="2200" dirty="0" smtClean="0">
                <a:latin typeface="Avenir Book" charset="0"/>
                <a:ea typeface="Avenir Book" charset="0"/>
                <a:cs typeface="Avenir Book" charset="0"/>
              </a:rPr>
              <a:t>This is called </a:t>
            </a:r>
            <a:r>
              <a:rPr lang="en-US" sz="2200" b="1" i="1" dirty="0" smtClean="0">
                <a:latin typeface="Avenir Book" charset="0"/>
                <a:ea typeface="Avenir Book" charset="0"/>
                <a:cs typeface="Avenir Book" charset="0"/>
              </a:rPr>
              <a:t>Transfer Learning</a:t>
            </a:r>
            <a:r>
              <a:rPr lang="en-US" sz="2200" dirty="0" smtClean="0">
                <a:latin typeface="Avenir Book" charset="0"/>
                <a:ea typeface="Avenir Book" charset="0"/>
                <a:cs typeface="Avenir Book" charset="0"/>
              </a:rPr>
              <a:t>.</a:t>
            </a:r>
          </a:p>
        </p:txBody>
      </p:sp>
    </p:spTree>
    <p:extLst>
      <p:ext uri="{BB962C8B-B14F-4D97-AF65-F5344CB8AC3E}">
        <p14:creationId xmlns:p14="http://schemas.microsoft.com/office/powerpoint/2010/main" val="10304467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Transfer Learning</a:t>
            </a:r>
            <a:endParaRPr lang="en-US" dirty="0">
              <a:latin typeface="Avenir Book" charset="0"/>
              <a:ea typeface="Avenir Book" charset="0"/>
              <a:cs typeface="Avenir Book" charset="0"/>
            </a:endParaRPr>
          </a:p>
        </p:txBody>
      </p:sp>
      <p:sp>
        <p:nvSpPr>
          <p:cNvPr id="4" name="Cube 3"/>
          <p:cNvSpPr/>
          <p:nvPr/>
        </p:nvSpPr>
        <p:spPr>
          <a:xfrm>
            <a:off x="1188107" y="1847834"/>
            <a:ext cx="342900" cy="1200150"/>
          </a:xfrm>
          <a:prstGeom prst="cube">
            <a:avLst>
              <a:gd name="adj" fmla="val 87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Cube 4"/>
          <p:cNvSpPr/>
          <p:nvPr/>
        </p:nvSpPr>
        <p:spPr>
          <a:xfrm>
            <a:off x="1816757" y="1847834"/>
            <a:ext cx="685800" cy="1200150"/>
          </a:xfrm>
          <a:prstGeom prst="cube">
            <a:avLst>
              <a:gd name="adj" fmla="val 630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Cube 5"/>
          <p:cNvSpPr/>
          <p:nvPr/>
        </p:nvSpPr>
        <p:spPr>
          <a:xfrm>
            <a:off x="2731157" y="2362184"/>
            <a:ext cx="971550" cy="685800"/>
          </a:xfrm>
          <a:prstGeom prst="cube">
            <a:avLst>
              <a:gd name="adj" fmla="val 26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 name="Cube 6"/>
          <p:cNvSpPr/>
          <p:nvPr/>
        </p:nvSpPr>
        <p:spPr>
          <a:xfrm>
            <a:off x="3931307" y="2590784"/>
            <a:ext cx="1657350" cy="457200"/>
          </a:xfrm>
          <a:prstGeom prst="cube">
            <a:avLst>
              <a:gd name="adj" fmla="val 310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Rectangle 7"/>
          <p:cNvSpPr/>
          <p:nvPr/>
        </p:nvSpPr>
        <p:spPr>
          <a:xfrm>
            <a:off x="6229350" y="1974209"/>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6972300" y="1974209"/>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p:cNvSpPr/>
          <p:nvPr/>
        </p:nvSpPr>
        <p:spPr>
          <a:xfrm>
            <a:off x="7715250" y="1974209"/>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4" name="Right Brace 13"/>
          <p:cNvSpPr/>
          <p:nvPr/>
        </p:nvSpPr>
        <p:spPr>
          <a:xfrm rot="5400000">
            <a:off x="3163214" y="1078941"/>
            <a:ext cx="413594" cy="4363808"/>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5" name="Right Brace 14"/>
          <p:cNvSpPr/>
          <p:nvPr/>
        </p:nvSpPr>
        <p:spPr>
          <a:xfrm rot="5400000">
            <a:off x="6568809" y="3333513"/>
            <a:ext cx="275514" cy="900221"/>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cxnSp>
        <p:nvCxnSpPr>
          <p:cNvPr id="16" name="Straight Arrow Connector 15"/>
          <p:cNvCxnSpPr/>
          <p:nvPr/>
        </p:nvCxnSpPr>
        <p:spPr>
          <a:xfrm>
            <a:off x="1531007" y="2701694"/>
            <a:ext cx="28575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445407" y="2701694"/>
            <a:ext cx="28575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714750" y="2802917"/>
            <a:ext cx="228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680130" y="2802917"/>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508010" y="2819384"/>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7258050" y="2819384"/>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505788" y="3570717"/>
            <a:ext cx="1236236" cy="307777"/>
          </a:xfrm>
          <a:prstGeom prst="rect">
            <a:avLst/>
          </a:prstGeom>
          <a:noFill/>
        </p:spPr>
        <p:txBody>
          <a:bodyPr wrap="none" rtlCol="0">
            <a:spAutoFit/>
          </a:bodyPr>
          <a:lstStyle/>
          <a:p>
            <a:r>
              <a:rPr lang="en-US" dirty="0" smtClean="0">
                <a:latin typeface="Avenir Book" charset="0"/>
                <a:ea typeface="Avenir Book" charset="0"/>
                <a:cs typeface="Avenir Book" charset="0"/>
              </a:rPr>
              <a:t>Convolutions</a:t>
            </a:r>
            <a:endParaRPr lang="en-US" dirty="0">
              <a:latin typeface="Avenir Book" charset="0"/>
              <a:ea typeface="Avenir Book" charset="0"/>
              <a:cs typeface="Avenir Book" charset="0"/>
            </a:endParaRPr>
          </a:p>
        </p:txBody>
      </p:sp>
      <p:sp>
        <p:nvSpPr>
          <p:cNvPr id="31" name="TextBox 30"/>
          <p:cNvSpPr txBox="1"/>
          <p:nvPr/>
        </p:nvSpPr>
        <p:spPr>
          <a:xfrm>
            <a:off x="6003980" y="3975561"/>
            <a:ext cx="1491114" cy="307777"/>
          </a:xfrm>
          <a:prstGeom prst="rect">
            <a:avLst/>
          </a:prstGeom>
          <a:noFill/>
        </p:spPr>
        <p:txBody>
          <a:bodyPr wrap="none" rtlCol="0">
            <a:spAutoFit/>
          </a:bodyPr>
          <a:lstStyle/>
          <a:p>
            <a:r>
              <a:rPr lang="en-US" dirty="0" smtClean="0">
                <a:latin typeface="Avenir Book" charset="0"/>
                <a:ea typeface="Avenir Book" charset="0"/>
                <a:cs typeface="Avenir Book" charset="0"/>
              </a:rPr>
              <a:t>Fully Connected</a:t>
            </a:r>
            <a:endParaRPr lang="en-US" dirty="0">
              <a:latin typeface="Avenir Book" charset="0"/>
              <a:ea typeface="Avenir Book" charset="0"/>
              <a:cs typeface="Avenir Book" charset="0"/>
            </a:endParaRPr>
          </a:p>
        </p:txBody>
      </p:sp>
      <p:sp>
        <p:nvSpPr>
          <p:cNvPr id="32" name="TextBox 31"/>
          <p:cNvSpPr txBox="1"/>
          <p:nvPr/>
        </p:nvSpPr>
        <p:spPr>
          <a:xfrm>
            <a:off x="6939260" y="4251025"/>
            <a:ext cx="1558440" cy="307777"/>
          </a:xfrm>
          <a:prstGeom prst="rect">
            <a:avLst/>
          </a:prstGeom>
          <a:noFill/>
        </p:spPr>
        <p:txBody>
          <a:bodyPr wrap="none" rtlCol="0">
            <a:spAutoFit/>
          </a:bodyPr>
          <a:lstStyle/>
          <a:p>
            <a:r>
              <a:rPr lang="en-US" dirty="0" err="1">
                <a:latin typeface="Avenir Book" charset="0"/>
                <a:ea typeface="Avenir Book" charset="0"/>
                <a:cs typeface="Avenir Book" charset="0"/>
              </a:rPr>
              <a:t>softmax</a:t>
            </a:r>
            <a:r>
              <a:rPr lang="en-US" dirty="0">
                <a:latin typeface="Avenir Book" charset="0"/>
                <a:ea typeface="Avenir Book" charset="0"/>
                <a:cs typeface="Avenir Book" charset="0"/>
              </a:rPr>
              <a:t> classifier</a:t>
            </a:r>
          </a:p>
        </p:txBody>
      </p:sp>
      <p:cxnSp>
        <p:nvCxnSpPr>
          <p:cNvPr id="34" name="Straight Arrow Connector 33"/>
          <p:cNvCxnSpPr/>
          <p:nvPr/>
        </p:nvCxnSpPr>
        <p:spPr>
          <a:xfrm flipV="1">
            <a:off x="7718480" y="3730497"/>
            <a:ext cx="114300" cy="566382"/>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920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Transfer Learning</a:t>
            </a:r>
            <a:endParaRPr lang="en-US" dirty="0">
              <a:latin typeface="Avenir Book" charset="0"/>
              <a:ea typeface="Avenir Book" charset="0"/>
              <a:cs typeface="Avenir Book" charset="0"/>
            </a:endParaRPr>
          </a:p>
        </p:txBody>
      </p:sp>
      <p:sp>
        <p:nvSpPr>
          <p:cNvPr id="4" name="Cube 3"/>
          <p:cNvSpPr/>
          <p:nvPr/>
        </p:nvSpPr>
        <p:spPr>
          <a:xfrm>
            <a:off x="1188107" y="1847825"/>
            <a:ext cx="342900" cy="1200150"/>
          </a:xfrm>
          <a:prstGeom prst="cube">
            <a:avLst>
              <a:gd name="adj" fmla="val 87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Cube 4"/>
          <p:cNvSpPr/>
          <p:nvPr/>
        </p:nvSpPr>
        <p:spPr>
          <a:xfrm>
            <a:off x="1816757" y="1847825"/>
            <a:ext cx="685800" cy="1200150"/>
          </a:xfrm>
          <a:prstGeom prst="cube">
            <a:avLst>
              <a:gd name="adj" fmla="val 630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Cube 5"/>
          <p:cNvSpPr/>
          <p:nvPr/>
        </p:nvSpPr>
        <p:spPr>
          <a:xfrm>
            <a:off x="2731157" y="2362175"/>
            <a:ext cx="971550" cy="685800"/>
          </a:xfrm>
          <a:prstGeom prst="cube">
            <a:avLst>
              <a:gd name="adj" fmla="val 26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 name="Cube 6"/>
          <p:cNvSpPr/>
          <p:nvPr/>
        </p:nvSpPr>
        <p:spPr>
          <a:xfrm>
            <a:off x="3931307" y="2590775"/>
            <a:ext cx="1657350" cy="457200"/>
          </a:xfrm>
          <a:prstGeom prst="cube">
            <a:avLst>
              <a:gd name="adj" fmla="val 310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Rectangle 7"/>
          <p:cNvSpPr/>
          <p:nvPr/>
        </p:nvSpPr>
        <p:spPr>
          <a:xfrm>
            <a:off x="6229350" y="1974200"/>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6972300" y="1974200"/>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p:cNvSpPr/>
          <p:nvPr/>
        </p:nvSpPr>
        <p:spPr>
          <a:xfrm>
            <a:off x="7715250" y="1974200"/>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4" name="Right Brace 13"/>
          <p:cNvSpPr/>
          <p:nvPr/>
        </p:nvSpPr>
        <p:spPr>
          <a:xfrm rot="5400000">
            <a:off x="3163214" y="1078932"/>
            <a:ext cx="413594" cy="4363808"/>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5" name="Right Brace 14"/>
          <p:cNvSpPr/>
          <p:nvPr/>
        </p:nvSpPr>
        <p:spPr>
          <a:xfrm rot="5400000">
            <a:off x="6568809" y="3333504"/>
            <a:ext cx="275514" cy="900221"/>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cxnSp>
        <p:nvCxnSpPr>
          <p:cNvPr id="16" name="Straight Arrow Connector 15"/>
          <p:cNvCxnSpPr/>
          <p:nvPr/>
        </p:nvCxnSpPr>
        <p:spPr>
          <a:xfrm>
            <a:off x="1531007" y="2701685"/>
            <a:ext cx="28575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445407" y="2701685"/>
            <a:ext cx="28575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714750" y="2802908"/>
            <a:ext cx="228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680130" y="2802908"/>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508010" y="2819375"/>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7258050" y="2819375"/>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505788" y="3570708"/>
            <a:ext cx="1236236" cy="307777"/>
          </a:xfrm>
          <a:prstGeom prst="rect">
            <a:avLst/>
          </a:prstGeom>
          <a:noFill/>
        </p:spPr>
        <p:txBody>
          <a:bodyPr wrap="none" rtlCol="0">
            <a:spAutoFit/>
          </a:bodyPr>
          <a:lstStyle/>
          <a:p>
            <a:r>
              <a:rPr lang="en-US" dirty="0" smtClean="0">
                <a:latin typeface="Avenir Book" charset="0"/>
                <a:ea typeface="Avenir Book" charset="0"/>
                <a:cs typeface="Avenir Book" charset="0"/>
              </a:rPr>
              <a:t>Convolutions</a:t>
            </a:r>
            <a:endParaRPr lang="en-US" dirty="0">
              <a:latin typeface="Avenir Book" charset="0"/>
              <a:ea typeface="Avenir Book" charset="0"/>
              <a:cs typeface="Avenir Book" charset="0"/>
            </a:endParaRPr>
          </a:p>
        </p:txBody>
      </p:sp>
      <p:sp>
        <p:nvSpPr>
          <p:cNvPr id="31" name="TextBox 30"/>
          <p:cNvSpPr txBox="1"/>
          <p:nvPr/>
        </p:nvSpPr>
        <p:spPr>
          <a:xfrm>
            <a:off x="6003980" y="3975552"/>
            <a:ext cx="1491114" cy="307777"/>
          </a:xfrm>
          <a:prstGeom prst="rect">
            <a:avLst/>
          </a:prstGeom>
          <a:noFill/>
        </p:spPr>
        <p:txBody>
          <a:bodyPr wrap="none" rtlCol="0">
            <a:spAutoFit/>
          </a:bodyPr>
          <a:lstStyle/>
          <a:p>
            <a:r>
              <a:rPr lang="en-US" dirty="0" smtClean="0">
                <a:latin typeface="Avenir Book" charset="0"/>
                <a:ea typeface="Avenir Book" charset="0"/>
                <a:cs typeface="Avenir Book" charset="0"/>
              </a:rPr>
              <a:t>Fully Connected</a:t>
            </a:r>
            <a:endParaRPr lang="en-US" dirty="0">
              <a:latin typeface="Avenir Book" charset="0"/>
              <a:ea typeface="Avenir Book" charset="0"/>
              <a:cs typeface="Avenir Book" charset="0"/>
            </a:endParaRPr>
          </a:p>
        </p:txBody>
      </p:sp>
      <p:sp>
        <p:nvSpPr>
          <p:cNvPr id="32" name="TextBox 31"/>
          <p:cNvSpPr txBox="1"/>
          <p:nvPr/>
        </p:nvSpPr>
        <p:spPr>
          <a:xfrm>
            <a:off x="6939260" y="4251016"/>
            <a:ext cx="1558440" cy="307777"/>
          </a:xfrm>
          <a:prstGeom prst="rect">
            <a:avLst/>
          </a:prstGeom>
          <a:noFill/>
        </p:spPr>
        <p:txBody>
          <a:bodyPr wrap="none" rtlCol="0">
            <a:spAutoFit/>
          </a:bodyPr>
          <a:lstStyle/>
          <a:p>
            <a:r>
              <a:rPr lang="en-US" dirty="0" err="1">
                <a:latin typeface="Avenir Book" charset="0"/>
                <a:ea typeface="Avenir Book" charset="0"/>
                <a:cs typeface="Avenir Book" charset="0"/>
              </a:rPr>
              <a:t>softmax</a:t>
            </a:r>
            <a:r>
              <a:rPr lang="en-US" dirty="0">
                <a:latin typeface="Avenir Book" charset="0"/>
                <a:ea typeface="Avenir Book" charset="0"/>
                <a:cs typeface="Avenir Book" charset="0"/>
              </a:rPr>
              <a:t> classifier</a:t>
            </a:r>
          </a:p>
        </p:txBody>
      </p:sp>
      <p:cxnSp>
        <p:nvCxnSpPr>
          <p:cNvPr id="34" name="Straight Arrow Connector 33"/>
          <p:cNvCxnSpPr/>
          <p:nvPr/>
        </p:nvCxnSpPr>
        <p:spPr>
          <a:xfrm flipV="1">
            <a:off x="7718480" y="3730488"/>
            <a:ext cx="114300" cy="566382"/>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83415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Transfer Learning</a:t>
            </a:r>
            <a:endParaRPr lang="en-US" dirty="0">
              <a:latin typeface="Avenir Book" charset="0"/>
              <a:ea typeface="Avenir Book" charset="0"/>
              <a:cs typeface="Avenir Book" charset="0"/>
            </a:endParaRPr>
          </a:p>
        </p:txBody>
      </p:sp>
      <p:sp>
        <p:nvSpPr>
          <p:cNvPr id="3" name="Cube 2"/>
          <p:cNvSpPr/>
          <p:nvPr/>
        </p:nvSpPr>
        <p:spPr>
          <a:xfrm>
            <a:off x="1188107" y="1844569"/>
            <a:ext cx="342900" cy="1200150"/>
          </a:xfrm>
          <a:prstGeom prst="cube">
            <a:avLst>
              <a:gd name="adj" fmla="val 87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Cube 3"/>
          <p:cNvSpPr/>
          <p:nvPr/>
        </p:nvSpPr>
        <p:spPr>
          <a:xfrm>
            <a:off x="1816757" y="1844569"/>
            <a:ext cx="685800" cy="1200150"/>
          </a:xfrm>
          <a:prstGeom prst="cube">
            <a:avLst>
              <a:gd name="adj" fmla="val 630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Cube 4"/>
          <p:cNvSpPr/>
          <p:nvPr/>
        </p:nvSpPr>
        <p:spPr>
          <a:xfrm>
            <a:off x="2731157" y="2358919"/>
            <a:ext cx="971550" cy="685800"/>
          </a:xfrm>
          <a:prstGeom prst="cube">
            <a:avLst>
              <a:gd name="adj" fmla="val 26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Cube 5"/>
          <p:cNvSpPr/>
          <p:nvPr/>
        </p:nvSpPr>
        <p:spPr>
          <a:xfrm>
            <a:off x="3931307" y="2587519"/>
            <a:ext cx="1657350" cy="457200"/>
          </a:xfrm>
          <a:prstGeom prst="cube">
            <a:avLst>
              <a:gd name="adj" fmla="val 310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 name="Rectangle 6"/>
          <p:cNvSpPr/>
          <p:nvPr/>
        </p:nvSpPr>
        <p:spPr>
          <a:xfrm>
            <a:off x="6229350" y="1970944"/>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Rectangle 7"/>
          <p:cNvSpPr/>
          <p:nvPr/>
        </p:nvSpPr>
        <p:spPr>
          <a:xfrm>
            <a:off x="6972300" y="1970944"/>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7715250" y="3017983"/>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3" name="Right Brace 12"/>
          <p:cNvSpPr/>
          <p:nvPr/>
        </p:nvSpPr>
        <p:spPr>
          <a:xfrm rot="5400000">
            <a:off x="3163214" y="1075676"/>
            <a:ext cx="413594" cy="4363808"/>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cxnSp>
        <p:nvCxnSpPr>
          <p:cNvPr id="15" name="Straight Arrow Connector 14"/>
          <p:cNvCxnSpPr/>
          <p:nvPr/>
        </p:nvCxnSpPr>
        <p:spPr>
          <a:xfrm>
            <a:off x="1531007" y="2698429"/>
            <a:ext cx="28575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445407" y="2698429"/>
            <a:ext cx="28575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714750" y="2799652"/>
            <a:ext cx="228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680130" y="2799652"/>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6508010" y="2816119"/>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7258050" y="2816119"/>
            <a:ext cx="457200" cy="103053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715250" y="990275"/>
            <a:ext cx="228600" cy="165735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cxnSp>
        <p:nvCxnSpPr>
          <p:cNvPr id="22" name="Straight Arrow Connector 21"/>
          <p:cNvCxnSpPr/>
          <p:nvPr/>
        </p:nvCxnSpPr>
        <p:spPr>
          <a:xfrm flipV="1">
            <a:off x="7258050" y="1818950"/>
            <a:ext cx="457200" cy="9806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p:cNvSpPr/>
          <p:nvPr/>
        </p:nvSpPr>
        <p:spPr>
          <a:xfrm rot="5400000">
            <a:off x="3163214" y="1075676"/>
            <a:ext cx="413594" cy="4363808"/>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24" name="Right Brace 23"/>
          <p:cNvSpPr/>
          <p:nvPr/>
        </p:nvSpPr>
        <p:spPr>
          <a:xfrm rot="5400000">
            <a:off x="6568809" y="3330248"/>
            <a:ext cx="275514" cy="900221"/>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cxnSp>
        <p:nvCxnSpPr>
          <p:cNvPr id="25" name="Straight Arrow Connector 24"/>
          <p:cNvCxnSpPr/>
          <p:nvPr/>
        </p:nvCxnSpPr>
        <p:spPr>
          <a:xfrm>
            <a:off x="3714750" y="2799652"/>
            <a:ext cx="228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5680130" y="2799652"/>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508010" y="2816119"/>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505788" y="3567452"/>
            <a:ext cx="1236236" cy="307777"/>
          </a:xfrm>
          <a:prstGeom prst="rect">
            <a:avLst/>
          </a:prstGeom>
          <a:noFill/>
        </p:spPr>
        <p:txBody>
          <a:bodyPr wrap="none" rtlCol="0">
            <a:spAutoFit/>
          </a:bodyPr>
          <a:lstStyle/>
          <a:p>
            <a:r>
              <a:rPr lang="en-US" dirty="0" smtClean="0">
                <a:latin typeface="Avenir Book" charset="0"/>
                <a:ea typeface="Avenir Book" charset="0"/>
                <a:cs typeface="Avenir Book" charset="0"/>
              </a:rPr>
              <a:t>Convolutions</a:t>
            </a:r>
            <a:endParaRPr lang="en-US" dirty="0">
              <a:latin typeface="Avenir Book" charset="0"/>
              <a:ea typeface="Avenir Book" charset="0"/>
              <a:cs typeface="Avenir Book" charset="0"/>
            </a:endParaRPr>
          </a:p>
        </p:txBody>
      </p:sp>
      <p:sp>
        <p:nvSpPr>
          <p:cNvPr id="30" name="TextBox 29"/>
          <p:cNvSpPr txBox="1"/>
          <p:nvPr/>
        </p:nvSpPr>
        <p:spPr>
          <a:xfrm>
            <a:off x="6003980" y="3972296"/>
            <a:ext cx="1491114" cy="307777"/>
          </a:xfrm>
          <a:prstGeom prst="rect">
            <a:avLst/>
          </a:prstGeom>
          <a:noFill/>
        </p:spPr>
        <p:txBody>
          <a:bodyPr wrap="none" rtlCol="0">
            <a:spAutoFit/>
          </a:bodyPr>
          <a:lstStyle/>
          <a:p>
            <a:r>
              <a:rPr lang="en-US" dirty="0" smtClean="0">
                <a:latin typeface="Avenir Book" charset="0"/>
                <a:ea typeface="Avenir Book" charset="0"/>
                <a:cs typeface="Avenir Book" charset="0"/>
              </a:rPr>
              <a:t>Fully Connected</a:t>
            </a:r>
            <a:endParaRPr lang="en-US" dirty="0">
              <a:latin typeface="Avenir Book" charset="0"/>
              <a:ea typeface="Avenir Book" charset="0"/>
              <a:cs typeface="Avenir Book" charset="0"/>
            </a:endParaRPr>
          </a:p>
        </p:txBody>
      </p:sp>
      <p:sp>
        <p:nvSpPr>
          <p:cNvPr id="33" name="TextBox 32"/>
          <p:cNvSpPr txBox="1"/>
          <p:nvPr/>
        </p:nvSpPr>
        <p:spPr>
          <a:xfrm>
            <a:off x="6131419" y="881054"/>
            <a:ext cx="1335622" cy="523220"/>
          </a:xfrm>
          <a:prstGeom prst="rect">
            <a:avLst/>
          </a:prstGeom>
          <a:noFill/>
        </p:spPr>
        <p:txBody>
          <a:bodyPr wrap="none" rtlCol="0">
            <a:spAutoFit/>
          </a:bodyPr>
          <a:lstStyle/>
          <a:p>
            <a:r>
              <a:rPr lang="en-US" dirty="0" smtClean="0">
                <a:latin typeface="Avenir Book" charset="0"/>
                <a:ea typeface="Avenir Book" charset="0"/>
                <a:cs typeface="Avenir Book" charset="0"/>
              </a:rPr>
              <a:t>Train last layer</a:t>
            </a:r>
          </a:p>
          <a:p>
            <a:r>
              <a:rPr lang="en-US" dirty="0" smtClean="0">
                <a:latin typeface="Avenir Book" charset="0"/>
                <a:ea typeface="Avenir Book" charset="0"/>
                <a:cs typeface="Avenir Book" charset="0"/>
              </a:rPr>
              <a:t>on new data</a:t>
            </a:r>
            <a:endParaRPr lang="en-US" dirty="0">
              <a:latin typeface="Avenir Book" charset="0"/>
              <a:ea typeface="Avenir Book" charset="0"/>
              <a:cs typeface="Avenir Book" charset="0"/>
            </a:endParaRPr>
          </a:p>
        </p:txBody>
      </p:sp>
      <p:cxnSp>
        <p:nvCxnSpPr>
          <p:cNvPr id="34" name="Straight Arrow Connector 33"/>
          <p:cNvCxnSpPr/>
          <p:nvPr/>
        </p:nvCxnSpPr>
        <p:spPr>
          <a:xfrm>
            <a:off x="7212623" y="1333715"/>
            <a:ext cx="285750" cy="57075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86672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Transfer Learning</a:t>
            </a:r>
            <a:endParaRPr lang="en-US" dirty="0">
              <a:latin typeface="Avenir Book" charset="0"/>
              <a:ea typeface="Avenir Book" charset="0"/>
              <a:cs typeface="Avenir Book" charset="0"/>
            </a:endParaRPr>
          </a:p>
        </p:txBody>
      </p:sp>
      <p:sp>
        <p:nvSpPr>
          <p:cNvPr id="3" name="Cube 2"/>
          <p:cNvSpPr/>
          <p:nvPr/>
        </p:nvSpPr>
        <p:spPr>
          <a:xfrm>
            <a:off x="1188107" y="1844569"/>
            <a:ext cx="342900" cy="1200150"/>
          </a:xfrm>
          <a:prstGeom prst="cube">
            <a:avLst>
              <a:gd name="adj" fmla="val 87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Cube 3"/>
          <p:cNvSpPr/>
          <p:nvPr/>
        </p:nvSpPr>
        <p:spPr>
          <a:xfrm>
            <a:off x="1816757" y="1844569"/>
            <a:ext cx="685800" cy="1200150"/>
          </a:xfrm>
          <a:prstGeom prst="cube">
            <a:avLst>
              <a:gd name="adj" fmla="val 630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Cube 4"/>
          <p:cNvSpPr/>
          <p:nvPr/>
        </p:nvSpPr>
        <p:spPr>
          <a:xfrm>
            <a:off x="2731157" y="2358919"/>
            <a:ext cx="971550" cy="685800"/>
          </a:xfrm>
          <a:prstGeom prst="cube">
            <a:avLst>
              <a:gd name="adj" fmla="val 26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Cube 5"/>
          <p:cNvSpPr/>
          <p:nvPr/>
        </p:nvSpPr>
        <p:spPr>
          <a:xfrm>
            <a:off x="3931307" y="2587519"/>
            <a:ext cx="1657350" cy="457200"/>
          </a:xfrm>
          <a:prstGeom prst="cube">
            <a:avLst>
              <a:gd name="adj" fmla="val 310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 name="Rectangle 6"/>
          <p:cNvSpPr/>
          <p:nvPr/>
        </p:nvSpPr>
        <p:spPr>
          <a:xfrm>
            <a:off x="6229350" y="1970944"/>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Rectangle 7"/>
          <p:cNvSpPr/>
          <p:nvPr/>
        </p:nvSpPr>
        <p:spPr>
          <a:xfrm>
            <a:off x="6972300" y="1970944"/>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7715250" y="3017983"/>
            <a:ext cx="228600" cy="1657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3" name="Right Brace 12"/>
          <p:cNvSpPr/>
          <p:nvPr/>
        </p:nvSpPr>
        <p:spPr>
          <a:xfrm rot="5400000">
            <a:off x="3163214" y="1075676"/>
            <a:ext cx="413594" cy="4363808"/>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cxnSp>
        <p:nvCxnSpPr>
          <p:cNvPr id="15" name="Straight Arrow Connector 14"/>
          <p:cNvCxnSpPr/>
          <p:nvPr/>
        </p:nvCxnSpPr>
        <p:spPr>
          <a:xfrm>
            <a:off x="1531007" y="2698429"/>
            <a:ext cx="28575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445407" y="2698429"/>
            <a:ext cx="28575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714750" y="2799652"/>
            <a:ext cx="228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680130" y="2799652"/>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6508010" y="2816119"/>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7258050" y="2816119"/>
            <a:ext cx="457200" cy="1030539"/>
          </a:xfrm>
          <a:prstGeom prst="straightConnector1">
            <a:avLst/>
          </a:prstGeom>
          <a:ln w="28575">
            <a:solidFill>
              <a:schemeClr val="accent1">
                <a:shade val="95000"/>
                <a:satMod val="105000"/>
                <a:alpha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715250" y="990275"/>
            <a:ext cx="228600" cy="165735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cxnSp>
        <p:nvCxnSpPr>
          <p:cNvPr id="22" name="Straight Arrow Connector 21"/>
          <p:cNvCxnSpPr/>
          <p:nvPr/>
        </p:nvCxnSpPr>
        <p:spPr>
          <a:xfrm flipV="1">
            <a:off x="7258050" y="1818950"/>
            <a:ext cx="457200" cy="9806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p:cNvSpPr/>
          <p:nvPr/>
        </p:nvSpPr>
        <p:spPr>
          <a:xfrm rot="5400000">
            <a:off x="3163214" y="1075676"/>
            <a:ext cx="413594" cy="4363808"/>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24" name="Right Brace 23"/>
          <p:cNvSpPr/>
          <p:nvPr/>
        </p:nvSpPr>
        <p:spPr>
          <a:xfrm rot="5400000">
            <a:off x="6568809" y="3330248"/>
            <a:ext cx="275514" cy="900221"/>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cxnSp>
        <p:nvCxnSpPr>
          <p:cNvPr id="25" name="Straight Arrow Connector 24"/>
          <p:cNvCxnSpPr/>
          <p:nvPr/>
        </p:nvCxnSpPr>
        <p:spPr>
          <a:xfrm>
            <a:off x="3714750" y="2799652"/>
            <a:ext cx="228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5680130" y="2799652"/>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508010" y="2816119"/>
            <a:ext cx="457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505788" y="3567452"/>
            <a:ext cx="1236236" cy="307777"/>
          </a:xfrm>
          <a:prstGeom prst="rect">
            <a:avLst/>
          </a:prstGeom>
          <a:noFill/>
        </p:spPr>
        <p:txBody>
          <a:bodyPr wrap="none" rtlCol="0">
            <a:spAutoFit/>
          </a:bodyPr>
          <a:lstStyle/>
          <a:p>
            <a:r>
              <a:rPr lang="en-US" dirty="0" smtClean="0">
                <a:latin typeface="Avenir Book" charset="0"/>
                <a:ea typeface="Avenir Book" charset="0"/>
                <a:cs typeface="Avenir Book" charset="0"/>
              </a:rPr>
              <a:t>Convolutions</a:t>
            </a:r>
            <a:endParaRPr lang="en-US" dirty="0">
              <a:latin typeface="Avenir Book" charset="0"/>
              <a:ea typeface="Avenir Book" charset="0"/>
              <a:cs typeface="Avenir Book" charset="0"/>
            </a:endParaRPr>
          </a:p>
        </p:txBody>
      </p:sp>
      <p:sp>
        <p:nvSpPr>
          <p:cNvPr id="30" name="TextBox 29"/>
          <p:cNvSpPr txBox="1"/>
          <p:nvPr/>
        </p:nvSpPr>
        <p:spPr>
          <a:xfrm>
            <a:off x="6003980" y="3972296"/>
            <a:ext cx="1491114" cy="307777"/>
          </a:xfrm>
          <a:prstGeom prst="rect">
            <a:avLst/>
          </a:prstGeom>
          <a:noFill/>
        </p:spPr>
        <p:txBody>
          <a:bodyPr wrap="none" rtlCol="0">
            <a:spAutoFit/>
          </a:bodyPr>
          <a:lstStyle/>
          <a:p>
            <a:r>
              <a:rPr lang="en-US" dirty="0" smtClean="0">
                <a:latin typeface="Avenir Book" charset="0"/>
                <a:ea typeface="Avenir Book" charset="0"/>
                <a:cs typeface="Avenir Book" charset="0"/>
              </a:rPr>
              <a:t>Fully Connected</a:t>
            </a:r>
            <a:endParaRPr lang="en-US" dirty="0">
              <a:latin typeface="Avenir Book" charset="0"/>
              <a:ea typeface="Avenir Book" charset="0"/>
              <a:cs typeface="Avenir Book" charset="0"/>
            </a:endParaRPr>
          </a:p>
        </p:txBody>
      </p:sp>
      <p:sp>
        <p:nvSpPr>
          <p:cNvPr id="33" name="TextBox 32"/>
          <p:cNvSpPr txBox="1"/>
          <p:nvPr/>
        </p:nvSpPr>
        <p:spPr>
          <a:xfrm>
            <a:off x="6131419" y="881054"/>
            <a:ext cx="1335622" cy="523220"/>
          </a:xfrm>
          <a:prstGeom prst="rect">
            <a:avLst/>
          </a:prstGeom>
          <a:noFill/>
        </p:spPr>
        <p:txBody>
          <a:bodyPr wrap="none" rtlCol="0">
            <a:spAutoFit/>
          </a:bodyPr>
          <a:lstStyle/>
          <a:p>
            <a:r>
              <a:rPr lang="en-US" dirty="0" smtClean="0">
                <a:latin typeface="Avenir Book" charset="0"/>
                <a:ea typeface="Avenir Book" charset="0"/>
                <a:cs typeface="Avenir Book" charset="0"/>
              </a:rPr>
              <a:t>Train last layer</a:t>
            </a:r>
          </a:p>
          <a:p>
            <a:r>
              <a:rPr lang="en-US" dirty="0" smtClean="0">
                <a:latin typeface="Avenir Book" charset="0"/>
                <a:ea typeface="Avenir Book" charset="0"/>
                <a:cs typeface="Avenir Book" charset="0"/>
              </a:rPr>
              <a:t>on new data</a:t>
            </a:r>
            <a:endParaRPr lang="en-US" dirty="0">
              <a:latin typeface="Avenir Book" charset="0"/>
              <a:ea typeface="Avenir Book" charset="0"/>
              <a:cs typeface="Avenir Book" charset="0"/>
            </a:endParaRPr>
          </a:p>
        </p:txBody>
      </p:sp>
      <p:cxnSp>
        <p:nvCxnSpPr>
          <p:cNvPr id="34" name="Straight Arrow Connector 33"/>
          <p:cNvCxnSpPr/>
          <p:nvPr/>
        </p:nvCxnSpPr>
        <p:spPr>
          <a:xfrm>
            <a:off x="7212623" y="1333715"/>
            <a:ext cx="285750" cy="57075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651170" y="1156645"/>
            <a:ext cx="2412840" cy="738664"/>
          </a:xfrm>
          <a:prstGeom prst="rect">
            <a:avLst/>
          </a:prstGeom>
          <a:noFill/>
        </p:spPr>
        <p:txBody>
          <a:bodyPr wrap="none" rtlCol="0">
            <a:spAutoFit/>
          </a:bodyPr>
          <a:lstStyle/>
          <a:p>
            <a:r>
              <a:rPr lang="en-US" dirty="0" smtClean="0">
                <a:latin typeface="Avenir Book" charset="0"/>
                <a:ea typeface="Avenir Book" charset="0"/>
                <a:cs typeface="Avenir Book" charset="0"/>
              </a:rPr>
              <a:t>Perhaps, after a while</a:t>
            </a:r>
          </a:p>
          <a:p>
            <a:r>
              <a:rPr lang="en-US" dirty="0" smtClean="0">
                <a:latin typeface="Avenir Book" charset="0"/>
                <a:ea typeface="Avenir Book" charset="0"/>
                <a:cs typeface="Avenir Book" charset="0"/>
              </a:rPr>
              <a:t>train back a few more layers</a:t>
            </a:r>
          </a:p>
          <a:p>
            <a:r>
              <a:rPr lang="en-US" dirty="0" smtClean="0">
                <a:latin typeface="Avenir Book" charset="0"/>
                <a:ea typeface="Avenir Book" charset="0"/>
                <a:cs typeface="Avenir Book" charset="0"/>
              </a:rPr>
              <a:t>(or even the whole network)</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221361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Transfer Learning Options</a:t>
            </a: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The additional training of a pre-trained network on a specific new dataset is referred to as “Fine-Tuning”</a:t>
            </a:r>
          </a:p>
          <a:p>
            <a:pPr marL="457200" lvl="0" indent="-457200">
              <a:buFont typeface="Arial" charset="0"/>
              <a:buChar char="•"/>
            </a:pPr>
            <a:r>
              <a:rPr lang="en-US" sz="2200" dirty="0" smtClean="0">
                <a:latin typeface="Avenir Book" charset="0"/>
                <a:ea typeface="Avenir Book" charset="0"/>
                <a:cs typeface="Avenir Book" charset="0"/>
              </a:rPr>
              <a:t>There are different options on “how much” and “how far back” to fine-tune.</a:t>
            </a:r>
          </a:p>
          <a:p>
            <a:pPr marL="457200" lvl="0" indent="457200">
              <a:buFont typeface="Courier New" charset="0"/>
              <a:buChar char="o"/>
            </a:pPr>
            <a:r>
              <a:rPr lang="en-US" sz="2200" dirty="0" smtClean="0">
                <a:latin typeface="Avenir Book" charset="0"/>
                <a:ea typeface="Avenir Book" charset="0"/>
                <a:cs typeface="Avenir Book" charset="0"/>
              </a:rPr>
              <a:t>Should I train just the very last layer?</a:t>
            </a:r>
          </a:p>
          <a:p>
            <a:pPr marL="457200" lvl="0" indent="457200">
              <a:buFont typeface="Courier New" charset="0"/>
              <a:buChar char="o"/>
            </a:pPr>
            <a:r>
              <a:rPr lang="en-US" sz="2200" dirty="0" smtClean="0">
                <a:latin typeface="Avenir Book" charset="0"/>
                <a:ea typeface="Avenir Book" charset="0"/>
                <a:cs typeface="Avenir Book" charset="0"/>
              </a:rPr>
              <a:t>Go back a few layers?</a:t>
            </a:r>
          </a:p>
          <a:p>
            <a:pPr marL="457200" lvl="0" indent="457200">
              <a:buFont typeface="Courier New" charset="0"/>
              <a:buChar char="o"/>
            </a:pPr>
            <a:r>
              <a:rPr lang="en-US" sz="2200" dirty="0" smtClean="0">
                <a:latin typeface="Avenir Book" charset="0"/>
                <a:ea typeface="Avenir Book" charset="0"/>
                <a:cs typeface="Avenir Book" charset="0"/>
              </a:rPr>
              <a:t>Re-train the entire network (from the starting point of the existing network)?</a:t>
            </a:r>
          </a:p>
        </p:txBody>
      </p:sp>
    </p:spTree>
    <p:extLst>
      <p:ext uri="{BB962C8B-B14F-4D97-AF65-F5344CB8AC3E}">
        <p14:creationId xmlns:p14="http://schemas.microsoft.com/office/powerpoint/2010/main" val="6573247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Guiding Principles for Fine-Tuning</a:t>
            </a:r>
          </a:p>
        </p:txBody>
      </p:sp>
      <p:sp>
        <p:nvSpPr>
          <p:cNvPr id="75" name="Rectangle 74"/>
          <p:cNvSpPr/>
          <p:nvPr/>
        </p:nvSpPr>
        <p:spPr>
          <a:xfrm>
            <a:off x="398352" y="1227244"/>
            <a:ext cx="8192764" cy="3631763"/>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While there are no “hard and fast” rules, there are some guiding principles to keep in mind.</a:t>
            </a:r>
          </a:p>
          <a:p>
            <a:pPr marL="457200" lvl="0" indent="-457200">
              <a:buFont typeface="Arial" charset="0"/>
              <a:buChar char="•"/>
            </a:pPr>
            <a:endParaRPr lang="en-US" sz="1600" dirty="0">
              <a:latin typeface="Avenir Book" charset="0"/>
              <a:ea typeface="Avenir Book" charset="0"/>
              <a:cs typeface="Avenir Book" charset="0"/>
            </a:endParaRPr>
          </a:p>
          <a:p>
            <a:pPr marL="692150" lvl="1" indent="-288925">
              <a:buFont typeface="+mj-lt"/>
              <a:buAutoNum type="arabicParenR"/>
            </a:pPr>
            <a:r>
              <a:rPr lang="en-US" sz="2200" dirty="0" smtClean="0">
                <a:latin typeface="Avenir Book" charset="0"/>
                <a:ea typeface="Avenir Book" charset="0"/>
                <a:cs typeface="Avenir Book" charset="0"/>
              </a:rPr>
              <a:t>The more similar your data and problem are to the source data of the pre-trained network, the less fine-tuning is necessary.</a:t>
            </a:r>
          </a:p>
          <a:p>
            <a:pPr marL="457200" lvl="0" indent="-457200">
              <a:buFont typeface="+mj-lt"/>
              <a:buAutoNum type="arabicParenR"/>
            </a:pPr>
            <a:endParaRPr lang="en-US" sz="1600" dirty="0">
              <a:latin typeface="Avenir Book" charset="0"/>
              <a:ea typeface="Avenir Book" charset="0"/>
              <a:cs typeface="Avenir Book" charset="0"/>
            </a:endParaRPr>
          </a:p>
          <a:p>
            <a:pPr marL="692150" lvl="8" indent="-288925">
              <a:buFont typeface="Wingdings" charset="2"/>
              <a:buChar char="Ø"/>
            </a:pPr>
            <a:r>
              <a:rPr lang="en-US" sz="2200" dirty="0" smtClean="0">
                <a:latin typeface="Avenir Book" charset="0"/>
                <a:ea typeface="Avenir Book" charset="0"/>
                <a:cs typeface="Avenir Book" charset="0"/>
              </a:rPr>
              <a:t>E.g. Using a network trained on ImageNet to distinguish “dogs” from “cats” should need relatively little fine-tuning.  It already distinguished different breeds of dogs and cats, so likely has all the features you will need.</a:t>
            </a:r>
          </a:p>
        </p:txBody>
      </p:sp>
    </p:spTree>
    <p:extLst>
      <p:ext uri="{BB962C8B-B14F-4D97-AF65-F5344CB8AC3E}">
        <p14:creationId xmlns:p14="http://schemas.microsoft.com/office/powerpoint/2010/main" val="70642537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Guiding Principles for Fine-Tuning</a:t>
            </a:r>
          </a:p>
        </p:txBody>
      </p:sp>
      <p:sp>
        <p:nvSpPr>
          <p:cNvPr id="75" name="Rectangle 74"/>
          <p:cNvSpPr/>
          <p:nvPr/>
        </p:nvSpPr>
        <p:spPr>
          <a:xfrm>
            <a:off x="398352" y="1227244"/>
            <a:ext cx="8192764" cy="2800767"/>
          </a:xfrm>
          <a:prstGeom prst="rect">
            <a:avLst/>
          </a:prstGeom>
        </p:spPr>
        <p:txBody>
          <a:bodyPr wrap="square">
            <a:spAutoFit/>
          </a:bodyPr>
          <a:lstStyle/>
          <a:p>
            <a:pPr marL="692150" lvl="0" indent="-346075">
              <a:buFont typeface="+mj-lt"/>
              <a:buAutoNum type="arabicParenR" startAt="2"/>
            </a:pPr>
            <a:r>
              <a:rPr lang="en-US" sz="2200" dirty="0" smtClean="0">
                <a:latin typeface="Avenir Book" charset="0"/>
                <a:ea typeface="Avenir Book" charset="0"/>
                <a:cs typeface="Avenir Book" charset="0"/>
              </a:rPr>
              <a:t>The more data you have about your specific problem, the more the network will benefit from longer and deeper fine-tuning.</a:t>
            </a:r>
          </a:p>
          <a:p>
            <a:pPr marL="457200" lvl="0" indent="-457200">
              <a:buFont typeface="+mj-lt"/>
              <a:buAutoNum type="arabicParenR" startAt="2"/>
            </a:pPr>
            <a:endParaRPr lang="en-US" sz="1600" dirty="0">
              <a:latin typeface="Avenir Book" charset="0"/>
              <a:ea typeface="Avenir Book" charset="0"/>
              <a:cs typeface="Avenir Book" charset="0"/>
            </a:endParaRPr>
          </a:p>
          <a:p>
            <a:pPr marL="692150" lvl="0" indent="-346075">
              <a:buFont typeface="Wingdings" charset="2"/>
              <a:buChar char="Ø"/>
            </a:pPr>
            <a:r>
              <a:rPr lang="en-US" sz="2200" dirty="0" smtClean="0">
                <a:latin typeface="Avenir Book" charset="0"/>
                <a:ea typeface="Avenir Book" charset="0"/>
                <a:cs typeface="Avenir Book" charset="0"/>
              </a:rPr>
              <a:t>E.g. If you have only 100 dogs and 100 cats in your training data, you probably want to do very little fine-tuning.  If you have 10,000 dogs and 10,000 cats you may get more value from longer and deeper fine-tuning.</a:t>
            </a:r>
          </a:p>
        </p:txBody>
      </p:sp>
    </p:spTree>
    <p:extLst>
      <p:ext uri="{BB962C8B-B14F-4D97-AF65-F5344CB8AC3E}">
        <p14:creationId xmlns:p14="http://schemas.microsoft.com/office/powerpoint/2010/main" val="8256378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Guiding Principles for Fine-Tuning</a:t>
            </a:r>
          </a:p>
        </p:txBody>
      </p:sp>
      <p:sp>
        <p:nvSpPr>
          <p:cNvPr id="75" name="Rectangle 74"/>
          <p:cNvSpPr/>
          <p:nvPr/>
        </p:nvSpPr>
        <p:spPr>
          <a:xfrm>
            <a:off x="398352" y="1227244"/>
            <a:ext cx="8192764" cy="2800767"/>
          </a:xfrm>
          <a:prstGeom prst="rect">
            <a:avLst/>
          </a:prstGeom>
        </p:spPr>
        <p:txBody>
          <a:bodyPr wrap="square">
            <a:spAutoFit/>
          </a:bodyPr>
          <a:lstStyle/>
          <a:p>
            <a:pPr marL="692150" lvl="0" indent="-346075">
              <a:buFont typeface="+mj-lt"/>
              <a:buAutoNum type="arabicParenR" startAt="3"/>
            </a:pPr>
            <a:r>
              <a:rPr lang="en-US" sz="2200" dirty="0" smtClean="0">
                <a:latin typeface="Avenir Book" charset="0"/>
                <a:ea typeface="Avenir Book" charset="0"/>
                <a:cs typeface="Avenir Book" charset="0"/>
              </a:rPr>
              <a:t>If your data is substantially different in nature than the data the source model was trained on, Transfer Learning may be of little value.</a:t>
            </a:r>
          </a:p>
          <a:p>
            <a:pPr marL="457200" lvl="0" indent="-457200">
              <a:buFont typeface="+mj-lt"/>
              <a:buAutoNum type="arabicParenR" startAt="3"/>
            </a:pPr>
            <a:endParaRPr lang="en-US" sz="1600" dirty="0">
              <a:latin typeface="Avenir Book" charset="0"/>
              <a:ea typeface="Avenir Book" charset="0"/>
              <a:cs typeface="Avenir Book" charset="0"/>
            </a:endParaRPr>
          </a:p>
          <a:p>
            <a:pPr marL="692150" lvl="0" indent="-346075">
              <a:buFont typeface="Wingdings" charset="2"/>
              <a:buChar char="Ø"/>
            </a:pPr>
            <a:r>
              <a:rPr lang="en-US" sz="2200" dirty="0" smtClean="0">
                <a:latin typeface="Avenir Book" charset="0"/>
                <a:ea typeface="Avenir Book" charset="0"/>
                <a:cs typeface="Avenir Book" charset="0"/>
              </a:rPr>
              <a:t>E.g. A network that was trained on recognizing typed Latin alphabet characters would not be useful in distinguishing cats from dogs.  But it likely would be useful as a starting point for recognizing Cyrillic Alphabet characters. </a:t>
            </a:r>
          </a:p>
        </p:txBody>
      </p:sp>
    </p:spTree>
    <p:extLst>
      <p:ext uri="{BB962C8B-B14F-4D97-AF65-F5344CB8AC3E}">
        <p14:creationId xmlns:p14="http://schemas.microsoft.com/office/powerpoint/2010/main" val="109779870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8882063" y="4779963"/>
            <a:ext cx="261937" cy="246062"/>
          </a:xfrm>
        </p:spPr>
        <p:txBody>
          <a:bodyPr/>
          <a:lstStyle/>
          <a:p>
            <a:fld id="{BDF01D69-A501-704B-80CB-1B3152437FD0}" type="slidenum">
              <a:rPr lang="en-US" smtClean="0"/>
              <a:t>42</a:t>
            </a:fld>
            <a:endParaRPr lang="en-US"/>
          </a:p>
        </p:txBody>
      </p:sp>
    </p:spTree>
    <p:extLst>
      <p:ext uri="{BB962C8B-B14F-4D97-AF65-F5344CB8AC3E}">
        <p14:creationId xmlns:p14="http://schemas.microsoft.com/office/powerpoint/2010/main" val="125924913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27406</TotalTime>
  <Words>1384</Words>
  <Application>Microsoft Office PowerPoint</Application>
  <PresentationFormat>On-screen Show (16:9)</PresentationFormat>
  <Paragraphs>165</Paragraphs>
  <Slides>42</Slides>
  <Notes>41</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42</vt:i4>
      </vt:variant>
    </vt:vector>
  </HeadingPairs>
  <TitlesOfParts>
    <vt:vector size="57" baseType="lpstr">
      <vt:lpstr>Arial</vt:lpstr>
      <vt:lpstr>Avenir Book</vt:lpstr>
      <vt:lpstr>Calibri</vt:lpstr>
      <vt:lpstr>Calibri Light</vt:lpstr>
      <vt:lpstr>Courier New</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ConvNets and Transfer Learning</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475</cp:revision>
  <cp:lastPrinted>2017-03-21T10:33:11Z</cp:lastPrinted>
  <dcterms:modified xsi:type="dcterms:W3CDTF">2017-08-25T19:40:03Z</dcterms:modified>
</cp:coreProperties>
</file>
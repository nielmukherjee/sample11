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94" r:id="rId2"/>
    <p:sldMasterId id="2147483707" r:id="rId3"/>
  </p:sldMasterIdLst>
  <p:notesMasterIdLst>
    <p:notesMasterId r:id="rId26"/>
  </p:notesMasterIdLst>
  <p:handoutMasterIdLst>
    <p:handoutMasterId r:id="rId27"/>
  </p:handoutMasterIdLst>
  <p:sldIdLst>
    <p:sldId id="389" r:id="rId4"/>
    <p:sldId id="733" r:id="rId5"/>
    <p:sldId id="616" r:id="rId6"/>
    <p:sldId id="651" r:id="rId7"/>
    <p:sldId id="710" r:id="rId8"/>
    <p:sldId id="711" r:id="rId9"/>
    <p:sldId id="714" r:id="rId10"/>
    <p:sldId id="715" r:id="rId11"/>
    <p:sldId id="717" r:id="rId12"/>
    <p:sldId id="727" r:id="rId13"/>
    <p:sldId id="723" r:id="rId14"/>
    <p:sldId id="719" r:id="rId15"/>
    <p:sldId id="725" r:id="rId16"/>
    <p:sldId id="726" r:id="rId17"/>
    <p:sldId id="721" r:id="rId18"/>
    <p:sldId id="728" r:id="rId19"/>
    <p:sldId id="729" r:id="rId20"/>
    <p:sldId id="722" r:id="rId21"/>
    <p:sldId id="724" r:id="rId22"/>
    <p:sldId id="730" r:id="rId23"/>
    <p:sldId id="731" r:id="rId24"/>
    <p:sldId id="732" r:id="rId2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Gill" initials="MG" lastIdx="2" clrIdx="0">
    <p:extLst/>
  </p:cmAuthor>
  <p:cmAuthor id="2" name="Michelle Gill" initials="MG [2]" lastIdx="1" clrIdx="1">
    <p:extLst/>
  </p:cmAuthor>
  <p:cmAuthor id="3" name="Michelle Gill" initials="MG [3]"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83FF"/>
    <a:srgbClr val="235F83"/>
    <a:srgbClr val="8EFA00"/>
    <a:srgbClr val="76D6FF"/>
    <a:srgbClr val="2B7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45"/>
    <p:restoredTop sz="80851"/>
  </p:normalViewPr>
  <p:slideViewPr>
    <p:cSldViewPr snapToGrid="0" snapToObjects="1">
      <p:cViewPr varScale="1">
        <p:scale>
          <a:sx n="141" d="100"/>
          <a:sy n="141" d="100"/>
        </p:scale>
        <p:origin x="604" y="72"/>
      </p:cViewPr>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120" d="100"/>
        <a:sy n="120" d="100"/>
      </p:scale>
      <p:origin x="0" y="0"/>
    </p:cViewPr>
  </p:sorterViewPr>
  <p:notesViewPr>
    <p:cSldViewPr snapToGrid="0" snapToObjects="1">
      <p:cViewPr varScale="1">
        <p:scale>
          <a:sx n="85" d="100"/>
          <a:sy n="85" d="100"/>
        </p:scale>
        <p:origin x="369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commentAuthors" Target="commentAuthor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18DF2D-D537-FE4F-BE4D-E5BCACB16283}" type="datetimeFigureOut">
              <a:rPr lang="en-US" smtClean="0"/>
              <a:t>8/25/2017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7B0C4D-3AAF-FB40-9304-EA5AE39FC038}" type="slidenum">
              <a:rPr lang="en-US" smtClean="0"/>
              <a:t>‹#›</a:t>
            </a:fld>
            <a:endParaRPr lang="en-US"/>
          </a:p>
        </p:txBody>
      </p:sp>
    </p:spTree>
    <p:extLst>
      <p:ext uri="{BB962C8B-B14F-4D97-AF65-F5344CB8AC3E}">
        <p14:creationId xmlns:p14="http://schemas.microsoft.com/office/powerpoint/2010/main" val="1276518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lvl1pPr>
            <a:lvl2pPr marL="457200" marR="0" lvl="1" indent="0" algn="l" rtl="0">
              <a:spcBef>
                <a:spcPts val="0"/>
              </a:spcBef>
              <a:buNone/>
              <a:defRPr sz="1100" b="0" i="0" u="none" strike="noStrike" cap="none"/>
            </a:lvl2pPr>
            <a:lvl3pPr marL="914400" marR="0" lvl="2" indent="0" algn="l" rtl="0">
              <a:spcBef>
                <a:spcPts val="0"/>
              </a:spcBef>
              <a:buNone/>
              <a:defRPr sz="1100" b="0" i="0" u="none" strike="noStrike" cap="none"/>
            </a:lvl3pPr>
            <a:lvl4pPr marL="1371600" marR="0" lvl="3" indent="0" algn="l" rtl="0">
              <a:spcBef>
                <a:spcPts val="0"/>
              </a:spcBef>
              <a:buNone/>
              <a:defRPr sz="1100" b="0" i="0" u="none" strike="noStrike" cap="none"/>
            </a:lvl4pPr>
            <a:lvl5pPr marL="1828800" marR="0" lvl="4" indent="0" algn="l" rtl="0">
              <a:spcBef>
                <a:spcPts val="0"/>
              </a:spcBef>
              <a:buNone/>
              <a:defRPr sz="1100" b="0" i="0" u="none" strike="noStrike" cap="none"/>
            </a:lvl5pPr>
            <a:lvl6pPr marL="2286000" marR="0" lvl="5" indent="0" algn="l" rtl="0">
              <a:spcBef>
                <a:spcPts val="0"/>
              </a:spcBef>
              <a:buNone/>
              <a:defRPr sz="1100" b="0" i="0" u="none" strike="noStrike" cap="none"/>
            </a:lvl6pPr>
            <a:lvl7pPr marL="2743200" marR="0" lvl="6" indent="0" algn="l" rtl="0">
              <a:spcBef>
                <a:spcPts val="0"/>
              </a:spcBef>
              <a:buNone/>
              <a:defRPr sz="1100" b="0" i="0" u="none" strike="noStrike" cap="none"/>
            </a:lvl7pPr>
            <a:lvl8pPr marL="3200400" marR="0" lvl="7" indent="0" algn="l" rtl="0">
              <a:spcBef>
                <a:spcPts val="0"/>
              </a:spcBef>
              <a:buNone/>
              <a:defRPr sz="1100" b="0" i="0" u="none" strike="noStrike" cap="none"/>
            </a:lvl8pPr>
            <a:lvl9pPr marL="3657600" marR="0" lvl="8" indent="0" algn="l" rtl="0">
              <a:spcBef>
                <a:spcPts val="0"/>
              </a:spcBef>
              <a:buNone/>
              <a:defRPr sz="1100" b="0" i="0" u="none" strike="noStrike" cap="none"/>
            </a:lvl9pPr>
          </a:lstStyle>
          <a:p>
            <a:endParaRPr dirty="0"/>
          </a:p>
        </p:txBody>
      </p:sp>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2140374713"/>
      </p:ext>
    </p:extLst>
  </p:cSld>
  <p:clrMap bg1="lt1" tx1="dk1" bg2="dk2" tx2="lt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1387326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goes back to the </a:t>
                </a:r>
                <a14:m>
                  <m:oMath xmlns:m="http://schemas.openxmlformats.org/officeDocument/2006/math">
                    <m:sSub>
                      <m:sSubPr>
                        <m:ctrlPr>
                          <a:rPr lang="en-US" sz="2400" i="1" smtClean="0">
                            <a:latin typeface="Cambria Math" panose="02040503050406030204" pitchFamily="18" charset="0"/>
                            <a:ea typeface="Avenir Book" charset="0"/>
                            <a:cs typeface="Avenir Book" charset="0"/>
                          </a:rPr>
                        </m:ctrlPr>
                      </m:sSubPr>
                      <m:e>
                        <m:r>
                          <a:rPr lang="en-US" sz="2400" b="0" i="1" smtClean="0">
                            <a:latin typeface="Cambria Math" charset="0"/>
                            <a:ea typeface="Avenir Book" charset="0"/>
                            <a:cs typeface="Avenir Book" charset="0"/>
                          </a:rPr>
                          <m:t>𝑠</m:t>
                        </m:r>
                      </m:e>
                      <m:sub>
                        <m:r>
                          <a:rPr lang="en-US" sz="2400" b="0" i="1" smtClean="0">
                            <a:latin typeface="Cambria Math" charset="0"/>
                            <a:ea typeface="Avenir Book" charset="0"/>
                            <a:cs typeface="Avenir Book" charset="0"/>
                          </a:rPr>
                          <m:t>𝑖</m:t>
                        </m:r>
                      </m:sub>
                    </m:sSub>
                    <m:r>
                      <a:rPr lang="en-US" sz="2400" b="0" i="1" smtClean="0">
                        <a:latin typeface="Cambria Math" charset="0"/>
                        <a:ea typeface="Avenir Book" charset="0"/>
                        <a:cs typeface="Avenir Book" charset="0"/>
                      </a:rPr>
                      <m:t>=</m:t>
                    </m:r>
                    <m:r>
                      <a:rPr lang="en-US" sz="2400" b="0" i="1" smtClean="0">
                        <a:latin typeface="Cambria Math" charset="0"/>
                        <a:ea typeface="Avenir Book" charset="0"/>
                        <a:cs typeface="Avenir Book" charset="0"/>
                      </a:rPr>
                      <m:t>𝑓</m:t>
                    </m:r>
                    <m:r>
                      <a:rPr lang="en-US" sz="2400" b="0" i="1" smtClean="0">
                        <a:latin typeface="Cambria Math" charset="0"/>
                        <a:ea typeface="Avenir Book" charset="0"/>
                        <a:cs typeface="Avenir Book" charset="0"/>
                      </a:rPr>
                      <m:t>(</m:t>
                    </m:r>
                    <m:r>
                      <a:rPr lang="en-US" sz="2400" b="0" i="1" smtClean="0">
                        <a:latin typeface="Cambria Math" charset="0"/>
                        <a:ea typeface="Avenir Book" charset="0"/>
                        <a:cs typeface="Avenir Book" charset="0"/>
                      </a:rPr>
                      <m:t>𝑈</m:t>
                    </m:r>
                    <m:sSub>
                      <m:sSubPr>
                        <m:ctrlPr>
                          <a:rPr lang="en-US" sz="2400" b="0" i="1" smtClean="0">
                            <a:latin typeface="Cambria Math" panose="02040503050406030204" pitchFamily="18" charset="0"/>
                            <a:ea typeface="Avenir Book" charset="0"/>
                            <a:cs typeface="Avenir Book" charset="0"/>
                          </a:rPr>
                        </m:ctrlPr>
                      </m:sSubPr>
                      <m:e>
                        <m:r>
                          <a:rPr lang="en-US" sz="2400" b="0" i="1" smtClean="0">
                            <a:latin typeface="Cambria Math" charset="0"/>
                            <a:ea typeface="Avenir Book" charset="0"/>
                            <a:cs typeface="Avenir Book" charset="0"/>
                          </a:rPr>
                          <m:t>𝑤</m:t>
                        </m:r>
                      </m:e>
                      <m:sub>
                        <m:r>
                          <a:rPr lang="en-US" sz="2400" b="0" i="1" smtClean="0">
                            <a:latin typeface="Cambria Math" charset="0"/>
                            <a:ea typeface="Avenir Book" charset="0"/>
                            <a:cs typeface="Avenir Book" charset="0"/>
                          </a:rPr>
                          <m:t>𝑖</m:t>
                        </m:r>
                      </m:sub>
                    </m:sSub>
                    <m:r>
                      <a:rPr lang="en-US" sz="2400" b="0" i="1" smtClean="0">
                        <a:latin typeface="Cambria Math" charset="0"/>
                        <a:ea typeface="Avenir Book" charset="0"/>
                        <a:cs typeface="Avenir Book" charset="0"/>
                      </a:rPr>
                      <m:t>+</m:t>
                    </m:r>
                    <m:r>
                      <a:rPr lang="en-US" sz="2400" b="0" i="1" smtClean="0">
                        <a:latin typeface="Cambria Math" charset="0"/>
                        <a:ea typeface="Avenir Book" charset="0"/>
                        <a:cs typeface="Avenir Book" charset="0"/>
                      </a:rPr>
                      <m:t>𝑊</m:t>
                    </m:r>
                    <m:sSub>
                      <m:sSubPr>
                        <m:ctrlPr>
                          <a:rPr lang="en-US" sz="2400" i="1">
                            <a:latin typeface="Cambria Math" panose="02040503050406030204" pitchFamily="18" charset="0"/>
                            <a:ea typeface="Avenir Book" charset="0"/>
                            <a:cs typeface="Avenir Book" charset="0"/>
                          </a:rPr>
                        </m:ctrlPr>
                      </m:sSubPr>
                      <m:e>
                        <m:r>
                          <a:rPr lang="en-US" sz="2400" i="1">
                            <a:latin typeface="Cambria Math" charset="0"/>
                            <a:ea typeface="Avenir Book" charset="0"/>
                            <a:cs typeface="Avenir Book" charset="0"/>
                          </a:rPr>
                          <m:t>𝑠</m:t>
                        </m:r>
                      </m:e>
                      <m:sub>
                        <m:r>
                          <a:rPr lang="en-US" sz="2400" i="1">
                            <a:latin typeface="Cambria Math" charset="0"/>
                            <a:ea typeface="Avenir Book" charset="0"/>
                            <a:cs typeface="Avenir Book" charset="0"/>
                          </a:rPr>
                          <m:t>𝑖</m:t>
                        </m:r>
                        <m:r>
                          <a:rPr lang="en-US" sz="2400" b="0" i="1" smtClean="0">
                            <a:latin typeface="Cambria Math" charset="0"/>
                            <a:ea typeface="Avenir Book" charset="0"/>
                            <a:cs typeface="Avenir Book" charset="0"/>
                          </a:rPr>
                          <m:t>−1</m:t>
                        </m:r>
                      </m:sub>
                    </m:sSub>
                  </m:oMath>
                </a14:m>
                <a:r>
                  <a:rPr lang="en-US" sz="2400" dirty="0" smtClean="0">
                    <a:latin typeface="Avenir Book" charset="0"/>
                    <a:ea typeface="Avenir Book" charset="0"/>
                    <a:cs typeface="Avenir Book" charset="0"/>
                  </a:rPr>
                  <a:t>) from last lecture</a:t>
                </a:r>
                <a:endParaRPr lang="en-US" sz="2400" baseline="0" dirty="0" smtClean="0">
                  <a:latin typeface="Arial" charset="0"/>
                  <a:ea typeface="Arial" charset="0"/>
                  <a:cs typeface="Arial" charset="0"/>
                </a:endParaRPr>
              </a:p>
            </p:txBody>
          </p:sp>
        </mc:Choice>
        <mc:Fallback xmlns="">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goes back to the </a:t>
                </a:r>
                <a:r>
                  <a:rPr lang="en-US" sz="2400" b="0" i="0" smtClean="0">
                    <a:latin typeface="Cambria Math" charset="0"/>
                    <a:ea typeface="Avenir Book" charset="0"/>
                    <a:cs typeface="Avenir Book" charset="0"/>
                  </a:rPr>
                  <a:t>𝑠</a:t>
                </a:r>
                <a:r>
                  <a:rPr lang="en-US" sz="2400" b="0" i="0" smtClean="0">
                    <a:latin typeface="Cambria Math" charset="0"/>
                    <a:ea typeface="Avenir Book" charset="0"/>
                    <a:cs typeface="Avenir Book" charset="0"/>
                  </a:rPr>
                  <a:t>_</a:t>
                </a:r>
                <a:r>
                  <a:rPr lang="en-US" sz="2400" b="0" i="0" smtClean="0">
                    <a:latin typeface="Cambria Math" charset="0"/>
                    <a:ea typeface="Avenir Book" charset="0"/>
                    <a:cs typeface="Avenir Book" charset="0"/>
                  </a:rPr>
                  <a:t>𝑖=𝑓(𝑈𝑤_𝑖+𝑊</a:t>
                </a:r>
                <a:r>
                  <a:rPr lang="en-US" sz="2400" i="0">
                    <a:latin typeface="Cambria Math" charset="0"/>
                    <a:ea typeface="Avenir Book" charset="0"/>
                    <a:cs typeface="Avenir Book" charset="0"/>
                  </a:rPr>
                  <a:t>𝑠_(𝑖</a:t>
                </a:r>
                <a:r>
                  <a:rPr lang="en-US" sz="2400" b="0" i="0" smtClean="0">
                    <a:latin typeface="Cambria Math" charset="0"/>
                    <a:ea typeface="Avenir Book" charset="0"/>
                    <a:cs typeface="Avenir Book" charset="0"/>
                  </a:rPr>
                  <a:t>−1</a:t>
                </a:r>
                <a:r>
                  <a:rPr lang="en-US" sz="2400" b="0" i="0">
                    <a:latin typeface="Cambria Math" charset="0"/>
                    <a:ea typeface="Avenir Book" charset="0"/>
                    <a:cs typeface="Avenir Book" charset="0"/>
                  </a:rPr>
                  <a:t>)</a:t>
                </a:r>
                <a:r>
                  <a:rPr lang="en-US" sz="2400" dirty="0" smtClean="0">
                    <a:latin typeface="Avenir Book" charset="0"/>
                    <a:ea typeface="Avenir Book" charset="0"/>
                    <a:cs typeface="Avenir Book" charset="0"/>
                  </a:rPr>
                  <a:t>)</a:t>
                </a:r>
                <a:r>
                  <a:rPr lang="en-US" sz="2400" dirty="0" smtClean="0">
                    <a:latin typeface="Avenir Book" charset="0"/>
                    <a:ea typeface="Avenir Book" charset="0"/>
                    <a:cs typeface="Avenir Book" charset="0"/>
                  </a:rPr>
                  <a:t> from last lecture</a:t>
                </a:r>
                <a:endParaRPr lang="en-US" sz="2400" baseline="0" dirty="0" smtClean="0">
                  <a:latin typeface="Arial" charset="0"/>
                  <a:ea typeface="Arial" charset="0"/>
                  <a:cs typeface="Arial" charset="0"/>
                </a:endParaRPr>
              </a:p>
            </p:txBody>
          </p:sp>
        </mc:Fallback>
      </mc:AlternateContent>
    </p:spTree>
    <p:extLst>
      <p:ext uri="{BB962C8B-B14F-4D97-AF65-F5344CB8AC3E}">
        <p14:creationId xmlns:p14="http://schemas.microsoft.com/office/powerpoint/2010/main" val="1120391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798822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a:normAutofit lnSpcReduction="10000"/>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is (obviously) a very complicated mechanism.</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It is not apparent why this structure is “right” as opposed to many other ways one might imagine to accomplish the same thing.</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 The key is that there is an easy mechanism for things to stay untouched in the </a:t>
                </a:r>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charset="0"/>
                          </a:rPr>
                          <m:t>𝑐</m:t>
                        </m:r>
                      </m:e>
                      <m:sub>
                        <m:r>
                          <a:rPr lang="en-US" sz="2400" i="1">
                            <a:latin typeface="Cambria Math" charset="0"/>
                          </a:rPr>
                          <m:t>𝑡</m:t>
                        </m:r>
                      </m:sub>
                    </m:sSub>
                  </m:oMath>
                </a14:m>
                <a:r>
                  <a:rPr lang="en-US" sz="2400" baseline="0" dirty="0" smtClean="0">
                    <a:latin typeface="Arial" charset="0"/>
                    <a:ea typeface="Arial" charset="0"/>
                    <a:cs typeface="Arial" charset="0"/>
                  </a:rPr>
                  <a:t>variable. **</a:t>
                </a:r>
              </a:p>
            </p:txBody>
          </p:sp>
        </mc:Choice>
        <mc:Fallback xmlns="">
          <p:sp>
            <p:nvSpPr>
              <p:cNvPr id="2" name="Notes Placeholder"/>
              <p:cNvSpPr>
                <a:spLocks noGrp="1"/>
              </p:cNvSpPr>
              <p:nvPr>
                <p:ph type="body" idx="1"/>
              </p:nvPr>
            </p:nvSpPr>
            <p:spPr/>
            <p:txBody>
              <a:bodyPr>
                <a:normAutofit lnSpcReduction="10000"/>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is (obviously) a very complicated mechanism</a:t>
                </a:r>
                <a:r>
                  <a:rPr lang="en-US" sz="2400" baseline="0" dirty="0" smtClean="0">
                    <a:latin typeface="Arial" charset="0"/>
                    <a:ea typeface="Arial" charset="0"/>
                    <a:cs typeface="Arial" charset="0"/>
                  </a:rPr>
                  <a: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It </a:t>
                </a:r>
                <a:r>
                  <a:rPr lang="en-US" sz="2400" baseline="0" dirty="0" smtClean="0">
                    <a:latin typeface="Arial" charset="0"/>
                    <a:ea typeface="Arial" charset="0"/>
                    <a:cs typeface="Arial" charset="0"/>
                  </a:rPr>
                  <a:t>is not apparent why this structure is “right” as opposed to many other ways one might imagine </a:t>
                </a:r>
                <a:r>
                  <a:rPr lang="en-US" sz="2400" baseline="0" dirty="0" smtClean="0">
                    <a:latin typeface="Arial" charset="0"/>
                    <a:ea typeface="Arial" charset="0"/>
                    <a:cs typeface="Arial" charset="0"/>
                  </a:rPr>
                  <a:t>to </a:t>
                </a:r>
                <a:r>
                  <a:rPr lang="en-US" sz="2400" baseline="0" dirty="0" smtClean="0">
                    <a:latin typeface="Arial" charset="0"/>
                    <a:ea typeface="Arial" charset="0"/>
                    <a:cs typeface="Arial" charset="0"/>
                  </a:rPr>
                  <a:t>accomplish the same </a:t>
                </a:r>
                <a:r>
                  <a:rPr lang="en-US" sz="2400" baseline="0" dirty="0" smtClean="0">
                    <a:latin typeface="Arial" charset="0"/>
                    <a:ea typeface="Arial" charset="0"/>
                    <a:cs typeface="Arial" charset="0"/>
                  </a:rPr>
                  <a:t>thing.</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 The </a:t>
                </a:r>
                <a:r>
                  <a:rPr lang="en-US" sz="2400" baseline="0" dirty="0" smtClean="0">
                    <a:latin typeface="Arial" charset="0"/>
                    <a:ea typeface="Arial" charset="0"/>
                    <a:cs typeface="Arial" charset="0"/>
                  </a:rPr>
                  <a:t>key is that there is an easy mechanism for things to stay untouched in the </a:t>
                </a:r>
                <a:r>
                  <a:rPr lang="en-US" sz="2400" i="0">
                    <a:latin typeface="Cambria Math" charset="0"/>
                  </a:rPr>
                  <a:t>𝑐</a:t>
                </a:r>
                <a:r>
                  <a:rPr lang="en-US" sz="2400" i="0" smtClean="0">
                    <a:latin typeface="Cambria Math" charset="0"/>
                  </a:rPr>
                  <a:t>_</a:t>
                </a:r>
                <a:r>
                  <a:rPr lang="en-US" sz="2400" i="0">
                    <a:latin typeface="Cambria Math" charset="0"/>
                  </a:rPr>
                  <a:t>𝑡</a:t>
                </a:r>
                <a:r>
                  <a:rPr lang="en-US" sz="2400" baseline="0" dirty="0" smtClean="0">
                    <a:latin typeface="Arial" charset="0"/>
                    <a:ea typeface="Arial" charset="0"/>
                    <a:cs typeface="Arial" charset="0"/>
                  </a:rPr>
                  <a:t>variable</a:t>
                </a:r>
                <a:r>
                  <a:rPr lang="en-US" sz="2400" baseline="0" dirty="0" smtClean="0">
                    <a:latin typeface="Arial" charset="0"/>
                    <a:ea typeface="Arial" charset="0"/>
                    <a:cs typeface="Arial" charset="0"/>
                  </a:rPr>
                  <a:t>. **</a:t>
                </a:r>
                <a:endParaRPr lang="en-US" sz="2400" baseline="0" dirty="0" smtClean="0">
                  <a:latin typeface="Arial" charset="0"/>
                  <a:ea typeface="Arial" charset="0"/>
                  <a:cs typeface="Arial" charset="0"/>
                </a:endParaRPr>
              </a:p>
            </p:txBody>
          </p:sp>
        </mc:Fallback>
      </mc:AlternateContent>
    </p:spTree>
    <p:extLst>
      <p:ext uri="{BB962C8B-B14F-4D97-AF65-F5344CB8AC3E}">
        <p14:creationId xmlns:p14="http://schemas.microsoft.com/office/powerpoint/2010/main" val="771795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A “conveyor belt” metaphor is often used to describe this part.  </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It is easy for things to remain unchanged.</a:t>
            </a:r>
          </a:p>
        </p:txBody>
      </p:sp>
    </p:spTree>
    <p:extLst>
      <p:ext uri="{BB962C8B-B14F-4D97-AF65-F5344CB8AC3E}">
        <p14:creationId xmlns:p14="http://schemas.microsoft.com/office/powerpoint/2010/main" val="868496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001274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929351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588474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542234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5815514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833034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335225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430480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398801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810380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6399828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655921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6512407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Similar to “unrolling” the RNN. Here we see a chain of LSTM structures.</a:t>
            </a:r>
          </a:p>
        </p:txBody>
      </p:sp>
    </p:spTree>
    <p:extLst>
      <p:ext uri="{BB962C8B-B14F-4D97-AF65-F5344CB8AC3E}">
        <p14:creationId xmlns:p14="http://schemas.microsoft.com/office/powerpoint/2010/main" val="18624894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3888561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Shape 2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extLst>
      <p:ext uri="{BB962C8B-B14F-4D97-AF65-F5344CB8AC3E}">
        <p14:creationId xmlns:p14="http://schemas.microsoft.com/office/powerpoint/2010/main" val="1182692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Shape 13"/>
        <p:cNvGrpSpPr/>
        <p:nvPr/>
      </p:nvGrpSpPr>
      <p:grpSpPr>
        <a:xfrm>
          <a:off x="0" y="0"/>
          <a:ext cx="0" cy="0"/>
          <a:chOff x="0" y="0"/>
          <a:chExt cx="0" cy="0"/>
        </a:xfrm>
      </p:grpSpPr>
      <p:sp>
        <p:nvSpPr>
          <p:cNvPr id="2"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4"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Shape 13"/>
        <p:cNvGrpSpPr/>
        <p:nvPr/>
      </p:nvGrpSpPr>
      <p:grpSpPr>
        <a:xfrm>
          <a:off x="0" y="0"/>
          <a:ext cx="0" cy="0"/>
          <a:chOff x="0" y="0"/>
          <a:chExt cx="0" cy="0"/>
        </a:xfrm>
      </p:grpSpPr>
      <p:sp>
        <p:nvSpPr>
          <p:cNvPr id="7"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6" name="Shape 98"/>
          <p:cNvCxnSpPr/>
          <p:nvPr userDrawn="1"/>
        </p:nvCxnSpPr>
        <p:spPr>
          <a:xfrm>
            <a:off x="0" y="1024800"/>
            <a:ext cx="4178099" cy="0"/>
          </a:xfrm>
          <a:prstGeom prst="straightConnector1">
            <a:avLst/>
          </a:prstGeom>
          <a:noFill/>
          <a:ln w="19050" cap="flat" cmpd="sng">
            <a:solidFill>
              <a:srgbClr val="3A9ED9"/>
            </a:solidFill>
            <a:prstDash val="solid"/>
            <a:round/>
            <a:headEnd type="none" w="med" len="med"/>
            <a:tailEnd type="none" w="med" len="med"/>
          </a:ln>
        </p:spPr>
      </p:cxnSp>
      <p:pic>
        <p:nvPicPr>
          <p:cNvPr id="9"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 name="Title 1"/>
          <p:cNvSpPr>
            <a:spLocks noGrp="1"/>
          </p:cNvSpPr>
          <p:nvPr>
            <p:ph type="title" hasCustomPrompt="1"/>
          </p:nvPr>
        </p:nvSpPr>
        <p:spPr>
          <a:xfrm>
            <a:off x="311700" y="192126"/>
            <a:ext cx="7766550" cy="690525"/>
          </a:xfrm>
          <a:prstGeom prst="rect">
            <a:avLst/>
          </a:prstGeom>
        </p:spPr>
        <p:txBody>
          <a:bodyPr/>
          <a:lstStyle>
            <a:lvl1pPr>
              <a:buSzPct val="25000"/>
              <a:buFont typeface="Source Code Pro"/>
              <a:buNone/>
              <a:defRPr sz="2800" baseline="0"/>
            </a:lvl1pPr>
          </a:lstStyle>
          <a:p>
            <a:pPr>
              <a:buSzPct val="25000"/>
              <a:buFont typeface="Source Code Pro"/>
              <a:buNone/>
            </a:pPr>
            <a:r>
              <a:rPr lang="en-US" b="1" dirty="0" smtClean="0">
                <a:solidFill>
                  <a:srgbClr val="3A9ED9"/>
                </a:solidFill>
                <a:latin typeface="Source Code Pro"/>
                <a:ea typeface="Source Code Pro"/>
                <a:cs typeface="Source Code Pro"/>
                <a:sym typeface="Source Code Pro"/>
              </a:rPr>
              <a:t>Title</a:t>
            </a:r>
            <a:endParaRPr lang="en" b="1" dirty="0">
              <a:solidFill>
                <a:srgbClr val="3A9ED9"/>
              </a:solidFill>
              <a:latin typeface="Source Code Pro"/>
              <a:ea typeface="Source Code Pro"/>
              <a:cs typeface="Source Code Pro"/>
              <a:sym typeface="Source Code Pro"/>
            </a:endParaRPr>
          </a:p>
        </p:txBody>
      </p:sp>
      <p:sp>
        <p:nvSpPr>
          <p:cNvPr id="4" name="Text Placeholder 3"/>
          <p:cNvSpPr>
            <a:spLocks noGrp="1"/>
          </p:cNvSpPr>
          <p:nvPr>
            <p:ph type="body" sz="quarter" idx="10" hasCustomPrompt="1"/>
          </p:nvPr>
        </p:nvSpPr>
        <p:spPr>
          <a:xfrm>
            <a:off x="311700" y="1295930"/>
            <a:ext cx="8527498" cy="3542769"/>
          </a:xfrm>
          <a:prstGeom prst="rect">
            <a:avLst/>
          </a:prstGeom>
        </p:spPr>
        <p:txBody>
          <a:bodyPr/>
          <a:lstStyle>
            <a:lvl1pPr marL="457200" marR="0" indent="-381000" algn="l" rtl="0">
              <a:lnSpc>
                <a:spcPct val="115000"/>
              </a:lnSpc>
              <a:spcBef>
                <a:spcPts val="0"/>
              </a:spcBef>
              <a:spcAft>
                <a:spcPts val="0"/>
              </a:spcAft>
              <a:buClr>
                <a:srgbClr val="434343"/>
              </a:buClr>
              <a:buSzPct val="100000"/>
              <a:buFont typeface="Calibri"/>
              <a:buChar char="●"/>
              <a:defRPr sz="1400"/>
            </a:lvl1pPr>
          </a:lstStyle>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20"/>
        <p:cNvGrpSpPr/>
        <p:nvPr/>
      </p:nvGrpSpPr>
      <p:grpSpPr>
        <a:xfrm>
          <a:off x="0" y="0"/>
          <a:ext cx="0" cy="0"/>
          <a:chOff x="0" y="0"/>
          <a:chExt cx="0" cy="0"/>
        </a:xfrm>
      </p:grpSpPr>
      <p:sp>
        <p:nvSpPr>
          <p:cNvPr id="6" name="Shape 113"/>
          <p:cNvSpPr txBox="1">
            <a:spLocks noGrp="1"/>
          </p:cNvSpPr>
          <p:nvPr>
            <p:ph type="title"/>
          </p:nvPr>
        </p:nvSpPr>
        <p:spPr>
          <a:xfrm>
            <a:off x="1028550" y="1135100"/>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dirty="0">
                <a:solidFill>
                  <a:srgbClr val="3A9ED9"/>
                </a:solidFill>
                <a:latin typeface="Source Code Pro"/>
                <a:ea typeface="Source Code Pro"/>
                <a:cs typeface="Source Code Pro"/>
                <a:sym typeface="Source Code Pro"/>
              </a:rPr>
              <a:t>Heading</a:t>
            </a:r>
          </a:p>
        </p:txBody>
      </p:sp>
      <p:sp>
        <p:nvSpPr>
          <p:cNvPr id="7" name="Shape 114"/>
          <p:cNvSpPr txBox="1">
            <a:spLocks noGrp="1"/>
          </p:cNvSpPr>
          <p:nvPr>
            <p:ph type="body" idx="1"/>
          </p:nvPr>
        </p:nvSpPr>
        <p:spPr>
          <a:xfrm>
            <a:off x="9121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8" name="Shape 11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9" name="Shape 116"/>
          <p:cNvCxnSpPr/>
          <p:nvPr userDrawn="1"/>
        </p:nvCxnSpPr>
        <p:spPr>
          <a:xfrm>
            <a:off x="959550" y="1701550"/>
            <a:ext cx="1951199" cy="0"/>
          </a:xfrm>
          <a:prstGeom prst="straightConnector1">
            <a:avLst/>
          </a:prstGeom>
          <a:noFill/>
          <a:ln w="19050" cap="flat" cmpd="sng">
            <a:solidFill>
              <a:srgbClr val="3A9ED9"/>
            </a:solidFill>
            <a:prstDash val="solid"/>
            <a:round/>
            <a:headEnd type="none" w="med" len="med"/>
            <a:tailEnd type="none" w="med" len="med"/>
          </a:ln>
        </p:spPr>
      </p:cxnSp>
      <p:sp>
        <p:nvSpPr>
          <p:cNvPr id="10" name="Shape 117"/>
          <p:cNvSpPr txBox="1">
            <a:spLocks/>
          </p:cNvSpPr>
          <p:nvPr userDrawn="1"/>
        </p:nvSpPr>
        <p:spPr>
          <a:xfrm>
            <a:off x="360720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dirty="0" smtClean="0">
                <a:solidFill>
                  <a:srgbClr val="ED0096"/>
                </a:solidFill>
                <a:latin typeface="Source Code Pro"/>
                <a:ea typeface="Source Code Pro"/>
                <a:cs typeface="Source Code Pro"/>
                <a:sym typeface="Source Code Pro"/>
              </a:rPr>
              <a:t>Heading</a:t>
            </a:r>
            <a:endParaRPr lang="en" sz="1800" b="1" dirty="0">
              <a:solidFill>
                <a:srgbClr val="ED0096"/>
              </a:solidFill>
              <a:latin typeface="Source Code Pro"/>
              <a:ea typeface="Source Code Pro"/>
              <a:cs typeface="Source Code Pro"/>
              <a:sym typeface="Source Code Pro"/>
            </a:endParaRPr>
          </a:p>
        </p:txBody>
      </p:sp>
      <p:sp>
        <p:nvSpPr>
          <p:cNvPr id="11" name="Shape 118"/>
          <p:cNvSpPr txBox="1">
            <a:spLocks noGrp="1"/>
          </p:cNvSpPr>
          <p:nvPr>
            <p:ph type="body" idx="10"/>
          </p:nvPr>
        </p:nvSpPr>
        <p:spPr>
          <a:xfrm>
            <a:off x="349080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2" name="Shape 119"/>
          <p:cNvCxnSpPr/>
          <p:nvPr userDrawn="1"/>
        </p:nvCxnSpPr>
        <p:spPr>
          <a:xfrm>
            <a:off x="3538200" y="1701550"/>
            <a:ext cx="1951199" cy="0"/>
          </a:xfrm>
          <a:prstGeom prst="straightConnector1">
            <a:avLst/>
          </a:prstGeom>
          <a:noFill/>
          <a:ln w="19050" cap="flat" cmpd="sng">
            <a:solidFill>
              <a:srgbClr val="ED0096"/>
            </a:solidFill>
            <a:prstDash val="solid"/>
            <a:round/>
            <a:headEnd type="none" w="med" len="med"/>
            <a:tailEnd type="none" w="med" len="med"/>
          </a:ln>
        </p:spPr>
      </p:cxnSp>
      <p:sp>
        <p:nvSpPr>
          <p:cNvPr id="13" name="Shape 120"/>
          <p:cNvSpPr txBox="1">
            <a:spLocks/>
          </p:cNvSpPr>
          <p:nvPr userDrawn="1"/>
        </p:nvSpPr>
        <p:spPr>
          <a:xfrm>
            <a:off x="630225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4" name="Shape 121"/>
          <p:cNvSpPr txBox="1">
            <a:spLocks noGrp="1"/>
          </p:cNvSpPr>
          <p:nvPr>
            <p:ph type="body" idx="11"/>
          </p:nvPr>
        </p:nvSpPr>
        <p:spPr>
          <a:xfrm>
            <a:off x="61858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5" name="Shape 122"/>
          <p:cNvCxnSpPr/>
          <p:nvPr userDrawn="1"/>
        </p:nvCxnSpPr>
        <p:spPr>
          <a:xfrm>
            <a:off x="6233250" y="1701550"/>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6" name="Shape 123"/>
          <p:cNvCxnSpPr/>
          <p:nvPr userDrawn="1"/>
        </p:nvCxnSpPr>
        <p:spPr>
          <a:xfrm>
            <a:off x="959550" y="3763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7" name="Shape 124"/>
          <p:cNvCxnSpPr/>
          <p:nvPr userDrawn="1"/>
        </p:nvCxnSpPr>
        <p:spPr>
          <a:xfrm>
            <a:off x="3538200" y="3763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8" name="Shape 125"/>
          <p:cNvCxnSpPr/>
          <p:nvPr userDrawn="1"/>
        </p:nvCxnSpPr>
        <p:spPr>
          <a:xfrm>
            <a:off x="6233250" y="3763075"/>
            <a:ext cx="1951199" cy="0"/>
          </a:xfrm>
          <a:prstGeom prst="straightConnector1">
            <a:avLst/>
          </a:prstGeom>
          <a:noFill/>
          <a:ln w="19050" cap="flat" cmpd="sng">
            <a:solidFill>
              <a:srgbClr val="EF3969"/>
            </a:solidFill>
            <a:prstDash val="solid"/>
            <a:round/>
            <a:headEnd type="none" w="med" len="med"/>
            <a:tailEnd type="none" w="med" len="med"/>
          </a:ln>
        </p:spPr>
      </p:cxnSp>
      <p:sp>
        <p:nvSpPr>
          <p:cNvPr id="19" name="Shape 12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25"/>
        <p:cNvGrpSpPr/>
        <p:nvPr/>
      </p:nvGrpSpPr>
      <p:grpSpPr>
        <a:xfrm>
          <a:off x="0" y="0"/>
          <a:ext cx="0" cy="0"/>
          <a:chOff x="0" y="0"/>
          <a:chExt cx="0" cy="0"/>
        </a:xfrm>
      </p:grpSpPr>
      <p:sp>
        <p:nvSpPr>
          <p:cNvPr id="4" name="Shape 131"/>
          <p:cNvSpPr txBox="1">
            <a:spLocks noGrp="1"/>
          </p:cNvSpPr>
          <p:nvPr>
            <p:ph type="title"/>
          </p:nvPr>
        </p:nvSpPr>
        <p:spPr>
          <a:xfrm>
            <a:off x="1028550" y="1917783"/>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a:solidFill>
                  <a:srgbClr val="3A9ED9"/>
                </a:solidFill>
                <a:latin typeface="Source Code Pro"/>
                <a:ea typeface="Source Code Pro"/>
                <a:cs typeface="Source Code Pro"/>
                <a:sym typeface="Source Code Pro"/>
              </a:rPr>
              <a:t>Heading</a:t>
            </a:r>
          </a:p>
        </p:txBody>
      </p:sp>
      <p:sp>
        <p:nvSpPr>
          <p:cNvPr id="5" name="Shape 132"/>
          <p:cNvSpPr txBox="1">
            <a:spLocks noGrp="1"/>
          </p:cNvSpPr>
          <p:nvPr>
            <p:ph type="body" idx="1"/>
          </p:nvPr>
        </p:nvSpPr>
        <p:spPr>
          <a:xfrm>
            <a:off x="9121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6" name="Shape 13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7" name="Shape 134"/>
          <p:cNvSpPr txBox="1">
            <a:spLocks/>
          </p:cNvSpPr>
          <p:nvPr userDrawn="1"/>
        </p:nvSpPr>
        <p:spPr>
          <a:xfrm>
            <a:off x="360720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D0096"/>
                </a:solidFill>
                <a:latin typeface="Source Code Pro"/>
                <a:ea typeface="Source Code Pro"/>
                <a:cs typeface="Source Code Pro"/>
                <a:sym typeface="Source Code Pro"/>
              </a:rPr>
              <a:t>Heading</a:t>
            </a:r>
            <a:endParaRPr lang="en" sz="1800" b="1">
              <a:solidFill>
                <a:srgbClr val="ED0096"/>
              </a:solidFill>
              <a:latin typeface="Source Code Pro"/>
              <a:ea typeface="Source Code Pro"/>
              <a:cs typeface="Source Code Pro"/>
              <a:sym typeface="Source Code Pro"/>
            </a:endParaRPr>
          </a:p>
        </p:txBody>
      </p:sp>
      <p:sp>
        <p:nvSpPr>
          <p:cNvPr id="8" name="Shape 135"/>
          <p:cNvSpPr txBox="1">
            <a:spLocks noGrp="1"/>
          </p:cNvSpPr>
          <p:nvPr>
            <p:ph type="body" idx="10"/>
          </p:nvPr>
        </p:nvSpPr>
        <p:spPr>
          <a:xfrm>
            <a:off x="349080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sp>
        <p:nvSpPr>
          <p:cNvPr id="9" name="Shape 136"/>
          <p:cNvSpPr txBox="1">
            <a:spLocks/>
          </p:cNvSpPr>
          <p:nvPr userDrawn="1"/>
        </p:nvSpPr>
        <p:spPr>
          <a:xfrm>
            <a:off x="630225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0" name="Shape 137"/>
          <p:cNvSpPr txBox="1">
            <a:spLocks noGrp="1"/>
          </p:cNvSpPr>
          <p:nvPr>
            <p:ph type="body" idx="11"/>
          </p:nvPr>
        </p:nvSpPr>
        <p:spPr>
          <a:xfrm>
            <a:off x="61858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1" name="Shape 138"/>
          <p:cNvCxnSpPr/>
          <p:nvPr userDrawn="1"/>
        </p:nvCxnSpPr>
        <p:spPr>
          <a:xfrm>
            <a:off x="959550" y="4144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2" name="Shape 139"/>
          <p:cNvCxnSpPr/>
          <p:nvPr userDrawn="1"/>
        </p:nvCxnSpPr>
        <p:spPr>
          <a:xfrm>
            <a:off x="3538200" y="4144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3" name="Shape 140"/>
          <p:cNvCxnSpPr/>
          <p:nvPr userDrawn="1"/>
        </p:nvCxnSpPr>
        <p:spPr>
          <a:xfrm>
            <a:off x="6233250" y="4144075"/>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4" name="Shape 141"/>
          <p:cNvCxnSpPr/>
          <p:nvPr userDrawn="1"/>
        </p:nvCxnSpPr>
        <p:spPr>
          <a:xfrm>
            <a:off x="959550" y="1316850"/>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5" name="Shape 142"/>
          <p:cNvCxnSpPr/>
          <p:nvPr userDrawn="1"/>
        </p:nvCxnSpPr>
        <p:spPr>
          <a:xfrm>
            <a:off x="3538200" y="1316850"/>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6" name="Shape 143"/>
          <p:cNvCxnSpPr/>
          <p:nvPr userDrawn="1"/>
        </p:nvCxnSpPr>
        <p:spPr>
          <a:xfrm>
            <a:off x="6233250" y="1316850"/>
            <a:ext cx="1951199" cy="0"/>
          </a:xfrm>
          <a:prstGeom prst="straightConnector1">
            <a:avLst/>
          </a:prstGeom>
          <a:noFill/>
          <a:ln w="19050" cap="flat" cmpd="sng">
            <a:solidFill>
              <a:srgbClr val="EF3969"/>
            </a:solidFill>
            <a:prstDash val="solid"/>
            <a:round/>
            <a:headEnd type="none" w="med" len="med"/>
            <a:tailEnd type="none" w="med" len="med"/>
          </a:ln>
        </p:spPr>
      </p:cxnSp>
      <p:sp>
        <p:nvSpPr>
          <p:cNvPr id="17" name="Shape 144"/>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145"/>
          <p:cNvSpPr/>
          <p:nvPr userDrawn="1"/>
        </p:nvSpPr>
        <p:spPr>
          <a:xfrm>
            <a:off x="1500750" y="882450"/>
            <a:ext cx="868800" cy="868800"/>
          </a:xfrm>
          <a:prstGeom prst="ellipse">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146"/>
          <p:cNvSpPr/>
          <p:nvPr userDrawn="1"/>
        </p:nvSpPr>
        <p:spPr>
          <a:xfrm>
            <a:off x="4079400" y="882450"/>
            <a:ext cx="868800" cy="868800"/>
          </a:xfrm>
          <a:prstGeom prst="ellipse">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0" name="Shape 147"/>
          <p:cNvSpPr/>
          <p:nvPr userDrawn="1"/>
        </p:nvSpPr>
        <p:spPr>
          <a:xfrm>
            <a:off x="6774450" y="882450"/>
            <a:ext cx="868800" cy="868800"/>
          </a:xfrm>
          <a:prstGeom prst="ellipse">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5"/>
        <p:cNvGrpSpPr/>
        <p:nvPr/>
      </p:nvGrpSpPr>
      <p:grpSpPr>
        <a:xfrm>
          <a:off x="0" y="0"/>
          <a:ext cx="0" cy="0"/>
          <a:chOff x="0" y="0"/>
          <a:chExt cx="0" cy="0"/>
        </a:xfrm>
      </p:grpSpPr>
      <p:sp>
        <p:nvSpPr>
          <p:cNvPr id="21" name="Shape 152"/>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3A9ED9"/>
                </a:solidFill>
                <a:latin typeface="Source Code Pro"/>
                <a:ea typeface="Source Code Pro"/>
                <a:cs typeface="Source Code Pro"/>
                <a:sym typeface="Source Code Pro"/>
              </a:rPr>
              <a:t>/ Heading goes here /</a:t>
            </a:r>
          </a:p>
        </p:txBody>
      </p:sp>
      <p:pic>
        <p:nvPicPr>
          <p:cNvPr id="22" name="Shape 15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54"/>
          <p:cNvCxnSpPr/>
          <p:nvPr userDrawn="1"/>
        </p:nvCxnSpPr>
        <p:spPr>
          <a:xfrm>
            <a:off x="3596400" y="43726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24" name="Shape 155"/>
          <p:cNvCxnSpPr/>
          <p:nvPr userDrawn="1"/>
        </p:nvCxnSpPr>
        <p:spPr>
          <a:xfrm>
            <a:off x="3596400" y="935850"/>
            <a:ext cx="1951199" cy="0"/>
          </a:xfrm>
          <a:prstGeom prst="straightConnector1">
            <a:avLst/>
          </a:prstGeom>
          <a:noFill/>
          <a:ln w="19050" cap="flat" cmpd="sng">
            <a:solidFill>
              <a:srgbClr val="3A9ED9"/>
            </a:solidFill>
            <a:prstDash val="solid"/>
            <a:round/>
            <a:headEnd type="none" w="med" len="med"/>
            <a:tailEnd type="none" w="med" len="med"/>
          </a:ln>
        </p:spPr>
      </p:cxnSp>
      <p:sp>
        <p:nvSpPr>
          <p:cNvPr id="25" name="Shape 15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57"/>
          <p:cNvSpPr/>
          <p:nvPr userDrawn="1"/>
        </p:nvSpPr>
        <p:spPr>
          <a:xfrm>
            <a:off x="4137600" y="501450"/>
            <a:ext cx="868800" cy="868800"/>
          </a:xfrm>
          <a:prstGeom prst="ellipse">
            <a:avLst/>
          </a:prstGeom>
          <a:solidFill>
            <a:srgbClr val="3A9ED9"/>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1</a:t>
            </a:r>
          </a:p>
        </p:txBody>
      </p:sp>
      <p:sp>
        <p:nvSpPr>
          <p:cNvPr id="27" name="Shape 158"/>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25"/>
        <p:cNvGrpSpPr/>
        <p:nvPr/>
      </p:nvGrpSpPr>
      <p:grpSpPr>
        <a:xfrm>
          <a:off x="0" y="0"/>
          <a:ext cx="0" cy="0"/>
          <a:chOff x="0" y="0"/>
          <a:chExt cx="0" cy="0"/>
        </a:xfrm>
      </p:grpSpPr>
      <p:sp>
        <p:nvSpPr>
          <p:cNvPr id="21" name="Shape 163"/>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ED0096"/>
                </a:solidFill>
                <a:latin typeface="Source Code Pro"/>
                <a:ea typeface="Source Code Pro"/>
                <a:cs typeface="Source Code Pro"/>
                <a:sym typeface="Source Code Pro"/>
              </a:rPr>
              <a:t>/ Heading goes here /</a:t>
            </a:r>
          </a:p>
        </p:txBody>
      </p:sp>
      <p:pic>
        <p:nvPicPr>
          <p:cNvPr id="22" name="Shape 16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65"/>
          <p:cNvCxnSpPr/>
          <p:nvPr userDrawn="1"/>
        </p:nvCxnSpPr>
        <p:spPr>
          <a:xfrm>
            <a:off x="3596400" y="43726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24" name="Shape 166"/>
          <p:cNvCxnSpPr/>
          <p:nvPr userDrawn="1"/>
        </p:nvCxnSpPr>
        <p:spPr>
          <a:xfrm>
            <a:off x="3596400" y="935850"/>
            <a:ext cx="1951199" cy="0"/>
          </a:xfrm>
          <a:prstGeom prst="straightConnector1">
            <a:avLst/>
          </a:prstGeom>
          <a:noFill/>
          <a:ln w="19050" cap="flat" cmpd="sng">
            <a:solidFill>
              <a:srgbClr val="ED0096"/>
            </a:solidFill>
            <a:prstDash val="solid"/>
            <a:round/>
            <a:headEnd type="none" w="med" len="med"/>
            <a:tailEnd type="none" w="med" len="med"/>
          </a:ln>
        </p:spPr>
      </p:cxnSp>
      <p:sp>
        <p:nvSpPr>
          <p:cNvPr id="25" name="Shape 16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68"/>
          <p:cNvSpPr/>
          <p:nvPr userDrawn="1"/>
        </p:nvSpPr>
        <p:spPr>
          <a:xfrm>
            <a:off x="4137600" y="501450"/>
            <a:ext cx="868800" cy="868800"/>
          </a:xfrm>
          <a:prstGeom prst="ellipse">
            <a:avLst/>
          </a:prstGeom>
          <a:solidFill>
            <a:srgbClr val="ED0096"/>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2</a:t>
            </a:r>
          </a:p>
        </p:txBody>
      </p:sp>
      <p:sp>
        <p:nvSpPr>
          <p:cNvPr id="27" name="Shape 169"/>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and description">
    <p:spTree>
      <p:nvGrpSpPr>
        <p:cNvPr id="1" name="Shape 35"/>
        <p:cNvGrpSpPr/>
        <p:nvPr/>
      </p:nvGrpSpPr>
      <p:grpSpPr>
        <a:xfrm>
          <a:off x="0" y="0"/>
          <a:ext cx="0" cy="0"/>
          <a:chOff x="0" y="0"/>
          <a:chExt cx="0" cy="0"/>
        </a:xfrm>
      </p:grpSpPr>
      <p:sp>
        <p:nvSpPr>
          <p:cNvPr id="7" name="Shape 174"/>
          <p:cNvSpPr/>
          <p:nvPr userDrawn="1"/>
        </p:nvSpPr>
        <p:spPr>
          <a:xfrm>
            <a:off x="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8" name="Shape 176"/>
          <p:cNvSpPr txBox="1">
            <a:spLocks noGrp="1"/>
          </p:cNvSpPr>
          <p:nvPr>
            <p:ph type="title"/>
          </p:nvPr>
        </p:nvSpPr>
        <p:spPr>
          <a:xfrm>
            <a:off x="525200" y="590275"/>
            <a:ext cx="3390900" cy="228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9" name="Shape 177"/>
          <p:cNvSpPr/>
          <p:nvPr userDrawn="1"/>
        </p:nvSpPr>
        <p:spPr>
          <a:xfrm>
            <a:off x="3592175"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0" name="Shape 178"/>
          <p:cNvSpPr txBox="1">
            <a:spLocks noGrp="1"/>
          </p:cNvSpPr>
          <p:nvPr>
            <p:ph type="body" idx="1"/>
          </p:nvPr>
        </p:nvSpPr>
        <p:spPr>
          <a:xfrm>
            <a:off x="5365125"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11" name="Shape 17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tion">
    <p:spTree>
      <p:nvGrpSpPr>
        <p:cNvPr id="1" name="Shape 41"/>
        <p:cNvGrpSpPr/>
        <p:nvPr/>
      </p:nvGrpSpPr>
      <p:grpSpPr>
        <a:xfrm>
          <a:off x="0" y="0"/>
          <a:ext cx="0" cy="0"/>
          <a:chOff x="0" y="0"/>
          <a:chExt cx="0" cy="0"/>
        </a:xfrm>
      </p:grpSpPr>
      <p:sp>
        <p:nvSpPr>
          <p:cNvPr id="4" name="Shape 184"/>
          <p:cNvSpPr/>
          <p:nvPr userDrawn="1"/>
        </p:nvSpPr>
        <p:spPr>
          <a:xfrm>
            <a:off x="435020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186"/>
          <p:cNvSpPr txBox="1">
            <a:spLocks noGrp="1"/>
          </p:cNvSpPr>
          <p:nvPr>
            <p:ph type="title"/>
          </p:nvPr>
        </p:nvSpPr>
        <p:spPr>
          <a:xfrm>
            <a:off x="5310889" y="590275"/>
            <a:ext cx="3390900" cy="22848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6" name="Shape 187"/>
          <p:cNvSpPr/>
          <p:nvPr userDrawn="1"/>
        </p:nvSpPr>
        <p:spPr>
          <a:xfrm>
            <a:off x="3150900"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188"/>
          <p:cNvSpPr txBox="1">
            <a:spLocks noGrp="1"/>
          </p:cNvSpPr>
          <p:nvPr>
            <p:ph type="body" idx="1"/>
          </p:nvPr>
        </p:nvSpPr>
        <p:spPr>
          <a:xfrm>
            <a:off x="677600"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8" name="Shape 18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Shape 44"/>
        <p:cNvGrpSpPr/>
        <p:nvPr/>
      </p:nvGrpSpPr>
      <p:grpSpPr>
        <a:xfrm>
          <a:off x="0" y="0"/>
          <a:ext cx="0" cy="0"/>
          <a:chOff x="0" y="0"/>
          <a:chExt cx="0" cy="0"/>
        </a:xfrm>
      </p:grpSpPr>
      <p:sp>
        <p:nvSpPr>
          <p:cNvPr id="5" name="Shape 68"/>
          <p:cNvSpPr/>
          <p:nvPr userDrawn="1"/>
        </p:nvSpPr>
        <p:spPr>
          <a:xfrm>
            <a:off x="0" y="2206325"/>
            <a:ext cx="9144000" cy="2936999"/>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69"/>
          <p:cNvSpPr txBox="1">
            <a:spLocks noGrp="1"/>
          </p:cNvSpPr>
          <p:nvPr>
            <p:ph type="title"/>
          </p:nvPr>
        </p:nvSpPr>
        <p:spPr>
          <a:xfrm>
            <a:off x="720000" y="308200"/>
            <a:ext cx="7704000" cy="5726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2800" b="0" i="0" u="none" strike="noStrike" cap="none">
                <a:solidFill>
                  <a:srgbClr val="3A9ED9"/>
                </a:solidFill>
                <a:latin typeface="Source Code Pro"/>
                <a:ea typeface="Source Code Pro"/>
                <a:cs typeface="Source Code Pro"/>
                <a:sym typeface="Source Code Pro"/>
              </a:rPr>
              <a:t>/ meet your team /</a:t>
            </a:r>
          </a:p>
        </p:txBody>
      </p:sp>
      <p:pic>
        <p:nvPicPr>
          <p:cNvPr id="7" name="Shape 70" descr="megan.png"/>
          <p:cNvPicPr preferRelativeResize="0"/>
          <p:nvPr userDrawn="1"/>
        </p:nvPicPr>
        <p:blipFill rotWithShape="1">
          <a:blip r:embed="rId2">
            <a:alphaModFix/>
          </a:blip>
          <a:srcRect/>
          <a:stretch/>
        </p:blipFill>
        <p:spPr>
          <a:xfrm>
            <a:off x="1520895" y="1427375"/>
            <a:ext cx="1544624" cy="1544624"/>
          </a:xfrm>
          <a:prstGeom prst="rect">
            <a:avLst/>
          </a:prstGeom>
          <a:noFill/>
          <a:ln>
            <a:noFill/>
          </a:ln>
        </p:spPr>
      </p:pic>
      <p:pic>
        <p:nvPicPr>
          <p:cNvPr id="8" name="Shape 71" descr="jennifer.png"/>
          <p:cNvPicPr preferRelativeResize="0"/>
          <p:nvPr userDrawn="1"/>
        </p:nvPicPr>
        <p:blipFill rotWithShape="1">
          <a:blip r:embed="rId3">
            <a:alphaModFix/>
          </a:blip>
          <a:srcRect/>
          <a:stretch/>
        </p:blipFill>
        <p:spPr>
          <a:xfrm>
            <a:off x="3799691" y="1427374"/>
            <a:ext cx="1544624" cy="1544624"/>
          </a:xfrm>
          <a:prstGeom prst="rect">
            <a:avLst/>
          </a:prstGeom>
          <a:noFill/>
          <a:ln>
            <a:noFill/>
          </a:ln>
        </p:spPr>
      </p:pic>
      <p:sp>
        <p:nvSpPr>
          <p:cNvPr id="9" name="Shape 72"/>
          <p:cNvSpPr txBox="1"/>
          <p:nvPr userDrawn="1"/>
        </p:nvSpPr>
        <p:spPr>
          <a:xfrm>
            <a:off x="133456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rgbClr val="FFFFFF"/>
              </a:buClr>
              <a:buSzPct val="25000"/>
              <a:buFont typeface="Arial"/>
              <a:buNone/>
            </a:pPr>
            <a:r>
              <a:rPr lang="en" sz="1200" b="0" i="0" u="none" strike="noStrike" cap="none">
                <a:solidFill>
                  <a:srgbClr val="FFFFFF"/>
                </a:solidFill>
                <a:latin typeface="Calibri"/>
                <a:ea typeface="Calibri"/>
                <a:cs typeface="Calibri"/>
                <a:sym typeface="Calibri"/>
              </a:rPr>
              <a:t>Title Here</a:t>
            </a:r>
          </a:p>
        </p:txBody>
      </p:sp>
      <p:sp>
        <p:nvSpPr>
          <p:cNvPr id="10" name="Shape 73"/>
          <p:cNvSpPr txBox="1"/>
          <p:nvPr userDrawn="1"/>
        </p:nvSpPr>
        <p:spPr>
          <a:xfrm>
            <a:off x="3455689" y="3288050"/>
            <a:ext cx="2232599"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3F3F3"/>
              </a:buClr>
              <a:buSzPct val="25000"/>
              <a:buFont typeface="Arial"/>
              <a:buNone/>
            </a:pPr>
            <a:r>
              <a:rPr lang="en" sz="1600" b="1" i="0" u="none" strike="noStrike" cap="none">
                <a:solidFill>
                  <a:srgbClr val="F3F3F3"/>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1" name="Shape 74" descr="megan.png"/>
          <p:cNvPicPr preferRelativeResize="0"/>
          <p:nvPr userDrawn="1"/>
        </p:nvPicPr>
        <p:blipFill rotWithShape="1">
          <a:blip r:embed="rId2">
            <a:alphaModFix/>
          </a:blip>
          <a:srcRect/>
          <a:stretch/>
        </p:blipFill>
        <p:spPr>
          <a:xfrm>
            <a:off x="6078496" y="1427375"/>
            <a:ext cx="1544624" cy="1544624"/>
          </a:xfrm>
          <a:prstGeom prst="rect">
            <a:avLst/>
          </a:prstGeom>
          <a:noFill/>
          <a:ln>
            <a:noFill/>
          </a:ln>
        </p:spPr>
      </p:pic>
      <p:sp>
        <p:nvSpPr>
          <p:cNvPr id="12" name="Shape 75"/>
          <p:cNvSpPr txBox="1"/>
          <p:nvPr userDrawn="1"/>
        </p:nvSpPr>
        <p:spPr>
          <a:xfrm>
            <a:off x="589211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3" name="Shape 76" descr="metis-mini.png"/>
          <p:cNvPicPr preferRelativeResize="0"/>
          <p:nvPr userDrawn="1"/>
        </p:nvPicPr>
        <p:blipFill rotWithShape="1">
          <a:blip r:embed="rId4">
            <a:alphaModFix amt="25000"/>
          </a:blip>
          <a:srcRect/>
          <a:stretch/>
        </p:blipFill>
        <p:spPr>
          <a:xfrm>
            <a:off x="4408787" y="4444075"/>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48"/>
        <p:cNvGrpSpPr/>
        <p:nvPr/>
      </p:nvGrpSpPr>
      <p:grpSpPr>
        <a:xfrm>
          <a:off x="0" y="0"/>
          <a:ext cx="0" cy="0"/>
          <a:chOff x="0" y="0"/>
          <a:chExt cx="0" cy="0"/>
        </a:xfrm>
      </p:grpSpPr>
      <p:sp>
        <p:nvSpPr>
          <p:cNvPr id="3"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7"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8"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9"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48"/>
        <p:cNvGrpSpPr/>
        <p:nvPr/>
      </p:nvGrpSpPr>
      <p:grpSpPr>
        <a:xfrm>
          <a:off x="0" y="0"/>
          <a:ext cx="0" cy="0"/>
          <a:chOff x="0" y="0"/>
          <a:chExt cx="0" cy="0"/>
        </a:xfrm>
      </p:grpSpPr>
      <p:sp>
        <p:nvSpPr>
          <p:cNvPr id="10" name="Shape 221"/>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 name="Shape 223"/>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3" name="Shape 224"/>
          <p:cNvSpPr/>
          <p:nvPr userDrawn="1"/>
        </p:nvSpPr>
        <p:spPr>
          <a:xfrm>
            <a:off x="0" y="0"/>
            <a:ext cx="3048000" cy="13239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14" name="Shape 22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15" name="Shape 22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
        <p:nvSpPr>
          <p:cNvPr id="16" name="Shape 227"/>
          <p:cNvSpPr txBox="1">
            <a:spLocks/>
          </p:cNvSpPr>
          <p:nvPr userDrawn="1"/>
        </p:nvSpPr>
        <p:spPr>
          <a:xfrm>
            <a:off x="2666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001</a:t>
            </a:r>
            <a:endParaRPr lang="en" sz="2400">
              <a:solidFill>
                <a:srgbClr val="FFFFFF"/>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48"/>
        <p:cNvGrpSpPr/>
        <p:nvPr/>
      </p:nvGrpSpPr>
      <p:grpSpPr>
        <a:xfrm>
          <a:off x="0" y="0"/>
          <a:ext cx="0" cy="0"/>
          <a:chOff x="0" y="0"/>
          <a:chExt cx="0" cy="0"/>
        </a:xfrm>
      </p:grpSpPr>
      <p:sp>
        <p:nvSpPr>
          <p:cNvPr id="9" name="Shape 232"/>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34"/>
          <p:cNvSpPr/>
          <p:nvPr userDrawn="1"/>
        </p:nvSpPr>
        <p:spPr>
          <a:xfrm>
            <a:off x="3048000" y="0"/>
            <a:ext cx="3048000" cy="13239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35"/>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3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37"/>
          <p:cNvSpPr txBox="1">
            <a:spLocks/>
          </p:cNvSpPr>
          <p:nvPr userDrawn="1"/>
        </p:nvSpPr>
        <p:spPr>
          <a:xfrm>
            <a:off x="33210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002</a:t>
            </a:r>
            <a:endParaRPr lang="en" sz="2400">
              <a:solidFill>
                <a:srgbClr val="FFFFFF"/>
              </a:solidFill>
              <a:latin typeface="Source Code Pro"/>
              <a:ea typeface="Source Code Pro"/>
              <a:cs typeface="Source Code Pro"/>
              <a:sym typeface="Source Code Pro"/>
            </a:endParaRPr>
          </a:p>
        </p:txBody>
      </p:sp>
      <p:sp>
        <p:nvSpPr>
          <p:cNvPr id="22" name="Shape 238"/>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48"/>
        <p:cNvGrpSpPr/>
        <p:nvPr/>
      </p:nvGrpSpPr>
      <p:grpSpPr>
        <a:xfrm>
          <a:off x="0" y="0"/>
          <a:ext cx="0" cy="0"/>
          <a:chOff x="0" y="0"/>
          <a:chExt cx="0" cy="0"/>
        </a:xfrm>
      </p:grpSpPr>
      <p:sp>
        <p:nvSpPr>
          <p:cNvPr id="9" name="Shape 243"/>
          <p:cNvSpPr/>
          <p:nvPr userDrawn="1"/>
        </p:nvSpPr>
        <p:spPr>
          <a:xfrm>
            <a:off x="6096000" y="0"/>
            <a:ext cx="3048000" cy="13239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45"/>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46"/>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47"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48"/>
          <p:cNvSpPr txBox="1">
            <a:spLocks/>
          </p:cNvSpPr>
          <p:nvPr userDrawn="1"/>
        </p:nvSpPr>
        <p:spPr>
          <a:xfrm>
            <a:off x="631990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003</a:t>
            </a:r>
            <a:endParaRPr lang="en" sz="2400">
              <a:solidFill>
                <a:srgbClr val="FFFFFF"/>
              </a:solidFill>
              <a:latin typeface="Source Code Pro"/>
              <a:ea typeface="Source Code Pro"/>
              <a:cs typeface="Source Code Pro"/>
              <a:sym typeface="Source Code Pro"/>
            </a:endParaRPr>
          </a:p>
        </p:txBody>
      </p:sp>
      <p:sp>
        <p:nvSpPr>
          <p:cNvPr id="22" name="Shape 249"/>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48"/>
        <p:cNvGrpSpPr/>
        <p:nvPr/>
      </p:nvGrpSpPr>
      <p:grpSpPr>
        <a:xfrm>
          <a:off x="0" y="0"/>
          <a:ext cx="0" cy="0"/>
          <a:chOff x="0" y="0"/>
          <a:chExt cx="0" cy="0"/>
        </a:xfrm>
      </p:grpSpPr>
      <p:sp>
        <p:nvSpPr>
          <p:cNvPr id="8" name="Shape 254"/>
          <p:cNvSpPr txBox="1">
            <a:spLocks noGrp="1"/>
          </p:cNvSpPr>
          <p:nvPr>
            <p:ph type="title"/>
          </p:nvPr>
        </p:nvSpPr>
        <p:spPr>
          <a:xfrm>
            <a:off x="464100" y="1644150"/>
            <a:ext cx="4900499" cy="12792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6000" b="1" i="0" u="none" strike="noStrike" cap="none">
                <a:solidFill>
                  <a:srgbClr val="ED0096"/>
                </a:solidFill>
                <a:latin typeface="Source Code Pro"/>
                <a:ea typeface="Source Code Pro"/>
                <a:cs typeface="Source Code Pro"/>
                <a:sym typeface="Source Code Pro"/>
              </a:rPr>
              <a:t>Questions?</a:t>
            </a:r>
          </a:p>
        </p:txBody>
      </p:sp>
      <p:pic>
        <p:nvPicPr>
          <p:cNvPr id="10" name="Shape 25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11" name="Shape 256"/>
          <p:cNvCxnSpPr/>
          <p:nvPr userDrawn="1"/>
        </p:nvCxnSpPr>
        <p:spPr>
          <a:xfrm>
            <a:off x="0" y="3082200"/>
            <a:ext cx="5322899" cy="0"/>
          </a:xfrm>
          <a:prstGeom prst="straightConnector1">
            <a:avLst/>
          </a:prstGeom>
          <a:noFill/>
          <a:ln w="19050" cap="flat" cmpd="sng">
            <a:solidFill>
              <a:srgbClr val="ED0096"/>
            </a:solidFill>
            <a:prstDash val="solid"/>
            <a:round/>
            <a:headEnd type="none" w="med" len="med"/>
            <a:tailEnd type="none" w="med" len="med"/>
          </a:ln>
        </p:spPr>
      </p:cxnSp>
      <p:sp>
        <p:nvSpPr>
          <p:cNvPr id="12" name="Shape 25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599" cy="2052599"/>
          </a:xfrm>
          <a:prstGeom prst="rect">
            <a:avLst/>
          </a:prstGeom>
          <a:noFill/>
          <a:ln>
            <a:noFill/>
          </a:ln>
        </p:spPr>
        <p:txBody>
          <a:bodyPr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599" cy="792600"/>
          </a:xfrm>
          <a:prstGeom prst="rect">
            <a:avLst/>
          </a:prstGeom>
          <a:noFill/>
          <a:ln>
            <a:noFill/>
          </a:ln>
        </p:spPr>
        <p:txBody>
          <a:bodyPr lIns="91425" tIns="91425" rIns="91425" bIns="91425" anchor="t" anchorCtr="0"/>
          <a:lstStyle>
            <a:lvl1pPr marL="0" marR="0" lvl="0"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1pPr>
            <a:lvl2pPr marL="457200" marR="0" lvl="1"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2pPr>
            <a:lvl3pPr marL="914400" marR="0" lvl="2"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3pPr>
            <a:lvl4pPr marL="1371600" marR="0" lvl="3"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4pPr>
            <a:lvl5pPr marL="1828800" marR="0" lvl="4"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5pPr>
            <a:lvl6pPr marL="2286000" marR="0" lvl="5"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6pPr>
            <a:lvl7pPr marL="2743200" marR="0" lvl="6"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7pPr>
            <a:lvl8pPr marL="3200400" marR="0" lvl="7"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8pPr>
            <a:lvl9pPr marL="3657600" marR="0" lvl="8"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2587228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146199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248531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009230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31827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723929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94733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2094171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627027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4023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954184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711860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pic>
        <p:nvPicPr>
          <p:cNvPr id="11" name="Picture 10" descr="StackedISWhite.png"/>
          <p:cNvPicPr>
            <a:picLocks noChangeAspect="1"/>
          </p:cNvPicPr>
          <p:nvPr/>
        </p:nvPicPr>
        <p:blipFill>
          <a:blip r:embed="rId3"/>
          <a:stretch>
            <a:fillRect/>
          </a:stretch>
        </p:blipFill>
        <p:spPr>
          <a:xfrm>
            <a:off x="462619" y="399798"/>
            <a:ext cx="1230751" cy="1157248"/>
          </a:xfrm>
          <a:prstGeom prst="rect">
            <a:avLst/>
          </a:prstGeom>
        </p:spPr>
      </p:pic>
    </p:spTree>
    <p:extLst/>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19394" y="225843"/>
            <a:ext cx="1406758" cy="1153858"/>
          </a:xfrm>
          <a:prstGeom prst="rect">
            <a:avLst/>
          </a:prstGeom>
          <a:noFill/>
          <a:extLst>
            <a:ext uri="{909E8E84-426E-40dd-AFC4-6F175D3DCCD1}">
              <a14:hiddenFill xmlns:a14="http://schemas.microsoft.com/office/drawing/2010/main" xmlns="">
                <a:solidFill>
                  <a:srgbClr val="FFFFFF"/>
                </a:solidFill>
              </a14:hiddenFill>
            </a:ext>
          </a:extLst>
        </p:spPr>
      </p:pic>
      <p:sp>
        <p:nvSpPr>
          <p:cNvPr id="30" name="Rectangle 29"/>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3"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58" name="Picture 57" descr="StackedISWhite.png"/>
          <p:cNvPicPr>
            <a:picLocks noChangeAspect="1"/>
          </p:cNvPicPr>
          <p:nvPr/>
        </p:nvPicPr>
        <p:blipFill>
          <a:blip r:embed="rId3"/>
          <a:stretch>
            <a:fillRect/>
          </a:stretch>
        </p:blipFill>
        <p:spPr>
          <a:xfrm>
            <a:off x="8294375" y="4805888"/>
            <a:ext cx="314741" cy="295944"/>
          </a:xfrm>
          <a:prstGeom prst="rect">
            <a:avLst/>
          </a:prstGeom>
        </p:spPr>
      </p:pic>
      <p:cxnSp>
        <p:nvCxnSpPr>
          <p:cNvPr id="74" name="Straight Connector 73"/>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lvl2pPr>
            <a:lvl3pPr>
              <a:defRPr sz="1800"/>
            </a:lvl3pPr>
            <a:lvl4pPr>
              <a:defRPr sz="1600"/>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Tree>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2"/>
                </a:solidFill>
                <a:latin typeface="+mn-lt"/>
                <a:cs typeface="Intel Clear Light" panose="020B0404020203020204" pitchFamily="34" charset="0"/>
              </a:defRPr>
            </a:lvl1pPr>
            <a:lvl2pPr marL="417513" indent="-225425">
              <a:buFont typeface="Lucida Grande"/>
              <a:buChar char="−"/>
              <a:defRPr sz="1200" baseline="0">
                <a:latin typeface="+mn-lt"/>
                <a:cs typeface="Intel Clear" panose="020B0604020203020204" pitchFamily="34" charset="0"/>
              </a:defRPr>
            </a:lvl2pPr>
            <a:lvl3pPr marL="685800" indent="-228600">
              <a:defRPr sz="1200">
                <a:latin typeface="+mn-lt"/>
              </a:defRPr>
            </a:lvl3pPr>
            <a:lvl4pPr>
              <a:defRPr sz="1100">
                <a:latin typeface="+mn-lt"/>
              </a:defRPr>
            </a:lvl4pPr>
            <a:lvl5pPr>
              <a:defRPr sz="105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2834"/>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88703"/>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009487" y="4975795"/>
            <a:ext cx="184666" cy="246221"/>
          </a:xfrm>
          <a:prstGeom prst="rect">
            <a:avLst/>
          </a:prstGeom>
          <a:noFill/>
        </p:spPr>
        <p:txBody>
          <a:bodyPr wrap="none" rtlCol="0">
            <a:spAutoFit/>
          </a:bodyPr>
          <a:lstStyle/>
          <a:p>
            <a:endParaRPr lang="en-US" sz="1000" dirty="0" smtClean="0">
              <a:solidFill>
                <a:schemeClr val="tx2"/>
              </a:solidFill>
              <a:cs typeface="Neo Sans Intel"/>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2"/>
            <a:ext cx="4465637" cy="4755616"/>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8725556" y="4795523"/>
            <a:ext cx="280395" cy="273844"/>
          </a:xfrm>
        </p:spPr>
        <p:txBody>
          <a:bodyPr/>
          <a:lstStyle/>
          <a:p>
            <a:fld id="{EE2556C5-CE8C-6547-B838-EA80C61A4AF7}" type="slidenum">
              <a:rPr lang="en-US" smtClean="0"/>
              <a:pPr/>
              <a:t>‹#›</a:t>
            </a:fld>
            <a:endParaRPr lang="en-US" dirty="0"/>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Intel Clear"/>
                <a:cs typeface="Intel Clea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rgbClr val="F3D54E"/>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cSld>
  <p:clrMapOvr>
    <a:masterClrMapping/>
  </p:clrMapOvr>
  <p:timing>
    <p:tnLst>
      <p:par>
        <p:cTn id="1" dur="indefinite" restart="never" nodeType="tmRoot"/>
      </p:par>
    </p:tnLst>
  </p:timing>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24200" y="4842365"/>
            <a:ext cx="2895600" cy="250826"/>
          </a:xfrm>
        </p:spPr>
        <p:txBody>
          <a:bodyPr/>
          <a:lstStyle/>
          <a:p>
            <a:endParaRPr lang="en-US" dirty="0"/>
          </a:p>
        </p:txBody>
      </p:sp>
      <p:sp>
        <p:nvSpPr>
          <p:cNvPr id="4" name="Slide Number Placeholder 3"/>
          <p:cNvSpPr>
            <a:spLocks noGrp="1"/>
          </p:cNvSpPr>
          <p:nvPr>
            <p:ph type="sldNum" sz="quarter" idx="12"/>
          </p:nvPr>
        </p:nvSpPr>
        <p:spPr>
          <a:xfrm>
            <a:off x="8743950" y="4779605"/>
            <a:ext cx="262001" cy="247085"/>
          </a:xfrm>
        </p:spPr>
        <p:txBody>
          <a:bodyPr/>
          <a:lstStyle/>
          <a:p>
            <a:fld id="{EE2556C5-CE8C-6547-B838-EA80C61A4AF7}" type="slidenum">
              <a:rPr lang="en-US" smtClean="0"/>
              <a:pPr/>
              <a:t>‹#›</a:t>
            </a:fld>
            <a:endParaRPr lang="en-US" dirty="0"/>
          </a:p>
        </p:txBody>
      </p:sp>
      <p:sp>
        <p:nvSpPr>
          <p:cNvPr id="5"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8"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9"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10"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9144000" cy="4768850"/>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71C5"/>
              </a:solidFill>
            </a:endParaRPr>
          </a:p>
        </p:txBody>
      </p:sp>
      <p:pic>
        <p:nvPicPr>
          <p:cNvPr id="5" name="Picture 4" descr="StackedISWhite.png"/>
          <p:cNvPicPr>
            <a:picLocks noChangeAspect="1"/>
          </p:cNvPicPr>
          <p:nvPr/>
        </p:nvPicPr>
        <p:blipFill>
          <a:blip r:embed="rId2"/>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695EFAE-97D9-482A-8603-BDA4FE5A83E6}" type="datetimeFigureOut">
              <a:rPr lang="en-US" smtClean="0"/>
              <a:t>8/25/2017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E00A-457A-4DC3-AA03-374ABBD35A5E}" type="slidenum">
              <a:rPr lang="en-US" smtClean="0"/>
              <a:t>‹#›</a:t>
            </a:fld>
            <a:endParaRPr lang="en-US"/>
          </a:p>
        </p:txBody>
      </p:sp>
    </p:spTree>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130562206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image" Target="../media/image4.png"/><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562381577"/>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706" r:id="rId15"/>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DF01D69-A501-704B-80CB-1B3152437FD0}" type="slidenum">
              <a:rPr lang="en-US" smtClean="0"/>
              <a:t>‹#›</a:t>
            </a:fld>
            <a:endParaRPr lang="en-US"/>
          </a:p>
        </p:txBody>
      </p:sp>
    </p:spTree>
    <p:extLst>
      <p:ext uri="{BB962C8B-B14F-4D97-AF65-F5344CB8AC3E}">
        <p14:creationId xmlns:p14="http://schemas.microsoft.com/office/powerpoint/2010/main" val="135114168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16" name="Picture 15" descr="StackedISWhite.png"/>
          <p:cNvPicPr>
            <a:picLocks noChangeAspect="1"/>
          </p:cNvPicPr>
          <p:nvPr/>
        </p:nvPicPr>
        <p:blipFill>
          <a:blip r:embed="rId21"/>
          <a:stretch>
            <a:fillRect/>
          </a:stretch>
        </p:blipFill>
        <p:spPr>
          <a:xfrm>
            <a:off x="8294375" y="4805888"/>
            <a:ext cx="314741" cy="295944"/>
          </a:xfrm>
          <a:prstGeom prst="rect">
            <a:avLst/>
          </a:prstGeom>
        </p:spPr>
      </p:pic>
      <p:cxnSp>
        <p:nvCxnSpPr>
          <p:cNvPr id="37" name="Straight Connector 36"/>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9921127"/>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4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8" Type="http://schemas.openxmlformats.org/officeDocument/2006/relationships/hyperlink" Target="http://colah.github.io/posts/2015-08-Understanding-LSTMs/" TargetMode="External"/><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5.xml"/><Relationship Id="rId6" Type="http://schemas.openxmlformats.org/officeDocument/2006/relationships/image" Target="../media/image80.png"/><Relationship Id="rId5" Type="http://schemas.openxmlformats.org/officeDocument/2006/relationships/image" Target="../media/image7.png"/><Relationship Id="rId4" Type="http://schemas.openxmlformats.org/officeDocument/2006/relationships/image" Target="../media/image60.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5.xml"/><Relationship Id="rId6" Type="http://schemas.openxmlformats.org/officeDocument/2006/relationships/image" Target="../media/image80.png"/><Relationship Id="rId5" Type="http://schemas.openxmlformats.org/officeDocument/2006/relationships/image" Target="../media/image7.png"/><Relationship Id="rId4" Type="http://schemas.openxmlformats.org/officeDocument/2006/relationships/image" Target="../media/image60.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5.xml"/><Relationship Id="rId6" Type="http://schemas.openxmlformats.org/officeDocument/2006/relationships/image" Target="../media/image80.png"/><Relationship Id="rId5" Type="http://schemas.openxmlformats.org/officeDocument/2006/relationships/image" Target="../media/image7.png"/><Relationship Id="rId4" Type="http://schemas.openxmlformats.org/officeDocument/2006/relationships/image" Target="../media/image60.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5.xml"/><Relationship Id="rId6" Type="http://schemas.openxmlformats.org/officeDocument/2006/relationships/image" Target="../media/image80.png"/><Relationship Id="rId5" Type="http://schemas.openxmlformats.org/officeDocument/2006/relationships/image" Target="../media/image7.png"/><Relationship Id="rId4" Type="http://schemas.openxmlformats.org/officeDocument/2006/relationships/image" Target="../media/image60.pn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8.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45.xml"/><Relationship Id="rId6" Type="http://schemas.openxmlformats.org/officeDocument/2006/relationships/image" Target="../media/image80.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0.png"/><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5.xml"/><Relationship Id="rId6" Type="http://schemas.openxmlformats.org/officeDocument/2006/relationships/image" Target="../media/image80.png"/><Relationship Id="rId5" Type="http://schemas.openxmlformats.org/officeDocument/2006/relationships/image" Target="../media/image7.png"/><Relationship Id="rId4" Type="http://schemas.openxmlformats.org/officeDocument/2006/relationships/image" Target="../media/image60.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5.xml"/><Relationship Id="rId6" Type="http://schemas.openxmlformats.org/officeDocument/2006/relationships/image" Target="../media/image80.png"/><Relationship Id="rId5" Type="http://schemas.openxmlformats.org/officeDocument/2006/relationships/image" Target="../media/image7.png"/><Relationship Id="rId4" Type="http://schemas.openxmlformats.org/officeDocument/2006/relationships/image" Target="../media/image60.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5.xml"/><Relationship Id="rId6" Type="http://schemas.openxmlformats.org/officeDocument/2006/relationships/image" Target="../media/image80.png"/><Relationship Id="rId11" Type="http://schemas.openxmlformats.org/officeDocument/2006/relationships/image" Target="../media/image20.png"/><Relationship Id="rId5" Type="http://schemas.openxmlformats.org/officeDocument/2006/relationships/image" Target="../media/image7.png"/><Relationship Id="rId10" Type="http://schemas.openxmlformats.org/officeDocument/2006/relationships/image" Target="../media/image19.png"/><Relationship Id="rId4" Type="http://schemas.openxmlformats.org/officeDocument/2006/relationships/image" Target="../media/image60.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5.xml"/><Relationship Id="rId6" Type="http://schemas.openxmlformats.org/officeDocument/2006/relationships/image" Target="../media/image80.png"/><Relationship Id="rId11" Type="http://schemas.openxmlformats.org/officeDocument/2006/relationships/image" Target="../media/image20.png"/><Relationship Id="rId5" Type="http://schemas.openxmlformats.org/officeDocument/2006/relationships/image" Target="../media/image7.png"/><Relationship Id="rId10" Type="http://schemas.openxmlformats.org/officeDocument/2006/relationships/image" Target="../media/image19.png"/><Relationship Id="rId4" Type="http://schemas.openxmlformats.org/officeDocument/2006/relationships/image" Target="../media/image60.png"/><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5.xml"/><Relationship Id="rId6" Type="http://schemas.openxmlformats.org/officeDocument/2006/relationships/image" Target="../media/image80.png"/><Relationship Id="rId11" Type="http://schemas.openxmlformats.org/officeDocument/2006/relationships/image" Target="../media/image20.png"/><Relationship Id="rId5" Type="http://schemas.openxmlformats.org/officeDocument/2006/relationships/image" Target="../media/image7.png"/><Relationship Id="rId10" Type="http://schemas.openxmlformats.org/officeDocument/2006/relationships/image" Target="../media/image19.png"/><Relationship Id="rId4" Type="http://schemas.openxmlformats.org/officeDocument/2006/relationships/image" Target="../media/image60.png"/><Relationship Id="rId9" Type="http://schemas.openxmlformats.org/officeDocument/2006/relationships/image" Target="../media/image18.png"/></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5.xml"/><Relationship Id="rId6" Type="http://schemas.openxmlformats.org/officeDocument/2006/relationships/image" Target="../media/image80.png"/><Relationship Id="rId5" Type="http://schemas.openxmlformats.org/officeDocument/2006/relationships/image" Target="../media/image7.png"/><Relationship Id="rId4" Type="http://schemas.openxmlformats.org/officeDocument/2006/relationships/image" Target="../media/image60.png"/><Relationship Id="rId9" Type="http://schemas.openxmlformats.org/officeDocument/2006/relationships/image" Target="../media/image22.png"/></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5.xml"/><Relationship Id="rId6" Type="http://schemas.openxmlformats.org/officeDocument/2006/relationships/image" Target="../media/image80.png"/><Relationship Id="rId5" Type="http://schemas.openxmlformats.org/officeDocument/2006/relationships/image" Target="../media/image7.png"/><Relationship Id="rId4" Type="http://schemas.openxmlformats.org/officeDocument/2006/relationships/image" Target="../media/image60.png"/><Relationship Id="rId9" Type="http://schemas.openxmlformats.org/officeDocument/2006/relationships/image" Target="../media/image22.png"/></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5.xml"/><Relationship Id="rId6" Type="http://schemas.openxmlformats.org/officeDocument/2006/relationships/image" Target="../media/image80.png"/><Relationship Id="rId5" Type="http://schemas.openxmlformats.org/officeDocument/2006/relationships/image" Target="../media/image7.png"/><Relationship Id="rId4" Type="http://schemas.openxmlformats.org/officeDocument/2006/relationships/image" Target="../media/image60.png"/><Relationship Id="rId9" Type="http://schemas.openxmlformats.org/officeDocument/2006/relationships/image" Target="../media/image22.png"/></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5.xml"/><Relationship Id="rId6" Type="http://schemas.openxmlformats.org/officeDocument/2006/relationships/image" Target="../media/image80.png"/><Relationship Id="rId5" Type="http://schemas.openxmlformats.org/officeDocument/2006/relationships/image" Target="../media/image7.png"/><Relationship Id="rId10" Type="http://schemas.openxmlformats.org/officeDocument/2006/relationships/image" Target="../media/image25.png"/><Relationship Id="rId4" Type="http://schemas.openxmlformats.org/officeDocument/2006/relationships/image" Target="../media/image60.png"/><Relationship Id="rId9" Type="http://schemas.openxmlformats.org/officeDocument/2006/relationships/image" Target="../media/image24.png"/></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5.xml"/><Relationship Id="rId6" Type="http://schemas.openxmlformats.org/officeDocument/2006/relationships/image" Target="../media/image80.png"/><Relationship Id="rId5" Type="http://schemas.openxmlformats.org/officeDocument/2006/relationships/image" Target="../media/image7.png"/><Relationship Id="rId10" Type="http://schemas.openxmlformats.org/officeDocument/2006/relationships/image" Target="../media/image25.png"/><Relationship Id="rId4" Type="http://schemas.openxmlformats.org/officeDocument/2006/relationships/image" Target="../media/image60.png"/><Relationship Id="rId9"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444687" y="2268408"/>
            <a:ext cx="8212886" cy="1102519"/>
          </a:xfrm>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US" sz="4000" b="0" i="0" u="none" strike="noStrike" cap="none" dirty="0" smtClean="0">
                <a:solidFill>
                  <a:srgbClr val="FFFFFF"/>
                </a:solidFill>
                <a:latin typeface="Avenir Book" charset="0"/>
                <a:ea typeface="Avenir Book" charset="0"/>
                <a:cs typeface="Avenir Book" charset="0"/>
                <a:sym typeface="Source Code Pro"/>
              </a:rPr>
              <a:t>LSTM (Long-Short Term Memory) RNNs</a:t>
            </a:r>
            <a:endParaRPr lang="en" sz="4000" b="0" i="0" u="none" strike="noStrike" cap="none" dirty="0">
              <a:solidFill>
                <a:srgbClr val="FFFFFF"/>
              </a:solidFill>
              <a:latin typeface="Avenir Book" charset="0"/>
              <a:ea typeface="Avenir Book" charset="0"/>
              <a:cs typeface="Avenir Book" charset="0"/>
              <a:sym typeface="Source Code Pro"/>
            </a:endParaRPr>
          </a:p>
        </p:txBody>
      </p:sp>
      <p:cxnSp>
        <p:nvCxnSpPr>
          <p:cNvPr id="56" name="Shape 56"/>
          <p:cNvCxnSpPr/>
          <p:nvPr/>
        </p:nvCxnSpPr>
        <p:spPr>
          <a:xfrm>
            <a:off x="609600" y="2679200"/>
            <a:ext cx="6264600" cy="0"/>
          </a:xfrm>
          <a:prstGeom prst="straightConnector1">
            <a:avLst/>
          </a:prstGeom>
          <a:noFill/>
          <a:ln w="19050" cap="flat" cmpd="sng">
            <a:solidFill>
              <a:srgbClr val="3A9ED9"/>
            </a:solidFill>
            <a:prstDash val="solid"/>
            <a:round/>
            <a:headEnd type="none" w="med" len="med"/>
            <a:tailEnd type="none" w="med" len="med"/>
          </a:ln>
        </p:spPr>
      </p:cxnSp>
    </p:spTree>
    <p:extLst>
      <p:ext uri="{BB962C8B-B14F-4D97-AF65-F5344CB8AC3E}">
        <p14:creationId xmlns:p14="http://schemas.microsoft.com/office/powerpoint/2010/main" val="14535023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1500" dirty="0" smtClean="0"/>
              <a:t>This presentation is for informational purposes only. INTEL MAKES NO WARRANTIES, EXPRESS OR IMPLIED, IN THIS SUMMARY. </a:t>
            </a:r>
          </a:p>
          <a:p>
            <a:r>
              <a:rPr lang="en-US" sz="1500" dirty="0" smtClean="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1500" dirty="0" smtClean="0">
                <a:hlinkClick r:id="rId2"/>
              </a:rPr>
              <a:t>intel.com</a:t>
            </a:r>
            <a:r>
              <a:rPr lang="en-US" sz="1500" dirty="0" smtClean="0"/>
              <a:t>. </a:t>
            </a:r>
          </a:p>
          <a:p>
            <a:r>
              <a:rPr lang="en-US" sz="1500" dirty="0" smtClean="0"/>
              <a:t>This sample source code is released under the </a:t>
            </a:r>
            <a:r>
              <a:rPr lang="en-US" sz="1500" dirty="0" smtClean="0">
                <a:hlinkClick r:id="rId3"/>
              </a:rPr>
              <a:t>Intel Sample Source Code License Agreement</a:t>
            </a:r>
            <a:r>
              <a:rPr lang="en-US" sz="1500" dirty="0" smtClean="0"/>
              <a:t>. </a:t>
            </a:r>
          </a:p>
          <a:p>
            <a:r>
              <a:rPr lang="en-US" sz="1500" dirty="0" smtClean="0"/>
              <a:t>Intel and the Intel logo are trademarks of Intel Corporation in the U.S. and/or other countries. </a:t>
            </a:r>
          </a:p>
          <a:p>
            <a:r>
              <a:rPr lang="en-US" sz="1500" dirty="0" smtClean="0"/>
              <a:t>*Other names and brands may be claimed as the property of others. </a:t>
            </a:r>
          </a:p>
          <a:p>
            <a:r>
              <a:rPr lang="en-US" sz="1500" dirty="0" smtClean="0"/>
              <a:t>Copyright © 2017, Intel Corporation. All rights reserved. </a:t>
            </a:r>
            <a:endParaRPr lang="en-US" sz="1500" dirty="0"/>
          </a:p>
        </p:txBody>
      </p:sp>
    </p:spTree>
    <p:extLst>
      <p:ext uri="{BB962C8B-B14F-4D97-AF65-F5344CB8AC3E}">
        <p14:creationId xmlns:p14="http://schemas.microsoft.com/office/powerpoint/2010/main" val="1038116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Issue: Standard RNNs have poor memory</a:t>
            </a:r>
            <a:endParaRPr lang="en-US" dirty="0">
              <a:latin typeface="Avenir Book" charset="0"/>
              <a:ea typeface="Avenir Book" charset="0"/>
              <a:cs typeface="Avenir Book" charset="0"/>
            </a:endParaRPr>
          </a:p>
        </p:txBody>
      </p:sp>
      <p:sp>
        <p:nvSpPr>
          <p:cNvPr id="75" name="Rectangle 74"/>
          <p:cNvSpPr/>
          <p:nvPr/>
        </p:nvSpPr>
        <p:spPr>
          <a:xfrm>
            <a:off x="398352" y="1227244"/>
            <a:ext cx="8192764" cy="1785104"/>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Transition Matrix necessarily weakens signal</a:t>
            </a:r>
          </a:p>
          <a:p>
            <a:pPr marL="457200" lvl="0" indent="-457200">
              <a:buFont typeface="Arial" charset="0"/>
              <a:buChar char="•"/>
            </a:pPr>
            <a:r>
              <a:rPr lang="en-US" sz="2200" dirty="0" smtClean="0">
                <a:latin typeface="Avenir Book" charset="0"/>
                <a:ea typeface="Avenir Book" charset="0"/>
                <a:cs typeface="Avenir Book" charset="0"/>
              </a:rPr>
              <a:t>Need a structure that can leave some dimensions unchanged over many steps</a:t>
            </a:r>
          </a:p>
          <a:p>
            <a:pPr marL="457200" lvl="0" indent="-457200">
              <a:buFont typeface="Arial" charset="0"/>
              <a:buChar char="•"/>
            </a:pPr>
            <a:r>
              <a:rPr lang="en-US" sz="2200" dirty="0" smtClean="0">
                <a:latin typeface="Avenir Book" charset="0"/>
                <a:ea typeface="Avenir Book" charset="0"/>
                <a:cs typeface="Avenir Book" charset="0"/>
              </a:rPr>
              <a:t>This is the problem addressed by so-called Long-Short Term Memory RNNs (LSTM).</a:t>
            </a:r>
            <a:endParaRPr lang="en-US" sz="1800" dirty="0" smtClean="0">
              <a:latin typeface="Avenir Book" charset="0"/>
              <a:ea typeface="Avenir Book" charset="0"/>
              <a:cs typeface="Avenir Book" charset="0"/>
            </a:endParaRPr>
          </a:p>
        </p:txBody>
      </p:sp>
    </p:spTree>
    <p:extLst>
      <p:ext uri="{BB962C8B-B14F-4D97-AF65-F5344CB8AC3E}">
        <p14:creationId xmlns:p14="http://schemas.microsoft.com/office/powerpoint/2010/main" val="19808063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Idea: Make “remembering” easy</a:t>
            </a:r>
            <a:endParaRPr lang="en-US" dirty="0">
              <a:latin typeface="Avenir Book" charset="0"/>
              <a:ea typeface="Avenir Book" charset="0"/>
              <a:cs typeface="Avenir Book" charset="0"/>
            </a:endParaRPr>
          </a:p>
        </p:txBody>
      </p:sp>
      <p:sp>
        <p:nvSpPr>
          <p:cNvPr id="75" name="Rectangle 74"/>
          <p:cNvSpPr/>
          <p:nvPr/>
        </p:nvSpPr>
        <p:spPr>
          <a:xfrm>
            <a:off x="398352" y="1227244"/>
            <a:ext cx="8192764" cy="2062103"/>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Define a more complicated update mechanism for the changing of the internal state.</a:t>
            </a:r>
          </a:p>
          <a:p>
            <a:pPr marL="457200" lvl="0" indent="-457200">
              <a:buFont typeface="Arial" charset="0"/>
              <a:buChar char="•"/>
            </a:pPr>
            <a:r>
              <a:rPr lang="en-US" sz="2200" dirty="0" smtClean="0">
                <a:latin typeface="Avenir Book" charset="0"/>
                <a:ea typeface="Avenir Book" charset="0"/>
                <a:cs typeface="Avenir Book" charset="0"/>
              </a:rPr>
              <a:t>By default, LSTMs remember the information from the last step.</a:t>
            </a:r>
          </a:p>
          <a:p>
            <a:pPr marL="457200" lvl="0" indent="-457200">
              <a:buFont typeface="Arial" charset="0"/>
              <a:buChar char="•"/>
            </a:pPr>
            <a:r>
              <a:rPr lang="en-US" sz="2200" dirty="0" smtClean="0">
                <a:latin typeface="Avenir Book" charset="0"/>
                <a:ea typeface="Avenir Book" charset="0"/>
                <a:cs typeface="Avenir Book" charset="0"/>
              </a:rPr>
              <a:t>Items are overwritten as an active choice.</a:t>
            </a:r>
          </a:p>
          <a:p>
            <a:pPr marL="457200" lvl="0" indent="-457200">
              <a:buFont typeface="Arial" charset="0"/>
              <a:buChar char="•"/>
            </a:pPr>
            <a:endParaRPr lang="en-US" sz="1800" dirty="0" smtClean="0">
              <a:latin typeface="Avenir Book" charset="0"/>
              <a:ea typeface="Avenir Book" charset="0"/>
              <a:cs typeface="Avenir Book" charset="0"/>
            </a:endParaRPr>
          </a:p>
        </p:txBody>
      </p:sp>
    </p:spTree>
    <p:extLst>
      <p:ext uri="{BB962C8B-B14F-4D97-AF65-F5344CB8AC3E}">
        <p14:creationId xmlns:p14="http://schemas.microsoft.com/office/powerpoint/2010/main" val="20860722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9" name="TextBox 8"/>
          <p:cNvSpPr txBox="1"/>
          <p:nvPr/>
        </p:nvSpPr>
        <p:spPr>
          <a:xfrm>
            <a:off x="6462512" y="3285667"/>
            <a:ext cx="2456122" cy="707886"/>
          </a:xfrm>
          <a:prstGeom prst="rect">
            <a:avLst/>
          </a:prstGeom>
          <a:noFill/>
        </p:spPr>
        <p:txBody>
          <a:bodyPr wrap="none" rtlCol="0">
            <a:spAutoFit/>
          </a:bodyPr>
          <a:lstStyle/>
          <a:p>
            <a:r>
              <a:rPr lang="en-US" sz="2000" dirty="0" smtClean="0">
                <a:solidFill>
                  <a:srgbClr val="FF0000"/>
                </a:solidFill>
                <a:latin typeface="Avenir Book" charset="0"/>
                <a:ea typeface="Avenir Book" charset="0"/>
                <a:cs typeface="Avenir Book" charset="0"/>
              </a:rPr>
              <a:t>output (which also </a:t>
            </a:r>
          </a:p>
          <a:p>
            <a:r>
              <a:rPr lang="en-US" sz="2000" dirty="0" smtClean="0">
                <a:solidFill>
                  <a:srgbClr val="FF0000"/>
                </a:solidFill>
                <a:latin typeface="Avenir Book" charset="0"/>
                <a:ea typeface="Avenir Book" charset="0"/>
                <a:cs typeface="Avenir Book" charset="0"/>
              </a:rPr>
              <a:t>feeds into next unit)</a:t>
            </a:r>
            <a:endParaRPr lang="en-US" sz="2000" dirty="0">
              <a:solidFill>
                <a:srgbClr val="FF0000"/>
              </a:solidFill>
              <a:latin typeface="Avenir Book" charset="0"/>
              <a:ea typeface="Avenir Book" charset="0"/>
              <a:cs typeface="Avenir Book" charset="0"/>
            </a:endParaRPr>
          </a:p>
        </p:txBody>
      </p:sp>
      <p:sp>
        <p:nvSpPr>
          <p:cNvPr id="10" name="TextBox 9"/>
          <p:cNvSpPr txBox="1"/>
          <p:nvPr/>
        </p:nvSpPr>
        <p:spPr>
          <a:xfrm>
            <a:off x="6462512" y="2175625"/>
            <a:ext cx="1197764" cy="400110"/>
          </a:xfrm>
          <a:prstGeom prst="rect">
            <a:avLst/>
          </a:prstGeom>
          <a:noFill/>
        </p:spPr>
        <p:txBody>
          <a:bodyPr wrap="none" rtlCol="0">
            <a:spAutoFit/>
          </a:bodyPr>
          <a:lstStyle/>
          <a:p>
            <a:r>
              <a:rPr lang="en-US" sz="2000" dirty="0">
                <a:solidFill>
                  <a:srgbClr val="FF0000"/>
                </a:solidFill>
                <a:latin typeface="Avenir Book" charset="0"/>
                <a:ea typeface="Avenir Book" charset="0"/>
                <a:cs typeface="Avenir Book" charset="0"/>
              </a:rPr>
              <a:t>cell state</a:t>
            </a:r>
          </a:p>
        </p:txBody>
      </p:sp>
      <p:cxnSp>
        <p:nvCxnSpPr>
          <p:cNvPr id="11" name="Straight Arrow Connector 10"/>
          <p:cNvCxnSpPr/>
          <p:nvPr/>
        </p:nvCxnSpPr>
        <p:spPr>
          <a:xfrm flipH="1">
            <a:off x="6061951" y="2396590"/>
            <a:ext cx="31739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6116514" y="3481875"/>
            <a:ext cx="31739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539600" y="1065583"/>
            <a:ext cx="949299" cy="400110"/>
          </a:xfrm>
          <a:prstGeom prst="rect">
            <a:avLst/>
          </a:prstGeom>
          <a:noFill/>
        </p:spPr>
        <p:txBody>
          <a:bodyPr wrap="none" rtlCol="0">
            <a:spAutoFit/>
          </a:bodyPr>
          <a:lstStyle/>
          <a:p>
            <a:r>
              <a:rPr lang="en-US" sz="2000" dirty="0" smtClean="0">
                <a:solidFill>
                  <a:srgbClr val="FF0000"/>
                </a:solidFill>
                <a:latin typeface="Avenir Book" charset="0"/>
                <a:ea typeface="Avenir Book" charset="0"/>
                <a:cs typeface="Avenir Book" charset="0"/>
              </a:rPr>
              <a:t>output</a:t>
            </a:r>
            <a:endParaRPr lang="en-US" sz="2000" dirty="0">
              <a:solidFill>
                <a:srgbClr val="FF0000"/>
              </a:solidFill>
              <a:latin typeface="Avenir Book" charset="0"/>
              <a:ea typeface="Avenir Book" charset="0"/>
              <a:cs typeface="Avenir Book" charset="0"/>
            </a:endParaRPr>
          </a:p>
        </p:txBody>
      </p:sp>
      <p:cxnSp>
        <p:nvCxnSpPr>
          <p:cNvPr id="13" name="Straight Arrow Connector 12"/>
          <p:cNvCxnSpPr/>
          <p:nvPr/>
        </p:nvCxnSpPr>
        <p:spPr>
          <a:xfrm flipH="1">
            <a:off x="5107001" y="1281877"/>
            <a:ext cx="31739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639452" y="4442911"/>
            <a:ext cx="6393097" cy="369332"/>
          </a:xfrm>
          <a:prstGeom prst="rect">
            <a:avLst/>
          </a:prstGeom>
          <a:noFill/>
        </p:spPr>
        <p:txBody>
          <a:bodyPr wrap="none" rtlCol="0">
            <a:spAutoFit/>
          </a:bodyPr>
          <a:lstStyle/>
          <a:p>
            <a:r>
              <a:rPr lang="en-US" sz="1800" dirty="0">
                <a:latin typeface="Avenir Book" charset="0"/>
                <a:ea typeface="Avenir Book" charset="0"/>
                <a:cs typeface="Avenir Book" charset="0"/>
                <a:hlinkClick r:id="rId8"/>
              </a:rPr>
              <a:t>http://</a:t>
            </a:r>
            <a:r>
              <a:rPr lang="en-US" sz="1800" dirty="0" err="1">
                <a:latin typeface="Avenir Book" charset="0"/>
                <a:ea typeface="Avenir Book" charset="0"/>
                <a:cs typeface="Avenir Book" charset="0"/>
                <a:hlinkClick r:id="rId8"/>
              </a:rPr>
              <a:t>colah.github.io</a:t>
            </a:r>
            <a:r>
              <a:rPr lang="en-US" sz="1800" dirty="0">
                <a:latin typeface="Avenir Book" charset="0"/>
                <a:ea typeface="Avenir Book" charset="0"/>
                <a:cs typeface="Avenir Book" charset="0"/>
                <a:hlinkClick r:id="rId8"/>
              </a:rPr>
              <a:t>/posts/2015-08-Understanding-LSTMs/</a:t>
            </a:r>
            <a:endParaRPr lang="en-US" sz="1800" dirty="0">
              <a:latin typeface="Avenir Book" charset="0"/>
              <a:ea typeface="Avenir Book" charset="0"/>
              <a:cs typeface="Avenir Book" charset="0"/>
            </a:endParaRPr>
          </a:p>
        </p:txBody>
      </p:sp>
      <p:sp>
        <p:nvSpPr>
          <p:cNvPr id="15" name="TextBox 14"/>
          <p:cNvSpPr txBox="1"/>
          <p:nvPr/>
        </p:nvSpPr>
        <p:spPr>
          <a:xfrm>
            <a:off x="3124646" y="4167735"/>
            <a:ext cx="772969" cy="400110"/>
          </a:xfrm>
          <a:prstGeom prst="rect">
            <a:avLst/>
          </a:prstGeom>
          <a:noFill/>
        </p:spPr>
        <p:txBody>
          <a:bodyPr wrap="none" rtlCol="0">
            <a:spAutoFit/>
          </a:bodyPr>
          <a:lstStyle/>
          <a:p>
            <a:r>
              <a:rPr lang="en-US" sz="2000" dirty="0" smtClean="0">
                <a:solidFill>
                  <a:srgbClr val="FF0000"/>
                </a:solidFill>
                <a:latin typeface="Avenir Book" charset="0"/>
                <a:ea typeface="Avenir Book" charset="0"/>
                <a:cs typeface="Avenir Book" charset="0"/>
              </a:rPr>
              <a:t>input</a:t>
            </a:r>
            <a:endParaRPr lang="en-US" sz="2000" dirty="0">
              <a:solidFill>
                <a:srgbClr val="FF0000"/>
              </a:solidFill>
              <a:latin typeface="Avenir Book" charset="0"/>
              <a:ea typeface="Avenir Book" charset="0"/>
              <a:cs typeface="Avenir Book" charset="0"/>
            </a:endParaRPr>
          </a:p>
        </p:txBody>
      </p:sp>
      <p:cxnSp>
        <p:nvCxnSpPr>
          <p:cNvPr id="16" name="Straight Arrow Connector 15"/>
          <p:cNvCxnSpPr/>
          <p:nvPr/>
        </p:nvCxnSpPr>
        <p:spPr>
          <a:xfrm flipH="1">
            <a:off x="2692047" y="4384029"/>
            <a:ext cx="31739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3437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0" grpId="1"/>
      <p:bldP spid="19"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4" name="Rectangle 13"/>
          <p:cNvSpPr/>
          <p:nvPr/>
        </p:nvSpPr>
        <p:spPr>
          <a:xfrm>
            <a:off x="585082" y="2109987"/>
            <a:ext cx="5619681" cy="5143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5" name="TextBox 14"/>
          <p:cNvSpPr txBox="1"/>
          <p:nvPr/>
        </p:nvSpPr>
        <p:spPr>
          <a:xfrm>
            <a:off x="5946010" y="1184193"/>
            <a:ext cx="2890171" cy="707886"/>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cell state gets updated in two stages</a:t>
            </a:r>
            <a:endParaRPr lang="en-US" sz="2000" dirty="0">
              <a:solidFill>
                <a:srgbClr val="FF0000"/>
              </a:solidFill>
              <a:latin typeface="Avenir Book" charset="0"/>
              <a:ea typeface="Avenir Book" charset="0"/>
              <a:cs typeface="Avenir Book" charset="0"/>
            </a:endParaRPr>
          </a:p>
        </p:txBody>
      </p:sp>
    </p:spTree>
    <p:extLst>
      <p:ext uri="{BB962C8B-B14F-4D97-AF65-F5344CB8AC3E}">
        <p14:creationId xmlns:p14="http://schemas.microsoft.com/office/powerpoint/2010/main" val="1190642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4" name="Rectangle 13"/>
          <p:cNvSpPr/>
          <p:nvPr/>
        </p:nvSpPr>
        <p:spPr>
          <a:xfrm>
            <a:off x="585082" y="2109987"/>
            <a:ext cx="5619681" cy="5143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5" name="TextBox 14"/>
          <p:cNvSpPr txBox="1"/>
          <p:nvPr/>
        </p:nvSpPr>
        <p:spPr>
          <a:xfrm>
            <a:off x="5946010" y="1184193"/>
            <a:ext cx="2890171" cy="707886"/>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cell state gets updated in two stages</a:t>
            </a:r>
            <a:endParaRPr lang="en-US" sz="2000" dirty="0">
              <a:solidFill>
                <a:srgbClr val="FF0000"/>
              </a:solidFill>
              <a:latin typeface="Avenir Book" charset="0"/>
              <a:ea typeface="Avenir Book" charset="0"/>
              <a:cs typeface="Avenir Book" charset="0"/>
            </a:endParaRPr>
          </a:p>
        </p:txBody>
      </p:sp>
      <p:sp>
        <p:nvSpPr>
          <p:cNvPr id="10" name="TextBox 9"/>
          <p:cNvSpPr txBox="1"/>
          <p:nvPr/>
        </p:nvSpPr>
        <p:spPr>
          <a:xfrm>
            <a:off x="997143" y="998941"/>
            <a:ext cx="1663995" cy="707886"/>
          </a:xfrm>
          <a:prstGeom prst="rect">
            <a:avLst/>
          </a:prstGeom>
          <a:noFill/>
        </p:spPr>
        <p:txBody>
          <a:bodyPr wrap="square" rtlCol="0">
            <a:spAutoFit/>
          </a:bodyPr>
          <a:lstStyle/>
          <a:p>
            <a:r>
              <a:rPr lang="en-US" sz="2000" smtClean="0">
                <a:solidFill>
                  <a:srgbClr val="FF0000"/>
                </a:solidFill>
                <a:latin typeface="Avenir Book" charset="0"/>
                <a:ea typeface="Avenir Book" charset="0"/>
                <a:cs typeface="Avenir Book" charset="0"/>
              </a:rPr>
              <a:t>Decide what to “forget”</a:t>
            </a:r>
            <a:endParaRPr lang="en-US" sz="2000" dirty="0">
              <a:solidFill>
                <a:srgbClr val="FF0000"/>
              </a:solidFill>
              <a:latin typeface="Avenir Book" charset="0"/>
              <a:ea typeface="Avenir Book" charset="0"/>
              <a:cs typeface="Avenir Book" charset="0"/>
            </a:endParaRPr>
          </a:p>
        </p:txBody>
      </p:sp>
      <p:cxnSp>
        <p:nvCxnSpPr>
          <p:cNvPr id="11" name="Straight Arrow Connector 10"/>
          <p:cNvCxnSpPr/>
          <p:nvPr/>
        </p:nvCxnSpPr>
        <p:spPr>
          <a:xfrm>
            <a:off x="2204770" y="1706827"/>
            <a:ext cx="312263" cy="524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721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4" name="Rectangle 13"/>
          <p:cNvSpPr/>
          <p:nvPr/>
        </p:nvSpPr>
        <p:spPr>
          <a:xfrm>
            <a:off x="585082" y="2109987"/>
            <a:ext cx="5619681" cy="5143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5" name="TextBox 14"/>
          <p:cNvSpPr txBox="1"/>
          <p:nvPr/>
        </p:nvSpPr>
        <p:spPr>
          <a:xfrm>
            <a:off x="5946010" y="1184193"/>
            <a:ext cx="2890171" cy="707886"/>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cell state gets updated in two stages</a:t>
            </a:r>
            <a:endParaRPr lang="en-US" sz="2000" dirty="0">
              <a:solidFill>
                <a:srgbClr val="FF0000"/>
              </a:solidFill>
              <a:latin typeface="Avenir Book" charset="0"/>
              <a:ea typeface="Avenir Book" charset="0"/>
              <a:cs typeface="Avenir Book" charset="0"/>
            </a:endParaRPr>
          </a:p>
        </p:txBody>
      </p:sp>
      <p:sp>
        <p:nvSpPr>
          <p:cNvPr id="10" name="TextBox 9"/>
          <p:cNvSpPr txBox="1"/>
          <p:nvPr/>
        </p:nvSpPr>
        <p:spPr>
          <a:xfrm>
            <a:off x="2650097" y="846578"/>
            <a:ext cx="1746057" cy="707886"/>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Add </a:t>
            </a:r>
            <a:r>
              <a:rPr lang="en-US" sz="2000" smtClean="0">
                <a:solidFill>
                  <a:srgbClr val="FF0000"/>
                </a:solidFill>
                <a:latin typeface="Avenir Book" charset="0"/>
                <a:ea typeface="Avenir Book" charset="0"/>
                <a:cs typeface="Avenir Book" charset="0"/>
              </a:rPr>
              <a:t>in “new”</a:t>
            </a:r>
            <a:endParaRPr lang="en-US" sz="2000" dirty="0" smtClean="0">
              <a:solidFill>
                <a:srgbClr val="FF0000"/>
              </a:solidFill>
              <a:latin typeface="Avenir Book" charset="0"/>
              <a:ea typeface="Avenir Book" charset="0"/>
              <a:cs typeface="Avenir Book" charset="0"/>
            </a:endParaRPr>
          </a:p>
          <a:p>
            <a:r>
              <a:rPr lang="en-US" sz="2000" dirty="0" smtClean="0">
                <a:solidFill>
                  <a:srgbClr val="FF0000"/>
                </a:solidFill>
                <a:latin typeface="Avenir Book" charset="0"/>
                <a:ea typeface="Avenir Book" charset="0"/>
                <a:cs typeface="Avenir Book" charset="0"/>
              </a:rPr>
              <a:t>information</a:t>
            </a:r>
            <a:endParaRPr lang="en-US" sz="2000" dirty="0">
              <a:solidFill>
                <a:srgbClr val="FF0000"/>
              </a:solidFill>
              <a:latin typeface="Avenir Book" charset="0"/>
              <a:ea typeface="Avenir Book" charset="0"/>
              <a:cs typeface="Avenir Book" charset="0"/>
            </a:endParaRPr>
          </a:p>
        </p:txBody>
      </p:sp>
      <p:cxnSp>
        <p:nvCxnSpPr>
          <p:cNvPr id="11" name="Straight Arrow Connector 10"/>
          <p:cNvCxnSpPr/>
          <p:nvPr/>
        </p:nvCxnSpPr>
        <p:spPr>
          <a:xfrm>
            <a:off x="3482094" y="1623109"/>
            <a:ext cx="0" cy="5751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0680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0" name="TextBox 9"/>
          <p:cNvSpPr txBox="1"/>
          <p:nvPr/>
        </p:nvSpPr>
        <p:spPr>
          <a:xfrm>
            <a:off x="997143" y="998941"/>
            <a:ext cx="1663995" cy="707886"/>
          </a:xfrm>
          <a:prstGeom prst="rect">
            <a:avLst/>
          </a:prstGeom>
          <a:noFill/>
        </p:spPr>
        <p:txBody>
          <a:bodyPr wrap="square" rtlCol="0">
            <a:spAutoFit/>
          </a:bodyPr>
          <a:lstStyle/>
          <a:p>
            <a:r>
              <a:rPr lang="en-US" sz="2000" smtClean="0">
                <a:solidFill>
                  <a:srgbClr val="FF0000"/>
                </a:solidFill>
                <a:latin typeface="Avenir Book" charset="0"/>
                <a:ea typeface="Avenir Book" charset="0"/>
                <a:cs typeface="Avenir Book" charset="0"/>
              </a:rPr>
              <a:t>Decide what to “forget”</a:t>
            </a:r>
            <a:endParaRPr lang="en-US" sz="2000" dirty="0">
              <a:solidFill>
                <a:srgbClr val="FF0000"/>
              </a:solidFill>
              <a:latin typeface="Avenir Book" charset="0"/>
              <a:ea typeface="Avenir Book" charset="0"/>
              <a:cs typeface="Avenir Book" charset="0"/>
            </a:endParaRPr>
          </a:p>
        </p:txBody>
      </p:sp>
      <p:cxnSp>
        <p:nvCxnSpPr>
          <p:cNvPr id="11" name="Straight Arrow Connector 10"/>
          <p:cNvCxnSpPr/>
          <p:nvPr/>
        </p:nvCxnSpPr>
        <p:spPr>
          <a:xfrm>
            <a:off x="2204770" y="1706827"/>
            <a:ext cx="312263" cy="524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2124288" y="2713831"/>
                <a:ext cx="370130"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𝑓</m:t>
                          </m:r>
                        </m:e>
                        <m:sub>
                          <m:r>
                            <a:rPr lang="en-US" sz="2000" i="1">
                              <a:latin typeface="Cambria Math" charset="0"/>
                            </a:rPr>
                            <m:t>𝑡</m:t>
                          </m:r>
                        </m:sub>
                      </m:sSub>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2124288" y="2713831"/>
                <a:ext cx="370130" cy="307777"/>
              </a:xfrm>
              <a:prstGeom prst="rect">
                <a:avLst/>
              </a:prstGeom>
              <a:blipFill rotWithShape="0">
                <a:blip r:embed="rId8"/>
                <a:stretch>
                  <a:fillRect l="-9836" b="-39216"/>
                </a:stretch>
              </a:blipFill>
            </p:spPr>
            <p:txBody>
              <a:bodyPr/>
              <a:lstStyle/>
              <a:p>
                <a:r>
                  <a:rPr lang="en-US">
                    <a:noFill/>
                  </a:rPr>
                  <a:t> </a:t>
                </a:r>
              </a:p>
            </p:txBody>
          </p:sp>
        </mc:Fallback>
      </mc:AlternateContent>
      <p:cxnSp>
        <p:nvCxnSpPr>
          <p:cNvPr id="18" name="Straight Arrow Connector 17"/>
          <p:cNvCxnSpPr/>
          <p:nvPr/>
        </p:nvCxnSpPr>
        <p:spPr>
          <a:xfrm flipH="1" flipV="1">
            <a:off x="2403231" y="3516923"/>
            <a:ext cx="1510582" cy="80248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Rectangle 18"/>
              <p:cNvSpPr/>
              <p:nvPr/>
            </p:nvSpPr>
            <p:spPr>
              <a:xfrm>
                <a:off x="6600093" y="1210526"/>
                <a:ext cx="492095" cy="114644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14:m>
                  <m:oMathPara xmlns:m="http://schemas.openxmlformats.org/officeDocument/2006/math">
                    <m:oMathParaPr>
                      <m:jc m:val="centerGroup"/>
                    </m:oMathParaPr>
                    <m:oMath xmlns:m="http://schemas.openxmlformats.org/officeDocument/2006/math">
                      <m:sSub>
                        <m:sSubPr>
                          <m:ctrlPr>
                            <a:rPr lang="en-US" sz="1800" i="1" smtClean="0">
                              <a:solidFill>
                                <a:schemeClr val="bg1"/>
                              </a:solidFill>
                              <a:latin typeface="Cambria Math" panose="02040503050406030204" pitchFamily="18" charset="0"/>
                            </a:rPr>
                          </m:ctrlPr>
                        </m:sSubPr>
                        <m:e>
                          <m:r>
                            <a:rPr lang="en-US" sz="1800" i="1">
                              <a:solidFill>
                                <a:schemeClr val="bg1"/>
                              </a:solidFill>
                              <a:latin typeface="Cambria Math" charset="0"/>
                            </a:rPr>
                            <m:t>   </m:t>
                          </m:r>
                          <m:r>
                            <a:rPr lang="en-US" sz="1800" b="0" i="1" smtClean="0">
                              <a:solidFill>
                                <a:schemeClr val="bg1"/>
                              </a:solidFill>
                              <a:latin typeface="Cambria Math" charset="0"/>
                            </a:rPr>
                            <m:t>h</m:t>
                          </m:r>
                        </m:e>
                        <m:sub>
                          <m:r>
                            <a:rPr lang="en-US" sz="1800" i="1">
                              <a:solidFill>
                                <a:schemeClr val="bg1"/>
                              </a:solidFill>
                              <a:latin typeface="Cambria Math" charset="0"/>
                            </a:rPr>
                            <m:t>𝑡</m:t>
                          </m:r>
                          <m:r>
                            <a:rPr lang="en-US" sz="1800" b="0" i="1" smtClean="0">
                              <a:solidFill>
                                <a:schemeClr val="bg1"/>
                              </a:solidFill>
                              <a:latin typeface="Cambria Math" charset="0"/>
                            </a:rPr>
                            <m:t>−1</m:t>
                          </m:r>
                        </m:sub>
                      </m:sSub>
                    </m:oMath>
                  </m:oMathPara>
                </a14:m>
                <a:endParaRPr lang="en-US" sz="1800" dirty="0">
                  <a:solidFill>
                    <a:schemeClr val="bg1"/>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6600093" y="1210526"/>
                <a:ext cx="492095" cy="1146446"/>
              </a:xfrm>
              <a:prstGeom prst="rect">
                <a:avLst/>
              </a:prstGeom>
              <a:blipFill rotWithShape="0">
                <a:blip r:embed="rId9"/>
                <a:stretch>
                  <a:fillRect l="-36905" r="-10714" b="-46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6600093" y="2648419"/>
                <a:ext cx="492095" cy="114644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14:m>
                  <m:oMathPara xmlns:m="http://schemas.openxmlformats.org/officeDocument/2006/math">
                    <m:oMathParaPr>
                      <m:jc m:val="centerGroup"/>
                    </m:oMathParaPr>
                    <m:oMath xmlns:m="http://schemas.openxmlformats.org/officeDocument/2006/math">
                      <m:sSub>
                        <m:sSubPr>
                          <m:ctrlPr>
                            <a:rPr lang="en-US" sz="1800" i="1" smtClean="0">
                              <a:solidFill>
                                <a:schemeClr val="bg1"/>
                              </a:solidFill>
                              <a:latin typeface="Cambria Math" panose="02040503050406030204" pitchFamily="18" charset="0"/>
                            </a:rPr>
                          </m:ctrlPr>
                        </m:sSubPr>
                        <m:e>
                          <m:r>
                            <a:rPr lang="en-US" sz="1800" i="1">
                              <a:solidFill>
                                <a:schemeClr val="bg1"/>
                              </a:solidFill>
                              <a:latin typeface="Cambria Math" charset="0"/>
                            </a:rPr>
                            <m:t>   </m:t>
                          </m:r>
                          <m:r>
                            <a:rPr lang="en-US" sz="1800" b="0" i="1" smtClean="0">
                              <a:solidFill>
                                <a:schemeClr val="bg1"/>
                              </a:solidFill>
                              <a:latin typeface="Cambria Math" charset="0"/>
                            </a:rPr>
                            <m:t>𝑥</m:t>
                          </m:r>
                        </m:e>
                        <m:sub>
                          <m:r>
                            <a:rPr lang="en-US" sz="1800" i="1">
                              <a:solidFill>
                                <a:schemeClr val="bg1"/>
                              </a:solidFill>
                              <a:latin typeface="Cambria Math" charset="0"/>
                            </a:rPr>
                            <m:t>𝑡</m:t>
                          </m:r>
                        </m:sub>
                      </m:sSub>
                    </m:oMath>
                  </m:oMathPara>
                </a14:m>
                <a:endParaRPr lang="en-US" sz="1800" dirty="0">
                  <a:solidFill>
                    <a:schemeClr val="tx2"/>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6600093" y="2648419"/>
                <a:ext cx="492095" cy="1146446"/>
              </a:xfrm>
              <a:prstGeom prst="rect">
                <a:avLst/>
              </a:prstGeom>
              <a:blipFill rotWithShape="0">
                <a:blip r:embed="rId10"/>
                <a:stretch>
                  <a:fillRect l="-14286" b="-46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7616058" y="1352884"/>
                <a:ext cx="492095" cy="114644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14:m>
                  <m:oMathPara xmlns:m="http://schemas.openxmlformats.org/officeDocument/2006/math">
                    <m:oMathParaPr>
                      <m:jc m:val="centerGroup"/>
                    </m:oMathParaPr>
                    <m:oMath xmlns:m="http://schemas.openxmlformats.org/officeDocument/2006/math">
                      <m:sSub>
                        <m:sSubPr>
                          <m:ctrlPr>
                            <a:rPr lang="en-US" sz="1800" i="1" smtClean="0">
                              <a:solidFill>
                                <a:schemeClr val="bg1"/>
                              </a:solidFill>
                              <a:latin typeface="Cambria Math" panose="02040503050406030204" pitchFamily="18" charset="0"/>
                            </a:rPr>
                          </m:ctrlPr>
                        </m:sSubPr>
                        <m:e>
                          <m:r>
                            <a:rPr lang="en-US" sz="1800" i="1">
                              <a:solidFill>
                                <a:schemeClr val="bg1"/>
                              </a:solidFill>
                              <a:latin typeface="Cambria Math" charset="0"/>
                            </a:rPr>
                            <m:t>   </m:t>
                          </m:r>
                          <m:r>
                            <a:rPr lang="en-US" sz="1800" b="0" i="1" smtClean="0">
                              <a:solidFill>
                                <a:schemeClr val="bg1"/>
                              </a:solidFill>
                              <a:latin typeface="Cambria Math" charset="0"/>
                            </a:rPr>
                            <m:t>h</m:t>
                          </m:r>
                        </m:e>
                        <m:sub>
                          <m:r>
                            <a:rPr lang="en-US" sz="1800" i="1">
                              <a:solidFill>
                                <a:schemeClr val="bg1"/>
                              </a:solidFill>
                              <a:latin typeface="Cambria Math" charset="0"/>
                            </a:rPr>
                            <m:t>𝑡</m:t>
                          </m:r>
                          <m:r>
                            <a:rPr lang="en-US" sz="1800" b="0" i="1" smtClean="0">
                              <a:solidFill>
                                <a:schemeClr val="bg1"/>
                              </a:solidFill>
                              <a:latin typeface="Cambria Math" charset="0"/>
                            </a:rPr>
                            <m:t>−1</m:t>
                          </m:r>
                        </m:sub>
                      </m:sSub>
                    </m:oMath>
                  </m:oMathPara>
                </a14:m>
                <a:endParaRPr lang="en-US" sz="1800" dirty="0">
                  <a:solidFill>
                    <a:schemeClr val="bg1"/>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7616058" y="1352884"/>
                <a:ext cx="492095" cy="1146446"/>
              </a:xfrm>
              <a:prstGeom prst="rect">
                <a:avLst/>
              </a:prstGeom>
              <a:blipFill rotWithShape="0">
                <a:blip r:embed="rId11"/>
                <a:stretch>
                  <a:fillRect l="-35294" r="-10588" b="-46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7616058" y="2499331"/>
                <a:ext cx="492095" cy="114644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14:m>
                  <m:oMathPara xmlns:m="http://schemas.openxmlformats.org/officeDocument/2006/math">
                    <m:oMathParaPr>
                      <m:jc m:val="centerGroup"/>
                    </m:oMathParaPr>
                    <m:oMath xmlns:m="http://schemas.openxmlformats.org/officeDocument/2006/math">
                      <m:sSub>
                        <m:sSubPr>
                          <m:ctrlPr>
                            <a:rPr lang="en-US" sz="1800" i="1" smtClean="0">
                              <a:solidFill>
                                <a:schemeClr val="bg1"/>
                              </a:solidFill>
                              <a:latin typeface="Cambria Math" panose="02040503050406030204" pitchFamily="18" charset="0"/>
                            </a:rPr>
                          </m:ctrlPr>
                        </m:sSubPr>
                        <m:e>
                          <m:r>
                            <a:rPr lang="en-US" sz="1800" i="1">
                              <a:solidFill>
                                <a:schemeClr val="bg1"/>
                              </a:solidFill>
                              <a:latin typeface="Cambria Math" charset="0"/>
                            </a:rPr>
                            <m:t>   </m:t>
                          </m:r>
                          <m:r>
                            <a:rPr lang="en-US" sz="1800" b="0" i="1" smtClean="0">
                              <a:solidFill>
                                <a:schemeClr val="bg1"/>
                              </a:solidFill>
                              <a:latin typeface="Cambria Math" charset="0"/>
                            </a:rPr>
                            <m:t>𝑥</m:t>
                          </m:r>
                        </m:e>
                        <m:sub>
                          <m:r>
                            <a:rPr lang="en-US" sz="1800" i="1">
                              <a:solidFill>
                                <a:schemeClr val="bg1"/>
                              </a:solidFill>
                              <a:latin typeface="Cambria Math" charset="0"/>
                            </a:rPr>
                            <m:t>𝑡</m:t>
                          </m:r>
                        </m:sub>
                      </m:sSub>
                    </m:oMath>
                  </m:oMathPara>
                </a14:m>
                <a:endParaRPr lang="en-US" sz="1800" dirty="0">
                  <a:solidFill>
                    <a:schemeClr val="tx2"/>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7616058" y="2499331"/>
                <a:ext cx="492095" cy="1146446"/>
              </a:xfrm>
              <a:prstGeom prst="rect">
                <a:avLst/>
              </a:prstGeom>
              <a:blipFill rotWithShape="0">
                <a:blip r:embed="rId12"/>
                <a:stretch>
                  <a:fillRect l="-12941" b="-4688"/>
                </a:stretch>
              </a:blipFill>
            </p:spPr>
            <p:txBody>
              <a:bodyPr/>
              <a:lstStyle/>
              <a:p>
                <a:r>
                  <a:rPr lang="en-US">
                    <a:noFill/>
                  </a:rPr>
                  <a:t> </a:t>
                </a:r>
              </a:p>
            </p:txBody>
          </p:sp>
        </mc:Fallback>
      </mc:AlternateContent>
      <p:cxnSp>
        <p:nvCxnSpPr>
          <p:cNvPr id="23" name="Straight Arrow Connector 22"/>
          <p:cNvCxnSpPr/>
          <p:nvPr/>
        </p:nvCxnSpPr>
        <p:spPr>
          <a:xfrm>
            <a:off x="7158071" y="2499330"/>
            <a:ext cx="40878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ctangle 23"/>
              <p:cNvSpPr/>
              <p:nvPr/>
            </p:nvSpPr>
            <p:spPr>
              <a:xfrm>
                <a:off x="7398132" y="3843573"/>
                <a:ext cx="92794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pt-BR" i="1">
                              <a:latin typeface="Cambria Math" panose="02040503050406030204" pitchFamily="18" charset="0"/>
                              <a:ea typeface="Cambria Math" charset="0"/>
                              <a:cs typeface="Cambria Math" charset="0"/>
                            </a:rPr>
                          </m:ctrlPr>
                        </m:dPr>
                        <m:e>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h</m:t>
                              </m:r>
                            </m:e>
                            <m:sub>
                              <m:r>
                                <a:rPr lang="en-US" i="1">
                                  <a:latin typeface="Cambria Math" charset="0"/>
                                  <a:ea typeface="Cambria Math" charset="0"/>
                                  <a:cs typeface="Cambria Math" charset="0"/>
                                </a:rPr>
                                <m:t>𝑡</m:t>
                              </m:r>
                              <m:r>
                                <a:rPr lang="en-US" i="1">
                                  <a:latin typeface="Cambria Math" charset="0"/>
                                  <a:ea typeface="Cambria Math" charset="0"/>
                                  <a:cs typeface="Cambria Math" charset="0"/>
                                </a:rPr>
                                <m:t>−1</m:t>
                              </m:r>
                            </m:sub>
                          </m:sSub>
                          <m:r>
                            <a:rPr lang="en-US" i="1">
                              <a:latin typeface="Cambria Math"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𝑥</m:t>
                              </m:r>
                            </m:e>
                            <m:sub>
                              <m:r>
                                <a:rPr lang="en-US" i="1">
                                  <a:latin typeface="Cambria Math" charset="0"/>
                                  <a:ea typeface="Cambria Math" charset="0"/>
                                  <a:cs typeface="Cambria Math" charset="0"/>
                                </a:rPr>
                                <m:t>𝑡</m:t>
                              </m:r>
                            </m:sub>
                          </m:sSub>
                        </m:e>
                      </m:d>
                    </m:oMath>
                  </m:oMathPara>
                </a14:m>
                <a:endParaRPr lang="en-US" dirty="0"/>
              </a:p>
            </p:txBody>
          </p:sp>
        </mc:Choice>
        <mc:Fallback xmlns="">
          <p:sp>
            <p:nvSpPr>
              <p:cNvPr id="24" name="Rectangle 23"/>
              <p:cNvSpPr>
                <a:spLocks noRot="1" noChangeAspect="1" noMove="1" noResize="1" noEditPoints="1" noAdjustHandles="1" noChangeArrowheads="1" noChangeShapeType="1" noTextEdit="1"/>
              </p:cNvSpPr>
              <p:nvPr/>
            </p:nvSpPr>
            <p:spPr>
              <a:xfrm>
                <a:off x="7398132" y="3843573"/>
                <a:ext cx="927946" cy="307777"/>
              </a:xfrm>
              <a:prstGeom prst="rect">
                <a:avLst/>
              </a:prstGeom>
              <a:blipFill rotWithShape="0">
                <a:blip r:embed="rId13"/>
                <a:stretch>
                  <a:fillRect/>
                </a:stretch>
              </a:blipFill>
            </p:spPr>
            <p:txBody>
              <a:bodyPr/>
              <a:lstStyle/>
              <a:p>
                <a:r>
                  <a:rPr lang="en-US">
                    <a:noFill/>
                  </a:rPr>
                  <a:t> </a:t>
                </a:r>
              </a:p>
            </p:txBody>
          </p:sp>
        </mc:Fallback>
      </mc:AlternateContent>
      <p:sp>
        <p:nvSpPr>
          <p:cNvPr id="25" name="TextBox 24"/>
          <p:cNvSpPr txBox="1"/>
          <p:nvPr/>
        </p:nvSpPr>
        <p:spPr>
          <a:xfrm>
            <a:off x="3899260" y="4247007"/>
            <a:ext cx="3050269" cy="400110"/>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concatenation of vectors</a:t>
            </a:r>
            <a:endParaRPr lang="en-US" sz="2000" dirty="0">
              <a:solidFill>
                <a:srgbClr val="FF0000"/>
              </a:solidFill>
              <a:latin typeface="Avenir Book" charset="0"/>
              <a:ea typeface="Avenir Book" charset="0"/>
              <a:cs typeface="Avenir Book" charset="0"/>
            </a:endParaRPr>
          </a:p>
        </p:txBody>
      </p:sp>
      <p:sp>
        <p:nvSpPr>
          <p:cNvPr id="26" name="Rectangle 25"/>
          <p:cNvSpPr/>
          <p:nvPr/>
        </p:nvSpPr>
        <p:spPr>
          <a:xfrm>
            <a:off x="1984057" y="1757026"/>
            <a:ext cx="852927" cy="29642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872597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1" grpId="0" animBg="1"/>
      <p:bldP spid="22" grpId="0" animBg="1"/>
      <p:bldP spid="25" grpId="0"/>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0" name="TextBox 9"/>
          <p:cNvSpPr txBox="1"/>
          <p:nvPr/>
        </p:nvSpPr>
        <p:spPr>
          <a:xfrm>
            <a:off x="997143" y="998941"/>
            <a:ext cx="1663995" cy="707886"/>
          </a:xfrm>
          <a:prstGeom prst="rect">
            <a:avLst/>
          </a:prstGeom>
          <a:noFill/>
        </p:spPr>
        <p:txBody>
          <a:bodyPr wrap="square" rtlCol="0">
            <a:spAutoFit/>
          </a:bodyPr>
          <a:lstStyle/>
          <a:p>
            <a:r>
              <a:rPr lang="en-US" sz="2000" smtClean="0">
                <a:solidFill>
                  <a:srgbClr val="FF0000"/>
                </a:solidFill>
                <a:latin typeface="Avenir Book" charset="0"/>
                <a:ea typeface="Avenir Book" charset="0"/>
                <a:cs typeface="Avenir Book" charset="0"/>
              </a:rPr>
              <a:t>Decide what to “forget”</a:t>
            </a:r>
            <a:endParaRPr lang="en-US" sz="2000" dirty="0">
              <a:solidFill>
                <a:srgbClr val="FF0000"/>
              </a:solidFill>
              <a:latin typeface="Avenir Book" charset="0"/>
              <a:ea typeface="Avenir Book" charset="0"/>
              <a:cs typeface="Avenir Book" charset="0"/>
            </a:endParaRPr>
          </a:p>
        </p:txBody>
      </p:sp>
      <p:cxnSp>
        <p:nvCxnSpPr>
          <p:cNvPr id="11" name="Straight Arrow Connector 10"/>
          <p:cNvCxnSpPr/>
          <p:nvPr/>
        </p:nvCxnSpPr>
        <p:spPr>
          <a:xfrm>
            <a:off x="2204770" y="1706827"/>
            <a:ext cx="312263" cy="524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2124288" y="2713831"/>
                <a:ext cx="370130"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𝑓</m:t>
                          </m:r>
                        </m:e>
                        <m:sub>
                          <m:r>
                            <a:rPr lang="en-US" sz="2000" i="1">
                              <a:latin typeface="Cambria Math" charset="0"/>
                            </a:rPr>
                            <m:t>𝑡</m:t>
                          </m:r>
                        </m:sub>
                      </m:sSub>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2124288" y="2713831"/>
                <a:ext cx="370130" cy="307777"/>
              </a:xfrm>
              <a:prstGeom prst="rect">
                <a:avLst/>
              </a:prstGeom>
              <a:blipFill rotWithShape="0">
                <a:blip r:embed="rId8"/>
                <a:stretch>
                  <a:fillRect l="-9836" b="-39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5752195" y="2687587"/>
                <a:ext cx="3271555" cy="3545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𝑓</m:t>
                          </m:r>
                        </m:e>
                        <m:sub>
                          <m:r>
                            <a:rPr lang="en-US" sz="2000" i="1">
                              <a:latin typeface="Cambria Math" charset="0"/>
                            </a:rPr>
                            <m:t>𝑡</m:t>
                          </m:r>
                        </m:sub>
                      </m:sSub>
                      <m:r>
                        <a:rPr lang="en-US" sz="2000" b="0" i="1" smtClean="0">
                          <a:latin typeface="Cambria Math" charset="0"/>
                        </a:rPr>
                        <m:t>= </m:t>
                      </m:r>
                      <m:r>
                        <a:rPr lang="en-US" sz="2000" b="0" i="1" smtClean="0">
                          <a:latin typeface="Cambria Math" charset="0"/>
                          <a:ea typeface="Cambria Math" charset="0"/>
                          <a:cs typeface="Cambria Math" charset="0"/>
                        </a:rPr>
                        <m:t>𝜎</m:t>
                      </m:r>
                      <m:d>
                        <m:dPr>
                          <m:ctrlPr>
                            <a:rPr lang="is-IS" sz="2000" b="0" i="1" smtClean="0">
                              <a:latin typeface="Cambria Math" panose="02040503050406030204" pitchFamily="18" charset="0"/>
                              <a:ea typeface="Cambria Math" charset="0"/>
                              <a:cs typeface="Cambria Math" charset="0"/>
                            </a:rPr>
                          </m:ctrlPr>
                        </m:dPr>
                        <m:e>
                          <m:sSub>
                            <m:sSubPr>
                              <m:ctrlPr>
                                <a:rPr lang="en-US" sz="2000" i="1">
                                  <a:latin typeface="Cambria Math" panose="02040503050406030204" pitchFamily="18" charset="0"/>
                                  <a:ea typeface="Cambria Math" charset="0"/>
                                  <a:cs typeface="Cambria Math" charset="0"/>
                                </a:rPr>
                              </m:ctrlPr>
                            </m:sSubPr>
                            <m:e>
                              <m:r>
                                <a:rPr lang="en-US" sz="2000" i="1">
                                  <a:latin typeface="Cambria Math" charset="0"/>
                                  <a:ea typeface="Cambria Math" charset="0"/>
                                  <a:cs typeface="Cambria Math" charset="0"/>
                                </a:rPr>
                                <m:t>𝑊</m:t>
                              </m:r>
                            </m:e>
                            <m:sub>
                              <m:r>
                                <a:rPr lang="en-US" sz="2000" i="1">
                                  <a:latin typeface="Cambria Math" charset="0"/>
                                  <a:ea typeface="Cambria Math" charset="0"/>
                                  <a:cs typeface="Cambria Math" charset="0"/>
                                </a:rPr>
                                <m:t>𝑓</m:t>
                              </m:r>
                            </m:sub>
                          </m:sSub>
                          <m:d>
                            <m:dPr>
                              <m:begChr m:val="["/>
                              <m:endChr m:val="]"/>
                              <m:ctrlPr>
                                <a:rPr lang="pt-BR" sz="2000" i="1" smtClean="0">
                                  <a:latin typeface="Cambria Math" panose="02040503050406030204" pitchFamily="18" charset="0"/>
                                  <a:ea typeface="Cambria Math" charset="0"/>
                                  <a:cs typeface="Cambria Math" charset="0"/>
                                </a:rPr>
                              </m:ctrlPr>
                            </m:dPr>
                            <m:e>
                              <m:sSub>
                                <m:sSubPr>
                                  <m:ctrlPr>
                                    <a:rPr lang="en-US" sz="200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h</m:t>
                                  </m:r>
                                </m:e>
                                <m:sub>
                                  <m:r>
                                    <a:rPr lang="en-US" sz="2000" b="0" i="1" smtClean="0">
                                      <a:latin typeface="Cambria Math" charset="0"/>
                                      <a:ea typeface="Cambria Math" charset="0"/>
                                      <a:cs typeface="Cambria Math" charset="0"/>
                                    </a:rPr>
                                    <m:t>𝑡</m:t>
                                  </m:r>
                                  <m:r>
                                    <a:rPr lang="en-US" sz="2000" b="0" i="1" smtClean="0">
                                      <a:latin typeface="Cambria Math" charset="0"/>
                                      <a:ea typeface="Cambria Math" charset="0"/>
                                      <a:cs typeface="Cambria Math" charset="0"/>
                                    </a:rPr>
                                    <m:t>−1</m:t>
                                  </m:r>
                                </m:sub>
                              </m:sSub>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𝑥</m:t>
                                  </m:r>
                                </m:e>
                                <m:sub>
                                  <m:r>
                                    <a:rPr lang="en-US" sz="2000" b="0" i="1" smtClean="0">
                                      <a:latin typeface="Cambria Math" charset="0"/>
                                      <a:ea typeface="Cambria Math" charset="0"/>
                                      <a:cs typeface="Cambria Math" charset="0"/>
                                    </a:rPr>
                                    <m:t>𝑡</m:t>
                                  </m:r>
                                </m:sub>
                              </m:sSub>
                            </m:e>
                          </m:d>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𝑏</m:t>
                              </m:r>
                            </m:e>
                            <m:sub>
                              <m:r>
                                <a:rPr lang="en-US" sz="2000" b="0" i="1" smtClean="0">
                                  <a:latin typeface="Cambria Math" charset="0"/>
                                  <a:ea typeface="Cambria Math" charset="0"/>
                                  <a:cs typeface="Cambria Math" charset="0"/>
                                </a:rPr>
                                <m:t>𝑓</m:t>
                              </m:r>
                            </m:sub>
                          </m:sSub>
                        </m:e>
                      </m:d>
                    </m:oMath>
                  </m:oMathPara>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5752195" y="2687587"/>
                <a:ext cx="3271555" cy="354521"/>
              </a:xfrm>
              <a:prstGeom prst="rect">
                <a:avLst/>
              </a:prstGeom>
              <a:blipFill rotWithShape="0">
                <a:blip r:embed="rId9"/>
                <a:stretch>
                  <a:fillRect t="-118966" b="-148276"/>
                </a:stretch>
              </a:blipFill>
            </p:spPr>
            <p:txBody>
              <a:bodyPr/>
              <a:lstStyle/>
              <a:p>
                <a:r>
                  <a:rPr lang="en-US">
                    <a:noFill/>
                  </a:rPr>
                  <a:t> </a:t>
                </a:r>
              </a:p>
            </p:txBody>
          </p:sp>
        </mc:Fallback>
      </mc:AlternateContent>
      <p:sp>
        <p:nvSpPr>
          <p:cNvPr id="17" name="TextBox 16"/>
          <p:cNvSpPr txBox="1"/>
          <p:nvPr/>
        </p:nvSpPr>
        <p:spPr>
          <a:xfrm>
            <a:off x="6835236" y="3285667"/>
            <a:ext cx="1828118" cy="1323439"/>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based </a:t>
            </a:r>
            <a:r>
              <a:rPr lang="en-US" sz="2000" smtClean="0">
                <a:solidFill>
                  <a:srgbClr val="FF0000"/>
                </a:solidFill>
                <a:latin typeface="Avenir Book" charset="0"/>
                <a:ea typeface="Avenir Book" charset="0"/>
                <a:cs typeface="Avenir Book" charset="0"/>
              </a:rPr>
              <a:t>on previous output and current input</a:t>
            </a:r>
            <a:endParaRPr lang="en-US" sz="2000" dirty="0">
              <a:solidFill>
                <a:srgbClr val="FF0000"/>
              </a:solidFill>
              <a:latin typeface="Avenir Book" charset="0"/>
              <a:ea typeface="Avenir Book" charset="0"/>
              <a:cs typeface="Avenir Book" charset="0"/>
            </a:endParaRPr>
          </a:p>
        </p:txBody>
      </p:sp>
      <p:sp>
        <p:nvSpPr>
          <p:cNvPr id="14" name="Rectangle 13"/>
          <p:cNvSpPr/>
          <p:nvPr/>
        </p:nvSpPr>
        <p:spPr>
          <a:xfrm>
            <a:off x="1984057" y="1757026"/>
            <a:ext cx="852927" cy="29642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908371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7" grpId="0"/>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0" name="TextBox 9"/>
          <p:cNvSpPr txBox="1"/>
          <p:nvPr/>
        </p:nvSpPr>
        <p:spPr>
          <a:xfrm>
            <a:off x="997143" y="998941"/>
            <a:ext cx="1663995" cy="707886"/>
          </a:xfrm>
          <a:prstGeom prst="rect">
            <a:avLst/>
          </a:prstGeom>
          <a:noFill/>
        </p:spPr>
        <p:txBody>
          <a:bodyPr wrap="square" rtlCol="0">
            <a:spAutoFit/>
          </a:bodyPr>
          <a:lstStyle/>
          <a:p>
            <a:r>
              <a:rPr lang="en-US" sz="2000" smtClean="0">
                <a:solidFill>
                  <a:srgbClr val="FF0000"/>
                </a:solidFill>
                <a:latin typeface="Avenir Book" charset="0"/>
                <a:ea typeface="Avenir Book" charset="0"/>
                <a:cs typeface="Avenir Book" charset="0"/>
              </a:rPr>
              <a:t>Decide what to “forget”</a:t>
            </a:r>
            <a:endParaRPr lang="en-US" sz="2000" dirty="0">
              <a:solidFill>
                <a:srgbClr val="FF0000"/>
              </a:solidFill>
              <a:latin typeface="Avenir Book" charset="0"/>
              <a:ea typeface="Avenir Book" charset="0"/>
              <a:cs typeface="Avenir Book" charset="0"/>
            </a:endParaRPr>
          </a:p>
        </p:txBody>
      </p:sp>
      <p:cxnSp>
        <p:nvCxnSpPr>
          <p:cNvPr id="11" name="Straight Arrow Connector 10"/>
          <p:cNvCxnSpPr/>
          <p:nvPr/>
        </p:nvCxnSpPr>
        <p:spPr>
          <a:xfrm>
            <a:off x="2204770" y="1706827"/>
            <a:ext cx="312263" cy="524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2124288" y="2713831"/>
                <a:ext cx="370130"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𝑓</m:t>
                          </m:r>
                        </m:e>
                        <m:sub>
                          <m:r>
                            <a:rPr lang="en-US" sz="2000" i="1">
                              <a:latin typeface="Cambria Math" charset="0"/>
                            </a:rPr>
                            <m:t>𝑡</m:t>
                          </m:r>
                        </m:sub>
                      </m:sSub>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2124288" y="2713831"/>
                <a:ext cx="370130" cy="307777"/>
              </a:xfrm>
              <a:prstGeom prst="rect">
                <a:avLst/>
              </a:prstGeom>
              <a:blipFill rotWithShape="0">
                <a:blip r:embed="rId8"/>
                <a:stretch>
                  <a:fillRect l="-9836" b="-39216"/>
                </a:stretch>
              </a:blipFill>
            </p:spPr>
            <p:txBody>
              <a:bodyPr/>
              <a:lstStyle/>
              <a:p>
                <a:r>
                  <a:rPr lang="en-US">
                    <a:noFill/>
                  </a:rPr>
                  <a:t> </a:t>
                </a:r>
              </a:p>
            </p:txBody>
          </p:sp>
        </mc:Fallback>
      </mc:AlternateContent>
      <p:sp>
        <p:nvSpPr>
          <p:cNvPr id="13" name="Rectangle 12"/>
          <p:cNvSpPr/>
          <p:nvPr/>
        </p:nvSpPr>
        <p:spPr>
          <a:xfrm>
            <a:off x="1984057" y="1757026"/>
            <a:ext cx="852927" cy="29642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mc:AlternateContent xmlns:mc="http://schemas.openxmlformats.org/markup-compatibility/2006" xmlns:a14="http://schemas.microsoft.com/office/drawing/2010/main">
        <mc:Choice Requires="a14">
          <p:sp>
            <p:nvSpPr>
              <p:cNvPr id="16" name="TextBox 15"/>
              <p:cNvSpPr txBox="1"/>
              <p:nvPr/>
            </p:nvSpPr>
            <p:spPr>
              <a:xfrm>
                <a:off x="5752195" y="2687587"/>
                <a:ext cx="3271555" cy="3545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𝑓</m:t>
                          </m:r>
                        </m:e>
                        <m:sub>
                          <m:r>
                            <a:rPr lang="en-US" sz="2000" i="1">
                              <a:latin typeface="Cambria Math" charset="0"/>
                            </a:rPr>
                            <m:t>𝑡</m:t>
                          </m:r>
                        </m:sub>
                      </m:sSub>
                      <m:r>
                        <a:rPr lang="en-US" sz="2000" b="0" i="1" smtClean="0">
                          <a:latin typeface="Cambria Math" charset="0"/>
                        </a:rPr>
                        <m:t>= </m:t>
                      </m:r>
                      <m:r>
                        <a:rPr lang="en-US" sz="2000" b="0" i="1" smtClean="0">
                          <a:latin typeface="Cambria Math" charset="0"/>
                          <a:ea typeface="Cambria Math" charset="0"/>
                          <a:cs typeface="Cambria Math" charset="0"/>
                        </a:rPr>
                        <m:t>𝜎</m:t>
                      </m:r>
                      <m:d>
                        <m:dPr>
                          <m:ctrlPr>
                            <a:rPr lang="is-IS" sz="2000" b="0" i="1" smtClean="0">
                              <a:latin typeface="Cambria Math" panose="02040503050406030204" pitchFamily="18" charset="0"/>
                              <a:ea typeface="Cambria Math" charset="0"/>
                              <a:cs typeface="Cambria Math" charset="0"/>
                            </a:rPr>
                          </m:ctrlPr>
                        </m:dPr>
                        <m:e>
                          <m:sSub>
                            <m:sSubPr>
                              <m:ctrlPr>
                                <a:rPr lang="en-US" sz="2000" i="1">
                                  <a:latin typeface="Cambria Math" panose="02040503050406030204" pitchFamily="18" charset="0"/>
                                  <a:ea typeface="Cambria Math" charset="0"/>
                                  <a:cs typeface="Cambria Math" charset="0"/>
                                </a:rPr>
                              </m:ctrlPr>
                            </m:sSubPr>
                            <m:e>
                              <m:r>
                                <a:rPr lang="en-US" sz="2000" i="1">
                                  <a:latin typeface="Cambria Math" charset="0"/>
                                  <a:ea typeface="Cambria Math" charset="0"/>
                                  <a:cs typeface="Cambria Math" charset="0"/>
                                </a:rPr>
                                <m:t>𝑊</m:t>
                              </m:r>
                            </m:e>
                            <m:sub>
                              <m:r>
                                <a:rPr lang="en-US" sz="2000" i="1">
                                  <a:latin typeface="Cambria Math" charset="0"/>
                                  <a:ea typeface="Cambria Math" charset="0"/>
                                  <a:cs typeface="Cambria Math" charset="0"/>
                                </a:rPr>
                                <m:t>𝑓</m:t>
                              </m:r>
                            </m:sub>
                          </m:sSub>
                          <m:d>
                            <m:dPr>
                              <m:begChr m:val="["/>
                              <m:endChr m:val="]"/>
                              <m:ctrlPr>
                                <a:rPr lang="pt-BR" sz="2000" i="1" smtClean="0">
                                  <a:latin typeface="Cambria Math" panose="02040503050406030204" pitchFamily="18" charset="0"/>
                                  <a:ea typeface="Cambria Math" charset="0"/>
                                  <a:cs typeface="Cambria Math" charset="0"/>
                                </a:rPr>
                              </m:ctrlPr>
                            </m:dPr>
                            <m:e>
                              <m:sSub>
                                <m:sSubPr>
                                  <m:ctrlPr>
                                    <a:rPr lang="en-US" sz="200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h</m:t>
                                  </m:r>
                                </m:e>
                                <m:sub>
                                  <m:r>
                                    <a:rPr lang="en-US" sz="2000" b="0" i="1" smtClean="0">
                                      <a:latin typeface="Cambria Math" charset="0"/>
                                      <a:ea typeface="Cambria Math" charset="0"/>
                                      <a:cs typeface="Cambria Math" charset="0"/>
                                    </a:rPr>
                                    <m:t>𝑡</m:t>
                                  </m:r>
                                  <m:r>
                                    <a:rPr lang="en-US" sz="2000" b="0" i="1" smtClean="0">
                                      <a:latin typeface="Cambria Math" charset="0"/>
                                      <a:ea typeface="Cambria Math" charset="0"/>
                                      <a:cs typeface="Cambria Math" charset="0"/>
                                    </a:rPr>
                                    <m:t>−1</m:t>
                                  </m:r>
                                </m:sub>
                              </m:sSub>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𝑥</m:t>
                                  </m:r>
                                </m:e>
                                <m:sub>
                                  <m:r>
                                    <a:rPr lang="en-US" sz="2000" b="0" i="1" smtClean="0">
                                      <a:latin typeface="Cambria Math" charset="0"/>
                                      <a:ea typeface="Cambria Math" charset="0"/>
                                      <a:cs typeface="Cambria Math" charset="0"/>
                                    </a:rPr>
                                    <m:t>𝑡</m:t>
                                  </m:r>
                                </m:sub>
                              </m:sSub>
                            </m:e>
                          </m:d>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𝑏</m:t>
                              </m:r>
                            </m:e>
                            <m:sub>
                              <m:r>
                                <a:rPr lang="en-US" sz="2000" b="0" i="1" smtClean="0">
                                  <a:latin typeface="Cambria Math" charset="0"/>
                                  <a:ea typeface="Cambria Math" charset="0"/>
                                  <a:cs typeface="Cambria Math" charset="0"/>
                                </a:rPr>
                                <m:t>𝑓</m:t>
                              </m:r>
                            </m:sub>
                          </m:sSub>
                        </m:e>
                      </m:d>
                    </m:oMath>
                  </m:oMathPara>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5752195" y="2687587"/>
                <a:ext cx="3271555" cy="354521"/>
              </a:xfrm>
              <a:prstGeom prst="rect">
                <a:avLst/>
              </a:prstGeom>
              <a:blipFill rotWithShape="0">
                <a:blip r:embed="rId9"/>
                <a:stretch>
                  <a:fillRect t="-118966" b="-148276"/>
                </a:stretch>
              </a:blipFill>
            </p:spPr>
            <p:txBody>
              <a:bodyPr/>
              <a:lstStyle/>
              <a:p>
                <a:r>
                  <a:rPr lang="en-US">
                    <a:noFill/>
                  </a:rPr>
                  <a:t> </a:t>
                </a:r>
              </a:p>
            </p:txBody>
          </p:sp>
        </mc:Fallback>
      </mc:AlternateContent>
      <p:sp>
        <p:nvSpPr>
          <p:cNvPr id="17" name="TextBox 16"/>
          <p:cNvSpPr txBox="1"/>
          <p:nvPr/>
        </p:nvSpPr>
        <p:spPr>
          <a:xfrm>
            <a:off x="6835236" y="3285667"/>
            <a:ext cx="1828118" cy="1323439"/>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based </a:t>
            </a:r>
            <a:r>
              <a:rPr lang="en-US" sz="2000" smtClean="0">
                <a:solidFill>
                  <a:srgbClr val="FF0000"/>
                </a:solidFill>
                <a:latin typeface="Avenir Book" charset="0"/>
                <a:ea typeface="Avenir Book" charset="0"/>
                <a:cs typeface="Avenir Book" charset="0"/>
              </a:rPr>
              <a:t>on previous output and current input</a:t>
            </a:r>
            <a:endParaRPr lang="en-US" sz="2000" dirty="0">
              <a:solidFill>
                <a:srgbClr val="FF0000"/>
              </a:solidFill>
              <a:latin typeface="Avenir Book" charset="0"/>
              <a:ea typeface="Avenir Book" charset="0"/>
              <a:cs typeface="Avenir Book" charset="0"/>
            </a:endParaRPr>
          </a:p>
        </p:txBody>
      </p:sp>
      <p:cxnSp>
        <p:nvCxnSpPr>
          <p:cNvPr id="14" name="Straight Arrow Connector 13"/>
          <p:cNvCxnSpPr/>
          <p:nvPr/>
        </p:nvCxnSpPr>
        <p:spPr>
          <a:xfrm flipH="1">
            <a:off x="2661138" y="2864274"/>
            <a:ext cx="3294186" cy="31268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021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animBg="1"/>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0" name="TextBox 9"/>
          <p:cNvSpPr txBox="1"/>
          <p:nvPr/>
        </p:nvSpPr>
        <p:spPr>
          <a:xfrm>
            <a:off x="2650097" y="846578"/>
            <a:ext cx="1746057" cy="707886"/>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Add </a:t>
            </a:r>
            <a:r>
              <a:rPr lang="en-US" sz="2000" smtClean="0">
                <a:solidFill>
                  <a:srgbClr val="FF0000"/>
                </a:solidFill>
                <a:latin typeface="Avenir Book" charset="0"/>
                <a:ea typeface="Avenir Book" charset="0"/>
                <a:cs typeface="Avenir Book" charset="0"/>
              </a:rPr>
              <a:t>in “new”</a:t>
            </a:r>
            <a:endParaRPr lang="en-US" sz="2000" dirty="0" smtClean="0">
              <a:solidFill>
                <a:srgbClr val="FF0000"/>
              </a:solidFill>
              <a:latin typeface="Avenir Book" charset="0"/>
              <a:ea typeface="Avenir Book" charset="0"/>
              <a:cs typeface="Avenir Book" charset="0"/>
            </a:endParaRPr>
          </a:p>
          <a:p>
            <a:r>
              <a:rPr lang="en-US" sz="2000" dirty="0" smtClean="0">
                <a:solidFill>
                  <a:srgbClr val="FF0000"/>
                </a:solidFill>
                <a:latin typeface="Avenir Book" charset="0"/>
                <a:ea typeface="Avenir Book" charset="0"/>
                <a:cs typeface="Avenir Book" charset="0"/>
              </a:rPr>
              <a:t>information</a:t>
            </a:r>
            <a:endParaRPr lang="en-US" sz="2000" dirty="0">
              <a:solidFill>
                <a:srgbClr val="FF0000"/>
              </a:solidFill>
              <a:latin typeface="Avenir Book" charset="0"/>
              <a:ea typeface="Avenir Book" charset="0"/>
              <a:cs typeface="Avenir Book" charset="0"/>
            </a:endParaRPr>
          </a:p>
        </p:txBody>
      </p:sp>
      <p:cxnSp>
        <p:nvCxnSpPr>
          <p:cNvPr id="11" name="Straight Arrow Connector 10"/>
          <p:cNvCxnSpPr/>
          <p:nvPr/>
        </p:nvCxnSpPr>
        <p:spPr>
          <a:xfrm>
            <a:off x="3482094" y="1623109"/>
            <a:ext cx="0" cy="5751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5752195" y="2687587"/>
                <a:ext cx="327155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𝑖</m:t>
                          </m:r>
                        </m:e>
                        <m:sub>
                          <m:r>
                            <a:rPr lang="en-US" sz="2000" i="1">
                              <a:latin typeface="Cambria Math" charset="0"/>
                            </a:rPr>
                            <m:t>𝑡</m:t>
                          </m:r>
                        </m:sub>
                      </m:sSub>
                      <m:r>
                        <a:rPr lang="en-US" sz="2000" b="0" i="1" smtClean="0">
                          <a:latin typeface="Cambria Math" charset="0"/>
                        </a:rPr>
                        <m:t>= </m:t>
                      </m:r>
                      <m:r>
                        <a:rPr lang="en-US" sz="2000" b="0" i="1" smtClean="0">
                          <a:latin typeface="Cambria Math" charset="0"/>
                          <a:ea typeface="Cambria Math" charset="0"/>
                          <a:cs typeface="Cambria Math" charset="0"/>
                        </a:rPr>
                        <m:t>𝜎</m:t>
                      </m:r>
                      <m:d>
                        <m:dPr>
                          <m:ctrlPr>
                            <a:rPr lang="is-IS" sz="2000" b="0" i="1" smtClean="0">
                              <a:latin typeface="Cambria Math" panose="02040503050406030204" pitchFamily="18" charset="0"/>
                              <a:ea typeface="Cambria Math" charset="0"/>
                              <a:cs typeface="Cambria Math" charset="0"/>
                            </a:rPr>
                          </m:ctrlPr>
                        </m:dPr>
                        <m:e>
                          <m:sSub>
                            <m:sSubPr>
                              <m:ctrlPr>
                                <a:rPr lang="en-US" sz="2000" i="1">
                                  <a:latin typeface="Cambria Math" panose="02040503050406030204" pitchFamily="18" charset="0"/>
                                  <a:ea typeface="Cambria Math" charset="0"/>
                                  <a:cs typeface="Cambria Math" charset="0"/>
                                </a:rPr>
                              </m:ctrlPr>
                            </m:sSubPr>
                            <m:e>
                              <m:r>
                                <a:rPr lang="en-US" sz="2000" i="1">
                                  <a:latin typeface="Cambria Math" charset="0"/>
                                  <a:ea typeface="Cambria Math" charset="0"/>
                                  <a:cs typeface="Cambria Math" charset="0"/>
                                </a:rPr>
                                <m:t>𝑊</m:t>
                              </m:r>
                            </m:e>
                            <m:sub>
                              <m:r>
                                <a:rPr lang="en-US" sz="2000" b="0" i="1" smtClean="0">
                                  <a:latin typeface="Cambria Math" charset="0"/>
                                  <a:ea typeface="Cambria Math" charset="0"/>
                                  <a:cs typeface="Cambria Math" charset="0"/>
                                </a:rPr>
                                <m:t>𝑖</m:t>
                              </m:r>
                            </m:sub>
                          </m:sSub>
                          <m:d>
                            <m:dPr>
                              <m:begChr m:val="["/>
                              <m:endChr m:val="]"/>
                              <m:ctrlPr>
                                <a:rPr lang="pt-BR" sz="2000" i="1" smtClean="0">
                                  <a:latin typeface="Cambria Math" panose="02040503050406030204" pitchFamily="18" charset="0"/>
                                  <a:ea typeface="Cambria Math" charset="0"/>
                                  <a:cs typeface="Cambria Math" charset="0"/>
                                </a:rPr>
                              </m:ctrlPr>
                            </m:dPr>
                            <m:e>
                              <m:sSub>
                                <m:sSubPr>
                                  <m:ctrlPr>
                                    <a:rPr lang="en-US" sz="200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h</m:t>
                                  </m:r>
                                </m:e>
                                <m:sub>
                                  <m:r>
                                    <a:rPr lang="en-US" sz="2000" b="0" i="1" smtClean="0">
                                      <a:latin typeface="Cambria Math" charset="0"/>
                                      <a:ea typeface="Cambria Math" charset="0"/>
                                      <a:cs typeface="Cambria Math" charset="0"/>
                                    </a:rPr>
                                    <m:t>𝑡</m:t>
                                  </m:r>
                                  <m:r>
                                    <a:rPr lang="en-US" sz="2000" b="0" i="1" smtClean="0">
                                      <a:latin typeface="Cambria Math" charset="0"/>
                                      <a:ea typeface="Cambria Math" charset="0"/>
                                      <a:cs typeface="Cambria Math" charset="0"/>
                                    </a:rPr>
                                    <m:t>−1</m:t>
                                  </m:r>
                                </m:sub>
                              </m:sSub>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𝑥</m:t>
                                  </m:r>
                                </m:e>
                                <m:sub>
                                  <m:r>
                                    <a:rPr lang="en-US" sz="2000" b="0" i="1" smtClean="0">
                                      <a:latin typeface="Cambria Math" charset="0"/>
                                      <a:ea typeface="Cambria Math" charset="0"/>
                                      <a:cs typeface="Cambria Math" charset="0"/>
                                    </a:rPr>
                                    <m:t>𝑡</m:t>
                                  </m:r>
                                </m:sub>
                              </m:sSub>
                            </m:e>
                          </m:d>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𝑏</m:t>
                              </m:r>
                            </m:e>
                            <m:sub>
                              <m:r>
                                <a:rPr lang="en-US" sz="2000" b="0" i="1" smtClean="0">
                                  <a:latin typeface="Cambria Math" charset="0"/>
                                  <a:ea typeface="Cambria Math" charset="0"/>
                                  <a:cs typeface="Cambria Math" charset="0"/>
                                </a:rPr>
                                <m:t>𝑖</m:t>
                              </m:r>
                            </m:sub>
                          </m:sSub>
                        </m:e>
                      </m:d>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752195" y="2687587"/>
                <a:ext cx="3271555" cy="307777"/>
              </a:xfrm>
              <a:prstGeom prst="rect">
                <a:avLst/>
              </a:prstGeom>
              <a:blipFill rotWithShape="0">
                <a:blip r:embed="rId8"/>
                <a:stretch>
                  <a:fillRect t="-142000" b="-18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696124" y="2638231"/>
                <a:ext cx="370130"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𝑖</m:t>
                          </m:r>
                        </m:e>
                        <m:sub>
                          <m:r>
                            <a:rPr lang="en-US" sz="2000" i="1">
                              <a:latin typeface="Cambria Math" charset="0"/>
                            </a:rPr>
                            <m:t>𝑡</m:t>
                          </m:r>
                        </m:sub>
                      </m:sSub>
                    </m:oMath>
                  </m:oMathPara>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2696124" y="2638231"/>
                <a:ext cx="370130" cy="307777"/>
              </a:xfrm>
              <a:prstGeom prst="rect">
                <a:avLst/>
              </a:prstGeom>
              <a:blipFill rotWithShape="0">
                <a:blip r:embed="rId9"/>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5764925" y="3052408"/>
                <a:ext cx="327155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000" b="0" i="1" smtClean="0">
                              <a:latin typeface="Cambria Math" panose="02040503050406030204" pitchFamily="18" charset="0"/>
                            </a:rPr>
                          </m:ctrlPr>
                        </m:sSubSupPr>
                        <m:e>
                          <m:r>
                            <a:rPr lang="en-US" sz="2000" b="0" i="1" smtClean="0">
                              <a:latin typeface="Cambria Math" charset="0"/>
                            </a:rPr>
                            <m:t>𝐶</m:t>
                          </m:r>
                        </m:e>
                        <m:sub>
                          <m:r>
                            <a:rPr lang="en-US" sz="2000" b="0" i="1" smtClean="0">
                              <a:latin typeface="Cambria Math" charset="0"/>
                            </a:rPr>
                            <m:t>𝑡</m:t>
                          </m:r>
                        </m:sub>
                        <m:sup>
                          <m:r>
                            <a:rPr lang="en-US" sz="2000" b="0" i="1" smtClean="0">
                              <a:latin typeface="Cambria Math" charset="0"/>
                            </a:rPr>
                            <m:t>′</m:t>
                          </m:r>
                        </m:sup>
                      </m:sSubSup>
                      <m:r>
                        <a:rPr lang="en-US" sz="2000" b="0" i="1" smtClean="0">
                          <a:latin typeface="Cambria Math" charset="0"/>
                        </a:rPr>
                        <m:t>=</m:t>
                      </m:r>
                      <m:r>
                        <a:rPr lang="en-US" sz="2000" b="0" i="1" smtClean="0">
                          <a:latin typeface="Cambria Math" charset="0"/>
                        </a:rPr>
                        <m:t>𝑡𝑎𝑛h</m:t>
                      </m:r>
                      <m:d>
                        <m:dPr>
                          <m:ctrlPr>
                            <a:rPr lang="is-IS" sz="2000" b="0" i="1" smtClean="0">
                              <a:latin typeface="Cambria Math" panose="02040503050406030204" pitchFamily="18" charset="0"/>
                              <a:ea typeface="Cambria Math" charset="0"/>
                              <a:cs typeface="Cambria Math" charset="0"/>
                            </a:rPr>
                          </m:ctrlPr>
                        </m:dPr>
                        <m:e>
                          <m:sSub>
                            <m:sSubPr>
                              <m:ctrlPr>
                                <a:rPr lang="en-US" sz="2000" i="1" smtClean="0">
                                  <a:latin typeface="Cambria Math" panose="02040503050406030204" pitchFamily="18" charset="0"/>
                                  <a:ea typeface="Cambria Math" charset="0"/>
                                  <a:cs typeface="Cambria Math" charset="0"/>
                                </a:rPr>
                              </m:ctrlPr>
                            </m:sSubPr>
                            <m:e>
                              <m:r>
                                <a:rPr lang="en-US" sz="2000" i="1">
                                  <a:latin typeface="Cambria Math" charset="0"/>
                                  <a:ea typeface="Cambria Math" charset="0"/>
                                  <a:cs typeface="Cambria Math" charset="0"/>
                                </a:rPr>
                                <m:t>𝑊</m:t>
                              </m:r>
                            </m:e>
                            <m:sub>
                              <m:r>
                                <a:rPr lang="en-US" sz="2000" b="0" i="1" smtClean="0">
                                  <a:latin typeface="Cambria Math" charset="0"/>
                                  <a:ea typeface="Cambria Math" charset="0"/>
                                  <a:cs typeface="Cambria Math" charset="0"/>
                                </a:rPr>
                                <m:t>𝐶</m:t>
                              </m:r>
                            </m:sub>
                          </m:sSub>
                          <m:d>
                            <m:dPr>
                              <m:begChr m:val="["/>
                              <m:endChr m:val="]"/>
                              <m:ctrlPr>
                                <a:rPr lang="pt-BR" sz="2000" i="1" smtClean="0">
                                  <a:latin typeface="Cambria Math" panose="02040503050406030204" pitchFamily="18" charset="0"/>
                                  <a:ea typeface="Cambria Math" charset="0"/>
                                  <a:cs typeface="Cambria Math" charset="0"/>
                                </a:rPr>
                              </m:ctrlPr>
                            </m:dPr>
                            <m:e>
                              <m:sSub>
                                <m:sSubPr>
                                  <m:ctrlPr>
                                    <a:rPr lang="en-US" sz="200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h</m:t>
                                  </m:r>
                                </m:e>
                                <m:sub>
                                  <m:r>
                                    <a:rPr lang="en-US" sz="2000" b="0" i="1" smtClean="0">
                                      <a:latin typeface="Cambria Math" charset="0"/>
                                      <a:ea typeface="Cambria Math" charset="0"/>
                                      <a:cs typeface="Cambria Math" charset="0"/>
                                    </a:rPr>
                                    <m:t>𝑡</m:t>
                                  </m:r>
                                  <m:r>
                                    <a:rPr lang="en-US" sz="2000" b="0" i="1" smtClean="0">
                                      <a:latin typeface="Cambria Math" charset="0"/>
                                      <a:ea typeface="Cambria Math" charset="0"/>
                                      <a:cs typeface="Cambria Math" charset="0"/>
                                    </a:rPr>
                                    <m:t>−1</m:t>
                                  </m:r>
                                </m:sub>
                              </m:sSub>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𝑥</m:t>
                                  </m:r>
                                </m:e>
                                <m:sub>
                                  <m:r>
                                    <a:rPr lang="en-US" sz="2000" b="0" i="1" smtClean="0">
                                      <a:latin typeface="Cambria Math" charset="0"/>
                                      <a:ea typeface="Cambria Math" charset="0"/>
                                      <a:cs typeface="Cambria Math" charset="0"/>
                                    </a:rPr>
                                    <m:t>𝑡</m:t>
                                  </m:r>
                                </m:sub>
                              </m:sSub>
                            </m:e>
                          </m:d>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𝑏</m:t>
                              </m:r>
                            </m:e>
                            <m:sub>
                              <m:r>
                                <a:rPr lang="en-US" sz="2000" b="0" i="1" smtClean="0">
                                  <a:latin typeface="Cambria Math" charset="0"/>
                                  <a:ea typeface="Cambria Math" charset="0"/>
                                  <a:cs typeface="Cambria Math" charset="0"/>
                                </a:rPr>
                                <m:t>𝐶</m:t>
                              </m:r>
                            </m:sub>
                          </m:sSub>
                        </m:e>
                      </m:d>
                    </m:oMath>
                  </m:oMathPara>
                </a14:m>
                <a:endParaRPr lang="en-US" sz="2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5764925" y="3052408"/>
                <a:ext cx="3271555" cy="307777"/>
              </a:xfrm>
              <a:prstGeom prst="rect">
                <a:avLst/>
              </a:prstGeom>
              <a:blipFill rotWithShape="0">
                <a:blip r:embed="rId10"/>
                <a:stretch>
                  <a:fillRect l="-1679" b="-2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3482094" y="2864273"/>
                <a:ext cx="40620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charset="0"/>
                            </a:rPr>
                            <m:t>𝐶</m:t>
                          </m:r>
                        </m:e>
                        <m:sub>
                          <m:r>
                            <a:rPr lang="en-US" i="1">
                              <a:latin typeface="Cambria Math" charset="0"/>
                            </a:rPr>
                            <m:t>𝑡</m:t>
                          </m:r>
                        </m:sub>
                        <m:sup>
                          <m:r>
                            <a:rPr lang="en-US" i="1">
                              <a:latin typeface="Cambria Math" charset="0"/>
                            </a:rPr>
                            <m:t>′</m:t>
                          </m:r>
                        </m:sup>
                      </m:sSubSup>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3482094" y="2864273"/>
                <a:ext cx="406201" cy="307777"/>
              </a:xfrm>
              <a:prstGeom prst="rect">
                <a:avLst/>
              </a:prstGeom>
              <a:blipFill rotWithShape="0">
                <a:blip r:embed="rId11"/>
                <a:stretch>
                  <a:fillRect/>
                </a:stretch>
              </a:blipFill>
            </p:spPr>
            <p:txBody>
              <a:bodyPr/>
              <a:lstStyle/>
              <a:p>
                <a:r>
                  <a:rPr lang="en-US">
                    <a:noFill/>
                  </a:rPr>
                  <a:t> </a:t>
                </a:r>
              </a:p>
            </p:txBody>
          </p:sp>
        </mc:Fallback>
      </mc:AlternateContent>
      <p:sp>
        <p:nvSpPr>
          <p:cNvPr id="15" name="Rectangle 14"/>
          <p:cNvSpPr/>
          <p:nvPr/>
        </p:nvSpPr>
        <p:spPr>
          <a:xfrm>
            <a:off x="2766646" y="1860701"/>
            <a:ext cx="1023980" cy="20430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465970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0" name="TextBox 9"/>
          <p:cNvSpPr txBox="1"/>
          <p:nvPr/>
        </p:nvSpPr>
        <p:spPr>
          <a:xfrm>
            <a:off x="2650097" y="846578"/>
            <a:ext cx="1746057" cy="707886"/>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Add </a:t>
            </a:r>
            <a:r>
              <a:rPr lang="en-US" sz="2000" smtClean="0">
                <a:solidFill>
                  <a:srgbClr val="FF0000"/>
                </a:solidFill>
                <a:latin typeface="Avenir Book" charset="0"/>
                <a:ea typeface="Avenir Book" charset="0"/>
                <a:cs typeface="Avenir Book" charset="0"/>
              </a:rPr>
              <a:t>in “new”</a:t>
            </a:r>
            <a:endParaRPr lang="en-US" sz="2000" dirty="0" smtClean="0">
              <a:solidFill>
                <a:srgbClr val="FF0000"/>
              </a:solidFill>
              <a:latin typeface="Avenir Book" charset="0"/>
              <a:ea typeface="Avenir Book" charset="0"/>
              <a:cs typeface="Avenir Book" charset="0"/>
            </a:endParaRPr>
          </a:p>
          <a:p>
            <a:r>
              <a:rPr lang="en-US" sz="2000" dirty="0" smtClean="0">
                <a:solidFill>
                  <a:srgbClr val="FF0000"/>
                </a:solidFill>
                <a:latin typeface="Avenir Book" charset="0"/>
                <a:ea typeface="Avenir Book" charset="0"/>
                <a:cs typeface="Avenir Book" charset="0"/>
              </a:rPr>
              <a:t>information</a:t>
            </a:r>
            <a:endParaRPr lang="en-US" sz="2000" dirty="0">
              <a:solidFill>
                <a:srgbClr val="FF0000"/>
              </a:solidFill>
              <a:latin typeface="Avenir Book" charset="0"/>
              <a:ea typeface="Avenir Book" charset="0"/>
              <a:cs typeface="Avenir Book" charset="0"/>
            </a:endParaRPr>
          </a:p>
        </p:txBody>
      </p:sp>
      <p:cxnSp>
        <p:nvCxnSpPr>
          <p:cNvPr id="11" name="Straight Arrow Connector 10"/>
          <p:cNvCxnSpPr/>
          <p:nvPr/>
        </p:nvCxnSpPr>
        <p:spPr>
          <a:xfrm>
            <a:off x="3482094" y="1623109"/>
            <a:ext cx="0" cy="5751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5752195" y="2687587"/>
                <a:ext cx="327155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𝑖</m:t>
                          </m:r>
                        </m:e>
                        <m:sub>
                          <m:r>
                            <a:rPr lang="en-US" sz="2000" i="1">
                              <a:latin typeface="Cambria Math" charset="0"/>
                            </a:rPr>
                            <m:t>𝑡</m:t>
                          </m:r>
                        </m:sub>
                      </m:sSub>
                      <m:r>
                        <a:rPr lang="en-US" sz="2000" b="0" i="1" smtClean="0">
                          <a:latin typeface="Cambria Math" charset="0"/>
                        </a:rPr>
                        <m:t>= </m:t>
                      </m:r>
                      <m:r>
                        <a:rPr lang="en-US" sz="2000" b="0" i="1" smtClean="0">
                          <a:latin typeface="Cambria Math" charset="0"/>
                          <a:ea typeface="Cambria Math" charset="0"/>
                          <a:cs typeface="Cambria Math" charset="0"/>
                        </a:rPr>
                        <m:t>𝜎</m:t>
                      </m:r>
                      <m:d>
                        <m:dPr>
                          <m:ctrlPr>
                            <a:rPr lang="is-IS" sz="2000" b="0" i="1" smtClean="0">
                              <a:latin typeface="Cambria Math" panose="02040503050406030204" pitchFamily="18" charset="0"/>
                              <a:ea typeface="Cambria Math" charset="0"/>
                              <a:cs typeface="Cambria Math" charset="0"/>
                            </a:rPr>
                          </m:ctrlPr>
                        </m:dPr>
                        <m:e>
                          <m:sSub>
                            <m:sSubPr>
                              <m:ctrlPr>
                                <a:rPr lang="en-US" sz="2000" i="1">
                                  <a:latin typeface="Cambria Math" panose="02040503050406030204" pitchFamily="18" charset="0"/>
                                  <a:ea typeface="Cambria Math" charset="0"/>
                                  <a:cs typeface="Cambria Math" charset="0"/>
                                </a:rPr>
                              </m:ctrlPr>
                            </m:sSubPr>
                            <m:e>
                              <m:r>
                                <a:rPr lang="en-US" sz="2000" i="1">
                                  <a:latin typeface="Cambria Math" charset="0"/>
                                  <a:ea typeface="Cambria Math" charset="0"/>
                                  <a:cs typeface="Cambria Math" charset="0"/>
                                </a:rPr>
                                <m:t>𝑊</m:t>
                              </m:r>
                            </m:e>
                            <m:sub>
                              <m:r>
                                <a:rPr lang="en-US" sz="2000" b="0" i="1" smtClean="0">
                                  <a:latin typeface="Cambria Math" charset="0"/>
                                  <a:ea typeface="Cambria Math" charset="0"/>
                                  <a:cs typeface="Cambria Math" charset="0"/>
                                </a:rPr>
                                <m:t>𝑖</m:t>
                              </m:r>
                            </m:sub>
                          </m:sSub>
                          <m:d>
                            <m:dPr>
                              <m:begChr m:val="["/>
                              <m:endChr m:val="]"/>
                              <m:ctrlPr>
                                <a:rPr lang="pt-BR" sz="2000" i="1" smtClean="0">
                                  <a:latin typeface="Cambria Math" panose="02040503050406030204" pitchFamily="18" charset="0"/>
                                  <a:ea typeface="Cambria Math" charset="0"/>
                                  <a:cs typeface="Cambria Math" charset="0"/>
                                </a:rPr>
                              </m:ctrlPr>
                            </m:dPr>
                            <m:e>
                              <m:sSub>
                                <m:sSubPr>
                                  <m:ctrlPr>
                                    <a:rPr lang="en-US" sz="200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h</m:t>
                                  </m:r>
                                </m:e>
                                <m:sub>
                                  <m:r>
                                    <a:rPr lang="en-US" sz="2000" b="0" i="1" smtClean="0">
                                      <a:latin typeface="Cambria Math" charset="0"/>
                                      <a:ea typeface="Cambria Math" charset="0"/>
                                      <a:cs typeface="Cambria Math" charset="0"/>
                                    </a:rPr>
                                    <m:t>𝑡</m:t>
                                  </m:r>
                                  <m:r>
                                    <a:rPr lang="en-US" sz="2000" b="0" i="1" smtClean="0">
                                      <a:latin typeface="Cambria Math" charset="0"/>
                                      <a:ea typeface="Cambria Math" charset="0"/>
                                      <a:cs typeface="Cambria Math" charset="0"/>
                                    </a:rPr>
                                    <m:t>−1</m:t>
                                  </m:r>
                                </m:sub>
                              </m:sSub>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𝑥</m:t>
                                  </m:r>
                                </m:e>
                                <m:sub>
                                  <m:r>
                                    <a:rPr lang="en-US" sz="2000" b="0" i="1" smtClean="0">
                                      <a:latin typeface="Cambria Math" charset="0"/>
                                      <a:ea typeface="Cambria Math" charset="0"/>
                                      <a:cs typeface="Cambria Math" charset="0"/>
                                    </a:rPr>
                                    <m:t>𝑡</m:t>
                                  </m:r>
                                </m:sub>
                              </m:sSub>
                            </m:e>
                          </m:d>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𝑏</m:t>
                              </m:r>
                            </m:e>
                            <m:sub>
                              <m:r>
                                <a:rPr lang="en-US" sz="2000" b="0" i="1" smtClean="0">
                                  <a:latin typeface="Cambria Math" charset="0"/>
                                  <a:ea typeface="Cambria Math" charset="0"/>
                                  <a:cs typeface="Cambria Math" charset="0"/>
                                </a:rPr>
                                <m:t>𝑖</m:t>
                              </m:r>
                            </m:sub>
                          </m:sSub>
                        </m:e>
                      </m:d>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752195" y="2687587"/>
                <a:ext cx="3271555" cy="307777"/>
              </a:xfrm>
              <a:prstGeom prst="rect">
                <a:avLst/>
              </a:prstGeom>
              <a:blipFill rotWithShape="0">
                <a:blip r:embed="rId8"/>
                <a:stretch>
                  <a:fillRect t="-142000" b="-18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696124" y="2638231"/>
                <a:ext cx="370130"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𝑖</m:t>
                          </m:r>
                        </m:e>
                        <m:sub>
                          <m:r>
                            <a:rPr lang="en-US" sz="2000" i="1">
                              <a:latin typeface="Cambria Math" charset="0"/>
                            </a:rPr>
                            <m:t>𝑡</m:t>
                          </m:r>
                        </m:sub>
                      </m:sSub>
                    </m:oMath>
                  </m:oMathPara>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2696124" y="2638231"/>
                <a:ext cx="370130" cy="307777"/>
              </a:xfrm>
              <a:prstGeom prst="rect">
                <a:avLst/>
              </a:prstGeom>
              <a:blipFill rotWithShape="0">
                <a:blip r:embed="rId9"/>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5764925" y="3052408"/>
                <a:ext cx="327155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000" b="0" i="1" smtClean="0">
                              <a:latin typeface="Cambria Math" panose="02040503050406030204" pitchFamily="18" charset="0"/>
                            </a:rPr>
                          </m:ctrlPr>
                        </m:sSubSupPr>
                        <m:e>
                          <m:r>
                            <a:rPr lang="en-US" sz="2000" b="0" i="1" smtClean="0">
                              <a:latin typeface="Cambria Math" charset="0"/>
                            </a:rPr>
                            <m:t>𝐶</m:t>
                          </m:r>
                        </m:e>
                        <m:sub>
                          <m:r>
                            <a:rPr lang="en-US" sz="2000" b="0" i="1" smtClean="0">
                              <a:latin typeface="Cambria Math" charset="0"/>
                            </a:rPr>
                            <m:t>𝑡</m:t>
                          </m:r>
                        </m:sub>
                        <m:sup>
                          <m:r>
                            <a:rPr lang="en-US" sz="2000" b="0" i="1" smtClean="0">
                              <a:latin typeface="Cambria Math" charset="0"/>
                            </a:rPr>
                            <m:t>′</m:t>
                          </m:r>
                        </m:sup>
                      </m:sSubSup>
                      <m:r>
                        <a:rPr lang="en-US" sz="2000" b="0" i="1" smtClean="0">
                          <a:latin typeface="Cambria Math" charset="0"/>
                        </a:rPr>
                        <m:t>=</m:t>
                      </m:r>
                      <m:r>
                        <a:rPr lang="en-US" sz="2000" b="0" i="1" smtClean="0">
                          <a:latin typeface="Cambria Math" charset="0"/>
                        </a:rPr>
                        <m:t>𝑡𝑎𝑛h</m:t>
                      </m:r>
                      <m:d>
                        <m:dPr>
                          <m:ctrlPr>
                            <a:rPr lang="is-IS" sz="2000" b="0" i="1" smtClean="0">
                              <a:latin typeface="Cambria Math" panose="02040503050406030204" pitchFamily="18" charset="0"/>
                              <a:ea typeface="Cambria Math" charset="0"/>
                              <a:cs typeface="Cambria Math" charset="0"/>
                            </a:rPr>
                          </m:ctrlPr>
                        </m:dPr>
                        <m:e>
                          <m:sSub>
                            <m:sSubPr>
                              <m:ctrlPr>
                                <a:rPr lang="en-US" sz="2000" i="1" smtClean="0">
                                  <a:latin typeface="Cambria Math" panose="02040503050406030204" pitchFamily="18" charset="0"/>
                                  <a:ea typeface="Cambria Math" charset="0"/>
                                  <a:cs typeface="Cambria Math" charset="0"/>
                                </a:rPr>
                              </m:ctrlPr>
                            </m:sSubPr>
                            <m:e>
                              <m:r>
                                <a:rPr lang="en-US" sz="2000" i="1">
                                  <a:latin typeface="Cambria Math" charset="0"/>
                                  <a:ea typeface="Cambria Math" charset="0"/>
                                  <a:cs typeface="Cambria Math" charset="0"/>
                                </a:rPr>
                                <m:t>𝑊</m:t>
                              </m:r>
                            </m:e>
                            <m:sub>
                              <m:r>
                                <a:rPr lang="en-US" sz="2000" b="0" i="1" smtClean="0">
                                  <a:latin typeface="Cambria Math" charset="0"/>
                                  <a:ea typeface="Cambria Math" charset="0"/>
                                  <a:cs typeface="Cambria Math" charset="0"/>
                                </a:rPr>
                                <m:t>𝐶</m:t>
                              </m:r>
                            </m:sub>
                          </m:sSub>
                          <m:d>
                            <m:dPr>
                              <m:begChr m:val="["/>
                              <m:endChr m:val="]"/>
                              <m:ctrlPr>
                                <a:rPr lang="pt-BR" sz="2000" i="1" smtClean="0">
                                  <a:latin typeface="Cambria Math" panose="02040503050406030204" pitchFamily="18" charset="0"/>
                                  <a:ea typeface="Cambria Math" charset="0"/>
                                  <a:cs typeface="Cambria Math" charset="0"/>
                                </a:rPr>
                              </m:ctrlPr>
                            </m:dPr>
                            <m:e>
                              <m:sSub>
                                <m:sSubPr>
                                  <m:ctrlPr>
                                    <a:rPr lang="en-US" sz="200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h</m:t>
                                  </m:r>
                                </m:e>
                                <m:sub>
                                  <m:r>
                                    <a:rPr lang="en-US" sz="2000" b="0" i="1" smtClean="0">
                                      <a:latin typeface="Cambria Math" charset="0"/>
                                      <a:ea typeface="Cambria Math" charset="0"/>
                                      <a:cs typeface="Cambria Math" charset="0"/>
                                    </a:rPr>
                                    <m:t>𝑡</m:t>
                                  </m:r>
                                  <m:r>
                                    <a:rPr lang="en-US" sz="2000" b="0" i="1" smtClean="0">
                                      <a:latin typeface="Cambria Math" charset="0"/>
                                      <a:ea typeface="Cambria Math" charset="0"/>
                                      <a:cs typeface="Cambria Math" charset="0"/>
                                    </a:rPr>
                                    <m:t>−1</m:t>
                                  </m:r>
                                </m:sub>
                              </m:sSub>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𝑥</m:t>
                                  </m:r>
                                </m:e>
                                <m:sub>
                                  <m:r>
                                    <a:rPr lang="en-US" sz="2000" b="0" i="1" smtClean="0">
                                      <a:latin typeface="Cambria Math" charset="0"/>
                                      <a:ea typeface="Cambria Math" charset="0"/>
                                      <a:cs typeface="Cambria Math" charset="0"/>
                                    </a:rPr>
                                    <m:t>𝑡</m:t>
                                  </m:r>
                                </m:sub>
                              </m:sSub>
                            </m:e>
                          </m:d>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𝑏</m:t>
                              </m:r>
                            </m:e>
                            <m:sub>
                              <m:r>
                                <a:rPr lang="en-US" sz="2000" b="0" i="1" smtClean="0">
                                  <a:latin typeface="Cambria Math" charset="0"/>
                                  <a:ea typeface="Cambria Math" charset="0"/>
                                  <a:cs typeface="Cambria Math" charset="0"/>
                                </a:rPr>
                                <m:t>𝐶</m:t>
                              </m:r>
                            </m:sub>
                          </m:sSub>
                        </m:e>
                      </m:d>
                    </m:oMath>
                  </m:oMathPara>
                </a14:m>
                <a:endParaRPr lang="en-US" sz="2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5764925" y="3052408"/>
                <a:ext cx="3271555" cy="307777"/>
              </a:xfrm>
              <a:prstGeom prst="rect">
                <a:avLst/>
              </a:prstGeom>
              <a:blipFill rotWithShape="0">
                <a:blip r:embed="rId10"/>
                <a:stretch>
                  <a:fillRect l="-1679" b="-2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3482094" y="2864273"/>
                <a:ext cx="40620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charset="0"/>
                            </a:rPr>
                            <m:t>𝐶</m:t>
                          </m:r>
                        </m:e>
                        <m:sub>
                          <m:r>
                            <a:rPr lang="en-US" i="1">
                              <a:latin typeface="Cambria Math" charset="0"/>
                            </a:rPr>
                            <m:t>𝑡</m:t>
                          </m:r>
                        </m:sub>
                        <m:sup>
                          <m:r>
                            <a:rPr lang="en-US" i="1">
                              <a:latin typeface="Cambria Math" charset="0"/>
                            </a:rPr>
                            <m:t>′</m:t>
                          </m:r>
                        </m:sup>
                      </m:sSubSup>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3482094" y="2864273"/>
                <a:ext cx="406201" cy="307777"/>
              </a:xfrm>
              <a:prstGeom prst="rect">
                <a:avLst/>
              </a:prstGeom>
              <a:blipFill rotWithShape="0">
                <a:blip r:embed="rId11"/>
                <a:stretch>
                  <a:fillRect/>
                </a:stretch>
              </a:blipFill>
            </p:spPr>
            <p:txBody>
              <a:bodyPr/>
              <a:lstStyle/>
              <a:p>
                <a:r>
                  <a:rPr lang="en-US">
                    <a:noFill/>
                  </a:rPr>
                  <a:t> </a:t>
                </a:r>
              </a:p>
            </p:txBody>
          </p:sp>
        </mc:Fallback>
      </mc:AlternateContent>
      <p:cxnSp>
        <p:nvCxnSpPr>
          <p:cNvPr id="15" name="Straight Arrow Connector 14"/>
          <p:cNvCxnSpPr/>
          <p:nvPr/>
        </p:nvCxnSpPr>
        <p:spPr>
          <a:xfrm flipH="1">
            <a:off x="3066254" y="2864274"/>
            <a:ext cx="2889070" cy="30777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766646" y="1860701"/>
            <a:ext cx="1023980" cy="20430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576868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4" name="Rectangle 13"/>
          <p:cNvSpPr/>
          <p:nvPr/>
        </p:nvSpPr>
        <p:spPr>
          <a:xfrm>
            <a:off x="2766646" y="1860701"/>
            <a:ext cx="1023980" cy="20430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TextBox 9"/>
          <p:cNvSpPr txBox="1"/>
          <p:nvPr/>
        </p:nvSpPr>
        <p:spPr>
          <a:xfrm>
            <a:off x="2650097" y="846578"/>
            <a:ext cx="1746057" cy="707886"/>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Add </a:t>
            </a:r>
            <a:r>
              <a:rPr lang="en-US" sz="2000" smtClean="0">
                <a:solidFill>
                  <a:srgbClr val="FF0000"/>
                </a:solidFill>
                <a:latin typeface="Avenir Book" charset="0"/>
                <a:ea typeface="Avenir Book" charset="0"/>
                <a:cs typeface="Avenir Book" charset="0"/>
              </a:rPr>
              <a:t>in “new”</a:t>
            </a:r>
            <a:endParaRPr lang="en-US" sz="2000" dirty="0" smtClean="0">
              <a:solidFill>
                <a:srgbClr val="FF0000"/>
              </a:solidFill>
              <a:latin typeface="Avenir Book" charset="0"/>
              <a:ea typeface="Avenir Book" charset="0"/>
              <a:cs typeface="Avenir Book" charset="0"/>
            </a:endParaRPr>
          </a:p>
          <a:p>
            <a:r>
              <a:rPr lang="en-US" sz="2000" dirty="0" smtClean="0">
                <a:solidFill>
                  <a:srgbClr val="FF0000"/>
                </a:solidFill>
                <a:latin typeface="Avenir Book" charset="0"/>
                <a:ea typeface="Avenir Book" charset="0"/>
                <a:cs typeface="Avenir Book" charset="0"/>
              </a:rPr>
              <a:t>information</a:t>
            </a:r>
            <a:endParaRPr lang="en-US" sz="2000" dirty="0">
              <a:solidFill>
                <a:srgbClr val="FF0000"/>
              </a:solidFill>
              <a:latin typeface="Avenir Book" charset="0"/>
              <a:ea typeface="Avenir Book" charset="0"/>
              <a:cs typeface="Avenir Book" charset="0"/>
            </a:endParaRPr>
          </a:p>
        </p:txBody>
      </p:sp>
      <p:cxnSp>
        <p:nvCxnSpPr>
          <p:cNvPr id="11" name="Straight Arrow Connector 10"/>
          <p:cNvCxnSpPr/>
          <p:nvPr/>
        </p:nvCxnSpPr>
        <p:spPr>
          <a:xfrm>
            <a:off x="3482094" y="1623109"/>
            <a:ext cx="0" cy="5751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5752195" y="2687587"/>
                <a:ext cx="327155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𝑖</m:t>
                          </m:r>
                        </m:e>
                        <m:sub>
                          <m:r>
                            <a:rPr lang="en-US" sz="2000" i="1">
                              <a:latin typeface="Cambria Math" charset="0"/>
                            </a:rPr>
                            <m:t>𝑡</m:t>
                          </m:r>
                        </m:sub>
                      </m:sSub>
                      <m:r>
                        <a:rPr lang="en-US" sz="2000" b="0" i="1" smtClean="0">
                          <a:latin typeface="Cambria Math" charset="0"/>
                        </a:rPr>
                        <m:t>= </m:t>
                      </m:r>
                      <m:r>
                        <a:rPr lang="en-US" sz="2000" b="0" i="1" smtClean="0">
                          <a:latin typeface="Cambria Math" charset="0"/>
                          <a:ea typeface="Cambria Math" charset="0"/>
                          <a:cs typeface="Cambria Math" charset="0"/>
                        </a:rPr>
                        <m:t>𝜎</m:t>
                      </m:r>
                      <m:d>
                        <m:dPr>
                          <m:ctrlPr>
                            <a:rPr lang="is-IS" sz="2000" b="0" i="1" smtClean="0">
                              <a:latin typeface="Cambria Math" panose="02040503050406030204" pitchFamily="18" charset="0"/>
                              <a:ea typeface="Cambria Math" charset="0"/>
                              <a:cs typeface="Cambria Math" charset="0"/>
                            </a:rPr>
                          </m:ctrlPr>
                        </m:dPr>
                        <m:e>
                          <m:sSub>
                            <m:sSubPr>
                              <m:ctrlPr>
                                <a:rPr lang="en-US" sz="2000" i="1">
                                  <a:latin typeface="Cambria Math" panose="02040503050406030204" pitchFamily="18" charset="0"/>
                                  <a:ea typeface="Cambria Math" charset="0"/>
                                  <a:cs typeface="Cambria Math" charset="0"/>
                                </a:rPr>
                              </m:ctrlPr>
                            </m:sSubPr>
                            <m:e>
                              <m:r>
                                <a:rPr lang="en-US" sz="2000" i="1">
                                  <a:latin typeface="Cambria Math" charset="0"/>
                                  <a:ea typeface="Cambria Math" charset="0"/>
                                  <a:cs typeface="Cambria Math" charset="0"/>
                                </a:rPr>
                                <m:t>𝑊</m:t>
                              </m:r>
                            </m:e>
                            <m:sub>
                              <m:r>
                                <a:rPr lang="en-US" sz="2000" b="0" i="1" smtClean="0">
                                  <a:latin typeface="Cambria Math" charset="0"/>
                                  <a:ea typeface="Cambria Math" charset="0"/>
                                  <a:cs typeface="Cambria Math" charset="0"/>
                                </a:rPr>
                                <m:t>𝑖</m:t>
                              </m:r>
                            </m:sub>
                          </m:sSub>
                          <m:d>
                            <m:dPr>
                              <m:begChr m:val="["/>
                              <m:endChr m:val="]"/>
                              <m:ctrlPr>
                                <a:rPr lang="pt-BR" sz="2000" i="1" smtClean="0">
                                  <a:latin typeface="Cambria Math" panose="02040503050406030204" pitchFamily="18" charset="0"/>
                                  <a:ea typeface="Cambria Math" charset="0"/>
                                  <a:cs typeface="Cambria Math" charset="0"/>
                                </a:rPr>
                              </m:ctrlPr>
                            </m:dPr>
                            <m:e>
                              <m:sSub>
                                <m:sSubPr>
                                  <m:ctrlPr>
                                    <a:rPr lang="en-US" sz="200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h</m:t>
                                  </m:r>
                                </m:e>
                                <m:sub>
                                  <m:r>
                                    <a:rPr lang="en-US" sz="2000" b="0" i="1" smtClean="0">
                                      <a:latin typeface="Cambria Math" charset="0"/>
                                      <a:ea typeface="Cambria Math" charset="0"/>
                                      <a:cs typeface="Cambria Math" charset="0"/>
                                    </a:rPr>
                                    <m:t>𝑡</m:t>
                                  </m:r>
                                  <m:r>
                                    <a:rPr lang="en-US" sz="2000" b="0" i="1" smtClean="0">
                                      <a:latin typeface="Cambria Math" charset="0"/>
                                      <a:ea typeface="Cambria Math" charset="0"/>
                                      <a:cs typeface="Cambria Math" charset="0"/>
                                    </a:rPr>
                                    <m:t>−1</m:t>
                                  </m:r>
                                </m:sub>
                              </m:sSub>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𝑥</m:t>
                                  </m:r>
                                </m:e>
                                <m:sub>
                                  <m:r>
                                    <a:rPr lang="en-US" sz="2000" b="0" i="1" smtClean="0">
                                      <a:latin typeface="Cambria Math" charset="0"/>
                                      <a:ea typeface="Cambria Math" charset="0"/>
                                      <a:cs typeface="Cambria Math" charset="0"/>
                                    </a:rPr>
                                    <m:t>𝑡</m:t>
                                  </m:r>
                                </m:sub>
                              </m:sSub>
                            </m:e>
                          </m:d>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𝑏</m:t>
                              </m:r>
                            </m:e>
                            <m:sub>
                              <m:r>
                                <a:rPr lang="en-US" sz="2000" b="0" i="1" smtClean="0">
                                  <a:latin typeface="Cambria Math" charset="0"/>
                                  <a:ea typeface="Cambria Math" charset="0"/>
                                  <a:cs typeface="Cambria Math" charset="0"/>
                                </a:rPr>
                                <m:t>𝑖</m:t>
                              </m:r>
                            </m:sub>
                          </m:sSub>
                        </m:e>
                      </m:d>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752195" y="2687587"/>
                <a:ext cx="3271555" cy="307777"/>
              </a:xfrm>
              <a:prstGeom prst="rect">
                <a:avLst/>
              </a:prstGeom>
              <a:blipFill rotWithShape="0">
                <a:blip r:embed="rId8"/>
                <a:stretch>
                  <a:fillRect t="-142000" b="-18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696124" y="2638231"/>
                <a:ext cx="370130"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𝑖</m:t>
                          </m:r>
                        </m:e>
                        <m:sub>
                          <m:r>
                            <a:rPr lang="en-US" sz="2000" i="1">
                              <a:latin typeface="Cambria Math" charset="0"/>
                            </a:rPr>
                            <m:t>𝑡</m:t>
                          </m:r>
                        </m:sub>
                      </m:sSub>
                    </m:oMath>
                  </m:oMathPara>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2696124" y="2638231"/>
                <a:ext cx="370130" cy="307777"/>
              </a:xfrm>
              <a:prstGeom prst="rect">
                <a:avLst/>
              </a:prstGeom>
              <a:blipFill rotWithShape="0">
                <a:blip r:embed="rId9"/>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5764925" y="3052408"/>
                <a:ext cx="327155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000" b="0" i="1" smtClean="0">
                              <a:latin typeface="Cambria Math" panose="02040503050406030204" pitchFamily="18" charset="0"/>
                            </a:rPr>
                          </m:ctrlPr>
                        </m:sSubSupPr>
                        <m:e>
                          <m:r>
                            <a:rPr lang="en-US" sz="2000" b="0" i="1" smtClean="0">
                              <a:latin typeface="Cambria Math" charset="0"/>
                            </a:rPr>
                            <m:t>𝐶</m:t>
                          </m:r>
                        </m:e>
                        <m:sub>
                          <m:r>
                            <a:rPr lang="en-US" sz="2000" b="0" i="1" smtClean="0">
                              <a:latin typeface="Cambria Math" charset="0"/>
                            </a:rPr>
                            <m:t>𝑡</m:t>
                          </m:r>
                        </m:sub>
                        <m:sup>
                          <m:r>
                            <a:rPr lang="en-US" sz="2000" b="0" i="1" smtClean="0">
                              <a:latin typeface="Cambria Math" charset="0"/>
                            </a:rPr>
                            <m:t>′</m:t>
                          </m:r>
                        </m:sup>
                      </m:sSubSup>
                      <m:r>
                        <a:rPr lang="en-US" sz="2000" b="0" i="1" smtClean="0">
                          <a:latin typeface="Cambria Math" charset="0"/>
                        </a:rPr>
                        <m:t>=</m:t>
                      </m:r>
                      <m:r>
                        <a:rPr lang="en-US" sz="2000" b="0" i="1" smtClean="0">
                          <a:latin typeface="Cambria Math" charset="0"/>
                        </a:rPr>
                        <m:t>𝑡𝑎𝑛h</m:t>
                      </m:r>
                      <m:d>
                        <m:dPr>
                          <m:ctrlPr>
                            <a:rPr lang="is-IS" sz="2000" b="0" i="1" smtClean="0">
                              <a:latin typeface="Cambria Math" panose="02040503050406030204" pitchFamily="18" charset="0"/>
                              <a:ea typeface="Cambria Math" charset="0"/>
                              <a:cs typeface="Cambria Math" charset="0"/>
                            </a:rPr>
                          </m:ctrlPr>
                        </m:dPr>
                        <m:e>
                          <m:sSub>
                            <m:sSubPr>
                              <m:ctrlPr>
                                <a:rPr lang="en-US" sz="2000" i="1" smtClean="0">
                                  <a:latin typeface="Cambria Math" panose="02040503050406030204" pitchFamily="18" charset="0"/>
                                  <a:ea typeface="Cambria Math" charset="0"/>
                                  <a:cs typeface="Cambria Math" charset="0"/>
                                </a:rPr>
                              </m:ctrlPr>
                            </m:sSubPr>
                            <m:e>
                              <m:r>
                                <a:rPr lang="en-US" sz="2000" i="1">
                                  <a:latin typeface="Cambria Math" charset="0"/>
                                  <a:ea typeface="Cambria Math" charset="0"/>
                                  <a:cs typeface="Cambria Math" charset="0"/>
                                </a:rPr>
                                <m:t>𝑊</m:t>
                              </m:r>
                            </m:e>
                            <m:sub>
                              <m:r>
                                <a:rPr lang="en-US" sz="2000" b="0" i="1" smtClean="0">
                                  <a:latin typeface="Cambria Math" charset="0"/>
                                  <a:ea typeface="Cambria Math" charset="0"/>
                                  <a:cs typeface="Cambria Math" charset="0"/>
                                </a:rPr>
                                <m:t>𝐶</m:t>
                              </m:r>
                            </m:sub>
                          </m:sSub>
                          <m:d>
                            <m:dPr>
                              <m:begChr m:val="["/>
                              <m:endChr m:val="]"/>
                              <m:ctrlPr>
                                <a:rPr lang="pt-BR" sz="2000" i="1" smtClean="0">
                                  <a:latin typeface="Cambria Math" panose="02040503050406030204" pitchFamily="18" charset="0"/>
                                  <a:ea typeface="Cambria Math" charset="0"/>
                                  <a:cs typeface="Cambria Math" charset="0"/>
                                </a:rPr>
                              </m:ctrlPr>
                            </m:dPr>
                            <m:e>
                              <m:sSub>
                                <m:sSubPr>
                                  <m:ctrlPr>
                                    <a:rPr lang="en-US" sz="200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h</m:t>
                                  </m:r>
                                </m:e>
                                <m:sub>
                                  <m:r>
                                    <a:rPr lang="en-US" sz="2000" b="0" i="1" smtClean="0">
                                      <a:latin typeface="Cambria Math" charset="0"/>
                                      <a:ea typeface="Cambria Math" charset="0"/>
                                      <a:cs typeface="Cambria Math" charset="0"/>
                                    </a:rPr>
                                    <m:t>𝑡</m:t>
                                  </m:r>
                                  <m:r>
                                    <a:rPr lang="en-US" sz="2000" b="0" i="1" smtClean="0">
                                      <a:latin typeface="Cambria Math" charset="0"/>
                                      <a:ea typeface="Cambria Math" charset="0"/>
                                      <a:cs typeface="Cambria Math" charset="0"/>
                                    </a:rPr>
                                    <m:t>−1</m:t>
                                  </m:r>
                                </m:sub>
                              </m:sSub>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𝑥</m:t>
                                  </m:r>
                                </m:e>
                                <m:sub>
                                  <m:r>
                                    <a:rPr lang="en-US" sz="2000" b="0" i="1" smtClean="0">
                                      <a:latin typeface="Cambria Math" charset="0"/>
                                      <a:ea typeface="Cambria Math" charset="0"/>
                                      <a:cs typeface="Cambria Math" charset="0"/>
                                    </a:rPr>
                                    <m:t>𝑡</m:t>
                                  </m:r>
                                </m:sub>
                              </m:sSub>
                            </m:e>
                          </m:d>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𝑏</m:t>
                              </m:r>
                            </m:e>
                            <m:sub>
                              <m:r>
                                <a:rPr lang="en-US" sz="2000" b="0" i="1" smtClean="0">
                                  <a:latin typeface="Cambria Math" charset="0"/>
                                  <a:ea typeface="Cambria Math" charset="0"/>
                                  <a:cs typeface="Cambria Math" charset="0"/>
                                </a:rPr>
                                <m:t>𝐶</m:t>
                              </m:r>
                            </m:sub>
                          </m:sSub>
                        </m:e>
                      </m:d>
                    </m:oMath>
                  </m:oMathPara>
                </a14:m>
                <a:endParaRPr lang="en-US" sz="2000" dirty="0"/>
              </a:p>
            </p:txBody>
          </p:sp>
        </mc:Choice>
        <mc:Fallback xmlns="">
          <p:sp>
            <p:nvSpPr>
              <p:cNvPr id="17" name="TextBox 16"/>
              <p:cNvSpPr txBox="1">
                <a:spLocks noRot="1" noChangeAspect="1" noMove="1" noResize="1" noEditPoints="1" noAdjustHandles="1" noChangeArrowheads="1" noChangeShapeType="1" noTextEdit="1"/>
              </p:cNvSpPr>
              <p:nvPr/>
            </p:nvSpPr>
            <p:spPr>
              <a:xfrm>
                <a:off x="5764925" y="3052408"/>
                <a:ext cx="3271555" cy="307777"/>
              </a:xfrm>
              <a:prstGeom prst="rect">
                <a:avLst/>
              </a:prstGeom>
              <a:blipFill rotWithShape="0">
                <a:blip r:embed="rId10"/>
                <a:stretch>
                  <a:fillRect l="-1679" b="-2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3482094" y="2864273"/>
                <a:ext cx="40620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charset="0"/>
                            </a:rPr>
                            <m:t>𝐶</m:t>
                          </m:r>
                        </m:e>
                        <m:sub>
                          <m:r>
                            <a:rPr lang="en-US" i="1">
                              <a:latin typeface="Cambria Math" charset="0"/>
                            </a:rPr>
                            <m:t>𝑡</m:t>
                          </m:r>
                        </m:sub>
                        <m:sup>
                          <m:r>
                            <a:rPr lang="en-US" i="1">
                              <a:latin typeface="Cambria Math" charset="0"/>
                            </a:rPr>
                            <m:t>′</m:t>
                          </m:r>
                        </m:sup>
                      </m:sSubSup>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3482094" y="2864273"/>
                <a:ext cx="406201" cy="307777"/>
              </a:xfrm>
              <a:prstGeom prst="rect">
                <a:avLst/>
              </a:prstGeom>
              <a:blipFill rotWithShape="0">
                <a:blip r:embed="rId11"/>
                <a:stretch>
                  <a:fillRect/>
                </a:stretch>
              </a:blipFill>
            </p:spPr>
            <p:txBody>
              <a:bodyPr/>
              <a:lstStyle/>
              <a:p>
                <a:r>
                  <a:rPr lang="en-US">
                    <a:noFill/>
                  </a:rPr>
                  <a:t> </a:t>
                </a:r>
              </a:p>
            </p:txBody>
          </p:sp>
        </mc:Fallback>
      </mc:AlternateContent>
      <p:cxnSp>
        <p:nvCxnSpPr>
          <p:cNvPr id="15" name="Straight Arrow Connector 14"/>
          <p:cNvCxnSpPr/>
          <p:nvPr/>
        </p:nvCxnSpPr>
        <p:spPr>
          <a:xfrm flipH="1">
            <a:off x="3600953" y="3228623"/>
            <a:ext cx="2093450" cy="70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7583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4" name="Rectangle 13"/>
          <p:cNvSpPr/>
          <p:nvPr/>
        </p:nvSpPr>
        <p:spPr>
          <a:xfrm>
            <a:off x="585082" y="2109987"/>
            <a:ext cx="5619681" cy="5143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mc:AlternateContent xmlns:mc="http://schemas.openxmlformats.org/markup-compatibility/2006" xmlns:a14="http://schemas.microsoft.com/office/drawing/2010/main">
        <mc:Choice Requires="a14">
          <p:sp>
            <p:nvSpPr>
              <p:cNvPr id="12" name="TextBox 11"/>
              <p:cNvSpPr txBox="1"/>
              <p:nvPr/>
            </p:nvSpPr>
            <p:spPr>
              <a:xfrm>
                <a:off x="5815810" y="2840661"/>
                <a:ext cx="3020371"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𝐶</m:t>
                          </m:r>
                        </m:e>
                        <m:sub>
                          <m:r>
                            <a:rPr lang="en-US" sz="2000" b="0" i="1" smtClean="0">
                              <a:latin typeface="Cambria Math" charset="0"/>
                            </a:rPr>
                            <m:t>𝑡</m:t>
                          </m:r>
                        </m:sub>
                      </m:sSub>
                      <m:r>
                        <a:rPr lang="en-US" sz="2000" b="0" i="1" smtClean="0">
                          <a:latin typeface="Cambria Math" charset="0"/>
                        </a:rPr>
                        <m:t>=</m:t>
                      </m:r>
                      <m:sSub>
                        <m:sSubPr>
                          <m:ctrlPr>
                            <a:rPr lang="en-US" sz="2000" b="0" i="1" smtClean="0">
                              <a:latin typeface="Cambria Math" panose="02040503050406030204" pitchFamily="18" charset="0"/>
                            </a:rPr>
                          </m:ctrlPr>
                        </m:sSubPr>
                        <m:e>
                          <m:r>
                            <a:rPr lang="en-US" sz="2000" b="0" i="1" smtClean="0">
                              <a:latin typeface="Cambria Math" charset="0"/>
                            </a:rPr>
                            <m:t>𝑓</m:t>
                          </m:r>
                        </m:e>
                        <m:sub>
                          <m:r>
                            <a:rPr lang="en-US" sz="2000" b="0" i="1" smtClean="0">
                              <a:latin typeface="Cambria Math" charset="0"/>
                            </a:rPr>
                            <m:t>𝑖</m:t>
                          </m:r>
                        </m:sub>
                      </m:sSub>
                      <m:r>
                        <a:rPr lang="en-US" sz="2000" b="0" i="1" smtClean="0">
                          <a:latin typeface="Cambria Math" charset="0"/>
                          <a:ea typeface="Cambria Math" charset="0"/>
                          <a:cs typeface="Cambria Math" charset="0"/>
                        </a:rPr>
                        <m:t>∗</m:t>
                      </m:r>
                      <m:sSub>
                        <m:sSubPr>
                          <m:ctrlPr>
                            <a:rPr lang="en-US" sz="2000" i="1">
                              <a:latin typeface="Cambria Math" panose="02040503050406030204" pitchFamily="18" charset="0"/>
                            </a:rPr>
                          </m:ctrlPr>
                        </m:sSubPr>
                        <m:e>
                          <m:r>
                            <a:rPr lang="en-US" sz="2000" i="1">
                              <a:latin typeface="Cambria Math" charset="0"/>
                            </a:rPr>
                            <m:t>𝐶</m:t>
                          </m:r>
                        </m:e>
                        <m:sub>
                          <m:r>
                            <a:rPr lang="en-US" sz="2000" i="1">
                              <a:latin typeface="Cambria Math" charset="0"/>
                            </a:rPr>
                            <m:t>𝑡</m:t>
                          </m:r>
                          <m:r>
                            <a:rPr lang="en-US" sz="2000" b="0" i="1" smtClean="0">
                              <a:latin typeface="Cambria Math" charset="0"/>
                            </a:rPr>
                            <m:t>−1</m:t>
                          </m:r>
                        </m:sub>
                      </m:sSub>
                      <m:r>
                        <a:rPr lang="en-US" sz="2000" b="0" i="1" smtClean="0">
                          <a:latin typeface="Cambria Math" charset="0"/>
                        </a:rPr>
                        <m:t>+</m:t>
                      </m:r>
                      <m:sSub>
                        <m:sSubPr>
                          <m:ctrlPr>
                            <a:rPr lang="en-US" sz="2000" i="1">
                              <a:latin typeface="Cambria Math" panose="02040503050406030204" pitchFamily="18" charset="0"/>
                            </a:rPr>
                          </m:ctrlPr>
                        </m:sSubPr>
                        <m:e>
                          <m:r>
                            <a:rPr lang="en-US" sz="2000" b="0" i="1" smtClean="0">
                              <a:latin typeface="Cambria Math" charset="0"/>
                            </a:rPr>
                            <m:t>𝑖</m:t>
                          </m:r>
                        </m:e>
                        <m:sub>
                          <m:r>
                            <a:rPr lang="en-US" sz="2000" b="0" i="1" smtClean="0">
                              <a:latin typeface="Cambria Math" charset="0"/>
                            </a:rPr>
                            <m:t>𝑡</m:t>
                          </m:r>
                        </m:sub>
                      </m:sSub>
                      <m:r>
                        <a:rPr lang="en-US" sz="2000" i="1" smtClean="0">
                          <a:latin typeface="Cambria Math" charset="0"/>
                          <a:ea typeface="Cambria Math" charset="0"/>
                          <a:cs typeface="Cambria Math" charset="0"/>
                        </a:rPr>
                        <m:t>∗</m:t>
                      </m:r>
                      <m:sSubSup>
                        <m:sSubSupPr>
                          <m:ctrlPr>
                            <a:rPr lang="en-US" sz="2000" i="1">
                              <a:latin typeface="Cambria Math" panose="02040503050406030204" pitchFamily="18" charset="0"/>
                            </a:rPr>
                          </m:ctrlPr>
                        </m:sSubSupPr>
                        <m:e>
                          <m:r>
                            <a:rPr lang="en-US" sz="2000" i="1">
                              <a:latin typeface="Cambria Math" charset="0"/>
                            </a:rPr>
                            <m:t>𝐶</m:t>
                          </m:r>
                        </m:e>
                        <m:sub>
                          <m:r>
                            <a:rPr lang="en-US" sz="2000" i="1">
                              <a:latin typeface="Cambria Math" charset="0"/>
                            </a:rPr>
                            <m:t>𝑡</m:t>
                          </m:r>
                        </m:sub>
                        <m:sup>
                          <m:r>
                            <a:rPr lang="en-US" sz="2000" b="0" i="1" smtClean="0">
                              <a:latin typeface="Cambria Math" charset="0"/>
                            </a:rPr>
                            <m:t>′</m:t>
                          </m:r>
                        </m:sup>
                      </m:sSubSup>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815810" y="2840661"/>
                <a:ext cx="3020371" cy="307777"/>
              </a:xfrm>
              <a:prstGeom prst="rect">
                <a:avLst/>
              </a:prstGeom>
              <a:blipFill rotWithShape="0">
                <a:blip r:embed="rId8"/>
                <a:stretch>
                  <a:fillRect b="-42000"/>
                </a:stretch>
              </a:blipFill>
            </p:spPr>
            <p:txBody>
              <a:bodyPr/>
              <a:lstStyle/>
              <a:p>
                <a:r>
                  <a:rPr lang="en-US">
                    <a:noFill/>
                  </a:rPr>
                  <a:t> </a:t>
                </a:r>
              </a:p>
            </p:txBody>
          </p:sp>
        </mc:Fallback>
      </mc:AlternateContent>
      <p:sp>
        <p:nvSpPr>
          <p:cNvPr id="13" name="TextBox 12"/>
          <p:cNvSpPr txBox="1"/>
          <p:nvPr/>
        </p:nvSpPr>
        <p:spPr>
          <a:xfrm>
            <a:off x="6460097" y="3736334"/>
            <a:ext cx="1007502" cy="1015663"/>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forget the old</a:t>
            </a:r>
          </a:p>
          <a:p>
            <a:r>
              <a:rPr lang="en-US" sz="2000" dirty="0" smtClean="0">
                <a:solidFill>
                  <a:srgbClr val="FF0000"/>
                </a:solidFill>
                <a:latin typeface="Avenir Book" charset="0"/>
                <a:ea typeface="Avenir Book" charset="0"/>
                <a:cs typeface="Avenir Book" charset="0"/>
              </a:rPr>
              <a:t>(or not)</a:t>
            </a:r>
            <a:endParaRPr lang="en-US" sz="2000" dirty="0">
              <a:solidFill>
                <a:srgbClr val="FF0000"/>
              </a:solidFill>
              <a:latin typeface="Avenir Book" charset="0"/>
              <a:ea typeface="Avenir Book" charset="0"/>
              <a:cs typeface="Avenir Book" charset="0"/>
            </a:endParaRPr>
          </a:p>
        </p:txBody>
      </p:sp>
      <p:sp>
        <p:nvSpPr>
          <p:cNvPr id="16" name="TextBox 15"/>
          <p:cNvSpPr txBox="1"/>
          <p:nvPr/>
        </p:nvSpPr>
        <p:spPr>
          <a:xfrm>
            <a:off x="7743361" y="3701165"/>
            <a:ext cx="1092819" cy="1015663"/>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add the new (or not)</a:t>
            </a:r>
            <a:endParaRPr lang="en-US" sz="2000" dirty="0">
              <a:solidFill>
                <a:srgbClr val="FF0000"/>
              </a:solidFill>
              <a:latin typeface="Avenir Book" charset="0"/>
              <a:ea typeface="Avenir Book" charset="0"/>
              <a:cs typeface="Avenir Book" charset="0"/>
            </a:endParaRPr>
          </a:p>
        </p:txBody>
      </p:sp>
      <p:cxnSp>
        <p:nvCxnSpPr>
          <p:cNvPr id="17" name="Straight Arrow Connector 16"/>
          <p:cNvCxnSpPr/>
          <p:nvPr/>
        </p:nvCxnSpPr>
        <p:spPr>
          <a:xfrm flipV="1">
            <a:off x="6846277" y="3148438"/>
            <a:ext cx="117231" cy="5527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8111206" y="3148439"/>
            <a:ext cx="18336" cy="5527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6473548" y="1496445"/>
                <a:ext cx="2541498" cy="1015663"/>
              </a:xfrm>
              <a:prstGeom prst="rect">
                <a:avLst/>
              </a:prstGeom>
              <a:noFill/>
            </p:spPr>
            <p:txBody>
              <a:bodyPr wrap="square" rtlCol="0">
                <a:spAutoFit/>
              </a:bodyPr>
              <a:lstStyle/>
              <a:p>
                <a:r>
                  <a:rPr lang="en-US" sz="2000" smtClean="0">
                    <a:solidFill>
                      <a:srgbClr val="FF0000"/>
                    </a:solidFill>
                    <a:latin typeface="Avenir Book" charset="0"/>
                    <a:ea typeface="Avenir Book" charset="0"/>
                    <a:cs typeface="Avenir Book" charset="0"/>
                  </a:rPr>
                  <a:t>Note: ’</a:t>
                </a:r>
                <a14:m>
                  <m:oMath xmlns:m="http://schemas.openxmlformats.org/officeDocument/2006/math">
                    <m:r>
                      <a:rPr lang="en-US" sz="2000" i="1">
                        <a:latin typeface="Cambria Math" charset="0"/>
                        <a:ea typeface="Cambria Math" charset="0"/>
                        <a:cs typeface="Cambria Math" charset="0"/>
                      </a:rPr>
                      <m:t>∗</m:t>
                    </m:r>
                  </m:oMath>
                </a14:m>
                <a:r>
                  <a:rPr lang="en-US" sz="2000" dirty="0" smtClean="0">
                    <a:solidFill>
                      <a:srgbClr val="FF0000"/>
                    </a:solidFill>
                    <a:latin typeface="Avenir Book" charset="0"/>
                    <a:ea typeface="Avenir Book" charset="0"/>
                    <a:cs typeface="Avenir Book" charset="0"/>
                  </a:rPr>
                  <a:t>‘ represents element-wise multiplication</a:t>
                </a:r>
                <a:endParaRPr lang="en-US" sz="2000" dirty="0">
                  <a:solidFill>
                    <a:srgbClr val="FF0000"/>
                  </a:solidFill>
                  <a:latin typeface="Avenir Book" charset="0"/>
                  <a:ea typeface="Avenir Book" charset="0"/>
                  <a:cs typeface="Avenir Book" charset="0"/>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6473548" y="1496445"/>
                <a:ext cx="2541498" cy="1015663"/>
              </a:xfrm>
              <a:prstGeom prst="rect">
                <a:avLst/>
              </a:prstGeom>
              <a:blipFill rotWithShape="0">
                <a:blip r:embed="rId9"/>
                <a:stretch>
                  <a:fillRect l="-2638" t="-2994" b="-9581"/>
                </a:stretch>
              </a:blipFill>
            </p:spPr>
            <p:txBody>
              <a:bodyPr/>
              <a:lstStyle/>
              <a:p>
                <a:r>
                  <a:rPr lang="en-US">
                    <a:noFill/>
                  </a:rPr>
                  <a:t> </a:t>
                </a:r>
              </a:p>
            </p:txBody>
          </p:sp>
        </mc:Fallback>
      </mc:AlternateContent>
    </p:spTree>
    <p:extLst>
      <p:ext uri="{BB962C8B-B14F-4D97-AF65-F5344CB8AC3E}">
        <p14:creationId xmlns:p14="http://schemas.microsoft.com/office/powerpoint/2010/main" val="50982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p:bldP spid="16"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4" name="Rectangle 13"/>
          <p:cNvSpPr/>
          <p:nvPr/>
        </p:nvSpPr>
        <p:spPr>
          <a:xfrm>
            <a:off x="585082" y="2109987"/>
            <a:ext cx="5619681" cy="5143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mc:AlternateContent xmlns:mc="http://schemas.openxmlformats.org/markup-compatibility/2006" xmlns:a14="http://schemas.microsoft.com/office/drawing/2010/main">
        <mc:Choice Requires="a14">
          <p:sp>
            <p:nvSpPr>
              <p:cNvPr id="12" name="TextBox 11"/>
              <p:cNvSpPr txBox="1"/>
              <p:nvPr/>
            </p:nvSpPr>
            <p:spPr>
              <a:xfrm>
                <a:off x="5815810" y="2840661"/>
                <a:ext cx="3020371"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𝐶</m:t>
                          </m:r>
                        </m:e>
                        <m:sub>
                          <m:r>
                            <a:rPr lang="en-US" sz="2000" b="0" i="1" smtClean="0">
                              <a:latin typeface="Cambria Math" charset="0"/>
                            </a:rPr>
                            <m:t>𝑡</m:t>
                          </m:r>
                        </m:sub>
                      </m:sSub>
                      <m:r>
                        <a:rPr lang="en-US" sz="2000" b="0" i="1" smtClean="0">
                          <a:latin typeface="Cambria Math" charset="0"/>
                        </a:rPr>
                        <m:t>=</m:t>
                      </m:r>
                      <m:sSub>
                        <m:sSubPr>
                          <m:ctrlPr>
                            <a:rPr lang="en-US" sz="2000" b="0" i="1" smtClean="0">
                              <a:latin typeface="Cambria Math" panose="02040503050406030204" pitchFamily="18" charset="0"/>
                            </a:rPr>
                          </m:ctrlPr>
                        </m:sSubPr>
                        <m:e>
                          <m:r>
                            <a:rPr lang="en-US" sz="2000" b="0" i="1" smtClean="0">
                              <a:latin typeface="Cambria Math" charset="0"/>
                            </a:rPr>
                            <m:t>𝑓</m:t>
                          </m:r>
                        </m:e>
                        <m:sub>
                          <m:r>
                            <a:rPr lang="en-US" sz="2000" b="0" i="1" smtClean="0">
                              <a:latin typeface="Cambria Math" charset="0"/>
                            </a:rPr>
                            <m:t>𝑖</m:t>
                          </m:r>
                        </m:sub>
                      </m:sSub>
                      <m:r>
                        <a:rPr lang="en-US" sz="2000" b="0" i="1" smtClean="0">
                          <a:latin typeface="Cambria Math" charset="0"/>
                          <a:ea typeface="Cambria Math" charset="0"/>
                          <a:cs typeface="Cambria Math" charset="0"/>
                        </a:rPr>
                        <m:t>∗</m:t>
                      </m:r>
                      <m:sSub>
                        <m:sSubPr>
                          <m:ctrlPr>
                            <a:rPr lang="en-US" sz="2000" i="1">
                              <a:latin typeface="Cambria Math" panose="02040503050406030204" pitchFamily="18" charset="0"/>
                            </a:rPr>
                          </m:ctrlPr>
                        </m:sSubPr>
                        <m:e>
                          <m:r>
                            <a:rPr lang="en-US" sz="2000" i="1">
                              <a:latin typeface="Cambria Math" charset="0"/>
                            </a:rPr>
                            <m:t>𝐶</m:t>
                          </m:r>
                        </m:e>
                        <m:sub>
                          <m:r>
                            <a:rPr lang="en-US" sz="2000" i="1">
                              <a:latin typeface="Cambria Math" charset="0"/>
                            </a:rPr>
                            <m:t>𝑡</m:t>
                          </m:r>
                          <m:r>
                            <a:rPr lang="en-US" sz="2000" b="0" i="1" smtClean="0">
                              <a:latin typeface="Cambria Math" charset="0"/>
                            </a:rPr>
                            <m:t>−1</m:t>
                          </m:r>
                        </m:sub>
                      </m:sSub>
                      <m:r>
                        <a:rPr lang="en-US" sz="2000" b="0" i="1" smtClean="0">
                          <a:latin typeface="Cambria Math" charset="0"/>
                        </a:rPr>
                        <m:t>+</m:t>
                      </m:r>
                      <m:sSub>
                        <m:sSubPr>
                          <m:ctrlPr>
                            <a:rPr lang="en-US" sz="2000" i="1">
                              <a:latin typeface="Cambria Math" panose="02040503050406030204" pitchFamily="18" charset="0"/>
                            </a:rPr>
                          </m:ctrlPr>
                        </m:sSubPr>
                        <m:e>
                          <m:r>
                            <a:rPr lang="en-US" sz="2000" b="0" i="1" smtClean="0">
                              <a:latin typeface="Cambria Math" charset="0"/>
                            </a:rPr>
                            <m:t>𝑖</m:t>
                          </m:r>
                        </m:e>
                        <m:sub>
                          <m:r>
                            <a:rPr lang="en-US" sz="2000" b="0" i="1" smtClean="0">
                              <a:latin typeface="Cambria Math" charset="0"/>
                            </a:rPr>
                            <m:t>𝑡</m:t>
                          </m:r>
                        </m:sub>
                      </m:sSub>
                      <m:r>
                        <a:rPr lang="en-US" sz="2000" i="1" smtClean="0">
                          <a:latin typeface="Cambria Math" charset="0"/>
                          <a:ea typeface="Cambria Math" charset="0"/>
                          <a:cs typeface="Cambria Math" charset="0"/>
                        </a:rPr>
                        <m:t>∗</m:t>
                      </m:r>
                      <m:sSubSup>
                        <m:sSubSupPr>
                          <m:ctrlPr>
                            <a:rPr lang="en-US" sz="2000" i="1">
                              <a:latin typeface="Cambria Math" panose="02040503050406030204" pitchFamily="18" charset="0"/>
                            </a:rPr>
                          </m:ctrlPr>
                        </m:sSubSupPr>
                        <m:e>
                          <m:r>
                            <a:rPr lang="en-US" sz="2000" i="1">
                              <a:latin typeface="Cambria Math" charset="0"/>
                            </a:rPr>
                            <m:t>𝐶</m:t>
                          </m:r>
                        </m:e>
                        <m:sub>
                          <m:r>
                            <a:rPr lang="en-US" sz="2000" i="1">
                              <a:latin typeface="Cambria Math" charset="0"/>
                            </a:rPr>
                            <m:t>𝑡</m:t>
                          </m:r>
                        </m:sub>
                        <m:sup>
                          <m:r>
                            <a:rPr lang="en-US" sz="2000" b="0" i="1" smtClean="0">
                              <a:latin typeface="Cambria Math" charset="0"/>
                            </a:rPr>
                            <m:t>′</m:t>
                          </m:r>
                        </m:sup>
                      </m:sSubSup>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815810" y="2840661"/>
                <a:ext cx="3020371" cy="307777"/>
              </a:xfrm>
              <a:prstGeom prst="rect">
                <a:avLst/>
              </a:prstGeom>
              <a:blipFill rotWithShape="0">
                <a:blip r:embed="rId8"/>
                <a:stretch>
                  <a:fillRect b="-42000"/>
                </a:stretch>
              </a:blipFill>
            </p:spPr>
            <p:txBody>
              <a:bodyPr/>
              <a:lstStyle/>
              <a:p>
                <a:r>
                  <a:rPr lang="en-US">
                    <a:noFill/>
                  </a:rPr>
                  <a:t> </a:t>
                </a:r>
              </a:p>
            </p:txBody>
          </p:sp>
        </mc:Fallback>
      </mc:AlternateContent>
      <p:sp>
        <p:nvSpPr>
          <p:cNvPr id="13" name="TextBox 12"/>
          <p:cNvSpPr txBox="1"/>
          <p:nvPr/>
        </p:nvSpPr>
        <p:spPr>
          <a:xfrm>
            <a:off x="6460097" y="3736334"/>
            <a:ext cx="1007502" cy="1015663"/>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forget the old</a:t>
            </a:r>
          </a:p>
          <a:p>
            <a:r>
              <a:rPr lang="en-US" sz="2000" dirty="0" smtClean="0">
                <a:solidFill>
                  <a:srgbClr val="FF0000"/>
                </a:solidFill>
                <a:latin typeface="Avenir Book" charset="0"/>
                <a:ea typeface="Avenir Book" charset="0"/>
                <a:cs typeface="Avenir Book" charset="0"/>
              </a:rPr>
              <a:t>(or not)</a:t>
            </a:r>
            <a:endParaRPr lang="en-US" sz="2000" dirty="0">
              <a:solidFill>
                <a:srgbClr val="FF0000"/>
              </a:solidFill>
              <a:latin typeface="Avenir Book" charset="0"/>
              <a:ea typeface="Avenir Book" charset="0"/>
              <a:cs typeface="Avenir Book" charset="0"/>
            </a:endParaRPr>
          </a:p>
        </p:txBody>
      </p:sp>
      <p:sp>
        <p:nvSpPr>
          <p:cNvPr id="16" name="TextBox 15"/>
          <p:cNvSpPr txBox="1"/>
          <p:nvPr/>
        </p:nvSpPr>
        <p:spPr>
          <a:xfrm>
            <a:off x="7743361" y="3701165"/>
            <a:ext cx="1092819" cy="1015663"/>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add the new (or not)</a:t>
            </a:r>
            <a:endParaRPr lang="en-US" sz="2000" dirty="0">
              <a:solidFill>
                <a:srgbClr val="FF0000"/>
              </a:solidFill>
              <a:latin typeface="Avenir Book" charset="0"/>
              <a:ea typeface="Avenir Book" charset="0"/>
              <a:cs typeface="Avenir Book" charset="0"/>
            </a:endParaRPr>
          </a:p>
        </p:txBody>
      </p:sp>
      <p:cxnSp>
        <p:nvCxnSpPr>
          <p:cNvPr id="17" name="Straight Arrow Connector 16"/>
          <p:cNvCxnSpPr/>
          <p:nvPr/>
        </p:nvCxnSpPr>
        <p:spPr>
          <a:xfrm flipV="1">
            <a:off x="6846277" y="3148438"/>
            <a:ext cx="117231" cy="5527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8111206" y="3148439"/>
            <a:ext cx="18336" cy="5527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6473548" y="1496445"/>
                <a:ext cx="2541498" cy="1015663"/>
              </a:xfrm>
              <a:prstGeom prst="rect">
                <a:avLst/>
              </a:prstGeom>
              <a:noFill/>
            </p:spPr>
            <p:txBody>
              <a:bodyPr wrap="square" rtlCol="0">
                <a:spAutoFit/>
              </a:bodyPr>
              <a:lstStyle/>
              <a:p>
                <a:r>
                  <a:rPr lang="en-US" sz="2000" smtClean="0">
                    <a:solidFill>
                      <a:srgbClr val="FF0000"/>
                    </a:solidFill>
                    <a:latin typeface="Avenir Book" charset="0"/>
                    <a:ea typeface="Avenir Book" charset="0"/>
                    <a:cs typeface="Avenir Book" charset="0"/>
                  </a:rPr>
                  <a:t>Note: ’</a:t>
                </a:r>
                <a14:m>
                  <m:oMath xmlns:m="http://schemas.openxmlformats.org/officeDocument/2006/math">
                    <m:r>
                      <a:rPr lang="en-US" sz="2000" i="1">
                        <a:latin typeface="Cambria Math" charset="0"/>
                        <a:ea typeface="Cambria Math" charset="0"/>
                        <a:cs typeface="Cambria Math" charset="0"/>
                      </a:rPr>
                      <m:t>∗</m:t>
                    </m:r>
                  </m:oMath>
                </a14:m>
                <a:r>
                  <a:rPr lang="en-US" sz="2000" dirty="0" smtClean="0">
                    <a:solidFill>
                      <a:srgbClr val="FF0000"/>
                    </a:solidFill>
                    <a:latin typeface="Avenir Book" charset="0"/>
                    <a:ea typeface="Avenir Book" charset="0"/>
                    <a:cs typeface="Avenir Book" charset="0"/>
                  </a:rPr>
                  <a:t>‘ represents element-wise multiplication</a:t>
                </a:r>
                <a:endParaRPr lang="en-US" sz="2000" dirty="0">
                  <a:solidFill>
                    <a:srgbClr val="FF0000"/>
                  </a:solidFill>
                  <a:latin typeface="Avenir Book" charset="0"/>
                  <a:ea typeface="Avenir Book" charset="0"/>
                  <a:cs typeface="Avenir Book" charset="0"/>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6473548" y="1496445"/>
                <a:ext cx="2541498" cy="1015663"/>
              </a:xfrm>
              <a:prstGeom prst="rect">
                <a:avLst/>
              </a:prstGeom>
              <a:blipFill rotWithShape="0">
                <a:blip r:embed="rId9"/>
                <a:stretch>
                  <a:fillRect l="-2638" t="-2994" b="-9581"/>
                </a:stretch>
              </a:blipFill>
            </p:spPr>
            <p:txBody>
              <a:bodyPr/>
              <a:lstStyle/>
              <a:p>
                <a:r>
                  <a:rPr lang="en-US">
                    <a:noFill/>
                  </a:rPr>
                  <a:t> </a:t>
                </a:r>
              </a:p>
            </p:txBody>
          </p:sp>
        </mc:Fallback>
      </mc:AlternateContent>
      <p:cxnSp>
        <p:nvCxnSpPr>
          <p:cNvPr id="15" name="Straight Arrow Connector 14"/>
          <p:cNvCxnSpPr/>
          <p:nvPr/>
        </p:nvCxnSpPr>
        <p:spPr>
          <a:xfrm flipH="1" flipV="1">
            <a:off x="2567355" y="2379785"/>
            <a:ext cx="3906193" cy="153572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6051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p:bldP spid="16"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4" name="Rectangle 13"/>
          <p:cNvSpPr/>
          <p:nvPr/>
        </p:nvSpPr>
        <p:spPr>
          <a:xfrm>
            <a:off x="585082" y="2109987"/>
            <a:ext cx="5619681" cy="5143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mc:AlternateContent xmlns:mc="http://schemas.openxmlformats.org/markup-compatibility/2006" xmlns:a14="http://schemas.microsoft.com/office/drawing/2010/main">
        <mc:Choice Requires="a14">
          <p:sp>
            <p:nvSpPr>
              <p:cNvPr id="12" name="TextBox 11"/>
              <p:cNvSpPr txBox="1"/>
              <p:nvPr/>
            </p:nvSpPr>
            <p:spPr>
              <a:xfrm>
                <a:off x="5815810" y="2840661"/>
                <a:ext cx="3020371"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𝐶</m:t>
                          </m:r>
                        </m:e>
                        <m:sub>
                          <m:r>
                            <a:rPr lang="en-US" sz="2000" b="0" i="1" smtClean="0">
                              <a:latin typeface="Cambria Math" charset="0"/>
                            </a:rPr>
                            <m:t>𝑡</m:t>
                          </m:r>
                        </m:sub>
                      </m:sSub>
                      <m:r>
                        <a:rPr lang="en-US" sz="2000" b="0" i="1" smtClean="0">
                          <a:latin typeface="Cambria Math" charset="0"/>
                        </a:rPr>
                        <m:t>=</m:t>
                      </m:r>
                      <m:sSub>
                        <m:sSubPr>
                          <m:ctrlPr>
                            <a:rPr lang="en-US" sz="2000" b="0" i="1" smtClean="0">
                              <a:latin typeface="Cambria Math" panose="02040503050406030204" pitchFamily="18" charset="0"/>
                            </a:rPr>
                          </m:ctrlPr>
                        </m:sSubPr>
                        <m:e>
                          <m:r>
                            <a:rPr lang="en-US" sz="2000" b="0" i="1" smtClean="0">
                              <a:latin typeface="Cambria Math" charset="0"/>
                            </a:rPr>
                            <m:t>𝑓</m:t>
                          </m:r>
                        </m:e>
                        <m:sub>
                          <m:r>
                            <a:rPr lang="en-US" sz="2000" b="0" i="1" smtClean="0">
                              <a:latin typeface="Cambria Math" charset="0"/>
                            </a:rPr>
                            <m:t>𝑖</m:t>
                          </m:r>
                        </m:sub>
                      </m:sSub>
                      <m:r>
                        <a:rPr lang="en-US" sz="2000" b="0" i="1" smtClean="0">
                          <a:latin typeface="Cambria Math" charset="0"/>
                          <a:ea typeface="Cambria Math" charset="0"/>
                          <a:cs typeface="Cambria Math" charset="0"/>
                        </a:rPr>
                        <m:t>∗</m:t>
                      </m:r>
                      <m:sSub>
                        <m:sSubPr>
                          <m:ctrlPr>
                            <a:rPr lang="en-US" sz="2000" i="1">
                              <a:latin typeface="Cambria Math" panose="02040503050406030204" pitchFamily="18" charset="0"/>
                            </a:rPr>
                          </m:ctrlPr>
                        </m:sSubPr>
                        <m:e>
                          <m:r>
                            <a:rPr lang="en-US" sz="2000" i="1">
                              <a:latin typeface="Cambria Math" charset="0"/>
                            </a:rPr>
                            <m:t>𝐶</m:t>
                          </m:r>
                        </m:e>
                        <m:sub>
                          <m:r>
                            <a:rPr lang="en-US" sz="2000" i="1">
                              <a:latin typeface="Cambria Math" charset="0"/>
                            </a:rPr>
                            <m:t>𝑡</m:t>
                          </m:r>
                          <m:r>
                            <a:rPr lang="en-US" sz="2000" b="0" i="1" smtClean="0">
                              <a:latin typeface="Cambria Math" charset="0"/>
                            </a:rPr>
                            <m:t>−1</m:t>
                          </m:r>
                        </m:sub>
                      </m:sSub>
                      <m:r>
                        <a:rPr lang="en-US" sz="2000" b="0" i="1" smtClean="0">
                          <a:latin typeface="Cambria Math" charset="0"/>
                        </a:rPr>
                        <m:t>+</m:t>
                      </m:r>
                      <m:sSub>
                        <m:sSubPr>
                          <m:ctrlPr>
                            <a:rPr lang="en-US" sz="2000" i="1">
                              <a:latin typeface="Cambria Math" panose="02040503050406030204" pitchFamily="18" charset="0"/>
                            </a:rPr>
                          </m:ctrlPr>
                        </m:sSubPr>
                        <m:e>
                          <m:r>
                            <a:rPr lang="en-US" sz="2000" b="0" i="1" smtClean="0">
                              <a:latin typeface="Cambria Math" charset="0"/>
                            </a:rPr>
                            <m:t>𝑖</m:t>
                          </m:r>
                        </m:e>
                        <m:sub>
                          <m:r>
                            <a:rPr lang="en-US" sz="2000" b="0" i="1" smtClean="0">
                              <a:latin typeface="Cambria Math" charset="0"/>
                            </a:rPr>
                            <m:t>𝑡</m:t>
                          </m:r>
                        </m:sub>
                      </m:sSub>
                      <m:r>
                        <a:rPr lang="en-US" sz="2000" i="1" smtClean="0">
                          <a:latin typeface="Cambria Math" charset="0"/>
                          <a:ea typeface="Cambria Math" charset="0"/>
                          <a:cs typeface="Cambria Math" charset="0"/>
                        </a:rPr>
                        <m:t>∗</m:t>
                      </m:r>
                      <m:sSubSup>
                        <m:sSubSupPr>
                          <m:ctrlPr>
                            <a:rPr lang="en-US" sz="2000" i="1">
                              <a:latin typeface="Cambria Math" panose="02040503050406030204" pitchFamily="18" charset="0"/>
                            </a:rPr>
                          </m:ctrlPr>
                        </m:sSubSupPr>
                        <m:e>
                          <m:r>
                            <a:rPr lang="en-US" sz="2000" i="1">
                              <a:latin typeface="Cambria Math" charset="0"/>
                            </a:rPr>
                            <m:t>𝐶</m:t>
                          </m:r>
                        </m:e>
                        <m:sub>
                          <m:r>
                            <a:rPr lang="en-US" sz="2000" i="1">
                              <a:latin typeface="Cambria Math" charset="0"/>
                            </a:rPr>
                            <m:t>𝑡</m:t>
                          </m:r>
                        </m:sub>
                        <m:sup>
                          <m:r>
                            <a:rPr lang="en-US" sz="2000" b="0" i="1" smtClean="0">
                              <a:latin typeface="Cambria Math" charset="0"/>
                            </a:rPr>
                            <m:t>′</m:t>
                          </m:r>
                        </m:sup>
                      </m:sSubSup>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815810" y="2840661"/>
                <a:ext cx="3020371" cy="307777"/>
              </a:xfrm>
              <a:prstGeom prst="rect">
                <a:avLst/>
              </a:prstGeom>
              <a:blipFill rotWithShape="0">
                <a:blip r:embed="rId8"/>
                <a:stretch>
                  <a:fillRect b="-42000"/>
                </a:stretch>
              </a:blipFill>
            </p:spPr>
            <p:txBody>
              <a:bodyPr/>
              <a:lstStyle/>
              <a:p>
                <a:r>
                  <a:rPr lang="en-US">
                    <a:noFill/>
                  </a:rPr>
                  <a:t> </a:t>
                </a:r>
              </a:p>
            </p:txBody>
          </p:sp>
        </mc:Fallback>
      </mc:AlternateContent>
      <p:sp>
        <p:nvSpPr>
          <p:cNvPr id="13" name="TextBox 12"/>
          <p:cNvSpPr txBox="1"/>
          <p:nvPr/>
        </p:nvSpPr>
        <p:spPr>
          <a:xfrm>
            <a:off x="6460097" y="3736334"/>
            <a:ext cx="1007502" cy="1015663"/>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forget the old</a:t>
            </a:r>
          </a:p>
          <a:p>
            <a:r>
              <a:rPr lang="en-US" sz="2000" dirty="0" smtClean="0">
                <a:solidFill>
                  <a:srgbClr val="FF0000"/>
                </a:solidFill>
                <a:latin typeface="Avenir Book" charset="0"/>
                <a:ea typeface="Avenir Book" charset="0"/>
                <a:cs typeface="Avenir Book" charset="0"/>
              </a:rPr>
              <a:t>(or not)</a:t>
            </a:r>
            <a:endParaRPr lang="en-US" sz="2000" dirty="0">
              <a:solidFill>
                <a:srgbClr val="FF0000"/>
              </a:solidFill>
              <a:latin typeface="Avenir Book" charset="0"/>
              <a:ea typeface="Avenir Book" charset="0"/>
              <a:cs typeface="Avenir Book" charset="0"/>
            </a:endParaRPr>
          </a:p>
        </p:txBody>
      </p:sp>
      <p:sp>
        <p:nvSpPr>
          <p:cNvPr id="16" name="TextBox 15"/>
          <p:cNvSpPr txBox="1"/>
          <p:nvPr/>
        </p:nvSpPr>
        <p:spPr>
          <a:xfrm>
            <a:off x="7743361" y="3701165"/>
            <a:ext cx="1092819" cy="1015663"/>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add the new (or not)</a:t>
            </a:r>
            <a:endParaRPr lang="en-US" sz="2000" dirty="0">
              <a:solidFill>
                <a:srgbClr val="FF0000"/>
              </a:solidFill>
              <a:latin typeface="Avenir Book" charset="0"/>
              <a:ea typeface="Avenir Book" charset="0"/>
              <a:cs typeface="Avenir Book" charset="0"/>
            </a:endParaRPr>
          </a:p>
        </p:txBody>
      </p:sp>
      <p:cxnSp>
        <p:nvCxnSpPr>
          <p:cNvPr id="17" name="Straight Arrow Connector 16"/>
          <p:cNvCxnSpPr/>
          <p:nvPr/>
        </p:nvCxnSpPr>
        <p:spPr>
          <a:xfrm flipV="1">
            <a:off x="6846277" y="3148438"/>
            <a:ext cx="117231" cy="5527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8111206" y="3148439"/>
            <a:ext cx="18336" cy="5527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p:cNvSpPr txBox="1"/>
              <p:nvPr/>
            </p:nvSpPr>
            <p:spPr>
              <a:xfrm>
                <a:off x="6473548" y="1496445"/>
                <a:ext cx="2541498" cy="1015663"/>
              </a:xfrm>
              <a:prstGeom prst="rect">
                <a:avLst/>
              </a:prstGeom>
              <a:noFill/>
            </p:spPr>
            <p:txBody>
              <a:bodyPr wrap="square" rtlCol="0">
                <a:spAutoFit/>
              </a:bodyPr>
              <a:lstStyle/>
              <a:p>
                <a:r>
                  <a:rPr lang="en-US" sz="2000" smtClean="0">
                    <a:solidFill>
                      <a:srgbClr val="FF0000"/>
                    </a:solidFill>
                    <a:latin typeface="Avenir Book" charset="0"/>
                    <a:ea typeface="Avenir Book" charset="0"/>
                    <a:cs typeface="Avenir Book" charset="0"/>
                  </a:rPr>
                  <a:t>Note: ’</a:t>
                </a:r>
                <a14:m>
                  <m:oMath xmlns:m="http://schemas.openxmlformats.org/officeDocument/2006/math">
                    <m:r>
                      <a:rPr lang="en-US" sz="2000" i="1">
                        <a:latin typeface="Cambria Math" charset="0"/>
                        <a:ea typeface="Cambria Math" charset="0"/>
                        <a:cs typeface="Cambria Math" charset="0"/>
                      </a:rPr>
                      <m:t>∗</m:t>
                    </m:r>
                  </m:oMath>
                </a14:m>
                <a:r>
                  <a:rPr lang="en-US" sz="2000" dirty="0" smtClean="0">
                    <a:solidFill>
                      <a:srgbClr val="FF0000"/>
                    </a:solidFill>
                    <a:latin typeface="Avenir Book" charset="0"/>
                    <a:ea typeface="Avenir Book" charset="0"/>
                    <a:cs typeface="Avenir Book" charset="0"/>
                  </a:rPr>
                  <a:t>‘ represents element-wise multiplication</a:t>
                </a:r>
                <a:endParaRPr lang="en-US" sz="2000" dirty="0">
                  <a:solidFill>
                    <a:srgbClr val="FF0000"/>
                  </a:solidFill>
                  <a:latin typeface="Avenir Book" charset="0"/>
                  <a:ea typeface="Avenir Book" charset="0"/>
                  <a:cs typeface="Avenir Book" charset="0"/>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6473548" y="1496445"/>
                <a:ext cx="2541498" cy="1015663"/>
              </a:xfrm>
              <a:prstGeom prst="rect">
                <a:avLst/>
              </a:prstGeom>
              <a:blipFill rotWithShape="0">
                <a:blip r:embed="rId9"/>
                <a:stretch>
                  <a:fillRect l="-2638" t="-2994" b="-9581"/>
                </a:stretch>
              </a:blipFill>
            </p:spPr>
            <p:txBody>
              <a:bodyPr/>
              <a:lstStyle/>
              <a:p>
                <a:r>
                  <a:rPr lang="en-US">
                    <a:noFill/>
                  </a:rPr>
                  <a:t> </a:t>
                </a:r>
              </a:p>
            </p:txBody>
          </p:sp>
        </mc:Fallback>
      </mc:AlternateContent>
      <p:cxnSp>
        <p:nvCxnSpPr>
          <p:cNvPr id="15" name="Straight Arrow Connector 14"/>
          <p:cNvCxnSpPr/>
          <p:nvPr/>
        </p:nvCxnSpPr>
        <p:spPr>
          <a:xfrm flipH="1" flipV="1">
            <a:off x="3505431" y="2440765"/>
            <a:ext cx="4330013" cy="136011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028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p:bldP spid="16"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4" name="Rectangle 13"/>
          <p:cNvSpPr/>
          <p:nvPr/>
        </p:nvSpPr>
        <p:spPr>
          <a:xfrm>
            <a:off x="3703901" y="858247"/>
            <a:ext cx="1826729" cy="31510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5" name="TextBox 14"/>
          <p:cNvSpPr txBox="1"/>
          <p:nvPr/>
        </p:nvSpPr>
        <p:spPr>
          <a:xfrm>
            <a:off x="5946010" y="1184193"/>
            <a:ext cx="2890171" cy="707886"/>
          </a:xfrm>
          <a:prstGeom prst="rect">
            <a:avLst/>
          </a:prstGeom>
          <a:noFill/>
        </p:spPr>
        <p:txBody>
          <a:bodyPr wrap="square" rtlCol="0">
            <a:spAutoFit/>
          </a:bodyPr>
          <a:lstStyle/>
          <a:p>
            <a:r>
              <a:rPr lang="en-US" sz="2000" dirty="0">
                <a:solidFill>
                  <a:srgbClr val="FF0000"/>
                </a:solidFill>
                <a:latin typeface="Avenir Book" charset="0"/>
                <a:ea typeface="Avenir Book" charset="0"/>
                <a:cs typeface="Avenir Book" charset="0"/>
              </a:rPr>
              <a:t>F</a:t>
            </a:r>
            <a:r>
              <a:rPr lang="en-US" sz="2000" dirty="0" smtClean="0">
                <a:solidFill>
                  <a:srgbClr val="FF0000"/>
                </a:solidFill>
                <a:latin typeface="Avenir Book" charset="0"/>
                <a:ea typeface="Avenir Book" charset="0"/>
                <a:cs typeface="Avenir Book" charset="0"/>
              </a:rPr>
              <a:t>inal stage computes the output</a:t>
            </a:r>
            <a:endParaRPr lang="en-US" sz="2000" dirty="0">
              <a:solidFill>
                <a:srgbClr val="FF0000"/>
              </a:solidFill>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10" name="TextBox 9"/>
              <p:cNvSpPr txBox="1"/>
              <p:nvPr/>
            </p:nvSpPr>
            <p:spPr>
              <a:xfrm>
                <a:off x="3786370" y="2519660"/>
                <a:ext cx="370130"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𝑜</m:t>
                          </m:r>
                        </m:e>
                        <m:sub>
                          <m:r>
                            <a:rPr lang="en-US" sz="2000" i="1">
                              <a:latin typeface="Cambria Math" charset="0"/>
                            </a:rPr>
                            <m:t>𝑡</m:t>
                          </m:r>
                        </m:sub>
                      </m:sSub>
                    </m:oMath>
                  </m:oMathPara>
                </a14:m>
                <a:endParaRPr lang="en-US"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3786370" y="2519660"/>
                <a:ext cx="370130" cy="307777"/>
              </a:xfrm>
              <a:prstGeom prst="rect">
                <a:avLst/>
              </a:prstGeom>
              <a:blipFill rotWithShape="0">
                <a:blip r:embed="rId8"/>
                <a:stretch>
                  <a:fillRect b="-176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752195" y="2687587"/>
                <a:ext cx="327155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𝑜</m:t>
                          </m:r>
                        </m:e>
                        <m:sub>
                          <m:r>
                            <a:rPr lang="en-US" sz="2000" i="1">
                              <a:latin typeface="Cambria Math" charset="0"/>
                            </a:rPr>
                            <m:t>𝑡</m:t>
                          </m:r>
                        </m:sub>
                      </m:sSub>
                      <m:r>
                        <a:rPr lang="en-US" sz="2000" b="0" i="1" smtClean="0">
                          <a:latin typeface="Cambria Math" charset="0"/>
                        </a:rPr>
                        <m:t>= </m:t>
                      </m:r>
                      <m:r>
                        <a:rPr lang="en-US" sz="2000" b="0" i="1" smtClean="0">
                          <a:latin typeface="Cambria Math" charset="0"/>
                          <a:ea typeface="Cambria Math" charset="0"/>
                          <a:cs typeface="Cambria Math" charset="0"/>
                        </a:rPr>
                        <m:t>𝜎</m:t>
                      </m:r>
                      <m:d>
                        <m:dPr>
                          <m:ctrlPr>
                            <a:rPr lang="is-IS" sz="2000" b="0" i="1" smtClean="0">
                              <a:latin typeface="Cambria Math" panose="02040503050406030204" pitchFamily="18" charset="0"/>
                              <a:ea typeface="Cambria Math" charset="0"/>
                              <a:cs typeface="Cambria Math" charset="0"/>
                            </a:rPr>
                          </m:ctrlPr>
                        </m:dPr>
                        <m:e>
                          <m:sSub>
                            <m:sSubPr>
                              <m:ctrlPr>
                                <a:rPr lang="en-US" sz="2000" i="1">
                                  <a:latin typeface="Cambria Math" panose="02040503050406030204" pitchFamily="18" charset="0"/>
                                  <a:ea typeface="Cambria Math" charset="0"/>
                                  <a:cs typeface="Cambria Math" charset="0"/>
                                </a:rPr>
                              </m:ctrlPr>
                            </m:sSubPr>
                            <m:e>
                              <m:r>
                                <a:rPr lang="en-US" sz="2000" i="1">
                                  <a:latin typeface="Cambria Math" charset="0"/>
                                  <a:ea typeface="Cambria Math" charset="0"/>
                                  <a:cs typeface="Cambria Math" charset="0"/>
                                </a:rPr>
                                <m:t>𝑊</m:t>
                              </m:r>
                            </m:e>
                            <m:sub>
                              <m:r>
                                <a:rPr lang="en-US" sz="2000" b="0" i="1" smtClean="0">
                                  <a:latin typeface="Cambria Math" charset="0"/>
                                  <a:ea typeface="Cambria Math" charset="0"/>
                                  <a:cs typeface="Cambria Math" charset="0"/>
                                </a:rPr>
                                <m:t>𝑜</m:t>
                              </m:r>
                            </m:sub>
                          </m:sSub>
                          <m:d>
                            <m:dPr>
                              <m:begChr m:val="["/>
                              <m:endChr m:val="]"/>
                              <m:ctrlPr>
                                <a:rPr lang="pt-BR" sz="2000" i="1" smtClean="0">
                                  <a:latin typeface="Cambria Math" panose="02040503050406030204" pitchFamily="18" charset="0"/>
                                  <a:ea typeface="Cambria Math" charset="0"/>
                                  <a:cs typeface="Cambria Math" charset="0"/>
                                </a:rPr>
                              </m:ctrlPr>
                            </m:dPr>
                            <m:e>
                              <m:sSub>
                                <m:sSubPr>
                                  <m:ctrlPr>
                                    <a:rPr lang="en-US" sz="200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h</m:t>
                                  </m:r>
                                </m:e>
                                <m:sub>
                                  <m:r>
                                    <a:rPr lang="en-US" sz="2000" b="0" i="1" smtClean="0">
                                      <a:latin typeface="Cambria Math" charset="0"/>
                                      <a:ea typeface="Cambria Math" charset="0"/>
                                      <a:cs typeface="Cambria Math" charset="0"/>
                                    </a:rPr>
                                    <m:t>𝑡</m:t>
                                  </m:r>
                                  <m:r>
                                    <a:rPr lang="en-US" sz="2000" b="0" i="1" smtClean="0">
                                      <a:latin typeface="Cambria Math" charset="0"/>
                                      <a:ea typeface="Cambria Math" charset="0"/>
                                      <a:cs typeface="Cambria Math" charset="0"/>
                                    </a:rPr>
                                    <m:t>−1</m:t>
                                  </m:r>
                                </m:sub>
                              </m:sSub>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𝑥</m:t>
                                  </m:r>
                                </m:e>
                                <m:sub>
                                  <m:r>
                                    <a:rPr lang="en-US" sz="2000" b="0" i="1" smtClean="0">
                                      <a:latin typeface="Cambria Math" charset="0"/>
                                      <a:ea typeface="Cambria Math" charset="0"/>
                                      <a:cs typeface="Cambria Math" charset="0"/>
                                    </a:rPr>
                                    <m:t>𝑡</m:t>
                                  </m:r>
                                </m:sub>
                              </m:sSub>
                            </m:e>
                          </m:d>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𝑏</m:t>
                              </m:r>
                            </m:e>
                            <m:sub>
                              <m:r>
                                <a:rPr lang="en-US" sz="2000" b="0" i="1" smtClean="0">
                                  <a:latin typeface="Cambria Math" charset="0"/>
                                  <a:ea typeface="Cambria Math" charset="0"/>
                                  <a:cs typeface="Cambria Math" charset="0"/>
                                </a:rPr>
                                <m:t>𝑜</m:t>
                              </m:r>
                            </m:sub>
                          </m:sSub>
                        </m:e>
                      </m:d>
                    </m:oMath>
                  </m:oMathPara>
                </a14:m>
                <a:endParaRPr lang="en-US" sz="2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5752195" y="2687587"/>
                <a:ext cx="3271555" cy="307777"/>
              </a:xfrm>
              <a:prstGeom prst="rect">
                <a:avLst/>
              </a:prstGeom>
              <a:blipFill rotWithShape="0">
                <a:blip r:embed="rId9"/>
                <a:stretch>
                  <a:fillRect t="-142000" b="-18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752195" y="3051963"/>
                <a:ext cx="327155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h</m:t>
                          </m:r>
                        </m:e>
                        <m:sub>
                          <m:r>
                            <a:rPr lang="en-US" sz="2000" i="1">
                              <a:latin typeface="Cambria Math" charset="0"/>
                            </a:rPr>
                            <m:t>𝑡</m:t>
                          </m:r>
                        </m:sub>
                      </m:sSub>
                      <m:r>
                        <a:rPr lang="en-US" sz="2000" b="0" i="1" smtClean="0">
                          <a:latin typeface="Cambria Math" charset="0"/>
                        </a:rPr>
                        <m:t>=</m:t>
                      </m:r>
                      <m:sSub>
                        <m:sSubPr>
                          <m:ctrlPr>
                            <a:rPr lang="en-US" sz="2000" i="1">
                              <a:latin typeface="Cambria Math" panose="02040503050406030204" pitchFamily="18" charset="0"/>
                            </a:rPr>
                          </m:ctrlPr>
                        </m:sSubPr>
                        <m:e>
                          <m:r>
                            <a:rPr lang="en-US" sz="2000" i="1">
                              <a:latin typeface="Cambria Math" charset="0"/>
                            </a:rPr>
                            <m:t>𝑜</m:t>
                          </m:r>
                        </m:e>
                        <m:sub>
                          <m:r>
                            <a:rPr lang="en-US" sz="2000" i="1">
                              <a:latin typeface="Cambria Math" charset="0"/>
                            </a:rPr>
                            <m:t>𝑡</m:t>
                          </m:r>
                        </m:sub>
                      </m:sSub>
                      <m:r>
                        <a:rPr lang="en-US" sz="2000" i="1" smtClean="0">
                          <a:latin typeface="Cambria Math" charset="0"/>
                          <a:ea typeface="Cambria Math" charset="0"/>
                          <a:cs typeface="Cambria Math" charset="0"/>
                        </a:rPr>
                        <m:t>∗</m:t>
                      </m:r>
                      <m:r>
                        <m:rPr>
                          <m:sty m:val="p"/>
                        </m:rPr>
                        <a:rPr lang="en-US" sz="2000" b="0" i="0" smtClean="0">
                          <a:latin typeface="Cambria Math" charset="0"/>
                          <a:ea typeface="Cambria Math" charset="0"/>
                          <a:cs typeface="Cambria Math" charset="0"/>
                        </a:rPr>
                        <m:t>tanh</m:t>
                      </m:r>
                      <m:r>
                        <a:rPr lang="en-US" sz="2000" b="0" i="1" smtClean="0">
                          <a:latin typeface="Cambria Math" charset="0"/>
                          <a:ea typeface="Cambria Math" charset="0"/>
                          <a:cs typeface="Cambria Math" charset="0"/>
                        </a:rPr>
                        <m:t>⁡(</m:t>
                      </m:r>
                      <m:sSub>
                        <m:sSubPr>
                          <m:ctrlPr>
                            <a:rPr lang="en-US" sz="2000" i="1">
                              <a:latin typeface="Cambria Math" panose="02040503050406030204" pitchFamily="18" charset="0"/>
                            </a:rPr>
                          </m:ctrlPr>
                        </m:sSubPr>
                        <m:e>
                          <m:r>
                            <a:rPr lang="en-US" sz="2000" b="0" i="1" smtClean="0">
                              <a:latin typeface="Cambria Math" charset="0"/>
                            </a:rPr>
                            <m:t>𝐶</m:t>
                          </m:r>
                        </m:e>
                        <m:sub>
                          <m:r>
                            <a:rPr lang="en-US" sz="2000" i="1">
                              <a:latin typeface="Cambria Math" charset="0"/>
                            </a:rPr>
                            <m:t>𝑡</m:t>
                          </m:r>
                        </m:sub>
                      </m:sSub>
                      <m:r>
                        <a:rPr lang="en-US" sz="2000" b="0" i="1" smtClean="0">
                          <a:latin typeface="Cambria Math" charset="0"/>
                        </a:rPr>
                        <m:t>)</m:t>
                      </m:r>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752195" y="3051963"/>
                <a:ext cx="3271555" cy="307777"/>
              </a:xfrm>
              <a:prstGeom prst="rect">
                <a:avLst/>
              </a:prstGeom>
              <a:blipFill rotWithShape="0">
                <a:blip r:embed="rId10"/>
                <a:stretch>
                  <a:fillRect t="-142000" b="-184000"/>
                </a:stretch>
              </a:blipFill>
            </p:spPr>
            <p:txBody>
              <a:bodyPr/>
              <a:lstStyle/>
              <a:p>
                <a:r>
                  <a:rPr lang="en-US">
                    <a:noFill/>
                  </a:rPr>
                  <a:t> </a:t>
                </a:r>
              </a:p>
            </p:txBody>
          </p:sp>
        </mc:Fallback>
      </mc:AlternateContent>
    </p:spTree>
    <p:extLst>
      <p:ext uri="{BB962C8B-B14F-4D97-AF65-F5344CB8AC3E}">
        <p14:creationId xmlns:p14="http://schemas.microsoft.com/office/powerpoint/2010/main" val="133373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diagram</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7511" y="966284"/>
            <a:ext cx="3646884" cy="372230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85386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5" name="TextBox 4"/>
              <p:cNvSpPr txBox="1">
                <a:spLocks noRot="1" noChangeAspect="1" noMove="1" noResize="1" noEditPoints="1" noAdjustHandles="1" noChangeArrowheads="1" noChangeShapeType="1" noTextEdit="1"/>
              </p:cNvSpPr>
              <p:nvPr/>
            </p:nvSpPr>
            <p:spPr>
              <a:xfrm>
                <a:off x="853867" y="3285667"/>
                <a:ext cx="689417" cy="41549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867"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r>
                            <a:rPr lang="en-US" sz="2700" i="1">
                              <a:latin typeface="Cambria Math" charset="0"/>
                            </a:rPr>
                            <m:t>−1</m:t>
                          </m:r>
                        </m:sub>
                      </m:sSub>
                    </m:oMath>
                  </m:oMathPara>
                </a14:m>
                <a:endParaRPr lang="en-US" sz="27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867" y="2071610"/>
                <a:ext cx="689417" cy="41549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91293" y="2071610"/>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𝑐</m:t>
                          </m:r>
                        </m:e>
                        <m:sub>
                          <m:r>
                            <a:rPr lang="en-US" sz="2700" i="1">
                              <a:latin typeface="Cambria Math" charset="0"/>
                            </a:rPr>
                            <m:t>𝑡</m:t>
                          </m:r>
                        </m:sub>
                      </m:sSub>
                    </m:oMath>
                  </m:oMathPara>
                </a14:m>
                <a:endParaRPr lang="en-US" sz="2700" dirty="0"/>
              </a:p>
            </p:txBody>
          </p:sp>
        </mc:Choice>
        <mc:Fallback xmlns="">
          <p:sp>
            <p:nvSpPr>
              <p:cNvPr id="7" name="TextBox 6"/>
              <p:cNvSpPr txBox="1">
                <a:spLocks noRot="1" noChangeAspect="1" noMove="1" noResize="1" noEditPoints="1" noAdjustHandles="1" noChangeArrowheads="1" noChangeShapeType="1" noTextEdit="1"/>
              </p:cNvSpPr>
              <p:nvPr/>
            </p:nvSpPr>
            <p:spPr>
              <a:xfrm>
                <a:off x="5491293" y="2071610"/>
                <a:ext cx="689417" cy="41549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94917" y="3285667"/>
                <a:ext cx="689417" cy="4154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i="1">
                              <a:latin typeface="Cambria Math" panose="02040503050406030204" pitchFamily="18" charset="0"/>
                            </a:rPr>
                          </m:ctrlPr>
                        </m:sSubPr>
                        <m:e>
                          <m:r>
                            <a:rPr lang="en-US" sz="2700" i="1">
                              <a:latin typeface="Cambria Math" charset="0"/>
                            </a:rPr>
                            <m:t>h</m:t>
                          </m:r>
                        </m:e>
                        <m:sub>
                          <m:r>
                            <a:rPr lang="en-US" sz="2700" i="1">
                              <a:latin typeface="Cambria Math" charset="0"/>
                            </a:rPr>
                            <m:t>𝑡</m:t>
                          </m:r>
                        </m:sub>
                      </m:sSub>
                    </m:oMath>
                  </m:oMathPara>
                </a14:m>
                <a:endParaRPr lang="en-US" sz="2700" dirty="0"/>
              </a:p>
            </p:txBody>
          </p:sp>
        </mc:Choice>
        <mc:Fallback xmlns="">
          <p:sp>
            <p:nvSpPr>
              <p:cNvPr id="8" name="TextBox 7"/>
              <p:cNvSpPr txBox="1">
                <a:spLocks noRot="1" noChangeAspect="1" noMove="1" noResize="1" noEditPoints="1" noAdjustHandles="1" noChangeArrowheads="1" noChangeShapeType="1" noTextEdit="1"/>
              </p:cNvSpPr>
              <p:nvPr/>
            </p:nvSpPr>
            <p:spPr>
              <a:xfrm>
                <a:off x="5494917" y="3285667"/>
                <a:ext cx="689417" cy="415498"/>
              </a:xfrm>
              <a:prstGeom prst="rect">
                <a:avLst/>
              </a:prstGeom>
              <a:blipFill rotWithShape="0">
                <a:blip r:embed="rId7"/>
                <a:stretch>
                  <a:fillRect/>
                </a:stretch>
              </a:blipFill>
            </p:spPr>
            <p:txBody>
              <a:bodyPr/>
              <a:lstStyle/>
              <a:p>
                <a:r>
                  <a:rPr lang="en-US">
                    <a:noFill/>
                  </a:rPr>
                  <a:t> </a:t>
                </a:r>
              </a:p>
            </p:txBody>
          </p:sp>
        </mc:Fallback>
      </mc:AlternateContent>
      <p:sp>
        <p:nvSpPr>
          <p:cNvPr id="15" name="TextBox 14"/>
          <p:cNvSpPr txBox="1"/>
          <p:nvPr/>
        </p:nvSpPr>
        <p:spPr>
          <a:xfrm>
            <a:off x="5946010" y="1184193"/>
            <a:ext cx="2890171" cy="707886"/>
          </a:xfrm>
          <a:prstGeom prst="rect">
            <a:avLst/>
          </a:prstGeom>
          <a:noFill/>
        </p:spPr>
        <p:txBody>
          <a:bodyPr wrap="square" rtlCol="0">
            <a:spAutoFit/>
          </a:bodyPr>
          <a:lstStyle/>
          <a:p>
            <a:r>
              <a:rPr lang="en-US" sz="2000" dirty="0">
                <a:solidFill>
                  <a:srgbClr val="FF0000"/>
                </a:solidFill>
                <a:latin typeface="Avenir Book" charset="0"/>
                <a:ea typeface="Avenir Book" charset="0"/>
                <a:cs typeface="Avenir Book" charset="0"/>
              </a:rPr>
              <a:t>F</a:t>
            </a:r>
            <a:r>
              <a:rPr lang="en-US" sz="2000" dirty="0" smtClean="0">
                <a:solidFill>
                  <a:srgbClr val="FF0000"/>
                </a:solidFill>
                <a:latin typeface="Avenir Book" charset="0"/>
                <a:ea typeface="Avenir Book" charset="0"/>
                <a:cs typeface="Avenir Book" charset="0"/>
              </a:rPr>
              <a:t>inal stage computes the output</a:t>
            </a:r>
            <a:endParaRPr lang="en-US" sz="2000" dirty="0">
              <a:solidFill>
                <a:srgbClr val="FF0000"/>
              </a:solidFill>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10" name="TextBox 9"/>
              <p:cNvSpPr txBox="1"/>
              <p:nvPr/>
            </p:nvSpPr>
            <p:spPr>
              <a:xfrm>
                <a:off x="3786370" y="2519660"/>
                <a:ext cx="370130"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𝑜</m:t>
                          </m:r>
                        </m:e>
                        <m:sub>
                          <m:r>
                            <a:rPr lang="en-US" sz="2000" i="1">
                              <a:latin typeface="Cambria Math" charset="0"/>
                            </a:rPr>
                            <m:t>𝑡</m:t>
                          </m:r>
                        </m:sub>
                      </m:sSub>
                    </m:oMath>
                  </m:oMathPara>
                </a14:m>
                <a:endParaRPr lang="en-US"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3786370" y="2519660"/>
                <a:ext cx="370130" cy="307777"/>
              </a:xfrm>
              <a:prstGeom prst="rect">
                <a:avLst/>
              </a:prstGeom>
              <a:blipFill rotWithShape="0">
                <a:blip r:embed="rId8"/>
                <a:stretch>
                  <a:fillRect b="-176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752195" y="2687587"/>
                <a:ext cx="327155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𝑜</m:t>
                          </m:r>
                        </m:e>
                        <m:sub>
                          <m:r>
                            <a:rPr lang="en-US" sz="2000" i="1">
                              <a:latin typeface="Cambria Math" charset="0"/>
                            </a:rPr>
                            <m:t>𝑡</m:t>
                          </m:r>
                        </m:sub>
                      </m:sSub>
                      <m:r>
                        <a:rPr lang="en-US" sz="2000" b="0" i="1" smtClean="0">
                          <a:latin typeface="Cambria Math" charset="0"/>
                        </a:rPr>
                        <m:t>= </m:t>
                      </m:r>
                      <m:r>
                        <a:rPr lang="en-US" sz="2000" b="0" i="1" smtClean="0">
                          <a:latin typeface="Cambria Math" charset="0"/>
                          <a:ea typeface="Cambria Math" charset="0"/>
                          <a:cs typeface="Cambria Math" charset="0"/>
                        </a:rPr>
                        <m:t>𝜎</m:t>
                      </m:r>
                      <m:d>
                        <m:dPr>
                          <m:ctrlPr>
                            <a:rPr lang="is-IS" sz="2000" b="0" i="1" smtClean="0">
                              <a:latin typeface="Cambria Math" panose="02040503050406030204" pitchFamily="18" charset="0"/>
                              <a:ea typeface="Cambria Math" charset="0"/>
                              <a:cs typeface="Cambria Math" charset="0"/>
                            </a:rPr>
                          </m:ctrlPr>
                        </m:dPr>
                        <m:e>
                          <m:sSub>
                            <m:sSubPr>
                              <m:ctrlPr>
                                <a:rPr lang="en-US" sz="2000" i="1">
                                  <a:latin typeface="Cambria Math" panose="02040503050406030204" pitchFamily="18" charset="0"/>
                                  <a:ea typeface="Cambria Math" charset="0"/>
                                  <a:cs typeface="Cambria Math" charset="0"/>
                                </a:rPr>
                              </m:ctrlPr>
                            </m:sSubPr>
                            <m:e>
                              <m:r>
                                <a:rPr lang="en-US" sz="2000" i="1">
                                  <a:latin typeface="Cambria Math" charset="0"/>
                                  <a:ea typeface="Cambria Math" charset="0"/>
                                  <a:cs typeface="Cambria Math" charset="0"/>
                                </a:rPr>
                                <m:t>𝑊</m:t>
                              </m:r>
                            </m:e>
                            <m:sub>
                              <m:r>
                                <a:rPr lang="en-US" sz="2000" b="0" i="1" smtClean="0">
                                  <a:latin typeface="Cambria Math" charset="0"/>
                                  <a:ea typeface="Cambria Math" charset="0"/>
                                  <a:cs typeface="Cambria Math" charset="0"/>
                                </a:rPr>
                                <m:t>𝑜</m:t>
                              </m:r>
                            </m:sub>
                          </m:sSub>
                          <m:d>
                            <m:dPr>
                              <m:begChr m:val="["/>
                              <m:endChr m:val="]"/>
                              <m:ctrlPr>
                                <a:rPr lang="pt-BR" sz="2000" i="1" smtClean="0">
                                  <a:latin typeface="Cambria Math" panose="02040503050406030204" pitchFamily="18" charset="0"/>
                                  <a:ea typeface="Cambria Math" charset="0"/>
                                  <a:cs typeface="Cambria Math" charset="0"/>
                                </a:rPr>
                              </m:ctrlPr>
                            </m:dPr>
                            <m:e>
                              <m:sSub>
                                <m:sSubPr>
                                  <m:ctrlPr>
                                    <a:rPr lang="en-US" sz="200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h</m:t>
                                  </m:r>
                                </m:e>
                                <m:sub>
                                  <m:r>
                                    <a:rPr lang="en-US" sz="2000" b="0" i="1" smtClean="0">
                                      <a:latin typeface="Cambria Math" charset="0"/>
                                      <a:ea typeface="Cambria Math" charset="0"/>
                                      <a:cs typeface="Cambria Math" charset="0"/>
                                    </a:rPr>
                                    <m:t>𝑡</m:t>
                                  </m:r>
                                  <m:r>
                                    <a:rPr lang="en-US" sz="2000" b="0" i="1" smtClean="0">
                                      <a:latin typeface="Cambria Math" charset="0"/>
                                      <a:ea typeface="Cambria Math" charset="0"/>
                                      <a:cs typeface="Cambria Math" charset="0"/>
                                    </a:rPr>
                                    <m:t>−1</m:t>
                                  </m:r>
                                </m:sub>
                              </m:sSub>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𝑥</m:t>
                                  </m:r>
                                </m:e>
                                <m:sub>
                                  <m:r>
                                    <a:rPr lang="en-US" sz="2000" b="0" i="1" smtClean="0">
                                      <a:latin typeface="Cambria Math" charset="0"/>
                                      <a:ea typeface="Cambria Math" charset="0"/>
                                      <a:cs typeface="Cambria Math" charset="0"/>
                                    </a:rPr>
                                    <m:t>𝑡</m:t>
                                  </m:r>
                                </m:sub>
                              </m:sSub>
                            </m:e>
                          </m:d>
                          <m:r>
                            <a:rPr lang="en-US" sz="2000" b="0" i="1" smtClean="0">
                              <a:latin typeface="Cambria Math" charset="0"/>
                              <a:ea typeface="Cambria Math" charset="0"/>
                              <a:cs typeface="Cambria Math" charset="0"/>
                            </a:rPr>
                            <m:t>+</m:t>
                          </m:r>
                          <m:sSub>
                            <m:sSubPr>
                              <m:ctrlPr>
                                <a:rPr lang="en-US" sz="2000" b="0" i="1" smtClean="0">
                                  <a:latin typeface="Cambria Math" panose="02040503050406030204" pitchFamily="18" charset="0"/>
                                  <a:ea typeface="Cambria Math" charset="0"/>
                                  <a:cs typeface="Cambria Math" charset="0"/>
                                </a:rPr>
                              </m:ctrlPr>
                            </m:sSubPr>
                            <m:e>
                              <m:r>
                                <a:rPr lang="en-US" sz="2000" b="0" i="1" smtClean="0">
                                  <a:latin typeface="Cambria Math" charset="0"/>
                                  <a:ea typeface="Cambria Math" charset="0"/>
                                  <a:cs typeface="Cambria Math" charset="0"/>
                                </a:rPr>
                                <m:t>𝑏</m:t>
                              </m:r>
                            </m:e>
                            <m:sub>
                              <m:r>
                                <a:rPr lang="en-US" sz="2000" b="0" i="1" smtClean="0">
                                  <a:latin typeface="Cambria Math" charset="0"/>
                                  <a:ea typeface="Cambria Math" charset="0"/>
                                  <a:cs typeface="Cambria Math" charset="0"/>
                                </a:rPr>
                                <m:t>𝑜</m:t>
                              </m:r>
                            </m:sub>
                          </m:sSub>
                        </m:e>
                      </m:d>
                    </m:oMath>
                  </m:oMathPara>
                </a14:m>
                <a:endParaRPr lang="en-US" sz="2000" dirty="0"/>
              </a:p>
            </p:txBody>
          </p:sp>
        </mc:Choice>
        <mc:Fallback xmlns="">
          <p:sp>
            <p:nvSpPr>
              <p:cNvPr id="11" name="TextBox 10"/>
              <p:cNvSpPr txBox="1">
                <a:spLocks noRot="1" noChangeAspect="1" noMove="1" noResize="1" noEditPoints="1" noAdjustHandles="1" noChangeArrowheads="1" noChangeShapeType="1" noTextEdit="1"/>
              </p:cNvSpPr>
              <p:nvPr/>
            </p:nvSpPr>
            <p:spPr>
              <a:xfrm>
                <a:off x="5752195" y="2687587"/>
                <a:ext cx="3271555" cy="307777"/>
              </a:xfrm>
              <a:prstGeom prst="rect">
                <a:avLst/>
              </a:prstGeom>
              <a:blipFill rotWithShape="0">
                <a:blip r:embed="rId9"/>
                <a:stretch>
                  <a:fillRect t="-142000" b="-18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752195" y="3051963"/>
                <a:ext cx="3271555"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charset="0"/>
                            </a:rPr>
                            <m:t>h</m:t>
                          </m:r>
                        </m:e>
                        <m:sub>
                          <m:r>
                            <a:rPr lang="en-US" sz="2000" i="1">
                              <a:latin typeface="Cambria Math" charset="0"/>
                            </a:rPr>
                            <m:t>𝑡</m:t>
                          </m:r>
                        </m:sub>
                      </m:sSub>
                      <m:r>
                        <a:rPr lang="en-US" sz="2000" b="0" i="1" smtClean="0">
                          <a:latin typeface="Cambria Math" charset="0"/>
                        </a:rPr>
                        <m:t>=</m:t>
                      </m:r>
                      <m:sSub>
                        <m:sSubPr>
                          <m:ctrlPr>
                            <a:rPr lang="en-US" sz="2000" i="1">
                              <a:latin typeface="Cambria Math" panose="02040503050406030204" pitchFamily="18" charset="0"/>
                            </a:rPr>
                          </m:ctrlPr>
                        </m:sSubPr>
                        <m:e>
                          <m:r>
                            <a:rPr lang="en-US" sz="2000" i="1">
                              <a:latin typeface="Cambria Math" charset="0"/>
                            </a:rPr>
                            <m:t>𝑜</m:t>
                          </m:r>
                        </m:e>
                        <m:sub>
                          <m:r>
                            <a:rPr lang="en-US" sz="2000" i="1">
                              <a:latin typeface="Cambria Math" charset="0"/>
                            </a:rPr>
                            <m:t>𝑡</m:t>
                          </m:r>
                        </m:sub>
                      </m:sSub>
                      <m:r>
                        <a:rPr lang="en-US" sz="2000" i="1" smtClean="0">
                          <a:latin typeface="Cambria Math" charset="0"/>
                          <a:ea typeface="Cambria Math" charset="0"/>
                          <a:cs typeface="Cambria Math" charset="0"/>
                        </a:rPr>
                        <m:t>∗</m:t>
                      </m:r>
                      <m:r>
                        <m:rPr>
                          <m:sty m:val="p"/>
                        </m:rPr>
                        <a:rPr lang="en-US" sz="2000" b="0" i="0" smtClean="0">
                          <a:latin typeface="Cambria Math" charset="0"/>
                          <a:ea typeface="Cambria Math" charset="0"/>
                          <a:cs typeface="Cambria Math" charset="0"/>
                        </a:rPr>
                        <m:t>tanh</m:t>
                      </m:r>
                      <m:r>
                        <a:rPr lang="en-US" sz="2000" b="0" i="1" smtClean="0">
                          <a:latin typeface="Cambria Math" charset="0"/>
                          <a:ea typeface="Cambria Math" charset="0"/>
                          <a:cs typeface="Cambria Math" charset="0"/>
                        </a:rPr>
                        <m:t>⁡(</m:t>
                      </m:r>
                      <m:sSub>
                        <m:sSubPr>
                          <m:ctrlPr>
                            <a:rPr lang="en-US" sz="2000" i="1">
                              <a:latin typeface="Cambria Math" panose="02040503050406030204" pitchFamily="18" charset="0"/>
                            </a:rPr>
                          </m:ctrlPr>
                        </m:sSubPr>
                        <m:e>
                          <m:r>
                            <a:rPr lang="en-US" sz="2000" b="0" i="1" smtClean="0">
                              <a:latin typeface="Cambria Math" charset="0"/>
                            </a:rPr>
                            <m:t>𝐶</m:t>
                          </m:r>
                        </m:e>
                        <m:sub>
                          <m:r>
                            <a:rPr lang="en-US" sz="2000" i="1">
                              <a:latin typeface="Cambria Math" charset="0"/>
                            </a:rPr>
                            <m:t>𝑡</m:t>
                          </m:r>
                        </m:sub>
                      </m:sSub>
                      <m:r>
                        <a:rPr lang="en-US" sz="2000" b="0" i="1" smtClean="0">
                          <a:latin typeface="Cambria Math" charset="0"/>
                        </a:rPr>
                        <m:t>)</m:t>
                      </m:r>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752195" y="3051963"/>
                <a:ext cx="3271555" cy="307777"/>
              </a:xfrm>
              <a:prstGeom prst="rect">
                <a:avLst/>
              </a:prstGeom>
              <a:blipFill rotWithShape="0">
                <a:blip r:embed="rId10"/>
                <a:stretch>
                  <a:fillRect t="-142000" b="-184000"/>
                </a:stretch>
              </a:blipFill>
            </p:spPr>
            <p:txBody>
              <a:bodyPr/>
              <a:lstStyle/>
              <a:p>
                <a:r>
                  <a:rPr lang="en-US">
                    <a:noFill/>
                  </a:rPr>
                  <a:t> </a:t>
                </a:r>
              </a:p>
            </p:txBody>
          </p:sp>
        </mc:Fallback>
      </mc:AlternateContent>
      <p:sp>
        <p:nvSpPr>
          <p:cNvPr id="13" name="TextBox 12"/>
          <p:cNvSpPr txBox="1"/>
          <p:nvPr/>
        </p:nvSpPr>
        <p:spPr>
          <a:xfrm>
            <a:off x="5946010" y="3894953"/>
            <a:ext cx="2890171" cy="400110"/>
          </a:xfrm>
          <a:prstGeom prst="rect">
            <a:avLst/>
          </a:prstGeom>
          <a:noFill/>
        </p:spPr>
        <p:txBody>
          <a:bodyPr wrap="square" rtlCol="0">
            <a:spAutoFit/>
          </a:bodyPr>
          <a:lstStyle/>
          <a:p>
            <a:r>
              <a:rPr lang="en-US" sz="2000" dirty="0" smtClean="0">
                <a:solidFill>
                  <a:srgbClr val="FF0000"/>
                </a:solidFill>
                <a:latin typeface="Avenir Book" charset="0"/>
                <a:ea typeface="Avenir Book" charset="0"/>
                <a:cs typeface="Avenir Book" charset="0"/>
              </a:rPr>
              <a:t>Note: No weights here</a:t>
            </a:r>
            <a:endParaRPr lang="en-US" sz="2000" dirty="0">
              <a:solidFill>
                <a:srgbClr val="FF0000"/>
              </a:solidFill>
              <a:latin typeface="Avenir Book" charset="0"/>
              <a:ea typeface="Avenir Book" charset="0"/>
              <a:cs typeface="Avenir Book" charset="0"/>
            </a:endParaRPr>
          </a:p>
        </p:txBody>
      </p:sp>
      <p:cxnSp>
        <p:nvCxnSpPr>
          <p:cNvPr id="16" name="Straight Arrow Connector 15"/>
          <p:cNvCxnSpPr/>
          <p:nvPr/>
        </p:nvCxnSpPr>
        <p:spPr>
          <a:xfrm flipV="1">
            <a:off x="7270369" y="3359741"/>
            <a:ext cx="913365" cy="5352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flipV="1">
            <a:off x="4617266" y="2687587"/>
            <a:ext cx="2653103" cy="120736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3703901" y="858247"/>
            <a:ext cx="1826729" cy="31510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38490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3" grpId="0"/>
      <p:bldP spid="1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LSTM unrolled</a:t>
            </a:r>
            <a:endParaRPr lang="en-US" dirty="0">
              <a:latin typeface="Avenir Book" charset="0"/>
              <a:ea typeface="Avenir Book" charset="0"/>
              <a:cs typeface="Avenir Book" charset="0"/>
            </a:endParaRPr>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428" y="1601887"/>
            <a:ext cx="7656957" cy="2876931"/>
          </a:xfrm>
          <a:prstGeom prst="rect">
            <a:avLst/>
          </a:prstGeom>
        </p:spPr>
      </p:pic>
    </p:spTree>
    <p:extLst>
      <p:ext uri="{BB962C8B-B14F-4D97-AF65-F5344CB8AC3E}">
        <p14:creationId xmlns:p14="http://schemas.microsoft.com/office/powerpoint/2010/main" val="17801188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Final Points</a:t>
            </a:r>
            <a:endParaRPr lang="en-US" dirty="0">
              <a:latin typeface="Avenir Book" charset="0"/>
              <a:ea typeface="Avenir Book" charset="0"/>
              <a:cs typeface="Avenir Book" charset="0"/>
            </a:endParaRPr>
          </a:p>
        </p:txBody>
      </p:sp>
      <p:sp>
        <p:nvSpPr>
          <p:cNvPr id="75" name="Rectangle 74"/>
          <p:cNvSpPr/>
          <p:nvPr/>
        </p:nvSpPr>
        <p:spPr>
          <a:xfrm>
            <a:off x="398352" y="1227244"/>
            <a:ext cx="8192764" cy="3416320"/>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This is the most common version of LSTM, but there are many different “flavors”.</a:t>
            </a:r>
          </a:p>
          <a:p>
            <a:pPr marL="800100" lvl="0" indent="-342900">
              <a:buFont typeface="Courier New" charset="0"/>
              <a:buChar char="o"/>
            </a:pPr>
            <a:r>
              <a:rPr lang="en-US" sz="2200" dirty="0" smtClean="0">
                <a:latin typeface="Avenir Book" charset="0"/>
                <a:ea typeface="Avenir Book" charset="0"/>
                <a:cs typeface="Avenir Book" charset="0"/>
              </a:rPr>
              <a:t>Gated Recurrent Unit (GRU)</a:t>
            </a:r>
          </a:p>
          <a:p>
            <a:pPr marL="800100" lvl="0" indent="-342900">
              <a:buFont typeface="Courier New" charset="0"/>
              <a:buChar char="o"/>
            </a:pPr>
            <a:r>
              <a:rPr lang="en-US" sz="2200" dirty="0" smtClean="0">
                <a:latin typeface="Avenir Book" charset="0"/>
                <a:ea typeface="Avenir Book" charset="0"/>
                <a:cs typeface="Avenir Book" charset="0"/>
              </a:rPr>
              <a:t>Depth-Gated RNN</a:t>
            </a:r>
          </a:p>
          <a:p>
            <a:pPr marL="800100" lvl="0" indent="-342900">
              <a:buFont typeface="Courier New" charset="0"/>
              <a:buChar char="o"/>
            </a:pPr>
            <a:endParaRPr lang="en-US" sz="2200" dirty="0" smtClean="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LSTMs have considerably more parameters than plain RNNs.</a:t>
            </a:r>
          </a:p>
          <a:p>
            <a:pPr marL="457200" lvl="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Most of the big performance improvements in NLP have come from LSTMs, not plain RNN.</a:t>
            </a:r>
          </a:p>
          <a:p>
            <a:pPr marL="457200" lvl="0" indent="-457200">
              <a:buFont typeface="Arial" charset="0"/>
              <a:buChar char="•"/>
            </a:pPr>
            <a:endParaRPr lang="en-US" sz="1800" dirty="0" smtClean="0">
              <a:latin typeface="Avenir Book" charset="0"/>
              <a:ea typeface="Avenir Book" charset="0"/>
              <a:cs typeface="Avenir Book" charset="0"/>
            </a:endParaRPr>
          </a:p>
        </p:txBody>
      </p:sp>
    </p:spTree>
    <p:extLst>
      <p:ext uri="{BB962C8B-B14F-4D97-AF65-F5344CB8AC3E}">
        <p14:creationId xmlns:p14="http://schemas.microsoft.com/office/powerpoint/2010/main" val="11165050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gradFill>
        <a:effectLst/>
      </p:bgPr>
    </p:bg>
    <p:spTree>
      <p:nvGrpSpPr>
        <p:cNvPr id="1" name="Shape 261"/>
        <p:cNvGrpSpPr/>
        <p:nvPr/>
      </p:nvGrpSpPr>
      <p:grpSpPr>
        <a:xfrm>
          <a:off x="0" y="0"/>
          <a:ext cx="0" cy="0"/>
          <a:chOff x="0" y="0"/>
          <a:chExt cx="0" cy="0"/>
        </a:xfrm>
      </p:grpSpPr>
      <p:sp>
        <p:nvSpPr>
          <p:cNvPr id="2" name="Slide Number Placeholder 1"/>
          <p:cNvSpPr>
            <a:spLocks noGrp="1"/>
          </p:cNvSpPr>
          <p:nvPr>
            <p:ph type="sldNum" sz="quarter" idx="4294967295"/>
          </p:nvPr>
        </p:nvSpPr>
        <p:spPr>
          <a:xfrm>
            <a:off x="7086600" y="4767263"/>
            <a:ext cx="2057400" cy="274637"/>
          </a:xfrm>
        </p:spPr>
        <p:txBody>
          <a:bodyPr/>
          <a:lstStyle/>
          <a:p>
            <a:fld id="{BDF01D69-A501-704B-80CB-1B3152437FD0}" type="slidenum">
              <a:rPr lang="en-US" smtClean="0"/>
              <a:t>22</a:t>
            </a:fld>
            <a:endParaRPr lang="en-US"/>
          </a:p>
        </p:txBody>
      </p:sp>
    </p:spTree>
    <p:extLst>
      <p:ext uri="{BB962C8B-B14F-4D97-AF65-F5344CB8AC3E}">
        <p14:creationId xmlns:p14="http://schemas.microsoft.com/office/powerpoint/2010/main" val="971594212"/>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imple-dark-2">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l_theme">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ntel_theme" id="{7CD40ED6-13F2-774E-8C9C-E2A351ABAE7C}" vid="{A60F4A55-6349-6E4D-A6AA-B84EBE13CF51}"/>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31252</TotalTime>
  <Words>579</Words>
  <Application>Microsoft Office PowerPoint</Application>
  <PresentationFormat>On-screen Show (16:9)</PresentationFormat>
  <Paragraphs>181</Paragraphs>
  <Slides>22</Slides>
  <Notes>21</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22</vt:i4>
      </vt:variant>
    </vt:vector>
  </HeadingPairs>
  <TitlesOfParts>
    <vt:vector size="38" baseType="lpstr">
      <vt:lpstr>Arial</vt:lpstr>
      <vt:lpstr>Avenir Book</vt:lpstr>
      <vt:lpstr>Calibri</vt:lpstr>
      <vt:lpstr>Calibri Light</vt:lpstr>
      <vt:lpstr>Cambria Math</vt:lpstr>
      <vt:lpstr>Courier New</vt:lpstr>
      <vt:lpstr>Intel Clear</vt:lpstr>
      <vt:lpstr>Intel Clear Light</vt:lpstr>
      <vt:lpstr>Intel Clear Pro</vt:lpstr>
      <vt:lpstr>Lucida Grande</vt:lpstr>
      <vt:lpstr>Neo Sans Intel</vt:lpstr>
      <vt:lpstr>Source Code Pro</vt:lpstr>
      <vt:lpstr>Wingdings</vt:lpstr>
      <vt:lpstr>1_simple-dark-2</vt:lpstr>
      <vt:lpstr>Custom Design</vt:lpstr>
      <vt:lpstr>intel_theme</vt:lpstr>
      <vt:lpstr>LSTM (Long-Short Term Memory) RNNs</vt:lpstr>
      <vt:lpstr>Legal Notices and Disclaimers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&lt;Title&gt;</dc:title>
  <cp:lastModifiedBy>Oberoi, Daman</cp:lastModifiedBy>
  <cp:revision>508</cp:revision>
  <cp:lastPrinted>2017-03-21T10:33:11Z</cp:lastPrinted>
  <dcterms:modified xsi:type="dcterms:W3CDTF">2017-08-25T19:43:12Z</dcterms:modified>
</cp:coreProperties>
</file>